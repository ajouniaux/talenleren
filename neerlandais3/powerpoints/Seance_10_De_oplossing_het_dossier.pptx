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4c559b2-b93b-a936-91bc-59337b8f05c9}">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Clôture" id="{6a670813-cf75-ccdf-dcfa-1d3700f917bf}">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séance du palier 6. Séquence 6.5 : le passif avec worden (processus), werd (passé) et is (résultat), langue des décisions, contrats et annonces ; exercices 10 et 11, TAAK 5 (annoncer la solution au locataire) et D5 « Vertraging ! » (annonces de la gare). Puis séquence 6.6 : TAAK 6, le dossier de gestion complet (étape 1 en binôme, étape 2 devant un autre binôme, étape 3 en devoir). Pages couvertes : p. 19 à 25a du livret.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 séance dense. Pages 19 à 25a du livret. Priorités si le temps manque : conserver le passif, ex. 10, TAAK 5 et TAAK 6 (étape 1 puis étape 2) ; D5 et le bonus peuvent être raccourcis. L’étape 3 de la TAAK 6 (rapport écrit de 10 à 12 phrases) se fait à la maison ; l’étape 2 peut être jouée au début de la séance suivante si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9 en 6 minutes : même vigilance sur la fin de phrase (infinitif avec zou, participe avec worden). Faire répondre à l’oral, puis projeter la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formulations acceptées (kunnen / willen). Faire remarquer que le passif demandera le même réflexe : verbe conjugué (wordt) en 2e position, participe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 « werd vernieuwd » = « a été rénové » ; on ne dit pas qui (peu importe, c’est l’action qui compte). C’est l’hypothèse de l’exercice 4 de la séance 7 : « De keuken werd in 2022 volledig vernieuwd » n’est pas un imperfectum ordinaire, c’est un passif. Le livret écrit : « Sans le passif, vous ne pouvez ni lire un contrat ni annoncer une solution ». Focus ligne 9 : « De herstelling wordt normaal door de eigenaar betaald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du livret (p. 20), à lire en deux colonnes : actif (l’acteur est le sujet) et passif (l’action est le sujet : worden + participe). Le complément d’agent (door + acteur) est facultatif : on le garde seulement s’il apporte une information utile. La ligne « Résultat » : is + participe décrit l’état final (c’est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Visualisation de l’ordre des mots : le participe est toujours en dernière position, comme l’infinitif avec zou (séance 9). Les participes séparables se soudent : opgesteld (opstellen), dichtgedraaid (dichtdraaien). Dans la subordonnée en tenzij, le verbe est en fin de phrase (weigert).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Planche du livret : « Worden ≠ zijn ». Demander une paire de phrases pour chaque tableau : « Het lek wordt hersteld » (le plombier travaille) / « Het lek is hersteld » (c’est fait). Dans un rapport professionnel, la différence est capitale : le locataire veut savoir si c’est terminé ou en cours. Nous retrouvons la même distinction dans la TAAK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10 du livret : seul, 8 minutes, puis correction orale. Garder le temps de l’actif : présent → wordt, imperfectum → werd, perfectum → is + participe. Le complément « door + acteur » est mis entre parenthèses : utile pour la phrase 3, inutile pour la phrase 4 (« wij » = le bureau, évident) et la phrase 5 (« iemand » = inconnu).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nommer le temps de l’actif pour chaque phrase. Phrase 2 : plusieurs étudiants écrivent « wordt » : rappeler que « de kosten » est pluriel. Phrase 5 : le perfectum actif devient « is + participe », sans « geworden » en néerlandais courant.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L’exercice-miroir du palier : les notes de chantier sont écrites « à la manière du palier 1 » (phrases courtes, aucun lien). Les étudiants les réécrivent en un paragraphe professionnel qui combine les quatre outils du palier. Seul, 10 minutes ; correction collective sur le modèle de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6 phrases (un corrigé parmi d’autres). Les phrases actives du texte sec deviennent passives quand l’acteur n’est pas important (het lek werd hersteld) ; « Hij zei iets : de muur moet drogen » devient un discours indirect (zei dat … moest drogen, moet → moest) ; « De verzekering betaalt misschien » devient un passif (de kosten worden misschien … betaald). Accepter toute version contenant les éléments demandés.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Binômes + observateur. A annonce le plan en trois temps : fait / en cours / qui paie, avec une condition (tenzij) ; B réagit avec au moins trois questions. L’imprévu (demande de réduction de loyer) est glissé par l’observateur : la makelaar ne promet rien (zou mogelijk zijn) et renvoie à la décision de la propriétaire. Coquille du livret : « word(t) / werd is + participe » (il manque « / » avant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Planche du livret : trois cartes (gedaan, bezig, wie betaalt ?). Elle sert de modèle aux trois temps de l’annonce. Après les deux rondes, faire redire les trois phrases par la classe en variant le sujet (de kraan, de keuken, de plaatsbeschrijving…). Le passif est volontairement impersonnel : ce n’est pas la makelaar qui « décide », c’est l’action qui est annoncée.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Dagelijks leven · Lezen en spreken. Le passif est partout dans l’espace public : on ne dit pas QUI agit, on annonce ce qui est fait. Lecture silencieuse des trois messages (3 min). Incohérence du livret à signaler : ici Stef part « vendredi soir », alors que l’Avonddialoog (p. 2a) dit « zaterdag kom ik naar Gent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du livret. Réponses : bericht A = trois passifs au présent (processus) ; l’acteur réel est la NMBS (SNCB). Bericht B = « is gesloten » (résultat : le guichet est fermé) et « worden verkocht » (processus). Bericht C = « werd afgeleverd » (passé). Question 2 : non, il achète à l’automate dans le hall. « inleggen » est un belgicisme : une vervangbus wordt ingelegd = on met en service un bus de remplacement.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du livret. Réponses : bericht A = trois passifs au présent (processus) ; l’acteur réel est la NMBS (SNCB). Bericht B = « is gesloten » (résultat : le guichet est fermé) et « worden verkocht » (processus). Bericht C = « werd afgeleverd » (passé). Question 2 : non, il achète à l’automate dans le hall. « inleggen » est un belgicisme : une vervangbus wordt ingelegd = on met en service un bus de remplacement.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Activité orale en binômes, 3 minutes par carte. Exiger trois passifs et une demande polie avec zou (« Zou je me aan het station kunnen ophalen ? »). La carte 3 est libre (un message récemment reçu : appli, sms, affiche). Le professeur note les erreurs de worden / zijn pour la mise en commun.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(4 min) : consolide la distinction worden / zijn et l’accord au pluriel. Phrase 1 : wordt peut aussi exprimer une action planifiée (morgen) ; phrase 3 : is = état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(4 min) : consolide la distinction worden / zijn et l’accord au pluriel. Phrase 1 : wordt peut aussi exprimer une action planifiée (morgen) ; phrase 3 : is = état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6.6 : tâche finale du palier. Étape 1 (en binôme, 10 à 12 minutes en séance) : préparer la présentation avec les productions des TAAK 1 à 5, en mots-clés. Étape 2 : chaque binôme présente 6 minutes devant un autre binôme qui joue l’exploitant et Yasmina et pose au moins trois questions critiques (« Wat zei de huurder precies ? Door wie wordt de schilder betaald ? Wat zou u anders doen ? »), puis on inverse. Étape 3 : le rapport de clôture est écrit en devoir. Variante p. 25a : même déroulé avec un problème du quotidien ; la checklist est identique sauf « Lexique du quotidien (D1 à D5) » au lieu du lexique de la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du livret : à cocher pendant la préparation (étape 1). Les minimums correspondent à la performance finale (présentation et rapport). Les exemples de la dernière colonne rappellent les structures de chaque séquence : 6.2 imperfectum, 6.3 discours indirect, 6.5 passif, 6.4 zou. Le lexique de la location : voir la banque de mots de la séance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3 (individuel, 15 minutes, à terminer à la maison) : le rapport de clôture suit l’ordre ten eerste → daarna → vervolgens → kortom. Les phrases-modèles ne sont pas un corrigé : elles montrent comment chaque connecteur introduit un outil du palier. Le verslag peut être remis au professeur pour correction. Rappeler les règles d’ordre des mots : verbe en 2e position, infinitif / participe à la fin, verbe à la fin dans les subordonnées (dat, of, tenzij, zodra).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à l’oral. Réponses : « Het lek is hersteld. » et « De muur wordt geschilderd. ». Rappeler la remise du eindverslag et, si l’étape 2 de la TAAK 6 n’a pas pu être jouée, la reporter au début de la séance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10</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10</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10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6.5 · 6.6</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De oplossing — het dossier</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Le passif avec worden — puis clôture du dossier de gestion (TAAK 6)</a:t>
            </a:r>
            <a:endParaRPr lang="en-US" sz="1800" dirty="0"/>
          </a:p>
          <a:p>
            <a:pPr algn="l" indent="0" marL="0">
              <a:buNone/>
            </a:pPr>
            <a:r>
              <a:rPr lang="en-US" sz="1800" b="1" dirty="0">
                <a:solidFill>
                  <a:schemeClr val="bg2"/>
                </a:solidFill>
              </a:rPr>
              <a:t>Palier 6 · Verhuur en beheer</a:t>
            </a:r>
            <a:endParaRPr lang="en-US" sz="1800" dirty="0"/>
          </a:p>
          <a:p>
            <a:pPr algn="l" indent="0" marL="0">
              <a:buNone/>
            </a:pPr>
            <a:r>
              <a:rPr lang="en-US" sz="1800" dirty="0">
                <a:solidFill>
                  <a:schemeClr val="bg2"/>
                </a:solidFill>
              </a:rPr>
              <a:t>Livret p. 19–25a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1153"/>
            <a:ext cx="5120640" cy="3415693"/>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19–25a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600" dirty="0">
                <a:solidFill>
                  <a:schemeClr val="tx1"/>
                </a:solidFill>
              </a:rPr>
              <a:t>Annoncer ce qui est </a:t>
            </a:r>
            <a:r>
              <a:rPr lang="en-US" sz="1600" b="1" dirty="0">
                <a:solidFill>
                  <a:schemeClr val="tx1"/>
                </a:solidFill>
              </a:rPr>
              <a:t>fait</a:t>
            </a:r>
            <a:r>
              <a:rPr lang="en-US" sz="1600" dirty="0">
                <a:solidFill>
                  <a:schemeClr val="tx1"/>
                </a:solidFill>
              </a:rPr>
              <a:t> (</a:t>
            </a:r>
            <a:r>
              <a:rPr lang="en-US" sz="1600" i="1" dirty="0">
                <a:solidFill>
                  <a:schemeClr val="tx1"/>
                </a:solidFill>
              </a:rPr>
              <a:t>is hersteld</a:t>
            </a:r>
            <a:r>
              <a:rPr lang="en-US" sz="1600" dirty="0">
                <a:solidFill>
                  <a:schemeClr val="tx1"/>
                </a:solidFill>
              </a:rPr>
              <a:t>), </a:t>
            </a:r>
            <a:r>
              <a:rPr lang="en-US" sz="1600" b="1" dirty="0">
                <a:solidFill>
                  <a:schemeClr val="tx1"/>
                </a:solidFill>
              </a:rPr>
              <a:t>en cours</a:t>
            </a:r>
            <a:r>
              <a:rPr lang="en-US" sz="1600" dirty="0">
                <a:solidFill>
                  <a:schemeClr val="tx1"/>
                </a:solidFill>
              </a:rPr>
              <a:t> (</a:t>
            </a:r>
            <a:r>
              <a:rPr lang="en-US" sz="1600" i="1" dirty="0">
                <a:solidFill>
                  <a:schemeClr val="tx1"/>
                </a:solidFill>
              </a:rPr>
              <a:t>wordt geschilderd</a:t>
            </a:r>
            <a:r>
              <a:rPr lang="en-US" sz="1600" dirty="0">
                <a:solidFill>
                  <a:schemeClr val="tx1"/>
                </a:solidFill>
              </a:rPr>
              <a:t>) et </a:t>
            </a:r>
            <a:r>
              <a:rPr lang="en-US" sz="1600" b="1" dirty="0">
                <a:solidFill>
                  <a:schemeClr val="tx1"/>
                </a:solidFill>
              </a:rPr>
              <a:t>décidé</a:t>
            </a:r>
            <a:r>
              <a:rPr lang="en-US" sz="1600" dirty="0">
                <a:solidFill>
                  <a:schemeClr val="tx1"/>
                </a:solidFill>
              </a:rPr>
              <a:t> au </a:t>
            </a:r>
            <a:r>
              <a:rPr lang="en-US" sz="1600" b="1" dirty="0">
                <a:solidFill>
                  <a:schemeClr val="tx1"/>
                </a:solidFill>
              </a:rPr>
              <a:t>passif</a:t>
            </a:r>
            <a:r>
              <a:rPr lang="en-US" sz="1600" dirty="0">
                <a:solidFill>
                  <a:schemeClr val="tx1"/>
                </a:solidFill>
              </a:rPr>
              <a:t>, puis </a:t>
            </a:r>
            <a:r>
              <a:rPr lang="en-US" sz="1600" b="1" dirty="0">
                <a:solidFill>
                  <a:schemeClr val="tx1"/>
                </a:solidFill>
              </a:rPr>
              <a:t>clôturer un dossier</a:t>
            </a:r>
            <a:r>
              <a:rPr lang="en-US" sz="1600" dirty="0">
                <a:solidFill>
                  <a:schemeClr val="tx1"/>
                </a:solidFill>
              </a:rPr>
              <a:t> de gestion.</a:t>
            </a:r>
            <a:endParaRPr lang="en-US" sz="16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i="1" dirty="0">
                <a:solidFill>
                  <a:schemeClr val="tx1"/>
                </a:solidFill>
              </a:rPr>
              <a:t>wordt · worden + participe</a:t>
            </a:r>
            <a:r>
              <a:rPr lang="en-US" sz="1800" dirty="0">
                <a:solidFill>
                  <a:schemeClr val="tx1"/>
                </a:solidFill>
              </a:rPr>
              <a:t> — </a:t>
            </a:r>
            <a:r>
              <a:rPr lang="en-US" sz="1800" i="1" dirty="0">
                <a:solidFill>
                  <a:schemeClr val="tx1"/>
                </a:solidFill>
              </a:rPr>
              <a:t>werd · werden + participe</a:t>
            </a:r>
            <a:r>
              <a:rPr lang="en-US" sz="1800" dirty="0">
                <a:solidFill>
                  <a:schemeClr val="tx1"/>
                </a:solidFill>
              </a:rPr>
              <a:t> — </a:t>
            </a:r>
            <a:r>
              <a:rPr lang="en-US" sz="1800" i="1" dirty="0">
                <a:solidFill>
                  <a:schemeClr val="tx1"/>
                </a:solidFill>
              </a:rPr>
              <a:t>is + participe</a:t>
            </a:r>
            <a:r>
              <a:rPr lang="en-US" sz="1800" dirty="0">
                <a:solidFill>
                  <a:schemeClr val="tx1"/>
                </a:solidFill>
              </a:rPr>
              <a:t> — </a:t>
            </a:r>
            <a:r>
              <a:rPr lang="en-US" sz="1800" i="1" dirty="0">
                <a:solidFill>
                  <a:schemeClr val="tx1"/>
                </a:solidFill>
              </a:rPr>
              <a:t>door + acteur</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500" dirty="0">
                <a:solidFill>
                  <a:schemeClr val="tx1"/>
                </a:solidFill>
              </a:rPr>
              <a:t>Transformer actif et passif · comprendre annonces et messages · annoncer une solution (TAAK 5) · présenter et rédiger le dossier final (TAAK 6)</a:t>
            </a:r>
            <a:endParaRPr lang="en-US" sz="15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28876"/>
            <a:ext cx="384048" cy="384048"/>
          </a:xfrm>
          <a:prstGeom prst="ellipse">
            <a:avLst/>
          </a:prstGeom>
          <a:solidFill>
            <a:schemeClr val="tx2"/>
          </a:solidFill>
          <a:ln/>
        </p:spPr>
      </p:sp>
      <p:sp>
        <p:nvSpPr>
          <p:cNvPr id="24" name="Text 18"/>
          <p:cNvSpPr txBox="1"/>
          <p:nvPr/>
        </p:nvSpPr>
        <p:spPr>
          <a:xfrm>
            <a:off x="6263640" y="19288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492760"/>
          </a:xfrm>
          <a:prstGeom prst="rect">
            <a:avLst/>
          </a:prstGeom>
          <a:noFill/>
          <a:ln/>
        </p:spPr>
        <p:txBody>
          <a:bodyPr wrap="square" lIns="0" tIns="0" rIns="0" bIns="0" rtlCol="0" anchor="ctr"/>
          <a:lstStyle/>
          <a:p>
            <a:pPr indent="0" marL="0">
              <a:buNone/>
            </a:pPr>
            <a:r>
              <a:rPr lang="en-US" sz="1500" dirty="0">
                <a:solidFill>
                  <a:schemeClr val="tx1"/>
                </a:solidFill>
              </a:rPr>
              <a:t>Rappel séance 9 : zou</a:t>
            </a:r>
            <a:endParaRPr lang="en-US" sz="1500" dirty="0"/>
          </a:p>
        </p:txBody>
      </p:sp>
      <p:sp>
        <p:nvSpPr>
          <p:cNvPr id="26" name="Text 20"/>
          <p:cNvSpPr txBox="1"/>
          <p:nvPr/>
        </p:nvSpPr>
        <p:spPr>
          <a:xfrm>
            <a:off x="10972800" y="187452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6'</a:t>
            </a:r>
            <a:endParaRPr lang="en-US" sz="1500" dirty="0"/>
          </a:p>
        </p:txBody>
      </p:sp>
      <p:sp>
        <p:nvSpPr>
          <p:cNvPr id="27" name="Shape 21"/>
          <p:cNvSpPr/>
          <p:nvPr/>
        </p:nvSpPr>
        <p:spPr>
          <a:xfrm>
            <a:off x="6263640" y="2421636"/>
            <a:ext cx="384048" cy="384048"/>
          </a:xfrm>
          <a:prstGeom prst="ellipse">
            <a:avLst/>
          </a:prstGeom>
          <a:solidFill>
            <a:schemeClr val="tx2"/>
          </a:solidFill>
          <a:ln/>
        </p:spPr>
      </p:sp>
      <p:sp>
        <p:nvSpPr>
          <p:cNvPr id="28" name="Text 22"/>
          <p:cNvSpPr txBox="1"/>
          <p:nvPr/>
        </p:nvSpPr>
        <p:spPr>
          <a:xfrm>
            <a:off x="6263640" y="24216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367280"/>
            <a:ext cx="4114800" cy="492760"/>
          </a:xfrm>
          <a:prstGeom prst="rect">
            <a:avLst/>
          </a:prstGeom>
          <a:noFill/>
          <a:ln/>
        </p:spPr>
        <p:txBody>
          <a:bodyPr wrap="square" lIns="0" tIns="0" rIns="0" bIns="0" rtlCol="0" anchor="ctr"/>
          <a:lstStyle/>
          <a:p>
            <a:pPr indent="0" marL="0">
              <a:buNone/>
            </a:pPr>
            <a:r>
              <a:rPr lang="en-US" sz="1500" dirty="0">
                <a:solidFill>
                  <a:schemeClr val="tx1"/>
                </a:solidFill>
              </a:rPr>
              <a:t>6.5 · le passif avec worden</a:t>
            </a:r>
            <a:endParaRPr lang="en-US" sz="1500" dirty="0"/>
          </a:p>
        </p:txBody>
      </p:sp>
      <p:sp>
        <p:nvSpPr>
          <p:cNvPr id="30" name="Text 24"/>
          <p:cNvSpPr txBox="1"/>
          <p:nvPr/>
        </p:nvSpPr>
        <p:spPr>
          <a:xfrm>
            <a:off x="10972800" y="236728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1" name="Shape 25"/>
          <p:cNvSpPr/>
          <p:nvPr/>
        </p:nvSpPr>
        <p:spPr>
          <a:xfrm>
            <a:off x="6263640" y="2914396"/>
            <a:ext cx="384048" cy="384048"/>
          </a:xfrm>
          <a:prstGeom prst="ellipse">
            <a:avLst/>
          </a:prstGeom>
          <a:solidFill>
            <a:schemeClr val="tx2"/>
          </a:solidFill>
          <a:ln/>
        </p:spPr>
      </p:sp>
      <p:sp>
        <p:nvSpPr>
          <p:cNvPr id="32" name="Text 26"/>
          <p:cNvSpPr txBox="1"/>
          <p:nvPr/>
        </p:nvSpPr>
        <p:spPr>
          <a:xfrm>
            <a:off x="6263640" y="29143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860040"/>
            <a:ext cx="4114800" cy="492760"/>
          </a:xfrm>
          <a:prstGeom prst="rect">
            <a:avLst/>
          </a:prstGeom>
          <a:noFill/>
          <a:ln/>
        </p:spPr>
        <p:txBody>
          <a:bodyPr wrap="square" lIns="0" tIns="0" rIns="0" bIns="0" rtlCol="0" anchor="ctr"/>
          <a:lstStyle/>
          <a:p>
            <a:pPr indent="0" marL="0">
              <a:buNone/>
            </a:pPr>
            <a:r>
              <a:rPr lang="en-US" sz="1500" dirty="0">
                <a:solidFill>
                  <a:schemeClr val="tx1"/>
                </a:solidFill>
              </a:rPr>
              <a:t>Ex. 10 Van actief naar passief</a:t>
            </a:r>
            <a:endParaRPr lang="en-US" sz="1500" dirty="0"/>
          </a:p>
        </p:txBody>
      </p:sp>
      <p:sp>
        <p:nvSpPr>
          <p:cNvPr id="34" name="Text 28"/>
          <p:cNvSpPr txBox="1"/>
          <p:nvPr/>
        </p:nvSpPr>
        <p:spPr>
          <a:xfrm>
            <a:off x="10972800" y="286004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35" name="Shape 29"/>
          <p:cNvSpPr/>
          <p:nvPr/>
        </p:nvSpPr>
        <p:spPr>
          <a:xfrm>
            <a:off x="6263640" y="3407156"/>
            <a:ext cx="384048" cy="384048"/>
          </a:xfrm>
          <a:prstGeom prst="ellipse">
            <a:avLst/>
          </a:prstGeom>
          <a:solidFill>
            <a:schemeClr val="tx2"/>
          </a:solidFill>
          <a:ln/>
        </p:spPr>
      </p:sp>
      <p:sp>
        <p:nvSpPr>
          <p:cNvPr id="36" name="Text 30"/>
          <p:cNvSpPr txBox="1"/>
          <p:nvPr/>
        </p:nvSpPr>
        <p:spPr>
          <a:xfrm>
            <a:off x="6263640" y="34071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352800"/>
            <a:ext cx="4114800" cy="492760"/>
          </a:xfrm>
          <a:prstGeom prst="rect">
            <a:avLst/>
          </a:prstGeom>
          <a:noFill/>
          <a:ln/>
        </p:spPr>
        <p:txBody>
          <a:bodyPr wrap="square" lIns="0" tIns="0" rIns="0" bIns="0" rtlCol="0" anchor="ctr"/>
          <a:lstStyle/>
          <a:p>
            <a:pPr indent="0" marL="0">
              <a:buNone/>
            </a:pPr>
            <a:r>
              <a:rPr lang="en-US" sz="1500" dirty="0">
                <a:solidFill>
                  <a:schemeClr val="tx1"/>
                </a:solidFill>
              </a:rPr>
              <a:t>Ex. 11 Herschrijf het droge verslag</a:t>
            </a:r>
            <a:endParaRPr lang="en-US" sz="1500" dirty="0"/>
          </a:p>
        </p:txBody>
      </p:sp>
      <p:sp>
        <p:nvSpPr>
          <p:cNvPr id="38" name="Text 32"/>
          <p:cNvSpPr txBox="1"/>
          <p:nvPr/>
        </p:nvSpPr>
        <p:spPr>
          <a:xfrm>
            <a:off x="10972800" y="335280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9" name="Shape 33"/>
          <p:cNvSpPr/>
          <p:nvPr/>
        </p:nvSpPr>
        <p:spPr>
          <a:xfrm>
            <a:off x="6263640" y="3899916"/>
            <a:ext cx="384048" cy="384048"/>
          </a:xfrm>
          <a:prstGeom prst="ellipse">
            <a:avLst/>
          </a:prstGeom>
          <a:solidFill>
            <a:schemeClr val="tx2"/>
          </a:solidFill>
          <a:ln/>
        </p:spPr>
      </p:sp>
      <p:sp>
        <p:nvSpPr>
          <p:cNvPr id="40" name="Text 34"/>
          <p:cNvSpPr txBox="1"/>
          <p:nvPr/>
        </p:nvSpPr>
        <p:spPr>
          <a:xfrm>
            <a:off x="6263640" y="38999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3845560"/>
            <a:ext cx="4114800" cy="492760"/>
          </a:xfrm>
          <a:prstGeom prst="rect">
            <a:avLst/>
          </a:prstGeom>
          <a:noFill/>
          <a:ln/>
        </p:spPr>
        <p:txBody>
          <a:bodyPr wrap="square" lIns="0" tIns="0" rIns="0" bIns="0" rtlCol="0" anchor="ctr"/>
          <a:lstStyle/>
          <a:p>
            <a:pPr indent="0" marL="0">
              <a:buNone/>
            </a:pPr>
            <a:r>
              <a:rPr lang="en-US" sz="1500" dirty="0">
                <a:solidFill>
                  <a:schemeClr val="tx1"/>
                </a:solidFill>
              </a:rPr>
              <a:t>TAAK 5 · het telefoontje</a:t>
            </a:r>
            <a:endParaRPr lang="en-US" sz="1500" dirty="0"/>
          </a:p>
        </p:txBody>
      </p:sp>
      <p:sp>
        <p:nvSpPr>
          <p:cNvPr id="42" name="Text 36"/>
          <p:cNvSpPr txBox="1"/>
          <p:nvPr/>
        </p:nvSpPr>
        <p:spPr>
          <a:xfrm>
            <a:off x="10972800" y="384556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43" name="Shape 37"/>
          <p:cNvSpPr/>
          <p:nvPr/>
        </p:nvSpPr>
        <p:spPr>
          <a:xfrm>
            <a:off x="6263640" y="4392676"/>
            <a:ext cx="384048" cy="384048"/>
          </a:xfrm>
          <a:prstGeom prst="ellipse">
            <a:avLst/>
          </a:prstGeom>
          <a:solidFill>
            <a:schemeClr val="tx2"/>
          </a:solidFill>
          <a:ln/>
        </p:spPr>
      </p:sp>
      <p:sp>
        <p:nvSpPr>
          <p:cNvPr id="44" name="Text 38"/>
          <p:cNvSpPr txBox="1"/>
          <p:nvPr/>
        </p:nvSpPr>
        <p:spPr>
          <a:xfrm>
            <a:off x="6263640" y="43926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338320"/>
            <a:ext cx="4114800" cy="492760"/>
          </a:xfrm>
          <a:prstGeom prst="rect">
            <a:avLst/>
          </a:prstGeom>
          <a:noFill/>
          <a:ln/>
        </p:spPr>
        <p:txBody>
          <a:bodyPr wrap="square" lIns="0" tIns="0" rIns="0" bIns="0" rtlCol="0" anchor="ctr"/>
          <a:lstStyle/>
          <a:p>
            <a:pPr indent="0" marL="0">
              <a:buNone/>
            </a:pPr>
            <a:r>
              <a:rPr lang="en-US" sz="1500" dirty="0">
                <a:solidFill>
                  <a:schemeClr val="tx1"/>
                </a:solidFill>
              </a:rPr>
              <a:t>D5 · Vertraging!</a:t>
            </a:r>
            <a:endParaRPr lang="en-US" sz="1500" dirty="0"/>
          </a:p>
        </p:txBody>
      </p:sp>
      <p:sp>
        <p:nvSpPr>
          <p:cNvPr id="46" name="Text 40"/>
          <p:cNvSpPr txBox="1"/>
          <p:nvPr/>
        </p:nvSpPr>
        <p:spPr>
          <a:xfrm>
            <a:off x="10972800" y="433832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47" name="Shape 41"/>
          <p:cNvSpPr/>
          <p:nvPr/>
        </p:nvSpPr>
        <p:spPr>
          <a:xfrm>
            <a:off x="6263640" y="4885436"/>
            <a:ext cx="384048" cy="384048"/>
          </a:xfrm>
          <a:prstGeom prst="ellipse">
            <a:avLst/>
          </a:prstGeom>
          <a:solidFill>
            <a:schemeClr val="tx2"/>
          </a:solidFill>
          <a:ln/>
        </p:spPr>
      </p:sp>
      <p:sp>
        <p:nvSpPr>
          <p:cNvPr id="48" name="Text 42"/>
          <p:cNvSpPr txBox="1"/>
          <p:nvPr/>
        </p:nvSpPr>
        <p:spPr>
          <a:xfrm>
            <a:off x="6263640" y="48854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4831080"/>
            <a:ext cx="4114800" cy="492760"/>
          </a:xfrm>
          <a:prstGeom prst="rect">
            <a:avLst/>
          </a:prstGeom>
          <a:noFill/>
          <a:ln/>
        </p:spPr>
        <p:txBody>
          <a:bodyPr wrap="square" lIns="0" tIns="0" rIns="0" bIns="0" rtlCol="0" anchor="ctr"/>
          <a:lstStyle/>
          <a:p>
            <a:pPr indent="0" marL="0">
              <a:buNone/>
            </a:pPr>
            <a:r>
              <a:rPr lang="en-US" sz="1500" dirty="0">
                <a:solidFill>
                  <a:schemeClr val="tx1"/>
                </a:solidFill>
              </a:rPr>
              <a:t>Bonus: wordt, werd of is?</a:t>
            </a:r>
            <a:endParaRPr lang="en-US" sz="1500" dirty="0"/>
          </a:p>
        </p:txBody>
      </p:sp>
      <p:sp>
        <p:nvSpPr>
          <p:cNvPr id="50" name="Text 44"/>
          <p:cNvSpPr txBox="1"/>
          <p:nvPr/>
        </p:nvSpPr>
        <p:spPr>
          <a:xfrm>
            <a:off x="10972800" y="483108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4'</a:t>
            </a:r>
            <a:endParaRPr lang="en-US" sz="1500" dirty="0"/>
          </a:p>
        </p:txBody>
      </p:sp>
      <p:sp>
        <p:nvSpPr>
          <p:cNvPr id="51" name="Shape 45"/>
          <p:cNvSpPr/>
          <p:nvPr/>
        </p:nvSpPr>
        <p:spPr>
          <a:xfrm>
            <a:off x="6263640" y="5378196"/>
            <a:ext cx="384048" cy="384048"/>
          </a:xfrm>
          <a:prstGeom prst="ellipse">
            <a:avLst/>
          </a:prstGeom>
          <a:solidFill>
            <a:schemeClr val="tx2"/>
          </a:solidFill>
          <a:ln/>
        </p:spPr>
      </p:sp>
      <p:sp>
        <p:nvSpPr>
          <p:cNvPr id="52" name="Text 46"/>
          <p:cNvSpPr txBox="1"/>
          <p:nvPr/>
        </p:nvSpPr>
        <p:spPr>
          <a:xfrm>
            <a:off x="6263640" y="53781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323840"/>
            <a:ext cx="4114800" cy="492760"/>
          </a:xfrm>
          <a:prstGeom prst="rect">
            <a:avLst/>
          </a:prstGeom>
          <a:noFill/>
          <a:ln/>
        </p:spPr>
        <p:txBody>
          <a:bodyPr wrap="square" lIns="0" tIns="0" rIns="0" bIns="0" rtlCol="0" anchor="ctr"/>
          <a:lstStyle/>
          <a:p>
            <a:pPr indent="0" marL="0">
              <a:buNone/>
            </a:pPr>
            <a:r>
              <a:rPr lang="en-US" sz="1500" dirty="0">
                <a:solidFill>
                  <a:schemeClr val="tx1"/>
                </a:solidFill>
              </a:rPr>
              <a:t>TAAK 6 · dossier (étapes 1–2)</a:t>
            </a:r>
            <a:endParaRPr lang="en-US" sz="1500" dirty="0"/>
          </a:p>
        </p:txBody>
      </p:sp>
      <p:sp>
        <p:nvSpPr>
          <p:cNvPr id="54" name="Text 48"/>
          <p:cNvSpPr txBox="1"/>
          <p:nvPr/>
        </p:nvSpPr>
        <p:spPr>
          <a:xfrm>
            <a:off x="10972800" y="532384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22'</a:t>
            </a:r>
            <a:endParaRPr lang="en-US" sz="1500" dirty="0"/>
          </a:p>
        </p:txBody>
      </p:sp>
      <p:sp>
        <p:nvSpPr>
          <p:cNvPr id="55" name="Shape 49"/>
          <p:cNvSpPr/>
          <p:nvPr/>
        </p:nvSpPr>
        <p:spPr>
          <a:xfrm>
            <a:off x="6263640" y="5870956"/>
            <a:ext cx="384048" cy="384048"/>
          </a:xfrm>
          <a:prstGeom prst="ellipse">
            <a:avLst/>
          </a:prstGeom>
          <a:solidFill>
            <a:schemeClr val="tx2"/>
          </a:solidFill>
          <a:ln/>
        </p:spPr>
      </p:sp>
      <p:sp>
        <p:nvSpPr>
          <p:cNvPr id="56" name="Text 50"/>
          <p:cNvSpPr txBox="1"/>
          <p:nvPr/>
        </p:nvSpPr>
        <p:spPr>
          <a:xfrm>
            <a:off x="6263640" y="58709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7" name="Text 51"/>
          <p:cNvSpPr txBox="1"/>
          <p:nvPr/>
        </p:nvSpPr>
        <p:spPr>
          <a:xfrm>
            <a:off x="6784848" y="5816600"/>
            <a:ext cx="4114800" cy="492760"/>
          </a:xfrm>
          <a:prstGeom prst="rect">
            <a:avLst/>
          </a:prstGeom>
          <a:noFill/>
          <a:ln/>
        </p:spPr>
        <p:txBody>
          <a:bodyPr wrap="square" lIns="0" tIns="0" rIns="0" bIns="0" rtlCol="0" anchor="ctr"/>
          <a:lstStyle/>
          <a:p>
            <a:pPr indent="0" marL="0">
              <a:buNone/>
            </a:pPr>
            <a:r>
              <a:rPr lang="en-US" sz="1500" dirty="0">
                <a:solidFill>
                  <a:schemeClr val="tx1"/>
                </a:solidFill>
              </a:rPr>
              <a:t>Bilan</a:t>
            </a:r>
            <a:endParaRPr lang="en-US" sz="1500" dirty="0"/>
          </a:p>
        </p:txBody>
      </p:sp>
      <p:sp>
        <p:nvSpPr>
          <p:cNvPr id="58" name="Text 52"/>
          <p:cNvSpPr txBox="1"/>
          <p:nvPr/>
        </p:nvSpPr>
        <p:spPr>
          <a:xfrm>
            <a:off x="10972800" y="5816600"/>
            <a:ext cx="667512" cy="492760"/>
          </a:xfrm>
          <a:prstGeom prst="rect">
            <a:avLst/>
          </a:prstGeom>
          <a:noFill/>
          <a:ln/>
        </p:spPr>
        <p:txBody>
          <a:bodyPr wrap="square" lIns="0" tIns="0" rIns="0" bIns="0" rtlCol="0" anchor="ctr"/>
          <a:lstStyle/>
          <a:p>
            <a:pPr algn="r" indent="0" marL="0">
              <a:buNone/>
            </a:pPr>
            <a:r>
              <a:rPr lang="en-US" sz="1500" b="1" dirty="0">
                <a:solidFill>
                  <a:schemeClr val="accent1"/>
                </a:solidFill>
              </a:rPr>
              <a:t>3'</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9 : zou</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9</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Reformulez avec </a:t>
            </a:r>
            <a:r>
              <a:rPr lang="en-US" sz="1600" b="1" i="1" dirty="0">
                <a:solidFill>
                  <a:schemeClr val="accent5"/>
                </a:solidFill>
              </a:rPr>
              <a:t>zou</a:t>
            </a:r>
            <a:r>
              <a:rPr lang="en-US" sz="1600" i="1" dirty="0">
                <a:solidFill>
                  <a:schemeClr val="accent5"/>
                </a:solidFill>
              </a:rPr>
              <a:t> — seul, 4 min, puis correction orale.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 Stuur me de plaatsbeschrijving! » (demande polie)</a:t>
            </a:r>
            <a:endParaRPr lang="en-US" sz="2600" dirty="0"/>
          </a:p>
          <a:p>
            <a:pPr indent="0" marL="0">
              <a:spcAft>
                <a:spcPts val="1400"/>
              </a:spcAft>
              <a:buNone/>
            </a:pPr>
            <a:r>
              <a:rPr lang="en-US" sz="2600" b="1" dirty="0">
                <a:solidFill>
                  <a:schemeClr val="tx2"/>
                </a:solidFill>
              </a:rPr>
              <a:t>2.  </a:t>
            </a:r>
            <a:r>
              <a:rPr lang="en-US" sz="2600" dirty="0">
                <a:solidFill>
                  <a:schemeClr val="tx1"/>
                </a:solidFill>
              </a:rPr>
              <a:t>« Bel de eigenaar. » (Als ik u was…)</a:t>
            </a:r>
            <a:endParaRPr lang="en-US" sz="2600" dirty="0"/>
          </a:p>
          <a:p>
            <a:pPr indent="0" marL="0">
              <a:spcAft>
                <a:spcPts val="1400"/>
              </a:spcAft>
              <a:buNone/>
            </a:pPr>
            <a:r>
              <a:rPr lang="en-US" sz="2600" b="1" dirty="0">
                <a:solidFill>
                  <a:schemeClr val="tx2"/>
                </a:solidFill>
              </a:rPr>
              <a:t>3.  </a:t>
            </a:r>
            <a:r>
              <a:rPr lang="en-US" sz="2600" dirty="0">
                <a:solidFill>
                  <a:schemeClr val="tx1"/>
                </a:solidFill>
              </a:rPr>
              <a:t>« Het is een probleem met de verwarming. » (hypothèse)</a:t>
            </a:r>
            <a:endParaRPr lang="en-US" sz="2600" dirty="0"/>
          </a:p>
          <a:p>
            <a:pPr indent="0" marL="0">
              <a:spcAft>
                <a:spcPts val="1400"/>
              </a:spcAft>
              <a:buNone/>
            </a:pPr>
            <a:r>
              <a:rPr lang="en-US" sz="2600" b="1" dirty="0">
                <a:solidFill>
                  <a:schemeClr val="tx2"/>
                </a:solidFill>
              </a:rPr>
              <a:t>4.  </a:t>
            </a:r>
            <a:r>
              <a:rPr lang="en-US" sz="2600" dirty="0">
                <a:solidFill>
                  <a:schemeClr val="tx1"/>
                </a:solidFill>
              </a:rPr>
              <a:t>« Wacht tot maandag. » (U zou beter…)</a:t>
            </a:r>
            <a:endParaRPr lang="en-US" sz="2600" dirty="0"/>
          </a:p>
          <a:p>
            <a:pPr indent="0" marL="0">
              <a:spcAft>
                <a:spcPts val="1400"/>
              </a:spcAft>
              <a:buNone/>
            </a:pPr>
            <a:r>
              <a:rPr lang="en-US" sz="2600" b="1" dirty="0">
                <a:solidFill>
                  <a:schemeClr val="tx2"/>
                </a:solidFill>
              </a:rPr>
              <a:t>5.  </a:t>
            </a:r>
            <a:r>
              <a:rPr lang="en-US" sz="2600" dirty="0">
                <a:solidFill>
                  <a:schemeClr val="tx1"/>
                </a:solidFill>
              </a:rPr>
              <a:t>« Wij willen een afspraak maken. » (poli)</a:t>
            </a:r>
            <a:endParaRPr lang="en-US" sz="2600" dirty="0"/>
          </a:p>
        </p:txBody>
      </p:sp>
      <p:sp>
        <p:nvSpPr>
          <p:cNvPr id="8" name="aside"/>
          <p:cNvSpPr/>
          <p:nvPr/>
        </p:nvSpPr>
        <p:spPr>
          <a:xfrm>
            <a:off x="8046720" y="1481328"/>
            <a:ext cx="3593592" cy="4809744"/>
          </a:xfrm>
          <a:prstGeom prst="roundRect">
            <a:avLst>
              <a:gd name="adj" fmla="val 2036"/>
            </a:avLst>
          </a:prstGeom>
          <a:solidFill>
            <a:schemeClr val="accent2">
              <a:alpha val="10000"/>
            </a:schemeClr>
          </a:solidFill>
          <a:ln w="12700">
            <a:solidFill>
              <a:schemeClr val="accent2">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RAPPEL</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zou</a:t>
            </a:r>
            <a:r>
              <a:rPr lang="en-US" sz="1800" dirty="0">
                <a:solidFill>
                  <a:schemeClr val="tx1"/>
                </a:solidFill>
              </a:rPr>
              <a:t> en 2e position, </a:t>
            </a:r>
            <a:r>
              <a:rPr lang="en-US" sz="1800" b="1" dirty="0">
                <a:solidFill>
                  <a:schemeClr val="tx1"/>
                </a:solidFill>
              </a:rPr>
              <a:t>infinitif à la fin</a:t>
            </a:r>
            <a:endParaRPr lang="en-US" sz="1800" dirty="0"/>
          </a:p>
          <a:p>
            <a:pPr marL="177800" indent="-177800">
              <a:spcAft>
                <a:spcPts val="600"/>
              </a:spcAft>
              <a:buSzPct val="100000"/>
              <a:buChar char="•"/>
            </a:pPr>
            <a:r>
              <a:rPr lang="en-US" sz="1800" b="1" dirty="0">
                <a:solidFill>
                  <a:schemeClr val="tx1"/>
                </a:solidFill>
              </a:rPr>
              <a:t>zou / zouden</a:t>
            </a:r>
            <a:r>
              <a:rPr lang="en-US" sz="1800" dirty="0">
                <a:solidFill>
                  <a:schemeClr val="tx1"/>
                </a:solidFill>
              </a:rPr>
              <a:t> : accord avec le sujet</a:t>
            </a:r>
            <a:endParaRPr lang="en-US" sz="1800" dirty="0"/>
          </a:p>
          <a:p>
            <a:pPr marL="177800" indent="-177800">
              <a:spcAft>
                <a:spcPts val="600"/>
              </a:spcAft>
              <a:buSzPct val="100000"/>
              <a:buChar char="•"/>
            </a:pPr>
            <a:r>
              <a:rPr lang="en-US" sz="1800" dirty="0">
                <a:solidFill>
                  <a:schemeClr val="tx1"/>
                </a:solidFill>
              </a:rPr>
              <a:t>Après </a:t>
            </a:r>
            <a:r>
              <a:rPr lang="en-US" sz="1800" b="1" dirty="0">
                <a:solidFill>
                  <a:schemeClr val="tx1"/>
                </a:solidFill>
              </a:rPr>
              <a:t>als</a:t>
            </a:r>
            <a:r>
              <a:rPr lang="en-US" sz="1800" dirty="0">
                <a:solidFill>
                  <a:schemeClr val="tx1"/>
                </a:solidFill>
              </a:rPr>
              <a:t> : l’imperfectum (</a:t>
            </a:r>
            <a:r>
              <a:rPr lang="en-US" sz="1800" b="1" dirty="0">
                <a:solidFill>
                  <a:schemeClr val="tx1"/>
                </a:solidFill>
              </a:rPr>
              <a:t>was</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Cette séance : </a:t>
            </a:r>
            <a:r>
              <a:rPr lang="en-US" sz="1800" b="1" dirty="0">
                <a:solidFill>
                  <a:schemeClr val="tx1"/>
                </a:solidFill>
              </a:rPr>
              <a:t>worden</a:t>
            </a:r>
            <a:r>
              <a:rPr lang="en-US" sz="1800" dirty="0">
                <a:solidFill>
                  <a:schemeClr val="tx1"/>
                </a:solidFill>
              </a:rPr>
              <a:t> + participe à la fin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9 : zou</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9</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Reformulez avec </a:t>
            </a:r>
            <a:r>
              <a:rPr lang="en-US" sz="1600" b="1" i="1" dirty="0">
                <a:solidFill>
                  <a:schemeClr val="accent5"/>
                </a:solidFill>
              </a:rPr>
              <a:t>zou</a:t>
            </a:r>
            <a:r>
              <a:rPr lang="en-US" sz="1600" i="1" dirty="0">
                <a:solidFill>
                  <a:schemeClr val="accent5"/>
                </a:solidFill>
              </a:rPr>
              <a:t> — seul, 4 min, puis correction orale.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1.  </a:t>
            </a:r>
            <a:r>
              <a:rPr lang="en-US" sz="1800" dirty="0">
                <a:solidFill>
                  <a:schemeClr val="tx1"/>
                </a:solidFill>
              </a:rPr>
              <a:t>« Stuur me de plaatsbeschrijving! » (demande polie)</a:t>
            </a:r>
            <a:endParaRPr lang="en-US" sz="1800" dirty="0"/>
          </a:p>
          <a:p>
            <a:pPr indent="0" marL="0">
              <a:spcAft>
                <a:spcPts val="1200"/>
              </a:spcAft>
              <a:buNone/>
            </a:pPr>
            <a:r>
              <a:rPr lang="en-US" sz="1800" b="1" dirty="0">
                <a:solidFill>
                  <a:schemeClr val="accent3"/>
                </a:solidFill>
              </a:rPr>
              <a:t>→ </a:t>
            </a:r>
            <a:r>
              <a:rPr lang="en-US" sz="1800" b="1" dirty="0">
                <a:solidFill>
                  <a:schemeClr val="accent3"/>
                </a:solidFill>
              </a:rPr>
              <a:t>Zou u</a:t>
            </a:r>
            <a:r>
              <a:rPr lang="en-US" sz="1800" dirty="0">
                <a:solidFill>
                  <a:schemeClr val="accent3"/>
                </a:solidFill>
              </a:rPr>
              <a:t> me de plaatsbeschrijving </a:t>
            </a:r>
            <a:r>
              <a:rPr lang="en-US" sz="1800" b="1" dirty="0">
                <a:solidFill>
                  <a:schemeClr val="accent3"/>
                </a:solidFill>
              </a:rPr>
              <a:t>kunnen sturen</a:t>
            </a:r>
            <a:r>
              <a:rPr lang="en-US" sz="1800" dirty="0">
                <a:solidFill>
                  <a:schemeClr val="accent3"/>
                </a:solidFill>
              </a:rPr>
              <a:t>?</a:t>
            </a:r>
            <a:endParaRPr lang="en-US" sz="1800" dirty="0"/>
          </a:p>
          <a:p>
            <a:pPr indent="0" marL="0">
              <a:spcAft>
                <a:spcPts val="400"/>
              </a:spcAft>
              <a:buNone/>
            </a:pPr>
            <a:r>
              <a:rPr lang="en-US" sz="1800" b="1" dirty="0">
                <a:solidFill>
                  <a:schemeClr val="tx2"/>
                </a:solidFill>
              </a:rPr>
              <a:t>2.  </a:t>
            </a:r>
            <a:r>
              <a:rPr lang="en-US" sz="1800" dirty="0">
                <a:solidFill>
                  <a:schemeClr val="tx1"/>
                </a:solidFill>
              </a:rPr>
              <a:t>« Bel de eigenaar. » (Als ik u was…)</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Als ik u </a:t>
            </a:r>
            <a:r>
              <a:rPr lang="en-US" sz="1800" b="1" dirty="0">
                <a:solidFill>
                  <a:schemeClr val="accent3"/>
                </a:solidFill>
              </a:rPr>
              <a:t>was</a:t>
            </a:r>
            <a:r>
              <a:rPr lang="en-US" sz="1800" dirty="0">
                <a:solidFill>
                  <a:schemeClr val="accent3"/>
                </a:solidFill>
              </a:rPr>
              <a:t>, </a:t>
            </a:r>
            <a:r>
              <a:rPr lang="en-US" sz="1800" b="1" dirty="0">
                <a:solidFill>
                  <a:schemeClr val="accent3"/>
                </a:solidFill>
              </a:rPr>
              <a:t>zou</a:t>
            </a:r>
            <a:r>
              <a:rPr lang="en-US" sz="1800" dirty="0">
                <a:solidFill>
                  <a:schemeClr val="accent3"/>
                </a:solidFill>
              </a:rPr>
              <a:t> ik de eigenaar </a:t>
            </a:r>
            <a:r>
              <a:rPr lang="en-US" sz="1800" b="1" dirty="0">
                <a:solidFill>
                  <a:schemeClr val="accent3"/>
                </a:solidFill>
              </a:rPr>
              <a:t>bellen</a:t>
            </a:r>
            <a:r>
              <a:rPr lang="en-US" sz="1800" dirty="0">
                <a:solidFill>
                  <a:schemeClr val="accent3"/>
                </a:solidFill>
              </a:rPr>
              <a:t>.</a:t>
            </a:r>
            <a:endParaRPr lang="en-US" sz="1800" dirty="0"/>
          </a:p>
          <a:p>
            <a:pPr indent="0" marL="0">
              <a:spcAft>
                <a:spcPts val="400"/>
              </a:spcAft>
              <a:buNone/>
            </a:pPr>
            <a:r>
              <a:rPr lang="en-US" sz="1800" b="1" dirty="0">
                <a:solidFill>
                  <a:schemeClr val="tx2"/>
                </a:solidFill>
              </a:rPr>
              <a:t>3.  </a:t>
            </a:r>
            <a:r>
              <a:rPr lang="en-US" sz="1800" dirty="0">
                <a:solidFill>
                  <a:schemeClr val="tx1"/>
                </a:solidFill>
              </a:rPr>
              <a:t>« Het is een probleem met de verwarming. » (hypothèse)</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Dat </a:t>
            </a:r>
            <a:r>
              <a:rPr lang="en-US" sz="1800" b="1" dirty="0">
                <a:solidFill>
                  <a:schemeClr val="accent3"/>
                </a:solidFill>
              </a:rPr>
              <a:t>zou</a:t>
            </a:r>
            <a:r>
              <a:rPr lang="en-US" sz="1800" dirty="0">
                <a:solidFill>
                  <a:schemeClr val="accent3"/>
                </a:solidFill>
              </a:rPr>
              <a:t> een probleem met de verwarming </a:t>
            </a:r>
            <a:r>
              <a:rPr lang="en-US" sz="1800" b="1" dirty="0">
                <a:solidFill>
                  <a:schemeClr val="accent3"/>
                </a:solidFill>
              </a:rPr>
              <a:t>kunnen zijn</a:t>
            </a:r>
            <a:r>
              <a:rPr lang="en-US" sz="1800" dirty="0">
                <a:solidFill>
                  <a:schemeClr val="accent3"/>
                </a:solidFill>
              </a:rPr>
              <a:t>.</a:t>
            </a:r>
            <a:endParaRPr lang="en-US" sz="1800" dirty="0"/>
          </a:p>
          <a:p>
            <a:pPr indent="0" marL="0">
              <a:spcAft>
                <a:spcPts val="400"/>
              </a:spcAft>
              <a:buNone/>
            </a:pPr>
            <a:r>
              <a:rPr lang="en-US" sz="1800" b="1" dirty="0">
                <a:solidFill>
                  <a:schemeClr val="tx2"/>
                </a:solidFill>
              </a:rPr>
              <a:t>4.  </a:t>
            </a:r>
            <a:r>
              <a:rPr lang="en-US" sz="1800" dirty="0">
                <a:solidFill>
                  <a:schemeClr val="tx1"/>
                </a:solidFill>
              </a:rPr>
              <a:t>« Wacht tot maandag. » (U zou beter…)</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U </a:t>
            </a:r>
            <a:r>
              <a:rPr lang="en-US" sz="1800" b="1" dirty="0">
                <a:solidFill>
                  <a:schemeClr val="accent3"/>
                </a:solidFill>
              </a:rPr>
              <a:t>zou beter</a:t>
            </a:r>
            <a:r>
              <a:rPr lang="en-US" sz="1800" dirty="0">
                <a:solidFill>
                  <a:schemeClr val="accent3"/>
                </a:solidFill>
              </a:rPr>
              <a:t> tot maandag </a:t>
            </a:r>
            <a:r>
              <a:rPr lang="en-US" sz="1800" b="1" dirty="0">
                <a:solidFill>
                  <a:schemeClr val="accent3"/>
                </a:solidFill>
              </a:rPr>
              <a:t>wachten</a:t>
            </a:r>
            <a:r>
              <a:rPr lang="en-US" sz="1800" dirty="0">
                <a:solidFill>
                  <a:schemeClr val="accent3"/>
                </a:solidFill>
              </a:rPr>
              <a:t>.</a:t>
            </a:r>
            <a:endParaRPr lang="en-US" sz="1800" dirty="0"/>
          </a:p>
          <a:p>
            <a:pPr indent="0" marL="0">
              <a:spcAft>
                <a:spcPts val="400"/>
              </a:spcAft>
              <a:buNone/>
            </a:pPr>
            <a:r>
              <a:rPr lang="en-US" sz="1800" b="1" dirty="0">
                <a:solidFill>
                  <a:schemeClr val="tx2"/>
                </a:solidFill>
              </a:rPr>
              <a:t>5.  </a:t>
            </a:r>
            <a:r>
              <a:rPr lang="en-US" sz="1800" dirty="0">
                <a:solidFill>
                  <a:schemeClr val="tx1"/>
                </a:solidFill>
              </a:rPr>
              <a:t>« Wij willen een afspraak maken. » (poli)</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Wij </a:t>
            </a:r>
            <a:r>
              <a:rPr lang="en-US" sz="1800" b="1" dirty="0">
                <a:solidFill>
                  <a:schemeClr val="accent3"/>
                </a:solidFill>
              </a:rPr>
              <a:t>zouden</a:t>
            </a:r>
            <a:r>
              <a:rPr lang="en-US" sz="1800" dirty="0">
                <a:solidFill>
                  <a:schemeClr val="accent3"/>
                </a:solidFill>
              </a:rPr>
              <a:t> graag een afspraak </a:t>
            </a:r>
            <a:r>
              <a:rPr lang="en-US" sz="1800" b="1" dirty="0">
                <a:solidFill>
                  <a:schemeClr val="accent3"/>
                </a:solidFill>
              </a:rPr>
              <a:t>maken</a:t>
            </a:r>
            <a:r>
              <a:rPr lang="en-US" sz="1800" dirty="0">
                <a:solidFill>
                  <a:schemeClr val="accent3"/>
                </a:solidFill>
              </a:rPr>
              <a:t>.</a:t>
            </a:r>
            <a:endParaRPr lang="en-US" sz="1800" dirty="0"/>
          </a:p>
        </p:txBody>
      </p:sp>
      <p:sp>
        <p:nvSpPr>
          <p:cNvPr id="9" name="aside"/>
          <p:cNvSpPr/>
          <p:nvPr/>
        </p:nvSpPr>
        <p:spPr>
          <a:xfrm>
            <a:off x="8046720" y="1481328"/>
            <a:ext cx="3593592" cy="4809744"/>
          </a:xfrm>
          <a:prstGeom prst="roundRect">
            <a:avLst>
              <a:gd name="adj" fmla="val 2036"/>
            </a:avLst>
          </a:prstGeom>
          <a:solidFill>
            <a:schemeClr val="accent2">
              <a:alpha val="10000"/>
            </a:schemeClr>
          </a:solidFill>
          <a:ln w="12700">
            <a:solidFill>
              <a:schemeClr val="accent2">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RAPPEL</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zou</a:t>
            </a:r>
            <a:r>
              <a:rPr lang="en-US" sz="1800" dirty="0">
                <a:solidFill>
                  <a:schemeClr val="tx1"/>
                </a:solidFill>
              </a:rPr>
              <a:t> en 2e position, </a:t>
            </a:r>
            <a:r>
              <a:rPr lang="en-US" sz="1800" b="1" dirty="0">
                <a:solidFill>
                  <a:schemeClr val="tx1"/>
                </a:solidFill>
              </a:rPr>
              <a:t>infinitif à la fin</a:t>
            </a:r>
            <a:endParaRPr lang="en-US" sz="1800" dirty="0"/>
          </a:p>
          <a:p>
            <a:pPr marL="177800" indent="-177800">
              <a:spcAft>
                <a:spcPts val="600"/>
              </a:spcAft>
              <a:buSzPct val="100000"/>
              <a:buChar char="•"/>
            </a:pPr>
            <a:r>
              <a:rPr lang="en-US" sz="1800" b="1" dirty="0">
                <a:solidFill>
                  <a:schemeClr val="tx1"/>
                </a:solidFill>
              </a:rPr>
              <a:t>zou / zouden</a:t>
            </a:r>
            <a:r>
              <a:rPr lang="en-US" sz="1800" dirty="0">
                <a:solidFill>
                  <a:schemeClr val="tx1"/>
                </a:solidFill>
              </a:rPr>
              <a:t> : accord avec le sujet</a:t>
            </a:r>
            <a:endParaRPr lang="en-US" sz="1800" dirty="0"/>
          </a:p>
          <a:p>
            <a:pPr marL="177800" indent="-177800">
              <a:spcAft>
                <a:spcPts val="600"/>
              </a:spcAft>
              <a:buSzPct val="100000"/>
              <a:buChar char="•"/>
            </a:pPr>
            <a:r>
              <a:rPr lang="en-US" sz="1800" dirty="0">
                <a:solidFill>
                  <a:schemeClr val="tx1"/>
                </a:solidFill>
              </a:rPr>
              <a:t>Après </a:t>
            </a:r>
            <a:r>
              <a:rPr lang="en-US" sz="1800" b="1" dirty="0">
                <a:solidFill>
                  <a:schemeClr val="tx1"/>
                </a:solidFill>
              </a:rPr>
              <a:t>als</a:t>
            </a:r>
            <a:r>
              <a:rPr lang="en-US" sz="1800" dirty="0">
                <a:solidFill>
                  <a:schemeClr val="tx1"/>
                </a:solidFill>
              </a:rPr>
              <a:t> : l’imperfectum (</a:t>
            </a:r>
            <a:r>
              <a:rPr lang="en-US" sz="1800" b="1" dirty="0">
                <a:solidFill>
                  <a:schemeClr val="tx1"/>
                </a:solidFill>
              </a:rPr>
              <a:t>was</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Cette séance : </a:t>
            </a:r>
            <a:r>
              <a:rPr lang="en-US" sz="1800" b="1" dirty="0">
                <a:solidFill>
                  <a:schemeClr val="tx1"/>
                </a:solidFill>
              </a:rPr>
              <a:t>worden</a:t>
            </a:r>
            <a:r>
              <a:rPr lang="en-US" sz="1800" dirty="0">
                <a:solidFill>
                  <a:schemeClr val="tx1"/>
                </a:solidFill>
              </a:rPr>
              <a:t> + participe à la fin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6.5 : le passif, langue des décisions</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5638"/>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6.5</a:t>
            </a:r>
            <a:endParaRPr lang="en-US" sz="1100" dirty="0"/>
          </a:p>
        </p:txBody>
      </p:sp>
      <p:sp>
        <p:nvSpPr>
          <p:cNvPr id="9" name="Text 5"/>
          <p:cNvSpPr txBox="1"/>
          <p:nvPr/>
        </p:nvSpPr>
        <p:spPr>
          <a:xfrm>
            <a:off x="6995160" y="2560320"/>
            <a:ext cx="4645152" cy="2380488"/>
          </a:xfrm>
          <a:prstGeom prst="rect">
            <a:avLst/>
          </a:prstGeom>
          <a:noFill/>
          <a:ln/>
        </p:spPr>
        <p:txBody>
          <a:bodyPr wrap="square" lIns="0" tIns="0" rIns="0" bIns="0" rtlCol="0" anchor="t"/>
          <a:lstStyle/>
          <a:p>
            <a:pPr indent="0" marL="0">
              <a:spcAft>
                <a:spcPts val="1000"/>
              </a:spcAft>
              <a:buNone/>
            </a:pPr>
            <a:r>
              <a:rPr lang="en-US" sz="1800" dirty="0">
                <a:solidFill>
                  <a:schemeClr val="tx1"/>
                </a:solidFill>
              </a:rPr>
              <a:t>Contrats, annonces, rapports : l’</a:t>
            </a:r>
            <a:r>
              <a:rPr lang="en-US" sz="1800" b="1" dirty="0">
                <a:solidFill>
                  <a:schemeClr val="tx1"/>
                </a:solidFill>
              </a:rPr>
              <a:t>action</a:t>
            </a:r>
            <a:r>
              <a:rPr lang="en-US" sz="1800" dirty="0">
                <a:solidFill>
                  <a:schemeClr val="tx1"/>
                </a:solidFill>
              </a:rPr>
              <a:t> passe au premier plan, l’</a:t>
            </a:r>
            <a:r>
              <a:rPr lang="en-US" sz="1800" b="1" dirty="0">
                <a:solidFill>
                  <a:schemeClr val="tx1"/>
                </a:solidFill>
              </a:rPr>
              <a:t>acteur</a:t>
            </a:r>
            <a:r>
              <a:rPr lang="en-US" sz="1800" dirty="0">
                <a:solidFill>
                  <a:schemeClr val="tx1"/>
                </a:solidFill>
              </a:rPr>
              <a:t> au second.</a:t>
            </a:r>
            <a:endParaRPr lang="en-US" sz="1800" dirty="0"/>
          </a:p>
          <a:p>
            <a:pPr indent="0" marL="0">
              <a:spcAft>
                <a:spcPts val="1000"/>
              </a:spcAft>
              <a:buNone/>
            </a:pPr>
            <a:r>
              <a:rPr lang="en-US" sz="1800" b="1" dirty="0">
                <a:solidFill>
                  <a:schemeClr val="tx1"/>
                </a:solidFill>
              </a:rPr>
              <a:t>Focus : lignes 3, 7 et 9</a:t>
            </a:r>
            <a:endParaRPr lang="en-US" sz="1800" dirty="0"/>
          </a:p>
          <a:p>
            <a:pPr indent="0" marL="0">
              <a:spcAft>
                <a:spcPts val="1000"/>
              </a:spcAft>
              <a:buNone/>
            </a:pPr>
            <a:r>
              <a:rPr lang="en-US" sz="1800" dirty="0">
                <a:solidFill>
                  <a:schemeClr val="tx1"/>
                </a:solidFill>
              </a:rPr>
              <a:t>«De keuken </a:t>
            </a:r>
            <a:r>
              <a:rPr lang="en-US" sz="1800" b="1" dirty="0">
                <a:solidFill>
                  <a:schemeClr val="tx1"/>
                </a:solidFill>
              </a:rPr>
              <a:t>werd</a:t>
            </a:r>
            <a:r>
              <a:rPr lang="en-US" sz="1800" dirty="0">
                <a:solidFill>
                  <a:schemeClr val="tx1"/>
                </a:solidFill>
              </a:rPr>
              <a:t> vorig jaar </a:t>
            </a:r>
            <a:r>
              <a:rPr lang="en-US" sz="1800" b="1" dirty="0">
                <a:solidFill>
                  <a:schemeClr val="tx1"/>
                </a:solidFill>
              </a:rPr>
              <a:t>vernieuwd</a:t>
            </a:r>
            <a:r>
              <a:rPr lang="en-US" sz="1800" dirty="0">
                <a:solidFill>
                  <a:schemeClr val="tx1"/>
                </a:solidFill>
              </a:rPr>
              <a:t>.»</a:t>
            </a:r>
            <a:endParaRPr lang="en-US" sz="1800" dirty="0"/>
          </a:p>
          <a:p>
            <a:pPr indent="0" marL="0">
              <a:spcAft>
                <a:spcPts val="1000"/>
              </a:spcAft>
              <a:buNone/>
            </a:pPr>
            <a:r>
              <a:rPr lang="en-US" sz="1800" dirty="0">
                <a:solidFill>
                  <a:schemeClr val="tx1"/>
                </a:solidFill>
              </a:rPr>
              <a:t>«Het gebouw </a:t>
            </a:r>
            <a:r>
              <a:rPr lang="en-US" sz="1800" b="1" dirty="0">
                <a:solidFill>
                  <a:schemeClr val="tx1"/>
                </a:solidFill>
              </a:rPr>
              <a:t>werd</a:t>
            </a:r>
            <a:r>
              <a:rPr lang="en-US" sz="1800" dirty="0">
                <a:solidFill>
                  <a:schemeClr val="tx1"/>
                </a:solidFill>
              </a:rPr>
              <a:t> in 2018 </a:t>
            </a:r>
            <a:r>
              <a:rPr lang="en-US" sz="1800" b="1" dirty="0">
                <a:solidFill>
                  <a:schemeClr val="tx1"/>
                </a:solidFill>
              </a:rPr>
              <a:t>gerenoveerd</a:t>
            </a:r>
            <a:r>
              <a:rPr lang="en-US" sz="1800" dirty="0">
                <a:solidFill>
                  <a:schemeClr val="tx1"/>
                </a:solidFill>
              </a:rPr>
              <a:t>.»</a:t>
            </a:r>
            <a:endParaRPr lang="en-US" sz="1800" dirty="0"/>
          </a:p>
          <a:p>
            <a:pPr indent="0" marL="0">
              <a:spcAft>
                <a:spcPts val="1000"/>
              </a:spcAft>
              <a:buNone/>
            </a:pPr>
            <a:r>
              <a:rPr lang="en-US" sz="1800" dirty="0">
                <a:solidFill>
                  <a:schemeClr val="tx1"/>
                </a:solidFill>
              </a:rPr>
              <a:t>«De herstelling </a:t>
            </a:r>
            <a:r>
              <a:rPr lang="en-US" sz="1800" b="1" dirty="0">
                <a:solidFill>
                  <a:schemeClr val="tx1"/>
                </a:solidFill>
              </a:rPr>
              <a:t>wordt</a:t>
            </a:r>
            <a:r>
              <a:rPr lang="en-US" sz="1800" dirty="0">
                <a:solidFill>
                  <a:schemeClr val="tx1"/>
                </a:solidFill>
              </a:rPr>
              <a:t> … </a:t>
            </a:r>
            <a:r>
              <a:rPr lang="en-US" sz="1800" b="1" dirty="0">
                <a:solidFill>
                  <a:schemeClr val="tx1"/>
                </a:solidFill>
              </a:rPr>
              <a:t>betaald</a:t>
            </a:r>
            <a:r>
              <a:rPr lang="en-US" sz="1800" dirty="0">
                <a:solidFill>
                  <a:schemeClr val="tx1"/>
                </a:solidFill>
              </a:rPr>
              <a:t>.»</a:t>
            </a:r>
            <a:endParaRPr lang="en-US" sz="1800" dirty="0"/>
          </a:p>
        </p:txBody>
      </p:sp>
      <p:sp>
        <p:nvSpPr>
          <p:cNvPr id="10" name="Shape 6"/>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11" name="Text 7"/>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Que veut dire </a:t>
            </a:r>
            <a:r>
              <a:rPr lang="en-US" sz="1700" b="1" dirty="0">
                <a:solidFill>
                  <a:schemeClr val="tx1"/>
                </a:solidFill>
              </a:rPr>
              <a:t>werd vernieuwd</a:t>
            </a:r>
            <a:r>
              <a:rPr lang="en-US" sz="1700" dirty="0">
                <a:solidFill>
                  <a:schemeClr val="tx1"/>
                </a:solidFill>
              </a:rPr>
              <a:t> ? Qui a rénové ? Est-ce important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Actif → passif : worden + participe</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4389120"/>
                <a:gridCol w="4416552"/>
              </a:tblGrid>
              <a:tr h="580644">
                <a:tc>
                  <a:txBody>
                    <a:bodyPr/>
                    <a:lstStyle/>
                    <a:p>
                      <a:pPr algn="l" indent="0" marL="0">
                        <a:buNone/>
                      </a:pPr>
                      <a:r>
                        <a:rPr lang="en-US" sz="1500" b="1" dirty="0">
                          <a:solidFill>
                            <a:schemeClr val="bg1"/>
                          </a:solidFill>
                        </a:rPr>
                        <a:t>TEMPS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ACTIEF</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PASSIEF</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929030">
                <a:tc>
                  <a:txBody>
                    <a:bodyPr/>
                    <a:lstStyle/>
                    <a:p>
                      <a:pPr algn="l" indent="0" marL="0">
                        <a:buNone/>
                      </a:pPr>
                      <a:r>
                        <a:rPr lang="en-US" sz="1700" b="1" dirty="0">
                          <a:solidFill>
                            <a:schemeClr val="tx1"/>
                          </a:solidFill>
                        </a:rPr>
                        <a:t>Présent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eigenaar </a:t>
                      </a:r>
                      <a:r>
                        <a:rPr lang="en-US" sz="1700" b="1" dirty="0">
                          <a:solidFill>
                            <a:schemeClr val="tx1"/>
                          </a:solidFill>
                        </a:rPr>
                        <a:t>betaalt</a:t>
                      </a:r>
                      <a:r>
                        <a:rPr lang="en-US" sz="1700" dirty="0">
                          <a:solidFill>
                            <a:schemeClr val="tx1"/>
                          </a:solidFill>
                        </a:rPr>
                        <a:t> de herstelling.</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herstelling </a:t>
                      </a:r>
                      <a:r>
                        <a:rPr lang="en-US" sz="1700" b="1" dirty="0">
                          <a:solidFill>
                            <a:schemeClr val="tx1"/>
                          </a:solidFill>
                        </a:rPr>
                        <a:t>wordt</a:t>
                      </a:r>
                      <a:r>
                        <a:rPr lang="en-US" sz="1700" dirty="0">
                          <a:solidFill>
                            <a:schemeClr val="tx1"/>
                          </a:solidFill>
                        </a:rPr>
                        <a:t> (door de eigenaar) </a:t>
                      </a:r>
                      <a:r>
                        <a:rPr lang="en-US" sz="1700" b="1" dirty="0">
                          <a:solidFill>
                            <a:schemeClr val="tx1"/>
                          </a:solidFill>
                        </a:rPr>
                        <a:t>betaald</a:t>
                      </a: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5683">
                <a:tc>
                  <a:txBody>
                    <a:bodyPr/>
                    <a:lstStyle/>
                    <a:p>
                      <a:pPr algn="l" indent="0" marL="0">
                        <a:buNone/>
                      </a:pPr>
                      <a:r>
                        <a:rPr lang="en-US" sz="1700" b="1" dirty="0">
                          <a:solidFill>
                            <a:schemeClr val="tx1"/>
                          </a:solidFill>
                        </a:rPr>
                        <a:t>Imperfectum</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loodgieter </a:t>
                      </a:r>
                      <a:r>
                        <a:rPr lang="en-US" sz="1700" b="1" dirty="0">
                          <a:solidFill>
                            <a:schemeClr val="tx1"/>
                          </a:solidFill>
                        </a:rPr>
                        <a:t>herstelde</a:t>
                      </a:r>
                      <a:r>
                        <a:rPr lang="en-US" sz="1700" dirty="0">
                          <a:solidFill>
                            <a:schemeClr val="tx1"/>
                          </a:solidFill>
                        </a:rPr>
                        <a:t> het lek.</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Het lek </a:t>
                      </a:r>
                      <a:r>
                        <a:rPr lang="en-US" sz="1700" b="1" dirty="0">
                          <a:solidFill>
                            <a:schemeClr val="tx1"/>
                          </a:solidFill>
                        </a:rPr>
                        <a:t>werd</a:t>
                      </a:r>
                      <a:r>
                        <a:rPr lang="en-US" sz="1700" dirty="0">
                          <a:solidFill>
                            <a:schemeClr val="tx1"/>
                          </a:solidFill>
                        </a:rPr>
                        <a:t> (door de loodgieter) </a:t>
                      </a:r>
                      <a:r>
                        <a:rPr lang="en-US" sz="1700" b="1" dirty="0">
                          <a:solidFill>
                            <a:schemeClr val="tx1"/>
                          </a:solidFill>
                        </a:rPr>
                        <a:t>hersteld</a:t>
                      </a: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929030">
                <a:tc>
                  <a:txBody>
                    <a:bodyPr/>
                    <a:lstStyle/>
                    <a:p>
                      <a:pPr algn="l" indent="0" marL="0">
                        <a:buNone/>
                      </a:pPr>
                      <a:r>
                        <a:rPr lang="en-US" sz="1700" b="1" dirty="0">
                          <a:solidFill>
                            <a:schemeClr val="tx1"/>
                          </a:solidFill>
                        </a:rPr>
                        <a:t>Pluriel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verzekering </a:t>
                      </a:r>
                      <a:r>
                        <a:rPr lang="en-US" sz="1700" b="1" dirty="0">
                          <a:solidFill>
                            <a:schemeClr val="tx1"/>
                          </a:solidFill>
                        </a:rPr>
                        <a:t>dekt</a:t>
                      </a:r>
                      <a:r>
                        <a:rPr lang="en-US" sz="1700" dirty="0">
                          <a:solidFill>
                            <a:schemeClr val="tx1"/>
                          </a:solidFill>
                        </a:rPr>
                        <a:t> de kosten.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kosten </a:t>
                      </a:r>
                      <a:r>
                        <a:rPr lang="en-US" sz="1700" b="1" dirty="0">
                          <a:solidFill>
                            <a:schemeClr val="tx1"/>
                          </a:solidFill>
                        </a:rPr>
                        <a:t>worden</a:t>
                      </a:r>
                      <a:r>
                        <a:rPr lang="en-US" sz="1700" dirty="0">
                          <a:solidFill>
                            <a:schemeClr val="tx1"/>
                          </a:solidFill>
                        </a:rPr>
                        <a:t> door de verzekering </a:t>
                      </a:r>
                      <a:r>
                        <a:rPr lang="en-US" sz="1700" b="1" dirty="0">
                          <a:solidFill>
                            <a:schemeClr val="tx1"/>
                          </a:solidFill>
                        </a:rPr>
                        <a:t>gedekt</a:t>
                      </a: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5683">
                <a:tc>
                  <a:txBody>
                    <a:bodyPr/>
                    <a:lstStyle/>
                    <a:p>
                      <a:pPr algn="l" indent="0" marL="0">
                        <a:buNone/>
                      </a:pPr>
                      <a:r>
                        <a:rPr lang="en-US" sz="1700" b="1" dirty="0">
                          <a:solidFill>
                            <a:schemeClr val="tx1"/>
                          </a:solidFill>
                        </a:rPr>
                        <a:t>Résultat (perfectum)</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Iemand </a:t>
                      </a:r>
                      <a:r>
                        <a:rPr lang="en-US" sz="1700" b="1" dirty="0">
                          <a:solidFill>
                            <a:schemeClr val="tx1"/>
                          </a:solidFill>
                        </a:rPr>
                        <a:t>heeft</a:t>
                      </a:r>
                      <a:r>
                        <a:rPr lang="en-US" sz="1700" dirty="0">
                          <a:solidFill>
                            <a:schemeClr val="tx1"/>
                          </a:solidFill>
                        </a:rPr>
                        <a:t> de kraan </a:t>
                      </a:r>
                      <a:r>
                        <a:rPr lang="en-US" sz="1700" b="1" dirty="0">
                          <a:solidFill>
                            <a:schemeClr val="tx1"/>
                          </a:solidFill>
                        </a:rPr>
                        <a:t>dichtgedraaid</a:t>
                      </a: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kraan </a:t>
                      </a:r>
                      <a:r>
                        <a:rPr lang="en-US" sz="1700" b="1" dirty="0">
                          <a:solidFill>
                            <a:schemeClr val="tx1"/>
                          </a:solidFill>
                        </a:rPr>
                        <a:t>is dichtgedraaid</a:t>
                      </a:r>
                      <a:r>
                        <a:rPr lang="en-US" sz="1700" dirty="0">
                          <a:solidFill>
                            <a:schemeClr val="tx1"/>
                          </a:solidFill>
                        </a:rPr>
                        <a:t>: het is klaar!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669280"/>
            <a:ext cx="11091672" cy="621792"/>
          </a:xfrm>
          <a:prstGeom prst="rect">
            <a:avLst/>
          </a:prstGeom>
          <a:noFill/>
          <a:ln/>
        </p:spPr>
        <p:txBody>
          <a:bodyPr wrap="square" lIns="0" tIns="0" rIns="0" bIns="0" rtlCol="0" anchor="b"/>
          <a:lstStyle/>
          <a:p>
            <a:pPr indent="0" marL="0">
              <a:buNone/>
            </a:pPr>
            <a:r>
              <a:rPr lang="en-US" sz="1500" i="1" dirty="0">
                <a:solidFill>
                  <a:schemeClr val="accent5"/>
                </a:solidFill>
              </a:rPr>
              <a:t>Piège pour francophones : le français dit « est réparé » dans les deux cas ; le néerlandais choisit </a:t>
            </a:r>
            <a:r>
              <a:rPr lang="en-US" sz="1500" b="1" i="1" dirty="0">
                <a:solidFill>
                  <a:schemeClr val="accent5"/>
                </a:solidFill>
              </a:rPr>
              <a:t>worden</a:t>
            </a:r>
            <a:r>
              <a:rPr lang="en-US" sz="1500" i="1" dirty="0">
                <a:solidFill>
                  <a:schemeClr val="accent5"/>
                </a:solidFill>
              </a:rPr>
              <a:t> (processus) ou </a:t>
            </a:r>
            <a:r>
              <a:rPr lang="en-US" sz="1500" b="1" i="1" dirty="0">
                <a:solidFill>
                  <a:schemeClr val="accent5"/>
                </a:solidFill>
              </a:rPr>
              <a:t>zijn</a:t>
            </a:r>
            <a:r>
              <a:rPr lang="en-US" sz="1500" i="1" dirty="0">
                <a:solidFill>
                  <a:schemeClr val="accent5"/>
                </a:solidFill>
              </a:rPr>
              <a:t> (résultat) — et </a:t>
            </a:r>
            <a:r>
              <a:rPr lang="en-US" sz="1500" b="1" i="1" dirty="0">
                <a:solidFill>
                  <a:schemeClr val="accent5"/>
                </a:solidFill>
              </a:rPr>
              <a:t>worden</a:t>
            </a:r>
            <a:r>
              <a:rPr lang="en-US" sz="1500" i="1" dirty="0">
                <a:solidFill>
                  <a:schemeClr val="accent5"/>
                </a:solidFill>
              </a:rPr>
              <a:t> s’accorde : </a:t>
            </a:r>
            <a:r>
              <a:rPr lang="en-US" sz="1500" i="1" dirty="0">
                <a:solidFill>
                  <a:schemeClr val="accent5"/>
                </a:solidFill>
              </a:rPr>
              <a:t>de kosten </a:t>
            </a:r>
            <a:r>
              <a:rPr lang="en-US" sz="1500" b="1" i="1" dirty="0">
                <a:solidFill>
                  <a:schemeClr val="accent5"/>
                </a:solidFill>
              </a:rPr>
              <a:t>worden</a:t>
            </a:r>
            <a:r>
              <a:rPr lang="en-US" sz="1500" i="1" dirty="0">
                <a:solidFill>
                  <a:schemeClr val="accent5"/>
                </a:solidFill>
              </a:rPr>
              <a:t> (✗ </a:t>
            </a:r>
            <a:r>
              <a:rPr lang="en-US" sz="1500" i="1" dirty="0">
                <a:solidFill>
                  <a:schemeClr val="accent5"/>
                </a:solidFill>
              </a:rPr>
              <a:t>wordt</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 passif : worden en 2e position, participe à la fin</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b="1" dirty="0">
                <a:solidFill>
                  <a:schemeClr val="tx1"/>
                </a:solidFill>
              </a:rPr>
              <a:t>Worden</a:t>
            </a:r>
            <a:r>
              <a:rPr lang="en-US" sz="1800" dirty="0">
                <a:solidFill>
                  <a:schemeClr val="tx1"/>
                </a:solidFill>
              </a:rPr>
              <a:t> est le verbe conjugué (2e position) ; le </a:t>
            </a:r>
            <a:r>
              <a:rPr lang="en-US" sz="1800" b="1" dirty="0">
                <a:solidFill>
                  <a:schemeClr val="tx1"/>
                </a:solidFill>
              </a:rPr>
              <a:t>participe</a:t>
            </a:r>
            <a:r>
              <a:rPr lang="en-US" sz="1800" dirty="0">
                <a:solidFill>
                  <a:schemeClr val="tx1"/>
                </a:solidFill>
              </a:rPr>
              <a:t> part </a:t>
            </a:r>
            <a:r>
              <a:rPr lang="en-US" sz="1800" b="1" dirty="0">
                <a:solidFill>
                  <a:schemeClr val="tx1"/>
                </a:solidFill>
              </a:rPr>
              <a:t>à la fin</a:t>
            </a:r>
            <a:r>
              <a:rPr lang="en-US" sz="1800" dirty="0">
                <a:solidFill>
                  <a:schemeClr val="tx1"/>
                </a:solidFill>
              </a:rPr>
              <a:t>. L’acteur (</a:t>
            </a:r>
            <a:r>
              <a:rPr lang="en-US" sz="1800" b="1" dirty="0">
                <a:solidFill>
                  <a:schemeClr val="tx1"/>
                </a:solidFill>
              </a:rPr>
              <a:t>door</a:t>
            </a:r>
            <a:r>
              <a:rPr lang="en-US" sz="1800" dirty="0">
                <a:solidFill>
                  <a:schemeClr val="tx1"/>
                </a:solidFill>
              </a:rPr>
              <a:t> + …) est facultatif.</a:t>
            </a:r>
            <a:endParaRPr lang="en-US" sz="1800" dirty="0"/>
          </a:p>
        </p:txBody>
      </p:sp>
      <p:sp>
        <p:nvSpPr>
          <p:cNvPr id="7" name="Text 4"/>
          <p:cNvSpPr txBox="1"/>
          <p:nvPr/>
        </p:nvSpPr>
        <p:spPr>
          <a:xfrm>
            <a:off x="548640" y="218541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Présent</a:t>
            </a:r>
            <a:endParaRPr lang="en-US" sz="1400" dirty="0"/>
          </a:p>
        </p:txBody>
      </p:sp>
      <p:sp>
        <p:nvSpPr>
          <p:cNvPr id="8" name="Text 5"/>
          <p:cNvSpPr txBox="1"/>
          <p:nvPr/>
        </p:nvSpPr>
        <p:spPr>
          <a:xfrm>
            <a:off x="2103120" y="1947672"/>
            <a:ext cx="180848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9" name="Shape 6"/>
          <p:cNvSpPr/>
          <p:nvPr/>
        </p:nvSpPr>
        <p:spPr>
          <a:xfrm>
            <a:off x="2103120" y="2185416"/>
            <a:ext cx="1808480" cy="329184"/>
          </a:xfrm>
          <a:prstGeom prst="roundRect">
            <a:avLst>
              <a:gd name="adj" fmla="val 16667"/>
            </a:avLst>
          </a:prstGeom>
          <a:solidFill>
            <a:schemeClr val="tx2">
              <a:alpha val="88000"/>
            </a:schemeClr>
          </a:solidFill>
          <a:ln w="12700">
            <a:solidFill>
              <a:srgbClr val="17375E"/>
            </a:solidFill>
            <a:prstDash val="solid"/>
          </a:ln>
        </p:spPr>
      </p:sp>
      <p:sp>
        <p:nvSpPr>
          <p:cNvPr id="10" name="Text 7"/>
          <p:cNvSpPr txBox="1"/>
          <p:nvPr/>
        </p:nvSpPr>
        <p:spPr>
          <a:xfrm>
            <a:off x="2139696" y="2185416"/>
            <a:ext cx="1735328" cy="329184"/>
          </a:xfrm>
          <a:prstGeom prst="rect">
            <a:avLst/>
          </a:prstGeom>
          <a:noFill/>
          <a:ln/>
        </p:spPr>
        <p:txBody>
          <a:bodyPr wrap="square" lIns="0" tIns="0" rIns="0" bIns="0" rtlCol="0" anchor="ctr"/>
          <a:lstStyle/>
          <a:p>
            <a:pPr algn="ctr" indent="0" marL="0">
              <a:buNone/>
            </a:pPr>
            <a:r>
              <a:rPr lang="en-US" sz="1600" b="1" dirty="0">
                <a:solidFill>
                  <a:schemeClr val="bg1"/>
                </a:solidFill>
              </a:rPr>
              <a:t>De herstelling</a:t>
            </a:r>
            <a:endParaRPr lang="en-US" sz="1600" dirty="0"/>
          </a:p>
        </p:txBody>
      </p:sp>
      <p:sp>
        <p:nvSpPr>
          <p:cNvPr id="11" name="Text 8"/>
          <p:cNvSpPr txBox="1"/>
          <p:nvPr/>
        </p:nvSpPr>
        <p:spPr>
          <a:xfrm>
            <a:off x="4021328" y="1947672"/>
            <a:ext cx="857504"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4021328" y="2185416"/>
            <a:ext cx="857504" cy="329184"/>
          </a:xfrm>
          <a:prstGeom prst="roundRect">
            <a:avLst>
              <a:gd name="adj" fmla="val 16667"/>
            </a:avLst>
          </a:prstGeom>
          <a:solidFill>
            <a:schemeClr val="accent6">
              <a:alpha val="88000"/>
            </a:schemeClr>
          </a:solidFill>
          <a:ln w="12700">
            <a:solidFill>
              <a:srgbClr val="B83227"/>
            </a:solidFill>
            <a:prstDash val="solid"/>
          </a:ln>
        </p:spPr>
      </p:sp>
      <p:sp>
        <p:nvSpPr>
          <p:cNvPr id="13" name="Text 10"/>
          <p:cNvSpPr txBox="1"/>
          <p:nvPr/>
        </p:nvSpPr>
        <p:spPr>
          <a:xfrm>
            <a:off x="4057904" y="2185416"/>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wordt</a:t>
            </a:r>
            <a:endParaRPr lang="en-US" sz="1600" dirty="0"/>
          </a:p>
        </p:txBody>
      </p:sp>
      <p:sp>
        <p:nvSpPr>
          <p:cNvPr id="14" name="Text 11"/>
          <p:cNvSpPr txBox="1"/>
          <p:nvPr/>
        </p:nvSpPr>
        <p:spPr>
          <a:xfrm>
            <a:off x="4988560" y="1947672"/>
            <a:ext cx="2019808" cy="219456"/>
          </a:xfrm>
          <a:prstGeom prst="rect">
            <a:avLst/>
          </a:prstGeom>
          <a:noFill/>
          <a:ln/>
        </p:spPr>
        <p:txBody>
          <a:bodyPr wrap="square" lIns="0" tIns="0" rIns="0" bIns="0" rtlCol="0" anchor="b"/>
          <a:lstStyle/>
          <a:p>
            <a:pPr algn="ctr" indent="0" marL="0">
              <a:buNone/>
            </a:pPr>
            <a:r>
              <a:rPr lang="en-US" sz="1000" b="1" dirty="0">
                <a:solidFill>
                  <a:schemeClr val="accent5"/>
                </a:solidFill>
              </a:rPr>
              <a:t>acteur</a:t>
            </a:r>
            <a:endParaRPr lang="en-US" sz="1000" dirty="0"/>
          </a:p>
        </p:txBody>
      </p:sp>
      <p:sp>
        <p:nvSpPr>
          <p:cNvPr id="15" name="Shape 12"/>
          <p:cNvSpPr/>
          <p:nvPr/>
        </p:nvSpPr>
        <p:spPr>
          <a:xfrm>
            <a:off x="4988560" y="2185416"/>
            <a:ext cx="2019808" cy="329184"/>
          </a:xfrm>
          <a:prstGeom prst="roundRect">
            <a:avLst>
              <a:gd name="adj" fmla="val 16667"/>
            </a:avLst>
          </a:prstGeom>
          <a:solidFill>
            <a:schemeClr val="accent5">
              <a:alpha val="25000"/>
            </a:schemeClr>
          </a:solidFill>
          <a:ln w="12700">
            <a:solidFill>
              <a:srgbClr val="4A5A70"/>
            </a:solidFill>
            <a:prstDash val="solid"/>
          </a:ln>
        </p:spPr>
      </p:sp>
      <p:sp>
        <p:nvSpPr>
          <p:cNvPr id="16" name="Text 13"/>
          <p:cNvSpPr txBox="1"/>
          <p:nvPr/>
        </p:nvSpPr>
        <p:spPr>
          <a:xfrm>
            <a:off x="5025136" y="2185416"/>
            <a:ext cx="1946656" cy="329184"/>
          </a:xfrm>
          <a:prstGeom prst="rect">
            <a:avLst/>
          </a:prstGeom>
          <a:noFill/>
          <a:ln/>
        </p:spPr>
        <p:txBody>
          <a:bodyPr wrap="square" lIns="0" tIns="0" rIns="0" bIns="0" rtlCol="0" anchor="ctr"/>
          <a:lstStyle/>
          <a:p>
            <a:pPr algn="ctr" indent="0" marL="0">
              <a:buNone/>
            </a:pPr>
            <a:r>
              <a:rPr lang="en-US" sz="1600" b="1" dirty="0">
                <a:solidFill>
                  <a:schemeClr val="tx1"/>
                </a:solidFill>
              </a:rPr>
              <a:t>door de eigenaar</a:t>
            </a:r>
            <a:endParaRPr lang="en-US" sz="1600" dirty="0"/>
          </a:p>
        </p:txBody>
      </p:sp>
      <p:sp>
        <p:nvSpPr>
          <p:cNvPr id="17" name="Text 14"/>
          <p:cNvSpPr txBox="1"/>
          <p:nvPr/>
        </p:nvSpPr>
        <p:spPr>
          <a:xfrm>
            <a:off x="7118096" y="1947672"/>
            <a:ext cx="1068832"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participe</a:t>
            </a:r>
            <a:endParaRPr lang="en-US" sz="1000" dirty="0"/>
          </a:p>
        </p:txBody>
      </p:sp>
      <p:sp>
        <p:nvSpPr>
          <p:cNvPr id="18" name="Shape 15"/>
          <p:cNvSpPr/>
          <p:nvPr/>
        </p:nvSpPr>
        <p:spPr>
          <a:xfrm>
            <a:off x="7118096" y="2185416"/>
            <a:ext cx="1068832" cy="329184"/>
          </a:xfrm>
          <a:prstGeom prst="roundRect">
            <a:avLst>
              <a:gd name="adj" fmla="val 16667"/>
            </a:avLst>
          </a:prstGeom>
          <a:solidFill>
            <a:schemeClr val="accent1">
              <a:alpha val="88000"/>
            </a:schemeClr>
          </a:solidFill>
          <a:ln w="12700">
            <a:solidFill>
              <a:srgbClr val="D9700F"/>
            </a:solidFill>
            <a:prstDash val="solid"/>
          </a:ln>
        </p:spPr>
      </p:sp>
      <p:sp>
        <p:nvSpPr>
          <p:cNvPr id="19" name="Text 16"/>
          <p:cNvSpPr txBox="1"/>
          <p:nvPr/>
        </p:nvSpPr>
        <p:spPr>
          <a:xfrm>
            <a:off x="7154672" y="2185416"/>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betaald</a:t>
            </a:r>
            <a:endParaRPr lang="en-US" sz="1600" dirty="0"/>
          </a:p>
        </p:txBody>
      </p:sp>
      <p:sp>
        <p:nvSpPr>
          <p:cNvPr id="20" name="Text 17"/>
          <p:cNvSpPr txBox="1"/>
          <p:nvPr/>
        </p:nvSpPr>
        <p:spPr>
          <a:xfrm>
            <a:off x="2103120" y="254203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La réparation est payée par le propriétaire.</a:t>
            </a:r>
            <a:endParaRPr lang="en-US" sz="1400" dirty="0"/>
          </a:p>
        </p:txBody>
      </p:sp>
      <p:sp>
        <p:nvSpPr>
          <p:cNvPr id="21" name="Text 18"/>
          <p:cNvSpPr txBox="1"/>
          <p:nvPr/>
        </p:nvSpPr>
        <p:spPr>
          <a:xfrm>
            <a:off x="548640" y="287670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Passé</a:t>
            </a:r>
            <a:endParaRPr lang="en-US" sz="1400" dirty="0"/>
          </a:p>
        </p:txBody>
      </p:sp>
      <p:sp>
        <p:nvSpPr>
          <p:cNvPr id="22" name="Text 19"/>
          <p:cNvSpPr txBox="1"/>
          <p:nvPr/>
        </p:nvSpPr>
        <p:spPr>
          <a:xfrm>
            <a:off x="2103120" y="2638958"/>
            <a:ext cx="138582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3" name="Shape 20"/>
          <p:cNvSpPr/>
          <p:nvPr/>
        </p:nvSpPr>
        <p:spPr>
          <a:xfrm>
            <a:off x="2103120" y="2876702"/>
            <a:ext cx="1385824" cy="329184"/>
          </a:xfrm>
          <a:prstGeom prst="roundRect">
            <a:avLst>
              <a:gd name="adj" fmla="val 16667"/>
            </a:avLst>
          </a:prstGeom>
          <a:solidFill>
            <a:schemeClr val="tx2">
              <a:alpha val="88000"/>
            </a:schemeClr>
          </a:solidFill>
          <a:ln w="12700">
            <a:solidFill>
              <a:srgbClr val="17375E"/>
            </a:solidFill>
            <a:prstDash val="solid"/>
          </a:ln>
        </p:spPr>
      </p:sp>
      <p:sp>
        <p:nvSpPr>
          <p:cNvPr id="24" name="Text 21"/>
          <p:cNvSpPr txBox="1"/>
          <p:nvPr/>
        </p:nvSpPr>
        <p:spPr>
          <a:xfrm>
            <a:off x="2139696" y="2876702"/>
            <a:ext cx="1312672" cy="329184"/>
          </a:xfrm>
          <a:prstGeom prst="rect">
            <a:avLst/>
          </a:prstGeom>
          <a:noFill/>
          <a:ln/>
        </p:spPr>
        <p:txBody>
          <a:bodyPr wrap="square" lIns="0" tIns="0" rIns="0" bIns="0" rtlCol="0" anchor="ctr"/>
          <a:lstStyle/>
          <a:p>
            <a:pPr algn="ctr" indent="0" marL="0">
              <a:buNone/>
            </a:pPr>
            <a:r>
              <a:rPr lang="en-US" sz="1600" b="1" dirty="0">
                <a:solidFill>
                  <a:schemeClr val="bg1"/>
                </a:solidFill>
              </a:rPr>
              <a:t>Het gebouw</a:t>
            </a:r>
            <a:endParaRPr lang="en-US" sz="1600" dirty="0"/>
          </a:p>
        </p:txBody>
      </p:sp>
      <p:sp>
        <p:nvSpPr>
          <p:cNvPr id="25" name="Text 22"/>
          <p:cNvSpPr txBox="1"/>
          <p:nvPr/>
        </p:nvSpPr>
        <p:spPr>
          <a:xfrm>
            <a:off x="3598672" y="2638958"/>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26" name="Shape 23"/>
          <p:cNvSpPr/>
          <p:nvPr/>
        </p:nvSpPr>
        <p:spPr>
          <a:xfrm>
            <a:off x="3598672" y="2876702"/>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27" name="Text 24"/>
          <p:cNvSpPr txBox="1"/>
          <p:nvPr/>
        </p:nvSpPr>
        <p:spPr>
          <a:xfrm>
            <a:off x="3635248" y="2876702"/>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werd</a:t>
            </a:r>
            <a:endParaRPr lang="en-US" sz="1600" dirty="0"/>
          </a:p>
        </p:txBody>
      </p:sp>
      <p:sp>
        <p:nvSpPr>
          <p:cNvPr id="28" name="Text 25"/>
          <p:cNvSpPr txBox="1"/>
          <p:nvPr/>
        </p:nvSpPr>
        <p:spPr>
          <a:xfrm>
            <a:off x="4460240" y="2638958"/>
            <a:ext cx="1068832"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29" name="Shape 26"/>
          <p:cNvSpPr/>
          <p:nvPr/>
        </p:nvSpPr>
        <p:spPr>
          <a:xfrm>
            <a:off x="4460240" y="2876702"/>
            <a:ext cx="1068832" cy="329184"/>
          </a:xfrm>
          <a:prstGeom prst="roundRect">
            <a:avLst>
              <a:gd name="adj" fmla="val 16667"/>
            </a:avLst>
          </a:prstGeom>
          <a:solidFill>
            <a:schemeClr val="accent2">
              <a:alpha val="88000"/>
            </a:schemeClr>
          </a:solidFill>
          <a:ln w="12700">
            <a:solidFill>
              <a:srgbClr val="2A6FB0"/>
            </a:solidFill>
            <a:prstDash val="solid"/>
          </a:ln>
        </p:spPr>
      </p:sp>
      <p:sp>
        <p:nvSpPr>
          <p:cNvPr id="30" name="Text 27"/>
          <p:cNvSpPr txBox="1"/>
          <p:nvPr/>
        </p:nvSpPr>
        <p:spPr>
          <a:xfrm>
            <a:off x="4496816" y="2876702"/>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in 2018</a:t>
            </a:r>
            <a:endParaRPr lang="en-US" sz="1600" dirty="0"/>
          </a:p>
        </p:txBody>
      </p:sp>
      <p:sp>
        <p:nvSpPr>
          <p:cNvPr id="31" name="Text 28"/>
          <p:cNvSpPr txBox="1"/>
          <p:nvPr/>
        </p:nvSpPr>
        <p:spPr>
          <a:xfrm>
            <a:off x="5638800" y="2638958"/>
            <a:ext cx="1491488"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participe</a:t>
            </a:r>
            <a:endParaRPr lang="en-US" sz="1000" dirty="0"/>
          </a:p>
        </p:txBody>
      </p:sp>
      <p:sp>
        <p:nvSpPr>
          <p:cNvPr id="32" name="Shape 29"/>
          <p:cNvSpPr/>
          <p:nvPr/>
        </p:nvSpPr>
        <p:spPr>
          <a:xfrm>
            <a:off x="5638800" y="2876702"/>
            <a:ext cx="1491488" cy="329184"/>
          </a:xfrm>
          <a:prstGeom prst="roundRect">
            <a:avLst>
              <a:gd name="adj" fmla="val 16667"/>
            </a:avLst>
          </a:prstGeom>
          <a:solidFill>
            <a:schemeClr val="accent1">
              <a:alpha val="88000"/>
            </a:schemeClr>
          </a:solidFill>
          <a:ln w="12700">
            <a:solidFill>
              <a:srgbClr val="D9700F"/>
            </a:solidFill>
            <a:prstDash val="solid"/>
          </a:ln>
        </p:spPr>
      </p:sp>
      <p:sp>
        <p:nvSpPr>
          <p:cNvPr id="33" name="Text 30"/>
          <p:cNvSpPr txBox="1"/>
          <p:nvPr/>
        </p:nvSpPr>
        <p:spPr>
          <a:xfrm>
            <a:off x="5675376" y="2876702"/>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gerenoveerd</a:t>
            </a:r>
            <a:endParaRPr lang="en-US" sz="1600" dirty="0"/>
          </a:p>
        </p:txBody>
      </p:sp>
      <p:sp>
        <p:nvSpPr>
          <p:cNvPr id="34" name="Text 31"/>
          <p:cNvSpPr txBox="1"/>
          <p:nvPr/>
        </p:nvSpPr>
        <p:spPr>
          <a:xfrm>
            <a:off x="2103120" y="323331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L’immeuble a été rénové en 2018.</a:t>
            </a:r>
            <a:endParaRPr lang="en-US" sz="1400" dirty="0"/>
          </a:p>
        </p:txBody>
      </p:sp>
      <p:sp>
        <p:nvSpPr>
          <p:cNvPr id="35" name="Text 32"/>
          <p:cNvSpPr txBox="1"/>
          <p:nvPr/>
        </p:nvSpPr>
        <p:spPr>
          <a:xfrm>
            <a:off x="548640" y="3567989"/>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Pluriel</a:t>
            </a:r>
            <a:endParaRPr lang="en-US" sz="1400" dirty="0"/>
          </a:p>
        </p:txBody>
      </p:sp>
      <p:sp>
        <p:nvSpPr>
          <p:cNvPr id="36" name="Text 33"/>
          <p:cNvSpPr txBox="1"/>
          <p:nvPr/>
        </p:nvSpPr>
        <p:spPr>
          <a:xfrm>
            <a:off x="2103120" y="3330245"/>
            <a:ext cx="128016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37" name="Shape 34"/>
          <p:cNvSpPr/>
          <p:nvPr/>
        </p:nvSpPr>
        <p:spPr>
          <a:xfrm>
            <a:off x="2103120" y="3567989"/>
            <a:ext cx="1280160" cy="329184"/>
          </a:xfrm>
          <a:prstGeom prst="roundRect">
            <a:avLst>
              <a:gd name="adj" fmla="val 16667"/>
            </a:avLst>
          </a:prstGeom>
          <a:solidFill>
            <a:schemeClr val="tx2">
              <a:alpha val="88000"/>
            </a:schemeClr>
          </a:solidFill>
          <a:ln w="12700">
            <a:solidFill>
              <a:srgbClr val="17375E"/>
            </a:solidFill>
            <a:prstDash val="solid"/>
          </a:ln>
        </p:spPr>
      </p:sp>
      <p:sp>
        <p:nvSpPr>
          <p:cNvPr id="38" name="Text 35"/>
          <p:cNvSpPr txBox="1"/>
          <p:nvPr/>
        </p:nvSpPr>
        <p:spPr>
          <a:xfrm>
            <a:off x="2139696" y="3567989"/>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De kosten</a:t>
            </a:r>
            <a:endParaRPr lang="en-US" sz="1600" dirty="0"/>
          </a:p>
        </p:txBody>
      </p:sp>
      <p:sp>
        <p:nvSpPr>
          <p:cNvPr id="39" name="Text 36"/>
          <p:cNvSpPr txBox="1"/>
          <p:nvPr/>
        </p:nvSpPr>
        <p:spPr>
          <a:xfrm>
            <a:off x="3493008" y="3330245"/>
            <a:ext cx="963168"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40" name="Shape 37"/>
          <p:cNvSpPr/>
          <p:nvPr/>
        </p:nvSpPr>
        <p:spPr>
          <a:xfrm>
            <a:off x="3493008" y="3567989"/>
            <a:ext cx="963168" cy="329184"/>
          </a:xfrm>
          <a:prstGeom prst="roundRect">
            <a:avLst>
              <a:gd name="adj" fmla="val 16667"/>
            </a:avLst>
          </a:prstGeom>
          <a:solidFill>
            <a:schemeClr val="accent6">
              <a:alpha val="88000"/>
            </a:schemeClr>
          </a:solidFill>
          <a:ln w="12700">
            <a:solidFill>
              <a:srgbClr val="B83227"/>
            </a:solidFill>
            <a:prstDash val="solid"/>
          </a:ln>
        </p:spPr>
      </p:sp>
      <p:sp>
        <p:nvSpPr>
          <p:cNvPr id="41" name="Text 38"/>
          <p:cNvSpPr txBox="1"/>
          <p:nvPr/>
        </p:nvSpPr>
        <p:spPr>
          <a:xfrm>
            <a:off x="3529584" y="3567989"/>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worden</a:t>
            </a:r>
            <a:endParaRPr lang="en-US" sz="1600" dirty="0"/>
          </a:p>
        </p:txBody>
      </p:sp>
      <p:sp>
        <p:nvSpPr>
          <p:cNvPr id="42" name="Text 39"/>
          <p:cNvSpPr txBox="1"/>
          <p:nvPr/>
        </p:nvSpPr>
        <p:spPr>
          <a:xfrm>
            <a:off x="4565904" y="3330245"/>
            <a:ext cx="2336800" cy="219456"/>
          </a:xfrm>
          <a:prstGeom prst="rect">
            <a:avLst/>
          </a:prstGeom>
          <a:noFill/>
          <a:ln/>
        </p:spPr>
        <p:txBody>
          <a:bodyPr wrap="square" lIns="0" tIns="0" rIns="0" bIns="0" rtlCol="0" anchor="b"/>
          <a:lstStyle/>
          <a:p>
            <a:pPr algn="ctr" indent="0" marL="0">
              <a:buNone/>
            </a:pPr>
            <a:r>
              <a:rPr lang="en-US" sz="1000" b="1" dirty="0">
                <a:solidFill>
                  <a:schemeClr val="accent5"/>
                </a:solidFill>
              </a:rPr>
              <a:t>acteur</a:t>
            </a:r>
            <a:endParaRPr lang="en-US" sz="1000" dirty="0"/>
          </a:p>
        </p:txBody>
      </p:sp>
      <p:sp>
        <p:nvSpPr>
          <p:cNvPr id="43" name="Shape 40"/>
          <p:cNvSpPr/>
          <p:nvPr/>
        </p:nvSpPr>
        <p:spPr>
          <a:xfrm>
            <a:off x="4565904" y="3567989"/>
            <a:ext cx="2336800" cy="329184"/>
          </a:xfrm>
          <a:prstGeom prst="roundRect">
            <a:avLst>
              <a:gd name="adj" fmla="val 16667"/>
            </a:avLst>
          </a:prstGeom>
          <a:solidFill>
            <a:schemeClr val="accent5">
              <a:alpha val="25000"/>
            </a:schemeClr>
          </a:solidFill>
          <a:ln w="12700">
            <a:solidFill>
              <a:srgbClr val="4A5A70"/>
            </a:solidFill>
            <a:prstDash val="solid"/>
          </a:ln>
        </p:spPr>
      </p:sp>
      <p:sp>
        <p:nvSpPr>
          <p:cNvPr id="44" name="Text 41"/>
          <p:cNvSpPr txBox="1"/>
          <p:nvPr/>
        </p:nvSpPr>
        <p:spPr>
          <a:xfrm>
            <a:off x="4602480" y="3567989"/>
            <a:ext cx="2263648" cy="329184"/>
          </a:xfrm>
          <a:prstGeom prst="rect">
            <a:avLst/>
          </a:prstGeom>
          <a:noFill/>
          <a:ln/>
        </p:spPr>
        <p:txBody>
          <a:bodyPr wrap="square" lIns="0" tIns="0" rIns="0" bIns="0" rtlCol="0" anchor="ctr"/>
          <a:lstStyle/>
          <a:p>
            <a:pPr algn="ctr" indent="0" marL="0">
              <a:buNone/>
            </a:pPr>
            <a:r>
              <a:rPr lang="en-US" sz="1600" b="1" dirty="0">
                <a:solidFill>
                  <a:schemeClr val="tx1"/>
                </a:solidFill>
              </a:rPr>
              <a:t>door de verzekering</a:t>
            </a:r>
            <a:endParaRPr lang="en-US" sz="1600" dirty="0"/>
          </a:p>
        </p:txBody>
      </p:sp>
      <p:sp>
        <p:nvSpPr>
          <p:cNvPr id="45" name="Text 42"/>
          <p:cNvSpPr txBox="1"/>
          <p:nvPr/>
        </p:nvSpPr>
        <p:spPr>
          <a:xfrm>
            <a:off x="7012432" y="3330245"/>
            <a:ext cx="963168"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participe</a:t>
            </a:r>
            <a:endParaRPr lang="en-US" sz="1000" dirty="0"/>
          </a:p>
        </p:txBody>
      </p:sp>
      <p:sp>
        <p:nvSpPr>
          <p:cNvPr id="46" name="Shape 43"/>
          <p:cNvSpPr/>
          <p:nvPr/>
        </p:nvSpPr>
        <p:spPr>
          <a:xfrm>
            <a:off x="7012432" y="3567989"/>
            <a:ext cx="963168" cy="329184"/>
          </a:xfrm>
          <a:prstGeom prst="roundRect">
            <a:avLst>
              <a:gd name="adj" fmla="val 16667"/>
            </a:avLst>
          </a:prstGeom>
          <a:solidFill>
            <a:schemeClr val="accent1">
              <a:alpha val="88000"/>
            </a:schemeClr>
          </a:solidFill>
          <a:ln w="12700">
            <a:solidFill>
              <a:srgbClr val="D9700F"/>
            </a:solidFill>
            <a:prstDash val="solid"/>
          </a:ln>
        </p:spPr>
      </p:sp>
      <p:sp>
        <p:nvSpPr>
          <p:cNvPr id="47" name="Text 44"/>
          <p:cNvSpPr txBox="1"/>
          <p:nvPr/>
        </p:nvSpPr>
        <p:spPr>
          <a:xfrm>
            <a:off x="7049008" y="3567989"/>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gedekt</a:t>
            </a:r>
            <a:endParaRPr lang="en-US" sz="1600" dirty="0"/>
          </a:p>
        </p:txBody>
      </p:sp>
      <p:sp>
        <p:nvSpPr>
          <p:cNvPr id="48" name="Text 45"/>
          <p:cNvSpPr txBox="1"/>
          <p:nvPr/>
        </p:nvSpPr>
        <p:spPr>
          <a:xfrm>
            <a:off x="2103120" y="3924605"/>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Les frais sont couverts par l’assurance.</a:t>
            </a:r>
            <a:endParaRPr lang="en-US" sz="1400" dirty="0"/>
          </a:p>
        </p:txBody>
      </p:sp>
      <p:sp>
        <p:nvSpPr>
          <p:cNvPr id="49" name="Text 46"/>
          <p:cNvSpPr txBox="1"/>
          <p:nvPr/>
        </p:nvSpPr>
        <p:spPr>
          <a:xfrm>
            <a:off x="548640" y="4259275"/>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Question</a:t>
            </a:r>
            <a:endParaRPr lang="en-US" sz="1400" dirty="0"/>
          </a:p>
        </p:txBody>
      </p:sp>
      <p:sp>
        <p:nvSpPr>
          <p:cNvPr id="50" name="Text 47"/>
          <p:cNvSpPr txBox="1"/>
          <p:nvPr/>
        </p:nvSpPr>
        <p:spPr>
          <a:xfrm>
            <a:off x="2103120" y="4021531"/>
            <a:ext cx="1068832" cy="219456"/>
          </a:xfrm>
          <a:prstGeom prst="rect">
            <a:avLst/>
          </a:prstGeom>
          <a:noFill/>
          <a:ln/>
        </p:spPr>
        <p:txBody>
          <a:bodyPr wrap="square" lIns="0" tIns="0" rIns="0" bIns="0" rtlCol="0" anchor="b"/>
          <a:lstStyle/>
          <a:p>
            <a:pPr algn="ctr" indent="0" marL="0">
              <a:buNone/>
            </a:pPr>
            <a:r>
              <a:rPr lang="en-US" sz="1000" b="1" dirty="0">
                <a:solidFill>
                  <a:srgbClr val="6E4A9E"/>
                </a:solidFill>
              </a:rPr>
              <a:t>mot W</a:t>
            </a:r>
            <a:endParaRPr lang="en-US" sz="1000" dirty="0"/>
          </a:p>
        </p:txBody>
      </p:sp>
      <p:sp>
        <p:nvSpPr>
          <p:cNvPr id="51" name="Shape 48"/>
          <p:cNvSpPr/>
          <p:nvPr/>
        </p:nvSpPr>
        <p:spPr>
          <a:xfrm>
            <a:off x="2103120" y="4259275"/>
            <a:ext cx="1068832" cy="329184"/>
          </a:xfrm>
          <a:prstGeom prst="roundRect">
            <a:avLst>
              <a:gd name="adj" fmla="val 16667"/>
            </a:avLst>
          </a:prstGeom>
          <a:solidFill>
            <a:srgbClr val="6E4A9E">
              <a:alpha val="88000"/>
            </a:srgbClr>
          </a:solidFill>
          <a:ln w="12700">
            <a:solidFill>
              <a:srgbClr val="6E4A9E"/>
            </a:solidFill>
            <a:prstDash val="solid"/>
          </a:ln>
        </p:spPr>
      </p:sp>
      <p:sp>
        <p:nvSpPr>
          <p:cNvPr id="52" name="Text 49"/>
          <p:cNvSpPr txBox="1"/>
          <p:nvPr/>
        </p:nvSpPr>
        <p:spPr>
          <a:xfrm>
            <a:off x="2139696" y="4259275"/>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Wanneer</a:t>
            </a:r>
            <a:endParaRPr lang="en-US" sz="1600" dirty="0"/>
          </a:p>
        </p:txBody>
      </p:sp>
      <p:sp>
        <p:nvSpPr>
          <p:cNvPr id="53" name="Text 50"/>
          <p:cNvSpPr txBox="1"/>
          <p:nvPr/>
        </p:nvSpPr>
        <p:spPr>
          <a:xfrm>
            <a:off x="3281680" y="4021531"/>
            <a:ext cx="857504"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54" name="Shape 51"/>
          <p:cNvSpPr/>
          <p:nvPr/>
        </p:nvSpPr>
        <p:spPr>
          <a:xfrm>
            <a:off x="3281680" y="4259275"/>
            <a:ext cx="857504" cy="329184"/>
          </a:xfrm>
          <a:prstGeom prst="roundRect">
            <a:avLst>
              <a:gd name="adj" fmla="val 16667"/>
            </a:avLst>
          </a:prstGeom>
          <a:solidFill>
            <a:schemeClr val="accent6">
              <a:alpha val="88000"/>
            </a:schemeClr>
          </a:solidFill>
          <a:ln w="12700">
            <a:solidFill>
              <a:srgbClr val="B83227"/>
            </a:solidFill>
            <a:prstDash val="solid"/>
          </a:ln>
        </p:spPr>
      </p:sp>
      <p:sp>
        <p:nvSpPr>
          <p:cNvPr id="55" name="Text 52"/>
          <p:cNvSpPr txBox="1"/>
          <p:nvPr/>
        </p:nvSpPr>
        <p:spPr>
          <a:xfrm>
            <a:off x="3318256" y="4259275"/>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wordt</a:t>
            </a:r>
            <a:endParaRPr lang="en-US" sz="1600" dirty="0"/>
          </a:p>
        </p:txBody>
      </p:sp>
      <p:sp>
        <p:nvSpPr>
          <p:cNvPr id="56" name="Text 53"/>
          <p:cNvSpPr txBox="1"/>
          <p:nvPr/>
        </p:nvSpPr>
        <p:spPr>
          <a:xfrm>
            <a:off x="4248912" y="4021531"/>
            <a:ext cx="1068832"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57" name="Shape 54"/>
          <p:cNvSpPr/>
          <p:nvPr/>
        </p:nvSpPr>
        <p:spPr>
          <a:xfrm>
            <a:off x="4248912" y="4259275"/>
            <a:ext cx="1068832" cy="329184"/>
          </a:xfrm>
          <a:prstGeom prst="roundRect">
            <a:avLst>
              <a:gd name="adj" fmla="val 16667"/>
            </a:avLst>
          </a:prstGeom>
          <a:solidFill>
            <a:schemeClr val="tx2">
              <a:alpha val="88000"/>
            </a:schemeClr>
          </a:solidFill>
          <a:ln w="12700">
            <a:solidFill>
              <a:srgbClr val="17375E"/>
            </a:solidFill>
            <a:prstDash val="solid"/>
          </a:ln>
        </p:spPr>
      </p:sp>
      <p:sp>
        <p:nvSpPr>
          <p:cNvPr id="58" name="Text 55"/>
          <p:cNvSpPr txBox="1"/>
          <p:nvPr/>
        </p:nvSpPr>
        <p:spPr>
          <a:xfrm>
            <a:off x="4285488" y="4259275"/>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de muur</a:t>
            </a:r>
            <a:endParaRPr lang="en-US" sz="1600" dirty="0"/>
          </a:p>
        </p:txBody>
      </p:sp>
      <p:sp>
        <p:nvSpPr>
          <p:cNvPr id="59" name="Text 56"/>
          <p:cNvSpPr txBox="1"/>
          <p:nvPr/>
        </p:nvSpPr>
        <p:spPr>
          <a:xfrm>
            <a:off x="5427472" y="4021531"/>
            <a:ext cx="1491488"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participe</a:t>
            </a:r>
            <a:endParaRPr lang="en-US" sz="1000" dirty="0"/>
          </a:p>
        </p:txBody>
      </p:sp>
      <p:sp>
        <p:nvSpPr>
          <p:cNvPr id="60" name="Shape 57"/>
          <p:cNvSpPr/>
          <p:nvPr/>
        </p:nvSpPr>
        <p:spPr>
          <a:xfrm>
            <a:off x="5427472" y="4259275"/>
            <a:ext cx="1491488" cy="329184"/>
          </a:xfrm>
          <a:prstGeom prst="roundRect">
            <a:avLst>
              <a:gd name="adj" fmla="val 16667"/>
            </a:avLst>
          </a:prstGeom>
          <a:solidFill>
            <a:schemeClr val="accent1">
              <a:alpha val="88000"/>
            </a:schemeClr>
          </a:solidFill>
          <a:ln w="12700">
            <a:solidFill>
              <a:srgbClr val="D9700F"/>
            </a:solidFill>
            <a:prstDash val="solid"/>
          </a:ln>
        </p:spPr>
      </p:sp>
      <p:sp>
        <p:nvSpPr>
          <p:cNvPr id="61" name="Text 58"/>
          <p:cNvSpPr txBox="1"/>
          <p:nvPr/>
        </p:nvSpPr>
        <p:spPr>
          <a:xfrm>
            <a:off x="5464048" y="4259275"/>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geschilderd</a:t>
            </a:r>
            <a:endParaRPr lang="en-US" sz="1600" dirty="0"/>
          </a:p>
        </p:txBody>
      </p:sp>
      <p:sp>
        <p:nvSpPr>
          <p:cNvPr id="62" name="Text 59"/>
          <p:cNvSpPr txBox="1"/>
          <p:nvPr/>
        </p:nvSpPr>
        <p:spPr>
          <a:xfrm>
            <a:off x="2103120" y="4615891"/>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Quand le mur est-il peint ? (TAAK 5)</a:t>
            </a:r>
            <a:endParaRPr lang="en-US" sz="1400" dirty="0"/>
          </a:p>
        </p:txBody>
      </p:sp>
      <p:sp>
        <p:nvSpPr>
          <p:cNvPr id="63" name="Text 60"/>
          <p:cNvSpPr txBox="1"/>
          <p:nvPr/>
        </p:nvSpPr>
        <p:spPr>
          <a:xfrm>
            <a:off x="548640" y="495056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Condition</a:t>
            </a:r>
            <a:endParaRPr lang="en-US" sz="1400" dirty="0"/>
          </a:p>
        </p:txBody>
      </p:sp>
      <p:sp>
        <p:nvSpPr>
          <p:cNvPr id="64" name="Text 61"/>
          <p:cNvSpPr txBox="1"/>
          <p:nvPr/>
        </p:nvSpPr>
        <p:spPr>
          <a:xfrm>
            <a:off x="2103120" y="4712818"/>
            <a:ext cx="963168"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65" name="Shape 62"/>
          <p:cNvSpPr/>
          <p:nvPr/>
        </p:nvSpPr>
        <p:spPr>
          <a:xfrm>
            <a:off x="2103120" y="4950562"/>
            <a:ext cx="963168" cy="329184"/>
          </a:xfrm>
          <a:prstGeom prst="roundRect">
            <a:avLst>
              <a:gd name="adj" fmla="val 16667"/>
            </a:avLst>
          </a:prstGeom>
          <a:solidFill>
            <a:srgbClr val="6E4A9E">
              <a:alpha val="88000"/>
            </a:srgbClr>
          </a:solidFill>
          <a:ln w="12700">
            <a:solidFill>
              <a:srgbClr val="6E4A9E"/>
            </a:solidFill>
            <a:prstDash val="solid"/>
          </a:ln>
        </p:spPr>
      </p:sp>
      <p:sp>
        <p:nvSpPr>
          <p:cNvPr id="66" name="Text 63"/>
          <p:cNvSpPr txBox="1"/>
          <p:nvPr/>
        </p:nvSpPr>
        <p:spPr>
          <a:xfrm>
            <a:off x="2139696" y="4950562"/>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tenzij</a:t>
            </a:r>
            <a:endParaRPr lang="en-US" sz="1600" dirty="0"/>
          </a:p>
        </p:txBody>
      </p:sp>
      <p:sp>
        <p:nvSpPr>
          <p:cNvPr id="67" name="Text 64"/>
          <p:cNvSpPr txBox="1"/>
          <p:nvPr/>
        </p:nvSpPr>
        <p:spPr>
          <a:xfrm>
            <a:off x="3176016" y="4712818"/>
            <a:ext cx="180848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8" name="Shape 65"/>
          <p:cNvSpPr/>
          <p:nvPr/>
        </p:nvSpPr>
        <p:spPr>
          <a:xfrm>
            <a:off x="3176016" y="4950562"/>
            <a:ext cx="1808480" cy="329184"/>
          </a:xfrm>
          <a:prstGeom prst="roundRect">
            <a:avLst>
              <a:gd name="adj" fmla="val 16667"/>
            </a:avLst>
          </a:prstGeom>
          <a:solidFill>
            <a:schemeClr val="tx2">
              <a:alpha val="88000"/>
            </a:schemeClr>
          </a:solidFill>
          <a:ln w="12700">
            <a:solidFill>
              <a:srgbClr val="17375E"/>
            </a:solidFill>
            <a:prstDash val="solid"/>
          </a:ln>
        </p:spPr>
      </p:sp>
      <p:sp>
        <p:nvSpPr>
          <p:cNvPr id="69" name="Text 66"/>
          <p:cNvSpPr txBox="1"/>
          <p:nvPr/>
        </p:nvSpPr>
        <p:spPr>
          <a:xfrm>
            <a:off x="3212592" y="4950562"/>
            <a:ext cx="1735328" cy="329184"/>
          </a:xfrm>
          <a:prstGeom prst="rect">
            <a:avLst/>
          </a:prstGeom>
          <a:noFill/>
          <a:ln/>
        </p:spPr>
        <p:txBody>
          <a:bodyPr wrap="square" lIns="0" tIns="0" rIns="0" bIns="0" rtlCol="0" anchor="ctr"/>
          <a:lstStyle/>
          <a:p>
            <a:pPr algn="ctr" indent="0" marL="0">
              <a:buNone/>
            </a:pPr>
            <a:r>
              <a:rPr lang="en-US" sz="1600" b="1" dirty="0">
                <a:solidFill>
                  <a:schemeClr val="bg1"/>
                </a:solidFill>
              </a:rPr>
              <a:t>de verzekering</a:t>
            </a:r>
            <a:endParaRPr lang="en-US" sz="1600" dirty="0"/>
          </a:p>
        </p:txBody>
      </p:sp>
      <p:sp>
        <p:nvSpPr>
          <p:cNvPr id="70" name="Text 67"/>
          <p:cNvSpPr txBox="1"/>
          <p:nvPr/>
        </p:nvSpPr>
        <p:spPr>
          <a:xfrm>
            <a:off x="5094224" y="4712818"/>
            <a:ext cx="1068832"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71" name="Shape 68"/>
          <p:cNvSpPr/>
          <p:nvPr/>
        </p:nvSpPr>
        <p:spPr>
          <a:xfrm>
            <a:off x="5094224" y="4950562"/>
            <a:ext cx="1068832" cy="329184"/>
          </a:xfrm>
          <a:prstGeom prst="roundRect">
            <a:avLst>
              <a:gd name="adj" fmla="val 16667"/>
            </a:avLst>
          </a:prstGeom>
          <a:solidFill>
            <a:schemeClr val="accent1">
              <a:alpha val="88000"/>
            </a:schemeClr>
          </a:solidFill>
          <a:ln w="12700">
            <a:solidFill>
              <a:srgbClr val="D9700F"/>
            </a:solidFill>
            <a:prstDash val="solid"/>
          </a:ln>
        </p:spPr>
      </p:sp>
      <p:sp>
        <p:nvSpPr>
          <p:cNvPr id="72" name="Text 69"/>
          <p:cNvSpPr txBox="1"/>
          <p:nvPr/>
        </p:nvSpPr>
        <p:spPr>
          <a:xfrm>
            <a:off x="5130800" y="4950562"/>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weigert</a:t>
            </a:r>
            <a:endParaRPr lang="en-US" sz="1600" dirty="0"/>
          </a:p>
        </p:txBody>
      </p:sp>
      <p:sp>
        <p:nvSpPr>
          <p:cNvPr id="73" name="Text 70"/>
          <p:cNvSpPr txBox="1"/>
          <p:nvPr/>
        </p:nvSpPr>
        <p:spPr>
          <a:xfrm>
            <a:off x="2103120" y="530717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 sauf si l’assurance refuse.</a:t>
            </a:r>
            <a:endParaRPr lang="en-US" sz="1400" dirty="0"/>
          </a:p>
        </p:txBody>
      </p:sp>
      <p:sp>
        <p:nvSpPr>
          <p:cNvPr id="74" name="Shape 71"/>
          <p:cNvSpPr/>
          <p:nvPr/>
        </p:nvSpPr>
        <p:spPr>
          <a:xfrm>
            <a:off x="548640" y="5605272"/>
            <a:ext cx="11091672" cy="685800"/>
          </a:xfrm>
          <a:prstGeom prst="roundRect">
            <a:avLst>
              <a:gd name="adj" fmla="val 10667"/>
            </a:avLst>
          </a:prstGeom>
          <a:solidFill>
            <a:schemeClr val="accent3">
              <a:alpha val="10000"/>
            </a:schemeClr>
          </a:solidFill>
          <a:ln w="9525">
            <a:solidFill>
              <a:schemeClr val="accent3">
                <a:alpha val="70000"/>
              </a:schemeClr>
            </a:solidFill>
            <a:prstDash val="solid"/>
          </a:ln>
        </p:spPr>
      </p:sp>
      <p:pic>
        <p:nvPicPr>
          <p:cNvPr id="75" name="Image 0" descr="preencoded.png">    </p:cNvPr>
          <p:cNvPicPr>
            <a:picLocks noChangeAspect="1"/>
          </p:cNvPicPr>
          <p:nvPr/>
        </p:nvPicPr>
        <p:blipFill>
          <a:blip r:embed="rId1"/>
          <a:stretch>
            <a:fillRect/>
          </a:stretch>
        </p:blipFill>
        <p:spPr>
          <a:xfrm>
            <a:off x="749808" y="5783580"/>
            <a:ext cx="329184" cy="329184"/>
          </a:xfrm>
          <a:prstGeom prst="rect">
            <a:avLst/>
          </a:prstGeom>
        </p:spPr>
      </p:pic>
      <p:sp>
        <p:nvSpPr>
          <p:cNvPr id="76" name="Text 72"/>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3"/>
                </a:solidFill>
              </a:rPr>
              <a:t>À retenir — </a:t>
            </a:r>
            <a:r>
              <a:rPr lang="en-US" sz="1700" b="1" dirty="0">
                <a:solidFill>
                  <a:schemeClr val="tx1"/>
                </a:solidFill>
              </a:rPr>
              <a:t>worden</a:t>
            </a:r>
            <a:r>
              <a:rPr lang="en-US" sz="1700" dirty="0">
                <a:solidFill>
                  <a:schemeClr val="tx1"/>
                </a:solidFill>
              </a:rPr>
              <a:t> conjugué + </a:t>
            </a:r>
            <a:r>
              <a:rPr lang="en-US" sz="1700" b="1" dirty="0">
                <a:solidFill>
                  <a:schemeClr val="tx1"/>
                </a:solidFill>
              </a:rPr>
              <a:t>participe</a:t>
            </a:r>
            <a:r>
              <a:rPr lang="en-US" sz="1700" dirty="0">
                <a:solidFill>
                  <a:schemeClr val="tx1"/>
                </a:solidFill>
              </a:rPr>
              <a:t> en fin de phrase ; </a:t>
            </a:r>
            <a:r>
              <a:rPr lang="en-US" sz="1700" b="1" dirty="0">
                <a:solidFill>
                  <a:schemeClr val="tx1"/>
                </a:solidFill>
              </a:rPr>
              <a:t>werd / werden</a:t>
            </a:r>
            <a:r>
              <a:rPr lang="en-US" sz="1700" dirty="0">
                <a:solidFill>
                  <a:schemeClr val="tx1"/>
                </a:solidFill>
              </a:rPr>
              <a:t> pour le passé ; </a:t>
            </a:r>
            <a:r>
              <a:rPr lang="en-US" sz="1700" b="1" dirty="0">
                <a:solidFill>
                  <a:schemeClr val="tx1"/>
                </a:solidFill>
              </a:rPr>
              <a:t>is</a:t>
            </a:r>
            <a:r>
              <a:rPr lang="en-US" sz="1700" dirty="0">
                <a:solidFill>
                  <a:schemeClr val="tx1"/>
                </a:solidFill>
              </a:rPr>
              <a:t> pour le résultat.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Worden ≠ zijn : processus ou résultat ?</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21</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7205472" cy="4801932"/>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8074152" y="1481328"/>
            <a:ext cx="3566160" cy="4809744"/>
          </a:xfrm>
          <a:prstGeom prst="roundRect">
            <a:avLst>
              <a:gd name="adj" fmla="val 2051"/>
            </a:avLst>
          </a:prstGeom>
          <a:solidFill>
            <a:schemeClr val="accent6">
              <a:alpha val="10000"/>
            </a:schemeClr>
          </a:solidFill>
          <a:ln w="12700">
            <a:solidFill>
              <a:schemeClr val="accent6">
                <a:alpha val="60000"/>
              </a:schemeClr>
            </a:solidFill>
            <a:prstDash val="solid"/>
          </a:ln>
        </p:spPr>
      </p:sp>
      <p:pic>
        <p:nvPicPr>
          <p:cNvPr id="8" name="Image 1" descr="preencoded.png">    </p:cNvPr>
          <p:cNvPicPr>
            <a:picLocks noChangeAspect="1"/>
          </p:cNvPicPr>
          <p:nvPr/>
        </p:nvPicPr>
        <p:blipFill>
          <a:blip r:embed="rId2"/>
          <a:stretch>
            <a:fillRect/>
          </a:stretch>
        </p:blipFill>
        <p:spPr>
          <a:xfrm>
            <a:off x="8257032" y="1664208"/>
            <a:ext cx="292608" cy="292608"/>
          </a:xfrm>
          <a:prstGeom prst="rect">
            <a:avLst/>
          </a:prstGeom>
        </p:spPr>
      </p:pic>
      <p:sp>
        <p:nvSpPr>
          <p:cNvPr id="9" name="Text 4"/>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NE LES CONFONDEZ JAMAIS</a:t>
            </a:r>
            <a:endParaRPr lang="en-US" sz="1400" dirty="0"/>
          </a:p>
        </p:txBody>
      </p:sp>
      <p:sp>
        <p:nvSpPr>
          <p:cNvPr id="10" name="Text 5"/>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wordt + participe</a:t>
            </a:r>
            <a:r>
              <a:rPr lang="en-US" sz="1800" dirty="0">
                <a:solidFill>
                  <a:schemeClr val="tx1"/>
                </a:solidFill>
              </a:rPr>
              <a:t> = </a:t>
            </a:r>
            <a:r>
              <a:rPr lang="en-US" sz="1800" b="1" dirty="0">
                <a:solidFill>
                  <a:schemeClr val="tx1"/>
                </a:solidFill>
              </a:rPr>
              <a:t>processus</a:t>
            </a:r>
            <a:r>
              <a:rPr lang="en-US" sz="1800" dirty="0">
                <a:solidFill>
                  <a:schemeClr val="tx1"/>
                </a:solidFill>
              </a:rPr>
              <a:t> : </a:t>
            </a:r>
            <a:r>
              <a:rPr lang="en-US" sz="1800" i="1" dirty="0">
                <a:solidFill>
                  <a:schemeClr val="tx1"/>
                </a:solidFill>
              </a:rPr>
              <a:t>De badkamer wordt geschilderd.</a:t>
            </a:r>
            <a:r>
              <a:rPr lang="en-US" sz="1800" dirty="0">
                <a:solidFill>
                  <a:schemeClr val="tx1"/>
                </a:solidFill>
              </a:rPr>
              <a:t> (on est en train de peindre)</a:t>
            </a:r>
            <a:endParaRPr lang="en-US" sz="1800" dirty="0"/>
          </a:p>
          <a:p>
            <a:pPr marL="177800" indent="-177800">
              <a:spcAft>
                <a:spcPts val="600"/>
              </a:spcAft>
              <a:buSzPct val="100000"/>
              <a:buChar char="•"/>
            </a:pPr>
            <a:r>
              <a:rPr lang="en-US" sz="1800" b="1" dirty="0">
                <a:solidFill>
                  <a:schemeClr val="tx1"/>
                </a:solidFill>
              </a:rPr>
              <a:t>is + participe</a:t>
            </a:r>
            <a:r>
              <a:rPr lang="en-US" sz="1800" dirty="0">
                <a:solidFill>
                  <a:schemeClr val="tx1"/>
                </a:solidFill>
              </a:rPr>
              <a:t> = </a:t>
            </a:r>
            <a:r>
              <a:rPr lang="en-US" sz="1800" b="1" dirty="0">
                <a:solidFill>
                  <a:schemeClr val="tx1"/>
                </a:solidFill>
              </a:rPr>
              <a:t>résultat</a:t>
            </a:r>
            <a:r>
              <a:rPr lang="en-US" sz="1800" dirty="0">
                <a:solidFill>
                  <a:schemeClr val="tx1"/>
                </a:solidFill>
              </a:rPr>
              <a:t> : </a:t>
            </a:r>
            <a:r>
              <a:rPr lang="en-US" sz="1800" i="1" dirty="0">
                <a:solidFill>
                  <a:schemeClr val="tx1"/>
                </a:solidFill>
              </a:rPr>
              <a:t>De badkamer is geschilderd.</a:t>
            </a:r>
            <a:r>
              <a:rPr lang="en-US" sz="1800" dirty="0">
                <a:solidFill>
                  <a:schemeClr val="tx1"/>
                </a:solidFill>
              </a:rPr>
              <a:t> (c’est fait !)</a:t>
            </a:r>
            <a:endParaRPr lang="en-US" sz="1800" dirty="0"/>
          </a:p>
          <a:p>
            <a:pPr marL="177800" indent="-177800">
              <a:spcAft>
                <a:spcPts val="600"/>
              </a:spcAft>
              <a:buSzPct val="100000"/>
              <a:buChar char="•"/>
            </a:pPr>
            <a:r>
              <a:rPr lang="en-US" sz="1800" dirty="0">
                <a:solidFill>
                  <a:schemeClr val="tx1"/>
                </a:solidFill>
              </a:rPr>
              <a:t>Dans un rapport : </a:t>
            </a:r>
            <a:r>
              <a:rPr lang="en-US" sz="1800" i="1" dirty="0">
                <a:solidFill>
                  <a:schemeClr val="tx1"/>
                </a:solidFill>
              </a:rPr>
              <a:t>wordt</a:t>
            </a:r>
            <a:r>
              <a:rPr lang="en-US" sz="1800" dirty="0">
                <a:solidFill>
                  <a:schemeClr val="tx1"/>
                </a:solidFill>
              </a:rPr>
              <a:t> = en cours · </a:t>
            </a:r>
            <a:r>
              <a:rPr lang="en-US" sz="1800" i="1" dirty="0">
                <a:solidFill>
                  <a:schemeClr val="tx1"/>
                </a:solidFill>
              </a:rPr>
              <a:t>is</a:t>
            </a:r>
            <a:r>
              <a:rPr lang="en-US" sz="1800" dirty="0">
                <a:solidFill>
                  <a:schemeClr val="tx1"/>
                </a:solidFill>
              </a:rPr>
              <a:t> = terminé · </a:t>
            </a:r>
            <a:r>
              <a:rPr lang="en-US" sz="1800" i="1" dirty="0">
                <a:solidFill>
                  <a:schemeClr val="tx1"/>
                </a:solidFill>
              </a:rPr>
              <a:t>werd</a:t>
            </a:r>
            <a:r>
              <a:rPr lang="en-US" sz="1800" dirty="0">
                <a:solidFill>
                  <a:schemeClr val="tx1"/>
                </a:solidFill>
              </a:rPr>
              <a:t> = passé</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10 Van actief naar passief</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21</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Transformez au </a:t>
            </a:r>
            <a:r>
              <a:rPr lang="en-US" sz="1600" b="1" i="1" dirty="0">
                <a:solidFill>
                  <a:schemeClr val="accent5"/>
                </a:solidFill>
              </a:rPr>
              <a:t>passif</a:t>
            </a:r>
            <a:r>
              <a:rPr lang="en-US" sz="1600" i="1" dirty="0">
                <a:solidFill>
                  <a:schemeClr val="accent5"/>
                </a:solidFill>
              </a:rPr>
              <a:t> : gardez le </a:t>
            </a:r>
            <a:r>
              <a:rPr lang="en-US" sz="1600" b="1" i="1" dirty="0">
                <a:solidFill>
                  <a:schemeClr val="accent5"/>
                </a:solidFill>
              </a:rPr>
              <a:t>temps</a:t>
            </a:r>
            <a:r>
              <a:rPr lang="en-US" sz="1600" i="1" dirty="0">
                <a:solidFill>
                  <a:schemeClr val="accent5"/>
                </a:solidFill>
              </a:rPr>
              <a:t> de la phrase active ; n’ajoutez </a:t>
            </a:r>
            <a:r>
              <a:rPr lang="en-US" sz="1600" i="1" dirty="0">
                <a:solidFill>
                  <a:schemeClr val="accent5"/>
                </a:solidFill>
              </a:rPr>
              <a:t>door</a:t>
            </a:r>
            <a:r>
              <a:rPr lang="en-US" sz="1600" i="1" dirty="0">
                <a:solidFill>
                  <a:schemeClr val="accent5"/>
                </a:solidFill>
              </a:rPr>
              <a:t> + acteur que si l’information est utile. Seul · 8 min.</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De loodgieter herstelt het lek morgen.</a:t>
            </a:r>
            <a:endParaRPr lang="en-US" sz="2600" dirty="0"/>
          </a:p>
          <a:p>
            <a:pPr indent="0" marL="0">
              <a:spcAft>
                <a:spcPts val="1400"/>
              </a:spcAft>
              <a:buNone/>
            </a:pPr>
            <a:r>
              <a:rPr lang="en-US" sz="2600" b="1" dirty="0">
                <a:solidFill>
                  <a:schemeClr val="tx2"/>
                </a:solidFill>
              </a:rPr>
              <a:t>2.  </a:t>
            </a:r>
            <a:r>
              <a:rPr lang="en-US" sz="2600" dirty="0">
                <a:solidFill>
                  <a:schemeClr val="tx1"/>
                </a:solidFill>
              </a:rPr>
              <a:t>De verzekering dekt de kosten.</a:t>
            </a:r>
            <a:endParaRPr lang="en-US" sz="2600" dirty="0"/>
          </a:p>
          <a:p>
            <a:pPr indent="0" marL="0">
              <a:spcAft>
                <a:spcPts val="1400"/>
              </a:spcAft>
              <a:buNone/>
            </a:pPr>
            <a:r>
              <a:rPr lang="en-US" sz="2600" b="1" dirty="0">
                <a:solidFill>
                  <a:schemeClr val="tx2"/>
                </a:solidFill>
              </a:rPr>
              <a:t>3.  </a:t>
            </a:r>
            <a:r>
              <a:rPr lang="en-US" sz="2600" dirty="0">
                <a:solidFill>
                  <a:schemeClr val="tx1"/>
                </a:solidFill>
              </a:rPr>
              <a:t>De vorige eigenaar renoveerde het gebouw in 2018.</a:t>
            </a:r>
            <a:endParaRPr lang="en-US" sz="2600" dirty="0"/>
          </a:p>
          <a:p>
            <a:pPr indent="0" marL="0">
              <a:spcAft>
                <a:spcPts val="1400"/>
              </a:spcAft>
              <a:buNone/>
            </a:pPr>
            <a:r>
              <a:rPr lang="en-US" sz="2600" b="1" dirty="0">
                <a:solidFill>
                  <a:schemeClr val="tx2"/>
                </a:solidFill>
              </a:rPr>
              <a:t>4.  </a:t>
            </a:r>
            <a:r>
              <a:rPr lang="en-US" sz="2600" dirty="0">
                <a:solidFill>
                  <a:schemeClr val="tx1"/>
                </a:solidFill>
              </a:rPr>
              <a:t>Wij stellen de plaatsbeschrijving volgende week op.</a:t>
            </a:r>
            <a:endParaRPr lang="en-US" sz="2600" dirty="0"/>
          </a:p>
          <a:p>
            <a:pPr indent="0" marL="0">
              <a:spcAft>
                <a:spcPts val="1400"/>
              </a:spcAft>
              <a:buNone/>
            </a:pPr>
            <a:r>
              <a:rPr lang="en-US" sz="2600" b="1" dirty="0">
                <a:solidFill>
                  <a:schemeClr val="tx2"/>
                </a:solidFill>
              </a:rPr>
              <a:t>5.  </a:t>
            </a:r>
            <a:r>
              <a:rPr lang="en-US" sz="2600" dirty="0">
                <a:solidFill>
                  <a:schemeClr val="tx1"/>
                </a:solidFill>
              </a:rPr>
              <a:t>Iemand heeft de hoofdkraan dichtgedraaid.</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10 Van actief naar passief</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21</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Transformez au </a:t>
            </a:r>
            <a:r>
              <a:rPr lang="en-US" sz="1600" b="1" i="1" dirty="0">
                <a:solidFill>
                  <a:schemeClr val="accent5"/>
                </a:solidFill>
              </a:rPr>
              <a:t>passif</a:t>
            </a:r>
            <a:r>
              <a:rPr lang="en-US" sz="1600" i="1" dirty="0">
                <a:solidFill>
                  <a:schemeClr val="accent5"/>
                </a:solidFill>
              </a:rPr>
              <a:t> : gardez le </a:t>
            </a:r>
            <a:r>
              <a:rPr lang="en-US" sz="1600" b="1" i="1" dirty="0">
                <a:solidFill>
                  <a:schemeClr val="accent5"/>
                </a:solidFill>
              </a:rPr>
              <a:t>temps</a:t>
            </a:r>
            <a:r>
              <a:rPr lang="en-US" sz="1600" i="1" dirty="0">
                <a:solidFill>
                  <a:schemeClr val="accent5"/>
                </a:solidFill>
              </a:rPr>
              <a:t> de la phrase active ; n’ajoutez </a:t>
            </a:r>
            <a:r>
              <a:rPr lang="en-US" sz="1600" i="1" dirty="0">
                <a:solidFill>
                  <a:schemeClr val="accent5"/>
                </a:solidFill>
              </a:rPr>
              <a:t>door</a:t>
            </a:r>
            <a:r>
              <a:rPr lang="en-US" sz="1600" i="1" dirty="0">
                <a:solidFill>
                  <a:schemeClr val="accent5"/>
                </a:solidFill>
              </a:rPr>
              <a:t> + acteur que si l’information est utile. Seul · 8 min.</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a:t>
            </a:r>
            <a:r>
              <a:rPr lang="en-US" sz="1600" dirty="0">
                <a:solidFill>
                  <a:schemeClr val="tx1"/>
                </a:solidFill>
              </a:rPr>
              <a:t>De loodgieter herstelt het lek morgen.</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Het lek </a:t>
            </a:r>
            <a:r>
              <a:rPr lang="en-US" sz="1600" b="1" dirty="0">
                <a:solidFill>
                  <a:schemeClr val="accent3"/>
                </a:solidFill>
              </a:rPr>
              <a:t>wordt</a:t>
            </a:r>
            <a:r>
              <a:rPr lang="en-US" sz="1600" dirty="0">
                <a:solidFill>
                  <a:schemeClr val="accent3"/>
                </a:solidFill>
              </a:rPr>
              <a:t> morgen (door de loodgieter) </a:t>
            </a:r>
            <a:r>
              <a:rPr lang="en-US" sz="1600" b="1" dirty="0">
                <a:solidFill>
                  <a:schemeClr val="accent3"/>
                </a:solidFill>
              </a:rPr>
              <a:t>hersteld</a:t>
            </a:r>
            <a:r>
              <a:rPr lang="en-US" sz="1600" dirty="0">
                <a:solidFill>
                  <a:schemeClr val="accent3"/>
                </a:solidFill>
              </a:rPr>
              <a:t>.</a:t>
            </a:r>
            <a:endParaRPr lang="en-US" sz="1600" dirty="0"/>
          </a:p>
          <a:p>
            <a:pPr indent="0" marL="0">
              <a:spcAft>
                <a:spcPts val="400"/>
              </a:spcAft>
              <a:buNone/>
            </a:pPr>
            <a:r>
              <a:rPr lang="en-US" sz="1600" b="1" dirty="0">
                <a:solidFill>
                  <a:schemeClr val="tx2"/>
                </a:solidFill>
              </a:rPr>
              <a:t>2.  </a:t>
            </a:r>
            <a:r>
              <a:rPr lang="en-US" sz="1600" dirty="0">
                <a:solidFill>
                  <a:schemeClr val="tx1"/>
                </a:solidFill>
              </a:rPr>
              <a:t>De verzekering dekt de kosten.</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kosten </a:t>
            </a:r>
            <a:r>
              <a:rPr lang="en-US" sz="1600" b="1" dirty="0">
                <a:solidFill>
                  <a:schemeClr val="accent3"/>
                </a:solidFill>
              </a:rPr>
              <a:t>worden</a:t>
            </a:r>
            <a:r>
              <a:rPr lang="en-US" sz="1600" dirty="0">
                <a:solidFill>
                  <a:schemeClr val="accent3"/>
                </a:solidFill>
              </a:rPr>
              <a:t> door de verzekering </a:t>
            </a:r>
            <a:r>
              <a:rPr lang="en-US" sz="1600" b="1" dirty="0">
                <a:solidFill>
                  <a:schemeClr val="accent3"/>
                </a:solidFill>
              </a:rPr>
              <a:t>gedekt</a:t>
            </a:r>
            <a:r>
              <a:rPr lang="en-US" sz="1600" dirty="0">
                <a:solidFill>
                  <a:schemeClr val="accent3"/>
                </a:solidFill>
              </a:rPr>
              <a:t>.</a:t>
            </a:r>
            <a:endParaRPr lang="en-US" sz="1600" dirty="0"/>
          </a:p>
          <a:p>
            <a:pPr indent="0" marL="0">
              <a:spcAft>
                <a:spcPts val="400"/>
              </a:spcAft>
              <a:buNone/>
            </a:pPr>
            <a:r>
              <a:rPr lang="en-US" sz="1600" b="1" dirty="0">
                <a:solidFill>
                  <a:schemeClr val="tx2"/>
                </a:solidFill>
              </a:rPr>
              <a:t>3.  </a:t>
            </a:r>
            <a:r>
              <a:rPr lang="en-US" sz="1600" dirty="0">
                <a:solidFill>
                  <a:schemeClr val="tx1"/>
                </a:solidFill>
              </a:rPr>
              <a:t>De vorige eigenaar renoveerde het gebouw in 2018.</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Het gebouw </a:t>
            </a:r>
            <a:r>
              <a:rPr lang="en-US" sz="1600" b="1" dirty="0">
                <a:solidFill>
                  <a:schemeClr val="accent3"/>
                </a:solidFill>
              </a:rPr>
              <a:t>werd</a:t>
            </a:r>
            <a:r>
              <a:rPr lang="en-US" sz="1600" dirty="0">
                <a:solidFill>
                  <a:schemeClr val="accent3"/>
                </a:solidFill>
              </a:rPr>
              <a:t> in 2018 (door de vorige eigenaar) </a:t>
            </a:r>
            <a:r>
              <a:rPr lang="en-US" sz="1600" b="1" dirty="0">
                <a:solidFill>
                  <a:schemeClr val="accent3"/>
                </a:solidFill>
              </a:rPr>
              <a:t>gerenoveerd</a:t>
            </a:r>
            <a:r>
              <a:rPr lang="en-US" sz="1600" dirty="0">
                <a:solidFill>
                  <a:schemeClr val="accent3"/>
                </a:solidFill>
              </a:rPr>
              <a:t>.</a:t>
            </a:r>
            <a:endParaRPr lang="en-US" sz="1600" dirty="0"/>
          </a:p>
          <a:p>
            <a:pPr indent="0" marL="0">
              <a:spcAft>
                <a:spcPts val="400"/>
              </a:spcAft>
              <a:buNone/>
            </a:pPr>
            <a:r>
              <a:rPr lang="en-US" sz="1600" b="1" dirty="0">
                <a:solidFill>
                  <a:schemeClr val="tx2"/>
                </a:solidFill>
              </a:rPr>
              <a:t>4.  </a:t>
            </a:r>
            <a:r>
              <a:rPr lang="en-US" sz="1600" dirty="0">
                <a:solidFill>
                  <a:schemeClr val="tx1"/>
                </a:solidFill>
              </a:rPr>
              <a:t>Wij stellen de plaatsbeschrijving volgende week op.</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plaatsbeschrijving </a:t>
            </a:r>
            <a:r>
              <a:rPr lang="en-US" sz="1600" b="1" dirty="0">
                <a:solidFill>
                  <a:schemeClr val="accent3"/>
                </a:solidFill>
              </a:rPr>
              <a:t>wordt</a:t>
            </a:r>
            <a:r>
              <a:rPr lang="en-US" sz="1600" dirty="0">
                <a:solidFill>
                  <a:schemeClr val="accent3"/>
                </a:solidFill>
              </a:rPr>
              <a:t> volgende week </a:t>
            </a:r>
            <a:r>
              <a:rPr lang="en-US" sz="1600" b="1" dirty="0">
                <a:solidFill>
                  <a:schemeClr val="accent3"/>
                </a:solidFill>
              </a:rPr>
              <a:t>opgesteld</a:t>
            </a:r>
            <a:r>
              <a:rPr lang="en-US" sz="1600" dirty="0">
                <a:solidFill>
                  <a:schemeClr val="accent3"/>
                </a:solidFill>
              </a:rPr>
              <a:t>.</a:t>
            </a:r>
            <a:endParaRPr lang="en-US" sz="1600" dirty="0"/>
          </a:p>
          <a:p>
            <a:pPr indent="0" marL="0">
              <a:spcAft>
                <a:spcPts val="400"/>
              </a:spcAft>
              <a:buNone/>
            </a:pPr>
            <a:r>
              <a:rPr lang="en-US" sz="1600" b="1" dirty="0">
                <a:solidFill>
                  <a:schemeClr val="tx2"/>
                </a:solidFill>
              </a:rPr>
              <a:t>5.  </a:t>
            </a:r>
            <a:r>
              <a:rPr lang="en-US" sz="1600" dirty="0">
                <a:solidFill>
                  <a:schemeClr val="tx1"/>
                </a:solidFill>
              </a:rPr>
              <a:t>Iemand heeft de hoofdkraan dichtgedraaid.</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hoofdkraan </a:t>
            </a:r>
            <a:r>
              <a:rPr lang="en-US" sz="1600" b="1" dirty="0">
                <a:solidFill>
                  <a:schemeClr val="accent3"/>
                </a:solidFill>
              </a:rPr>
              <a:t>is dichtgedraaid</a:t>
            </a:r>
            <a:r>
              <a:rPr lang="en-US" sz="1600" dirty="0">
                <a:solidFill>
                  <a:schemeClr val="accent3"/>
                </a:solidFill>
              </a:rPr>
              <a:t>.</a:t>
            </a:r>
            <a:endParaRPr lang="en-US" sz="16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worden</a:t>
            </a:r>
            <a:r>
              <a:rPr lang="en-US" sz="1800" dirty="0">
                <a:solidFill>
                  <a:schemeClr val="tx1"/>
                </a:solidFill>
              </a:rPr>
              <a:t> s’accorde : </a:t>
            </a:r>
            <a:r>
              <a:rPr lang="en-US" sz="1800" i="1" dirty="0">
                <a:solidFill>
                  <a:schemeClr val="tx1"/>
                </a:solidFill>
              </a:rPr>
              <a:t>de kosten worden</a:t>
            </a:r>
            <a:endParaRPr lang="en-US" sz="1800" dirty="0"/>
          </a:p>
          <a:p>
            <a:pPr marL="177800" indent="-177800">
              <a:spcAft>
                <a:spcPts val="600"/>
              </a:spcAft>
              <a:buSzPct val="100000"/>
              <a:buChar char="•"/>
            </a:pPr>
            <a:r>
              <a:rPr lang="en-US" sz="1800" dirty="0">
                <a:solidFill>
                  <a:schemeClr val="tx1"/>
                </a:solidFill>
              </a:rPr>
              <a:t>Séparable : </a:t>
            </a:r>
            <a:r>
              <a:rPr lang="en-US" sz="1800" i="1" dirty="0">
                <a:solidFill>
                  <a:schemeClr val="tx1"/>
                </a:solidFill>
              </a:rPr>
              <a:t>opstellen</a:t>
            </a:r>
            <a:r>
              <a:rPr lang="en-US" sz="1800" dirty="0">
                <a:solidFill>
                  <a:schemeClr val="tx1"/>
                </a:solidFill>
              </a:rPr>
              <a:t> → </a:t>
            </a:r>
            <a:r>
              <a:rPr lang="en-US" sz="1800" i="1" dirty="0">
                <a:solidFill>
                  <a:schemeClr val="tx1"/>
                </a:solidFill>
              </a:rPr>
              <a:t>opgesteld</a:t>
            </a:r>
            <a:endParaRPr lang="en-US" sz="1800" dirty="0"/>
          </a:p>
          <a:p>
            <a:pPr marL="177800" indent="-177800">
              <a:spcAft>
                <a:spcPts val="600"/>
              </a:spcAft>
              <a:buSzPct val="100000"/>
              <a:buChar char="•"/>
            </a:pPr>
            <a:r>
              <a:rPr lang="en-US" sz="1800" dirty="0">
                <a:solidFill>
                  <a:schemeClr val="tx1"/>
                </a:solidFill>
              </a:rPr>
              <a:t>Perfectum → </a:t>
            </a:r>
            <a:r>
              <a:rPr lang="en-US" sz="1800" i="1" dirty="0">
                <a:solidFill>
                  <a:schemeClr val="tx1"/>
                </a:solidFill>
              </a:rPr>
              <a:t>is + participe</a:t>
            </a:r>
            <a:r>
              <a:rPr lang="en-US" sz="1800" dirty="0">
                <a:solidFill>
                  <a:schemeClr val="tx1"/>
                </a:solidFill>
              </a:rPr>
              <a:t> (pas de </a:t>
            </a:r>
            <a:r>
              <a:rPr lang="en-US" sz="1800" i="1" dirty="0">
                <a:solidFill>
                  <a:schemeClr val="tx1"/>
                </a:solidFill>
              </a:rPr>
              <a:t>geworden</a:t>
            </a:r>
            <a:r>
              <a:rPr lang="en-US" sz="1800" dirty="0">
                <a:solidFill>
                  <a:schemeClr val="tx1"/>
                </a:solidFill>
              </a:rPr>
              <a:t>)</a:t>
            </a:r>
            <a:endParaRPr lang="en-US" sz="1800" dirty="0"/>
          </a:p>
          <a:p>
            <a:pPr marL="177800" indent="-177800">
              <a:spcAft>
                <a:spcPts val="600"/>
              </a:spcAft>
              <a:buSzPct val="100000"/>
              <a:buChar char="•"/>
            </a:pPr>
            <a:r>
              <a:rPr lang="en-US" sz="1800" i="1" dirty="0">
                <a:solidFill>
                  <a:schemeClr val="tx1"/>
                </a:solidFill>
              </a:rPr>
              <a:t>door</a:t>
            </a:r>
            <a:r>
              <a:rPr lang="en-US" sz="1800" dirty="0">
                <a:solidFill>
                  <a:schemeClr val="tx1"/>
                </a:solidFill>
              </a:rPr>
              <a:t> + acteur : </a:t>
            </a:r>
            <a:r>
              <a:rPr lang="en-US" sz="1800" b="1" dirty="0">
                <a:solidFill>
                  <a:schemeClr val="tx1"/>
                </a:solidFill>
              </a:rPr>
              <a:t>facultatif</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 Herschrijf het droge verslag</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22</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23088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NOTES DE CHANTIER</a:t>
            </a:r>
            <a:endParaRPr lang="en-US" sz="1200" dirty="0"/>
          </a:p>
        </p:txBody>
      </p:sp>
      <p:sp>
        <p:nvSpPr>
          <p:cNvPr id="8" name="Text 5"/>
          <p:cNvSpPr txBox="1"/>
          <p:nvPr/>
        </p:nvSpPr>
        <p:spPr>
          <a:xfrm>
            <a:off x="3314700" y="1609344"/>
            <a:ext cx="454914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Style « palier 1 »</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dirty="0">
                <a:solidFill>
                  <a:schemeClr val="tx1"/>
                </a:solidFill>
              </a:rPr>
              <a:t>De loodgieter kwam maandag. Hij vond het probleem. De leiding is oud. Hij herstelde het lek. Hij maakte foto’s. Hij zei iets: de muur moet drogen. Dat duurt twee weken. Dan schildert iemand de muur. De verzekering betaalt misschien. Wij wachten op het antwoord.</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1">
              <a:alpha val="10000"/>
            </a:schemeClr>
          </a:solidFill>
          <a:ln w="12700">
            <a:solidFill>
              <a:schemeClr val="accent1">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1"/>
                </a:solidFill>
              </a:rPr>
              <a:t>À FAIRE · 10 MIN</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Un </a:t>
            </a:r>
            <a:r>
              <a:rPr lang="en-US" sz="1800" b="1" dirty="0">
                <a:solidFill>
                  <a:schemeClr val="tx1"/>
                </a:solidFill>
              </a:rPr>
              <a:t>paragraphe</a:t>
            </a:r>
            <a:r>
              <a:rPr lang="en-US" sz="1800" dirty="0">
                <a:solidFill>
                  <a:schemeClr val="tx1"/>
                </a:solidFill>
              </a:rPr>
              <a:t> de </a:t>
            </a:r>
            <a:r>
              <a:rPr lang="en-US" sz="1800" b="1" dirty="0">
                <a:solidFill>
                  <a:schemeClr val="tx1"/>
                </a:solidFill>
              </a:rPr>
              <a:t>5 à 6 phrases</a:t>
            </a:r>
            <a:endParaRPr lang="en-US" sz="1800" dirty="0"/>
          </a:p>
          <a:p>
            <a:pPr marL="177800" indent="-177800">
              <a:spcAft>
                <a:spcPts val="600"/>
              </a:spcAft>
              <a:buSzPct val="100000"/>
              <a:buChar char="•"/>
            </a:pPr>
            <a:r>
              <a:rPr lang="en-US" sz="1800" b="1" dirty="0">
                <a:solidFill>
                  <a:schemeClr val="tx1"/>
                </a:solidFill>
              </a:rPr>
              <a:t>2 passifs</a:t>
            </a:r>
            <a:r>
              <a:rPr lang="en-US" sz="1800" dirty="0">
                <a:solidFill>
                  <a:schemeClr val="tx1"/>
                </a:solidFill>
              </a:rPr>
              <a:t> au moins</a:t>
            </a:r>
            <a:endParaRPr lang="en-US" sz="1800" dirty="0"/>
          </a:p>
          <a:p>
            <a:pPr marL="177800" indent="-177800">
              <a:spcAft>
                <a:spcPts val="600"/>
              </a:spcAft>
              <a:buSzPct val="100000"/>
              <a:buChar char="•"/>
            </a:pPr>
            <a:r>
              <a:rPr lang="en-US" sz="1800" b="1" dirty="0">
                <a:solidFill>
                  <a:schemeClr val="tx1"/>
                </a:solidFill>
              </a:rPr>
              <a:t>1 discours indirect</a:t>
            </a:r>
            <a:endParaRPr lang="en-US" sz="1800" dirty="0"/>
          </a:p>
          <a:p>
            <a:pPr marL="177800" indent="-177800">
              <a:spcAft>
                <a:spcPts val="600"/>
              </a:spcAft>
              <a:buSzPct val="100000"/>
              <a:buChar char="•"/>
            </a:pPr>
            <a:r>
              <a:rPr lang="en-US" sz="1800" b="1" dirty="0">
                <a:solidFill>
                  <a:schemeClr val="tx1"/>
                </a:solidFill>
              </a:rPr>
              <a:t>1 zou</a:t>
            </a:r>
            <a:endParaRPr lang="en-US" sz="1800" dirty="0"/>
          </a:p>
          <a:p>
            <a:pPr marL="177800" indent="-177800">
              <a:spcAft>
                <a:spcPts val="600"/>
              </a:spcAft>
              <a:buSzPct val="100000"/>
              <a:buChar char="•"/>
            </a:pPr>
            <a:r>
              <a:rPr lang="en-US" sz="1800" b="1" dirty="0">
                <a:solidFill>
                  <a:schemeClr val="tx1"/>
                </a:solidFill>
              </a:rPr>
              <a:t>1 connecteur</a:t>
            </a:r>
            <a:r>
              <a:rPr lang="en-US" sz="1800" dirty="0">
                <a:solidFill>
                  <a:schemeClr val="tx1"/>
                </a:solidFill>
              </a:rPr>
              <a:t> (</a:t>
            </a:r>
            <a:r>
              <a:rPr lang="en-US" sz="1800" i="1" dirty="0">
                <a:solidFill>
                  <a:schemeClr val="tx1"/>
                </a:solidFill>
              </a:rPr>
              <a:t>daarna · kortom</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 Herschrijf het droge verslag : un modèle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22</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566928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Verslag : de lekkage Waversesteenweg</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dirty="0">
                <a:solidFill>
                  <a:schemeClr val="tx1"/>
                </a:solidFill>
              </a:rPr>
              <a:t>Maandag kwam de loodgieter langs en het probleem </a:t>
            </a:r>
            <a:r>
              <a:rPr lang="en-US" sz="2100" b="1" dirty="0">
                <a:solidFill>
                  <a:schemeClr val="tx1"/>
                </a:solidFill>
              </a:rPr>
              <a:t>werd</a:t>
            </a:r>
            <a:r>
              <a:rPr lang="en-US" sz="2100" dirty="0">
                <a:solidFill>
                  <a:schemeClr val="tx1"/>
                </a:solidFill>
              </a:rPr>
              <a:t> snel </a:t>
            </a:r>
            <a:r>
              <a:rPr lang="en-US" sz="2100" b="1" dirty="0">
                <a:solidFill>
                  <a:schemeClr val="tx1"/>
                </a:solidFill>
              </a:rPr>
              <a:t>gevonden</a:t>
            </a:r>
            <a:r>
              <a:rPr lang="en-US" sz="2100" dirty="0">
                <a:solidFill>
                  <a:schemeClr val="tx1"/>
                </a:solidFill>
              </a:rPr>
              <a:t>: de leiding is oud. Het lek </a:t>
            </a:r>
            <a:r>
              <a:rPr lang="en-US" sz="2100" b="1" dirty="0">
                <a:solidFill>
                  <a:schemeClr val="tx1"/>
                </a:solidFill>
              </a:rPr>
              <a:t>werd</a:t>
            </a:r>
            <a:r>
              <a:rPr lang="en-US" sz="2100" dirty="0">
                <a:solidFill>
                  <a:schemeClr val="tx1"/>
                </a:solidFill>
              </a:rPr>
              <a:t> onmiddellijk </a:t>
            </a:r>
            <a:r>
              <a:rPr lang="en-US" sz="2100" b="1" dirty="0">
                <a:solidFill>
                  <a:schemeClr val="tx1"/>
                </a:solidFill>
              </a:rPr>
              <a:t>hersteld</a:t>
            </a:r>
            <a:r>
              <a:rPr lang="en-US" sz="2100" dirty="0">
                <a:solidFill>
                  <a:schemeClr val="tx1"/>
                </a:solidFill>
              </a:rPr>
              <a:t> en er </a:t>
            </a:r>
            <a:r>
              <a:rPr lang="en-US" sz="2100" b="1" dirty="0">
                <a:solidFill>
                  <a:schemeClr val="tx1"/>
                </a:solidFill>
              </a:rPr>
              <a:t>werden</a:t>
            </a:r>
            <a:r>
              <a:rPr lang="en-US" sz="2100" dirty="0">
                <a:solidFill>
                  <a:schemeClr val="tx1"/>
                </a:solidFill>
              </a:rPr>
              <a:t> foto’s </a:t>
            </a:r>
            <a:r>
              <a:rPr lang="en-US" sz="2100" b="1" dirty="0">
                <a:solidFill>
                  <a:schemeClr val="tx1"/>
                </a:solidFill>
              </a:rPr>
              <a:t>gemaakt</a:t>
            </a:r>
            <a:r>
              <a:rPr lang="en-US" sz="2100" dirty="0">
                <a:solidFill>
                  <a:schemeClr val="tx1"/>
                </a:solidFill>
              </a:rPr>
              <a:t>.</a:t>
            </a:r>
            <a:endParaRPr lang="en-US" sz="2100" dirty="0"/>
          </a:p>
          <a:p>
            <a:pPr indent="0" marL="0">
              <a:spcAft>
                <a:spcPts val="800"/>
              </a:spcAft>
              <a:buNone/>
            </a:pPr>
            <a:r>
              <a:rPr lang="en-US" sz="2100" dirty="0">
                <a:solidFill>
                  <a:schemeClr val="tx1"/>
                </a:solidFill>
              </a:rPr>
              <a:t>De loodgieter </a:t>
            </a:r>
            <a:r>
              <a:rPr lang="en-US" sz="2100" b="1" dirty="0">
                <a:solidFill>
                  <a:schemeClr val="tx1"/>
                </a:solidFill>
              </a:rPr>
              <a:t>zei dat</a:t>
            </a:r>
            <a:r>
              <a:rPr lang="en-US" sz="2100" dirty="0">
                <a:solidFill>
                  <a:schemeClr val="tx1"/>
                </a:solidFill>
              </a:rPr>
              <a:t> de muur twee weken </a:t>
            </a:r>
            <a:r>
              <a:rPr lang="en-US" sz="2100" b="1" dirty="0">
                <a:solidFill>
                  <a:schemeClr val="tx1"/>
                </a:solidFill>
              </a:rPr>
              <a:t>moest</a:t>
            </a:r>
            <a:r>
              <a:rPr lang="en-US" sz="2100" dirty="0">
                <a:solidFill>
                  <a:schemeClr val="tx1"/>
                </a:solidFill>
              </a:rPr>
              <a:t> drogen. </a:t>
            </a:r>
            <a:r>
              <a:rPr lang="en-US" sz="2100" b="1" dirty="0">
                <a:solidFill>
                  <a:schemeClr val="tx1"/>
                </a:solidFill>
              </a:rPr>
              <a:t>Daarna wordt</a:t>
            </a:r>
            <a:r>
              <a:rPr lang="en-US" sz="2100" dirty="0">
                <a:solidFill>
                  <a:schemeClr val="tx1"/>
                </a:solidFill>
              </a:rPr>
              <a:t> de muur </a:t>
            </a:r>
            <a:r>
              <a:rPr lang="en-US" sz="2100" b="1" dirty="0">
                <a:solidFill>
                  <a:schemeClr val="tx1"/>
                </a:solidFill>
              </a:rPr>
              <a:t>geschilderd</a:t>
            </a:r>
            <a:r>
              <a:rPr lang="en-US" sz="2100" dirty="0">
                <a:solidFill>
                  <a:schemeClr val="tx1"/>
                </a:solidFill>
              </a:rPr>
              <a:t>.</a:t>
            </a:r>
            <a:endParaRPr lang="en-US" sz="2100" dirty="0"/>
          </a:p>
          <a:p>
            <a:pPr indent="0" marL="0">
              <a:spcAft>
                <a:spcPts val="800"/>
              </a:spcAft>
              <a:buNone/>
            </a:pPr>
            <a:r>
              <a:rPr lang="en-US" sz="2100" dirty="0">
                <a:solidFill>
                  <a:schemeClr val="tx1"/>
                </a:solidFill>
              </a:rPr>
              <a:t>De kosten </a:t>
            </a:r>
            <a:r>
              <a:rPr lang="en-US" sz="2100" b="1" dirty="0">
                <a:solidFill>
                  <a:schemeClr val="tx1"/>
                </a:solidFill>
              </a:rPr>
              <a:t>worden</a:t>
            </a:r>
            <a:r>
              <a:rPr lang="en-US" sz="2100" dirty="0">
                <a:solidFill>
                  <a:schemeClr val="tx1"/>
                </a:solidFill>
              </a:rPr>
              <a:t> misschien door de verzekering </a:t>
            </a:r>
            <a:r>
              <a:rPr lang="en-US" sz="2100" b="1" dirty="0">
                <a:solidFill>
                  <a:schemeClr val="tx1"/>
                </a:solidFill>
              </a:rPr>
              <a:t>betaald</a:t>
            </a:r>
            <a:r>
              <a:rPr lang="en-US" sz="2100" dirty="0">
                <a:solidFill>
                  <a:schemeClr val="tx1"/>
                </a:solidFill>
              </a:rPr>
              <a:t>, maar wij wachten nog op het antwoord. </a:t>
            </a:r>
            <a:r>
              <a:rPr lang="en-US" sz="2100" b="1" dirty="0">
                <a:solidFill>
                  <a:schemeClr val="tx1"/>
                </a:solidFill>
              </a:rPr>
              <a:t>Kortom</a:t>
            </a:r>
            <a:r>
              <a:rPr lang="en-US" sz="2100" dirty="0">
                <a:solidFill>
                  <a:schemeClr val="tx1"/>
                </a:solidFill>
              </a:rPr>
              <a:t>: ik </a:t>
            </a:r>
            <a:r>
              <a:rPr lang="en-US" sz="2100" b="1" dirty="0">
                <a:solidFill>
                  <a:schemeClr val="tx1"/>
                </a:solidFill>
              </a:rPr>
              <a:t>zou</a:t>
            </a:r>
            <a:r>
              <a:rPr lang="en-US" sz="2100" dirty="0">
                <a:solidFill>
                  <a:schemeClr val="tx1"/>
                </a:solidFill>
              </a:rPr>
              <a:t> de eigenaar </a:t>
            </a:r>
            <a:r>
              <a:rPr lang="en-US" sz="2100" b="1" dirty="0">
                <a:solidFill>
                  <a:schemeClr val="tx1"/>
                </a:solidFill>
              </a:rPr>
              <a:t>aanraden</a:t>
            </a:r>
            <a:r>
              <a:rPr lang="en-US" sz="2100" dirty="0">
                <a:solidFill>
                  <a:schemeClr val="tx1"/>
                </a:solidFill>
              </a:rPr>
              <a:t> om de verzekering te contacteren.</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3">
              <a:alpha val="10000"/>
            </a:schemeClr>
          </a:solidFill>
          <a:ln w="12700">
            <a:solidFill>
              <a:schemeClr val="accent3">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À VÉRIFIER</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5 passifs</a:t>
            </a:r>
            <a:r>
              <a:rPr lang="en-US" sz="1800" dirty="0">
                <a:solidFill>
                  <a:schemeClr val="tx1"/>
                </a:solidFill>
              </a:rPr>
              <a:t> : werd gevonden · werd hersteld · werden gemaakt · wordt geschilderd · worden betaald</a:t>
            </a:r>
            <a:endParaRPr lang="en-US" sz="1800" dirty="0"/>
          </a:p>
          <a:p>
            <a:pPr marL="177800" indent="-177800">
              <a:spcAft>
                <a:spcPts val="600"/>
              </a:spcAft>
              <a:buSzPct val="100000"/>
              <a:buChar char="•"/>
            </a:pPr>
            <a:r>
              <a:rPr lang="en-US" sz="1800" b="1" dirty="0">
                <a:solidFill>
                  <a:schemeClr val="tx1"/>
                </a:solidFill>
              </a:rPr>
              <a:t>Discours indirect</a:t>
            </a:r>
            <a:r>
              <a:rPr lang="en-US" sz="1800" dirty="0">
                <a:solidFill>
                  <a:schemeClr val="tx1"/>
                </a:solidFill>
              </a:rPr>
              <a:t> : zei dat … moest</a:t>
            </a:r>
            <a:endParaRPr lang="en-US" sz="1800" dirty="0"/>
          </a:p>
          <a:p>
            <a:pPr marL="177800" indent="-177800">
              <a:spcAft>
                <a:spcPts val="600"/>
              </a:spcAft>
              <a:buSzPct val="100000"/>
              <a:buChar char="•"/>
            </a:pPr>
            <a:r>
              <a:rPr lang="en-US" sz="1800" b="1" dirty="0">
                <a:solidFill>
                  <a:schemeClr val="tx1"/>
                </a:solidFill>
              </a:rPr>
              <a:t>Zou</a:t>
            </a:r>
            <a:r>
              <a:rPr lang="en-US" sz="1800" dirty="0">
                <a:solidFill>
                  <a:schemeClr val="tx1"/>
                </a:solidFill>
              </a:rPr>
              <a:t> : zou aanraden</a:t>
            </a:r>
            <a:endParaRPr lang="en-US" sz="1800" dirty="0"/>
          </a:p>
          <a:p>
            <a:pPr marL="177800" indent="-177800">
              <a:spcAft>
                <a:spcPts val="600"/>
              </a:spcAft>
              <a:buSzPct val="100000"/>
              <a:buChar char="•"/>
            </a:pPr>
            <a:r>
              <a:rPr lang="en-US" sz="1800" b="1" dirty="0">
                <a:solidFill>
                  <a:schemeClr val="tx1"/>
                </a:solidFill>
              </a:rPr>
              <a:t>Connecteurs</a:t>
            </a:r>
            <a:r>
              <a:rPr lang="en-US" sz="1800" dirty="0">
                <a:solidFill>
                  <a:schemeClr val="tx1"/>
                </a:solidFill>
              </a:rPr>
              <a:t> : daarna · kortom</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5: het telefoontje van de oplossing</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23</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Vous appelez le locataire pour annoncer les décisions. </a:t>
            </a:r>
            <a:r>
              <a:rPr lang="en-US" sz="1800" b="1" dirty="0">
                <a:solidFill>
                  <a:schemeClr val="tx1"/>
                </a:solidFill>
              </a:rPr>
              <a:t>2 rondes de 5 minutes</a:t>
            </a:r>
            <a:r>
              <a:rPr lang="en-US" sz="1800" dirty="0">
                <a:solidFill>
                  <a:schemeClr val="tx1"/>
                </a:solidFill>
              </a:rPr>
              <a:t>, rôles inversés. L’observateur coche : passifs corrects (</a:t>
            </a:r>
            <a:r>
              <a:rPr lang="en-US" sz="1800" i="1" dirty="0">
                <a:solidFill>
                  <a:schemeClr val="tx1"/>
                </a:solidFill>
              </a:rPr>
              <a:t>wordt · werd · is</a:t>
            </a:r>
            <a:r>
              <a:rPr lang="en-US" sz="1800" dirty="0">
                <a:solidFill>
                  <a:schemeClr val="tx1"/>
                </a:solidFill>
              </a:rPr>
              <a:t> + participe) · distinction </a:t>
            </a:r>
            <a:r>
              <a:rPr lang="en-US" sz="1800" b="1" dirty="0">
                <a:solidFill>
                  <a:schemeClr val="tx1"/>
                </a:solidFill>
              </a:rPr>
              <a:t>processus / résultat</a:t>
            </a:r>
            <a:r>
              <a:rPr lang="en-US" sz="1800" dirty="0">
                <a:solidFill>
                  <a:schemeClr val="tx1"/>
                </a:solidFill>
              </a:rPr>
              <a:t> · condition posée.</a:t>
            </a:r>
            <a:endParaRPr lang="en-US" sz="1800" dirty="0"/>
          </a:p>
        </p:txBody>
      </p:sp>
      <p:sp>
        <p:nvSpPr>
          <p:cNvPr id="7" name="Shape 4"/>
          <p:cNvSpPr/>
          <p:nvPr/>
        </p:nvSpPr>
        <p:spPr>
          <a:xfrm>
            <a:off x="548640" y="2221992"/>
            <a:ext cx="5225796" cy="3182112"/>
          </a:xfrm>
          <a:prstGeom prst="roundRect">
            <a:avLst>
              <a:gd name="adj" fmla="val 2874"/>
            </a:avLst>
          </a:prstGeom>
          <a:solidFill>
            <a:schemeClr val="accent1">
              <a:alpha val="8000"/>
            </a:schemeClr>
          </a:solidFill>
          <a:ln w="15875">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777240" y="2423160"/>
            <a:ext cx="384048" cy="384048"/>
          </a:xfrm>
          <a:prstGeom prst="rect">
            <a:avLst/>
          </a:prstGeom>
        </p:spPr>
      </p:pic>
      <p:sp>
        <p:nvSpPr>
          <p:cNvPr id="9" name="Text 5"/>
          <p:cNvSpPr txBox="1"/>
          <p:nvPr/>
        </p:nvSpPr>
        <p:spPr>
          <a:xfrm>
            <a:off x="1280160" y="235915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A — De makelaar (u-vorm !)</a:t>
            </a:r>
            <a:endParaRPr lang="en-US" sz="2000" dirty="0"/>
          </a:p>
        </p:txBody>
      </p:sp>
      <p:sp>
        <p:nvSpPr>
          <p:cNvPr id="10" name="Text 6"/>
          <p:cNvSpPr txBox="1"/>
          <p:nvPr/>
        </p:nvSpPr>
        <p:spPr>
          <a:xfrm>
            <a:off x="777240" y="3044952"/>
            <a:ext cx="4768596" cy="2221992"/>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Fait</a:t>
            </a:r>
            <a:r>
              <a:rPr lang="en-US" sz="1500" dirty="0">
                <a:solidFill>
                  <a:schemeClr val="tx1"/>
                </a:solidFill>
              </a:rPr>
              <a:t> : </a:t>
            </a:r>
            <a:r>
              <a:rPr lang="en-US" sz="1500" i="1" dirty="0">
                <a:solidFill>
                  <a:schemeClr val="tx1"/>
                </a:solidFill>
              </a:rPr>
              <a:t>Het lek is hersteld.</a:t>
            </a:r>
            <a:endParaRPr lang="en-US" sz="1500" dirty="0"/>
          </a:p>
          <a:p>
            <a:pPr marL="203200" indent="-203200">
              <a:spcAft>
                <a:spcPts val="800"/>
              </a:spcAft>
              <a:buSzPct val="100000"/>
              <a:buChar char="•"/>
            </a:pPr>
            <a:r>
              <a:rPr lang="en-US" sz="1500" b="1" dirty="0">
                <a:solidFill>
                  <a:schemeClr val="tx1"/>
                </a:solidFill>
              </a:rPr>
              <a:t>En cours</a:t>
            </a:r>
            <a:r>
              <a:rPr lang="en-US" sz="1500" dirty="0">
                <a:solidFill>
                  <a:schemeClr val="tx1"/>
                </a:solidFill>
              </a:rPr>
              <a:t> : </a:t>
            </a:r>
            <a:r>
              <a:rPr lang="en-US" sz="1500" i="1" dirty="0">
                <a:solidFill>
                  <a:schemeClr val="tx1"/>
                </a:solidFill>
              </a:rPr>
              <a:t>De muur wordt volgende week geschilderd.</a:t>
            </a:r>
            <a:endParaRPr lang="en-US" sz="1500" dirty="0"/>
          </a:p>
          <a:p>
            <a:pPr marL="203200" indent="-203200">
              <a:spcAft>
                <a:spcPts val="800"/>
              </a:spcAft>
              <a:buSzPct val="100000"/>
              <a:buChar char="•"/>
            </a:pPr>
            <a:r>
              <a:rPr lang="en-US" sz="1500" b="1" dirty="0">
                <a:solidFill>
                  <a:schemeClr val="tx1"/>
                </a:solidFill>
              </a:rPr>
              <a:t>Qui paie</a:t>
            </a:r>
            <a:r>
              <a:rPr lang="en-US" sz="1500" dirty="0">
                <a:solidFill>
                  <a:schemeClr val="tx1"/>
                </a:solidFill>
              </a:rPr>
              <a:t> : </a:t>
            </a:r>
            <a:r>
              <a:rPr lang="en-US" sz="1500" i="1" dirty="0">
                <a:solidFill>
                  <a:schemeClr val="tx1"/>
                </a:solidFill>
              </a:rPr>
              <a:t>De kosten worden door … betaald, tenzij de verzekering weigert.</a:t>
            </a:r>
            <a:endParaRPr lang="en-US" sz="1500" dirty="0"/>
          </a:p>
          <a:p>
            <a:pPr marL="203200" indent="-203200">
              <a:spcAft>
                <a:spcPts val="800"/>
              </a:spcAft>
              <a:buSzPct val="100000"/>
              <a:buChar char="•"/>
            </a:pPr>
            <a:r>
              <a:rPr lang="en-US" sz="1500" dirty="0">
                <a:solidFill>
                  <a:schemeClr val="tx1"/>
                </a:solidFill>
              </a:rPr>
              <a:t>Terminez par une </a:t>
            </a:r>
            <a:r>
              <a:rPr lang="en-US" sz="1500" b="1" dirty="0">
                <a:solidFill>
                  <a:schemeClr val="tx1"/>
                </a:solidFill>
              </a:rPr>
              <a:t>demande polie</a:t>
            </a:r>
            <a:r>
              <a:rPr lang="en-US" sz="1500" dirty="0">
                <a:solidFill>
                  <a:schemeClr val="tx1"/>
                </a:solidFill>
              </a:rPr>
              <a:t> avec zou</a:t>
            </a:r>
            <a:endParaRPr lang="en-US" sz="1500" dirty="0"/>
          </a:p>
          <a:p>
            <a:pPr marL="203200" indent="-203200">
              <a:spcAft>
                <a:spcPts val="800"/>
              </a:spcAft>
              <a:buSzPct val="100000"/>
              <a:buChar char="•"/>
            </a:pPr>
            <a:r>
              <a:rPr lang="en-US" sz="1500" dirty="0">
                <a:solidFill>
                  <a:schemeClr val="tx1"/>
                </a:solidFill>
              </a:rPr>
              <a:t>Imprévu : réduction de loyer demandée → ne promettez rien</a:t>
            </a:r>
            <a:endParaRPr lang="en-US" sz="1500" dirty="0"/>
          </a:p>
        </p:txBody>
      </p:sp>
      <p:sp>
        <p:nvSpPr>
          <p:cNvPr id="11" name="Shape 7"/>
          <p:cNvSpPr/>
          <p:nvPr/>
        </p:nvSpPr>
        <p:spPr>
          <a:xfrm>
            <a:off x="6414516" y="2221992"/>
            <a:ext cx="5225796" cy="3182112"/>
          </a:xfrm>
          <a:prstGeom prst="roundRect">
            <a:avLst>
              <a:gd name="adj" fmla="val 2874"/>
            </a:avLst>
          </a:prstGeom>
          <a:solidFill>
            <a:schemeClr val="accent2">
              <a:alpha val="8000"/>
            </a:schemeClr>
          </a:solidFill>
          <a:ln w="15875">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6643116" y="2423160"/>
            <a:ext cx="384048" cy="384048"/>
          </a:xfrm>
          <a:prstGeom prst="rect">
            <a:avLst/>
          </a:prstGeom>
        </p:spPr>
      </p:pic>
      <p:sp>
        <p:nvSpPr>
          <p:cNvPr id="13" name="Text 8"/>
          <p:cNvSpPr txBox="1"/>
          <p:nvPr/>
        </p:nvSpPr>
        <p:spPr>
          <a:xfrm>
            <a:off x="7146036" y="235915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ROL B — Meneer De Smet</a:t>
            </a:r>
            <a:endParaRPr lang="en-US" sz="2000" dirty="0"/>
          </a:p>
        </p:txBody>
      </p:sp>
      <p:sp>
        <p:nvSpPr>
          <p:cNvPr id="14" name="Text 9"/>
          <p:cNvSpPr txBox="1"/>
          <p:nvPr/>
        </p:nvSpPr>
        <p:spPr>
          <a:xfrm>
            <a:off x="6643116" y="3044952"/>
            <a:ext cx="4768596" cy="2221992"/>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Soulagé mais exigeant</a:t>
            </a:r>
            <a:endParaRPr lang="en-US" sz="1500" dirty="0"/>
          </a:p>
          <a:p>
            <a:pPr marL="203200" indent="-203200">
              <a:spcAft>
                <a:spcPts val="800"/>
              </a:spcAft>
              <a:buSzPct val="100000"/>
              <a:buChar char="•"/>
            </a:pPr>
            <a:r>
              <a:rPr lang="en-US" sz="1500" b="1" dirty="0">
                <a:solidFill>
                  <a:schemeClr val="tx1"/>
                </a:solidFill>
              </a:rPr>
              <a:t>3 questions</a:t>
            </a:r>
            <a:r>
              <a:rPr lang="en-US" sz="1500" dirty="0">
                <a:solidFill>
                  <a:schemeClr val="tx1"/>
                </a:solidFill>
              </a:rPr>
              <a:t> : </a:t>
            </a:r>
            <a:r>
              <a:rPr lang="en-US" sz="1500" i="1" dirty="0">
                <a:solidFill>
                  <a:schemeClr val="tx1"/>
                </a:solidFill>
              </a:rPr>
              <a:t>Wanneer wordt de muur geschilderd? Wordt dat door mij betaald? Zou ik een vergoeding kunnen krijgen?</a:t>
            </a:r>
            <a:endParaRPr lang="en-US" sz="1500" dirty="0"/>
          </a:p>
          <a:p>
            <a:pPr marL="203200" indent="-203200">
              <a:spcAft>
                <a:spcPts val="800"/>
              </a:spcAft>
              <a:buSzPct val="100000"/>
              <a:buChar char="•"/>
            </a:pPr>
            <a:r>
              <a:rPr lang="en-US" sz="1500" dirty="0">
                <a:solidFill>
                  <a:schemeClr val="tx1"/>
                </a:solidFill>
              </a:rPr>
              <a:t>Cartes : ① pressé (famille samedi) · ② méfiant (tout par écrit) · ③ accommodant mais bavard</a:t>
            </a:r>
            <a:endParaRPr lang="en-US" sz="1500" dirty="0"/>
          </a:p>
        </p:txBody>
      </p:sp>
      <p:sp>
        <p:nvSpPr>
          <p:cNvPr id="15" name="Shape 10"/>
          <p:cNvSpPr/>
          <p:nvPr/>
        </p:nvSpPr>
        <p:spPr>
          <a:xfrm>
            <a:off x="5838444" y="3557016"/>
            <a:ext cx="512064" cy="512064"/>
          </a:xfrm>
          <a:prstGeom prst="ellipse">
            <a:avLst/>
          </a:prstGeom>
          <a:solidFill>
            <a:schemeClr val="tx2"/>
          </a:solidFill>
          <a:ln/>
        </p:spPr>
      </p:sp>
      <p:sp>
        <p:nvSpPr>
          <p:cNvPr id="16" name="Text 11"/>
          <p:cNvSpPr txBox="1"/>
          <p:nvPr/>
        </p:nvSpPr>
        <p:spPr>
          <a:xfrm>
            <a:off x="5838444" y="3557016"/>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17" name="Shape 12"/>
          <p:cNvSpPr/>
          <p:nvPr/>
        </p:nvSpPr>
        <p:spPr>
          <a:xfrm>
            <a:off x="548640" y="5605272"/>
            <a:ext cx="11091672" cy="685800"/>
          </a:xfrm>
          <a:prstGeom prst="roundRect">
            <a:avLst>
              <a:gd name="adj" fmla="val 10667"/>
            </a:avLst>
          </a:prstGeom>
          <a:solidFill>
            <a:schemeClr val="accent2">
              <a:alpha val="10000"/>
            </a:schemeClr>
          </a:solidFill>
          <a:ln w="9525">
            <a:solidFill>
              <a:schemeClr val="accent2">
                <a:alpha val="70000"/>
              </a:schemeClr>
            </a:solidFill>
            <a:prstDash val="solid"/>
          </a:ln>
        </p:spPr>
      </p:sp>
      <p:pic>
        <p:nvPicPr>
          <p:cNvPr id="18" name="Image 2" descr="preencoded.png">    </p:cNvPr>
          <p:cNvPicPr>
            <a:picLocks noChangeAspect="1"/>
          </p:cNvPicPr>
          <p:nvPr/>
        </p:nvPicPr>
        <p:blipFill>
          <a:blip r:embed="rId3"/>
          <a:stretch>
            <a:fillRect/>
          </a:stretch>
        </p:blipFill>
        <p:spPr>
          <a:xfrm>
            <a:off x="749808" y="5783580"/>
            <a:ext cx="329184" cy="329184"/>
          </a:xfrm>
          <a:prstGeom prst="rect">
            <a:avLst/>
          </a:prstGeom>
        </p:spPr>
      </p:pic>
      <p:sp>
        <p:nvSpPr>
          <p:cNvPr id="19" name="Text 13"/>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2"/>
                </a:solidFill>
              </a:rPr>
              <a:t>Imprévu — </a:t>
            </a:r>
            <a:r>
              <a:rPr lang="en-US" sz="1700" i="1" dirty="0">
                <a:solidFill>
                  <a:schemeClr val="tx1"/>
                </a:solidFill>
              </a:rPr>
              <a:t>Dat zou mogelijk zijn, maar daarover beslist de eigenaar. Ik leg het haar voor.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5 : fait, en cours, qui paie ?</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23</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7205472" cy="3625830"/>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8074152" y="1481328"/>
            <a:ext cx="3566160" cy="4809744"/>
          </a:xfrm>
          <a:prstGeom prst="roundRect">
            <a:avLst>
              <a:gd name="adj" fmla="val 2051"/>
            </a:avLst>
          </a:prstGeom>
          <a:solidFill>
            <a:schemeClr val="accent1">
              <a:alpha val="10000"/>
            </a:schemeClr>
          </a:solidFill>
          <a:ln w="12700">
            <a:solidFill>
              <a:schemeClr val="accent1">
                <a:alpha val="60000"/>
              </a:schemeClr>
            </a:solidFill>
            <a:prstDash val="solid"/>
          </a:ln>
        </p:spPr>
      </p:sp>
      <p:pic>
        <p:nvPicPr>
          <p:cNvPr id="8" name="Image 1" descr="preencoded.png">    </p:cNvPr>
          <p:cNvPicPr>
            <a:picLocks noChangeAspect="1"/>
          </p:cNvPicPr>
          <p:nvPr/>
        </p:nvPicPr>
        <p:blipFill>
          <a:blip r:embed="rId2"/>
          <a:stretch>
            <a:fillRect/>
          </a:stretch>
        </p:blipFill>
        <p:spPr>
          <a:xfrm>
            <a:off x="8257032" y="1664208"/>
            <a:ext cx="292608" cy="292608"/>
          </a:xfrm>
          <a:prstGeom prst="rect">
            <a:avLst/>
          </a:prstGeom>
        </p:spPr>
      </p:pic>
      <p:sp>
        <p:nvSpPr>
          <p:cNvPr id="9" name="Text 4"/>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1"/>
                </a:solidFill>
              </a:rPr>
              <a:t>PHRASES-MODÈLES</a:t>
            </a:r>
            <a:endParaRPr lang="en-US" sz="1400" dirty="0"/>
          </a:p>
        </p:txBody>
      </p:sp>
      <p:sp>
        <p:nvSpPr>
          <p:cNvPr id="10" name="Text 5"/>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Gedaan</a:t>
            </a:r>
            <a:r>
              <a:rPr lang="en-US" sz="1800" dirty="0">
                <a:solidFill>
                  <a:schemeClr val="tx1"/>
                </a:solidFill>
              </a:rPr>
              <a:t> : </a:t>
            </a:r>
            <a:r>
              <a:rPr lang="en-US" sz="1800" i="1" dirty="0">
                <a:solidFill>
                  <a:schemeClr val="tx1"/>
                </a:solidFill>
              </a:rPr>
              <a:t>Het lek is hersteld.</a:t>
            </a:r>
            <a:endParaRPr lang="en-US" sz="1800" dirty="0"/>
          </a:p>
          <a:p>
            <a:pPr marL="177800" indent="-177800">
              <a:spcAft>
                <a:spcPts val="600"/>
              </a:spcAft>
              <a:buSzPct val="100000"/>
              <a:buChar char="•"/>
            </a:pPr>
            <a:r>
              <a:rPr lang="en-US" sz="1800" b="1" dirty="0">
                <a:solidFill>
                  <a:schemeClr val="tx1"/>
                </a:solidFill>
              </a:rPr>
              <a:t>Bezig</a:t>
            </a:r>
            <a:r>
              <a:rPr lang="en-US" sz="1800" dirty="0">
                <a:solidFill>
                  <a:schemeClr val="tx1"/>
                </a:solidFill>
              </a:rPr>
              <a:t> : </a:t>
            </a:r>
            <a:r>
              <a:rPr lang="en-US" sz="1800" i="1" dirty="0">
                <a:solidFill>
                  <a:schemeClr val="tx1"/>
                </a:solidFill>
              </a:rPr>
              <a:t>De muur wordt volgende week geschilderd.</a:t>
            </a:r>
            <a:endParaRPr lang="en-US" sz="1800" dirty="0"/>
          </a:p>
          <a:p>
            <a:pPr marL="177800" indent="-177800">
              <a:spcAft>
                <a:spcPts val="600"/>
              </a:spcAft>
              <a:buSzPct val="100000"/>
              <a:buChar char="•"/>
            </a:pPr>
            <a:r>
              <a:rPr lang="en-US" sz="1800" b="1" dirty="0">
                <a:solidFill>
                  <a:schemeClr val="tx1"/>
                </a:solidFill>
              </a:rPr>
              <a:t>Wie betaalt ?</a:t>
            </a:r>
            <a:r>
              <a:rPr lang="en-US" sz="1800" dirty="0">
                <a:solidFill>
                  <a:schemeClr val="tx1"/>
                </a:solidFill>
              </a:rPr>
              <a:t> : </a:t>
            </a:r>
            <a:r>
              <a:rPr lang="en-US" sz="1800" i="1" dirty="0">
                <a:solidFill>
                  <a:schemeClr val="tx1"/>
                </a:solidFill>
              </a:rPr>
              <a:t>De kosten worden door de eigenaar betaald, tenzij de verzekering weigert.</a:t>
            </a:r>
            <a:endParaRPr lang="en-US" sz="1800" dirty="0"/>
          </a:p>
          <a:p>
            <a:pPr marL="177800" indent="-177800">
              <a:spcAft>
                <a:spcPts val="600"/>
              </a:spcAft>
              <a:buSzPct val="100000"/>
              <a:buChar char="•"/>
            </a:pPr>
            <a:r>
              <a:rPr lang="en-US" sz="1800" dirty="0">
                <a:solidFill>
                  <a:schemeClr val="tx1"/>
                </a:solidFill>
              </a:rPr>
              <a:t>Demande polie : </a:t>
            </a:r>
            <a:r>
              <a:rPr lang="en-US" sz="1800" i="1" dirty="0">
                <a:solidFill>
                  <a:schemeClr val="tx1"/>
                </a:solidFill>
              </a:rPr>
              <a:t>Zou u ons vóór vrijdag kunnen laten weten of de datum past?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Vertraging! Trois messages pour Stef</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23a</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2801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MESSAGES</a:t>
            </a:r>
            <a:endParaRPr lang="en-US" sz="1200" dirty="0"/>
          </a:p>
        </p:txBody>
      </p:sp>
      <p:sp>
        <p:nvSpPr>
          <p:cNvPr id="8" name="Text 5"/>
          <p:cNvSpPr txBox="1"/>
          <p:nvPr/>
        </p:nvSpPr>
        <p:spPr>
          <a:xfrm>
            <a:off x="2286000" y="1609344"/>
            <a:ext cx="926287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Vrijdagavond</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800"/>
              </a:spcAft>
              <a:buNone/>
            </a:pPr>
            <a:r>
              <a:rPr lang="en-US" sz="2100" b="1" dirty="0">
                <a:solidFill>
                  <a:schemeClr val="tx2"/>
                </a:solidFill>
              </a:rPr>
              <a:t>A · NMBS-app   </a:t>
            </a:r>
            <a:r>
              <a:rPr lang="en-US" sz="2100" dirty="0">
                <a:solidFill>
                  <a:schemeClr val="tx1"/>
                </a:solidFill>
              </a:rPr>
              <a:t>Uw trein van 17.42 uur naar Gent-Sint-Pieters wordt afgeschaft wegens een technisch defect. Een vervangbus wordt ingelegd vanaf het busstation. Reizigers worden verzocht de borden te volgen.</a:t>
            </a:r>
            <a:endParaRPr lang="en-US" sz="2100" dirty="0"/>
          </a:p>
          <a:p>
            <a:pPr indent="0" marL="0">
              <a:spcAft>
                <a:spcPts val="800"/>
              </a:spcAft>
              <a:buNone/>
            </a:pPr>
            <a:r>
              <a:rPr lang="en-US" sz="2100" b="1" dirty="0">
                <a:solidFill>
                  <a:schemeClr val="tx2"/>
                </a:solidFill>
              </a:rPr>
              <a:t>B · Loket   </a:t>
            </a:r>
            <a:r>
              <a:rPr lang="en-US" sz="2100" dirty="0">
                <a:solidFill>
                  <a:schemeClr val="tx1"/>
                </a:solidFill>
              </a:rPr>
              <a:t>Wegens werken is dit loket gesloten. Tickets worden verkocht aan de automaten in de stationshal. Wij verontschuldigen ons voor het ongemak.</a:t>
            </a:r>
            <a:endParaRPr lang="en-US" sz="2100" dirty="0"/>
          </a:p>
          <a:p>
            <a:pPr indent="0" marL="0">
              <a:spcAft>
                <a:spcPts val="800"/>
              </a:spcAft>
              <a:buNone/>
            </a:pPr>
            <a:r>
              <a:rPr lang="en-US" sz="2100" b="1" dirty="0">
                <a:solidFill>
                  <a:schemeClr val="tx2"/>
                </a:solidFill>
              </a:rPr>
              <a:t>C · Sms   </a:t>
            </a:r>
            <a:r>
              <a:rPr lang="en-US" sz="2100" dirty="0">
                <a:solidFill>
                  <a:schemeClr val="tx1"/>
                </a:solidFill>
              </a:rPr>
              <a:t>Uw pakje werd vandaag om 11.15 uur afgeleverd bij uw buur (nr. 14). U kunt het daar afhalen.</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Vertraging! Classer les passifs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23a</a:t>
            </a:r>
            <a:endParaRPr lang="en-US" sz="1200" dirty="0"/>
          </a:p>
        </p:txBody>
      </p:sp>
      <p:sp>
        <p:nvSpPr>
          <p:cNvPr id="6" name="Text 3"/>
          <p:cNvSpPr txBox="1"/>
          <p:nvPr/>
        </p:nvSpPr>
        <p:spPr>
          <a:xfrm>
            <a:off x="548640" y="1481328"/>
            <a:ext cx="7178040" cy="859536"/>
          </a:xfrm>
          <a:prstGeom prst="rect">
            <a:avLst/>
          </a:prstGeom>
          <a:noFill/>
          <a:ln/>
        </p:spPr>
        <p:txBody>
          <a:bodyPr wrap="square" lIns="0" tIns="0" rIns="0" bIns="0" rtlCol="0" anchor="t"/>
          <a:lstStyle/>
          <a:p>
            <a:pPr indent="0" marL="0">
              <a:buNone/>
            </a:pPr>
            <a:r>
              <a:rPr lang="en-US" sz="1600" b="1" i="1" dirty="0">
                <a:solidFill>
                  <a:schemeClr val="accent5"/>
                </a:solidFill>
              </a:rPr>
              <a:t>1.</a:t>
            </a:r>
            <a:r>
              <a:rPr lang="en-US" sz="1600" i="1" dirty="0">
                <a:solidFill>
                  <a:schemeClr val="accent5"/>
                </a:solidFill>
              </a:rPr>
              <a:t> Classez les passifs : processus (</a:t>
            </a:r>
            <a:r>
              <a:rPr lang="en-US" sz="1600" i="1" dirty="0">
                <a:solidFill>
                  <a:schemeClr val="accent5"/>
                </a:solidFill>
              </a:rPr>
              <a:t>wordt, worden</a:t>
            </a:r>
            <a:r>
              <a:rPr lang="en-US" sz="1600" i="1" dirty="0">
                <a:solidFill>
                  <a:schemeClr val="accent5"/>
                </a:solidFill>
              </a:rPr>
              <a:t>), passé (</a:t>
            </a:r>
            <a:r>
              <a:rPr lang="en-US" sz="1600" i="1" dirty="0">
                <a:solidFill>
                  <a:schemeClr val="accent5"/>
                </a:solidFill>
              </a:rPr>
              <a:t>werd</a:t>
            </a:r>
            <a:r>
              <a:rPr lang="en-US" sz="1600" i="1" dirty="0">
                <a:solidFill>
                  <a:schemeClr val="accent5"/>
                </a:solidFill>
              </a:rPr>
              <a:t>) ou résultat (</a:t>
            </a:r>
            <a:r>
              <a:rPr lang="en-US" sz="1600" i="1" dirty="0">
                <a:solidFill>
                  <a:schemeClr val="accent5"/>
                </a:solidFill>
              </a:rPr>
              <a:t>is</a:t>
            </a:r>
            <a:r>
              <a:rPr lang="en-US" sz="1600" i="1" dirty="0">
                <a:solidFill>
                  <a:schemeClr val="accent5"/>
                </a:solidFill>
              </a:rPr>
              <a:t>) ? Qui agit vraiment ? </a:t>
            </a:r>
            <a:r>
              <a:rPr lang="en-US" sz="1600" b="1" i="1" dirty="0">
                <a:solidFill>
                  <a:schemeClr val="accent5"/>
                </a:solidFill>
              </a:rPr>
              <a:t>2.</a:t>
            </a:r>
            <a:r>
              <a:rPr lang="en-US" sz="1600" i="1" dirty="0">
                <a:solidFill>
                  <a:schemeClr val="accent5"/>
                </a:solidFill>
              </a:rPr>
              <a:t> Stef doit-il faire la file au guichet ? · </a:t>
            </a:r>
            <a:r>
              <a:rPr lang="en-US" sz="1600" i="1" dirty="0">
                <a:solidFill>
                  <a:schemeClr val="accent5"/>
                </a:solidFill>
              </a:rPr>
              <a:t>inleggen</a:t>
            </a:r>
            <a:r>
              <a:rPr lang="en-US" sz="1600" i="1" dirty="0">
                <a:solidFill>
                  <a:schemeClr val="accent5"/>
                </a:solidFill>
              </a:rPr>
              <a:t> (belgicisme) = ? Seul · 6 min.</a:t>
            </a:r>
            <a:endParaRPr lang="en-US" sz="1600" dirty="0"/>
          </a:p>
        </p:txBody>
      </p:sp>
      <p:sp>
        <p:nvSpPr>
          <p:cNvPr id="7" name="exercise"/>
          <p:cNvSpPr txBox="1"/>
          <p:nvPr/>
        </p:nvSpPr>
        <p:spPr>
          <a:xfrm>
            <a:off x="548640" y="2414016"/>
            <a:ext cx="7178040" cy="3877056"/>
          </a:xfrm>
          <a:prstGeom prst="rect">
            <a:avLst/>
          </a:prstGeom>
          <a:noFill/>
          <a:ln/>
        </p:spPr>
        <p:txBody>
          <a:bodyPr wrap="square" lIns="0" tIns="0" rIns="0" bIns="0" rtlCol="0" anchor="t"/>
          <a:lstStyle/>
          <a:p>
            <a:pPr indent="0" marL="0">
              <a:spcAft>
                <a:spcPts val="1200"/>
              </a:spcAft>
              <a:buNone/>
            </a:pPr>
            <a:r>
              <a:rPr lang="en-US" sz="2600" b="1" dirty="0">
                <a:solidFill>
                  <a:schemeClr val="tx1"/>
                </a:solidFill>
              </a:rPr>
              <a:t>1A</a:t>
            </a:r>
            <a:r>
              <a:rPr lang="en-US" sz="2600" dirty="0">
                <a:solidFill>
                  <a:schemeClr val="tx1"/>
                </a:solidFill>
              </a:rPr>
              <a:t> Bericht A</a:t>
            </a:r>
            <a:endParaRPr lang="en-US" sz="2600" dirty="0"/>
          </a:p>
          <a:p>
            <a:pPr indent="0" marL="0">
              <a:spcAft>
                <a:spcPts val="1200"/>
              </a:spcAft>
              <a:buNone/>
            </a:pPr>
            <a:r>
              <a:rPr lang="en-US" sz="2600" b="1" dirty="0">
                <a:solidFill>
                  <a:schemeClr val="tx1"/>
                </a:solidFill>
              </a:rPr>
              <a:t>1B</a:t>
            </a:r>
            <a:r>
              <a:rPr lang="en-US" sz="2600" dirty="0">
                <a:solidFill>
                  <a:schemeClr val="tx1"/>
                </a:solidFill>
              </a:rPr>
              <a:t> Bericht B</a:t>
            </a:r>
            <a:endParaRPr lang="en-US" sz="2600" dirty="0"/>
          </a:p>
          <a:p>
            <a:pPr indent="0" marL="0">
              <a:spcAft>
                <a:spcPts val="1200"/>
              </a:spcAft>
              <a:buNone/>
            </a:pPr>
            <a:r>
              <a:rPr lang="en-US" sz="2600" b="1" dirty="0">
                <a:solidFill>
                  <a:schemeClr val="tx1"/>
                </a:solidFill>
              </a:rPr>
              <a:t>1C</a:t>
            </a:r>
            <a:r>
              <a:rPr lang="en-US" sz="2600" dirty="0">
                <a:solidFill>
                  <a:schemeClr val="tx1"/>
                </a:solidFill>
              </a:rPr>
              <a:t> Bericht C</a:t>
            </a:r>
            <a:endParaRPr lang="en-US" sz="2600" dirty="0"/>
          </a:p>
          <a:p>
            <a:pPr indent="0" marL="0">
              <a:spcAft>
                <a:spcPts val="1200"/>
              </a:spcAft>
              <a:buNone/>
            </a:pPr>
            <a:r>
              <a:rPr lang="en-US" sz="2600" b="1" dirty="0">
                <a:solidFill>
                  <a:schemeClr val="tx1"/>
                </a:solidFill>
              </a:rPr>
              <a:t>2</a:t>
            </a:r>
            <a:r>
              <a:rPr lang="en-US" sz="2600" dirty="0">
                <a:solidFill>
                  <a:schemeClr val="tx1"/>
                </a:solidFill>
              </a:rPr>
              <a:t> File au guichet ?</a:t>
            </a:r>
            <a:endParaRPr lang="en-US" sz="2600" dirty="0"/>
          </a:p>
          <a:p>
            <a:pPr indent="0" marL="0">
              <a:spcAft>
                <a:spcPts val="1200"/>
              </a:spcAft>
              <a:buNone/>
            </a:pPr>
            <a:r>
              <a:rPr lang="en-US" sz="2600" b="1" dirty="0">
                <a:solidFill>
                  <a:schemeClr val="tx1"/>
                </a:solidFill>
              </a:rPr>
              <a:t>2</a:t>
            </a:r>
            <a:r>
              <a:rPr lang="en-US" sz="2600" dirty="0">
                <a:solidFill>
                  <a:schemeClr val="tx1"/>
                </a:solidFill>
              </a:rPr>
              <a:t> </a:t>
            </a:r>
            <a:r>
              <a:rPr lang="en-US" sz="2600" i="1" dirty="0">
                <a:solidFill>
                  <a:schemeClr val="tx1"/>
                </a:solidFill>
              </a:rPr>
              <a:t>inleggen</a:t>
            </a:r>
            <a:r>
              <a:rPr lang="en-US" sz="2600" dirty="0">
                <a:solidFill>
                  <a:schemeClr val="tx1"/>
                </a:solidFill>
              </a:rPr>
              <a:t> =</a:t>
            </a:r>
            <a:endParaRPr lang="en-US" sz="2600" dirty="0"/>
          </a:p>
        </p:txBody>
      </p:sp>
      <p:sp>
        <p:nvSpPr>
          <p:cNvPr id="8" name="aside"/>
          <p:cNvSpPr/>
          <p:nvPr/>
        </p:nvSpPr>
        <p:spPr>
          <a:xfrm>
            <a:off x="8046720" y="1481328"/>
            <a:ext cx="3593592" cy="4809744"/>
          </a:xfrm>
          <a:prstGeom prst="roundRect">
            <a:avLst>
              <a:gd name="adj" fmla="val 2036"/>
            </a:avLst>
          </a:prstGeom>
          <a:solidFill>
            <a:schemeClr val="accent3">
              <a:alpha val="10000"/>
            </a:schemeClr>
          </a:solidFill>
          <a:ln w="12700">
            <a:solidFill>
              <a:schemeClr val="accent3">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WOORDENSCHAT</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accent2"/>
                </a:solidFill>
              </a:rPr>
              <a:t>de</a:t>
            </a:r>
            <a:r>
              <a:rPr lang="en-US" sz="1800" dirty="0">
                <a:solidFill>
                  <a:schemeClr val="tx1"/>
                </a:solidFill>
              </a:rPr>
              <a:t> vervangbus : le bus de remplacement</a:t>
            </a:r>
            <a:endParaRPr lang="en-US" sz="1800" dirty="0"/>
          </a:p>
          <a:p>
            <a:pPr marL="177800" indent="-177800">
              <a:spcAft>
                <a:spcPts val="600"/>
              </a:spcAft>
              <a:buSzPct val="100000"/>
              <a:buChar char="•"/>
            </a:pPr>
            <a:r>
              <a:rPr lang="en-US" sz="1800" b="1" dirty="0">
                <a:solidFill>
                  <a:schemeClr val="accent4"/>
                </a:solidFill>
              </a:rPr>
              <a:t>het</a:t>
            </a:r>
            <a:r>
              <a:rPr lang="en-US" sz="1800" dirty="0">
                <a:solidFill>
                  <a:schemeClr val="tx1"/>
                </a:solidFill>
              </a:rPr>
              <a:t> loket : le guichet</a:t>
            </a:r>
            <a:endParaRPr lang="en-US" sz="1800" dirty="0"/>
          </a:p>
          <a:p>
            <a:pPr marL="177800" indent="-177800">
              <a:spcAft>
                <a:spcPts val="600"/>
              </a:spcAft>
              <a:buSzPct val="100000"/>
              <a:buChar char="•"/>
            </a:pPr>
            <a:r>
              <a:rPr lang="en-US" sz="1800" b="1" dirty="0">
                <a:solidFill>
                  <a:schemeClr val="accent2"/>
                </a:solidFill>
              </a:rPr>
              <a:t>de</a:t>
            </a:r>
            <a:r>
              <a:rPr lang="en-US" sz="1800" dirty="0">
                <a:solidFill>
                  <a:schemeClr val="tx1"/>
                </a:solidFill>
              </a:rPr>
              <a:t> automaat : le distributeur</a:t>
            </a:r>
            <a:endParaRPr lang="en-US" sz="1800" dirty="0"/>
          </a:p>
          <a:p>
            <a:pPr marL="177800" indent="-177800">
              <a:spcAft>
                <a:spcPts val="600"/>
              </a:spcAft>
              <a:buSzPct val="100000"/>
              <a:buChar char="•"/>
            </a:pPr>
            <a:r>
              <a:rPr lang="en-US" sz="1800" b="1" dirty="0">
                <a:solidFill>
                  <a:schemeClr val="accent2"/>
                </a:solidFill>
              </a:rPr>
              <a:t>de</a:t>
            </a:r>
            <a:r>
              <a:rPr lang="en-US" sz="1800" dirty="0">
                <a:solidFill>
                  <a:schemeClr val="tx1"/>
                </a:solidFill>
              </a:rPr>
              <a:t> stationshal : le hall de gare</a:t>
            </a:r>
            <a:endParaRPr lang="en-US" sz="1800" dirty="0"/>
          </a:p>
          <a:p>
            <a:pPr marL="177800" indent="-177800">
              <a:spcAft>
                <a:spcPts val="600"/>
              </a:spcAft>
              <a:buSzPct val="100000"/>
              <a:buChar char="•"/>
            </a:pPr>
            <a:r>
              <a:rPr lang="en-US" sz="1800" dirty="0">
                <a:solidFill>
                  <a:schemeClr val="tx1"/>
                </a:solidFill>
              </a:rPr>
              <a:t>afhalen · afleveren : venir chercher · livrer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Vertraging! Classer les passifs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23a</a:t>
            </a:r>
            <a:endParaRPr lang="en-US" sz="1200" dirty="0"/>
          </a:p>
        </p:txBody>
      </p:sp>
      <p:sp>
        <p:nvSpPr>
          <p:cNvPr id="7" name="Text 4"/>
          <p:cNvSpPr txBox="1"/>
          <p:nvPr/>
        </p:nvSpPr>
        <p:spPr>
          <a:xfrm>
            <a:off x="548640" y="1481328"/>
            <a:ext cx="7178040" cy="859536"/>
          </a:xfrm>
          <a:prstGeom prst="rect">
            <a:avLst/>
          </a:prstGeom>
          <a:noFill/>
          <a:ln/>
        </p:spPr>
        <p:txBody>
          <a:bodyPr wrap="square" lIns="0" tIns="0" rIns="0" bIns="0" rtlCol="0" anchor="t"/>
          <a:lstStyle/>
          <a:p>
            <a:pPr indent="0" marL="0">
              <a:buNone/>
            </a:pPr>
            <a:r>
              <a:rPr lang="en-US" sz="1600" b="1" i="1" dirty="0">
                <a:solidFill>
                  <a:schemeClr val="accent5"/>
                </a:solidFill>
              </a:rPr>
              <a:t>1.</a:t>
            </a:r>
            <a:r>
              <a:rPr lang="en-US" sz="1600" i="1" dirty="0">
                <a:solidFill>
                  <a:schemeClr val="accent5"/>
                </a:solidFill>
              </a:rPr>
              <a:t> Classez les passifs : processus (</a:t>
            </a:r>
            <a:r>
              <a:rPr lang="en-US" sz="1600" i="1" dirty="0">
                <a:solidFill>
                  <a:schemeClr val="accent5"/>
                </a:solidFill>
              </a:rPr>
              <a:t>wordt, worden</a:t>
            </a:r>
            <a:r>
              <a:rPr lang="en-US" sz="1600" i="1" dirty="0">
                <a:solidFill>
                  <a:schemeClr val="accent5"/>
                </a:solidFill>
              </a:rPr>
              <a:t>), passé (</a:t>
            </a:r>
            <a:r>
              <a:rPr lang="en-US" sz="1600" i="1" dirty="0">
                <a:solidFill>
                  <a:schemeClr val="accent5"/>
                </a:solidFill>
              </a:rPr>
              <a:t>werd</a:t>
            </a:r>
            <a:r>
              <a:rPr lang="en-US" sz="1600" i="1" dirty="0">
                <a:solidFill>
                  <a:schemeClr val="accent5"/>
                </a:solidFill>
              </a:rPr>
              <a:t>) ou résultat (</a:t>
            </a:r>
            <a:r>
              <a:rPr lang="en-US" sz="1600" i="1" dirty="0">
                <a:solidFill>
                  <a:schemeClr val="accent5"/>
                </a:solidFill>
              </a:rPr>
              <a:t>is</a:t>
            </a:r>
            <a:r>
              <a:rPr lang="en-US" sz="1600" i="1" dirty="0">
                <a:solidFill>
                  <a:schemeClr val="accent5"/>
                </a:solidFill>
              </a:rPr>
              <a:t>) ? Qui agit vraiment ? </a:t>
            </a:r>
            <a:r>
              <a:rPr lang="en-US" sz="1600" b="1" i="1" dirty="0">
                <a:solidFill>
                  <a:schemeClr val="accent5"/>
                </a:solidFill>
              </a:rPr>
              <a:t>2.</a:t>
            </a:r>
            <a:r>
              <a:rPr lang="en-US" sz="1600" i="1" dirty="0">
                <a:solidFill>
                  <a:schemeClr val="accent5"/>
                </a:solidFill>
              </a:rPr>
              <a:t> Stef doit-il faire la file au guichet ? · </a:t>
            </a:r>
            <a:r>
              <a:rPr lang="en-US" sz="1600" i="1" dirty="0">
                <a:solidFill>
                  <a:schemeClr val="accent5"/>
                </a:solidFill>
              </a:rPr>
              <a:t>inleggen</a:t>
            </a:r>
            <a:r>
              <a:rPr lang="en-US" sz="1600" i="1" dirty="0">
                <a:solidFill>
                  <a:schemeClr val="accent5"/>
                </a:solidFill>
              </a:rPr>
              <a:t> (belgicisme) = ? Seul · 6 min.</a:t>
            </a:r>
            <a:endParaRPr lang="en-US" sz="1600" dirty="0"/>
          </a:p>
        </p:txBody>
      </p:sp>
      <p:sp>
        <p:nvSpPr>
          <p:cNvPr id="8" name="exercise"/>
          <p:cNvSpPr txBox="1"/>
          <p:nvPr/>
        </p:nvSpPr>
        <p:spPr>
          <a:xfrm>
            <a:off x="548640" y="2414016"/>
            <a:ext cx="7178040" cy="3877056"/>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1A</a:t>
            </a:r>
            <a:r>
              <a:rPr lang="en-US" sz="1500" dirty="0">
                <a:solidFill>
                  <a:schemeClr val="tx1"/>
                </a:solidFill>
              </a:rPr>
              <a:t> Bericht A</a:t>
            </a:r>
            <a:endParaRPr lang="en-US" sz="1500" dirty="0"/>
          </a:p>
          <a:p>
            <a:pPr indent="0" marL="0">
              <a:spcAft>
                <a:spcPts val="1200"/>
              </a:spcAft>
              <a:buNone/>
            </a:pPr>
            <a:r>
              <a:rPr lang="en-US" sz="1500" b="1" dirty="0">
                <a:solidFill>
                  <a:schemeClr val="accent3"/>
                </a:solidFill>
              </a:rPr>
              <a:t>→ </a:t>
            </a:r>
            <a:r>
              <a:rPr lang="en-US" sz="1500" i="1" dirty="0">
                <a:solidFill>
                  <a:schemeClr val="accent3"/>
                </a:solidFill>
              </a:rPr>
              <a:t>wordt afgeschaft · wordt ingelegd · worden verzocht</a:t>
            </a:r>
            <a:r>
              <a:rPr lang="en-US" sz="1500" dirty="0">
                <a:solidFill>
                  <a:schemeClr val="accent3"/>
                </a:solidFill>
              </a:rPr>
              <a:t> → </a:t>
            </a:r>
            <a:r>
              <a:rPr lang="en-US" sz="1500" b="1" dirty="0">
                <a:solidFill>
                  <a:schemeClr val="accent3"/>
                </a:solidFill>
              </a:rPr>
              <a:t>processus</a:t>
            </a:r>
            <a:r>
              <a:rPr lang="en-US" sz="1500" dirty="0">
                <a:solidFill>
                  <a:schemeClr val="accent3"/>
                </a:solidFill>
              </a:rPr>
              <a:t> ; acteur : la NMBS</a:t>
            </a:r>
            <a:endParaRPr lang="en-US" sz="1500" dirty="0"/>
          </a:p>
          <a:p>
            <a:pPr indent="0" marL="0">
              <a:spcAft>
                <a:spcPts val="400"/>
              </a:spcAft>
              <a:buNone/>
            </a:pPr>
            <a:r>
              <a:rPr lang="en-US" sz="1500" b="1" dirty="0">
                <a:solidFill>
                  <a:schemeClr val="tx1"/>
                </a:solidFill>
              </a:rPr>
              <a:t>1B</a:t>
            </a:r>
            <a:r>
              <a:rPr lang="en-US" sz="1500" dirty="0">
                <a:solidFill>
                  <a:schemeClr val="tx1"/>
                </a:solidFill>
              </a:rPr>
              <a:t> Bericht B</a:t>
            </a:r>
            <a:endParaRPr lang="en-US" sz="1500" dirty="0"/>
          </a:p>
          <a:p>
            <a:pPr indent="0" marL="0">
              <a:spcAft>
                <a:spcPts val="1200"/>
              </a:spcAft>
              <a:buNone/>
            </a:pPr>
            <a:r>
              <a:rPr lang="en-US" sz="1500" b="1" dirty="0">
                <a:solidFill>
                  <a:schemeClr val="accent3"/>
                </a:solidFill>
              </a:rPr>
              <a:t>→ </a:t>
            </a:r>
            <a:r>
              <a:rPr lang="en-US" sz="1500" i="1" dirty="0">
                <a:solidFill>
                  <a:schemeClr val="accent3"/>
                </a:solidFill>
              </a:rPr>
              <a:t>is gesloten</a:t>
            </a:r>
            <a:r>
              <a:rPr lang="en-US" sz="1500" dirty="0">
                <a:solidFill>
                  <a:schemeClr val="accent3"/>
                </a:solidFill>
              </a:rPr>
              <a:t> → </a:t>
            </a:r>
            <a:r>
              <a:rPr lang="en-US" sz="1500" b="1" dirty="0">
                <a:solidFill>
                  <a:schemeClr val="accent3"/>
                </a:solidFill>
              </a:rPr>
              <a:t>résultat</a:t>
            </a:r>
            <a:r>
              <a:rPr lang="en-US" sz="1500" dirty="0">
                <a:solidFill>
                  <a:schemeClr val="accent3"/>
                </a:solidFill>
              </a:rPr>
              <a:t> ; </a:t>
            </a:r>
            <a:r>
              <a:rPr lang="en-US" sz="1500" i="1" dirty="0">
                <a:solidFill>
                  <a:schemeClr val="accent3"/>
                </a:solidFill>
              </a:rPr>
              <a:t>worden verkocht</a:t>
            </a:r>
            <a:r>
              <a:rPr lang="en-US" sz="1500" dirty="0">
                <a:solidFill>
                  <a:schemeClr val="accent3"/>
                </a:solidFill>
              </a:rPr>
              <a:t> → </a:t>
            </a:r>
            <a:r>
              <a:rPr lang="en-US" sz="1500" b="1" dirty="0">
                <a:solidFill>
                  <a:schemeClr val="accent3"/>
                </a:solidFill>
              </a:rPr>
              <a:t>processus</a:t>
            </a:r>
            <a:endParaRPr lang="en-US" sz="1500" dirty="0"/>
          </a:p>
          <a:p>
            <a:pPr indent="0" marL="0">
              <a:spcAft>
                <a:spcPts val="400"/>
              </a:spcAft>
              <a:buNone/>
            </a:pPr>
            <a:r>
              <a:rPr lang="en-US" sz="1500" b="1" dirty="0">
                <a:solidFill>
                  <a:schemeClr val="tx1"/>
                </a:solidFill>
              </a:rPr>
              <a:t>1C</a:t>
            </a:r>
            <a:r>
              <a:rPr lang="en-US" sz="1500" dirty="0">
                <a:solidFill>
                  <a:schemeClr val="tx1"/>
                </a:solidFill>
              </a:rPr>
              <a:t> Bericht C</a:t>
            </a:r>
            <a:endParaRPr lang="en-US" sz="1500" dirty="0"/>
          </a:p>
          <a:p>
            <a:pPr indent="0" marL="0">
              <a:spcAft>
                <a:spcPts val="1200"/>
              </a:spcAft>
              <a:buNone/>
            </a:pPr>
            <a:r>
              <a:rPr lang="en-US" sz="1500" b="1" dirty="0">
                <a:solidFill>
                  <a:schemeClr val="accent3"/>
                </a:solidFill>
              </a:rPr>
              <a:t>→ </a:t>
            </a:r>
            <a:r>
              <a:rPr lang="en-US" sz="1500" i="1" dirty="0">
                <a:solidFill>
                  <a:schemeClr val="accent3"/>
                </a:solidFill>
              </a:rPr>
              <a:t>werd afgeleverd</a:t>
            </a:r>
            <a:r>
              <a:rPr lang="en-US" sz="1500" dirty="0">
                <a:solidFill>
                  <a:schemeClr val="accent3"/>
                </a:solidFill>
              </a:rPr>
              <a:t> → </a:t>
            </a:r>
            <a:r>
              <a:rPr lang="en-US" sz="1500" b="1" dirty="0">
                <a:solidFill>
                  <a:schemeClr val="accent3"/>
                </a:solidFill>
              </a:rPr>
              <a:t>passé</a:t>
            </a:r>
            <a:r>
              <a:rPr lang="en-US" sz="1500" dirty="0">
                <a:solidFill>
                  <a:schemeClr val="accent3"/>
                </a:solidFill>
              </a:rPr>
              <a:t> ; acteur : le livreur (pakjesdienst)</a:t>
            </a:r>
            <a:endParaRPr lang="en-US" sz="1500" dirty="0"/>
          </a:p>
          <a:p>
            <a:pPr indent="0" marL="0">
              <a:spcAft>
                <a:spcPts val="400"/>
              </a:spcAft>
              <a:buNone/>
            </a:pPr>
            <a:r>
              <a:rPr lang="en-US" sz="1500" b="1" dirty="0">
                <a:solidFill>
                  <a:schemeClr val="tx1"/>
                </a:solidFill>
              </a:rPr>
              <a:t>2</a:t>
            </a:r>
            <a:r>
              <a:rPr lang="en-US" sz="1500" dirty="0">
                <a:solidFill>
                  <a:schemeClr val="tx1"/>
                </a:solidFill>
              </a:rPr>
              <a:t> File au guichet ?</a:t>
            </a:r>
            <a:endParaRPr lang="en-US" sz="1500" dirty="0"/>
          </a:p>
          <a:p>
            <a:pPr indent="0" marL="0">
              <a:spcAft>
                <a:spcPts val="1200"/>
              </a:spcAft>
              <a:buNone/>
            </a:pPr>
            <a:r>
              <a:rPr lang="en-US" sz="1500" b="1" dirty="0">
                <a:solidFill>
                  <a:schemeClr val="accent3"/>
                </a:solidFill>
              </a:rPr>
              <a:t>→ </a:t>
            </a:r>
            <a:r>
              <a:rPr lang="en-US" sz="1500" b="1" dirty="0">
                <a:solidFill>
                  <a:schemeClr val="accent3"/>
                </a:solidFill>
              </a:rPr>
              <a:t>Non</a:t>
            </a:r>
            <a:r>
              <a:rPr lang="en-US" sz="1500" dirty="0">
                <a:solidFill>
                  <a:schemeClr val="accent3"/>
                </a:solidFill>
              </a:rPr>
              <a:t> : </a:t>
            </a:r>
            <a:r>
              <a:rPr lang="en-US" sz="1500" i="1" dirty="0">
                <a:solidFill>
                  <a:schemeClr val="accent3"/>
                </a:solidFill>
              </a:rPr>
              <a:t>Tickets worden verkocht aan de automaten.</a:t>
            </a:r>
            <a:endParaRPr lang="en-US" sz="1500" dirty="0"/>
          </a:p>
          <a:p>
            <a:pPr indent="0" marL="0">
              <a:spcAft>
                <a:spcPts val="400"/>
              </a:spcAft>
              <a:buNone/>
            </a:pPr>
            <a:r>
              <a:rPr lang="en-US" sz="1500" b="1" dirty="0">
                <a:solidFill>
                  <a:schemeClr val="tx1"/>
                </a:solidFill>
              </a:rPr>
              <a:t>2</a:t>
            </a:r>
            <a:r>
              <a:rPr lang="en-US" sz="1500" dirty="0">
                <a:solidFill>
                  <a:schemeClr val="tx1"/>
                </a:solidFill>
              </a:rPr>
              <a:t> </a:t>
            </a:r>
            <a:r>
              <a:rPr lang="en-US" sz="1500" i="1" dirty="0">
                <a:solidFill>
                  <a:schemeClr val="tx1"/>
                </a:solidFill>
              </a:rPr>
              <a:t>inleggen</a:t>
            </a:r>
            <a:r>
              <a:rPr lang="en-US" sz="1500" dirty="0">
                <a:solidFill>
                  <a:schemeClr val="tx1"/>
                </a:solidFill>
              </a:rPr>
              <a:t> =</a:t>
            </a:r>
            <a:endParaRPr lang="en-US" sz="1500" dirty="0"/>
          </a:p>
          <a:p>
            <a:pPr indent="0" marL="0">
              <a:spcAft>
                <a:spcPts val="1200"/>
              </a:spcAft>
              <a:buNone/>
            </a:pPr>
            <a:r>
              <a:rPr lang="en-US" sz="1500" b="1" dirty="0">
                <a:solidFill>
                  <a:schemeClr val="accent3"/>
                </a:solidFill>
              </a:rPr>
              <a:t>→ </a:t>
            </a:r>
            <a:r>
              <a:rPr lang="en-US" sz="1500" dirty="0">
                <a:solidFill>
                  <a:schemeClr val="accent3"/>
                </a:solidFill>
              </a:rPr>
              <a:t>mettre en service, faire circuler</a:t>
            </a:r>
            <a:endParaRPr lang="en-US" sz="1500" dirty="0"/>
          </a:p>
        </p:txBody>
      </p:sp>
      <p:sp>
        <p:nvSpPr>
          <p:cNvPr id="9" name="aside"/>
          <p:cNvSpPr/>
          <p:nvPr/>
        </p:nvSpPr>
        <p:spPr>
          <a:xfrm>
            <a:off x="8046720" y="1481328"/>
            <a:ext cx="3593592" cy="4809744"/>
          </a:xfrm>
          <a:prstGeom prst="roundRect">
            <a:avLst>
              <a:gd name="adj" fmla="val 2036"/>
            </a:avLst>
          </a:prstGeom>
          <a:solidFill>
            <a:schemeClr val="accent3">
              <a:alpha val="10000"/>
            </a:schemeClr>
          </a:solidFill>
          <a:ln w="12700">
            <a:solidFill>
              <a:schemeClr val="accent3">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WOORDENSCHAT</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accent2"/>
                </a:solidFill>
              </a:rPr>
              <a:t>de</a:t>
            </a:r>
            <a:r>
              <a:rPr lang="en-US" sz="1800" dirty="0">
                <a:solidFill>
                  <a:schemeClr val="tx1"/>
                </a:solidFill>
              </a:rPr>
              <a:t> vervangbus : le bus de remplacement</a:t>
            </a:r>
            <a:endParaRPr lang="en-US" sz="1800" dirty="0"/>
          </a:p>
          <a:p>
            <a:pPr marL="177800" indent="-177800">
              <a:spcAft>
                <a:spcPts val="600"/>
              </a:spcAft>
              <a:buSzPct val="100000"/>
              <a:buChar char="•"/>
            </a:pPr>
            <a:r>
              <a:rPr lang="en-US" sz="1800" b="1" dirty="0">
                <a:solidFill>
                  <a:schemeClr val="accent4"/>
                </a:solidFill>
              </a:rPr>
              <a:t>het</a:t>
            </a:r>
            <a:r>
              <a:rPr lang="en-US" sz="1800" dirty="0">
                <a:solidFill>
                  <a:schemeClr val="tx1"/>
                </a:solidFill>
              </a:rPr>
              <a:t> loket : le guichet</a:t>
            </a:r>
            <a:endParaRPr lang="en-US" sz="1800" dirty="0"/>
          </a:p>
          <a:p>
            <a:pPr marL="177800" indent="-177800">
              <a:spcAft>
                <a:spcPts val="600"/>
              </a:spcAft>
              <a:buSzPct val="100000"/>
              <a:buChar char="•"/>
            </a:pPr>
            <a:r>
              <a:rPr lang="en-US" sz="1800" b="1" dirty="0">
                <a:solidFill>
                  <a:schemeClr val="accent2"/>
                </a:solidFill>
              </a:rPr>
              <a:t>de</a:t>
            </a:r>
            <a:r>
              <a:rPr lang="en-US" sz="1800" dirty="0">
                <a:solidFill>
                  <a:schemeClr val="tx1"/>
                </a:solidFill>
              </a:rPr>
              <a:t> automaat : le distributeur</a:t>
            </a:r>
            <a:endParaRPr lang="en-US" sz="1800" dirty="0"/>
          </a:p>
          <a:p>
            <a:pPr marL="177800" indent="-177800">
              <a:spcAft>
                <a:spcPts val="600"/>
              </a:spcAft>
              <a:buSzPct val="100000"/>
              <a:buChar char="•"/>
            </a:pPr>
            <a:r>
              <a:rPr lang="en-US" sz="1800" b="1" dirty="0">
                <a:solidFill>
                  <a:schemeClr val="accent2"/>
                </a:solidFill>
              </a:rPr>
              <a:t>de</a:t>
            </a:r>
            <a:r>
              <a:rPr lang="en-US" sz="1800" dirty="0">
                <a:solidFill>
                  <a:schemeClr val="tx1"/>
                </a:solidFill>
              </a:rPr>
              <a:t> stationshal : le hall de gare</a:t>
            </a:r>
            <a:endParaRPr lang="en-US" sz="1800" dirty="0"/>
          </a:p>
          <a:p>
            <a:pPr marL="177800" indent="-177800">
              <a:spcAft>
                <a:spcPts val="600"/>
              </a:spcAft>
              <a:buSzPct val="100000"/>
              <a:buChar char="•"/>
            </a:pPr>
            <a:r>
              <a:rPr lang="en-US" sz="1800" dirty="0">
                <a:solidFill>
                  <a:schemeClr val="tx1"/>
                </a:solidFill>
              </a:rPr>
              <a:t>afhalen · afleveren : venir chercher · livrer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Au téléphone : trois cartes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23a</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Binômes · </a:t>
            </a:r>
            <a:r>
              <a:rPr lang="en-US" sz="1800" b="1" dirty="0">
                <a:solidFill>
                  <a:schemeClr val="tx1"/>
                </a:solidFill>
              </a:rPr>
              <a:t>3 minutes par carte</a:t>
            </a:r>
            <a:r>
              <a:rPr lang="en-US" sz="1800" dirty="0">
                <a:solidFill>
                  <a:schemeClr val="tx1"/>
                </a:solidFill>
              </a:rPr>
              <a:t>. A explique la situation à B avec </a:t>
            </a:r>
            <a:r>
              <a:rPr lang="en-US" sz="1800" b="1" dirty="0">
                <a:solidFill>
                  <a:schemeClr val="tx1"/>
                </a:solidFill>
              </a:rPr>
              <a:t>trois passifs</a:t>
            </a:r>
            <a:r>
              <a:rPr lang="en-US" sz="1800" dirty="0">
                <a:solidFill>
                  <a:schemeClr val="tx1"/>
                </a:solidFill>
              </a:rPr>
              <a:t> et une demande polie ; B réagit et pose deux questions.</a:t>
            </a:r>
            <a:endParaRPr lang="en-US" sz="1800" dirty="0"/>
          </a:p>
        </p:txBody>
      </p:sp>
      <p:sp>
        <p:nvSpPr>
          <p:cNvPr id="7" name="Shape 4"/>
          <p:cNvSpPr/>
          <p:nvPr/>
        </p:nvSpPr>
        <p:spPr>
          <a:xfrm>
            <a:off x="548640" y="2267712"/>
            <a:ext cx="3502152" cy="3069336"/>
          </a:xfrm>
          <a:prstGeom prst="roundRect">
            <a:avLst>
              <a:gd name="adj" fmla="val 2979"/>
            </a:avLst>
          </a:prstGeom>
          <a:solidFill>
            <a:schemeClr val="bg2"/>
          </a:solidFill>
          <a:ln w="9525">
            <a:solidFill>
              <a:srgbClr val="D5DCE6"/>
            </a:solidFill>
            <a:prstDash val="solid"/>
          </a:ln>
        </p:spPr>
      </p:sp>
      <p:sp>
        <p:nvSpPr>
          <p:cNvPr id="8" name="Shape 5"/>
          <p:cNvSpPr/>
          <p:nvPr/>
        </p:nvSpPr>
        <p:spPr>
          <a:xfrm>
            <a:off x="1970532" y="2450592"/>
            <a:ext cx="658368" cy="658368"/>
          </a:xfrm>
          <a:prstGeom prst="ellipse">
            <a:avLst/>
          </a:prstGeom>
          <a:solidFill>
            <a:schemeClr val="accent2"/>
          </a:solidFill>
          <a:ln/>
        </p:spPr>
      </p:sp>
      <p:sp>
        <p:nvSpPr>
          <p:cNvPr id="9" name="Text 6"/>
          <p:cNvSpPr txBox="1"/>
          <p:nvPr/>
        </p:nvSpPr>
        <p:spPr>
          <a:xfrm>
            <a:off x="1970532"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3182112"/>
            <a:ext cx="3282696" cy="685800"/>
          </a:xfrm>
          <a:prstGeom prst="rect">
            <a:avLst/>
          </a:prstGeom>
          <a:noFill/>
          <a:ln/>
        </p:spPr>
        <p:txBody>
          <a:bodyPr wrap="square" lIns="0" tIns="0" rIns="0" bIns="0" rtlCol="0" anchor="ctr"/>
          <a:lstStyle/>
          <a:p>
            <a:pPr algn="ctr" indent="0" marL="0">
              <a:buNone/>
            </a:pPr>
            <a:r>
              <a:rPr lang="en-US" sz="1700" b="1" dirty="0">
                <a:solidFill>
                  <a:schemeClr val="accent2"/>
                </a:solidFill>
              </a:rPr>
              <a:t>① Stef belt Lotte</a:t>
            </a:r>
            <a:endParaRPr lang="en-US" sz="1700" dirty="0"/>
          </a:p>
        </p:txBody>
      </p:sp>
      <p:sp>
        <p:nvSpPr>
          <p:cNvPr id="11" name="Text 8"/>
          <p:cNvSpPr txBox="1"/>
          <p:nvPr/>
        </p:nvSpPr>
        <p:spPr>
          <a:xfrm>
            <a:off x="685800" y="3959352"/>
            <a:ext cx="3227832" cy="1286256"/>
          </a:xfrm>
          <a:prstGeom prst="rect">
            <a:avLst/>
          </a:prstGeom>
          <a:noFill/>
          <a:ln/>
        </p:spPr>
        <p:txBody>
          <a:bodyPr wrap="square" lIns="0" tIns="0" rIns="0" bIns="0" rtlCol="0" anchor="t"/>
          <a:lstStyle/>
          <a:p>
            <a:pPr algn="ctr" indent="0" marL="0">
              <a:spcAft>
                <a:spcPts val="600"/>
              </a:spcAft>
              <a:buNone/>
            </a:pPr>
            <a:r>
              <a:rPr lang="en-US" sz="1700" b="1" dirty="0">
                <a:solidFill>
                  <a:schemeClr val="tx1"/>
                </a:solidFill>
              </a:rPr>
              <a:t>Train supprimé</a:t>
            </a:r>
            <a:r>
              <a:rPr lang="en-US" sz="1700" dirty="0">
                <a:solidFill>
                  <a:schemeClr val="tx1"/>
                </a:solidFill>
              </a:rPr>
              <a:t> (bericht A)</a:t>
            </a:r>
            <a:endParaRPr lang="en-US" sz="1700" dirty="0"/>
          </a:p>
          <a:p>
            <a:pPr algn="ctr" indent="0" marL="0">
              <a:spcAft>
                <a:spcPts val="600"/>
              </a:spcAft>
              <a:buNone/>
            </a:pPr>
            <a:r>
              <a:rPr lang="en-US" sz="1700" i="1" dirty="0">
                <a:solidFill>
                  <a:schemeClr val="tx1"/>
                </a:solidFill>
              </a:rPr>
              <a:t>Mijn trein wordt afgeschaft.</a:t>
            </a:r>
            <a:endParaRPr lang="en-US" sz="1700" dirty="0"/>
          </a:p>
        </p:txBody>
      </p:sp>
      <p:pic>
        <p:nvPicPr>
          <p:cNvPr id="12" name="Image 0" descr="preencoded.png">    </p:cNvPr>
          <p:cNvPicPr>
            <a:picLocks noChangeAspect="1"/>
          </p:cNvPicPr>
          <p:nvPr/>
        </p:nvPicPr>
        <p:blipFill>
          <a:blip r:embed="rId1"/>
          <a:stretch>
            <a:fillRect/>
          </a:stretch>
        </p:blipFill>
        <p:spPr>
          <a:xfrm>
            <a:off x="4087368" y="2670048"/>
            <a:ext cx="219456" cy="219456"/>
          </a:xfrm>
          <a:prstGeom prst="rect">
            <a:avLst/>
          </a:prstGeom>
        </p:spPr>
      </p:pic>
      <p:sp>
        <p:nvSpPr>
          <p:cNvPr id="13" name="Shape 9"/>
          <p:cNvSpPr/>
          <p:nvPr/>
        </p:nvSpPr>
        <p:spPr>
          <a:xfrm>
            <a:off x="4343400" y="2267712"/>
            <a:ext cx="3502152" cy="3069336"/>
          </a:xfrm>
          <a:prstGeom prst="roundRect">
            <a:avLst>
              <a:gd name="adj" fmla="val 2979"/>
            </a:avLst>
          </a:prstGeom>
          <a:solidFill>
            <a:schemeClr val="bg2"/>
          </a:solidFill>
          <a:ln w="9525">
            <a:solidFill>
              <a:srgbClr val="D5DCE6"/>
            </a:solidFill>
            <a:prstDash val="solid"/>
          </a:ln>
        </p:spPr>
      </p:sp>
      <p:sp>
        <p:nvSpPr>
          <p:cNvPr id="14" name="Shape 10"/>
          <p:cNvSpPr/>
          <p:nvPr/>
        </p:nvSpPr>
        <p:spPr>
          <a:xfrm>
            <a:off x="5765292" y="2450592"/>
            <a:ext cx="658368" cy="658368"/>
          </a:xfrm>
          <a:prstGeom prst="ellipse">
            <a:avLst/>
          </a:prstGeom>
          <a:solidFill>
            <a:schemeClr val="accent1"/>
          </a:solidFill>
          <a:ln/>
        </p:spPr>
      </p:sp>
      <p:sp>
        <p:nvSpPr>
          <p:cNvPr id="15" name="Text 11"/>
          <p:cNvSpPr txBox="1"/>
          <p:nvPr/>
        </p:nvSpPr>
        <p:spPr>
          <a:xfrm>
            <a:off x="5765292"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4453128" y="3182112"/>
            <a:ext cx="3282696" cy="685800"/>
          </a:xfrm>
          <a:prstGeom prst="rect">
            <a:avLst/>
          </a:prstGeom>
          <a:noFill/>
          <a:ln/>
        </p:spPr>
        <p:txBody>
          <a:bodyPr wrap="square" lIns="0" tIns="0" rIns="0" bIns="0" rtlCol="0" anchor="ctr"/>
          <a:lstStyle/>
          <a:p>
            <a:pPr algn="ctr" indent="0" marL="0">
              <a:buNone/>
            </a:pPr>
            <a:r>
              <a:rPr lang="en-US" sz="1700" b="1" dirty="0">
                <a:solidFill>
                  <a:schemeClr val="accent1"/>
                </a:solidFill>
              </a:rPr>
              <a:t>② Je belt je buur</a:t>
            </a:r>
            <a:endParaRPr lang="en-US" sz="1700" dirty="0"/>
          </a:p>
        </p:txBody>
      </p:sp>
      <p:sp>
        <p:nvSpPr>
          <p:cNvPr id="17" name="Text 13"/>
          <p:cNvSpPr txBox="1"/>
          <p:nvPr/>
        </p:nvSpPr>
        <p:spPr>
          <a:xfrm>
            <a:off x="4480560" y="3959352"/>
            <a:ext cx="3227832" cy="1286256"/>
          </a:xfrm>
          <a:prstGeom prst="rect">
            <a:avLst/>
          </a:prstGeom>
          <a:noFill/>
          <a:ln/>
        </p:spPr>
        <p:txBody>
          <a:bodyPr wrap="square" lIns="0" tIns="0" rIns="0" bIns="0" rtlCol="0" anchor="t"/>
          <a:lstStyle/>
          <a:p>
            <a:pPr algn="ctr" indent="0" marL="0">
              <a:spcAft>
                <a:spcPts val="600"/>
              </a:spcAft>
              <a:buNone/>
            </a:pPr>
            <a:r>
              <a:rPr lang="en-US" sz="1700" b="1" dirty="0">
                <a:solidFill>
                  <a:schemeClr val="tx1"/>
                </a:solidFill>
              </a:rPr>
              <a:t>Colis</a:t>
            </a:r>
            <a:r>
              <a:rPr lang="en-US" sz="1700" dirty="0">
                <a:solidFill>
                  <a:schemeClr val="tx1"/>
                </a:solidFill>
              </a:rPr>
              <a:t> chez le voisin du n° 14 (bericht C)</a:t>
            </a:r>
            <a:endParaRPr lang="en-US" sz="1700" dirty="0"/>
          </a:p>
          <a:p>
            <a:pPr algn="ctr" indent="0" marL="0">
              <a:spcAft>
                <a:spcPts val="600"/>
              </a:spcAft>
              <a:buNone/>
            </a:pPr>
            <a:r>
              <a:rPr lang="en-US" sz="1700" i="1" dirty="0">
                <a:solidFill>
                  <a:schemeClr val="tx1"/>
                </a:solidFill>
              </a:rPr>
              <a:t>Mijn pakje werd bij u afgeleverd.</a:t>
            </a:r>
            <a:endParaRPr lang="en-US" sz="1700" dirty="0"/>
          </a:p>
        </p:txBody>
      </p:sp>
      <p:pic>
        <p:nvPicPr>
          <p:cNvPr id="18" name="Image 1" descr="preencoded.png">    </p:cNvPr>
          <p:cNvPicPr>
            <a:picLocks noChangeAspect="1"/>
          </p:cNvPicPr>
          <p:nvPr/>
        </p:nvPicPr>
        <p:blipFill>
          <a:blip r:embed="rId2"/>
          <a:stretch>
            <a:fillRect/>
          </a:stretch>
        </p:blipFill>
        <p:spPr>
          <a:xfrm>
            <a:off x="7882128" y="2670048"/>
            <a:ext cx="219456" cy="219456"/>
          </a:xfrm>
          <a:prstGeom prst="rect">
            <a:avLst/>
          </a:prstGeom>
        </p:spPr>
      </p:pic>
      <p:sp>
        <p:nvSpPr>
          <p:cNvPr id="19" name="Shape 14"/>
          <p:cNvSpPr/>
          <p:nvPr/>
        </p:nvSpPr>
        <p:spPr>
          <a:xfrm>
            <a:off x="8138160" y="2267712"/>
            <a:ext cx="3502152" cy="3069336"/>
          </a:xfrm>
          <a:prstGeom prst="roundRect">
            <a:avLst>
              <a:gd name="adj" fmla="val 2979"/>
            </a:avLst>
          </a:prstGeom>
          <a:solidFill>
            <a:schemeClr val="bg2"/>
          </a:solidFill>
          <a:ln w="9525">
            <a:solidFill>
              <a:srgbClr val="D5DCE6"/>
            </a:solidFill>
            <a:prstDash val="solid"/>
          </a:ln>
        </p:spPr>
      </p:sp>
      <p:sp>
        <p:nvSpPr>
          <p:cNvPr id="20" name="Shape 15"/>
          <p:cNvSpPr/>
          <p:nvPr/>
        </p:nvSpPr>
        <p:spPr>
          <a:xfrm>
            <a:off x="9560052" y="2450592"/>
            <a:ext cx="658368" cy="658368"/>
          </a:xfrm>
          <a:prstGeom prst="ellipse">
            <a:avLst/>
          </a:prstGeom>
          <a:solidFill>
            <a:schemeClr val="accent3"/>
          </a:solidFill>
          <a:ln/>
        </p:spPr>
      </p:sp>
      <p:sp>
        <p:nvSpPr>
          <p:cNvPr id="21" name="Text 16"/>
          <p:cNvSpPr txBox="1"/>
          <p:nvPr/>
        </p:nvSpPr>
        <p:spPr>
          <a:xfrm>
            <a:off x="9560052"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8247888" y="3182112"/>
            <a:ext cx="3282696" cy="685800"/>
          </a:xfrm>
          <a:prstGeom prst="rect">
            <a:avLst/>
          </a:prstGeom>
          <a:noFill/>
          <a:ln/>
        </p:spPr>
        <p:txBody>
          <a:bodyPr wrap="square" lIns="0" tIns="0" rIns="0" bIns="0" rtlCol="0" anchor="ctr"/>
          <a:lstStyle/>
          <a:p>
            <a:pPr algn="ctr" indent="0" marL="0">
              <a:buNone/>
            </a:pPr>
            <a:r>
              <a:rPr lang="en-US" sz="1700" b="1" dirty="0">
                <a:solidFill>
                  <a:schemeClr val="accent3"/>
                </a:solidFill>
              </a:rPr>
              <a:t>③ Je eigen situatie</a:t>
            </a:r>
            <a:endParaRPr lang="en-US" sz="1700" dirty="0"/>
          </a:p>
        </p:txBody>
      </p:sp>
      <p:sp>
        <p:nvSpPr>
          <p:cNvPr id="23" name="Text 18"/>
          <p:cNvSpPr txBox="1"/>
          <p:nvPr/>
        </p:nvSpPr>
        <p:spPr>
          <a:xfrm>
            <a:off x="8275320" y="3959352"/>
            <a:ext cx="3227832" cy="128625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Un </a:t>
            </a:r>
            <a:r>
              <a:rPr lang="en-US" sz="1700" b="1" dirty="0">
                <a:solidFill>
                  <a:schemeClr val="tx1"/>
                </a:solidFill>
              </a:rPr>
              <a:t>message</a:t>
            </a:r>
            <a:r>
              <a:rPr lang="en-US" sz="1700" dirty="0">
                <a:solidFill>
                  <a:schemeClr val="tx1"/>
                </a:solidFill>
              </a:rPr>
              <a:t> reçu récemment</a:t>
            </a:r>
            <a:endParaRPr lang="en-US" sz="1700" dirty="0"/>
          </a:p>
          <a:p>
            <a:pPr algn="ctr" indent="0" marL="0">
              <a:spcAft>
                <a:spcPts val="600"/>
              </a:spcAft>
              <a:buNone/>
            </a:pPr>
            <a:r>
              <a:rPr lang="en-US" sz="1700" dirty="0">
                <a:solidFill>
                  <a:schemeClr val="tx1"/>
                </a:solidFill>
              </a:rPr>
              <a:t>Au moins </a:t>
            </a:r>
            <a:r>
              <a:rPr lang="en-US" sz="1700" b="1" dirty="0">
                <a:solidFill>
                  <a:schemeClr val="tx1"/>
                </a:solidFill>
              </a:rPr>
              <a:t>3 passifs</a:t>
            </a:r>
            <a:endParaRPr lang="en-US" sz="1700" dirty="0"/>
          </a:p>
        </p:txBody>
      </p:sp>
      <p:sp>
        <p:nvSpPr>
          <p:cNvPr id="24" name="Shape 19"/>
          <p:cNvSpPr/>
          <p:nvPr/>
        </p:nvSpPr>
        <p:spPr>
          <a:xfrm>
            <a:off x="548640" y="5565648"/>
            <a:ext cx="11091672" cy="725424"/>
          </a:xfrm>
          <a:prstGeom prst="roundRect">
            <a:avLst>
              <a:gd name="adj" fmla="val 10084"/>
            </a:avLst>
          </a:prstGeom>
          <a:solidFill>
            <a:schemeClr val="accent2">
              <a:alpha val="10000"/>
            </a:schemeClr>
          </a:solidFill>
          <a:ln w="9525">
            <a:solidFill>
              <a:schemeClr val="accent2">
                <a:alpha val="70000"/>
              </a:schemeClr>
            </a:solidFill>
            <a:prstDash val="solid"/>
          </a:ln>
        </p:spPr>
      </p:sp>
      <p:pic>
        <p:nvPicPr>
          <p:cNvPr id="25" name="Image 2" descr="preencoded.png">    </p:cNvPr>
          <p:cNvPicPr>
            <a:picLocks noChangeAspect="1"/>
          </p:cNvPicPr>
          <p:nvPr/>
        </p:nvPicPr>
        <p:blipFill>
          <a:blip r:embed="rId3"/>
          <a:stretch>
            <a:fillRect/>
          </a:stretch>
        </p:blipFill>
        <p:spPr>
          <a:xfrm>
            <a:off x="749808" y="5763768"/>
            <a:ext cx="329184" cy="329184"/>
          </a:xfrm>
          <a:prstGeom prst="rect">
            <a:avLst/>
          </a:prstGeom>
        </p:spPr>
      </p:pic>
      <p:sp>
        <p:nvSpPr>
          <p:cNvPr id="26" name="Text 20"/>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2"/>
                </a:solidFill>
              </a:rPr>
              <a:t>Modèle (carte ①) — </a:t>
            </a:r>
            <a:r>
              <a:rPr lang="en-US" sz="1700" i="1" dirty="0">
                <a:solidFill>
                  <a:schemeClr val="tx1"/>
                </a:solidFill>
              </a:rPr>
              <a:t>Mijn trein wordt afgeschaft. Een vervangbus wordt ingelegd. Zou je me aan het station kunnen ophalen?</a:t>
            </a:r>
            <a:r>
              <a:rPr lang="en-US" sz="1700" dirty="0">
                <a:solidFill>
                  <a:schemeClr val="tx1"/>
                </a:solidFill>
              </a:rPr>
              <a:t> — </a:t>
            </a:r>
            <a:r>
              <a:rPr lang="en-US" sz="1700" i="1" dirty="0">
                <a:solidFill>
                  <a:schemeClr val="tx1"/>
                </a:solidFill>
              </a:rPr>
              <a:t>Natuurlijk! Hoe laat kom je aan?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Wordt, werd of is?</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Choisissez : </a:t>
            </a:r>
            <a:r>
              <a:rPr lang="en-US" sz="1600" i="1" dirty="0">
                <a:solidFill>
                  <a:schemeClr val="accent5"/>
                </a:solidFill>
              </a:rPr>
              <a:t>wordt · werd · worden · werden · is</a:t>
            </a:r>
            <a:r>
              <a:rPr lang="en-US" sz="1600" i="1" dirty="0">
                <a:solidFill>
                  <a:schemeClr val="accent5"/>
                </a:solidFill>
              </a:rPr>
              <a:t>. Seul · 4 min.</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Het lek </a:t>
            </a:r>
            <a:r>
              <a:rPr lang="en-US" sz="2400" dirty="0">
                <a:solidFill>
                  <a:schemeClr val="accent5"/>
                </a:solidFill>
              </a:rPr>
              <a:t>……………</a:t>
            </a:r>
            <a:r>
              <a:rPr lang="en-US" sz="2400" dirty="0">
                <a:solidFill>
                  <a:schemeClr val="tx1"/>
                </a:solidFill>
              </a:rPr>
              <a:t> morgen hersteld.</a:t>
            </a:r>
            <a:endParaRPr lang="en-US" sz="2400" dirty="0"/>
          </a:p>
          <a:p>
            <a:pPr indent="0" marL="0">
              <a:spcAft>
                <a:spcPts val="1000"/>
              </a:spcAft>
              <a:buNone/>
            </a:pPr>
            <a:r>
              <a:rPr lang="en-US" sz="2400" b="1" dirty="0">
                <a:solidFill>
                  <a:schemeClr val="tx2"/>
                </a:solidFill>
              </a:rPr>
              <a:t>2.  </a:t>
            </a:r>
            <a:r>
              <a:rPr lang="en-US" sz="2400" dirty="0">
                <a:solidFill>
                  <a:schemeClr val="tx1"/>
                </a:solidFill>
              </a:rPr>
              <a:t>De muur </a:t>
            </a:r>
            <a:r>
              <a:rPr lang="en-US" sz="2400" dirty="0">
                <a:solidFill>
                  <a:schemeClr val="accent5"/>
                </a:solidFill>
              </a:rPr>
              <a:t>……………</a:t>
            </a:r>
            <a:r>
              <a:rPr lang="en-US" sz="2400" dirty="0">
                <a:solidFill>
                  <a:schemeClr val="tx1"/>
                </a:solidFill>
              </a:rPr>
              <a:t> gisteren geschilderd.</a:t>
            </a:r>
            <a:endParaRPr lang="en-US" sz="2400" dirty="0"/>
          </a:p>
          <a:p>
            <a:pPr indent="0" marL="0">
              <a:spcAft>
                <a:spcPts val="1000"/>
              </a:spcAft>
              <a:buNone/>
            </a:pPr>
            <a:r>
              <a:rPr lang="en-US" sz="2400" b="1" dirty="0">
                <a:solidFill>
                  <a:schemeClr val="tx2"/>
                </a:solidFill>
              </a:rPr>
              <a:t>3.  </a:t>
            </a:r>
            <a:r>
              <a:rPr lang="en-US" sz="2400" dirty="0">
                <a:solidFill>
                  <a:schemeClr val="tx1"/>
                </a:solidFill>
              </a:rPr>
              <a:t>De badkamer </a:t>
            </a:r>
            <a:r>
              <a:rPr lang="en-US" sz="2400" dirty="0">
                <a:solidFill>
                  <a:schemeClr val="accent5"/>
                </a:solidFill>
              </a:rPr>
              <a:t>……………</a:t>
            </a:r>
            <a:r>
              <a:rPr lang="en-US" sz="2400" dirty="0">
                <a:solidFill>
                  <a:schemeClr val="tx1"/>
                </a:solidFill>
              </a:rPr>
              <a:t> geschilderd: u kunt ze weer gebruiken.</a:t>
            </a:r>
            <a:endParaRPr lang="en-US" sz="2400" dirty="0"/>
          </a:p>
          <a:p>
            <a:pPr indent="0" marL="0">
              <a:spcAft>
                <a:spcPts val="1000"/>
              </a:spcAft>
              <a:buNone/>
            </a:pPr>
            <a:r>
              <a:rPr lang="en-US" sz="2400" b="1" dirty="0">
                <a:solidFill>
                  <a:schemeClr val="tx2"/>
                </a:solidFill>
              </a:rPr>
              <a:t>4.  </a:t>
            </a:r>
            <a:r>
              <a:rPr lang="en-US" sz="2400" dirty="0">
                <a:solidFill>
                  <a:schemeClr val="tx1"/>
                </a:solidFill>
              </a:rPr>
              <a:t>De sleutels </a:t>
            </a:r>
            <a:r>
              <a:rPr lang="en-US" sz="2400" dirty="0">
                <a:solidFill>
                  <a:schemeClr val="accent5"/>
                </a:solidFill>
              </a:rPr>
              <a:t>……………</a:t>
            </a:r>
            <a:r>
              <a:rPr lang="en-US" sz="2400" dirty="0">
                <a:solidFill>
                  <a:schemeClr val="tx1"/>
                </a:solidFill>
              </a:rPr>
              <a:t> vorige week afgegeven.</a:t>
            </a:r>
            <a:endParaRPr lang="en-US" sz="2400" dirty="0"/>
          </a:p>
          <a:p>
            <a:pPr indent="0" marL="0">
              <a:spcAft>
                <a:spcPts val="1000"/>
              </a:spcAft>
              <a:buNone/>
            </a:pPr>
            <a:r>
              <a:rPr lang="en-US" sz="2400" b="1" dirty="0">
                <a:solidFill>
                  <a:schemeClr val="tx2"/>
                </a:solidFill>
              </a:rPr>
              <a:t>5.  </a:t>
            </a:r>
            <a:r>
              <a:rPr lang="en-US" sz="2400" dirty="0">
                <a:solidFill>
                  <a:schemeClr val="tx1"/>
                </a:solidFill>
              </a:rPr>
              <a:t>Op dit moment </a:t>
            </a:r>
            <a:r>
              <a:rPr lang="en-US" sz="2400" dirty="0">
                <a:solidFill>
                  <a:schemeClr val="accent5"/>
                </a:solidFill>
              </a:rPr>
              <a:t>……………</a:t>
            </a:r>
            <a:r>
              <a:rPr lang="en-US" sz="2400" dirty="0">
                <a:solidFill>
                  <a:schemeClr val="tx1"/>
                </a:solidFill>
              </a:rPr>
              <a:t> de keuken vernieuwd.</a:t>
            </a:r>
            <a:endParaRPr lang="en-US" sz="2400" dirty="0"/>
          </a:p>
          <a:p>
            <a:pPr indent="0" marL="0">
              <a:spcAft>
                <a:spcPts val="1000"/>
              </a:spcAft>
              <a:buNone/>
            </a:pPr>
            <a:r>
              <a:rPr lang="en-US" sz="2400" b="1" dirty="0">
                <a:solidFill>
                  <a:schemeClr val="tx2"/>
                </a:solidFill>
              </a:rPr>
              <a:t>6.  </a:t>
            </a:r>
            <a:r>
              <a:rPr lang="en-US" sz="2400" dirty="0">
                <a:solidFill>
                  <a:schemeClr val="tx1"/>
                </a:solidFill>
              </a:rPr>
              <a:t>Alle kosten </a:t>
            </a:r>
            <a:r>
              <a:rPr lang="en-US" sz="2400" dirty="0">
                <a:solidFill>
                  <a:schemeClr val="accent5"/>
                </a:solidFill>
              </a:rPr>
              <a:t>……………</a:t>
            </a:r>
            <a:r>
              <a:rPr lang="en-US" sz="2400" dirty="0">
                <a:solidFill>
                  <a:schemeClr val="tx1"/>
                </a:solidFill>
              </a:rPr>
              <a:t> door de eigenaar betaald.</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Wordt, werd of is?</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Choisissez : </a:t>
            </a:r>
            <a:r>
              <a:rPr lang="en-US" sz="1600" i="1" dirty="0">
                <a:solidFill>
                  <a:schemeClr val="accent5"/>
                </a:solidFill>
              </a:rPr>
              <a:t>wordt · werd · worden · werden · is</a:t>
            </a:r>
            <a:r>
              <a:rPr lang="en-US" sz="1600" i="1" dirty="0">
                <a:solidFill>
                  <a:schemeClr val="accent5"/>
                </a:solidFill>
              </a:rPr>
              <a:t>. Seul · 4 min.</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Het lek </a:t>
            </a:r>
            <a:r>
              <a:rPr lang="en-US" sz="2400" b="1" dirty="0">
                <a:solidFill>
                  <a:schemeClr val="accent3"/>
                </a:solidFill>
              </a:rPr>
              <a:t>wordt</a:t>
            </a:r>
            <a:r>
              <a:rPr lang="en-US" sz="2400" dirty="0">
                <a:solidFill>
                  <a:schemeClr val="tx1"/>
                </a:solidFill>
              </a:rPr>
              <a:t> morgen hersteld.</a:t>
            </a:r>
            <a:endParaRPr lang="en-US" sz="2400" dirty="0"/>
          </a:p>
          <a:p>
            <a:pPr indent="0" marL="0">
              <a:spcAft>
                <a:spcPts val="1000"/>
              </a:spcAft>
              <a:buNone/>
            </a:pPr>
            <a:r>
              <a:rPr lang="en-US" sz="2400" b="1" dirty="0">
                <a:solidFill>
                  <a:schemeClr val="tx2"/>
                </a:solidFill>
              </a:rPr>
              <a:t>2.  </a:t>
            </a:r>
            <a:r>
              <a:rPr lang="en-US" sz="2400" dirty="0">
                <a:solidFill>
                  <a:schemeClr val="tx1"/>
                </a:solidFill>
              </a:rPr>
              <a:t>De muur </a:t>
            </a:r>
            <a:r>
              <a:rPr lang="en-US" sz="2400" b="1" dirty="0">
                <a:solidFill>
                  <a:schemeClr val="accent3"/>
                </a:solidFill>
              </a:rPr>
              <a:t>werd</a:t>
            </a:r>
            <a:r>
              <a:rPr lang="en-US" sz="2400" dirty="0">
                <a:solidFill>
                  <a:schemeClr val="tx1"/>
                </a:solidFill>
              </a:rPr>
              <a:t> gisteren geschilderd.</a:t>
            </a:r>
            <a:endParaRPr lang="en-US" sz="2400" dirty="0"/>
          </a:p>
          <a:p>
            <a:pPr indent="0" marL="0">
              <a:spcAft>
                <a:spcPts val="1000"/>
              </a:spcAft>
              <a:buNone/>
            </a:pPr>
            <a:r>
              <a:rPr lang="en-US" sz="2400" b="1" dirty="0">
                <a:solidFill>
                  <a:schemeClr val="tx2"/>
                </a:solidFill>
              </a:rPr>
              <a:t>3.  </a:t>
            </a:r>
            <a:r>
              <a:rPr lang="en-US" sz="2400" dirty="0">
                <a:solidFill>
                  <a:schemeClr val="tx1"/>
                </a:solidFill>
              </a:rPr>
              <a:t>De badkamer </a:t>
            </a:r>
            <a:r>
              <a:rPr lang="en-US" sz="2400" b="1" dirty="0">
                <a:solidFill>
                  <a:schemeClr val="accent3"/>
                </a:solidFill>
              </a:rPr>
              <a:t>is</a:t>
            </a:r>
            <a:r>
              <a:rPr lang="en-US" sz="2400" dirty="0">
                <a:solidFill>
                  <a:schemeClr val="tx1"/>
                </a:solidFill>
              </a:rPr>
              <a:t> geschilderd: u kunt ze weer gebruiken.</a:t>
            </a:r>
            <a:endParaRPr lang="en-US" sz="2400" dirty="0"/>
          </a:p>
          <a:p>
            <a:pPr indent="0" marL="0">
              <a:spcAft>
                <a:spcPts val="1000"/>
              </a:spcAft>
              <a:buNone/>
            </a:pPr>
            <a:r>
              <a:rPr lang="en-US" sz="2400" b="1" dirty="0">
                <a:solidFill>
                  <a:schemeClr val="tx2"/>
                </a:solidFill>
              </a:rPr>
              <a:t>4.  </a:t>
            </a:r>
            <a:r>
              <a:rPr lang="en-US" sz="2400" dirty="0">
                <a:solidFill>
                  <a:schemeClr val="tx1"/>
                </a:solidFill>
              </a:rPr>
              <a:t>De sleutels </a:t>
            </a:r>
            <a:r>
              <a:rPr lang="en-US" sz="2400" b="1" dirty="0">
                <a:solidFill>
                  <a:schemeClr val="accent3"/>
                </a:solidFill>
              </a:rPr>
              <a:t>werden</a:t>
            </a:r>
            <a:r>
              <a:rPr lang="en-US" sz="2400" dirty="0">
                <a:solidFill>
                  <a:schemeClr val="tx1"/>
                </a:solidFill>
              </a:rPr>
              <a:t> vorige week afgegeven.</a:t>
            </a:r>
            <a:endParaRPr lang="en-US" sz="2400" dirty="0"/>
          </a:p>
          <a:p>
            <a:pPr indent="0" marL="0">
              <a:spcAft>
                <a:spcPts val="1000"/>
              </a:spcAft>
              <a:buNone/>
            </a:pPr>
            <a:r>
              <a:rPr lang="en-US" sz="2400" b="1" dirty="0">
                <a:solidFill>
                  <a:schemeClr val="tx2"/>
                </a:solidFill>
              </a:rPr>
              <a:t>5.  </a:t>
            </a:r>
            <a:r>
              <a:rPr lang="en-US" sz="2400" dirty="0">
                <a:solidFill>
                  <a:schemeClr val="tx1"/>
                </a:solidFill>
              </a:rPr>
              <a:t>Op dit moment </a:t>
            </a:r>
            <a:r>
              <a:rPr lang="en-US" sz="2400" b="1" dirty="0">
                <a:solidFill>
                  <a:schemeClr val="accent3"/>
                </a:solidFill>
              </a:rPr>
              <a:t>wordt</a:t>
            </a:r>
            <a:r>
              <a:rPr lang="en-US" sz="2400" dirty="0">
                <a:solidFill>
                  <a:schemeClr val="tx1"/>
                </a:solidFill>
              </a:rPr>
              <a:t> de keuken vernieuwd.</a:t>
            </a:r>
            <a:endParaRPr lang="en-US" sz="2400" dirty="0"/>
          </a:p>
          <a:p>
            <a:pPr indent="0" marL="0">
              <a:spcAft>
                <a:spcPts val="1000"/>
              </a:spcAft>
              <a:buNone/>
            </a:pPr>
            <a:r>
              <a:rPr lang="en-US" sz="2400" b="1" dirty="0">
                <a:solidFill>
                  <a:schemeClr val="tx2"/>
                </a:solidFill>
              </a:rPr>
              <a:t>6.  </a:t>
            </a:r>
            <a:r>
              <a:rPr lang="en-US" sz="2400" dirty="0">
                <a:solidFill>
                  <a:schemeClr val="tx1"/>
                </a:solidFill>
              </a:rPr>
              <a:t>Alle kosten </a:t>
            </a:r>
            <a:r>
              <a:rPr lang="en-US" sz="2400" b="1" dirty="0">
                <a:solidFill>
                  <a:schemeClr val="accent3"/>
                </a:solidFill>
              </a:rPr>
              <a:t>worden</a:t>
            </a:r>
            <a:r>
              <a:rPr lang="en-US" sz="2400" dirty="0">
                <a:solidFill>
                  <a:schemeClr val="tx1"/>
                </a:solidFill>
              </a:rPr>
              <a:t> door de eigenaar betaald.</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wordt</a:t>
            </a:r>
            <a:r>
              <a:rPr lang="en-US" sz="1800" dirty="0">
                <a:solidFill>
                  <a:schemeClr val="tx1"/>
                </a:solidFill>
              </a:rPr>
              <a:t> = en cours · </a:t>
            </a:r>
            <a:r>
              <a:rPr lang="en-US" sz="1800" b="1" dirty="0">
                <a:solidFill>
                  <a:schemeClr val="tx1"/>
                </a:solidFill>
              </a:rPr>
              <a:t>is</a:t>
            </a:r>
            <a:r>
              <a:rPr lang="en-US" sz="1800" dirty="0">
                <a:solidFill>
                  <a:schemeClr val="tx1"/>
                </a:solidFill>
              </a:rPr>
              <a:t> = terminé · </a:t>
            </a:r>
            <a:r>
              <a:rPr lang="en-US" sz="1800" b="1" dirty="0">
                <a:solidFill>
                  <a:schemeClr val="tx1"/>
                </a:solidFill>
              </a:rPr>
              <a:t>werd</a:t>
            </a:r>
            <a:r>
              <a:rPr lang="en-US" sz="1800" dirty="0">
                <a:solidFill>
                  <a:schemeClr val="tx1"/>
                </a:solidFill>
              </a:rPr>
              <a:t> = passé</a:t>
            </a:r>
            <a:endParaRPr lang="en-US" sz="1800" dirty="0"/>
          </a:p>
          <a:p>
            <a:pPr marL="177800" indent="-177800">
              <a:spcAft>
                <a:spcPts val="600"/>
              </a:spcAft>
              <a:buSzPct val="100000"/>
              <a:buChar char="•"/>
            </a:pPr>
            <a:r>
              <a:rPr lang="en-US" sz="1800" dirty="0">
                <a:solidFill>
                  <a:schemeClr val="tx1"/>
                </a:solidFill>
              </a:rPr>
              <a:t>Pluriel : </a:t>
            </a:r>
            <a:r>
              <a:rPr lang="en-US" sz="1800" b="1" dirty="0">
                <a:solidFill>
                  <a:schemeClr val="tx1"/>
                </a:solidFill>
              </a:rPr>
              <a:t>worden / werden</a:t>
            </a:r>
            <a:endParaRPr lang="en-US" sz="1800" dirty="0"/>
          </a:p>
          <a:p>
            <a:pPr marL="177800" indent="-177800">
              <a:spcAft>
                <a:spcPts val="600"/>
              </a:spcAft>
              <a:buSzPct val="100000"/>
              <a:buChar char="•"/>
            </a:pPr>
            <a:r>
              <a:rPr lang="en-US" sz="1800" dirty="0">
                <a:solidFill>
                  <a:schemeClr val="tx1"/>
                </a:solidFill>
              </a:rPr>
              <a:t>Participe en </a:t>
            </a:r>
            <a:r>
              <a:rPr lang="en-US" sz="1800" b="1" dirty="0">
                <a:solidFill>
                  <a:schemeClr val="tx1"/>
                </a:solidFill>
              </a:rPr>
              <a:t>fin de phrase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het beheersdossier — votre mission finale</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24–25a</a:t>
            </a:r>
            <a:endParaRPr lang="en-US" sz="1200" dirty="0"/>
          </a:p>
        </p:txBody>
      </p:sp>
      <p:sp>
        <p:nvSpPr>
          <p:cNvPr id="6" name="Text 3"/>
          <p:cNvSpPr txBox="1"/>
          <p:nvPr/>
        </p:nvSpPr>
        <p:spPr>
          <a:xfrm>
            <a:off x="548640" y="1481328"/>
            <a:ext cx="11091672" cy="588264"/>
          </a:xfrm>
          <a:prstGeom prst="rect">
            <a:avLst/>
          </a:prstGeom>
          <a:noFill/>
          <a:ln/>
        </p:spPr>
        <p:txBody>
          <a:bodyPr wrap="square" lIns="0" tIns="0" rIns="0" bIns="0" rtlCol="0" anchor="t"/>
          <a:lstStyle/>
          <a:p>
            <a:pPr indent="0" marL="0">
              <a:buNone/>
            </a:pPr>
            <a:r>
              <a:rPr lang="en-US" sz="1600" i="1" dirty="0">
                <a:solidFill>
                  <a:schemeClr val="accent5"/>
                </a:solidFill>
              </a:rPr>
              <a:t>Taak 1 à 5 : candidat, état des lieux, plainte, conseil, solution. Vous </a:t>
            </a:r>
            <a:r>
              <a:rPr lang="en-US" sz="1600" b="1" i="1" dirty="0">
                <a:solidFill>
                  <a:schemeClr val="accent5"/>
                </a:solidFill>
              </a:rPr>
              <a:t>clôturez</a:t>
            </a:r>
            <a:r>
              <a:rPr lang="en-US" sz="1600" i="1" dirty="0">
                <a:solidFill>
                  <a:schemeClr val="accent5"/>
                </a:solidFill>
              </a:rPr>
              <a:t> votre premier dossier : présentation à la zaakvoerder </a:t>
            </a:r>
            <a:r>
              <a:rPr lang="en-US" sz="1600" b="1" i="1" dirty="0">
                <a:solidFill>
                  <a:schemeClr val="accent5"/>
                </a:solidFill>
              </a:rPr>
              <a:t>et</a:t>
            </a:r>
            <a:r>
              <a:rPr lang="en-US" sz="1600" i="1" dirty="0">
                <a:solidFill>
                  <a:schemeClr val="accent5"/>
                </a:solidFill>
              </a:rPr>
              <a:t> verslag écrit.</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161032"/>
          <a:ext cx="11091672" cy="914400"/>
        </p:xfrm>
        <a:graphic>
          <a:graphicData uri="http://schemas.openxmlformats.org/drawingml/2006/table">
            <a:tbl>
              <a:tblPr/>
              <a:tblGrid>
                <a:gridCol w="2011680"/>
                <a:gridCol w="1417320"/>
                <a:gridCol w="4846320"/>
                <a:gridCol w="2816352"/>
              </a:tblGrid>
              <a:tr h="512978">
                <a:tc>
                  <a:txBody>
                    <a:bodyPr/>
                    <a:lstStyle/>
                    <a:p>
                      <a:pPr algn="l" indent="0" marL="0">
                        <a:buNone/>
                      </a:pPr>
                      <a:r>
                        <a:rPr lang="en-US" sz="1500" b="1" dirty="0">
                          <a:solidFill>
                            <a:schemeClr val="bg1"/>
                          </a:solidFill>
                        </a:rPr>
                        <a:t>ÉTAPE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DURÉE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CONSIGNE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VARIANTE DAGELIJKS LEVEN (P. 25A)</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1468526">
                <a:tc>
                  <a:txBody>
                    <a:bodyPr/>
                    <a:lstStyle/>
                    <a:p>
                      <a:pPr algn="l" indent="0" marL="0">
                        <a:buNone/>
                      </a:pPr>
                      <a:r>
                        <a:rPr lang="en-US" sz="1700" b="1" dirty="0">
                          <a:solidFill>
                            <a:schemeClr val="tx1"/>
                          </a:solidFill>
                        </a:rPr>
                        <a:t>① Het dossier afronden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25 min · binôme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Reprenez TAAK 1 à 5 : l’</a:t>
                      </a:r>
                      <a:r>
                        <a:rPr lang="en-US" sz="1700" b="1" dirty="0">
                          <a:solidFill>
                            <a:schemeClr val="tx1"/>
                          </a:solidFill>
                        </a:rPr>
                        <a:t>historique</a:t>
                      </a:r>
                      <a:r>
                        <a:rPr lang="en-US" sz="1700" dirty="0">
                          <a:solidFill>
                            <a:schemeClr val="tx1"/>
                          </a:solidFill>
                        </a:rPr>
                        <a:t> (imperfectum), ce que chacun a </a:t>
                      </a:r>
                      <a:r>
                        <a:rPr lang="en-US" sz="1700" b="1" dirty="0">
                          <a:solidFill>
                            <a:schemeClr val="tx1"/>
                          </a:solidFill>
                        </a:rPr>
                        <a:t>dit</a:t>
                      </a:r>
                      <a:r>
                        <a:rPr lang="en-US" sz="1700" dirty="0">
                          <a:solidFill>
                            <a:schemeClr val="tx1"/>
                          </a:solidFill>
                        </a:rPr>
                        <a:t> (discours indirect), les </a:t>
                      </a:r>
                      <a:r>
                        <a:rPr lang="en-US" sz="1700" b="1" dirty="0">
                          <a:solidFill>
                            <a:schemeClr val="tx1"/>
                          </a:solidFill>
                        </a:rPr>
                        <a:t>décisions</a:t>
                      </a:r>
                      <a:r>
                        <a:rPr lang="en-US" sz="1700" dirty="0">
                          <a:solidFill>
                            <a:schemeClr val="tx1"/>
                          </a:solidFill>
                        </a:rPr>
                        <a:t> (passif), votre </a:t>
                      </a:r>
                      <a:r>
                        <a:rPr lang="en-US" sz="1700" b="1" dirty="0">
                          <a:solidFill>
                            <a:schemeClr val="tx1"/>
                          </a:solidFill>
                        </a:rPr>
                        <a:t>recommandation</a:t>
                      </a:r>
                      <a:r>
                        <a:rPr lang="en-US" sz="1700" dirty="0">
                          <a:solidFill>
                            <a:schemeClr val="tx1"/>
                          </a:solidFill>
                        </a:rPr>
                        <a:t> (zou). </a:t>
                      </a:r>
                      <a:r>
                        <a:rPr lang="en-US" sz="1700" b="1" dirty="0">
                          <a:solidFill>
                            <a:schemeClr val="tx1"/>
                          </a:solidFill>
                        </a:rPr>
                        <a:t>Mots-clés uniquement</a:t>
                      </a:r>
                      <a:r>
                        <a:rPr lang="en-US" sz="1700" dirty="0">
                          <a:solidFill>
                            <a:schemeClr val="tx1"/>
                          </a:solidFill>
                        </a:rPr>
                        <a:t> : vous parlez, vous ne lisez pas.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Un problème du quotidien (objet perdu, panne, colis, facture, voisin bruyant) : productions D1 à D5</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1205179">
                <a:tc>
                  <a:txBody>
                    <a:bodyPr/>
                    <a:lstStyle/>
                    <a:p>
                      <a:pPr algn="l" indent="0" marL="0">
                        <a:buNone/>
                      </a:pPr>
                      <a:r>
                        <a:rPr lang="en-US" sz="1700" b="1" dirty="0">
                          <a:solidFill>
                            <a:schemeClr val="tx1"/>
                          </a:solidFill>
                        </a:rPr>
                        <a:t>② De teamvergadering</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6 min par binôme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Présentation </a:t>
                      </a:r>
                      <a:r>
                        <a:rPr lang="en-US" sz="1700" b="1" dirty="0">
                          <a:solidFill>
                            <a:schemeClr val="tx1"/>
                          </a:solidFill>
                        </a:rPr>
                        <a:t>à deux voix</a:t>
                      </a:r>
                      <a:r>
                        <a:rPr lang="en-US" sz="1700" dirty="0">
                          <a:solidFill>
                            <a:schemeClr val="tx1"/>
                          </a:solidFill>
                        </a:rPr>
                        <a:t> devant un autre binôme (l’exploitant et Yasmina) : chronologie, décisions, budget, recommandation. </a:t>
                      </a:r>
                      <a:r>
                        <a:rPr lang="en-US" sz="1700" b="1" dirty="0">
                          <a:solidFill>
                            <a:schemeClr val="tx1"/>
                          </a:solidFill>
                        </a:rPr>
                        <a:t>3 questions critiques</a:t>
                      </a:r>
                      <a:r>
                        <a:rPr lang="en-US" sz="1700" dirty="0">
                          <a:solidFill>
                            <a:schemeClr val="tx1"/>
                          </a:solidFill>
                        </a:rPr>
                        <a:t>, puis rôles inversés.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Votre « petite catastrophe » racontée à des amis (3 questions critiques)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941832">
                <a:tc>
                  <a:txBody>
                    <a:bodyPr/>
                    <a:lstStyle/>
                    <a:p>
                      <a:pPr algn="l" indent="0" marL="0">
                        <a:buNone/>
                      </a:pPr>
                      <a:r>
                        <a:rPr lang="en-US" sz="1700" b="1" dirty="0">
                          <a:solidFill>
                            <a:schemeClr val="tx1"/>
                          </a:solidFill>
                        </a:rPr>
                        <a:t>③ Het eindverslag</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15 min · seul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10 à 12 phrases</a:t>
                      </a:r>
                      <a:r>
                        <a:rPr lang="en-US" sz="1700" dirty="0">
                          <a:solidFill>
                            <a:schemeClr val="tx1"/>
                          </a:solidFill>
                        </a:rPr>
                        <a:t>, registre formel : </a:t>
                      </a:r>
                      <a:r>
                        <a:rPr lang="en-US" sz="1700" i="1" dirty="0">
                          <a:solidFill>
                            <a:schemeClr val="tx1"/>
                          </a:solidFill>
                        </a:rPr>
                        <a:t>ten eerste</a:t>
                      </a:r>
                      <a:r>
                        <a:rPr lang="en-US" sz="1700" dirty="0">
                          <a:solidFill>
                            <a:schemeClr val="tx1"/>
                          </a:solidFill>
                        </a:rPr>
                        <a:t> (imperfectum) → </a:t>
                      </a:r>
                      <a:r>
                        <a:rPr lang="en-US" sz="1700" i="1" dirty="0">
                          <a:solidFill>
                            <a:schemeClr val="tx1"/>
                          </a:solidFill>
                        </a:rPr>
                        <a:t>daarna</a:t>
                      </a:r>
                      <a:r>
                        <a:rPr lang="en-US" sz="1700" dirty="0">
                          <a:solidFill>
                            <a:schemeClr val="tx1"/>
                          </a:solidFill>
                        </a:rPr>
                        <a:t> (discours indirect) → </a:t>
                      </a:r>
                      <a:r>
                        <a:rPr lang="en-US" sz="1700" i="1" dirty="0">
                          <a:solidFill>
                            <a:schemeClr val="tx1"/>
                          </a:solidFill>
                        </a:rPr>
                        <a:t>vervolgens</a:t>
                      </a:r>
                      <a:r>
                        <a:rPr lang="en-US" sz="1700" dirty="0">
                          <a:solidFill>
                            <a:schemeClr val="tx1"/>
                          </a:solidFill>
                        </a:rPr>
                        <a:t> (passif) → </a:t>
                      </a:r>
                      <a:r>
                        <a:rPr lang="en-US" sz="1700" i="1" dirty="0">
                          <a:solidFill>
                            <a:schemeClr val="tx1"/>
                          </a:solidFill>
                        </a:rPr>
                        <a:t>kortom</a:t>
                      </a:r>
                      <a:r>
                        <a:rPr lang="en-US" sz="1700" dirty="0">
                          <a:solidFill>
                            <a:schemeClr val="tx1"/>
                          </a:solidFill>
                        </a:rPr>
                        <a:t> (état final, zou).</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Message de clôture : ami (informel) ou entreprise (formel)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checklist de réemploi</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24</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4114800"/>
                <a:gridCol w="822960"/>
                <a:gridCol w="548640"/>
                <a:gridCol w="5605272"/>
              </a:tblGrid>
              <a:tr h="580644">
                <a:tc>
                  <a:txBody>
                    <a:bodyPr/>
                    <a:lstStyle/>
                    <a:p>
                      <a:pPr algn="l" indent="0" marL="0">
                        <a:buNone/>
                      </a:pPr>
                      <a:r>
                        <a:rPr lang="en-US" sz="1500" b="1" dirty="0">
                          <a:solidFill>
                            <a:schemeClr val="bg1"/>
                          </a:solidFill>
                        </a:rPr>
                        <a:t>CHECKLIST DE RÉEMPLOI</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MIN.</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EXEMPLES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97103">
                <a:tc>
                  <a:txBody>
                    <a:bodyPr/>
                    <a:lstStyle/>
                    <a:p>
                      <a:pPr algn="l" indent="0" marL="0">
                        <a:buNone/>
                      </a:pPr>
                      <a:r>
                        <a:rPr lang="en-US" sz="1700" dirty="0">
                          <a:solidFill>
                            <a:schemeClr val="tx1"/>
                          </a:solidFill>
                        </a:rPr>
                        <a:t>Imperfectums (l’historique)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rPr>
                        <a:t>4</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i="1" dirty="0">
                          <a:solidFill>
                            <a:schemeClr val="tx1"/>
                          </a:solidFill>
                        </a:rPr>
                        <a:t>was · had · belde · ging</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97103">
                <a:tc>
                  <a:txBody>
                    <a:bodyPr/>
                    <a:lstStyle/>
                    <a:p>
                      <a:pPr algn="l" indent="0" marL="0">
                        <a:buNone/>
                      </a:pPr>
                      <a:r>
                        <a:rPr lang="en-US" sz="1700" dirty="0">
                          <a:solidFill>
                            <a:schemeClr val="tx1"/>
                          </a:solidFill>
                        </a:rPr>
                        <a:t>Discours indirects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700" dirty="0">
                          <a:solidFill>
                            <a:schemeClr val="tx1"/>
                          </a:solidFill>
                        </a:rPr>
                        <a:t>3</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i="1" dirty="0">
                          <a:solidFill>
                            <a:schemeClr val="tx1"/>
                          </a:solidFill>
                        </a:rPr>
                        <a:t>zei dat · vroeg of · vroeg + vraagwoord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97103">
                <a:tc>
                  <a:txBody>
                    <a:bodyPr/>
                    <a:lstStyle/>
                    <a:p>
                      <a:pPr algn="l" indent="0" marL="0">
                        <a:buNone/>
                      </a:pPr>
                      <a:r>
                        <a:rPr lang="en-US" sz="1700" dirty="0">
                          <a:solidFill>
                            <a:schemeClr val="tx1"/>
                          </a:solidFill>
                        </a:rPr>
                        <a:t>Passifs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rPr>
                        <a:t>3</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i="1" dirty="0">
                          <a:solidFill>
                            <a:schemeClr val="tx1"/>
                          </a:solidFill>
                        </a:rPr>
                        <a:t>wordt · werd · is + participe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97103">
                <a:tc>
                  <a:txBody>
                    <a:bodyPr/>
                    <a:lstStyle/>
                    <a:p>
                      <a:pPr algn="l" indent="0" marL="0">
                        <a:buNone/>
                      </a:pPr>
                      <a:r>
                        <a:rPr lang="en-US" sz="1700" dirty="0">
                          <a:solidFill>
                            <a:schemeClr val="tx1"/>
                          </a:solidFill>
                        </a:rPr>
                        <a:t>Conseil, politesse, hypothèse (ZOU)</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700" dirty="0">
                          <a:solidFill>
                            <a:schemeClr val="tx1"/>
                          </a:solidFill>
                        </a:rPr>
                        <a:t>3</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i="1" dirty="0">
                          <a:solidFill>
                            <a:schemeClr val="tx1"/>
                          </a:solidFill>
                        </a:rPr>
                        <a:t>Ik zou… · Zou u…? · Dat zou … kunnen zijn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97103">
                <a:tc>
                  <a:txBody>
                    <a:bodyPr/>
                    <a:lstStyle/>
                    <a:p>
                      <a:pPr algn="l" indent="0" marL="0">
                        <a:buNone/>
                      </a:pPr>
                      <a:r>
                        <a:rPr lang="en-US" sz="1700" dirty="0">
                          <a:solidFill>
                            <a:schemeClr val="tx1"/>
                          </a:solidFill>
                        </a:rPr>
                        <a:t>Acquis du palier 5</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rPr>
                        <a:t>4</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i="1" dirty="0">
                          <a:solidFill>
                            <a:schemeClr val="tx1"/>
                          </a:solidFill>
                        </a:rPr>
                        <a:t>relatives · er / waar + prép. · zodra · tenzij</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97103">
                <a:tc>
                  <a:txBody>
                    <a:bodyPr/>
                    <a:lstStyle/>
                    <a:p>
                      <a:pPr algn="l" indent="0" marL="0">
                        <a:buNone/>
                      </a:pPr>
                      <a:r>
                        <a:rPr lang="en-US" sz="1700" dirty="0">
                          <a:solidFill>
                            <a:schemeClr val="tx1"/>
                          </a:solidFill>
                        </a:rPr>
                        <a:t>Lexique de la location (mindmap 6.1)</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700" dirty="0">
                          <a:solidFill>
                            <a:schemeClr val="tx1"/>
                          </a:solidFill>
                        </a:rPr>
                        <a:t>10</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i="1" dirty="0">
                          <a:solidFill>
                            <a:schemeClr val="tx1"/>
                          </a:solidFill>
                        </a:rPr>
                        <a:t>de waarborg · de plaatsbeschrijving · opzeggen…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Variante du quotidien : la dernière ligne devient « Lexique du quotidien (D1 à D5) » — minimum 10.</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structure du verslag et phrases-modèles</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25</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011680"/>
                <a:gridCol w="3474720"/>
                <a:gridCol w="5605272"/>
              </a:tblGrid>
              <a:tr h="580644">
                <a:tc>
                  <a:txBody>
                    <a:bodyPr/>
                    <a:lstStyle/>
                    <a:p>
                      <a:pPr algn="l" indent="0" marL="0">
                        <a:buNone/>
                      </a:pPr>
                      <a:r>
                        <a:rPr lang="en-US" sz="1500" b="1" dirty="0">
                          <a:solidFill>
                            <a:schemeClr val="bg1"/>
                          </a:solidFill>
                        </a:rPr>
                        <a:t>CONNECTEUR</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CONTENU · OUTIL</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PHRASE-MODÈLE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888797">
                <a:tc>
                  <a:txBody>
                    <a:bodyPr/>
                    <a:lstStyle/>
                    <a:p>
                      <a:pPr algn="l" indent="0" marL="0">
                        <a:buNone/>
                      </a:pPr>
                      <a:r>
                        <a:rPr lang="en-US" sz="1700" b="1" dirty="0">
                          <a:solidFill>
                            <a:schemeClr val="tx1"/>
                          </a:solidFill>
                        </a:rPr>
                        <a:t>Ten eerste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l’historique · </a:t>
                      </a:r>
                      <a:r>
                        <a:rPr lang="en-US" sz="1700" b="1" dirty="0">
                          <a:solidFill>
                            <a:schemeClr val="tx1"/>
                          </a:solidFill>
                        </a:rPr>
                        <a:t>imperfectum</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Ten eerste was de muur bij intrede wit en in goede staat.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88797">
                <a:tc>
                  <a:txBody>
                    <a:bodyPr/>
                    <a:lstStyle/>
                    <a:p>
                      <a:pPr algn="l" indent="0" marL="0">
                        <a:buNone/>
                      </a:pPr>
                      <a:r>
                        <a:rPr lang="en-US" sz="1700" b="1" dirty="0">
                          <a:solidFill>
                            <a:schemeClr val="tx1"/>
                          </a:solidFill>
                        </a:rPr>
                        <a:t>Daarna</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les échanges · </a:t>
                      </a:r>
                      <a:r>
                        <a:rPr lang="en-US" sz="1700" b="1" dirty="0">
                          <a:solidFill>
                            <a:schemeClr val="tx1"/>
                          </a:solidFill>
                        </a:rPr>
                        <a:t>discours indirect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Daarna belde de huurder: hij zei dat er een lek was en vroeg of wij snel konden komen.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88797">
                <a:tc>
                  <a:txBody>
                    <a:bodyPr/>
                    <a:lstStyle/>
                    <a:p>
                      <a:pPr algn="l" indent="0" marL="0">
                        <a:buNone/>
                      </a:pPr>
                      <a:r>
                        <a:rPr lang="en-US" sz="1700" b="1" dirty="0">
                          <a:solidFill>
                            <a:schemeClr val="tx1"/>
                          </a:solidFill>
                        </a:rPr>
                        <a:t>Vervolgens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les actions · </a:t>
                      </a:r>
                      <a:r>
                        <a:rPr lang="en-US" sz="1700" b="1" dirty="0">
                          <a:solidFill>
                            <a:schemeClr val="tx1"/>
                          </a:solidFill>
                        </a:rPr>
                        <a:t>passif</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Vervolgens werd het lek hersteld en wordt de muur geschilderd.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88797">
                <a:tc>
                  <a:txBody>
                    <a:bodyPr/>
                    <a:lstStyle/>
                    <a:p>
                      <a:pPr algn="l" indent="0" marL="0">
                        <a:buNone/>
                      </a:pPr>
                      <a:r>
                        <a:rPr lang="en-US" sz="1700" b="1" dirty="0">
                          <a:solidFill>
                            <a:schemeClr val="tx1"/>
                          </a:solidFill>
                        </a:rPr>
                        <a:t>Kortom</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état final · recommandation (</a:t>
                      </a:r>
                      <a:r>
                        <a:rPr lang="en-US" sz="1700" b="1" dirty="0">
                          <a:solidFill>
                            <a:schemeClr val="tx1"/>
                          </a:solidFill>
                        </a:rPr>
                        <a:t>zou</a:t>
                      </a:r>
                      <a:r>
                        <a:rPr lang="en-US" sz="1700" dirty="0">
                          <a:solidFill>
                            <a:schemeClr val="tx1"/>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Kortom: het lek is hersteld, en ik zou de eigenaar aanraden de verzekering te contacteren.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Minimum 10 à 12 phrases, registre </a:t>
            </a:r>
            <a:r>
              <a:rPr lang="en-US" sz="1500" b="1" i="1" dirty="0">
                <a:solidFill>
                  <a:schemeClr val="accent5"/>
                </a:solidFill>
              </a:rPr>
              <a:t>formel</a:t>
            </a:r>
            <a:r>
              <a:rPr lang="en-US" sz="1500" i="1" dirty="0">
                <a:solidFill>
                  <a:schemeClr val="accent5"/>
                </a:solidFill>
              </a:rPr>
              <a:t> (</a:t>
            </a:r>
            <a:r>
              <a:rPr lang="en-US" sz="1500" i="1" dirty="0">
                <a:solidFill>
                  <a:schemeClr val="accent5"/>
                </a:solidFill>
              </a:rPr>
              <a:t>Geachte… · Met vriendelijke groeten</a:t>
            </a:r>
            <a:r>
              <a:rPr lang="en-US" sz="1500" i="1" dirty="0">
                <a:solidFill>
                  <a:schemeClr val="accent5"/>
                </a:solidFill>
              </a:rPr>
              <a:t>) — mots-clés à l’oral, phrases complètes à l’écrit.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Après le palier 6 : </a:t>
            </a:r>
            <a:r>
              <a:rPr lang="en-US" sz="2400" b="1" i="1" dirty="0">
                <a:solidFill>
                  <a:schemeClr val="bg1"/>
                </a:solidFill>
                <a:latin typeface="+mj-lt" pitchFamily="34" charset="0"/>
                <a:ea typeface="+mj-lt" pitchFamily="34" charset="-122"/>
                <a:cs typeface="+mj-lt" pitchFamily="34" charset="-120"/>
              </a:rPr>
              <a:t>bilan et auto-évaluation</a:t>
            </a:r>
            <a:r>
              <a:rPr lang="en-US" sz="2400" i="1" dirty="0">
                <a:solidFill>
                  <a:schemeClr val="bg1"/>
                </a:solidFill>
                <a:latin typeface="+mj-lt" pitchFamily="34" charset="0"/>
                <a:ea typeface="+mj-lt" pitchFamily="34" charset="-122"/>
                <a:cs typeface="+mj-lt" pitchFamily="34" charset="-120"/>
              </a:rPr>
              <a:t>. En six tâches : lexique, imperfectum, discours indirect, </a:t>
            </a:r>
            <a:r>
              <a:rPr lang="en-US" sz="2400" b="1" i="1" dirty="0">
                <a:solidFill>
                  <a:schemeClr val="bg1"/>
                </a:solidFill>
                <a:latin typeface="+mj-lt" pitchFamily="34" charset="0"/>
                <a:ea typeface="+mj-lt" pitchFamily="34" charset="-122"/>
                <a:cs typeface="+mj-lt" pitchFamily="34" charset="-120"/>
              </a:rPr>
              <a:t>zou</a:t>
            </a:r>
            <a:r>
              <a:rPr lang="en-US" sz="2400" i="1" dirty="0">
                <a:solidFill>
                  <a:schemeClr val="bg1"/>
                </a:solidFill>
                <a:latin typeface="+mj-lt" pitchFamily="34" charset="0"/>
                <a:ea typeface="+mj-lt" pitchFamily="34" charset="-122"/>
                <a:cs typeface="+mj-lt" pitchFamily="34" charset="-120"/>
              </a:rPr>
              <a:t>, passif… et un dossier complet. Puis le </a:t>
            </a:r>
            <a:r>
              <a:rPr lang="en-US" sz="2400" b="1" i="1" dirty="0">
                <a:solidFill>
                  <a:schemeClr val="bg1"/>
                </a:solidFill>
                <a:latin typeface="+mj-lt" pitchFamily="34" charset="0"/>
                <a:ea typeface="+mj-lt" pitchFamily="34" charset="-122"/>
                <a:cs typeface="+mj-lt" pitchFamily="34" charset="-120"/>
              </a:rPr>
              <a:t>palier 7</a:t>
            </a:r>
            <a:r>
              <a:rPr lang="en-US" sz="2400" i="1" dirty="0">
                <a:solidFill>
                  <a:schemeClr val="bg1"/>
                </a:solidFill>
                <a:latin typeface="+mj-lt" pitchFamily="34" charset="0"/>
                <a:ea typeface="+mj-lt" pitchFamily="34" charset="-122"/>
                <a:cs typeface="+mj-lt" pitchFamily="34" charset="-120"/>
              </a:rPr>
              <a:t>.</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Terminer l’</a:t>
            </a:r>
            <a:r>
              <a:rPr lang="en-US" sz="1700" b="1" dirty="0">
                <a:solidFill>
                  <a:schemeClr val="tx1"/>
                </a:solidFill>
              </a:rPr>
              <a:t>étape 3</a:t>
            </a:r>
            <a:r>
              <a:rPr lang="en-US" sz="1700" dirty="0">
                <a:solidFill>
                  <a:schemeClr val="tx1"/>
                </a:solidFill>
              </a:rPr>
              <a:t> : le </a:t>
            </a:r>
            <a:r>
              <a:rPr lang="en-US" sz="1700" b="1" dirty="0">
                <a:solidFill>
                  <a:schemeClr val="tx1"/>
                </a:solidFill>
              </a:rPr>
              <a:t>eindverslag</a:t>
            </a:r>
            <a:r>
              <a:rPr lang="en-US" sz="1700" dirty="0">
                <a:solidFill>
                  <a:schemeClr val="tx1"/>
                </a:solidFill>
              </a:rPr>
              <a:t> (10 à 12 phrases, registre formel).</a:t>
            </a:r>
            <a:endParaRPr lang="en-US" sz="1700" dirty="0"/>
          </a:p>
          <a:p>
            <a:pPr marL="190500" indent="-190500">
              <a:spcAft>
                <a:spcPts val="800"/>
              </a:spcAft>
              <a:buSzPct val="100000"/>
              <a:buChar char="•"/>
            </a:pPr>
            <a:r>
              <a:rPr lang="en-US" sz="1700" dirty="0">
                <a:solidFill>
                  <a:schemeClr val="tx1"/>
                </a:solidFill>
              </a:rPr>
              <a:t>Compléter votre </a:t>
            </a:r>
            <a:r>
              <a:rPr lang="en-US" sz="1700" b="1" dirty="0">
                <a:solidFill>
                  <a:schemeClr val="tx1"/>
                </a:solidFill>
              </a:rPr>
              <a:t>checklist de réemploi</a:t>
            </a:r>
            <a:r>
              <a:rPr lang="en-US" sz="1700" dirty="0">
                <a:solidFill>
                  <a:schemeClr val="tx1"/>
                </a:solidFill>
              </a:rPr>
              <a:t> (ce qu’il manque).</a:t>
            </a:r>
            <a:endParaRPr lang="en-US" sz="1700" dirty="0"/>
          </a:p>
          <a:p>
            <a:pPr marL="190500" indent="-190500">
              <a:spcAft>
                <a:spcPts val="800"/>
              </a:spcAft>
              <a:buSzPct val="100000"/>
              <a:buChar char="•"/>
            </a:pPr>
            <a:r>
              <a:rPr lang="en-US" sz="1700" dirty="0">
                <a:solidFill>
                  <a:schemeClr val="tx1"/>
                </a:solidFill>
              </a:rPr>
              <a:t>Apprendre </a:t>
            </a:r>
            <a:r>
              <a:rPr lang="en-US" sz="1700" b="1" dirty="0">
                <a:solidFill>
                  <a:schemeClr val="tx1"/>
                </a:solidFill>
              </a:rPr>
              <a:t>wordt / werd / is + participe</a:t>
            </a:r>
            <a:r>
              <a:rPr lang="en-US" sz="1700" dirty="0">
                <a:solidFill>
                  <a:schemeClr val="tx1"/>
                </a:solidFill>
              </a:rPr>
              <a:t> (p. 20) avec un exemple par temps.</a:t>
            </a:r>
            <a:endParaRPr lang="en-US" sz="1700" dirty="0"/>
          </a:p>
          <a:p>
            <a:pPr marL="190500" indent="-190500">
              <a:spcAft>
                <a:spcPts val="800"/>
              </a:spcAft>
              <a:buSzPct val="100000"/>
              <a:buChar char="•"/>
            </a:pPr>
            <a:r>
              <a:rPr lang="en-US" sz="1700" dirty="0">
                <a:solidFill>
                  <a:schemeClr val="tx1"/>
                </a:solidFill>
              </a:rPr>
              <a:t>D5 : écrire 3 phrases au passif à partir d’un message reçu cette semaine.</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Dites : « la fuite </a:t>
            </a:r>
            <a:r>
              <a:rPr lang="en-US" sz="1600" b="1" dirty="0">
                <a:solidFill>
                  <a:schemeClr val="bg1"/>
                </a:solidFill>
              </a:rPr>
              <a:t>est réparée</a:t>
            </a:r>
            <a:r>
              <a:rPr lang="en-US" sz="1600" dirty="0">
                <a:solidFill>
                  <a:schemeClr val="bg1"/>
                </a:solidFill>
              </a:rPr>
              <a:t> » (résultat) et « le mur </a:t>
            </a:r>
            <a:r>
              <a:rPr lang="en-US" sz="1600" b="1" dirty="0">
                <a:solidFill>
                  <a:schemeClr val="bg1"/>
                </a:solidFill>
              </a:rPr>
              <a:t>est en train d’être peint</a:t>
            </a:r>
            <a:r>
              <a:rPr lang="en-US" sz="1600" dirty="0">
                <a:solidFill>
                  <a:schemeClr val="bg1"/>
                </a:solidFill>
              </a:rPr>
              <a:t> » (processus).</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10 — De oplossing — het dossier</dc:title>
  <dc:subject>Néerlandais B1 — immobilier et vie quotidienne (Yasmina &amp; Stef)</dc:subject>
  <dc:creator>A. Jouniaux</dc:creator>
  <cp:lastModifiedBy>A. Jouniaux</cp:lastModifiedBy>
  <cp:revision>1</cp:revision>
  <dcterms:created xsi:type="dcterms:W3CDTF">2026-10-03T21:59:51Z</dcterms:created>
  <dcterms:modified xsi:type="dcterms:W3CDTF">2026-10-03T21:59:51Z</dcterms:modified>
</cp:coreProperties>
</file>