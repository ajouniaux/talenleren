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737cef7-12c3-2c76-ef71-4cf3c85e4d90}">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Clôture" id="{fbe324c7-ede0-1266-b792-9566beae3f56}">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consacrée à la subordination élargie : aangezien, zodat, zodra, toen, sinds, tenzij. La règle ne change pas (le verbe file à la fin), la palette s’enrichit. Activités : le rituel des huit conjonctions du palier 4, la lecture de la mail de meneer Peeters et de l’extrait de compromis (exercice 8), le choix du voegwoord (exercice 9), la TAAK 4 (réponse formelle) et D4 (message au vendeur du vélo).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La séance couvre les pages 15 à 18a du livret. La TAAK 4 (10 à 12 phrases) est longue : si besoin, les étudiants la terminent à la maison et la relecture croisée se fait en début de séance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Rituel d’ouverture du livret : les huit conjonctions du palier 4 (voir le livret du palier 4) avec leur sens, de mémoire, 2 minutes en binôme. Faire dire au moins une phrase avec chacune (omdat, hoewel, nadat, als…). Puis rappel de la séance 3 : met wie / waarop / erop / waarover.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Rituel d’ouverture du livret : les huit conjonctions du palier 4 (voir le livret du palier 4) avec leur sens, de mémoire, 2 minutes en binôme. Faire dire au moins une phrase avec chacune (omdat, hoewel, nadat, als…). Puis rappel de la séance 3 : met wie / waarop / erop / waarover.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après « dus » (coordination), l’ordre ne change pas : « dus we kunnen snel starten ». Après « Zodra … » en tête de phrase, la principale commence par le verbe (zet ik : inversion). « Tenzij je liever alleen werkt » : verbe final. « Toen ik vorig jaar alles alleen moest doen » : deux verbes à la fin (moest doen), puis « was het écht te druk »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du livret p. 16 (colonnes : néerlandais, français, sens, exemple du métier). Faire lire chaque exemple à voix haute et souligner le verbe final. Insister sur « aangezien » (cause formelle, plutôt en tête de phrase), « zodat » (but / conséquence) et « tenzij » (exception : à moins que). « Sinds » + présent en néerlandais : Sinds de advertentie online staat (présent) = depuis que l’annonce est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règle du palier 4 : le verbe conjugué part à la fin de la subordonnée ; avec deux verbes (moest doen), le verbe conjugué précède l’infinitif (moest doen). Quand la subordonnée ouvre la phrase, elle compte pour « un seul élément » : le verbe de la principale arrive juste après (bel ik, was het, krijgen we). Remarque B1+ : un groupe prépositionnel peut suivre le verbe final (« nodig heeft voor de lening ») — voir le courriel de meneer Peeters.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Complément à la ligne « toen » du tableau (quand, passé unique). Retenir : toen = passé ponctuel ; als = présent / futur / habitude / condition ; wanneer (palier 4) = quand (présent / futur, interrogatif). Les exemples sont ceux du livret (toen ik het huis bezocht ; als de bank de lening weigert, art. 3 du compromis).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Compréhension de l’écrit : courriel d’un client formel (« Geachte mevrouw »). Faire repérer le montant, la condition (tenzij), la raison du délai (aangezien) et la suite (zodra). Vocabulaire : een bod uitbrengen = faire une offre ; de lening = le prêt ; het antwoord = la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Extrait simplifié d’un compromis : une condition suspensive (obtention du prêt). « Verkoopsovereenkomst » est la forme du livret ; on rencontre aussi « verkoopovereenkomst ». Faire repérer les trois subordonnées : zodra…, als…, op voorwaarde 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Réponse 1 : la condition est « tenzij de eigenaar al een hoger bod heeft ontvangen » (si le propriétaire n’a pas déjà reçu une offre supérieure). Réponse 2 : « aangezien onze bank drie weken nodig heeft » (cause) ; on accepte « omdat » à l’oral. Réponse 3 : l’acheteur peut annuler, mais seulement s’il prévient avant le 30 septembre.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Réponse 1 : la condition est « tenzij de eigenaar al een hoger bod heeft ontvangen » (si le propriétaire n’a pas déjà reçu une offre supérieure). Réponse 2 : « aangezien onze bank drie weken nodig heeft » (cause) ; on accepte « omdat » à l’oral. Réponse 3 : l’acheteur peut annuler, mais seulement s’il prévient avant le 30 septembre.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7 subordonnées (4 dans la mail, 3 dans l’article 3). Dans « Aangezien onze bank drie weken nodig heeft voor de lening », le verbe conjugué « heeft » est suivi du groupe prépositionnel « voor de lening » : en néerlandais, un groupe prépositionnel peut se placer après le verbe final (extraposition) — la règle « verbe à la fin » vaut pour les verbes (heeft ontvangen, is, hebt), pas pour tous les compléments. « Of dat een probleem is » : question indirecte introduite par « of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7 subordonnées (4 dans la mail, 3 dans l’article 3). Dans « Aangezien onze bank drie weken nodig heeft voor de lening », le verbe conjugué « heeft » est suivi du groupe prépositionnel « voor de lening » : en néerlandais, un groupe prépositionnel peut se placer après le verbe final (extraposition) — la règle « verbe à la fin » vaut pour les verbes (heeft ontvangen, is, hebt), pas pour tous les compléments. « Of dat een probleem is » : question indirecte introduite par « of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Item 3 : « Zodra het bod binnen is, bel ik de eigenaar op » (opbellen est séparable : bel … op). « Als » serait acceptable à la place de « zodra » mais perd le sens « dès que ». Item 1 : « Sinds ik bij Immo Van Damme werk » (présent). Item 4 : « Toen » (passé unique) — et la principale est inversée : was ik. Item 6 : « Aangezien » (cause formelle) : tekenen we digitaal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Item 3 : « Zodra het bod binnen is, bel ik de eigenaar op » (opbellen est séparable : bel … op). « Als » serait acceptable à la place de « zodra » mais perd le sens « dès que ». Item 1 : « Sinds ik bij Immo Van Damme werk » (présent). Item 4 : « Toen » (passé unique) — et la principale est inversée : was ik. Item 6 : « Aangezien » (cause formelle) : tekenen we digitaal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Taak 4 (production écrite formelle). Critères : 10 à 12 phrases ; accusé de réception ; au moins trois subordonnées variées avec le verbe à la fin ; ten eerste / bovendien / kortom ; proposition « Zullen we… ». Registre formel : u, Geachte heer Peeters, Met vriendelijke groeten. La relecture croisée vérifie surtout la place du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indicatif de 10 phrases (registre formel, hors formules d’ouverture et de clôture). Subordonnées : aangezien…, tenzij…, zodra…, als…, op voorwaarde dat…, zodat…, als u nog vragen hebt (7 au total). Connecteurs : ten eerste, bovendien, kortom. Proposition : Zullen we… Les productions des étudiants peuvent proposer une autre issue (accepte / hésite / autre offre) : accepter toute version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Retour au vélo de Stef (annonce A de la D2) : il écrit au vendeur. Registre neutre = celui du message court entre inconnus polis. Phrases-clés : Is de fiets nog beschikbaar? (le vélo est-il encore disponible ?) · Komt het u zaterdag goed uit? (samedi vous convient-il ?) · Ik laat u iets weten. (je vous tiens au courant). La Belgique néerlandophone vouvoie plus volontiers qu’aux Pays-Bas.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 pas de correction unique. Début imposé par le livret : « Dag meneer, ik ben geïnteresseerd in de stadsfiets die u op 2dehands verkoopt. Aangezien ik in Vorst woon, … ». Vérifier : verbe final dans chaque subordonnée, inversion dans la principale après la subordonnée en tête (kan ik, laat ik). Le vendeur répond en 2 à 3 phrases en passant au « je » : l’étudiant adapte ensuite sa réponse. « Afspreekt » : afspreken est séparable (ik spreek af) ; dans la subordonnée, la particule se ressoude.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six transformations avec les six conjonctions de la séquence. Deux ordres sont possibles quand la subordonnée n’est pas obligatoirement en tête (1, 2, 6 : subordonnée après la principale ; 3, 4, 5 : subordonnée en tête → inversion dans la principale). Les étudiants peuvent aussi proposer l’ordre inverse (Zodat de eigenaar dan thuis is, bezichtigen we…) mais « zodat » s’emploie surtout après la principale.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six transformations avec les six conjonctions de la séquence. Deux ordres sont possibles quand la subordonnée n’est pas obligatoirement en tête (1, 2, 6 : subordonnée après la principale ; 3, 4, 5 : subordonnée en tête → inversion dans la principale). Les étudiants peuvent aussi proposer l’ordre inverse (Zodat de eigenaar dan thuis is, bezichtigen we…) mais « zodat » s’emploie surtout après la principale.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 « Zodra » puis « tenzij ». Annoncer la séance 5 : l’ordre des mots, niveau supérieur (exercice 10), la réécriture du mauvais zoekertje (exercice 11), la négociation (TAAK 5, D5) et la présentation de la TAAK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04</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04</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04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5.4</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Voorwaarden en afspraken</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Six nouvelles conjonctions : le néerlandais du contrat et du courriel formel</a:t>
            </a:r>
            <a:endParaRPr lang="en-US" sz="1800" dirty="0"/>
          </a:p>
          <a:p>
            <a:pPr algn="l" indent="0" marL="0">
              <a:buNone/>
            </a:pPr>
            <a:r>
              <a:rPr lang="en-US" sz="1800" b="1" dirty="0">
                <a:solidFill>
                  <a:schemeClr val="bg2"/>
                </a:solidFill>
              </a:rPr>
              <a:t>Palier 5 · Van opdracht tot verkoop</a:t>
            </a:r>
            <a:endParaRPr lang="en-US" sz="1800" dirty="0"/>
          </a:p>
          <a:p>
            <a:pPr algn="l" indent="0" marL="0">
              <a:buNone/>
            </a:pPr>
            <a:r>
              <a:rPr lang="en-US" sz="1800" dirty="0">
                <a:solidFill>
                  <a:schemeClr val="bg2"/>
                </a:solidFill>
              </a:rPr>
              <a:t>Livret p. 15–18a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1251"/>
            <a:ext cx="5120640" cy="3415498"/>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15–18a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400" dirty="0">
                <a:solidFill>
                  <a:schemeClr val="tx1"/>
                </a:solidFill>
              </a:rPr>
              <a:t>Poser </a:t>
            </a:r>
            <a:r>
              <a:rPr lang="en-US" sz="1400" b="1" dirty="0">
                <a:solidFill>
                  <a:schemeClr val="tx1"/>
                </a:solidFill>
              </a:rPr>
              <a:t>conditions, causes et délais</a:t>
            </a:r>
            <a:r>
              <a:rPr lang="en-US" sz="1400" dirty="0">
                <a:solidFill>
                  <a:schemeClr val="tx1"/>
                </a:solidFill>
              </a:rPr>
              <a:t> avec </a:t>
            </a:r>
            <a:r>
              <a:rPr lang="en-US" sz="1400" b="1" dirty="0">
                <a:solidFill>
                  <a:schemeClr val="tx1"/>
                </a:solidFill>
              </a:rPr>
              <a:t>aangezien, zodat, zodra, toen, sinds, tenzij</a:t>
            </a:r>
            <a:r>
              <a:rPr lang="en-US" sz="1400" dirty="0">
                <a:solidFill>
                  <a:schemeClr val="tx1"/>
                </a:solidFill>
              </a:rPr>
              <a:t>, lire un courriel de client et </a:t>
            </a:r>
            <a:r>
              <a:rPr lang="en-US" sz="1400" b="1" dirty="0">
                <a:solidFill>
                  <a:schemeClr val="tx1"/>
                </a:solidFill>
              </a:rPr>
              <a:t>y répondre</a:t>
            </a:r>
            <a:r>
              <a:rPr lang="en-US" sz="1400" dirty="0">
                <a:solidFill>
                  <a:schemeClr val="tx1"/>
                </a:solidFill>
              </a:rPr>
              <a:t> en registre formel.</a:t>
            </a:r>
            <a:endParaRPr lang="en-US" sz="14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aangezien · zodat · zodra · toen · sinds · tenzij · op voorwaarde dat · Zou u … kunnen …?</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500" dirty="0">
                <a:solidFill>
                  <a:schemeClr val="tx1"/>
                </a:solidFill>
              </a:rPr>
              <a:t>Lire un courriel et un extrait de contrat · placer le verbe à la fin · inverser après la subordonnée · écrire en registre formel et neutre</a:t>
            </a:r>
            <a:endParaRPr lang="en-US" sz="15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Rituel : les 8 conjonctions + rappel</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5.4 · la langue du contrat</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Les six conjonctions du métier</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8 De mail van meneer Peeters</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9 Kies het juiste voegwoord</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4 · Antwoord aan meneer Peeters</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20'</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D4 · Een berichtje aan de verkoper</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rituel d’ouverture et rappel</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Rituel (p. 15) : en binôme, </a:t>
            </a:r>
            <a:r>
              <a:rPr lang="en-US" sz="1600" b="1" i="1" dirty="0">
                <a:solidFill>
                  <a:schemeClr val="accent5"/>
                </a:solidFill>
              </a:rPr>
              <a:t>récitez de mémoire les huit conjonctions du palier 4</a:t>
            </a:r>
            <a:r>
              <a:rPr lang="en-US" sz="1600" i="1" dirty="0">
                <a:solidFill>
                  <a:schemeClr val="accent5"/>
                </a:solidFill>
              </a:rPr>
              <a:t> avec leur sens (2 min, sans notes). Puis rappel de la séance 3 :</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400" b="1" dirty="0">
                <a:solidFill>
                  <a:schemeClr val="tx2"/>
                </a:solidFill>
              </a:rPr>
              <a:t>1.  </a:t>
            </a:r>
            <a:r>
              <a:rPr lang="en-US" sz="2400" dirty="0">
                <a:solidFill>
                  <a:schemeClr val="tx1"/>
                </a:solidFill>
              </a:rPr>
              <a:t>De klant </a:t>
            </a:r>
            <a:r>
              <a:rPr lang="en-US" sz="2400" dirty="0">
                <a:solidFill>
                  <a:schemeClr val="accent5"/>
                </a:solidFill>
              </a:rPr>
              <a:t>……………</a:t>
            </a:r>
            <a:r>
              <a:rPr lang="en-US" sz="2400" dirty="0">
                <a:solidFill>
                  <a:schemeClr val="tx1"/>
                </a:solidFill>
              </a:rPr>
              <a:t> ik een afspraak heb, heet Claes.</a:t>
            </a:r>
            <a:endParaRPr lang="en-US" sz="2400" dirty="0"/>
          </a:p>
          <a:p>
            <a:pPr indent="0" marL="0">
              <a:spcAft>
                <a:spcPts val="800"/>
              </a:spcAft>
              <a:buNone/>
            </a:pPr>
            <a:r>
              <a:rPr lang="en-US" sz="2400" b="1" dirty="0">
                <a:solidFill>
                  <a:schemeClr val="tx2"/>
                </a:solidFill>
              </a:rPr>
              <a:t>2.  </a:t>
            </a:r>
            <a:r>
              <a:rPr lang="en-US" sz="2400" dirty="0">
                <a:solidFill>
                  <a:schemeClr val="tx1"/>
                </a:solidFill>
              </a:rPr>
              <a:t>Het bod </a:t>
            </a:r>
            <a:r>
              <a:rPr lang="en-US" sz="2400" dirty="0">
                <a:solidFill>
                  <a:schemeClr val="accent5"/>
                </a:solidFill>
              </a:rPr>
              <a:t>……………</a:t>
            </a:r>
            <a:r>
              <a:rPr lang="en-US" sz="2400" dirty="0">
                <a:solidFill>
                  <a:schemeClr val="tx1"/>
                </a:solidFill>
              </a:rPr>
              <a:t> de eigenaar wacht, komt vandaag.</a:t>
            </a:r>
            <a:endParaRPr lang="en-US" sz="2400" dirty="0"/>
          </a:p>
          <a:p>
            <a:pPr indent="0" marL="0">
              <a:spcAft>
                <a:spcPts val="800"/>
              </a:spcAft>
              <a:buNone/>
            </a:pPr>
            <a:r>
              <a:rPr lang="en-US" sz="2400" b="1" dirty="0">
                <a:solidFill>
                  <a:schemeClr val="tx2"/>
                </a:solidFill>
              </a:rPr>
              <a:t>3.  </a:t>
            </a:r>
            <a:r>
              <a:rPr lang="en-US" sz="2400" dirty="0">
                <a:solidFill>
                  <a:schemeClr val="tx1"/>
                </a:solidFill>
              </a:rPr>
              <a:t>Ik wacht </a:t>
            </a:r>
            <a:r>
              <a:rPr lang="en-US" sz="2400" dirty="0">
                <a:solidFill>
                  <a:schemeClr val="accent5"/>
                </a:solidFill>
              </a:rPr>
              <a:t>……………</a:t>
            </a:r>
            <a:r>
              <a:rPr lang="en-US" sz="2400" dirty="0">
                <a:solidFill>
                  <a:schemeClr val="tx1"/>
                </a:solidFill>
              </a:rPr>
              <a:t> sinds vrijdag.</a:t>
            </a:r>
            <a:endParaRPr lang="en-US" sz="2400" dirty="0"/>
          </a:p>
          <a:p>
            <a:pPr indent="0" marL="0">
              <a:spcAft>
                <a:spcPts val="800"/>
              </a:spcAft>
              <a:buNone/>
            </a:pPr>
            <a:r>
              <a:rPr lang="en-US" sz="2400" b="1" dirty="0">
                <a:solidFill>
                  <a:schemeClr val="tx2"/>
                </a:solidFill>
              </a:rPr>
              <a:t>4.  </a:t>
            </a:r>
            <a:r>
              <a:rPr lang="en-US" sz="2400" dirty="0">
                <a:solidFill>
                  <a:schemeClr val="tx1"/>
                </a:solidFill>
              </a:rPr>
              <a:t>Het budget </a:t>
            </a:r>
            <a:r>
              <a:rPr lang="en-US" sz="2400" dirty="0">
                <a:solidFill>
                  <a:schemeClr val="accent5"/>
                </a:solidFill>
              </a:rPr>
              <a:t>……………</a:t>
            </a:r>
            <a:r>
              <a:rPr lang="en-US" sz="2400" dirty="0">
                <a:solidFill>
                  <a:schemeClr val="tx1"/>
                </a:solidFill>
              </a:rPr>
              <a:t> wij praten, is realistisch.</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rituel d’ouverture et rappel</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Rituel (p. 15) : en binôme, </a:t>
            </a:r>
            <a:r>
              <a:rPr lang="en-US" sz="1600" b="1" i="1" dirty="0">
                <a:solidFill>
                  <a:schemeClr val="accent5"/>
                </a:solidFill>
              </a:rPr>
              <a:t>récitez de mémoire les huit conjonctions du palier 4</a:t>
            </a:r>
            <a:r>
              <a:rPr lang="en-US" sz="1600" i="1" dirty="0">
                <a:solidFill>
                  <a:schemeClr val="accent5"/>
                </a:solidFill>
              </a:rPr>
              <a:t> avec leur sens (2 min, sans notes). Puis rappel de la séance 3 :</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400" b="1" dirty="0">
                <a:solidFill>
                  <a:schemeClr val="tx2"/>
                </a:solidFill>
              </a:rPr>
              <a:t>1.  </a:t>
            </a:r>
            <a:r>
              <a:rPr lang="en-US" sz="2400" dirty="0">
                <a:solidFill>
                  <a:schemeClr val="tx1"/>
                </a:solidFill>
              </a:rPr>
              <a:t>De klant </a:t>
            </a:r>
            <a:r>
              <a:rPr lang="en-US" sz="2400" b="1" dirty="0">
                <a:solidFill>
                  <a:schemeClr val="accent3"/>
                </a:solidFill>
              </a:rPr>
              <a:t>met wie</a:t>
            </a:r>
            <a:r>
              <a:rPr lang="en-US" sz="2400" dirty="0">
                <a:solidFill>
                  <a:schemeClr val="tx1"/>
                </a:solidFill>
              </a:rPr>
              <a:t> ik een afspraak heb, heet Claes.</a:t>
            </a:r>
            <a:endParaRPr lang="en-US" sz="2400" dirty="0"/>
          </a:p>
          <a:p>
            <a:pPr indent="0" marL="0">
              <a:spcAft>
                <a:spcPts val="800"/>
              </a:spcAft>
              <a:buNone/>
            </a:pPr>
            <a:r>
              <a:rPr lang="en-US" sz="2400" b="1" dirty="0">
                <a:solidFill>
                  <a:schemeClr val="tx2"/>
                </a:solidFill>
              </a:rPr>
              <a:t>2.  </a:t>
            </a:r>
            <a:r>
              <a:rPr lang="en-US" sz="2400" dirty="0">
                <a:solidFill>
                  <a:schemeClr val="tx1"/>
                </a:solidFill>
              </a:rPr>
              <a:t>Het bod </a:t>
            </a:r>
            <a:r>
              <a:rPr lang="en-US" sz="2400" b="1" dirty="0">
                <a:solidFill>
                  <a:schemeClr val="accent3"/>
                </a:solidFill>
              </a:rPr>
              <a:t>waarop</a:t>
            </a:r>
            <a:r>
              <a:rPr lang="en-US" sz="2400" dirty="0">
                <a:solidFill>
                  <a:schemeClr val="tx1"/>
                </a:solidFill>
              </a:rPr>
              <a:t> de eigenaar wacht, komt vandaag.</a:t>
            </a:r>
            <a:endParaRPr lang="en-US" sz="2400" dirty="0"/>
          </a:p>
          <a:p>
            <a:pPr indent="0" marL="0">
              <a:spcAft>
                <a:spcPts val="800"/>
              </a:spcAft>
              <a:buNone/>
            </a:pPr>
            <a:r>
              <a:rPr lang="en-US" sz="2400" b="1" dirty="0">
                <a:solidFill>
                  <a:schemeClr val="tx2"/>
                </a:solidFill>
              </a:rPr>
              <a:t>3.  </a:t>
            </a:r>
            <a:r>
              <a:rPr lang="en-US" sz="2400" dirty="0">
                <a:solidFill>
                  <a:schemeClr val="tx1"/>
                </a:solidFill>
              </a:rPr>
              <a:t>Ik wacht </a:t>
            </a:r>
            <a:r>
              <a:rPr lang="en-US" sz="2400" b="1" dirty="0">
                <a:solidFill>
                  <a:schemeClr val="accent3"/>
                </a:solidFill>
              </a:rPr>
              <a:t>erop</a:t>
            </a:r>
            <a:r>
              <a:rPr lang="en-US" sz="2400" dirty="0">
                <a:solidFill>
                  <a:schemeClr val="tx1"/>
                </a:solidFill>
              </a:rPr>
              <a:t> sinds vrijdag.</a:t>
            </a:r>
            <a:endParaRPr lang="en-US" sz="2400" dirty="0"/>
          </a:p>
          <a:p>
            <a:pPr indent="0" marL="0">
              <a:spcAft>
                <a:spcPts val="800"/>
              </a:spcAft>
              <a:buNone/>
            </a:pPr>
            <a:r>
              <a:rPr lang="en-US" sz="2400" b="1" dirty="0">
                <a:solidFill>
                  <a:schemeClr val="tx2"/>
                </a:solidFill>
              </a:rPr>
              <a:t>4.  </a:t>
            </a:r>
            <a:r>
              <a:rPr lang="en-US" sz="2400" dirty="0">
                <a:solidFill>
                  <a:schemeClr val="tx1"/>
                </a:solidFill>
              </a:rPr>
              <a:t>Het budget </a:t>
            </a:r>
            <a:r>
              <a:rPr lang="en-US" sz="2400" b="1" dirty="0">
                <a:solidFill>
                  <a:schemeClr val="accent3"/>
                </a:solidFill>
              </a:rPr>
              <a:t>waarover</a:t>
            </a:r>
            <a:r>
              <a:rPr lang="en-US" sz="2400" dirty="0">
                <a:solidFill>
                  <a:schemeClr val="tx1"/>
                </a:solidFill>
              </a:rPr>
              <a:t> wij praten, is realistisch.</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Personne</a:t>
            </a:r>
            <a:r>
              <a:rPr lang="en-US" sz="1800" dirty="0">
                <a:solidFill>
                  <a:schemeClr val="tx1"/>
                </a:solidFill>
              </a:rPr>
              <a:t> → prép. + </a:t>
            </a:r>
            <a:r>
              <a:rPr lang="en-US" sz="1800" b="1" dirty="0">
                <a:solidFill>
                  <a:schemeClr val="tx1"/>
                </a:solidFill>
              </a:rPr>
              <a:t>wie</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Chose</a:t>
            </a:r>
            <a:r>
              <a:rPr lang="en-US" sz="1800" dirty="0">
                <a:solidFill>
                  <a:schemeClr val="tx1"/>
                </a:solidFill>
              </a:rPr>
              <a:t> → </a:t>
            </a:r>
            <a:r>
              <a:rPr lang="en-US" sz="1800" b="1" dirty="0">
                <a:solidFill>
                  <a:schemeClr val="tx1"/>
                </a:solidFill>
              </a:rPr>
              <a:t>waar-</a:t>
            </a:r>
            <a:r>
              <a:rPr lang="en-US" sz="1800" dirty="0">
                <a:solidFill>
                  <a:schemeClr val="tx1"/>
                </a:solidFill>
              </a:rPr>
              <a:t> + préposition (relative) ou </a:t>
            </a:r>
            <a:r>
              <a:rPr lang="en-US" sz="1800" b="1" dirty="0">
                <a:solidFill>
                  <a:schemeClr val="tx1"/>
                </a:solidFill>
              </a:rPr>
              <a:t>er-</a:t>
            </a:r>
            <a:r>
              <a:rPr lang="en-US" sz="1800" dirty="0">
                <a:solidFill>
                  <a:schemeClr val="tx1"/>
                </a:solidFill>
              </a:rPr>
              <a:t> + préposition (pronom).</a:t>
            </a:r>
            <a:endParaRPr lang="en-US" sz="1800" dirty="0"/>
          </a:p>
          <a:p>
            <a:pPr marL="177800" indent="-177800">
              <a:spcAft>
                <a:spcPts val="600"/>
              </a:spcAft>
              <a:buSzPct val="100000"/>
              <a:buChar char="•"/>
            </a:pPr>
            <a:r>
              <a:rPr lang="en-US" sz="1800" b="1" dirty="0">
                <a:solidFill>
                  <a:schemeClr val="tx1"/>
                </a:solidFill>
              </a:rPr>
              <a:t>met → mee</a:t>
            </a:r>
            <a:r>
              <a:rPr lang="en-US" sz="1800" dirty="0">
                <a:solidFill>
                  <a:schemeClr val="tx1"/>
                </a:solidFill>
              </a:rPr>
              <a:t> : </a:t>
            </a:r>
            <a:r>
              <a:rPr lang="en-US" sz="1800" i="1" dirty="0">
                <a:solidFill>
                  <a:schemeClr val="tx1"/>
                </a:solidFill>
              </a:rPr>
              <a:t>waarmee, ermee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5.4 : voorwaarden en afspraken</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5409"/>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432048"/>
          </a:xfrm>
          <a:prstGeom prst="rect">
            <a:avLst/>
          </a:prstGeom>
          <a:noFill/>
          <a:ln/>
        </p:spPr>
        <p:txBody>
          <a:bodyPr wrap="square" lIns="0" tIns="0" rIns="0" bIns="0" rtlCol="0" anchor="t"/>
          <a:lstStyle/>
          <a:p>
            <a:pPr indent="0" marL="0">
              <a:spcAft>
                <a:spcPts val="1000"/>
              </a:spcAft>
              <a:buNone/>
            </a:pPr>
            <a:r>
              <a:rPr lang="en-US" sz="1700" dirty="0">
                <a:solidFill>
                  <a:schemeClr val="tx1"/>
                </a:solidFill>
              </a:rPr>
              <a:t>Tout dossier vit de </a:t>
            </a:r>
            <a:r>
              <a:rPr lang="en-US" sz="1700" b="1" dirty="0">
                <a:solidFill>
                  <a:schemeClr val="tx1"/>
                </a:solidFill>
              </a:rPr>
              <a:t>conditions</a:t>
            </a:r>
            <a:r>
              <a:rPr lang="en-US" sz="1700" dirty="0">
                <a:solidFill>
                  <a:schemeClr val="tx1"/>
                </a:solidFill>
              </a:rPr>
              <a:t> : la règle ne change pas (le verbe file à la </a:t>
            </a:r>
            <a:r>
              <a:rPr lang="en-US" sz="1700" b="1" dirty="0">
                <a:solidFill>
                  <a:schemeClr val="tx1"/>
                </a:solidFill>
              </a:rPr>
              <a:t>fin</a:t>
            </a:r>
            <a:r>
              <a:rPr lang="en-US" sz="1700" dirty="0">
                <a:solidFill>
                  <a:schemeClr val="tx1"/>
                </a:solidFill>
              </a:rPr>
              <a:t>), la palette s’enrichit de </a:t>
            </a:r>
            <a:r>
              <a:rPr lang="en-US" sz="1700" b="1" dirty="0">
                <a:solidFill>
                  <a:schemeClr val="tx1"/>
                </a:solidFill>
              </a:rPr>
              <a:t>six conjonctions</a:t>
            </a:r>
            <a:r>
              <a:rPr lang="en-US" sz="1700" dirty="0">
                <a:solidFill>
                  <a:schemeClr val="tx1"/>
                </a:solidFill>
              </a:rPr>
              <a:t>.</a:t>
            </a:r>
            <a:endParaRPr lang="en-US" sz="1700" dirty="0"/>
          </a:p>
          <a:p>
            <a:pPr indent="0" marL="0">
              <a:spcAft>
                <a:spcPts val="1000"/>
              </a:spcAft>
              <a:buNone/>
            </a:pPr>
            <a:r>
              <a:rPr lang="en-US" sz="1700" b="1" dirty="0">
                <a:solidFill>
                  <a:schemeClr val="tx1"/>
                </a:solidFill>
              </a:rPr>
              <a:t>Focus : lignes 3, 7, 8 et 9</a:t>
            </a:r>
            <a:endParaRPr lang="en-US" sz="1700" dirty="0"/>
          </a:p>
          <a:p>
            <a:pPr indent="0" marL="0">
              <a:spcAft>
                <a:spcPts val="1000"/>
              </a:spcAft>
              <a:buNone/>
            </a:pPr>
            <a:r>
              <a:rPr lang="en-US" sz="1700" dirty="0">
                <a:solidFill>
                  <a:schemeClr val="tx1"/>
                </a:solidFill>
              </a:rPr>
              <a:t>«…, </a:t>
            </a:r>
            <a:r>
              <a:rPr lang="en-US" sz="1700" b="1" dirty="0">
                <a:solidFill>
                  <a:schemeClr val="tx1"/>
                </a:solidFill>
              </a:rPr>
              <a:t>dus</a:t>
            </a:r>
            <a:r>
              <a:rPr lang="en-US" sz="1700" dirty="0">
                <a:solidFill>
                  <a:schemeClr val="tx1"/>
                </a:solidFill>
              </a:rPr>
              <a:t> we kunnen snel starten.» (coordination : ordre inchangé)</a:t>
            </a:r>
            <a:endParaRPr lang="en-US" sz="1700" dirty="0"/>
          </a:p>
          <a:p>
            <a:pPr indent="0" marL="0">
              <a:spcAft>
                <a:spcPts val="1000"/>
              </a:spcAft>
              <a:buNone/>
            </a:pPr>
            <a:r>
              <a:rPr lang="en-US" sz="1700" dirty="0">
                <a:solidFill>
                  <a:schemeClr val="tx1"/>
                </a:solidFill>
              </a:rPr>
              <a:t>«</a:t>
            </a:r>
            <a:r>
              <a:rPr lang="en-US" sz="1700" b="1" dirty="0">
                <a:solidFill>
                  <a:schemeClr val="tx1"/>
                </a:solidFill>
              </a:rPr>
              <a:t>Zodra</a:t>
            </a:r>
            <a:r>
              <a:rPr lang="en-US" sz="1700" dirty="0">
                <a:solidFill>
                  <a:schemeClr val="tx1"/>
                </a:solidFill>
              </a:rPr>
              <a:t> de foto’s binnen zijn, </a:t>
            </a:r>
            <a:r>
              <a:rPr lang="en-US" sz="1700" b="1" dirty="0">
                <a:solidFill>
                  <a:schemeClr val="tx1"/>
                </a:solidFill>
              </a:rPr>
              <a:t>zet ik</a:t>
            </a:r>
            <a:r>
              <a:rPr lang="en-US" sz="1700" dirty="0">
                <a:solidFill>
                  <a:schemeClr val="tx1"/>
                </a:solidFill>
              </a:rPr>
              <a:t>…» (inversion)</a:t>
            </a:r>
            <a:endParaRPr lang="en-US" sz="1700" dirty="0"/>
          </a:p>
          <a:p>
            <a:pPr indent="0" marL="0">
              <a:spcAft>
                <a:spcPts val="1000"/>
              </a:spcAft>
              <a:buNone/>
            </a:pPr>
            <a:r>
              <a:rPr lang="en-US" sz="1700" dirty="0">
                <a:solidFill>
                  <a:schemeClr val="tx1"/>
                </a:solidFill>
              </a:rPr>
              <a:t>«…</a:t>
            </a:r>
            <a:r>
              <a:rPr lang="en-US" sz="1700" b="1" dirty="0">
                <a:solidFill>
                  <a:schemeClr val="tx1"/>
                </a:solidFill>
              </a:rPr>
              <a:t>tenzij</a:t>
            </a:r>
            <a:r>
              <a:rPr lang="en-US" sz="1700" dirty="0">
                <a:solidFill>
                  <a:schemeClr val="tx1"/>
                </a:solidFill>
              </a:rPr>
              <a:t> je liever alleen werkt.» · «</a:t>
            </a:r>
            <a:r>
              <a:rPr lang="en-US" sz="1700" b="1" dirty="0">
                <a:solidFill>
                  <a:schemeClr val="tx1"/>
                </a:solidFill>
              </a:rPr>
              <a:t>Toen</a:t>
            </a:r>
            <a:r>
              <a:rPr lang="en-US" sz="1700" dirty="0">
                <a:solidFill>
                  <a:schemeClr val="tx1"/>
                </a:solidFill>
              </a:rPr>
              <a:t> ik… </a:t>
            </a:r>
            <a:r>
              <a:rPr lang="en-US" sz="1700" b="1" dirty="0">
                <a:solidFill>
                  <a:schemeClr val="tx1"/>
                </a:solidFill>
              </a:rPr>
              <a:t>moest doen</a:t>
            </a:r>
            <a:r>
              <a:rPr lang="en-US" sz="1700" dirty="0">
                <a:solidFill>
                  <a:schemeClr val="tx1"/>
                </a:solidFill>
              </a:rPr>
              <a:t>, </a:t>
            </a:r>
            <a:r>
              <a:rPr lang="en-US" sz="1700" b="1" dirty="0">
                <a:solidFill>
                  <a:schemeClr val="tx1"/>
                </a:solidFill>
              </a:rPr>
              <a:t>was</a:t>
            </a:r>
            <a:r>
              <a:rPr lang="en-US" sz="1700" dirty="0">
                <a:solidFill>
                  <a:schemeClr val="tx1"/>
                </a:solidFill>
              </a:rPr>
              <a:t> het te druk.»</a:t>
            </a:r>
            <a:endParaRPr lang="en-US" sz="1700" dirty="0"/>
          </a:p>
        </p:txBody>
      </p:sp>
      <p:sp>
        <p:nvSpPr>
          <p:cNvPr id="8" name="Shape 4"/>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9" name="Text 5"/>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Où se trouve le verbe conjugué dans chaque subordonnée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six conjonctions du métier</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1554480"/>
                <a:gridCol w="1828800"/>
                <a:gridCol w="2103120"/>
                <a:gridCol w="5605272"/>
              </a:tblGrid>
              <a:tr h="544982">
                <a:tc>
                  <a:txBody>
                    <a:bodyPr/>
                    <a:lstStyle/>
                    <a:p>
                      <a:pPr algn="l" indent="0" marL="0">
                        <a:buNone/>
                      </a:pPr>
                      <a:r>
                        <a:rPr lang="en-US" sz="1500" b="1" dirty="0">
                          <a:solidFill>
                            <a:schemeClr val="bg1"/>
                          </a:solidFill>
                        </a:rPr>
                        <a:t>NEDERLANDS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FRANÇAIS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SENS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EXEMPLE DU MÉTIER</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10489">
                <a:tc>
                  <a:txBody>
                    <a:bodyPr/>
                    <a:lstStyle/>
                    <a:p>
                      <a:pPr algn="l" indent="0" marL="0">
                        <a:buNone/>
                      </a:pPr>
                      <a:r>
                        <a:rPr lang="en-US" sz="1700" b="1" dirty="0">
                          <a:solidFill>
                            <a:schemeClr val="tx1"/>
                          </a:solidFill>
                        </a:rPr>
                        <a:t>aangezien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étant donné 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cause (formelle)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Aangezien de woning verhuurd is, bezichtigen we op zaterdag.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47142">
                <a:tc>
                  <a:txBody>
                    <a:bodyPr/>
                    <a:lstStyle/>
                    <a:p>
                      <a:pPr algn="l" indent="0" marL="0">
                        <a:buNone/>
                      </a:pPr>
                      <a:r>
                        <a:rPr lang="en-US" sz="1700" b="1" dirty="0">
                          <a:solidFill>
                            <a:schemeClr val="tx1"/>
                          </a:solidFill>
                        </a:rPr>
                        <a:t>zodat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sorte 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but / conséquence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We plaatsen extra foto’s, zodat de kopers alles zien.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47142">
                <a:tc>
                  <a:txBody>
                    <a:bodyPr/>
                    <a:lstStyle/>
                    <a:p>
                      <a:pPr algn="l" indent="0" marL="0">
                        <a:buNone/>
                      </a:pPr>
                      <a:r>
                        <a:rPr lang="en-US" sz="1700" b="1" dirty="0">
                          <a:solidFill>
                            <a:schemeClr val="tx1"/>
                          </a:solidFill>
                        </a:rPr>
                        <a:t>zodra</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dès 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temps (immédiat)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Zodra het bod binnen is, bel ik de eigenaar.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0489">
                <a:tc>
                  <a:txBody>
                    <a:bodyPr/>
                    <a:lstStyle/>
                    <a:p>
                      <a:pPr algn="l" indent="0" marL="0">
                        <a:buNone/>
                      </a:pPr>
                      <a:r>
                        <a:rPr lang="en-US" sz="1700" b="1" dirty="0">
                          <a:solidFill>
                            <a:schemeClr val="tx1"/>
                          </a:solidFill>
                        </a:rPr>
                        <a:t>toen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quand (passé unique)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temps (passé)</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Toen ik het huis bezocht, was ik meteen overtuigd.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0489">
                <a:tc>
                  <a:txBody>
                    <a:bodyPr/>
                    <a:lstStyle/>
                    <a:p>
                      <a:pPr algn="l" indent="0" marL="0">
                        <a:buNone/>
                      </a:pPr>
                      <a:r>
                        <a:rPr lang="en-US" sz="1700" b="1" dirty="0">
                          <a:solidFill>
                            <a:schemeClr val="tx1"/>
                          </a:solidFill>
                        </a:rPr>
                        <a:t>sinds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depuis 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durée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Sinds de advertentie online staat, krijgen we veel telefoons.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0489">
                <a:tc>
                  <a:txBody>
                    <a:bodyPr/>
                    <a:lstStyle/>
                    <a:p>
                      <a:pPr algn="l" indent="0" marL="0">
                        <a:buNone/>
                      </a:pPr>
                      <a:r>
                        <a:rPr lang="en-US" sz="1700" b="1" dirty="0">
                          <a:solidFill>
                            <a:schemeClr val="tx1"/>
                          </a:solidFill>
                        </a:rPr>
                        <a:t>tenzij</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à moins que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exception / condition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verkoop gaat door, tenzij de bank de lening weigert.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Les huit conjonctions du palier 4 + ces six = votre palette complète : le verbe file </a:t>
            </a:r>
            <a:r>
              <a:rPr lang="en-US" sz="1500" b="1" i="1" dirty="0">
                <a:solidFill>
                  <a:schemeClr val="accent5"/>
                </a:solidFill>
              </a:rPr>
              <a:t>toujours à la fin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Verbe à la fin, puis inversion dans la principale</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15–16</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Dans la subordonnée, le verbe conjugué est </a:t>
            </a:r>
            <a:r>
              <a:rPr lang="en-US" sz="1800" b="1" dirty="0">
                <a:solidFill>
                  <a:schemeClr val="tx1"/>
                </a:solidFill>
              </a:rPr>
              <a:t>à la fin</a:t>
            </a:r>
            <a:r>
              <a:rPr lang="en-US" sz="1800" dirty="0">
                <a:solidFill>
                  <a:schemeClr val="tx1"/>
                </a:solidFill>
              </a:rPr>
              <a:t>. Si elle ouvre la phrase, la principale commence par le </a:t>
            </a:r>
            <a:r>
              <a:rPr lang="en-US" sz="1800" b="1" dirty="0">
                <a:solidFill>
                  <a:schemeClr val="tx1"/>
                </a:solidFill>
              </a:rPr>
              <a:t>verbe</a:t>
            </a:r>
            <a:r>
              <a:rPr lang="en-US" sz="1800" dirty="0">
                <a:solidFill>
                  <a:schemeClr val="tx1"/>
                </a:solidFill>
              </a:rPr>
              <a:t>.</a:t>
            </a:r>
            <a:endParaRPr lang="en-US" sz="1800" dirty="0"/>
          </a:p>
        </p:txBody>
      </p:sp>
      <p:sp>
        <p:nvSpPr>
          <p:cNvPr id="7" name="Text 4"/>
          <p:cNvSpPr txBox="1"/>
          <p:nvPr/>
        </p:nvSpPr>
        <p:spPr>
          <a:xfrm>
            <a:off x="548640" y="2459736"/>
            <a:ext cx="1463040" cy="511302"/>
          </a:xfrm>
          <a:prstGeom prst="rect">
            <a:avLst/>
          </a:prstGeom>
          <a:noFill/>
          <a:ln/>
        </p:spPr>
        <p:txBody>
          <a:bodyPr wrap="square" lIns="0" tIns="0" rIns="0" bIns="0" rtlCol="0" anchor="ctr"/>
          <a:lstStyle/>
          <a:p>
            <a:pPr indent="0" marL="0">
              <a:buNone/>
            </a:pPr>
            <a:r>
              <a:rPr lang="en-US" sz="1400" b="1" dirty="0">
                <a:solidFill>
                  <a:schemeClr val="accent5"/>
                </a:solidFill>
              </a:rPr>
              <a:t>Zodra</a:t>
            </a:r>
            <a:endParaRPr lang="en-US" sz="1400" dirty="0"/>
          </a:p>
        </p:txBody>
      </p:sp>
      <p:sp>
        <p:nvSpPr>
          <p:cNvPr id="8" name="Text 5"/>
          <p:cNvSpPr txBox="1"/>
          <p:nvPr/>
        </p:nvSpPr>
        <p:spPr>
          <a:xfrm>
            <a:off x="2103120" y="2221992"/>
            <a:ext cx="956564"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9" name="Shape 6"/>
          <p:cNvSpPr/>
          <p:nvPr/>
        </p:nvSpPr>
        <p:spPr>
          <a:xfrm>
            <a:off x="2103120" y="2459736"/>
            <a:ext cx="956564" cy="511302"/>
          </a:xfrm>
          <a:prstGeom prst="roundRect">
            <a:avLst>
              <a:gd name="adj" fmla="val 10730"/>
            </a:avLst>
          </a:prstGeom>
          <a:solidFill>
            <a:srgbClr val="6E4A9E">
              <a:alpha val="88000"/>
            </a:srgbClr>
          </a:solidFill>
          <a:ln w="12700">
            <a:solidFill>
              <a:srgbClr val="6E4A9E"/>
            </a:solidFill>
            <a:prstDash val="solid"/>
          </a:ln>
        </p:spPr>
      </p:sp>
      <p:sp>
        <p:nvSpPr>
          <p:cNvPr id="10" name="Text 7"/>
          <p:cNvSpPr txBox="1"/>
          <p:nvPr/>
        </p:nvSpPr>
        <p:spPr>
          <a:xfrm>
            <a:off x="2139696" y="2459736"/>
            <a:ext cx="883412" cy="511302"/>
          </a:xfrm>
          <a:prstGeom prst="rect">
            <a:avLst/>
          </a:prstGeom>
          <a:noFill/>
          <a:ln/>
        </p:spPr>
        <p:txBody>
          <a:bodyPr wrap="square" lIns="0" tIns="0" rIns="0" bIns="0" rtlCol="0" anchor="ctr"/>
          <a:lstStyle/>
          <a:p>
            <a:pPr algn="ctr" indent="0" marL="0">
              <a:buNone/>
            </a:pPr>
            <a:r>
              <a:rPr lang="en-US" sz="1900" b="1" dirty="0">
                <a:solidFill>
                  <a:schemeClr val="bg1"/>
                </a:solidFill>
              </a:rPr>
              <a:t>Zodra</a:t>
            </a:r>
            <a:endParaRPr lang="en-US" sz="1900" dirty="0"/>
          </a:p>
        </p:txBody>
      </p:sp>
      <p:sp>
        <p:nvSpPr>
          <p:cNvPr id="11" name="Text 8"/>
          <p:cNvSpPr txBox="1"/>
          <p:nvPr/>
        </p:nvSpPr>
        <p:spPr>
          <a:xfrm>
            <a:off x="3169412" y="2221992"/>
            <a:ext cx="1207516"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2" name="Shape 9"/>
          <p:cNvSpPr/>
          <p:nvPr/>
        </p:nvSpPr>
        <p:spPr>
          <a:xfrm>
            <a:off x="3169412" y="2459736"/>
            <a:ext cx="1207516" cy="511302"/>
          </a:xfrm>
          <a:prstGeom prst="roundRect">
            <a:avLst>
              <a:gd name="adj" fmla="val 10730"/>
            </a:avLst>
          </a:prstGeom>
          <a:solidFill>
            <a:schemeClr val="tx2">
              <a:alpha val="88000"/>
            </a:schemeClr>
          </a:solidFill>
          <a:ln w="12700">
            <a:solidFill>
              <a:srgbClr val="17375E"/>
            </a:solidFill>
            <a:prstDash val="solid"/>
          </a:ln>
        </p:spPr>
      </p:sp>
      <p:sp>
        <p:nvSpPr>
          <p:cNvPr id="13" name="Text 10"/>
          <p:cNvSpPr txBox="1"/>
          <p:nvPr/>
        </p:nvSpPr>
        <p:spPr>
          <a:xfrm>
            <a:off x="3205988" y="2459736"/>
            <a:ext cx="1134364" cy="511302"/>
          </a:xfrm>
          <a:prstGeom prst="rect">
            <a:avLst/>
          </a:prstGeom>
          <a:noFill/>
          <a:ln/>
        </p:spPr>
        <p:txBody>
          <a:bodyPr wrap="square" lIns="0" tIns="0" rIns="0" bIns="0" rtlCol="0" anchor="ctr"/>
          <a:lstStyle/>
          <a:p>
            <a:pPr algn="ctr" indent="0" marL="0">
              <a:buNone/>
            </a:pPr>
            <a:r>
              <a:rPr lang="en-US" sz="1900" b="1" dirty="0">
                <a:solidFill>
                  <a:schemeClr val="bg1"/>
                </a:solidFill>
              </a:rPr>
              <a:t>het bod</a:t>
            </a:r>
            <a:endParaRPr lang="en-US" sz="1900" dirty="0"/>
          </a:p>
        </p:txBody>
      </p:sp>
      <p:sp>
        <p:nvSpPr>
          <p:cNvPr id="14" name="Text 11"/>
          <p:cNvSpPr txBox="1"/>
          <p:nvPr/>
        </p:nvSpPr>
        <p:spPr>
          <a:xfrm>
            <a:off x="4486656" y="2221992"/>
            <a:ext cx="1082040" cy="219456"/>
          </a:xfrm>
          <a:prstGeom prst="rect">
            <a:avLst/>
          </a:prstGeom>
          <a:noFill/>
          <a:ln/>
        </p:spPr>
        <p:txBody>
          <a:bodyPr wrap="square" lIns="0" tIns="0" rIns="0" bIns="0" rtlCol="0" anchor="b"/>
          <a:lstStyle/>
          <a:p>
            <a:pPr algn="ctr" indent="0" marL="0">
              <a:buNone/>
            </a:pPr>
            <a:endParaRPr lang="en-US" sz="1000" dirty="0"/>
          </a:p>
        </p:txBody>
      </p:sp>
      <p:sp>
        <p:nvSpPr>
          <p:cNvPr id="15" name="Shape 12"/>
          <p:cNvSpPr/>
          <p:nvPr/>
        </p:nvSpPr>
        <p:spPr>
          <a:xfrm>
            <a:off x="4486656" y="2459736"/>
            <a:ext cx="1082040" cy="511302"/>
          </a:xfrm>
          <a:prstGeom prst="roundRect">
            <a:avLst>
              <a:gd name="adj" fmla="val 10730"/>
            </a:avLst>
          </a:prstGeom>
          <a:solidFill>
            <a:schemeClr val="accent5">
              <a:alpha val="25000"/>
            </a:schemeClr>
          </a:solidFill>
          <a:ln w="12700">
            <a:solidFill>
              <a:srgbClr val="4A5A70"/>
            </a:solidFill>
            <a:prstDash val="solid"/>
          </a:ln>
        </p:spPr>
      </p:sp>
      <p:sp>
        <p:nvSpPr>
          <p:cNvPr id="16" name="Text 13"/>
          <p:cNvSpPr txBox="1"/>
          <p:nvPr/>
        </p:nvSpPr>
        <p:spPr>
          <a:xfrm>
            <a:off x="4523232" y="2459736"/>
            <a:ext cx="1008888" cy="511302"/>
          </a:xfrm>
          <a:prstGeom prst="rect">
            <a:avLst/>
          </a:prstGeom>
          <a:noFill/>
          <a:ln/>
        </p:spPr>
        <p:txBody>
          <a:bodyPr wrap="square" lIns="0" tIns="0" rIns="0" bIns="0" rtlCol="0" anchor="ctr"/>
          <a:lstStyle/>
          <a:p>
            <a:pPr algn="ctr" indent="0" marL="0">
              <a:buNone/>
            </a:pPr>
            <a:r>
              <a:rPr lang="en-US" sz="1900" b="1" dirty="0">
                <a:solidFill>
                  <a:schemeClr val="tx1"/>
                </a:solidFill>
              </a:rPr>
              <a:t>binnen</a:t>
            </a:r>
            <a:endParaRPr lang="en-US" sz="1900" dirty="0"/>
          </a:p>
        </p:txBody>
      </p:sp>
      <p:sp>
        <p:nvSpPr>
          <p:cNvPr id="17" name="Text 14"/>
          <p:cNvSpPr txBox="1"/>
          <p:nvPr/>
        </p:nvSpPr>
        <p:spPr>
          <a:xfrm>
            <a:off x="5678424" y="2221992"/>
            <a:ext cx="705612"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 FIN</a:t>
            </a:r>
            <a:endParaRPr lang="en-US" sz="1000" dirty="0"/>
          </a:p>
        </p:txBody>
      </p:sp>
      <p:sp>
        <p:nvSpPr>
          <p:cNvPr id="18" name="Shape 15"/>
          <p:cNvSpPr/>
          <p:nvPr/>
        </p:nvSpPr>
        <p:spPr>
          <a:xfrm>
            <a:off x="5678424" y="2459736"/>
            <a:ext cx="705612" cy="511302"/>
          </a:xfrm>
          <a:prstGeom prst="roundRect">
            <a:avLst>
              <a:gd name="adj" fmla="val 10730"/>
            </a:avLst>
          </a:prstGeom>
          <a:solidFill>
            <a:schemeClr val="accent6">
              <a:alpha val="88000"/>
            </a:schemeClr>
          </a:solidFill>
          <a:ln w="12700">
            <a:solidFill>
              <a:srgbClr val="B83227"/>
            </a:solidFill>
            <a:prstDash val="solid"/>
          </a:ln>
        </p:spPr>
      </p:sp>
      <p:sp>
        <p:nvSpPr>
          <p:cNvPr id="19" name="Text 16"/>
          <p:cNvSpPr txBox="1"/>
          <p:nvPr/>
        </p:nvSpPr>
        <p:spPr>
          <a:xfrm>
            <a:off x="5715000" y="2459736"/>
            <a:ext cx="632460" cy="511302"/>
          </a:xfrm>
          <a:prstGeom prst="rect">
            <a:avLst/>
          </a:prstGeom>
          <a:noFill/>
          <a:ln/>
        </p:spPr>
        <p:txBody>
          <a:bodyPr wrap="square" lIns="0" tIns="0" rIns="0" bIns="0" rtlCol="0" anchor="ctr"/>
          <a:lstStyle/>
          <a:p>
            <a:pPr algn="ctr" indent="0" marL="0">
              <a:buNone/>
            </a:pPr>
            <a:r>
              <a:rPr lang="en-US" sz="1900" b="1" dirty="0">
                <a:solidFill>
                  <a:schemeClr val="bg1"/>
                </a:solidFill>
              </a:rPr>
              <a:t>is,</a:t>
            </a:r>
            <a:endParaRPr lang="en-US" sz="1900" dirty="0"/>
          </a:p>
        </p:txBody>
      </p:sp>
      <p:sp>
        <p:nvSpPr>
          <p:cNvPr id="20" name="Text 17"/>
          <p:cNvSpPr txBox="1"/>
          <p:nvPr/>
        </p:nvSpPr>
        <p:spPr>
          <a:xfrm>
            <a:off x="6493764" y="2221992"/>
            <a:ext cx="705612" cy="219456"/>
          </a:xfrm>
          <a:prstGeom prst="rect">
            <a:avLst/>
          </a:prstGeom>
          <a:noFill/>
          <a:ln/>
        </p:spPr>
        <p:txBody>
          <a:bodyPr wrap="square" lIns="0" tIns="0" rIns="0" bIns="0" rtlCol="0" anchor="b"/>
          <a:lstStyle/>
          <a:p>
            <a:pPr algn="ctr" indent="0" marL="0">
              <a:buNone/>
            </a:pPr>
            <a:r>
              <a:rPr lang="en-US" sz="1000" b="1" dirty="0">
                <a:solidFill>
                  <a:schemeClr val="accent6"/>
                </a:solidFill>
              </a:rPr>
              <a:t>inversion</a:t>
            </a:r>
            <a:endParaRPr lang="en-US" sz="1000" dirty="0"/>
          </a:p>
        </p:txBody>
      </p:sp>
      <p:sp>
        <p:nvSpPr>
          <p:cNvPr id="21" name="Shape 18"/>
          <p:cNvSpPr/>
          <p:nvPr/>
        </p:nvSpPr>
        <p:spPr>
          <a:xfrm>
            <a:off x="6493764" y="2459736"/>
            <a:ext cx="705612" cy="511302"/>
          </a:xfrm>
          <a:prstGeom prst="roundRect">
            <a:avLst>
              <a:gd name="adj" fmla="val 10730"/>
            </a:avLst>
          </a:prstGeom>
          <a:solidFill>
            <a:schemeClr val="accent6">
              <a:alpha val="88000"/>
            </a:schemeClr>
          </a:solidFill>
          <a:ln w="12700">
            <a:solidFill>
              <a:srgbClr val="B83227"/>
            </a:solidFill>
            <a:prstDash val="solid"/>
          </a:ln>
        </p:spPr>
      </p:sp>
      <p:sp>
        <p:nvSpPr>
          <p:cNvPr id="22" name="Text 19"/>
          <p:cNvSpPr txBox="1"/>
          <p:nvPr/>
        </p:nvSpPr>
        <p:spPr>
          <a:xfrm>
            <a:off x="6530340" y="2459736"/>
            <a:ext cx="632460" cy="511302"/>
          </a:xfrm>
          <a:prstGeom prst="rect">
            <a:avLst/>
          </a:prstGeom>
          <a:noFill/>
          <a:ln/>
        </p:spPr>
        <p:txBody>
          <a:bodyPr wrap="square" lIns="0" tIns="0" rIns="0" bIns="0" rtlCol="0" anchor="ctr"/>
          <a:lstStyle/>
          <a:p>
            <a:pPr algn="ctr" indent="0" marL="0">
              <a:buNone/>
            </a:pPr>
            <a:r>
              <a:rPr lang="en-US" sz="1900" b="1" dirty="0">
                <a:solidFill>
                  <a:schemeClr val="bg1"/>
                </a:solidFill>
              </a:rPr>
              <a:t>bel</a:t>
            </a:r>
            <a:endParaRPr lang="en-US" sz="1900" dirty="0"/>
          </a:p>
        </p:txBody>
      </p:sp>
      <p:sp>
        <p:nvSpPr>
          <p:cNvPr id="23" name="Text 20"/>
          <p:cNvSpPr txBox="1"/>
          <p:nvPr/>
        </p:nvSpPr>
        <p:spPr>
          <a:xfrm>
            <a:off x="7309104" y="222199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4" name="Shape 21"/>
          <p:cNvSpPr/>
          <p:nvPr/>
        </p:nvSpPr>
        <p:spPr>
          <a:xfrm>
            <a:off x="7309104" y="2459736"/>
            <a:ext cx="685800" cy="511302"/>
          </a:xfrm>
          <a:prstGeom prst="roundRect">
            <a:avLst>
              <a:gd name="adj" fmla="val 10730"/>
            </a:avLst>
          </a:prstGeom>
          <a:solidFill>
            <a:schemeClr val="tx2">
              <a:alpha val="88000"/>
            </a:schemeClr>
          </a:solidFill>
          <a:ln w="12700">
            <a:solidFill>
              <a:srgbClr val="17375E"/>
            </a:solidFill>
            <a:prstDash val="solid"/>
          </a:ln>
        </p:spPr>
      </p:sp>
      <p:sp>
        <p:nvSpPr>
          <p:cNvPr id="25" name="Text 22"/>
          <p:cNvSpPr txBox="1"/>
          <p:nvPr/>
        </p:nvSpPr>
        <p:spPr>
          <a:xfrm>
            <a:off x="7345680" y="2459736"/>
            <a:ext cx="612648" cy="511302"/>
          </a:xfrm>
          <a:prstGeom prst="rect">
            <a:avLst/>
          </a:prstGeom>
          <a:noFill/>
          <a:ln/>
        </p:spPr>
        <p:txBody>
          <a:bodyPr wrap="square" lIns="0" tIns="0" rIns="0" bIns="0" rtlCol="0" anchor="ctr"/>
          <a:lstStyle/>
          <a:p>
            <a:pPr algn="ctr" indent="0" marL="0">
              <a:buNone/>
            </a:pPr>
            <a:r>
              <a:rPr lang="en-US" sz="1900" b="1" dirty="0">
                <a:solidFill>
                  <a:schemeClr val="bg1"/>
                </a:solidFill>
              </a:rPr>
              <a:t>ik</a:t>
            </a:r>
            <a:endParaRPr lang="en-US" sz="1900" dirty="0"/>
          </a:p>
        </p:txBody>
      </p:sp>
      <p:sp>
        <p:nvSpPr>
          <p:cNvPr id="26" name="Text 23"/>
          <p:cNvSpPr txBox="1"/>
          <p:nvPr/>
        </p:nvSpPr>
        <p:spPr>
          <a:xfrm>
            <a:off x="8104632" y="2221992"/>
            <a:ext cx="170942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27" name="Shape 24"/>
          <p:cNvSpPr/>
          <p:nvPr/>
        </p:nvSpPr>
        <p:spPr>
          <a:xfrm>
            <a:off x="8104632" y="2459736"/>
            <a:ext cx="1709420" cy="511302"/>
          </a:xfrm>
          <a:prstGeom prst="roundRect">
            <a:avLst>
              <a:gd name="adj" fmla="val 10730"/>
            </a:avLst>
          </a:prstGeom>
          <a:solidFill>
            <a:schemeClr val="accent5">
              <a:alpha val="25000"/>
            </a:schemeClr>
          </a:solidFill>
          <a:ln w="12700">
            <a:solidFill>
              <a:srgbClr val="4A5A70"/>
            </a:solidFill>
            <a:prstDash val="solid"/>
          </a:ln>
        </p:spPr>
      </p:sp>
      <p:sp>
        <p:nvSpPr>
          <p:cNvPr id="28" name="Text 25"/>
          <p:cNvSpPr txBox="1"/>
          <p:nvPr/>
        </p:nvSpPr>
        <p:spPr>
          <a:xfrm>
            <a:off x="8141208" y="2459736"/>
            <a:ext cx="1636268" cy="511302"/>
          </a:xfrm>
          <a:prstGeom prst="rect">
            <a:avLst/>
          </a:prstGeom>
          <a:noFill/>
          <a:ln/>
        </p:spPr>
        <p:txBody>
          <a:bodyPr wrap="square" lIns="0" tIns="0" rIns="0" bIns="0" rtlCol="0" anchor="ctr"/>
          <a:lstStyle/>
          <a:p>
            <a:pPr algn="ctr" indent="0" marL="0">
              <a:buNone/>
            </a:pPr>
            <a:r>
              <a:rPr lang="en-US" sz="1900" b="1" dirty="0">
                <a:solidFill>
                  <a:schemeClr val="tx1"/>
                </a:solidFill>
              </a:rPr>
              <a:t>de eigenaar</a:t>
            </a:r>
            <a:endParaRPr lang="en-US" sz="1900" dirty="0"/>
          </a:p>
        </p:txBody>
      </p:sp>
      <p:sp>
        <p:nvSpPr>
          <p:cNvPr id="29" name="Text 26"/>
          <p:cNvSpPr txBox="1"/>
          <p:nvPr/>
        </p:nvSpPr>
        <p:spPr>
          <a:xfrm>
            <a:off x="548640" y="3245358"/>
            <a:ext cx="1463040" cy="511302"/>
          </a:xfrm>
          <a:prstGeom prst="rect">
            <a:avLst/>
          </a:prstGeom>
          <a:noFill/>
          <a:ln/>
        </p:spPr>
        <p:txBody>
          <a:bodyPr wrap="square" lIns="0" tIns="0" rIns="0" bIns="0" rtlCol="0" anchor="ctr"/>
          <a:lstStyle/>
          <a:p>
            <a:pPr indent="0" marL="0">
              <a:buNone/>
            </a:pPr>
            <a:r>
              <a:rPr lang="en-US" sz="1400" b="1" dirty="0">
                <a:solidFill>
                  <a:schemeClr val="accent5"/>
                </a:solidFill>
              </a:rPr>
              <a:t>Tenzij</a:t>
            </a:r>
            <a:endParaRPr lang="en-US" sz="1400" dirty="0"/>
          </a:p>
        </p:txBody>
      </p:sp>
      <p:sp>
        <p:nvSpPr>
          <p:cNvPr id="30" name="Text 27"/>
          <p:cNvSpPr txBox="1"/>
          <p:nvPr/>
        </p:nvSpPr>
        <p:spPr>
          <a:xfrm>
            <a:off x="2103120" y="3007614"/>
            <a:ext cx="158394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1" name="Shape 28"/>
          <p:cNvSpPr/>
          <p:nvPr/>
        </p:nvSpPr>
        <p:spPr>
          <a:xfrm>
            <a:off x="2103120" y="3245358"/>
            <a:ext cx="1583944" cy="511302"/>
          </a:xfrm>
          <a:prstGeom prst="roundRect">
            <a:avLst>
              <a:gd name="adj" fmla="val 10730"/>
            </a:avLst>
          </a:prstGeom>
          <a:solidFill>
            <a:schemeClr val="tx2">
              <a:alpha val="88000"/>
            </a:schemeClr>
          </a:solidFill>
          <a:ln w="12700">
            <a:solidFill>
              <a:srgbClr val="17375E"/>
            </a:solidFill>
            <a:prstDash val="solid"/>
          </a:ln>
        </p:spPr>
      </p:sp>
      <p:sp>
        <p:nvSpPr>
          <p:cNvPr id="32" name="Text 29"/>
          <p:cNvSpPr txBox="1"/>
          <p:nvPr/>
        </p:nvSpPr>
        <p:spPr>
          <a:xfrm>
            <a:off x="2139696" y="3245358"/>
            <a:ext cx="1510792" cy="511302"/>
          </a:xfrm>
          <a:prstGeom prst="rect">
            <a:avLst/>
          </a:prstGeom>
          <a:noFill/>
          <a:ln/>
        </p:spPr>
        <p:txBody>
          <a:bodyPr wrap="square" lIns="0" tIns="0" rIns="0" bIns="0" rtlCol="0" anchor="ctr"/>
          <a:lstStyle/>
          <a:p>
            <a:pPr algn="ctr" indent="0" marL="0">
              <a:buNone/>
            </a:pPr>
            <a:r>
              <a:rPr lang="en-US" sz="1900" b="1" dirty="0">
                <a:solidFill>
                  <a:schemeClr val="bg1"/>
                </a:solidFill>
              </a:rPr>
              <a:t>De verkoop</a:t>
            </a:r>
            <a:endParaRPr lang="en-US" sz="1900" dirty="0"/>
          </a:p>
        </p:txBody>
      </p:sp>
      <p:sp>
        <p:nvSpPr>
          <p:cNvPr id="33" name="Text 30"/>
          <p:cNvSpPr txBox="1"/>
          <p:nvPr/>
        </p:nvSpPr>
        <p:spPr>
          <a:xfrm>
            <a:off x="3796792" y="3007614"/>
            <a:ext cx="831088"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34" name="Shape 31"/>
          <p:cNvSpPr/>
          <p:nvPr/>
        </p:nvSpPr>
        <p:spPr>
          <a:xfrm>
            <a:off x="3796792" y="3245358"/>
            <a:ext cx="831088" cy="511302"/>
          </a:xfrm>
          <a:prstGeom prst="roundRect">
            <a:avLst>
              <a:gd name="adj" fmla="val 10730"/>
            </a:avLst>
          </a:prstGeom>
          <a:solidFill>
            <a:schemeClr val="accent6">
              <a:alpha val="88000"/>
            </a:schemeClr>
          </a:solidFill>
          <a:ln w="12700">
            <a:solidFill>
              <a:srgbClr val="B83227"/>
            </a:solidFill>
            <a:prstDash val="solid"/>
          </a:ln>
        </p:spPr>
      </p:sp>
      <p:sp>
        <p:nvSpPr>
          <p:cNvPr id="35" name="Text 32"/>
          <p:cNvSpPr txBox="1"/>
          <p:nvPr/>
        </p:nvSpPr>
        <p:spPr>
          <a:xfrm>
            <a:off x="3833368" y="3245358"/>
            <a:ext cx="757936" cy="511302"/>
          </a:xfrm>
          <a:prstGeom prst="rect">
            <a:avLst/>
          </a:prstGeom>
          <a:noFill/>
          <a:ln/>
        </p:spPr>
        <p:txBody>
          <a:bodyPr wrap="square" lIns="0" tIns="0" rIns="0" bIns="0" rtlCol="0" anchor="ctr"/>
          <a:lstStyle/>
          <a:p>
            <a:pPr algn="ctr" indent="0" marL="0">
              <a:buNone/>
            </a:pPr>
            <a:r>
              <a:rPr lang="en-US" sz="1900" b="1" dirty="0">
                <a:solidFill>
                  <a:schemeClr val="bg1"/>
                </a:solidFill>
              </a:rPr>
              <a:t>gaat</a:t>
            </a:r>
            <a:endParaRPr lang="en-US" sz="1900" dirty="0"/>
          </a:p>
        </p:txBody>
      </p:sp>
      <p:sp>
        <p:nvSpPr>
          <p:cNvPr id="36" name="Text 33"/>
          <p:cNvSpPr txBox="1"/>
          <p:nvPr/>
        </p:nvSpPr>
        <p:spPr>
          <a:xfrm>
            <a:off x="4737608" y="3007614"/>
            <a:ext cx="956564"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37" name="Shape 34"/>
          <p:cNvSpPr/>
          <p:nvPr/>
        </p:nvSpPr>
        <p:spPr>
          <a:xfrm>
            <a:off x="4737608" y="3245358"/>
            <a:ext cx="956564" cy="511302"/>
          </a:xfrm>
          <a:prstGeom prst="roundRect">
            <a:avLst>
              <a:gd name="adj" fmla="val 10730"/>
            </a:avLst>
          </a:prstGeom>
          <a:solidFill>
            <a:schemeClr val="accent1">
              <a:alpha val="88000"/>
            </a:schemeClr>
          </a:solidFill>
          <a:ln w="12700">
            <a:solidFill>
              <a:srgbClr val="D9700F"/>
            </a:solidFill>
            <a:prstDash val="solid"/>
          </a:ln>
        </p:spPr>
      </p:sp>
      <p:sp>
        <p:nvSpPr>
          <p:cNvPr id="38" name="Text 35"/>
          <p:cNvSpPr txBox="1"/>
          <p:nvPr/>
        </p:nvSpPr>
        <p:spPr>
          <a:xfrm>
            <a:off x="4774184" y="3245358"/>
            <a:ext cx="883412" cy="511302"/>
          </a:xfrm>
          <a:prstGeom prst="rect">
            <a:avLst/>
          </a:prstGeom>
          <a:noFill/>
          <a:ln/>
        </p:spPr>
        <p:txBody>
          <a:bodyPr wrap="square" lIns="0" tIns="0" rIns="0" bIns="0" rtlCol="0" anchor="ctr"/>
          <a:lstStyle/>
          <a:p>
            <a:pPr algn="ctr" indent="0" marL="0">
              <a:buNone/>
            </a:pPr>
            <a:r>
              <a:rPr lang="en-US" sz="1900" b="1" dirty="0">
                <a:solidFill>
                  <a:schemeClr val="bg1"/>
                </a:solidFill>
              </a:rPr>
              <a:t>door,</a:t>
            </a:r>
            <a:endParaRPr lang="en-US" sz="1900" dirty="0"/>
          </a:p>
        </p:txBody>
      </p:sp>
      <p:sp>
        <p:nvSpPr>
          <p:cNvPr id="39" name="Text 36"/>
          <p:cNvSpPr txBox="1"/>
          <p:nvPr/>
        </p:nvSpPr>
        <p:spPr>
          <a:xfrm>
            <a:off x="5803900" y="3007614"/>
            <a:ext cx="10820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40" name="Shape 37"/>
          <p:cNvSpPr/>
          <p:nvPr/>
        </p:nvSpPr>
        <p:spPr>
          <a:xfrm>
            <a:off x="5803900" y="3245358"/>
            <a:ext cx="1082040" cy="511302"/>
          </a:xfrm>
          <a:prstGeom prst="roundRect">
            <a:avLst>
              <a:gd name="adj" fmla="val 10730"/>
            </a:avLst>
          </a:prstGeom>
          <a:solidFill>
            <a:srgbClr val="6E4A9E">
              <a:alpha val="88000"/>
            </a:srgbClr>
          </a:solidFill>
          <a:ln w="12700">
            <a:solidFill>
              <a:srgbClr val="6E4A9E"/>
            </a:solidFill>
            <a:prstDash val="solid"/>
          </a:ln>
        </p:spPr>
      </p:sp>
      <p:sp>
        <p:nvSpPr>
          <p:cNvPr id="41" name="Text 38"/>
          <p:cNvSpPr txBox="1"/>
          <p:nvPr/>
        </p:nvSpPr>
        <p:spPr>
          <a:xfrm>
            <a:off x="5840476" y="3245358"/>
            <a:ext cx="1008888" cy="511302"/>
          </a:xfrm>
          <a:prstGeom prst="rect">
            <a:avLst/>
          </a:prstGeom>
          <a:noFill/>
          <a:ln/>
        </p:spPr>
        <p:txBody>
          <a:bodyPr wrap="square" lIns="0" tIns="0" rIns="0" bIns="0" rtlCol="0" anchor="ctr"/>
          <a:lstStyle/>
          <a:p>
            <a:pPr algn="ctr" indent="0" marL="0">
              <a:buNone/>
            </a:pPr>
            <a:r>
              <a:rPr lang="en-US" sz="1900" b="1" dirty="0">
                <a:solidFill>
                  <a:schemeClr val="bg1"/>
                </a:solidFill>
              </a:rPr>
              <a:t>tenzij</a:t>
            </a:r>
            <a:endParaRPr lang="en-US" sz="1900" dirty="0"/>
          </a:p>
        </p:txBody>
      </p:sp>
      <p:sp>
        <p:nvSpPr>
          <p:cNvPr id="42" name="Text 39"/>
          <p:cNvSpPr txBox="1"/>
          <p:nvPr/>
        </p:nvSpPr>
        <p:spPr>
          <a:xfrm>
            <a:off x="6995668" y="3007614"/>
            <a:ext cx="1207516"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3" name="Shape 40"/>
          <p:cNvSpPr/>
          <p:nvPr/>
        </p:nvSpPr>
        <p:spPr>
          <a:xfrm>
            <a:off x="6995668" y="3245358"/>
            <a:ext cx="1207516" cy="511302"/>
          </a:xfrm>
          <a:prstGeom prst="roundRect">
            <a:avLst>
              <a:gd name="adj" fmla="val 10730"/>
            </a:avLst>
          </a:prstGeom>
          <a:solidFill>
            <a:schemeClr val="tx2">
              <a:alpha val="88000"/>
            </a:schemeClr>
          </a:solidFill>
          <a:ln w="12700">
            <a:solidFill>
              <a:srgbClr val="17375E"/>
            </a:solidFill>
            <a:prstDash val="solid"/>
          </a:ln>
        </p:spPr>
      </p:sp>
      <p:sp>
        <p:nvSpPr>
          <p:cNvPr id="44" name="Text 41"/>
          <p:cNvSpPr txBox="1"/>
          <p:nvPr/>
        </p:nvSpPr>
        <p:spPr>
          <a:xfrm>
            <a:off x="7032244" y="3245358"/>
            <a:ext cx="1134364" cy="511302"/>
          </a:xfrm>
          <a:prstGeom prst="rect">
            <a:avLst/>
          </a:prstGeom>
          <a:noFill/>
          <a:ln/>
        </p:spPr>
        <p:txBody>
          <a:bodyPr wrap="square" lIns="0" tIns="0" rIns="0" bIns="0" rtlCol="0" anchor="ctr"/>
          <a:lstStyle/>
          <a:p>
            <a:pPr algn="ctr" indent="0" marL="0">
              <a:buNone/>
            </a:pPr>
            <a:r>
              <a:rPr lang="en-US" sz="1900" b="1" dirty="0">
                <a:solidFill>
                  <a:schemeClr val="bg1"/>
                </a:solidFill>
              </a:rPr>
              <a:t>de bank</a:t>
            </a:r>
            <a:endParaRPr lang="en-US" sz="1900" dirty="0"/>
          </a:p>
        </p:txBody>
      </p:sp>
      <p:sp>
        <p:nvSpPr>
          <p:cNvPr id="45" name="Text 42"/>
          <p:cNvSpPr txBox="1"/>
          <p:nvPr/>
        </p:nvSpPr>
        <p:spPr>
          <a:xfrm>
            <a:off x="8312912" y="3007614"/>
            <a:ext cx="1458468"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46" name="Shape 43"/>
          <p:cNvSpPr/>
          <p:nvPr/>
        </p:nvSpPr>
        <p:spPr>
          <a:xfrm>
            <a:off x="8312912" y="3245358"/>
            <a:ext cx="1458468" cy="511302"/>
          </a:xfrm>
          <a:prstGeom prst="roundRect">
            <a:avLst>
              <a:gd name="adj" fmla="val 10730"/>
            </a:avLst>
          </a:prstGeom>
          <a:solidFill>
            <a:schemeClr val="accent5">
              <a:alpha val="25000"/>
            </a:schemeClr>
          </a:solidFill>
          <a:ln w="12700">
            <a:solidFill>
              <a:srgbClr val="4A5A70"/>
            </a:solidFill>
            <a:prstDash val="solid"/>
          </a:ln>
        </p:spPr>
      </p:sp>
      <p:sp>
        <p:nvSpPr>
          <p:cNvPr id="47" name="Text 44"/>
          <p:cNvSpPr txBox="1"/>
          <p:nvPr/>
        </p:nvSpPr>
        <p:spPr>
          <a:xfrm>
            <a:off x="8349488" y="3245358"/>
            <a:ext cx="1385316" cy="511302"/>
          </a:xfrm>
          <a:prstGeom prst="rect">
            <a:avLst/>
          </a:prstGeom>
          <a:noFill/>
          <a:ln/>
        </p:spPr>
        <p:txBody>
          <a:bodyPr wrap="square" lIns="0" tIns="0" rIns="0" bIns="0" rtlCol="0" anchor="ctr"/>
          <a:lstStyle/>
          <a:p>
            <a:pPr algn="ctr" indent="0" marL="0">
              <a:buNone/>
            </a:pPr>
            <a:r>
              <a:rPr lang="en-US" sz="1900" b="1" dirty="0">
                <a:solidFill>
                  <a:schemeClr val="tx1"/>
                </a:solidFill>
              </a:rPr>
              <a:t>de lening</a:t>
            </a:r>
            <a:endParaRPr lang="en-US" sz="1900" dirty="0"/>
          </a:p>
        </p:txBody>
      </p:sp>
      <p:sp>
        <p:nvSpPr>
          <p:cNvPr id="48" name="Text 45"/>
          <p:cNvSpPr txBox="1"/>
          <p:nvPr/>
        </p:nvSpPr>
        <p:spPr>
          <a:xfrm>
            <a:off x="9881108" y="3007614"/>
            <a:ext cx="1207516"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 FIN</a:t>
            </a:r>
            <a:endParaRPr lang="en-US" sz="1000" dirty="0"/>
          </a:p>
        </p:txBody>
      </p:sp>
      <p:sp>
        <p:nvSpPr>
          <p:cNvPr id="49" name="Shape 46"/>
          <p:cNvSpPr/>
          <p:nvPr/>
        </p:nvSpPr>
        <p:spPr>
          <a:xfrm>
            <a:off x="9881108" y="3245358"/>
            <a:ext cx="1207516" cy="511302"/>
          </a:xfrm>
          <a:prstGeom prst="roundRect">
            <a:avLst>
              <a:gd name="adj" fmla="val 10730"/>
            </a:avLst>
          </a:prstGeom>
          <a:solidFill>
            <a:schemeClr val="accent6">
              <a:alpha val="88000"/>
            </a:schemeClr>
          </a:solidFill>
          <a:ln w="12700">
            <a:solidFill>
              <a:srgbClr val="B83227"/>
            </a:solidFill>
            <a:prstDash val="solid"/>
          </a:ln>
        </p:spPr>
      </p:sp>
      <p:sp>
        <p:nvSpPr>
          <p:cNvPr id="50" name="Text 47"/>
          <p:cNvSpPr txBox="1"/>
          <p:nvPr/>
        </p:nvSpPr>
        <p:spPr>
          <a:xfrm>
            <a:off x="9917684" y="3245358"/>
            <a:ext cx="1134364" cy="511302"/>
          </a:xfrm>
          <a:prstGeom prst="rect">
            <a:avLst/>
          </a:prstGeom>
          <a:noFill/>
          <a:ln/>
        </p:spPr>
        <p:txBody>
          <a:bodyPr wrap="square" lIns="0" tIns="0" rIns="0" bIns="0" rtlCol="0" anchor="ctr"/>
          <a:lstStyle/>
          <a:p>
            <a:pPr algn="ctr" indent="0" marL="0">
              <a:buNone/>
            </a:pPr>
            <a:r>
              <a:rPr lang="en-US" sz="1900" b="1" dirty="0">
                <a:solidFill>
                  <a:schemeClr val="bg1"/>
                </a:solidFill>
              </a:rPr>
              <a:t>weigert</a:t>
            </a:r>
            <a:endParaRPr lang="en-US" sz="1900" dirty="0"/>
          </a:p>
        </p:txBody>
      </p:sp>
      <p:sp>
        <p:nvSpPr>
          <p:cNvPr id="51" name="Text 48"/>
          <p:cNvSpPr txBox="1"/>
          <p:nvPr/>
        </p:nvSpPr>
        <p:spPr>
          <a:xfrm>
            <a:off x="548640" y="4030980"/>
            <a:ext cx="1463040" cy="511302"/>
          </a:xfrm>
          <a:prstGeom prst="rect">
            <a:avLst/>
          </a:prstGeom>
          <a:noFill/>
          <a:ln/>
        </p:spPr>
        <p:txBody>
          <a:bodyPr wrap="square" lIns="0" tIns="0" rIns="0" bIns="0" rtlCol="0" anchor="ctr"/>
          <a:lstStyle/>
          <a:p>
            <a:pPr indent="0" marL="0">
              <a:buNone/>
            </a:pPr>
            <a:r>
              <a:rPr lang="en-US" sz="1400" b="1" dirty="0">
                <a:solidFill>
                  <a:schemeClr val="accent5"/>
                </a:solidFill>
              </a:rPr>
              <a:t>Toen (2 verbes)</a:t>
            </a:r>
            <a:endParaRPr lang="en-US" sz="1400" dirty="0"/>
          </a:p>
        </p:txBody>
      </p:sp>
      <p:sp>
        <p:nvSpPr>
          <p:cNvPr id="52" name="Text 49"/>
          <p:cNvSpPr txBox="1"/>
          <p:nvPr/>
        </p:nvSpPr>
        <p:spPr>
          <a:xfrm>
            <a:off x="2103120" y="3793236"/>
            <a:ext cx="831088"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53" name="Shape 50"/>
          <p:cNvSpPr/>
          <p:nvPr/>
        </p:nvSpPr>
        <p:spPr>
          <a:xfrm>
            <a:off x="2103120" y="4030980"/>
            <a:ext cx="831088" cy="511302"/>
          </a:xfrm>
          <a:prstGeom prst="roundRect">
            <a:avLst>
              <a:gd name="adj" fmla="val 10730"/>
            </a:avLst>
          </a:prstGeom>
          <a:solidFill>
            <a:srgbClr val="6E4A9E">
              <a:alpha val="88000"/>
            </a:srgbClr>
          </a:solidFill>
          <a:ln w="12700">
            <a:solidFill>
              <a:srgbClr val="6E4A9E"/>
            </a:solidFill>
            <a:prstDash val="solid"/>
          </a:ln>
        </p:spPr>
      </p:sp>
      <p:sp>
        <p:nvSpPr>
          <p:cNvPr id="54" name="Text 51"/>
          <p:cNvSpPr txBox="1"/>
          <p:nvPr/>
        </p:nvSpPr>
        <p:spPr>
          <a:xfrm>
            <a:off x="2139696" y="4030980"/>
            <a:ext cx="757936" cy="511302"/>
          </a:xfrm>
          <a:prstGeom prst="rect">
            <a:avLst/>
          </a:prstGeom>
          <a:noFill/>
          <a:ln/>
        </p:spPr>
        <p:txBody>
          <a:bodyPr wrap="square" lIns="0" tIns="0" rIns="0" bIns="0" rtlCol="0" anchor="ctr"/>
          <a:lstStyle/>
          <a:p>
            <a:pPr algn="ctr" indent="0" marL="0">
              <a:buNone/>
            </a:pPr>
            <a:r>
              <a:rPr lang="en-US" sz="1900" b="1" dirty="0">
                <a:solidFill>
                  <a:schemeClr val="bg1"/>
                </a:solidFill>
              </a:rPr>
              <a:t>Toen</a:t>
            </a:r>
            <a:endParaRPr lang="en-US" sz="1900" dirty="0"/>
          </a:p>
        </p:txBody>
      </p:sp>
      <p:sp>
        <p:nvSpPr>
          <p:cNvPr id="55" name="Text 52"/>
          <p:cNvSpPr txBox="1"/>
          <p:nvPr/>
        </p:nvSpPr>
        <p:spPr>
          <a:xfrm>
            <a:off x="3043936" y="3793236"/>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56" name="Shape 53"/>
          <p:cNvSpPr/>
          <p:nvPr/>
        </p:nvSpPr>
        <p:spPr>
          <a:xfrm>
            <a:off x="3043936" y="4030980"/>
            <a:ext cx="685800" cy="511302"/>
          </a:xfrm>
          <a:prstGeom prst="roundRect">
            <a:avLst>
              <a:gd name="adj" fmla="val 10730"/>
            </a:avLst>
          </a:prstGeom>
          <a:solidFill>
            <a:schemeClr val="tx2">
              <a:alpha val="88000"/>
            </a:schemeClr>
          </a:solidFill>
          <a:ln w="12700">
            <a:solidFill>
              <a:srgbClr val="17375E"/>
            </a:solidFill>
            <a:prstDash val="solid"/>
          </a:ln>
        </p:spPr>
      </p:sp>
      <p:sp>
        <p:nvSpPr>
          <p:cNvPr id="57" name="Text 54"/>
          <p:cNvSpPr txBox="1"/>
          <p:nvPr/>
        </p:nvSpPr>
        <p:spPr>
          <a:xfrm>
            <a:off x="3080512" y="4030980"/>
            <a:ext cx="612648" cy="511302"/>
          </a:xfrm>
          <a:prstGeom prst="rect">
            <a:avLst/>
          </a:prstGeom>
          <a:noFill/>
          <a:ln/>
        </p:spPr>
        <p:txBody>
          <a:bodyPr wrap="square" lIns="0" tIns="0" rIns="0" bIns="0" rtlCol="0" anchor="ctr"/>
          <a:lstStyle/>
          <a:p>
            <a:pPr algn="ctr" indent="0" marL="0">
              <a:buNone/>
            </a:pPr>
            <a:r>
              <a:rPr lang="en-US" sz="1900" b="1" dirty="0">
                <a:solidFill>
                  <a:schemeClr val="bg1"/>
                </a:solidFill>
              </a:rPr>
              <a:t>ik</a:t>
            </a:r>
            <a:endParaRPr lang="en-US" sz="1900" dirty="0"/>
          </a:p>
        </p:txBody>
      </p:sp>
      <p:sp>
        <p:nvSpPr>
          <p:cNvPr id="58" name="Text 55"/>
          <p:cNvSpPr txBox="1"/>
          <p:nvPr/>
        </p:nvSpPr>
        <p:spPr>
          <a:xfrm>
            <a:off x="3839464" y="3793236"/>
            <a:ext cx="1834896"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59" name="Shape 56"/>
          <p:cNvSpPr/>
          <p:nvPr/>
        </p:nvSpPr>
        <p:spPr>
          <a:xfrm>
            <a:off x="3839464" y="4030980"/>
            <a:ext cx="1834896" cy="511302"/>
          </a:xfrm>
          <a:prstGeom prst="roundRect">
            <a:avLst>
              <a:gd name="adj" fmla="val 10730"/>
            </a:avLst>
          </a:prstGeom>
          <a:solidFill>
            <a:schemeClr val="accent3">
              <a:alpha val="88000"/>
            </a:schemeClr>
          </a:solidFill>
          <a:ln w="12700">
            <a:solidFill>
              <a:srgbClr val="2E7D4F"/>
            </a:solidFill>
            <a:prstDash val="solid"/>
          </a:ln>
        </p:spPr>
      </p:sp>
      <p:sp>
        <p:nvSpPr>
          <p:cNvPr id="60" name="Text 57"/>
          <p:cNvSpPr txBox="1"/>
          <p:nvPr/>
        </p:nvSpPr>
        <p:spPr>
          <a:xfrm>
            <a:off x="3876040" y="4030980"/>
            <a:ext cx="1761744" cy="511302"/>
          </a:xfrm>
          <a:prstGeom prst="rect">
            <a:avLst/>
          </a:prstGeom>
          <a:noFill/>
          <a:ln/>
        </p:spPr>
        <p:txBody>
          <a:bodyPr wrap="square" lIns="0" tIns="0" rIns="0" bIns="0" rtlCol="0" anchor="ctr"/>
          <a:lstStyle/>
          <a:p>
            <a:pPr algn="ctr" indent="0" marL="0">
              <a:buNone/>
            </a:pPr>
            <a:r>
              <a:rPr lang="en-US" sz="1900" b="1" dirty="0">
                <a:solidFill>
                  <a:schemeClr val="bg1"/>
                </a:solidFill>
              </a:rPr>
              <a:t>alles alleen</a:t>
            </a:r>
            <a:endParaRPr lang="en-US" sz="1900" dirty="0"/>
          </a:p>
        </p:txBody>
      </p:sp>
      <p:sp>
        <p:nvSpPr>
          <p:cNvPr id="61" name="Text 58"/>
          <p:cNvSpPr txBox="1"/>
          <p:nvPr/>
        </p:nvSpPr>
        <p:spPr>
          <a:xfrm>
            <a:off x="5784088" y="3793236"/>
            <a:ext cx="956564"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62" name="Shape 59"/>
          <p:cNvSpPr/>
          <p:nvPr/>
        </p:nvSpPr>
        <p:spPr>
          <a:xfrm>
            <a:off x="5784088" y="4030980"/>
            <a:ext cx="956564" cy="511302"/>
          </a:xfrm>
          <a:prstGeom prst="roundRect">
            <a:avLst>
              <a:gd name="adj" fmla="val 10730"/>
            </a:avLst>
          </a:prstGeom>
          <a:solidFill>
            <a:schemeClr val="accent6">
              <a:alpha val="88000"/>
            </a:schemeClr>
          </a:solidFill>
          <a:ln w="12700">
            <a:solidFill>
              <a:srgbClr val="B83227"/>
            </a:solidFill>
            <a:prstDash val="solid"/>
          </a:ln>
        </p:spPr>
      </p:sp>
      <p:sp>
        <p:nvSpPr>
          <p:cNvPr id="63" name="Text 60"/>
          <p:cNvSpPr txBox="1"/>
          <p:nvPr/>
        </p:nvSpPr>
        <p:spPr>
          <a:xfrm>
            <a:off x="5820664" y="4030980"/>
            <a:ext cx="883412" cy="511302"/>
          </a:xfrm>
          <a:prstGeom prst="rect">
            <a:avLst/>
          </a:prstGeom>
          <a:noFill/>
          <a:ln/>
        </p:spPr>
        <p:txBody>
          <a:bodyPr wrap="square" lIns="0" tIns="0" rIns="0" bIns="0" rtlCol="0" anchor="ctr"/>
          <a:lstStyle/>
          <a:p>
            <a:pPr algn="ctr" indent="0" marL="0">
              <a:buNone/>
            </a:pPr>
            <a:r>
              <a:rPr lang="en-US" sz="1900" b="1" dirty="0">
                <a:solidFill>
                  <a:schemeClr val="bg1"/>
                </a:solidFill>
              </a:rPr>
              <a:t>moest</a:t>
            </a:r>
            <a:endParaRPr lang="en-US" sz="1900" dirty="0"/>
          </a:p>
        </p:txBody>
      </p:sp>
      <p:sp>
        <p:nvSpPr>
          <p:cNvPr id="64" name="Text 61"/>
          <p:cNvSpPr txBox="1"/>
          <p:nvPr/>
        </p:nvSpPr>
        <p:spPr>
          <a:xfrm>
            <a:off x="6850380" y="3793236"/>
            <a:ext cx="956564"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65" name="Shape 62"/>
          <p:cNvSpPr/>
          <p:nvPr/>
        </p:nvSpPr>
        <p:spPr>
          <a:xfrm>
            <a:off x="6850380" y="4030980"/>
            <a:ext cx="956564" cy="511302"/>
          </a:xfrm>
          <a:prstGeom prst="roundRect">
            <a:avLst>
              <a:gd name="adj" fmla="val 10730"/>
            </a:avLst>
          </a:prstGeom>
          <a:solidFill>
            <a:schemeClr val="accent1">
              <a:alpha val="88000"/>
            </a:schemeClr>
          </a:solidFill>
          <a:ln w="12700">
            <a:solidFill>
              <a:srgbClr val="D9700F"/>
            </a:solidFill>
            <a:prstDash val="solid"/>
          </a:ln>
        </p:spPr>
      </p:sp>
      <p:sp>
        <p:nvSpPr>
          <p:cNvPr id="66" name="Text 63"/>
          <p:cNvSpPr txBox="1"/>
          <p:nvPr/>
        </p:nvSpPr>
        <p:spPr>
          <a:xfrm>
            <a:off x="6886956" y="4030980"/>
            <a:ext cx="883412" cy="511302"/>
          </a:xfrm>
          <a:prstGeom prst="rect">
            <a:avLst/>
          </a:prstGeom>
          <a:noFill/>
          <a:ln/>
        </p:spPr>
        <p:txBody>
          <a:bodyPr wrap="square" lIns="0" tIns="0" rIns="0" bIns="0" rtlCol="0" anchor="ctr"/>
          <a:lstStyle/>
          <a:p>
            <a:pPr algn="ctr" indent="0" marL="0">
              <a:buNone/>
            </a:pPr>
            <a:r>
              <a:rPr lang="en-US" sz="1900" b="1" dirty="0">
                <a:solidFill>
                  <a:schemeClr val="bg1"/>
                </a:solidFill>
              </a:rPr>
              <a:t>doen,</a:t>
            </a:r>
            <a:endParaRPr lang="en-US" sz="1900" dirty="0"/>
          </a:p>
        </p:txBody>
      </p:sp>
      <p:sp>
        <p:nvSpPr>
          <p:cNvPr id="67" name="Text 64"/>
          <p:cNvSpPr txBox="1"/>
          <p:nvPr/>
        </p:nvSpPr>
        <p:spPr>
          <a:xfrm>
            <a:off x="7916672" y="3793236"/>
            <a:ext cx="705612" cy="219456"/>
          </a:xfrm>
          <a:prstGeom prst="rect">
            <a:avLst/>
          </a:prstGeom>
          <a:noFill/>
          <a:ln/>
        </p:spPr>
        <p:txBody>
          <a:bodyPr wrap="square" lIns="0" tIns="0" rIns="0" bIns="0" rtlCol="0" anchor="b"/>
          <a:lstStyle/>
          <a:p>
            <a:pPr algn="ctr" indent="0" marL="0">
              <a:buNone/>
            </a:pPr>
            <a:r>
              <a:rPr lang="en-US" sz="1000" b="1" dirty="0">
                <a:solidFill>
                  <a:schemeClr val="accent6"/>
                </a:solidFill>
              </a:rPr>
              <a:t>inversion</a:t>
            </a:r>
            <a:endParaRPr lang="en-US" sz="1000" dirty="0"/>
          </a:p>
        </p:txBody>
      </p:sp>
      <p:sp>
        <p:nvSpPr>
          <p:cNvPr id="68" name="Shape 65"/>
          <p:cNvSpPr/>
          <p:nvPr/>
        </p:nvSpPr>
        <p:spPr>
          <a:xfrm>
            <a:off x="7916672" y="4030980"/>
            <a:ext cx="705612" cy="511302"/>
          </a:xfrm>
          <a:prstGeom prst="roundRect">
            <a:avLst>
              <a:gd name="adj" fmla="val 10730"/>
            </a:avLst>
          </a:prstGeom>
          <a:solidFill>
            <a:schemeClr val="accent6">
              <a:alpha val="88000"/>
            </a:schemeClr>
          </a:solidFill>
          <a:ln w="12700">
            <a:solidFill>
              <a:srgbClr val="B83227"/>
            </a:solidFill>
            <a:prstDash val="solid"/>
          </a:ln>
        </p:spPr>
      </p:sp>
      <p:sp>
        <p:nvSpPr>
          <p:cNvPr id="69" name="Text 66"/>
          <p:cNvSpPr txBox="1"/>
          <p:nvPr/>
        </p:nvSpPr>
        <p:spPr>
          <a:xfrm>
            <a:off x="7953248" y="4030980"/>
            <a:ext cx="632460" cy="511302"/>
          </a:xfrm>
          <a:prstGeom prst="rect">
            <a:avLst/>
          </a:prstGeom>
          <a:noFill/>
          <a:ln/>
        </p:spPr>
        <p:txBody>
          <a:bodyPr wrap="square" lIns="0" tIns="0" rIns="0" bIns="0" rtlCol="0" anchor="ctr"/>
          <a:lstStyle/>
          <a:p>
            <a:pPr algn="ctr" indent="0" marL="0">
              <a:buNone/>
            </a:pPr>
            <a:r>
              <a:rPr lang="en-US" sz="1900" b="1" dirty="0">
                <a:solidFill>
                  <a:schemeClr val="bg1"/>
                </a:solidFill>
              </a:rPr>
              <a:t>was</a:t>
            </a:r>
            <a:endParaRPr lang="en-US" sz="1900" dirty="0"/>
          </a:p>
        </p:txBody>
      </p:sp>
      <p:sp>
        <p:nvSpPr>
          <p:cNvPr id="70" name="Text 67"/>
          <p:cNvSpPr txBox="1"/>
          <p:nvPr/>
        </p:nvSpPr>
        <p:spPr>
          <a:xfrm>
            <a:off x="8732012" y="3793236"/>
            <a:ext cx="70561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71" name="Shape 68"/>
          <p:cNvSpPr/>
          <p:nvPr/>
        </p:nvSpPr>
        <p:spPr>
          <a:xfrm>
            <a:off x="8732012" y="4030980"/>
            <a:ext cx="705612" cy="511302"/>
          </a:xfrm>
          <a:prstGeom prst="roundRect">
            <a:avLst>
              <a:gd name="adj" fmla="val 10730"/>
            </a:avLst>
          </a:prstGeom>
          <a:solidFill>
            <a:schemeClr val="tx2">
              <a:alpha val="88000"/>
            </a:schemeClr>
          </a:solidFill>
          <a:ln w="12700">
            <a:solidFill>
              <a:srgbClr val="17375E"/>
            </a:solidFill>
            <a:prstDash val="solid"/>
          </a:ln>
        </p:spPr>
      </p:sp>
      <p:sp>
        <p:nvSpPr>
          <p:cNvPr id="72" name="Text 69"/>
          <p:cNvSpPr txBox="1"/>
          <p:nvPr/>
        </p:nvSpPr>
        <p:spPr>
          <a:xfrm>
            <a:off x="8768588" y="4030980"/>
            <a:ext cx="632460" cy="511302"/>
          </a:xfrm>
          <a:prstGeom prst="rect">
            <a:avLst/>
          </a:prstGeom>
          <a:noFill/>
          <a:ln/>
        </p:spPr>
        <p:txBody>
          <a:bodyPr wrap="square" lIns="0" tIns="0" rIns="0" bIns="0" rtlCol="0" anchor="ctr"/>
          <a:lstStyle/>
          <a:p>
            <a:pPr algn="ctr" indent="0" marL="0">
              <a:buNone/>
            </a:pPr>
            <a:r>
              <a:rPr lang="en-US" sz="1900" b="1" dirty="0">
                <a:solidFill>
                  <a:schemeClr val="bg1"/>
                </a:solidFill>
              </a:rPr>
              <a:t>het</a:t>
            </a:r>
            <a:endParaRPr lang="en-US" sz="1900" dirty="0"/>
          </a:p>
        </p:txBody>
      </p:sp>
      <p:sp>
        <p:nvSpPr>
          <p:cNvPr id="73" name="Text 70"/>
          <p:cNvSpPr txBox="1"/>
          <p:nvPr/>
        </p:nvSpPr>
        <p:spPr>
          <a:xfrm>
            <a:off x="9547352" y="3793236"/>
            <a:ext cx="1207516" cy="219456"/>
          </a:xfrm>
          <a:prstGeom prst="rect">
            <a:avLst/>
          </a:prstGeom>
          <a:noFill/>
          <a:ln/>
        </p:spPr>
        <p:txBody>
          <a:bodyPr wrap="square" lIns="0" tIns="0" rIns="0" bIns="0" rtlCol="0" anchor="b"/>
          <a:lstStyle/>
          <a:p>
            <a:pPr algn="ctr" indent="0" marL="0">
              <a:buNone/>
            </a:pPr>
            <a:endParaRPr lang="en-US" sz="1000" dirty="0"/>
          </a:p>
        </p:txBody>
      </p:sp>
      <p:sp>
        <p:nvSpPr>
          <p:cNvPr id="74" name="Shape 71"/>
          <p:cNvSpPr/>
          <p:nvPr/>
        </p:nvSpPr>
        <p:spPr>
          <a:xfrm>
            <a:off x="9547352" y="4030980"/>
            <a:ext cx="1207516" cy="511302"/>
          </a:xfrm>
          <a:prstGeom prst="roundRect">
            <a:avLst>
              <a:gd name="adj" fmla="val 10730"/>
            </a:avLst>
          </a:prstGeom>
          <a:solidFill>
            <a:schemeClr val="accent5">
              <a:alpha val="25000"/>
            </a:schemeClr>
          </a:solidFill>
          <a:ln w="12700">
            <a:solidFill>
              <a:srgbClr val="4A5A70"/>
            </a:solidFill>
            <a:prstDash val="solid"/>
          </a:ln>
        </p:spPr>
      </p:sp>
      <p:sp>
        <p:nvSpPr>
          <p:cNvPr id="75" name="Text 72"/>
          <p:cNvSpPr txBox="1"/>
          <p:nvPr/>
        </p:nvSpPr>
        <p:spPr>
          <a:xfrm>
            <a:off x="9583928" y="4030980"/>
            <a:ext cx="1134364" cy="511302"/>
          </a:xfrm>
          <a:prstGeom prst="rect">
            <a:avLst/>
          </a:prstGeom>
          <a:noFill/>
          <a:ln/>
        </p:spPr>
        <p:txBody>
          <a:bodyPr wrap="square" lIns="0" tIns="0" rIns="0" bIns="0" rtlCol="0" anchor="ctr"/>
          <a:lstStyle/>
          <a:p>
            <a:pPr algn="ctr" indent="0" marL="0">
              <a:buNone/>
            </a:pPr>
            <a:r>
              <a:rPr lang="en-US" sz="1900" b="1" dirty="0">
                <a:solidFill>
                  <a:schemeClr val="tx1"/>
                </a:solidFill>
              </a:rPr>
              <a:t>te druk</a:t>
            </a:r>
            <a:endParaRPr lang="en-US" sz="1900" dirty="0"/>
          </a:p>
        </p:txBody>
      </p:sp>
      <p:sp>
        <p:nvSpPr>
          <p:cNvPr id="76" name="Text 73"/>
          <p:cNvSpPr txBox="1"/>
          <p:nvPr/>
        </p:nvSpPr>
        <p:spPr>
          <a:xfrm>
            <a:off x="548640" y="4816602"/>
            <a:ext cx="1463040" cy="511302"/>
          </a:xfrm>
          <a:prstGeom prst="rect">
            <a:avLst/>
          </a:prstGeom>
          <a:noFill/>
          <a:ln/>
        </p:spPr>
        <p:txBody>
          <a:bodyPr wrap="square" lIns="0" tIns="0" rIns="0" bIns="0" rtlCol="0" anchor="ctr"/>
          <a:lstStyle/>
          <a:p>
            <a:pPr indent="0" marL="0">
              <a:buNone/>
            </a:pPr>
            <a:r>
              <a:rPr lang="en-US" sz="1400" b="1" dirty="0">
                <a:solidFill>
                  <a:schemeClr val="accent5"/>
                </a:solidFill>
              </a:rPr>
              <a:t>Sinds</a:t>
            </a:r>
            <a:endParaRPr lang="en-US" sz="1400" dirty="0"/>
          </a:p>
        </p:txBody>
      </p:sp>
      <p:sp>
        <p:nvSpPr>
          <p:cNvPr id="77" name="Text 74"/>
          <p:cNvSpPr txBox="1"/>
          <p:nvPr/>
        </p:nvSpPr>
        <p:spPr>
          <a:xfrm>
            <a:off x="2103120" y="4578858"/>
            <a:ext cx="926749"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78" name="Shape 75"/>
          <p:cNvSpPr/>
          <p:nvPr/>
        </p:nvSpPr>
        <p:spPr>
          <a:xfrm>
            <a:off x="2103120" y="4816602"/>
            <a:ext cx="926749" cy="511302"/>
          </a:xfrm>
          <a:prstGeom prst="roundRect">
            <a:avLst>
              <a:gd name="adj" fmla="val 10730"/>
            </a:avLst>
          </a:prstGeom>
          <a:solidFill>
            <a:srgbClr val="6E4A9E">
              <a:alpha val="88000"/>
            </a:srgbClr>
          </a:solidFill>
          <a:ln w="12700">
            <a:solidFill>
              <a:srgbClr val="6E4A9E"/>
            </a:solidFill>
            <a:prstDash val="solid"/>
          </a:ln>
        </p:spPr>
      </p:sp>
      <p:sp>
        <p:nvSpPr>
          <p:cNvPr id="79" name="Text 76"/>
          <p:cNvSpPr txBox="1"/>
          <p:nvPr/>
        </p:nvSpPr>
        <p:spPr>
          <a:xfrm>
            <a:off x="2139696" y="4816602"/>
            <a:ext cx="853597" cy="511302"/>
          </a:xfrm>
          <a:prstGeom prst="rect">
            <a:avLst/>
          </a:prstGeom>
          <a:noFill/>
          <a:ln/>
        </p:spPr>
        <p:txBody>
          <a:bodyPr wrap="square" lIns="0" tIns="0" rIns="0" bIns="0" rtlCol="0" anchor="ctr"/>
          <a:lstStyle/>
          <a:p>
            <a:pPr algn="ctr" indent="0" marL="0">
              <a:buNone/>
            </a:pPr>
            <a:r>
              <a:rPr lang="en-US" sz="1900" b="1" dirty="0">
                <a:solidFill>
                  <a:schemeClr val="bg1"/>
                </a:solidFill>
              </a:rPr>
              <a:t>Sinds</a:t>
            </a:r>
            <a:endParaRPr lang="en-US" sz="1900" dirty="0"/>
          </a:p>
        </p:txBody>
      </p:sp>
      <p:sp>
        <p:nvSpPr>
          <p:cNvPr id="80" name="Text 77"/>
          <p:cNvSpPr txBox="1"/>
          <p:nvPr/>
        </p:nvSpPr>
        <p:spPr>
          <a:xfrm>
            <a:off x="3136176" y="4578858"/>
            <a:ext cx="2020833"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81" name="Shape 78"/>
          <p:cNvSpPr/>
          <p:nvPr/>
        </p:nvSpPr>
        <p:spPr>
          <a:xfrm>
            <a:off x="3136176" y="4816602"/>
            <a:ext cx="2020833" cy="511302"/>
          </a:xfrm>
          <a:prstGeom prst="roundRect">
            <a:avLst>
              <a:gd name="adj" fmla="val 10730"/>
            </a:avLst>
          </a:prstGeom>
          <a:solidFill>
            <a:schemeClr val="tx2">
              <a:alpha val="88000"/>
            </a:schemeClr>
          </a:solidFill>
          <a:ln w="12700">
            <a:solidFill>
              <a:srgbClr val="17375E"/>
            </a:solidFill>
            <a:prstDash val="solid"/>
          </a:ln>
        </p:spPr>
      </p:sp>
      <p:sp>
        <p:nvSpPr>
          <p:cNvPr id="82" name="Text 79"/>
          <p:cNvSpPr txBox="1"/>
          <p:nvPr/>
        </p:nvSpPr>
        <p:spPr>
          <a:xfrm>
            <a:off x="3172752" y="4816602"/>
            <a:ext cx="1947681" cy="511302"/>
          </a:xfrm>
          <a:prstGeom prst="rect">
            <a:avLst/>
          </a:prstGeom>
          <a:noFill/>
          <a:ln/>
        </p:spPr>
        <p:txBody>
          <a:bodyPr wrap="square" lIns="0" tIns="0" rIns="0" bIns="0" rtlCol="0" anchor="ctr"/>
          <a:lstStyle/>
          <a:p>
            <a:pPr algn="ctr" indent="0" marL="0">
              <a:buNone/>
            </a:pPr>
            <a:r>
              <a:rPr lang="en-US" sz="1900" b="1" dirty="0">
                <a:solidFill>
                  <a:schemeClr val="bg1"/>
                </a:solidFill>
              </a:rPr>
              <a:t>de advertentie</a:t>
            </a:r>
            <a:endParaRPr lang="en-US" sz="1900" dirty="0"/>
          </a:p>
        </p:txBody>
      </p:sp>
      <p:sp>
        <p:nvSpPr>
          <p:cNvPr id="83" name="Text 80"/>
          <p:cNvSpPr txBox="1"/>
          <p:nvPr/>
        </p:nvSpPr>
        <p:spPr>
          <a:xfrm>
            <a:off x="5263318" y="4578858"/>
            <a:ext cx="1048313" cy="219456"/>
          </a:xfrm>
          <a:prstGeom prst="rect">
            <a:avLst/>
          </a:prstGeom>
          <a:noFill/>
          <a:ln/>
        </p:spPr>
        <p:txBody>
          <a:bodyPr wrap="square" lIns="0" tIns="0" rIns="0" bIns="0" rtlCol="0" anchor="b"/>
          <a:lstStyle/>
          <a:p>
            <a:pPr algn="ctr" indent="0" marL="0">
              <a:buNone/>
            </a:pPr>
            <a:endParaRPr lang="en-US" sz="1000" dirty="0"/>
          </a:p>
        </p:txBody>
      </p:sp>
      <p:sp>
        <p:nvSpPr>
          <p:cNvPr id="84" name="Shape 81"/>
          <p:cNvSpPr/>
          <p:nvPr/>
        </p:nvSpPr>
        <p:spPr>
          <a:xfrm>
            <a:off x="5263318" y="4816602"/>
            <a:ext cx="1048313" cy="511302"/>
          </a:xfrm>
          <a:prstGeom prst="roundRect">
            <a:avLst>
              <a:gd name="adj" fmla="val 10730"/>
            </a:avLst>
          </a:prstGeom>
          <a:solidFill>
            <a:schemeClr val="accent5">
              <a:alpha val="25000"/>
            </a:schemeClr>
          </a:solidFill>
          <a:ln w="12700">
            <a:solidFill>
              <a:srgbClr val="4A5A70"/>
            </a:solidFill>
            <a:prstDash val="solid"/>
          </a:ln>
        </p:spPr>
      </p:sp>
      <p:sp>
        <p:nvSpPr>
          <p:cNvPr id="85" name="Text 82"/>
          <p:cNvSpPr txBox="1"/>
          <p:nvPr/>
        </p:nvSpPr>
        <p:spPr>
          <a:xfrm>
            <a:off x="5299894" y="4816602"/>
            <a:ext cx="975161" cy="511302"/>
          </a:xfrm>
          <a:prstGeom prst="rect">
            <a:avLst/>
          </a:prstGeom>
          <a:noFill/>
          <a:ln/>
        </p:spPr>
        <p:txBody>
          <a:bodyPr wrap="square" lIns="0" tIns="0" rIns="0" bIns="0" rtlCol="0" anchor="ctr"/>
          <a:lstStyle/>
          <a:p>
            <a:pPr algn="ctr" indent="0" marL="0">
              <a:buNone/>
            </a:pPr>
            <a:r>
              <a:rPr lang="en-US" sz="1900" b="1" dirty="0">
                <a:solidFill>
                  <a:schemeClr val="tx1"/>
                </a:solidFill>
              </a:rPr>
              <a:t>online</a:t>
            </a:r>
            <a:endParaRPr lang="en-US" sz="1900" dirty="0"/>
          </a:p>
        </p:txBody>
      </p:sp>
      <p:sp>
        <p:nvSpPr>
          <p:cNvPr id="86" name="Text 83"/>
          <p:cNvSpPr txBox="1"/>
          <p:nvPr/>
        </p:nvSpPr>
        <p:spPr>
          <a:xfrm>
            <a:off x="6417939" y="4578858"/>
            <a:ext cx="1048313"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 FIN</a:t>
            </a:r>
            <a:endParaRPr lang="en-US" sz="1000" dirty="0"/>
          </a:p>
        </p:txBody>
      </p:sp>
      <p:sp>
        <p:nvSpPr>
          <p:cNvPr id="87" name="Shape 84"/>
          <p:cNvSpPr/>
          <p:nvPr/>
        </p:nvSpPr>
        <p:spPr>
          <a:xfrm>
            <a:off x="6417939" y="4816602"/>
            <a:ext cx="1048313" cy="511302"/>
          </a:xfrm>
          <a:prstGeom prst="roundRect">
            <a:avLst>
              <a:gd name="adj" fmla="val 10730"/>
            </a:avLst>
          </a:prstGeom>
          <a:solidFill>
            <a:schemeClr val="accent6">
              <a:alpha val="88000"/>
            </a:schemeClr>
          </a:solidFill>
          <a:ln w="12700">
            <a:solidFill>
              <a:srgbClr val="B83227"/>
            </a:solidFill>
            <a:prstDash val="solid"/>
          </a:ln>
        </p:spPr>
      </p:sp>
      <p:sp>
        <p:nvSpPr>
          <p:cNvPr id="88" name="Text 85"/>
          <p:cNvSpPr txBox="1"/>
          <p:nvPr/>
        </p:nvSpPr>
        <p:spPr>
          <a:xfrm>
            <a:off x="6454515" y="4816602"/>
            <a:ext cx="975161" cy="511302"/>
          </a:xfrm>
          <a:prstGeom prst="rect">
            <a:avLst/>
          </a:prstGeom>
          <a:noFill/>
          <a:ln/>
        </p:spPr>
        <p:txBody>
          <a:bodyPr wrap="square" lIns="0" tIns="0" rIns="0" bIns="0" rtlCol="0" anchor="ctr"/>
          <a:lstStyle/>
          <a:p>
            <a:pPr algn="ctr" indent="0" marL="0">
              <a:buNone/>
            </a:pPr>
            <a:r>
              <a:rPr lang="en-US" sz="1900" b="1" dirty="0">
                <a:solidFill>
                  <a:schemeClr val="bg1"/>
                </a:solidFill>
              </a:rPr>
              <a:t>staat,</a:t>
            </a:r>
            <a:endParaRPr lang="en-US" sz="1900" dirty="0"/>
          </a:p>
        </p:txBody>
      </p:sp>
      <p:sp>
        <p:nvSpPr>
          <p:cNvPr id="89" name="Text 86"/>
          <p:cNvSpPr txBox="1"/>
          <p:nvPr/>
        </p:nvSpPr>
        <p:spPr>
          <a:xfrm>
            <a:off x="7572560" y="4578858"/>
            <a:ext cx="1169878" cy="219456"/>
          </a:xfrm>
          <a:prstGeom prst="rect">
            <a:avLst/>
          </a:prstGeom>
          <a:noFill/>
          <a:ln/>
        </p:spPr>
        <p:txBody>
          <a:bodyPr wrap="square" lIns="0" tIns="0" rIns="0" bIns="0" rtlCol="0" anchor="b"/>
          <a:lstStyle/>
          <a:p>
            <a:pPr algn="ctr" indent="0" marL="0">
              <a:buNone/>
            </a:pPr>
            <a:r>
              <a:rPr lang="en-US" sz="1000" b="1" dirty="0">
                <a:solidFill>
                  <a:schemeClr val="accent6"/>
                </a:solidFill>
              </a:rPr>
              <a:t>inversion</a:t>
            </a:r>
            <a:endParaRPr lang="en-US" sz="1000" dirty="0"/>
          </a:p>
        </p:txBody>
      </p:sp>
      <p:sp>
        <p:nvSpPr>
          <p:cNvPr id="90" name="Shape 87"/>
          <p:cNvSpPr/>
          <p:nvPr/>
        </p:nvSpPr>
        <p:spPr>
          <a:xfrm>
            <a:off x="7572560" y="4816602"/>
            <a:ext cx="1169878" cy="511302"/>
          </a:xfrm>
          <a:prstGeom prst="roundRect">
            <a:avLst>
              <a:gd name="adj" fmla="val 10730"/>
            </a:avLst>
          </a:prstGeom>
          <a:solidFill>
            <a:schemeClr val="accent6">
              <a:alpha val="88000"/>
            </a:schemeClr>
          </a:solidFill>
          <a:ln w="12700">
            <a:solidFill>
              <a:srgbClr val="B83227"/>
            </a:solidFill>
            <a:prstDash val="solid"/>
          </a:ln>
        </p:spPr>
      </p:sp>
      <p:sp>
        <p:nvSpPr>
          <p:cNvPr id="91" name="Text 88"/>
          <p:cNvSpPr txBox="1"/>
          <p:nvPr/>
        </p:nvSpPr>
        <p:spPr>
          <a:xfrm>
            <a:off x="7609136" y="4816602"/>
            <a:ext cx="1096726" cy="511302"/>
          </a:xfrm>
          <a:prstGeom prst="rect">
            <a:avLst/>
          </a:prstGeom>
          <a:noFill/>
          <a:ln/>
        </p:spPr>
        <p:txBody>
          <a:bodyPr wrap="square" lIns="0" tIns="0" rIns="0" bIns="0" rtlCol="0" anchor="ctr"/>
          <a:lstStyle/>
          <a:p>
            <a:pPr algn="ctr" indent="0" marL="0">
              <a:buNone/>
            </a:pPr>
            <a:r>
              <a:rPr lang="en-US" sz="1900" b="1" dirty="0">
                <a:solidFill>
                  <a:schemeClr val="bg1"/>
                </a:solidFill>
              </a:rPr>
              <a:t>krijgen</a:t>
            </a:r>
            <a:endParaRPr lang="en-US" sz="1900" dirty="0"/>
          </a:p>
        </p:txBody>
      </p:sp>
      <p:sp>
        <p:nvSpPr>
          <p:cNvPr id="92" name="Text 89"/>
          <p:cNvSpPr txBox="1"/>
          <p:nvPr/>
        </p:nvSpPr>
        <p:spPr>
          <a:xfrm>
            <a:off x="8848747" y="4578858"/>
            <a:ext cx="66442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3" name="Shape 90"/>
          <p:cNvSpPr/>
          <p:nvPr/>
        </p:nvSpPr>
        <p:spPr>
          <a:xfrm>
            <a:off x="8848747" y="4816602"/>
            <a:ext cx="664424" cy="511302"/>
          </a:xfrm>
          <a:prstGeom prst="roundRect">
            <a:avLst>
              <a:gd name="adj" fmla="val 10730"/>
            </a:avLst>
          </a:prstGeom>
          <a:solidFill>
            <a:schemeClr val="tx2">
              <a:alpha val="88000"/>
            </a:schemeClr>
          </a:solidFill>
          <a:ln w="12700">
            <a:solidFill>
              <a:srgbClr val="17375E"/>
            </a:solidFill>
            <a:prstDash val="solid"/>
          </a:ln>
        </p:spPr>
      </p:sp>
      <p:sp>
        <p:nvSpPr>
          <p:cNvPr id="94" name="Text 91"/>
          <p:cNvSpPr txBox="1"/>
          <p:nvPr/>
        </p:nvSpPr>
        <p:spPr>
          <a:xfrm>
            <a:off x="8885323" y="4816602"/>
            <a:ext cx="591272" cy="511302"/>
          </a:xfrm>
          <a:prstGeom prst="rect">
            <a:avLst/>
          </a:prstGeom>
          <a:noFill/>
          <a:ln/>
        </p:spPr>
        <p:txBody>
          <a:bodyPr wrap="square" lIns="0" tIns="0" rIns="0" bIns="0" rtlCol="0" anchor="ctr"/>
          <a:lstStyle/>
          <a:p>
            <a:pPr algn="ctr" indent="0" marL="0">
              <a:buNone/>
            </a:pPr>
            <a:r>
              <a:rPr lang="en-US" sz="1900" b="1" dirty="0">
                <a:solidFill>
                  <a:schemeClr val="bg1"/>
                </a:solidFill>
              </a:rPr>
              <a:t>we</a:t>
            </a:r>
            <a:endParaRPr lang="en-US" sz="1900" dirty="0"/>
          </a:p>
        </p:txBody>
      </p:sp>
      <p:sp>
        <p:nvSpPr>
          <p:cNvPr id="95" name="Text 92"/>
          <p:cNvSpPr txBox="1"/>
          <p:nvPr/>
        </p:nvSpPr>
        <p:spPr>
          <a:xfrm>
            <a:off x="9619479" y="4578858"/>
            <a:ext cx="2020833"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96" name="Shape 93"/>
          <p:cNvSpPr/>
          <p:nvPr/>
        </p:nvSpPr>
        <p:spPr>
          <a:xfrm>
            <a:off x="9619479" y="4816602"/>
            <a:ext cx="2020833" cy="511302"/>
          </a:xfrm>
          <a:prstGeom prst="roundRect">
            <a:avLst>
              <a:gd name="adj" fmla="val 10730"/>
            </a:avLst>
          </a:prstGeom>
          <a:solidFill>
            <a:schemeClr val="accent5">
              <a:alpha val="25000"/>
            </a:schemeClr>
          </a:solidFill>
          <a:ln w="12700">
            <a:solidFill>
              <a:srgbClr val="4A5A70"/>
            </a:solidFill>
            <a:prstDash val="solid"/>
          </a:ln>
        </p:spPr>
      </p:sp>
      <p:sp>
        <p:nvSpPr>
          <p:cNvPr id="97" name="Text 94"/>
          <p:cNvSpPr txBox="1"/>
          <p:nvPr/>
        </p:nvSpPr>
        <p:spPr>
          <a:xfrm>
            <a:off x="9656055" y="4816602"/>
            <a:ext cx="1947681" cy="511302"/>
          </a:xfrm>
          <a:prstGeom prst="rect">
            <a:avLst/>
          </a:prstGeom>
          <a:noFill/>
          <a:ln/>
        </p:spPr>
        <p:txBody>
          <a:bodyPr wrap="square" lIns="0" tIns="0" rIns="0" bIns="0" rtlCol="0" anchor="ctr"/>
          <a:lstStyle/>
          <a:p>
            <a:pPr algn="ctr" indent="0" marL="0">
              <a:buNone/>
            </a:pPr>
            <a:r>
              <a:rPr lang="en-US" sz="1900" b="1" dirty="0">
                <a:solidFill>
                  <a:schemeClr val="tx1"/>
                </a:solidFill>
              </a:rPr>
              <a:t>veel telefoons</a:t>
            </a:r>
            <a:endParaRPr lang="en-US" sz="1900" dirty="0"/>
          </a:p>
        </p:txBody>
      </p:sp>
      <p:sp>
        <p:nvSpPr>
          <p:cNvPr id="98" name="Shape 95"/>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99"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100" name="Text 96"/>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garde l’ordre normal après </a:t>
            </a:r>
            <a:r>
              <a:rPr lang="en-US" sz="1700" i="1" dirty="0">
                <a:solidFill>
                  <a:schemeClr val="tx1"/>
                </a:solidFill>
              </a:rPr>
              <a:t>dès que… ,</a:t>
            </a:r>
            <a:r>
              <a:rPr lang="en-US" sz="1700" dirty="0">
                <a:solidFill>
                  <a:schemeClr val="tx1"/>
                </a:solidFill>
              </a:rPr>
              <a:t> : </a:t>
            </a:r>
            <a:r>
              <a:rPr lang="en-US" sz="1700" i="1" dirty="0">
                <a:solidFill>
                  <a:schemeClr val="tx1"/>
                </a:solidFill>
              </a:rPr>
              <a:t>dès que le bod est là, </a:t>
            </a:r>
            <a:r>
              <a:rPr lang="en-US" sz="1700" b="1" i="1" dirty="0">
                <a:solidFill>
                  <a:schemeClr val="tx1"/>
                </a:solidFill>
              </a:rPr>
              <a:t>je</a:t>
            </a:r>
            <a:r>
              <a:rPr lang="en-US" sz="1700" i="1" dirty="0">
                <a:solidFill>
                  <a:schemeClr val="tx1"/>
                </a:solidFill>
              </a:rPr>
              <a:t> téléphone</a:t>
            </a:r>
            <a:r>
              <a:rPr lang="en-US" sz="1700" dirty="0">
                <a:solidFill>
                  <a:schemeClr val="tx1"/>
                </a:solidFill>
              </a:rPr>
              <a:t>. Le néerlandais </a:t>
            </a:r>
            <a:r>
              <a:rPr lang="en-US" sz="1700" b="1" dirty="0">
                <a:solidFill>
                  <a:schemeClr val="tx1"/>
                </a:solidFill>
              </a:rPr>
              <a:t>inverse</a:t>
            </a:r>
            <a:r>
              <a:rPr lang="en-US" sz="1700" dirty="0">
                <a:solidFill>
                  <a:schemeClr val="tx1"/>
                </a:solidFill>
              </a:rPr>
              <a:t> : </a:t>
            </a:r>
            <a:r>
              <a:rPr lang="en-US" sz="1700" i="1" dirty="0">
                <a:solidFill>
                  <a:schemeClr val="tx1"/>
                </a:solidFill>
              </a:rPr>
              <a:t>Zodra het bod binnen is, </a:t>
            </a:r>
            <a:r>
              <a:rPr lang="en-US" sz="1700" b="1" i="1" dirty="0">
                <a:solidFill>
                  <a:schemeClr val="tx1"/>
                </a:solidFill>
              </a:rPr>
              <a:t>bel ik</a:t>
            </a:r>
            <a:r>
              <a:rPr lang="en-US" sz="1700" i="1" dirty="0">
                <a:solidFill>
                  <a:schemeClr val="tx1"/>
                </a:solidFill>
              </a:rPr>
              <a:t>…</a:t>
            </a:r>
            <a:r>
              <a:rPr lang="en-US" sz="1700" dirty="0">
                <a:solidFill>
                  <a:schemeClr val="tx1"/>
                </a:solidFill>
              </a:rPr>
              <a:t> ✗ </a:t>
            </a:r>
            <a:r>
              <a:rPr lang="en-US" sz="1700" i="1" dirty="0">
                <a:solidFill>
                  <a:schemeClr val="tx1"/>
                </a:solidFill>
              </a:rPr>
              <a:t>…, ik bel</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Toen ou als ? Le « quand » du français</a:t>
            </a:r>
            <a:endParaRPr lang="en-US" sz="3200" dirty="0"/>
          </a:p>
        </p:txBody>
      </p:sp>
      <p:sp>
        <p:nvSpPr>
          <p:cNvPr id="3" name="tag"/>
          <p:cNvSpPr/>
          <p:nvPr/>
        </p:nvSpPr>
        <p:spPr>
          <a:xfrm>
            <a:off x="548640" y="237744"/>
            <a:ext cx="107442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PIÈGE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sp>
        <p:nvSpPr>
          <p:cNvPr id="6" name="Shape 3"/>
          <p:cNvSpPr/>
          <p:nvPr/>
        </p:nvSpPr>
        <p:spPr>
          <a:xfrm>
            <a:off x="548640" y="1481328"/>
            <a:ext cx="5225796" cy="3883152"/>
          </a:xfrm>
          <a:prstGeom prst="roundRect">
            <a:avLst>
              <a:gd name="adj" fmla="val 2355"/>
            </a:avLst>
          </a:prstGeom>
          <a:solidFill>
            <a:schemeClr val="accent2">
              <a:alpha val="8000"/>
            </a:schemeClr>
          </a:solidFill>
          <a:ln w="15875">
            <a:solidFill>
              <a:schemeClr val="accent2"/>
            </a:solidFill>
            <a:prstDash val="solid"/>
          </a:ln>
        </p:spPr>
      </p:sp>
      <p:sp>
        <p:nvSpPr>
          <p:cNvPr id="7" name="Text 4"/>
          <p:cNvSpPr txBox="1"/>
          <p:nvPr/>
        </p:nvSpPr>
        <p:spPr>
          <a:xfrm>
            <a:off x="777240" y="1618488"/>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TOEN — passé, une seule fois</a:t>
            </a:r>
            <a:endParaRPr lang="en-US" sz="2000" dirty="0"/>
          </a:p>
        </p:txBody>
      </p:sp>
      <p:sp>
        <p:nvSpPr>
          <p:cNvPr id="8" name="Text 5"/>
          <p:cNvSpPr txBox="1"/>
          <p:nvPr/>
        </p:nvSpPr>
        <p:spPr>
          <a:xfrm>
            <a:off x="777240" y="2304288"/>
            <a:ext cx="4768596" cy="2923032"/>
          </a:xfrm>
          <a:prstGeom prst="rect">
            <a:avLst/>
          </a:prstGeom>
          <a:noFill/>
          <a:ln/>
        </p:spPr>
        <p:txBody>
          <a:bodyPr wrap="square" lIns="0" tIns="0" rIns="0" bIns="0" rtlCol="0" anchor="t"/>
          <a:lstStyle/>
          <a:p>
            <a:pPr marL="203200" indent="-203200">
              <a:spcAft>
                <a:spcPts val="800"/>
              </a:spcAft>
              <a:buSzPct val="100000"/>
              <a:buChar char="•"/>
            </a:pPr>
            <a:r>
              <a:rPr lang="en-US" sz="2000" i="1" dirty="0">
                <a:solidFill>
                  <a:schemeClr val="tx1"/>
                </a:solidFill>
              </a:rPr>
              <a:t>Toen ik het huis bezocht, was ik meteen overtuigd.</a:t>
            </a:r>
            <a:endParaRPr lang="en-US" sz="2000" dirty="0"/>
          </a:p>
          <a:p>
            <a:pPr marL="203200" indent="-203200">
              <a:spcAft>
                <a:spcPts val="800"/>
              </a:spcAft>
              <a:buSzPct val="100000"/>
              <a:buChar char="•"/>
            </a:pPr>
            <a:r>
              <a:rPr lang="en-US" sz="2000" dirty="0">
                <a:solidFill>
                  <a:schemeClr val="tx1"/>
                </a:solidFill>
              </a:rPr>
              <a:t>Un événement </a:t>
            </a:r>
            <a:r>
              <a:rPr lang="en-US" sz="2000" b="1" dirty="0">
                <a:solidFill>
                  <a:schemeClr val="tx1"/>
                </a:solidFill>
              </a:rPr>
              <a:t>unique</a:t>
            </a:r>
            <a:r>
              <a:rPr lang="en-US" sz="2000" dirty="0">
                <a:solidFill>
                  <a:schemeClr val="tx1"/>
                </a:solidFill>
              </a:rPr>
              <a:t> dans le passé.</a:t>
            </a:r>
            <a:endParaRPr lang="en-US" sz="2000" dirty="0"/>
          </a:p>
          <a:p>
            <a:pPr marL="203200" indent="-203200">
              <a:spcAft>
                <a:spcPts val="800"/>
              </a:spcAft>
              <a:buSzPct val="100000"/>
              <a:buChar char="•"/>
            </a:pPr>
            <a:r>
              <a:rPr lang="en-US" sz="2000" dirty="0">
                <a:solidFill>
                  <a:schemeClr val="tx1"/>
                </a:solidFill>
              </a:rPr>
              <a:t>Dans la subordonnée : imparfait ou perfectum.</a:t>
            </a:r>
            <a:endParaRPr lang="en-US" sz="2000" dirty="0"/>
          </a:p>
        </p:txBody>
      </p:sp>
      <p:sp>
        <p:nvSpPr>
          <p:cNvPr id="9" name="Shape 6"/>
          <p:cNvSpPr/>
          <p:nvPr/>
        </p:nvSpPr>
        <p:spPr>
          <a:xfrm>
            <a:off x="6414516" y="1481328"/>
            <a:ext cx="5225796" cy="3883152"/>
          </a:xfrm>
          <a:prstGeom prst="roundRect">
            <a:avLst>
              <a:gd name="adj" fmla="val 2355"/>
            </a:avLst>
          </a:prstGeom>
          <a:solidFill>
            <a:schemeClr val="accent4">
              <a:alpha val="8000"/>
            </a:schemeClr>
          </a:solidFill>
          <a:ln w="15875">
            <a:solidFill>
              <a:schemeClr val="accent4"/>
            </a:solidFill>
            <a:prstDash val="solid"/>
          </a:ln>
        </p:spPr>
      </p:sp>
      <p:sp>
        <p:nvSpPr>
          <p:cNvPr id="10" name="Text 7"/>
          <p:cNvSpPr txBox="1"/>
          <p:nvPr/>
        </p:nvSpPr>
        <p:spPr>
          <a:xfrm>
            <a:off x="6643116" y="1618488"/>
            <a:ext cx="4311396" cy="548640"/>
          </a:xfrm>
          <a:prstGeom prst="rect">
            <a:avLst/>
          </a:prstGeom>
          <a:noFill/>
          <a:ln/>
        </p:spPr>
        <p:txBody>
          <a:bodyPr wrap="square" lIns="0" tIns="0" rIns="0" bIns="0" rtlCol="0" anchor="ctr"/>
          <a:lstStyle/>
          <a:p>
            <a:pPr indent="0" marL="0">
              <a:buNone/>
            </a:pPr>
            <a:r>
              <a:rPr lang="en-US" sz="2000" b="1" dirty="0">
                <a:solidFill>
                  <a:schemeClr val="accent4"/>
                </a:solidFill>
                <a:latin typeface="+mj-lt" pitchFamily="34" charset="0"/>
                <a:ea typeface="+mj-lt" pitchFamily="34" charset="-122"/>
                <a:cs typeface="+mj-lt" pitchFamily="34" charset="-120"/>
              </a:rPr>
              <a:t>ALS — présent, futur, habitude, condition</a:t>
            </a:r>
            <a:endParaRPr lang="en-US" sz="2000" dirty="0"/>
          </a:p>
        </p:txBody>
      </p:sp>
      <p:sp>
        <p:nvSpPr>
          <p:cNvPr id="11" name="Text 8"/>
          <p:cNvSpPr txBox="1"/>
          <p:nvPr/>
        </p:nvSpPr>
        <p:spPr>
          <a:xfrm>
            <a:off x="6643116" y="2304288"/>
            <a:ext cx="4768596" cy="2923032"/>
          </a:xfrm>
          <a:prstGeom prst="rect">
            <a:avLst/>
          </a:prstGeom>
          <a:noFill/>
          <a:ln/>
        </p:spPr>
        <p:txBody>
          <a:bodyPr wrap="square" lIns="0" tIns="0" rIns="0" bIns="0" rtlCol="0" anchor="t"/>
          <a:lstStyle/>
          <a:p>
            <a:pPr marL="203200" indent="-203200">
              <a:spcAft>
                <a:spcPts val="800"/>
              </a:spcAft>
              <a:buSzPct val="100000"/>
              <a:buChar char="•"/>
            </a:pPr>
            <a:r>
              <a:rPr lang="en-US" sz="2000" i="1" dirty="0">
                <a:solidFill>
                  <a:schemeClr val="tx1"/>
                </a:solidFill>
              </a:rPr>
              <a:t>Als de bank de lening weigert, kan de koper annuleren.</a:t>
            </a:r>
            <a:endParaRPr lang="en-US" sz="2000" dirty="0"/>
          </a:p>
          <a:p>
            <a:pPr marL="203200" indent="-203200">
              <a:spcAft>
                <a:spcPts val="800"/>
              </a:spcAft>
              <a:buSzPct val="100000"/>
              <a:buChar char="•"/>
            </a:pPr>
            <a:r>
              <a:rPr lang="en-US" sz="2000" i="1" dirty="0">
                <a:solidFill>
                  <a:schemeClr val="tx1"/>
                </a:solidFill>
              </a:rPr>
              <a:t>Als ik een huis bezoek, kijk ik eerst naar de buurt.</a:t>
            </a:r>
            <a:endParaRPr lang="en-US" sz="2000" dirty="0"/>
          </a:p>
          <a:p>
            <a:pPr marL="203200" indent="-203200">
              <a:spcAft>
                <a:spcPts val="800"/>
              </a:spcAft>
              <a:buSzPct val="100000"/>
              <a:buChar char="•"/>
            </a:pPr>
            <a:r>
              <a:rPr lang="en-US" sz="2000" b="1" dirty="0">
                <a:solidFill>
                  <a:schemeClr val="tx1"/>
                </a:solidFill>
              </a:rPr>
              <a:t>Si</a:t>
            </a:r>
            <a:r>
              <a:rPr lang="en-US" sz="2000" dirty="0">
                <a:solidFill>
                  <a:schemeClr val="tx1"/>
                </a:solidFill>
              </a:rPr>
              <a:t> (condition) ou </a:t>
            </a:r>
            <a:r>
              <a:rPr lang="en-US" sz="2000" b="1" dirty="0">
                <a:solidFill>
                  <a:schemeClr val="tx1"/>
                </a:solidFill>
              </a:rPr>
              <a:t>quand / chaque fois que</a:t>
            </a:r>
            <a:r>
              <a:rPr lang="en-US" sz="2000" dirty="0">
                <a:solidFill>
                  <a:schemeClr val="tx1"/>
                </a:solidFill>
              </a:rPr>
              <a:t> (présent, futur).</a:t>
            </a:r>
            <a:endParaRPr lang="en-US" sz="2000" dirty="0"/>
          </a:p>
        </p:txBody>
      </p:sp>
      <p:sp>
        <p:nvSpPr>
          <p:cNvPr id="12" name="Shape 9"/>
          <p:cNvSpPr/>
          <p:nvPr/>
        </p:nvSpPr>
        <p:spPr>
          <a:xfrm>
            <a:off x="5838444" y="3166872"/>
            <a:ext cx="512064" cy="512064"/>
          </a:xfrm>
          <a:prstGeom prst="ellipse">
            <a:avLst/>
          </a:prstGeom>
          <a:solidFill>
            <a:schemeClr val="tx2"/>
          </a:solidFill>
          <a:ln/>
        </p:spPr>
      </p:sp>
      <p:sp>
        <p:nvSpPr>
          <p:cNvPr id="13" name="Text 10"/>
          <p:cNvSpPr txBox="1"/>
          <p:nvPr/>
        </p:nvSpPr>
        <p:spPr>
          <a:xfrm>
            <a:off x="5838444" y="316687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4" name="Shape 11"/>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15"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16" name="Text 12"/>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n’a qu’un seul mot : </a:t>
            </a:r>
            <a:r>
              <a:rPr lang="en-US" sz="1700" i="1" dirty="0">
                <a:solidFill>
                  <a:schemeClr val="tx1"/>
                </a:solidFill>
              </a:rPr>
              <a:t>quand</a:t>
            </a:r>
            <a:r>
              <a:rPr lang="en-US" sz="1700" dirty="0">
                <a:solidFill>
                  <a:schemeClr val="tx1"/>
                </a:solidFill>
              </a:rPr>
              <a:t>. En néerlandais, pour le </a:t>
            </a:r>
            <a:r>
              <a:rPr lang="en-US" sz="1700" b="1" dirty="0">
                <a:solidFill>
                  <a:schemeClr val="tx1"/>
                </a:solidFill>
              </a:rPr>
              <a:t>passé unique</a:t>
            </a:r>
            <a:r>
              <a:rPr lang="en-US" sz="1700" dirty="0">
                <a:solidFill>
                  <a:schemeClr val="tx1"/>
                </a:solidFill>
              </a:rPr>
              <a:t>, on dit </a:t>
            </a:r>
            <a:r>
              <a:rPr lang="en-US" sz="1700" i="1" dirty="0">
                <a:solidFill>
                  <a:schemeClr val="tx1"/>
                </a:solidFill>
              </a:rPr>
              <a:t>toen</a:t>
            </a:r>
            <a:r>
              <a:rPr lang="en-US" sz="1700" dirty="0">
                <a:solidFill>
                  <a:schemeClr val="tx1"/>
                </a:solidFill>
              </a:rPr>
              <a:t> : ✗ </a:t>
            </a:r>
            <a:r>
              <a:rPr lang="en-US" sz="1700" i="1" dirty="0">
                <a:solidFill>
                  <a:schemeClr val="tx1"/>
                </a:solidFill>
              </a:rPr>
              <a:t>Als ik gisteren het huis bezocht…</a:t>
            </a:r>
            <a:r>
              <a:rPr lang="en-US" sz="1700" dirty="0">
                <a:solidFill>
                  <a:schemeClr val="tx1"/>
                </a:solidFill>
              </a:rPr>
              <a:t> → ✓ </a:t>
            </a:r>
            <a:r>
              <a:rPr lang="en-US" sz="1700" i="1" dirty="0">
                <a:solidFill>
                  <a:schemeClr val="tx1"/>
                </a:solidFill>
              </a:rPr>
              <a:t>Toen ik gisteren het huis bezocht…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Lezen — De mail van meneer Peeters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0515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E-MAIL</a:t>
            </a:r>
            <a:endParaRPr lang="en-US" sz="1200" dirty="0"/>
          </a:p>
        </p:txBody>
      </p:sp>
      <p:sp>
        <p:nvSpPr>
          <p:cNvPr id="8" name="Text 5"/>
          <p:cNvSpPr txBox="1"/>
          <p:nvPr/>
        </p:nvSpPr>
        <p:spPr>
          <a:xfrm>
            <a:off x="2057400" y="1609344"/>
            <a:ext cx="58064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Van: j.peeters@telenet.be — Onderwerp: rijhuis Sint-Gillis</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dirty="0">
                <a:solidFill>
                  <a:schemeClr val="tx1"/>
                </a:solidFill>
              </a:rPr>
              <a:t>Geachte mevrouw,</a:t>
            </a:r>
            <a:endParaRPr lang="en-US" sz="2100" dirty="0"/>
          </a:p>
          <a:p>
            <a:pPr indent="0" marL="0">
              <a:spcAft>
                <a:spcPts val="800"/>
              </a:spcAft>
              <a:buNone/>
            </a:pPr>
            <a:r>
              <a:rPr lang="en-US" sz="2100" dirty="0">
                <a:solidFill>
                  <a:schemeClr val="tx1"/>
                </a:solidFill>
              </a:rPr>
              <a:t>Wij hebben het rijhuis vorige week bezocht en wij zijn nog steeds geïnteresseerd. Wij willen een bod uitbrengen van € 400.000, tenzij de eigenaar al een hoger bod heeft ontvangen. Aangezien onze bank drie weken nodig heeft voor de lening, willen wij graag weten of dat een probleem is. Zodra u ons antwoord hebt, kunnen wij de documenten tekenen.</a:t>
            </a:r>
            <a:endParaRPr lang="en-US" sz="2100" dirty="0"/>
          </a:p>
          <a:p>
            <a:pPr indent="0" marL="0">
              <a:spcAft>
                <a:spcPts val="800"/>
              </a:spcAft>
              <a:buNone/>
            </a:pPr>
            <a:r>
              <a:rPr lang="en-US" sz="2100" dirty="0">
                <a:solidFill>
                  <a:schemeClr val="tx1"/>
                </a:solidFill>
              </a:rPr>
              <a:t>Met vriendelijke groeten, Jan Peeters</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3">
              <a:alpha val="10000"/>
            </a:schemeClr>
          </a:solidFill>
          <a:ln w="12700">
            <a:solidFill>
              <a:schemeClr val="accent3">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LIRE EN PRO</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Couche 1 · seul · 5 min</a:t>
            </a:r>
            <a:endParaRPr lang="en-US" sz="1800" dirty="0"/>
          </a:p>
          <a:p>
            <a:pPr marL="177800" indent="-177800">
              <a:spcAft>
                <a:spcPts val="600"/>
              </a:spcAft>
              <a:buSzPct val="100000"/>
              <a:buChar char="•"/>
            </a:pPr>
            <a:r>
              <a:rPr lang="en-US" sz="1800" dirty="0">
                <a:solidFill>
                  <a:schemeClr val="tx1"/>
                </a:solidFill>
              </a:rPr>
              <a:t>Repérez : le </a:t>
            </a:r>
            <a:r>
              <a:rPr lang="en-US" sz="1800" b="1" dirty="0">
                <a:solidFill>
                  <a:schemeClr val="tx1"/>
                </a:solidFill>
              </a:rPr>
              <a:t>bod</a:t>
            </a:r>
            <a:r>
              <a:rPr lang="en-US" sz="1800" dirty="0">
                <a:solidFill>
                  <a:schemeClr val="tx1"/>
                </a:solidFill>
              </a:rPr>
              <a:t>, la </a:t>
            </a:r>
            <a:r>
              <a:rPr lang="en-US" sz="1800" b="1" dirty="0">
                <a:solidFill>
                  <a:schemeClr val="tx1"/>
                </a:solidFill>
              </a:rPr>
              <a:t>condition</a:t>
            </a:r>
            <a:r>
              <a:rPr lang="en-US" sz="1800" dirty="0">
                <a:solidFill>
                  <a:schemeClr val="tx1"/>
                </a:solidFill>
              </a:rPr>
              <a:t>, le </a:t>
            </a:r>
            <a:r>
              <a:rPr lang="en-US" sz="1800" b="1" dirty="0">
                <a:solidFill>
                  <a:schemeClr val="tx1"/>
                </a:solidFill>
              </a:rPr>
              <a:t>délai</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Puis lisez l’extrait du compromis.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Lezen — Uittreksel verkoopsovereenkomst</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3944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COMPROMIS</a:t>
            </a:r>
            <a:endParaRPr lang="en-US" sz="1200" dirty="0"/>
          </a:p>
        </p:txBody>
      </p:sp>
      <p:sp>
        <p:nvSpPr>
          <p:cNvPr id="8" name="Text 5"/>
          <p:cNvSpPr txBox="1"/>
          <p:nvPr/>
        </p:nvSpPr>
        <p:spPr>
          <a:xfrm>
            <a:off x="2400300" y="1609344"/>
            <a:ext cx="54635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Uittreksel — Verkoopsovereenkomst (vereenvoudigd)</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b="1" dirty="0">
                <a:solidFill>
                  <a:schemeClr val="tx1"/>
                </a:solidFill>
              </a:rPr>
              <a:t>Artikel 3.</a:t>
            </a:r>
            <a:r>
              <a:rPr lang="en-US" sz="2100" dirty="0">
                <a:solidFill>
                  <a:schemeClr val="tx1"/>
                </a:solidFill>
              </a:rPr>
              <a:t> De verkoop gaat door zodra de koper de lening verkrijgt. Als de bank de lening weigert, kan de koper de overeenkomst annuleren, op voorwaarde dat hij de weigering vóór 30 september meldt.</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2">
              <a:alpha val="10000"/>
            </a:schemeClr>
          </a:solidFill>
          <a:ln w="12700">
            <a:solidFill>
              <a:schemeClr val="accent2">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VOCABULAIRE</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de overeenkomst</a:t>
            </a:r>
            <a:r>
              <a:rPr lang="en-US" sz="1800" dirty="0">
                <a:solidFill>
                  <a:schemeClr val="tx1"/>
                </a:solidFill>
              </a:rPr>
              <a:t> : le contrat / l’accord</a:t>
            </a:r>
            <a:endParaRPr lang="en-US" sz="1800" dirty="0"/>
          </a:p>
          <a:p>
            <a:pPr marL="177800" indent="-177800">
              <a:spcAft>
                <a:spcPts val="600"/>
              </a:spcAft>
              <a:buSzPct val="100000"/>
              <a:buChar char="•"/>
            </a:pPr>
            <a:r>
              <a:rPr lang="en-US" sz="1800" b="1" dirty="0">
                <a:solidFill>
                  <a:schemeClr val="tx1"/>
                </a:solidFill>
              </a:rPr>
              <a:t>annuleren</a:t>
            </a:r>
            <a:r>
              <a:rPr lang="en-US" sz="1800" dirty="0">
                <a:solidFill>
                  <a:schemeClr val="tx1"/>
                </a:solidFill>
              </a:rPr>
              <a:t> : annuler</a:t>
            </a:r>
            <a:endParaRPr lang="en-US" sz="1800" dirty="0"/>
          </a:p>
          <a:p>
            <a:pPr marL="177800" indent="-177800">
              <a:spcAft>
                <a:spcPts val="600"/>
              </a:spcAft>
              <a:buSzPct val="100000"/>
              <a:buChar char="•"/>
            </a:pPr>
            <a:r>
              <a:rPr lang="en-US" sz="1800" b="1" dirty="0">
                <a:solidFill>
                  <a:schemeClr val="tx1"/>
                </a:solidFill>
              </a:rPr>
              <a:t>op voorwaarde dat</a:t>
            </a:r>
            <a:r>
              <a:rPr lang="en-US" sz="1800" dirty="0">
                <a:solidFill>
                  <a:schemeClr val="tx1"/>
                </a:solidFill>
              </a:rPr>
              <a:t> : à condition que</a:t>
            </a:r>
            <a:endParaRPr lang="en-US" sz="1800" dirty="0"/>
          </a:p>
          <a:p>
            <a:pPr marL="177800" indent="-177800">
              <a:spcAft>
                <a:spcPts val="600"/>
              </a:spcAft>
              <a:buSzPct val="100000"/>
              <a:buChar char="•"/>
            </a:pPr>
            <a:r>
              <a:rPr lang="en-US" sz="1800" b="1" dirty="0">
                <a:solidFill>
                  <a:schemeClr val="tx1"/>
                </a:solidFill>
              </a:rPr>
              <a:t>melden</a:t>
            </a:r>
            <a:r>
              <a:rPr lang="en-US" sz="1800" dirty="0">
                <a:solidFill>
                  <a:schemeClr val="tx1"/>
                </a:solidFill>
              </a:rPr>
              <a:t> : signaler, informer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Questions 1 à 3 — la mail et le compromis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Couche 1 · par deux · 5 min. Répondez en néerlandais (phrase complète).</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1400"/>
              </a:spcAft>
              <a:buNone/>
            </a:pPr>
            <a:r>
              <a:rPr lang="en-US" sz="2600" b="1" dirty="0">
                <a:solidFill>
                  <a:schemeClr val="tx1"/>
                </a:solidFill>
              </a:rPr>
              <a:t>1.</a:t>
            </a:r>
            <a:r>
              <a:rPr lang="en-US" sz="2600" dirty="0">
                <a:solidFill>
                  <a:schemeClr val="tx1"/>
                </a:solidFill>
              </a:rPr>
              <a:t> Hoeveel biedt meneer Peeters — en onder welke voorwaarde?</a:t>
            </a:r>
            <a:endParaRPr lang="en-US" sz="2600" dirty="0"/>
          </a:p>
          <a:p>
            <a:pPr indent="0" marL="0">
              <a:spcAft>
                <a:spcPts val="1400"/>
              </a:spcAft>
              <a:buNone/>
            </a:pPr>
            <a:r>
              <a:rPr lang="en-US" sz="2600" b="1" dirty="0">
                <a:solidFill>
                  <a:schemeClr val="tx1"/>
                </a:solidFill>
              </a:rPr>
              <a:t>2.</a:t>
            </a:r>
            <a:r>
              <a:rPr lang="en-US" sz="2600" dirty="0">
                <a:solidFill>
                  <a:schemeClr val="tx1"/>
                </a:solidFill>
              </a:rPr>
              <a:t> Waarom heeft hij drie weken nodig?</a:t>
            </a:r>
            <a:endParaRPr lang="en-US" sz="2600" dirty="0"/>
          </a:p>
          <a:p>
            <a:pPr indent="0" marL="0">
              <a:spcAft>
                <a:spcPts val="1400"/>
              </a:spcAft>
              <a:buNone/>
            </a:pPr>
            <a:r>
              <a:rPr lang="en-US" sz="2600" b="1" dirty="0">
                <a:solidFill>
                  <a:schemeClr val="tx1"/>
                </a:solidFill>
              </a:rPr>
              <a:t>3.</a:t>
            </a:r>
            <a:r>
              <a:rPr lang="en-US" sz="2600" dirty="0">
                <a:solidFill>
                  <a:schemeClr val="tx1"/>
                </a:solidFill>
              </a:rPr>
              <a:t> Wat gebeurt er volgens artikel 3 als de bank de lening weigert?</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Questions 1 à 3 — la mail et le compromis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Couche 1 · par deux · 5 min. Répondez en néerlandais (phrase complète).</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400" b="1" dirty="0">
                <a:solidFill>
                  <a:schemeClr val="tx1"/>
                </a:solidFill>
              </a:rPr>
              <a:t>1.</a:t>
            </a:r>
            <a:r>
              <a:rPr lang="en-US" sz="2400" dirty="0">
                <a:solidFill>
                  <a:schemeClr val="tx1"/>
                </a:solidFill>
              </a:rPr>
              <a:t> Hoeveel biedt meneer Peeters — en onder welke voorwaarde?</a:t>
            </a:r>
            <a:endParaRPr lang="en-US" sz="2400" dirty="0"/>
          </a:p>
          <a:p>
            <a:pPr indent="0" marL="0">
              <a:spcAft>
                <a:spcPts val="800"/>
              </a:spcAft>
              <a:buNone/>
            </a:pPr>
            <a:r>
              <a:rPr lang="en-US" sz="2400" b="1" dirty="0">
                <a:solidFill>
                  <a:schemeClr val="accent3"/>
                </a:solidFill>
              </a:rPr>
              <a:t>→ </a:t>
            </a:r>
            <a:r>
              <a:rPr lang="en-US" sz="2400" dirty="0">
                <a:solidFill>
                  <a:schemeClr val="accent3"/>
                </a:solidFill>
              </a:rPr>
              <a:t>Hij biedt </a:t>
            </a:r>
            <a:r>
              <a:rPr lang="en-US" sz="2400" b="1" dirty="0">
                <a:solidFill>
                  <a:schemeClr val="accent3"/>
                </a:solidFill>
              </a:rPr>
              <a:t>€ 400.000</a:t>
            </a:r>
            <a:r>
              <a:rPr lang="en-US" sz="2400" dirty="0">
                <a:solidFill>
                  <a:schemeClr val="accent3"/>
                </a:solidFill>
              </a:rPr>
              <a:t>, </a:t>
            </a:r>
            <a:r>
              <a:rPr lang="en-US" sz="2400" b="1" dirty="0">
                <a:solidFill>
                  <a:schemeClr val="accent3"/>
                </a:solidFill>
              </a:rPr>
              <a:t>tenzij</a:t>
            </a:r>
            <a:r>
              <a:rPr lang="en-US" sz="2400" dirty="0">
                <a:solidFill>
                  <a:schemeClr val="accent3"/>
                </a:solidFill>
              </a:rPr>
              <a:t> de eigenaar al een hoger bod heeft ontvangen.</a:t>
            </a:r>
            <a:endParaRPr lang="en-US" sz="2400" dirty="0"/>
          </a:p>
          <a:p>
            <a:pPr indent="0" marL="0">
              <a:spcAft>
                <a:spcPts val="400"/>
              </a:spcAft>
              <a:buNone/>
            </a:pPr>
            <a:r>
              <a:rPr lang="en-US" sz="2400" b="1" dirty="0">
                <a:solidFill>
                  <a:schemeClr val="tx1"/>
                </a:solidFill>
              </a:rPr>
              <a:t>2.</a:t>
            </a:r>
            <a:r>
              <a:rPr lang="en-US" sz="2400" dirty="0">
                <a:solidFill>
                  <a:schemeClr val="tx1"/>
                </a:solidFill>
              </a:rPr>
              <a:t> Waarom heeft hij drie weken nodig?</a:t>
            </a:r>
            <a:endParaRPr lang="en-US" sz="2400" dirty="0"/>
          </a:p>
          <a:p>
            <a:pPr indent="0" marL="0">
              <a:spcAft>
                <a:spcPts val="800"/>
              </a:spcAft>
              <a:buNone/>
            </a:pPr>
            <a:r>
              <a:rPr lang="en-US" sz="2400" b="1" dirty="0">
                <a:solidFill>
                  <a:schemeClr val="accent3"/>
                </a:solidFill>
              </a:rPr>
              <a:t>→ </a:t>
            </a:r>
            <a:r>
              <a:rPr lang="en-US" sz="2400" dirty="0">
                <a:solidFill>
                  <a:schemeClr val="accent3"/>
                </a:solidFill>
              </a:rPr>
              <a:t>Omdat zijn bank </a:t>
            </a:r>
            <a:r>
              <a:rPr lang="en-US" sz="2400" b="1" dirty="0">
                <a:solidFill>
                  <a:schemeClr val="accent3"/>
                </a:solidFill>
              </a:rPr>
              <a:t>drie weken nodig heeft</a:t>
            </a:r>
            <a:r>
              <a:rPr lang="en-US" sz="2400" dirty="0">
                <a:solidFill>
                  <a:schemeClr val="accent3"/>
                </a:solidFill>
              </a:rPr>
              <a:t> voor de lening.</a:t>
            </a:r>
            <a:endParaRPr lang="en-US" sz="2400" dirty="0"/>
          </a:p>
          <a:p>
            <a:pPr indent="0" marL="0">
              <a:spcAft>
                <a:spcPts val="400"/>
              </a:spcAft>
              <a:buNone/>
            </a:pPr>
            <a:r>
              <a:rPr lang="en-US" sz="2400" b="1" dirty="0">
                <a:solidFill>
                  <a:schemeClr val="tx1"/>
                </a:solidFill>
              </a:rPr>
              <a:t>3.</a:t>
            </a:r>
            <a:r>
              <a:rPr lang="en-US" sz="2400" dirty="0">
                <a:solidFill>
                  <a:schemeClr val="tx1"/>
                </a:solidFill>
              </a:rPr>
              <a:t> Wat gebeurt er volgens artikel 3 als de bank de lening weigert?</a:t>
            </a:r>
            <a:endParaRPr lang="en-US" sz="2400" dirty="0"/>
          </a:p>
          <a:p>
            <a:pPr indent="0" marL="0">
              <a:spcAft>
                <a:spcPts val="800"/>
              </a:spcAft>
              <a:buNone/>
            </a:pPr>
            <a:r>
              <a:rPr lang="en-US" sz="2400" b="1" dirty="0">
                <a:solidFill>
                  <a:schemeClr val="accent3"/>
                </a:solidFill>
              </a:rPr>
              <a:t>→ </a:t>
            </a:r>
            <a:r>
              <a:rPr lang="en-US" sz="2400" dirty="0">
                <a:solidFill>
                  <a:schemeClr val="accent3"/>
                </a:solidFill>
              </a:rPr>
              <a:t>De koper </a:t>
            </a:r>
            <a:r>
              <a:rPr lang="en-US" sz="2400" b="1" dirty="0">
                <a:solidFill>
                  <a:schemeClr val="accent3"/>
                </a:solidFill>
              </a:rPr>
              <a:t>kan de overeenkomst annuleren</a:t>
            </a:r>
            <a:r>
              <a:rPr lang="en-US" sz="2400" dirty="0">
                <a:solidFill>
                  <a:schemeClr val="accent3"/>
                </a:solidFill>
              </a:rPr>
              <a:t>, op voorwaarde dat hij de weigering </a:t>
            </a:r>
            <a:r>
              <a:rPr lang="en-US" sz="2400" b="1" dirty="0">
                <a:solidFill>
                  <a:schemeClr val="accent3"/>
                </a:solidFill>
              </a:rPr>
              <a:t>vóór 30 september</a:t>
            </a:r>
            <a:r>
              <a:rPr lang="en-US" sz="2400" dirty="0">
                <a:solidFill>
                  <a:schemeClr val="accent3"/>
                </a:solidFill>
              </a:rPr>
              <a:t> meldt.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Question 4 — Les subordonnées et leur verbe</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Soulignez les subordonnées des deux textes et </a:t>
            </a:r>
            <a:r>
              <a:rPr lang="en-US" sz="1600" b="1" i="1" dirty="0">
                <a:solidFill>
                  <a:schemeClr val="accent5"/>
                </a:solidFill>
              </a:rPr>
              <a:t>retrouvez le verbe conjugué</a:t>
            </a:r>
            <a:r>
              <a:rPr lang="en-US" sz="1600" i="1" dirty="0">
                <a:solidFill>
                  <a:schemeClr val="accent5"/>
                </a:solidFill>
              </a:rPr>
              <a:t> : où se trouve-t-il ?</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1554480"/>
                <a:gridCol w="9537192"/>
              </a:tblGrid>
              <a:tr h="566928">
                <a:tc>
                  <a:txBody>
                    <a:bodyPr/>
                    <a:lstStyle/>
                    <a:p>
                      <a:pPr algn="l" indent="0" marL="0">
                        <a:buNone/>
                      </a:pPr>
                      <a:r>
                        <a:rPr lang="en-US" sz="1800" b="1" dirty="0">
                          <a:solidFill>
                            <a:schemeClr val="bg1"/>
                          </a:solidFill>
                        </a:rPr>
                        <a:t>TEXTE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SUBORDONNÉE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tenzij de eigenaar al een hoger bod </a:t>
                      </a: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Aangezien onze bank drie weken nodig </a:t>
                      </a:r>
                      <a:r>
                        <a:rPr lang="en-US" sz="2000" dirty="0">
                          <a:solidFill>
                            <a:schemeClr val="accent5"/>
                          </a:solidFill>
                        </a:rPr>
                        <a:t>……………</a:t>
                      </a:r>
                      <a:r>
                        <a:rPr lang="en-US" sz="2000" dirty="0">
                          <a:solidFill>
                            <a:schemeClr val="tx1"/>
                          </a:solidFill>
                        </a:rPr>
                        <a:t> voor de lening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of dat een probleem </a:t>
                      </a: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Zodra u ons antwoord </a:t>
                      </a: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8173">
                <a:tc>
                  <a:txBody>
                    <a:bodyPr/>
                    <a:lstStyle/>
                    <a:p>
                      <a:pPr algn="l" indent="0" marL="0">
                        <a:buNone/>
                      </a:pPr>
                      <a:r>
                        <a:rPr lang="en-US" sz="2000" b="1" dirty="0">
                          <a:solidFill>
                            <a:schemeClr val="tx1"/>
                          </a:solidFill>
                        </a:rPr>
                        <a:t>Art. 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zodra de koper de lening </a:t>
                      </a: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8173">
                <a:tc>
                  <a:txBody>
                    <a:bodyPr/>
                    <a:lstStyle/>
                    <a:p>
                      <a:pPr algn="l" indent="0" marL="0">
                        <a:buNone/>
                      </a:pPr>
                      <a:r>
                        <a:rPr lang="en-US" sz="2000" b="1" dirty="0">
                          <a:solidFill>
                            <a:schemeClr val="tx1"/>
                          </a:solidFill>
                        </a:rPr>
                        <a:t>Art. 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Als de bank de lening </a:t>
                      </a: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8173">
                <a:tc>
                  <a:txBody>
                    <a:bodyPr/>
                    <a:lstStyle/>
                    <a:p>
                      <a:pPr algn="l" indent="0" marL="0">
                        <a:buNone/>
                      </a:pPr>
                      <a:r>
                        <a:rPr lang="en-US" sz="2000" b="1" dirty="0">
                          <a:solidFill>
                            <a:schemeClr val="tx1"/>
                          </a:solidFill>
                        </a:rPr>
                        <a:t>Art. 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op voorwaarde dat hij de weigering vóór 30 september </a:t>
                      </a: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Règle : le verbe conjugué est </a:t>
            </a:r>
            <a:r>
              <a:rPr lang="en-US" sz="1500" b="1" i="1" dirty="0">
                <a:solidFill>
                  <a:schemeClr val="accent5"/>
                </a:solidFill>
              </a:rPr>
              <a:t>à la fin</a:t>
            </a:r>
            <a:r>
              <a:rPr lang="en-US" sz="1500" i="1" dirty="0">
                <a:solidFill>
                  <a:schemeClr val="accent5"/>
                </a:solidFill>
              </a:rPr>
              <a:t> (parfois suivi d’un groupe prépositionnel : </a:t>
            </a:r>
            <a:r>
              <a:rPr lang="en-US" sz="1500" i="1" dirty="0">
                <a:solidFill>
                  <a:schemeClr val="accent5"/>
                </a:solidFill>
              </a:rPr>
              <a:t>voor de lening</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Question 4 — Les subordonnées et leur verbe</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7" name="Text 4"/>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Soulignez les subordonnées des deux textes et </a:t>
            </a:r>
            <a:r>
              <a:rPr lang="en-US" sz="1600" b="1" i="1" dirty="0">
                <a:solidFill>
                  <a:schemeClr val="accent5"/>
                </a:solidFill>
              </a:rPr>
              <a:t>retrouvez le verbe conjugué</a:t>
            </a:r>
            <a:r>
              <a:rPr lang="en-US" sz="1600" i="1" dirty="0">
                <a:solidFill>
                  <a:schemeClr val="accent5"/>
                </a:solidFill>
              </a:rPr>
              <a:t> : où se trouve-t-il ?</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1554480"/>
                <a:gridCol w="9537192"/>
              </a:tblGrid>
              <a:tr h="566928">
                <a:tc>
                  <a:txBody>
                    <a:bodyPr/>
                    <a:lstStyle/>
                    <a:p>
                      <a:pPr algn="l" indent="0" marL="0">
                        <a:buNone/>
                      </a:pPr>
                      <a:r>
                        <a:rPr lang="en-US" sz="1800" b="1" dirty="0">
                          <a:solidFill>
                            <a:schemeClr val="bg1"/>
                          </a:solidFill>
                        </a:rPr>
                        <a:t>TEXTE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SUBORDONNÉE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tenzij de eigenaar al een hoger bod </a:t>
                      </a:r>
                      <a:r>
                        <a:rPr lang="en-US" sz="2000" b="1" dirty="0">
                          <a:solidFill>
                            <a:schemeClr val="accent3"/>
                          </a:solidFill>
                        </a:rPr>
                        <a:t>heeft ontvangen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Aangezien onze bank drie weken nodig </a:t>
                      </a:r>
                      <a:r>
                        <a:rPr lang="en-US" sz="2000" b="1" dirty="0">
                          <a:solidFill>
                            <a:schemeClr val="accent3"/>
                          </a:solidFill>
                        </a:rPr>
                        <a:t>heeft</a:t>
                      </a:r>
                      <a:r>
                        <a:rPr lang="en-US" sz="2000" dirty="0">
                          <a:solidFill>
                            <a:schemeClr val="tx1"/>
                          </a:solidFill>
                        </a:rPr>
                        <a:t> voor de lening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of dat een probleem </a:t>
                      </a:r>
                      <a:r>
                        <a:rPr lang="en-US" sz="2000" b="1" dirty="0">
                          <a:solidFill>
                            <a:schemeClr val="accent3"/>
                          </a:solidFill>
                        </a:rPr>
                        <a:t>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8173">
                <a:tc>
                  <a:txBody>
                    <a:bodyPr/>
                    <a:lstStyle/>
                    <a:p>
                      <a:pPr algn="l" indent="0" marL="0">
                        <a:buNone/>
                      </a:pPr>
                      <a:r>
                        <a:rPr lang="en-US" sz="2000" b="1" dirty="0">
                          <a:solidFill>
                            <a:schemeClr val="tx1"/>
                          </a:solidFill>
                        </a:rPr>
                        <a:t>Mail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Zodra u ons antwoord </a:t>
                      </a:r>
                      <a:r>
                        <a:rPr lang="en-US" sz="2000" b="1" dirty="0">
                          <a:solidFill>
                            <a:schemeClr val="accent3"/>
                          </a:solidFill>
                        </a:rPr>
                        <a:t>hebt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8173">
                <a:tc>
                  <a:txBody>
                    <a:bodyPr/>
                    <a:lstStyle/>
                    <a:p>
                      <a:pPr algn="l" indent="0" marL="0">
                        <a:buNone/>
                      </a:pPr>
                      <a:r>
                        <a:rPr lang="en-US" sz="2000" b="1" dirty="0">
                          <a:solidFill>
                            <a:schemeClr val="tx1"/>
                          </a:solidFill>
                        </a:rPr>
                        <a:t>Art. 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zodra de koper de lening </a:t>
                      </a:r>
                      <a:r>
                        <a:rPr lang="en-US" sz="2000" b="1" dirty="0">
                          <a:solidFill>
                            <a:schemeClr val="accent3"/>
                          </a:solidFill>
                        </a:rPr>
                        <a:t>verkrijgt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8173">
                <a:tc>
                  <a:txBody>
                    <a:bodyPr/>
                    <a:lstStyle/>
                    <a:p>
                      <a:pPr algn="l" indent="0" marL="0">
                        <a:buNone/>
                      </a:pPr>
                      <a:r>
                        <a:rPr lang="en-US" sz="2000" b="1" dirty="0">
                          <a:solidFill>
                            <a:schemeClr val="tx1"/>
                          </a:solidFill>
                        </a:rPr>
                        <a:t>Art. 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Als de bank de lening </a:t>
                      </a:r>
                      <a:r>
                        <a:rPr lang="en-US" sz="2000" b="1" dirty="0">
                          <a:solidFill>
                            <a:schemeClr val="accent3"/>
                          </a:solidFill>
                        </a:rPr>
                        <a:t>weigert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8173">
                <a:tc>
                  <a:txBody>
                    <a:bodyPr/>
                    <a:lstStyle/>
                    <a:p>
                      <a:pPr algn="l" indent="0" marL="0">
                        <a:buNone/>
                      </a:pPr>
                      <a:r>
                        <a:rPr lang="en-US" sz="2000" b="1" dirty="0">
                          <a:solidFill>
                            <a:schemeClr val="tx1"/>
                          </a:solidFill>
                        </a:rPr>
                        <a:t>Art. 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op voorwaarde dat hij de weigering vóór 30 september </a:t>
                      </a:r>
                      <a:r>
                        <a:rPr lang="en-US" sz="2000" b="1" dirty="0">
                          <a:solidFill>
                            <a:schemeClr val="accent3"/>
                          </a:solidFill>
                        </a:rPr>
                        <a:t>meldt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Règle : le verbe conjugué est </a:t>
            </a:r>
            <a:r>
              <a:rPr lang="en-US" sz="1500" b="1" i="1" dirty="0">
                <a:solidFill>
                  <a:schemeClr val="accent5"/>
                </a:solidFill>
              </a:rPr>
              <a:t>à la fin</a:t>
            </a:r>
            <a:r>
              <a:rPr lang="en-US" sz="1500" i="1" dirty="0">
                <a:solidFill>
                  <a:schemeClr val="accent5"/>
                </a:solidFill>
              </a:rPr>
              <a:t> (parfois suivi d’un groupe prépositionnel : </a:t>
            </a:r>
            <a:r>
              <a:rPr lang="en-US" sz="1500" i="1" dirty="0">
                <a:solidFill>
                  <a:schemeClr val="accent5"/>
                </a:solidFill>
              </a:rPr>
              <a:t>voor de lening</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9 Kies het juiste voegwoord</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Couche 2 · seul·e · 8 min. Complétez avec la bonne </a:t>
            </a:r>
            <a:r>
              <a:rPr lang="en-US" sz="1600" b="1" i="1" dirty="0">
                <a:solidFill>
                  <a:schemeClr val="accent5"/>
                </a:solidFill>
              </a:rPr>
              <a:t>conjonction</a:t>
            </a:r>
            <a:r>
              <a:rPr lang="en-US" sz="1600" i="1" dirty="0">
                <a:solidFill>
                  <a:schemeClr val="accent5"/>
                </a:solidFill>
              </a:rPr>
              <a:t> (aangezien · zodat · zodra · toen · sinds · tenzij). Surveillez la place du verbe !</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1.  </a:t>
            </a:r>
            <a:r>
              <a:rPr lang="en-US" sz="2100" dirty="0">
                <a:solidFill>
                  <a:schemeClr val="accent5"/>
                </a:solidFill>
              </a:rPr>
              <a:t>……………</a:t>
            </a:r>
            <a:r>
              <a:rPr lang="en-US" sz="2100" dirty="0">
                <a:solidFill>
                  <a:schemeClr val="tx1"/>
                </a:solidFill>
              </a:rPr>
              <a:t> ik bij Immo Van Damme werk, heb ik veel geleerd.</a:t>
            </a:r>
            <a:endParaRPr lang="en-US" sz="2100" dirty="0"/>
          </a:p>
          <a:p>
            <a:pPr indent="0" marL="0">
              <a:spcAft>
                <a:spcPts val="800"/>
              </a:spcAft>
              <a:buNone/>
            </a:pPr>
            <a:r>
              <a:rPr lang="en-US" sz="2100" b="1" dirty="0">
                <a:solidFill>
                  <a:schemeClr val="tx2"/>
                </a:solidFill>
              </a:rPr>
              <a:t>2.  </a:t>
            </a:r>
            <a:r>
              <a:rPr lang="en-US" sz="2100" dirty="0">
                <a:solidFill>
                  <a:schemeClr val="tx1"/>
                </a:solidFill>
              </a:rPr>
              <a:t>We plannen de bezichtiging op zaterdag, </a:t>
            </a:r>
            <a:r>
              <a:rPr lang="en-US" sz="2100" dirty="0">
                <a:solidFill>
                  <a:schemeClr val="accent5"/>
                </a:solidFill>
              </a:rPr>
              <a:t>……………</a:t>
            </a:r>
            <a:r>
              <a:rPr lang="en-US" sz="2100" dirty="0">
                <a:solidFill>
                  <a:schemeClr val="tx1"/>
                </a:solidFill>
              </a:rPr>
              <a:t> beide kopers aanwezig kunnen zijn.</a:t>
            </a:r>
            <a:endParaRPr lang="en-US" sz="2100" dirty="0"/>
          </a:p>
          <a:p>
            <a:pPr indent="0" marL="0">
              <a:spcAft>
                <a:spcPts val="800"/>
              </a:spcAft>
              <a:buNone/>
            </a:pPr>
            <a:r>
              <a:rPr lang="en-US" sz="2100" b="1" dirty="0">
                <a:solidFill>
                  <a:schemeClr val="tx2"/>
                </a:solidFill>
              </a:rPr>
              <a:t>3.  </a:t>
            </a:r>
            <a:r>
              <a:rPr lang="en-US" sz="2100" dirty="0">
                <a:solidFill>
                  <a:schemeClr val="accent5"/>
                </a:solidFill>
              </a:rPr>
              <a:t>……………</a:t>
            </a:r>
            <a:r>
              <a:rPr lang="en-US" sz="2100" dirty="0">
                <a:solidFill>
                  <a:schemeClr val="tx1"/>
                </a:solidFill>
              </a:rPr>
              <a:t> het bod binnen is, bel ik de eigenaar op.</a:t>
            </a:r>
            <a:endParaRPr lang="en-US" sz="2100" dirty="0"/>
          </a:p>
          <a:p>
            <a:pPr indent="0" marL="0">
              <a:spcAft>
                <a:spcPts val="800"/>
              </a:spcAft>
              <a:buNone/>
            </a:pPr>
            <a:r>
              <a:rPr lang="en-US" sz="2100" b="1" dirty="0">
                <a:solidFill>
                  <a:schemeClr val="tx2"/>
                </a:solidFill>
              </a:rPr>
              <a:t>4.  </a:t>
            </a:r>
            <a:r>
              <a:rPr lang="en-US" sz="2100" dirty="0">
                <a:solidFill>
                  <a:schemeClr val="accent5"/>
                </a:solidFill>
              </a:rPr>
              <a:t>……………</a:t>
            </a:r>
            <a:r>
              <a:rPr lang="en-US" sz="2100" dirty="0">
                <a:solidFill>
                  <a:schemeClr val="tx1"/>
                </a:solidFill>
              </a:rPr>
              <a:t> ik vorig jaar mijn eerste woning verkocht, was ik heel zenuwachtig.</a:t>
            </a:r>
            <a:endParaRPr lang="en-US" sz="2100" dirty="0"/>
          </a:p>
          <a:p>
            <a:pPr indent="0" marL="0">
              <a:spcAft>
                <a:spcPts val="800"/>
              </a:spcAft>
              <a:buNone/>
            </a:pPr>
            <a:r>
              <a:rPr lang="en-US" sz="2100" b="1" dirty="0">
                <a:solidFill>
                  <a:schemeClr val="tx2"/>
                </a:solidFill>
              </a:rPr>
              <a:t>5.  </a:t>
            </a:r>
            <a:r>
              <a:rPr lang="en-US" sz="2100" dirty="0">
                <a:solidFill>
                  <a:schemeClr val="tx1"/>
                </a:solidFill>
              </a:rPr>
              <a:t>De afspraak gaat door, </a:t>
            </a:r>
            <a:r>
              <a:rPr lang="en-US" sz="2100" dirty="0">
                <a:solidFill>
                  <a:schemeClr val="accent5"/>
                </a:solidFill>
              </a:rPr>
              <a:t>……………</a:t>
            </a:r>
            <a:r>
              <a:rPr lang="en-US" sz="2100" dirty="0">
                <a:solidFill>
                  <a:schemeClr val="tx1"/>
                </a:solidFill>
              </a:rPr>
              <a:t> de klant vandaag annuleert.</a:t>
            </a:r>
            <a:endParaRPr lang="en-US" sz="2100" dirty="0"/>
          </a:p>
          <a:p>
            <a:pPr indent="0" marL="0">
              <a:spcAft>
                <a:spcPts val="800"/>
              </a:spcAft>
              <a:buNone/>
            </a:pPr>
            <a:r>
              <a:rPr lang="en-US" sz="2100" b="1" dirty="0">
                <a:solidFill>
                  <a:schemeClr val="tx2"/>
                </a:solidFill>
              </a:rPr>
              <a:t>6.  </a:t>
            </a:r>
            <a:r>
              <a:rPr lang="en-US" sz="2100" dirty="0">
                <a:solidFill>
                  <a:schemeClr val="accent5"/>
                </a:solidFill>
              </a:rPr>
              <a:t>……………</a:t>
            </a:r>
            <a:r>
              <a:rPr lang="en-US" sz="2100" dirty="0">
                <a:solidFill>
                  <a:schemeClr val="tx1"/>
                </a:solidFill>
              </a:rPr>
              <a:t> de eigenaar in het buitenland woont, tekenen we digitaal.</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9 Kies het juiste voegwoord</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7" name="Text 4"/>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Couche 2 · seul·e · 8 min. Complétez avec la bonne </a:t>
            </a:r>
            <a:r>
              <a:rPr lang="en-US" sz="1600" b="1" i="1" dirty="0">
                <a:solidFill>
                  <a:schemeClr val="accent5"/>
                </a:solidFill>
              </a:rPr>
              <a:t>conjonction</a:t>
            </a:r>
            <a:r>
              <a:rPr lang="en-US" sz="1600" i="1" dirty="0">
                <a:solidFill>
                  <a:schemeClr val="accent5"/>
                </a:solidFill>
              </a:rPr>
              <a:t> (aangezien · zodat · zodra · toen · sinds · tenzij). Surveillez la place du verbe !</a:t>
            </a:r>
            <a:endParaRPr lang="en-US" sz="1600" dirty="0"/>
          </a:p>
        </p:txBody>
      </p:sp>
      <p:sp>
        <p:nvSpPr>
          <p:cNvPr id="8"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1.  </a:t>
            </a:r>
            <a:r>
              <a:rPr lang="en-US" sz="2100" b="1" dirty="0">
                <a:solidFill>
                  <a:schemeClr val="accent3"/>
                </a:solidFill>
              </a:rPr>
              <a:t>Sinds</a:t>
            </a:r>
            <a:r>
              <a:rPr lang="en-US" sz="2100" dirty="0">
                <a:solidFill>
                  <a:schemeClr val="tx1"/>
                </a:solidFill>
              </a:rPr>
              <a:t> ik bij Immo Van Damme werk, heb ik veel geleerd.</a:t>
            </a:r>
            <a:endParaRPr lang="en-US" sz="2100" dirty="0"/>
          </a:p>
          <a:p>
            <a:pPr indent="0" marL="0">
              <a:spcAft>
                <a:spcPts val="800"/>
              </a:spcAft>
              <a:buNone/>
            </a:pPr>
            <a:r>
              <a:rPr lang="en-US" sz="2100" b="1" dirty="0">
                <a:solidFill>
                  <a:schemeClr val="tx2"/>
                </a:solidFill>
              </a:rPr>
              <a:t>2.  </a:t>
            </a:r>
            <a:r>
              <a:rPr lang="en-US" sz="2100" dirty="0">
                <a:solidFill>
                  <a:schemeClr val="tx1"/>
                </a:solidFill>
              </a:rPr>
              <a:t>We plannen de bezichtiging op zaterdag, </a:t>
            </a:r>
            <a:r>
              <a:rPr lang="en-US" sz="2100" b="1" dirty="0">
                <a:solidFill>
                  <a:schemeClr val="accent3"/>
                </a:solidFill>
              </a:rPr>
              <a:t>zodat</a:t>
            </a:r>
            <a:r>
              <a:rPr lang="en-US" sz="2100" dirty="0">
                <a:solidFill>
                  <a:schemeClr val="tx1"/>
                </a:solidFill>
              </a:rPr>
              <a:t> beide kopers aanwezig kunnen zijn.</a:t>
            </a:r>
            <a:endParaRPr lang="en-US" sz="2100" dirty="0"/>
          </a:p>
          <a:p>
            <a:pPr indent="0" marL="0">
              <a:spcAft>
                <a:spcPts val="800"/>
              </a:spcAft>
              <a:buNone/>
            </a:pPr>
            <a:r>
              <a:rPr lang="en-US" sz="2100" b="1" dirty="0">
                <a:solidFill>
                  <a:schemeClr val="tx2"/>
                </a:solidFill>
              </a:rPr>
              <a:t>3.  </a:t>
            </a:r>
            <a:r>
              <a:rPr lang="en-US" sz="2100" b="1" dirty="0">
                <a:solidFill>
                  <a:schemeClr val="accent3"/>
                </a:solidFill>
              </a:rPr>
              <a:t>Zodra</a:t>
            </a:r>
            <a:r>
              <a:rPr lang="en-US" sz="2100" dirty="0">
                <a:solidFill>
                  <a:schemeClr val="tx1"/>
                </a:solidFill>
              </a:rPr>
              <a:t> het bod binnen is, bel ik de eigenaar op.</a:t>
            </a:r>
            <a:endParaRPr lang="en-US" sz="2100" dirty="0"/>
          </a:p>
          <a:p>
            <a:pPr indent="0" marL="0">
              <a:spcAft>
                <a:spcPts val="800"/>
              </a:spcAft>
              <a:buNone/>
            </a:pPr>
            <a:r>
              <a:rPr lang="en-US" sz="2100" b="1" dirty="0">
                <a:solidFill>
                  <a:schemeClr val="tx2"/>
                </a:solidFill>
              </a:rPr>
              <a:t>4.  </a:t>
            </a:r>
            <a:r>
              <a:rPr lang="en-US" sz="2100" b="1" dirty="0">
                <a:solidFill>
                  <a:schemeClr val="accent3"/>
                </a:solidFill>
              </a:rPr>
              <a:t>Toen</a:t>
            </a:r>
            <a:r>
              <a:rPr lang="en-US" sz="2100" dirty="0">
                <a:solidFill>
                  <a:schemeClr val="tx1"/>
                </a:solidFill>
              </a:rPr>
              <a:t> ik vorig jaar mijn eerste woning verkocht, was ik heel zenuwachtig.</a:t>
            </a:r>
            <a:endParaRPr lang="en-US" sz="2100" dirty="0"/>
          </a:p>
          <a:p>
            <a:pPr indent="0" marL="0">
              <a:spcAft>
                <a:spcPts val="800"/>
              </a:spcAft>
              <a:buNone/>
            </a:pPr>
            <a:r>
              <a:rPr lang="en-US" sz="2100" b="1" dirty="0">
                <a:solidFill>
                  <a:schemeClr val="tx2"/>
                </a:solidFill>
              </a:rPr>
              <a:t>5.  </a:t>
            </a:r>
            <a:r>
              <a:rPr lang="en-US" sz="2100" dirty="0">
                <a:solidFill>
                  <a:schemeClr val="tx1"/>
                </a:solidFill>
              </a:rPr>
              <a:t>De afspraak gaat door, </a:t>
            </a:r>
            <a:r>
              <a:rPr lang="en-US" sz="2100" b="1" dirty="0">
                <a:solidFill>
                  <a:schemeClr val="accent3"/>
                </a:solidFill>
              </a:rPr>
              <a:t>tenzij</a:t>
            </a:r>
            <a:r>
              <a:rPr lang="en-US" sz="2100" dirty="0">
                <a:solidFill>
                  <a:schemeClr val="tx1"/>
                </a:solidFill>
              </a:rPr>
              <a:t> de klant vandaag annuleert.</a:t>
            </a:r>
            <a:endParaRPr lang="en-US" sz="2100" dirty="0"/>
          </a:p>
          <a:p>
            <a:pPr indent="0" marL="0">
              <a:spcAft>
                <a:spcPts val="800"/>
              </a:spcAft>
              <a:buNone/>
            </a:pPr>
            <a:r>
              <a:rPr lang="en-US" sz="2100" b="1" dirty="0">
                <a:solidFill>
                  <a:schemeClr val="tx2"/>
                </a:solidFill>
              </a:rPr>
              <a:t>6.  </a:t>
            </a:r>
            <a:r>
              <a:rPr lang="en-US" sz="2100" b="1" dirty="0">
                <a:solidFill>
                  <a:schemeClr val="accent3"/>
                </a:solidFill>
              </a:rPr>
              <a:t>Aangezien</a:t>
            </a:r>
            <a:r>
              <a:rPr lang="en-US" sz="2100" dirty="0">
                <a:solidFill>
                  <a:schemeClr val="tx1"/>
                </a:solidFill>
              </a:rPr>
              <a:t> de eigenaar in het buitenland woont, tekenen we digitaal.</a:t>
            </a:r>
            <a:endParaRPr lang="en-US" sz="2100" dirty="0"/>
          </a:p>
        </p:txBody>
      </p:sp>
      <p:sp>
        <p:nvSpPr>
          <p:cNvPr id="9" name="aside"/>
          <p:cNvSpPr/>
          <p:nvPr/>
        </p:nvSpPr>
        <p:spPr>
          <a:xfrm>
            <a:off x="8074152" y="1481328"/>
            <a:ext cx="3566160" cy="4809744"/>
          </a:xfrm>
          <a:prstGeom prst="roundRect">
            <a:avLst>
              <a:gd name="adj" fmla="val 2051"/>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1" name="Text 7"/>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Sinds</a:t>
            </a:r>
            <a:r>
              <a:rPr lang="en-US" sz="1800" dirty="0">
                <a:solidFill>
                  <a:schemeClr val="tx1"/>
                </a:solidFill>
              </a:rPr>
              <a:t> + présent : durée (</a:t>
            </a:r>
            <a:r>
              <a:rPr lang="en-US" sz="1800" i="1" dirty="0">
                <a:solidFill>
                  <a:schemeClr val="tx1"/>
                </a:solidFill>
              </a:rPr>
              <a:t>depuis que</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Toen</a:t>
            </a:r>
            <a:r>
              <a:rPr lang="en-US" sz="1800" dirty="0">
                <a:solidFill>
                  <a:schemeClr val="tx1"/>
                </a:solidFill>
              </a:rPr>
              <a:t> : passé unique ; </a:t>
            </a:r>
            <a:r>
              <a:rPr lang="en-US" sz="1800" b="1" dirty="0">
                <a:solidFill>
                  <a:schemeClr val="tx1"/>
                </a:solidFill>
              </a:rPr>
              <a:t>zodra</a:t>
            </a:r>
            <a:r>
              <a:rPr lang="en-US" sz="1800" dirty="0">
                <a:solidFill>
                  <a:schemeClr val="tx1"/>
                </a:solidFill>
              </a:rPr>
              <a:t> : dès que.</a:t>
            </a:r>
            <a:endParaRPr lang="en-US" sz="1800" dirty="0"/>
          </a:p>
          <a:p>
            <a:pPr marL="177800" indent="-177800">
              <a:spcAft>
                <a:spcPts val="600"/>
              </a:spcAft>
              <a:buSzPct val="100000"/>
              <a:buChar char="•"/>
            </a:pPr>
            <a:r>
              <a:rPr lang="en-US" sz="1800" dirty="0">
                <a:solidFill>
                  <a:schemeClr val="tx1"/>
                </a:solidFill>
              </a:rPr>
              <a:t>Subordonnée en tête → </a:t>
            </a:r>
            <a:r>
              <a:rPr lang="en-US" sz="1800" b="1" dirty="0">
                <a:solidFill>
                  <a:schemeClr val="tx1"/>
                </a:solidFill>
              </a:rPr>
              <a:t>inversion</a:t>
            </a:r>
            <a:r>
              <a:rPr lang="en-US" sz="1800" dirty="0">
                <a:solidFill>
                  <a:schemeClr val="tx1"/>
                </a:solidFill>
              </a:rPr>
              <a:t> : </a:t>
            </a:r>
            <a:r>
              <a:rPr lang="en-US" sz="1800" i="1" dirty="0">
                <a:solidFill>
                  <a:schemeClr val="tx1"/>
                </a:solidFill>
              </a:rPr>
              <a:t>bel ik, tekenen we, was ik</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3 : </a:t>
            </a:r>
            <a:r>
              <a:rPr lang="en-US" sz="1800" i="1" dirty="0">
                <a:solidFill>
                  <a:schemeClr val="tx1"/>
                </a:solidFill>
              </a:rPr>
              <a:t>Als</a:t>
            </a:r>
            <a:r>
              <a:rPr lang="en-US" sz="1800" dirty="0">
                <a:solidFill>
                  <a:schemeClr val="tx1"/>
                </a:solidFill>
              </a:rPr>
              <a:t> est aussi possible (à moins de « dès que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4 — Antwoord aan meneer Peeters</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Écrit · seul·e · 20 min. Répondez à la mail de meneer Peeters : </a:t>
            </a:r>
            <a:r>
              <a:rPr lang="en-US" sz="1600" b="1" i="1" dirty="0">
                <a:solidFill>
                  <a:schemeClr val="accent5"/>
                </a:solidFill>
              </a:rPr>
              <a:t>10 à 12 phrases</a:t>
            </a:r>
            <a:r>
              <a:rPr lang="en-US" sz="1600" i="1" dirty="0">
                <a:solidFill>
                  <a:schemeClr val="accent5"/>
                </a:solidFill>
              </a:rPr>
              <a:t>, registre </a:t>
            </a:r>
            <a:r>
              <a:rPr lang="en-US" sz="1600" b="1" i="1" dirty="0">
                <a:solidFill>
                  <a:schemeClr val="accent5"/>
                </a:solidFill>
              </a:rPr>
              <a:t>formel</a:t>
            </a:r>
            <a:r>
              <a:rPr lang="en-US" sz="1600" i="1" dirty="0">
                <a:solidFill>
                  <a:schemeClr val="accent5"/>
                </a:solidFill>
              </a:rPr>
              <a:t>. Contenu imposé :</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800"/>
              </a:spcAft>
              <a:buNone/>
            </a:pPr>
            <a:r>
              <a:rPr lang="en-US" sz="2400" b="1" dirty="0">
                <a:solidFill>
                  <a:schemeClr val="tx2"/>
                </a:solidFill>
              </a:rPr>
              <a:t>1.  </a:t>
            </a:r>
            <a:r>
              <a:rPr lang="en-US" sz="2400" b="1" dirty="0">
                <a:solidFill>
                  <a:schemeClr val="tx1"/>
                </a:solidFill>
              </a:rPr>
              <a:t>Accusez réception</a:t>
            </a:r>
            <a:r>
              <a:rPr lang="en-US" sz="2400" dirty="0">
                <a:solidFill>
                  <a:schemeClr val="tx1"/>
                </a:solidFill>
              </a:rPr>
              <a:t> du bod et expliquez la position du propriétaire (à vous d’inventer : il accepte, il hésite, il a reçu une autre offre…).</a:t>
            </a:r>
            <a:endParaRPr lang="en-US" sz="2400" dirty="0"/>
          </a:p>
          <a:p>
            <a:pPr indent="0" marL="0">
              <a:spcAft>
                <a:spcPts val="800"/>
              </a:spcAft>
              <a:buNone/>
            </a:pPr>
            <a:r>
              <a:rPr lang="en-US" sz="2400" b="1" dirty="0">
                <a:solidFill>
                  <a:schemeClr val="tx2"/>
                </a:solidFill>
              </a:rPr>
              <a:t>2.  </a:t>
            </a:r>
            <a:r>
              <a:rPr lang="en-US" sz="2400" dirty="0">
                <a:solidFill>
                  <a:schemeClr val="tx1"/>
                </a:solidFill>
              </a:rPr>
              <a:t>Posez la </a:t>
            </a:r>
            <a:r>
              <a:rPr lang="en-US" sz="2400" b="1" dirty="0">
                <a:solidFill>
                  <a:schemeClr val="tx1"/>
                </a:solidFill>
              </a:rPr>
              <a:t>condition du délai bancaire</a:t>
            </a:r>
            <a:r>
              <a:rPr lang="en-US" sz="2400" dirty="0">
                <a:solidFill>
                  <a:schemeClr val="tx1"/>
                </a:solidFill>
              </a:rPr>
              <a:t> avec </a:t>
            </a:r>
            <a:r>
              <a:rPr lang="en-US" sz="2400" b="1" dirty="0">
                <a:solidFill>
                  <a:schemeClr val="tx1"/>
                </a:solidFill>
              </a:rPr>
              <a:t>au moins 3 subordonnées variées</a:t>
            </a:r>
            <a:r>
              <a:rPr lang="en-US" sz="2400" dirty="0">
                <a:solidFill>
                  <a:schemeClr val="tx1"/>
                </a:solidFill>
              </a:rPr>
              <a:t> (aangezien, zodra, tenzij, als…).</a:t>
            </a:r>
            <a:endParaRPr lang="en-US" sz="2400" dirty="0"/>
          </a:p>
          <a:p>
            <a:pPr indent="0" marL="0">
              <a:spcAft>
                <a:spcPts val="800"/>
              </a:spcAft>
              <a:buNone/>
            </a:pPr>
            <a:r>
              <a:rPr lang="en-US" sz="2400" b="1" dirty="0">
                <a:solidFill>
                  <a:schemeClr val="tx2"/>
                </a:solidFill>
              </a:rPr>
              <a:t>3.  </a:t>
            </a:r>
            <a:r>
              <a:rPr lang="en-US" sz="2400" dirty="0">
                <a:solidFill>
                  <a:schemeClr val="tx1"/>
                </a:solidFill>
              </a:rPr>
              <a:t>Structurez avec </a:t>
            </a:r>
            <a:r>
              <a:rPr lang="en-US" sz="2400" b="1" dirty="0">
                <a:solidFill>
                  <a:schemeClr val="tx1"/>
                </a:solidFill>
              </a:rPr>
              <a:t>ten eerste / bovendien / kortom</a:t>
            </a:r>
            <a:r>
              <a:rPr lang="en-US" sz="2400" dirty="0">
                <a:solidFill>
                  <a:schemeClr val="tx1"/>
                </a:solidFill>
              </a:rPr>
              <a:t>.</a:t>
            </a:r>
            <a:endParaRPr lang="en-US" sz="2400" dirty="0"/>
          </a:p>
          <a:p>
            <a:pPr indent="0" marL="0">
              <a:spcAft>
                <a:spcPts val="800"/>
              </a:spcAft>
              <a:buNone/>
            </a:pPr>
            <a:r>
              <a:rPr lang="en-US" sz="2400" b="1" dirty="0">
                <a:solidFill>
                  <a:schemeClr val="tx2"/>
                </a:solidFill>
              </a:rPr>
              <a:t>4.  </a:t>
            </a:r>
            <a:r>
              <a:rPr lang="en-US" sz="2400" dirty="0">
                <a:solidFill>
                  <a:schemeClr val="tx1"/>
                </a:solidFill>
              </a:rPr>
              <a:t>Proposez la suite : </a:t>
            </a:r>
            <a:r>
              <a:rPr lang="en-US" sz="2400" b="1" dirty="0">
                <a:solidFill>
                  <a:schemeClr val="tx1"/>
                </a:solidFill>
              </a:rPr>
              <a:t>«Zullen we…?»</a:t>
            </a:r>
            <a:endParaRPr lang="en-US" sz="2400" dirty="0"/>
          </a:p>
          <a:p>
            <a:pPr indent="0" marL="0">
              <a:spcAft>
                <a:spcPts val="800"/>
              </a:spcAft>
              <a:buNone/>
            </a:pPr>
            <a:r>
              <a:rPr lang="en-US" sz="2400" dirty="0">
                <a:solidFill>
                  <a:schemeClr val="tx1"/>
                </a:solidFill>
              </a:rPr>
              <a:t>Relecture croisée en binôme : soulignez les subordonnées de l’autre et vérifiez la </a:t>
            </a:r>
            <a:r>
              <a:rPr lang="en-US" sz="2400" b="1" dirty="0">
                <a:solidFill>
                  <a:schemeClr val="tx1"/>
                </a:solidFill>
              </a:rPr>
              <a:t>place du verbe</a:t>
            </a:r>
            <a:r>
              <a:rPr lang="en-US" sz="2400" dirty="0">
                <a:solidFill>
                  <a:schemeClr val="tx1"/>
                </a:solidFill>
              </a:rPr>
              <a:t> — la checklist du métier.</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4 — Une réponse réussie (modèle)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935431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Antwoord aan meneer Peeters</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Geachte heer Peeters,</a:t>
            </a:r>
            <a:endParaRPr lang="en-US" sz="1800" dirty="0"/>
          </a:p>
          <a:p>
            <a:pPr indent="0" marL="0">
              <a:spcAft>
                <a:spcPts val="800"/>
              </a:spcAft>
              <a:buNone/>
            </a:pPr>
            <a:r>
              <a:rPr lang="en-US" sz="1800" dirty="0">
                <a:solidFill>
                  <a:schemeClr val="tx1"/>
                </a:solidFill>
              </a:rPr>
              <a:t>Wij danken u voor uw interesse in het rijhuis in Sint-Gillis. Wij bevestigen de ontvangst van uw bod van € 400.000. Ten eerste hebben wij uw bod met de eigenaar besproken: hij vindt het interessant, maar hij wil eerst nog enkele dagen wachten. Aangezien er tot nu toe geen hoger bod is binnengekomen, blijft uw bod geldig tot vrijdag.</a:t>
            </a:r>
            <a:endParaRPr lang="en-US" sz="1800" dirty="0"/>
          </a:p>
          <a:p>
            <a:pPr indent="0" marL="0">
              <a:spcAft>
                <a:spcPts val="800"/>
              </a:spcAft>
              <a:buNone/>
            </a:pPr>
            <a:r>
              <a:rPr lang="en-US" sz="1800" dirty="0">
                <a:solidFill>
                  <a:schemeClr val="tx1"/>
                </a:solidFill>
              </a:rPr>
              <a:t>Bovendien begrijpen wij dat uw bank drie weken nodig heeft voor de lening; voor de eigenaar is dat geen probleem, tenzij hij een andere koper vindt. Zodra u de goedkeuring van uw bank hebt, kunnen wij de verkoopsovereenkomst voorbereiden. Als de bank de lening weigert, kunt u de overeenkomst annuleren, op voorwaarde dat u ons dat vóór 30 september meldt.</a:t>
            </a:r>
            <a:endParaRPr lang="en-US" sz="1800" dirty="0"/>
          </a:p>
          <a:p>
            <a:pPr indent="0" marL="0">
              <a:spcAft>
                <a:spcPts val="800"/>
              </a:spcAft>
              <a:buNone/>
            </a:pPr>
            <a:r>
              <a:rPr lang="en-US" sz="1800" dirty="0">
                <a:solidFill>
                  <a:schemeClr val="tx1"/>
                </a:solidFill>
              </a:rPr>
              <a:t>Kortom: de eigenaar neemt vrijdag zijn beslissing, zodat u snel duidelijkheid krijgt. Zullen we samen een afspraak inplannen om de documenten te bespreken? Aarzel niet om ons te bellen als u nog vragen hebt.</a:t>
            </a:r>
            <a:endParaRPr lang="en-US" sz="1800" dirty="0"/>
          </a:p>
          <a:p>
            <a:pPr indent="0" marL="0">
              <a:spcAft>
                <a:spcPts val="800"/>
              </a:spcAft>
              <a:buNone/>
            </a:pPr>
            <a:r>
              <a:rPr lang="en-US" sz="1800" dirty="0">
                <a:solidFill>
                  <a:schemeClr val="tx1"/>
                </a:solidFill>
              </a:rPr>
              <a:t>Met vriendelijke groeten, Yasmina — Immo Van Damme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 Trois registres pour écrire</a:t>
            </a:r>
            <a:endParaRPr lang="en-US" sz="3200" dirty="0"/>
          </a:p>
        </p:txBody>
      </p:sp>
      <p:sp>
        <p:nvSpPr>
          <p:cNvPr id="3" name="tag"/>
          <p:cNvSpPr/>
          <p:nvPr/>
        </p:nvSpPr>
        <p:spPr>
          <a:xfrm>
            <a:off x="548640" y="237744"/>
            <a:ext cx="15316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À RETENIR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1645920"/>
                <a:gridCol w="3017520"/>
                <a:gridCol w="3383280"/>
                <a:gridCol w="3044952"/>
              </a:tblGrid>
              <a:tr h="628193">
                <a:tc>
                  <a:txBody>
                    <a:bodyPr/>
                    <a:lstStyle/>
                    <a:p>
                      <a:pPr algn="l" indent="0" marL="0">
                        <a:buNone/>
                      </a:pP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FORMEEL (mail)</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NEUTRAAL (eerste bericht)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INFORMEEL (vrienden)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04418">
                <a:tc>
                  <a:txBody>
                    <a:bodyPr/>
                    <a:lstStyle/>
                    <a:p>
                      <a:pPr algn="l" indent="0" marL="0">
                        <a:buNone/>
                      </a:pPr>
                      <a:r>
                        <a:rPr lang="en-US" sz="2000" b="1" dirty="0">
                          <a:solidFill>
                            <a:schemeClr val="tx1"/>
                          </a:solidFill>
                        </a:rPr>
                        <a:t>Begroeting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Geachte heer, mevrouw</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Dag meneer, / Goeiedag,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Hoi! / Hallo!</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14400">
                <a:tc>
                  <a:txBody>
                    <a:bodyPr/>
                    <a:lstStyle/>
                    <a:p>
                      <a:pPr algn="l" indent="0" marL="0">
                        <a:buNone/>
                      </a:pPr>
                      <a:r>
                        <a:rPr lang="en-US" sz="2000" b="1" dirty="0">
                          <a:solidFill>
                            <a:schemeClr val="tx1"/>
                          </a:solidFill>
                        </a:rPr>
                        <a:t>Aanspreking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u</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u — tot de ander je voorstelt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jij / 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14400">
                <a:tc>
                  <a:txBody>
                    <a:bodyPr/>
                    <a:lstStyle/>
                    <a:p>
                      <a:pPr algn="l" indent="0" marL="0">
                        <a:buNone/>
                      </a:pPr>
                      <a:r>
                        <a:rPr lang="en-US" sz="2000" b="1" dirty="0">
                          <a:solidFill>
                            <a:schemeClr val="tx1"/>
                          </a:solidFill>
                        </a:rPr>
                        <a:t>Vraag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Zou u … kunnen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Kunt u …? / Is … nog beschikbaar?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Kan je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14400">
                <a:tc>
                  <a:txBody>
                    <a:bodyPr/>
                    <a:lstStyle/>
                    <a:p>
                      <a:pPr algn="l" indent="0" marL="0">
                        <a:buNone/>
                      </a:pPr>
                      <a:r>
                        <a:rPr lang="en-US" sz="2000" b="1" dirty="0">
                          <a:solidFill>
                            <a:schemeClr val="tx1"/>
                          </a:solidFill>
                        </a:rPr>
                        <a:t>Afsluiting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Met vriendelijke groeten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Vriendelijke groet / Alvast bedankt!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Groetjes! / Tot zaterdag!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669280"/>
            <a:ext cx="11091672" cy="621792"/>
          </a:xfrm>
          <a:prstGeom prst="rect">
            <a:avLst/>
          </a:prstGeom>
          <a:noFill/>
          <a:ln/>
        </p:spPr>
        <p:txBody>
          <a:bodyPr wrap="square" lIns="0" tIns="0" rIns="0" bIns="0" rtlCol="0" anchor="b"/>
          <a:lstStyle/>
          <a:p>
            <a:pPr indent="0" marL="0">
              <a:buNone/>
            </a:pPr>
            <a:r>
              <a:rPr lang="en-US" sz="1500" i="1" dirty="0">
                <a:solidFill>
                  <a:schemeClr val="accent5"/>
                </a:solidFill>
              </a:rPr>
              <a:t>Même grammaire (aangezien, zodra, tenzij), </a:t>
            </a:r>
            <a:r>
              <a:rPr lang="en-US" sz="1500" b="1" i="1" dirty="0">
                <a:solidFill>
                  <a:schemeClr val="accent5"/>
                </a:solidFill>
              </a:rPr>
              <a:t>autre registre</a:t>
            </a:r>
            <a:r>
              <a:rPr lang="en-US" sz="1500" i="1" dirty="0">
                <a:solidFill>
                  <a:schemeClr val="accent5"/>
                </a:solidFill>
              </a:rPr>
              <a:t>. En Belgique, on vouvoie un inconnu même sur 2dehands : « </a:t>
            </a:r>
            <a:r>
              <a:rPr lang="en-US" sz="1500" b="1" i="1" dirty="0">
                <a:solidFill>
                  <a:schemeClr val="accent5"/>
                </a:solidFill>
              </a:rPr>
              <a:t>Zeg maar je!</a:t>
            </a:r>
            <a:r>
              <a:rPr lang="en-US" sz="1500" i="1" dirty="0">
                <a:solidFill>
                  <a:schemeClr val="accent5"/>
                </a:solidFill>
              </a:rPr>
              <a:t> » = on passe au je.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Schrijven — Een berichtje aan de verkoper</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Text 3"/>
          <p:cNvSpPr txBox="1"/>
          <p:nvPr/>
        </p:nvSpPr>
        <p:spPr>
          <a:xfrm>
            <a:off x="548640" y="1481328"/>
            <a:ext cx="7205472" cy="859536"/>
          </a:xfrm>
          <a:prstGeom prst="rect">
            <a:avLst/>
          </a:prstGeom>
          <a:noFill/>
          <a:ln/>
        </p:spPr>
        <p:txBody>
          <a:bodyPr wrap="square" lIns="0" tIns="0" rIns="0" bIns="0" rtlCol="0" anchor="t"/>
          <a:lstStyle/>
          <a:p>
            <a:pPr indent="0" marL="0">
              <a:buNone/>
            </a:pPr>
            <a:r>
              <a:rPr lang="en-US" sz="1600" i="1" dirty="0">
                <a:solidFill>
                  <a:schemeClr val="accent5"/>
                </a:solidFill>
              </a:rPr>
              <a:t>Écrit · seul·e puis par deux · 10 min. Message de Stef (registre neutre, </a:t>
            </a:r>
            <a:r>
              <a:rPr lang="en-US" sz="1600" b="1" i="1" dirty="0">
                <a:solidFill>
                  <a:schemeClr val="accent5"/>
                </a:solidFill>
              </a:rPr>
              <a:t>4 à 5 phrases</a:t>
            </a:r>
            <a:r>
              <a:rPr lang="en-US" sz="1600" i="1" dirty="0">
                <a:solidFill>
                  <a:schemeClr val="accent5"/>
                </a:solidFill>
              </a:rPr>
              <a:t>, 3 subordonnées variées) ; votre binôme joue le vendeur et répond en passant au </a:t>
            </a:r>
            <a:r>
              <a:rPr lang="en-US" sz="1600" b="1" i="1" dirty="0">
                <a:solidFill>
                  <a:schemeClr val="accent5"/>
                </a:solidFill>
              </a:rPr>
              <a:t>je</a:t>
            </a:r>
            <a:r>
              <a:rPr lang="en-US" sz="1600" i="1" dirty="0">
                <a:solidFill>
                  <a:schemeClr val="accent5"/>
                </a:solidFill>
              </a:rPr>
              <a:t>.</a:t>
            </a:r>
            <a:endParaRPr lang="en-US" sz="1600" dirty="0"/>
          </a:p>
        </p:txBody>
      </p:sp>
      <p:sp>
        <p:nvSpPr>
          <p:cNvPr id="7" name="exercise"/>
          <p:cNvSpPr txBox="1"/>
          <p:nvPr/>
        </p:nvSpPr>
        <p:spPr>
          <a:xfrm>
            <a:off x="548640" y="2414016"/>
            <a:ext cx="7205472" cy="3877056"/>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Modèle : le message de Stef</a:t>
            </a:r>
            <a:endParaRPr lang="en-US" sz="2200" dirty="0"/>
          </a:p>
          <a:p>
            <a:pPr indent="0" marL="0">
              <a:spcAft>
                <a:spcPts val="600"/>
              </a:spcAft>
              <a:buNone/>
            </a:pPr>
            <a:r>
              <a:rPr lang="en-US" sz="2200" dirty="0">
                <a:solidFill>
                  <a:schemeClr val="tx1"/>
                </a:solidFill>
              </a:rPr>
              <a:t>Dag meneer, ik ben geïnteresseerd in de stadsfiets die u op 2dehands verkoopt. </a:t>
            </a:r>
            <a:r>
              <a:rPr lang="en-US" sz="2200" b="1" dirty="0">
                <a:solidFill>
                  <a:schemeClr val="tx1"/>
                </a:solidFill>
              </a:rPr>
              <a:t>Aangezien</a:t>
            </a:r>
            <a:r>
              <a:rPr lang="en-US" sz="2200" dirty="0">
                <a:solidFill>
                  <a:schemeClr val="tx1"/>
                </a:solidFill>
              </a:rPr>
              <a:t> ik in Vorst woon, kan ik zaterdag langskomen, </a:t>
            </a:r>
            <a:r>
              <a:rPr lang="en-US" sz="2200" b="1" dirty="0">
                <a:solidFill>
                  <a:schemeClr val="tx1"/>
                </a:solidFill>
              </a:rPr>
              <a:t>tenzij</a:t>
            </a:r>
            <a:r>
              <a:rPr lang="en-US" sz="2200" dirty="0">
                <a:solidFill>
                  <a:schemeClr val="tx1"/>
                </a:solidFill>
              </a:rPr>
              <a:t> u liever tijdens de week afspreekt. Is de fiets nog beschikbaar? </a:t>
            </a:r>
            <a:r>
              <a:rPr lang="en-US" sz="2200" b="1" dirty="0">
                <a:solidFill>
                  <a:schemeClr val="tx1"/>
                </a:solidFill>
              </a:rPr>
              <a:t>Zodra</a:t>
            </a:r>
            <a:r>
              <a:rPr lang="en-US" sz="2200" dirty="0">
                <a:solidFill>
                  <a:schemeClr val="tx1"/>
                </a:solidFill>
              </a:rPr>
              <a:t> ik uw antwoord heb, laat ik u weten hoe laat ik kom, </a:t>
            </a:r>
            <a:r>
              <a:rPr lang="en-US" sz="2200" b="1" dirty="0">
                <a:solidFill>
                  <a:schemeClr val="tx1"/>
                </a:solidFill>
              </a:rPr>
              <a:t>zodat</a:t>
            </a:r>
            <a:r>
              <a:rPr lang="en-US" sz="2200" dirty="0">
                <a:solidFill>
                  <a:schemeClr val="tx1"/>
                </a:solidFill>
              </a:rPr>
              <a:t> u thuis bent. Alvast bedankt!</a:t>
            </a:r>
            <a:endParaRPr lang="en-US" sz="2200" dirty="0"/>
          </a:p>
          <a:p>
            <a:pPr indent="0" marL="0">
              <a:spcBef>
                <a:spcPts val="800"/>
              </a:spcBef>
              <a:spcAft>
                <a:spcPts val="600"/>
              </a:spcAft>
              <a:buNone/>
            </a:pPr>
            <a:r>
              <a:rPr lang="en-US" sz="2200" b="1" dirty="0">
                <a:solidFill>
                  <a:schemeClr val="tx2"/>
                </a:solidFill>
              </a:rPr>
              <a:t>Réponse du vendeur (je)</a:t>
            </a:r>
            <a:endParaRPr lang="en-US" sz="2200" dirty="0"/>
          </a:p>
          <a:p>
            <a:pPr indent="0" marL="0">
              <a:spcAft>
                <a:spcPts val="600"/>
              </a:spcAft>
              <a:buNone/>
            </a:pPr>
            <a:r>
              <a:rPr lang="en-US" sz="2200" dirty="0">
                <a:solidFill>
                  <a:schemeClr val="tx1"/>
                </a:solidFill>
              </a:rPr>
              <a:t>Dag, ja, de fiets is nog beschikbaar. Zeg maar je! Zaterdag om tien uur komt goed uit. Tot dan!</a:t>
            </a:r>
            <a:endParaRPr lang="en-US" sz="22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4 à 5 phrases</a:t>
            </a:r>
            <a:r>
              <a:rPr lang="en-US" sz="1800" dirty="0">
                <a:solidFill>
                  <a:schemeClr val="tx1"/>
                </a:solidFill>
              </a:rPr>
              <a:t> : intérêt · question sur le vélo · rendez-vous · clôture.</a:t>
            </a:r>
            <a:endParaRPr lang="en-US" sz="1800" dirty="0"/>
          </a:p>
          <a:p>
            <a:pPr marL="177800" indent="-177800">
              <a:spcAft>
                <a:spcPts val="600"/>
              </a:spcAft>
              <a:buSzPct val="100000"/>
              <a:buChar char="•"/>
            </a:pPr>
            <a:r>
              <a:rPr lang="en-US" sz="1800" b="1" dirty="0">
                <a:solidFill>
                  <a:schemeClr val="tx1"/>
                </a:solidFill>
              </a:rPr>
              <a:t>3 subordonnées</a:t>
            </a:r>
            <a:r>
              <a:rPr lang="en-US" sz="1800" dirty="0">
                <a:solidFill>
                  <a:schemeClr val="tx1"/>
                </a:solidFill>
              </a:rPr>
              <a:t> : aangezien · zodra · tenzij · zodat…</a:t>
            </a:r>
            <a:endParaRPr lang="en-US" sz="1800" dirty="0"/>
          </a:p>
          <a:p>
            <a:pPr marL="177800" indent="-177800">
              <a:spcAft>
                <a:spcPts val="600"/>
              </a:spcAft>
              <a:buSzPct val="100000"/>
              <a:buChar char="•"/>
            </a:pPr>
            <a:r>
              <a:rPr lang="en-US" sz="1800" dirty="0">
                <a:solidFill>
                  <a:schemeClr val="tx1"/>
                </a:solidFill>
              </a:rPr>
              <a:t>Le verbe </a:t>
            </a:r>
            <a:r>
              <a:rPr lang="en-US" sz="1800" b="1" dirty="0">
                <a:solidFill>
                  <a:schemeClr val="tx1"/>
                </a:solidFill>
              </a:rPr>
              <a:t>à la fin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Écrit · 10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Combineer met het voegwoord</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Seul·e · 6 min. Reliez les deux phrases avec la </a:t>
            </a:r>
            <a:r>
              <a:rPr lang="en-US" sz="1600" b="1" i="1" dirty="0">
                <a:solidFill>
                  <a:schemeClr val="accent5"/>
                </a:solidFill>
              </a:rPr>
              <a:t>conjonction</a:t>
            </a:r>
            <a:r>
              <a:rPr lang="en-US" sz="1600" i="1" dirty="0">
                <a:solidFill>
                  <a:schemeClr val="accent5"/>
                </a:solidFill>
              </a:rPr>
              <a:t> indiquée. Si la subordonnée ouvre la phrase : </a:t>
            </a:r>
            <a:r>
              <a:rPr lang="en-US" sz="1600" b="1" i="1" dirty="0">
                <a:solidFill>
                  <a:schemeClr val="accent5"/>
                </a:solidFill>
              </a:rPr>
              <a:t>inversion</a:t>
            </a:r>
            <a:r>
              <a:rPr lang="en-US" sz="1600" i="1" dirty="0">
                <a:solidFill>
                  <a:schemeClr val="accent5"/>
                </a:solidFill>
              </a:rPr>
              <a:t>.</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1200"/>
              </a:spcAft>
              <a:buNone/>
            </a:pPr>
            <a:r>
              <a:rPr lang="en-US" sz="2600" b="1" dirty="0">
                <a:solidFill>
                  <a:schemeClr val="tx2"/>
                </a:solidFill>
              </a:rPr>
              <a:t>1.  </a:t>
            </a:r>
            <a:r>
              <a:rPr lang="en-US" sz="2600" dirty="0">
                <a:solidFill>
                  <a:schemeClr val="tx1"/>
                </a:solidFill>
              </a:rPr>
              <a:t>We bezichtigen op zaterdag. + De eigenaar is dan thuis. (zodat)</a:t>
            </a:r>
            <a:endParaRPr lang="en-US" sz="2600" dirty="0"/>
          </a:p>
          <a:p>
            <a:pPr indent="0" marL="0">
              <a:spcAft>
                <a:spcPts val="1200"/>
              </a:spcAft>
              <a:buNone/>
            </a:pPr>
            <a:r>
              <a:rPr lang="en-US" sz="2600" b="1" dirty="0">
                <a:solidFill>
                  <a:schemeClr val="tx2"/>
                </a:solidFill>
              </a:rPr>
              <a:t>2.  </a:t>
            </a:r>
            <a:r>
              <a:rPr lang="en-US" sz="2600" dirty="0">
                <a:solidFill>
                  <a:schemeClr val="tx1"/>
                </a:solidFill>
              </a:rPr>
              <a:t>De bank weigert de lening. + De verkoop gaat door. (tenzij)</a:t>
            </a:r>
            <a:endParaRPr lang="en-US" sz="2600" dirty="0"/>
          </a:p>
          <a:p>
            <a:pPr indent="0" marL="0">
              <a:spcAft>
                <a:spcPts val="1200"/>
              </a:spcAft>
              <a:buNone/>
            </a:pPr>
            <a:r>
              <a:rPr lang="en-US" sz="2600" b="1" dirty="0">
                <a:solidFill>
                  <a:schemeClr val="tx2"/>
                </a:solidFill>
              </a:rPr>
              <a:t>3.  </a:t>
            </a:r>
            <a:r>
              <a:rPr lang="en-US" sz="2600" dirty="0">
                <a:solidFill>
                  <a:schemeClr val="tx1"/>
                </a:solidFill>
              </a:rPr>
              <a:t>Het appartement heeft geen lift. + De huur is lager. (aangezien)</a:t>
            </a:r>
            <a:endParaRPr lang="en-US" sz="2600" dirty="0"/>
          </a:p>
          <a:p>
            <a:pPr indent="0" marL="0">
              <a:spcAft>
                <a:spcPts val="1200"/>
              </a:spcAft>
              <a:buNone/>
            </a:pPr>
            <a:r>
              <a:rPr lang="en-US" sz="2600" b="1" dirty="0">
                <a:solidFill>
                  <a:schemeClr val="tx2"/>
                </a:solidFill>
              </a:rPr>
              <a:t>4.  </a:t>
            </a:r>
            <a:r>
              <a:rPr lang="en-US" sz="2600" dirty="0">
                <a:solidFill>
                  <a:schemeClr val="tx1"/>
                </a:solidFill>
              </a:rPr>
              <a:t>Ik was in Sint-Gillis. + Ik zag de woning. (toen)</a:t>
            </a:r>
            <a:endParaRPr lang="en-US" sz="2600" dirty="0"/>
          </a:p>
          <a:p>
            <a:pPr indent="0" marL="0">
              <a:spcAft>
                <a:spcPts val="1200"/>
              </a:spcAft>
              <a:buNone/>
            </a:pPr>
            <a:r>
              <a:rPr lang="en-US" sz="2600" b="1" dirty="0">
                <a:solidFill>
                  <a:schemeClr val="tx2"/>
                </a:solidFill>
              </a:rPr>
              <a:t>5.  </a:t>
            </a:r>
            <a:r>
              <a:rPr lang="en-US" sz="2600" dirty="0">
                <a:solidFill>
                  <a:schemeClr val="tx1"/>
                </a:solidFill>
              </a:rPr>
              <a:t>Stef werkt bij ons. + Het is minder druk. (sinds)</a:t>
            </a:r>
            <a:endParaRPr lang="en-US" sz="2600" dirty="0"/>
          </a:p>
          <a:p>
            <a:pPr indent="0" marL="0">
              <a:spcAft>
                <a:spcPts val="1200"/>
              </a:spcAft>
              <a:buNone/>
            </a:pPr>
            <a:r>
              <a:rPr lang="en-US" sz="2600" b="1" dirty="0">
                <a:solidFill>
                  <a:schemeClr val="tx2"/>
                </a:solidFill>
              </a:rPr>
              <a:t>6.  </a:t>
            </a:r>
            <a:r>
              <a:rPr lang="en-US" sz="2600" dirty="0">
                <a:solidFill>
                  <a:schemeClr val="tx1"/>
                </a:solidFill>
              </a:rPr>
              <a:t>Ik bel u morgen. + U hebt dan alle documenten. (zodat)</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Combineer met het voegwoord</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Seul·e · 6 min. Reliez les deux phrases avec la </a:t>
            </a:r>
            <a:r>
              <a:rPr lang="en-US" sz="1600" b="1" i="1" dirty="0">
                <a:solidFill>
                  <a:schemeClr val="accent5"/>
                </a:solidFill>
              </a:rPr>
              <a:t>conjonction</a:t>
            </a:r>
            <a:r>
              <a:rPr lang="en-US" sz="1600" i="1" dirty="0">
                <a:solidFill>
                  <a:schemeClr val="accent5"/>
                </a:solidFill>
              </a:rPr>
              <a:t> indiquée. Si la subordonnée ouvre la phrase : </a:t>
            </a:r>
            <a:r>
              <a:rPr lang="en-US" sz="1600" b="1" i="1" dirty="0">
                <a:solidFill>
                  <a:schemeClr val="accent5"/>
                </a:solidFill>
              </a:rPr>
              <a:t>inversion</a:t>
            </a:r>
            <a:r>
              <a:rPr lang="en-US" sz="1600" i="1" dirty="0">
                <a:solidFill>
                  <a:schemeClr val="accent5"/>
                </a:solidFill>
              </a:rPr>
              <a:t>.</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We bezichtigen op zaterdag. + De eigenaar is dan thuis. (zodat)</a:t>
            </a:r>
            <a:endParaRPr lang="en-US" sz="1600" dirty="0"/>
          </a:p>
          <a:p>
            <a:pPr indent="0" marL="0">
              <a:spcAft>
                <a:spcPts val="600"/>
              </a:spcAft>
              <a:buNone/>
            </a:pPr>
            <a:r>
              <a:rPr lang="en-US" sz="1600" b="1" dirty="0">
                <a:solidFill>
                  <a:schemeClr val="accent3"/>
                </a:solidFill>
              </a:rPr>
              <a:t>→ </a:t>
            </a:r>
            <a:r>
              <a:rPr lang="en-US" sz="1600" dirty="0">
                <a:solidFill>
                  <a:schemeClr val="accent3"/>
                </a:solidFill>
              </a:rPr>
              <a:t>We bezichtigen op zaterdag, </a:t>
            </a:r>
            <a:r>
              <a:rPr lang="en-US" sz="1600" b="1" dirty="0">
                <a:solidFill>
                  <a:schemeClr val="accent3"/>
                </a:solidFill>
              </a:rPr>
              <a:t>zodat</a:t>
            </a:r>
            <a:r>
              <a:rPr lang="en-US" sz="1600" dirty="0">
                <a:solidFill>
                  <a:schemeClr val="accent3"/>
                </a:solidFill>
              </a:rPr>
              <a:t> de eigenaar dan thuis is.</a:t>
            </a:r>
            <a:endParaRPr lang="en-US" sz="1600" dirty="0"/>
          </a:p>
          <a:p>
            <a:pPr indent="0" marL="0">
              <a:spcAft>
                <a:spcPts val="400"/>
              </a:spcAft>
              <a:buNone/>
            </a:pPr>
            <a:r>
              <a:rPr lang="en-US" sz="1600" b="1" dirty="0">
                <a:solidFill>
                  <a:schemeClr val="tx2"/>
                </a:solidFill>
              </a:rPr>
              <a:t>2.  </a:t>
            </a:r>
            <a:r>
              <a:rPr lang="en-US" sz="1600" dirty="0">
                <a:solidFill>
                  <a:schemeClr val="tx1"/>
                </a:solidFill>
              </a:rPr>
              <a:t>De bank weigert de lening. + De verkoop gaat door. (tenzij)</a:t>
            </a:r>
            <a:endParaRPr lang="en-US" sz="1600" dirty="0"/>
          </a:p>
          <a:p>
            <a:pPr indent="0" marL="0">
              <a:spcAft>
                <a:spcPts val="600"/>
              </a:spcAft>
              <a:buNone/>
            </a:pPr>
            <a:r>
              <a:rPr lang="en-US" sz="1600" b="1" dirty="0">
                <a:solidFill>
                  <a:schemeClr val="accent3"/>
                </a:solidFill>
              </a:rPr>
              <a:t>→ </a:t>
            </a:r>
            <a:r>
              <a:rPr lang="en-US" sz="1600" dirty="0">
                <a:solidFill>
                  <a:schemeClr val="accent3"/>
                </a:solidFill>
              </a:rPr>
              <a:t>De verkoop gaat door, </a:t>
            </a:r>
            <a:r>
              <a:rPr lang="en-US" sz="1600" b="1" dirty="0">
                <a:solidFill>
                  <a:schemeClr val="accent3"/>
                </a:solidFill>
              </a:rPr>
              <a:t>tenzij</a:t>
            </a:r>
            <a:r>
              <a:rPr lang="en-US" sz="1600" dirty="0">
                <a:solidFill>
                  <a:schemeClr val="accent3"/>
                </a:solidFill>
              </a:rPr>
              <a:t> de bank de lening weigert.</a:t>
            </a:r>
            <a:endParaRPr lang="en-US" sz="1600" dirty="0"/>
          </a:p>
          <a:p>
            <a:pPr indent="0" marL="0">
              <a:spcAft>
                <a:spcPts val="400"/>
              </a:spcAft>
              <a:buNone/>
            </a:pPr>
            <a:r>
              <a:rPr lang="en-US" sz="1600" b="1" dirty="0">
                <a:solidFill>
                  <a:schemeClr val="tx2"/>
                </a:solidFill>
              </a:rPr>
              <a:t>3.  </a:t>
            </a:r>
            <a:r>
              <a:rPr lang="en-US" sz="1600" dirty="0">
                <a:solidFill>
                  <a:schemeClr val="tx1"/>
                </a:solidFill>
              </a:rPr>
              <a:t>Het appartement heeft geen lift. + De huur is lager. (aangezien)</a:t>
            </a:r>
            <a:endParaRPr lang="en-US" sz="1600" dirty="0"/>
          </a:p>
          <a:p>
            <a:pPr indent="0" marL="0">
              <a:spcAft>
                <a:spcPts val="600"/>
              </a:spcAft>
              <a:buNone/>
            </a:pPr>
            <a:r>
              <a:rPr lang="en-US" sz="1600" b="1" dirty="0">
                <a:solidFill>
                  <a:schemeClr val="accent3"/>
                </a:solidFill>
              </a:rPr>
              <a:t>→ </a:t>
            </a:r>
            <a:r>
              <a:rPr lang="en-US" sz="1600" b="1" dirty="0">
                <a:solidFill>
                  <a:schemeClr val="accent3"/>
                </a:solidFill>
              </a:rPr>
              <a:t>Aangezien</a:t>
            </a:r>
            <a:r>
              <a:rPr lang="en-US" sz="1600" dirty="0">
                <a:solidFill>
                  <a:schemeClr val="accent3"/>
                </a:solidFill>
              </a:rPr>
              <a:t> het appartement geen lift heeft, </a:t>
            </a:r>
            <a:r>
              <a:rPr lang="en-US" sz="1600" b="1" dirty="0">
                <a:solidFill>
                  <a:schemeClr val="accent3"/>
                </a:solidFill>
              </a:rPr>
              <a:t>is</a:t>
            </a:r>
            <a:r>
              <a:rPr lang="en-US" sz="1600" dirty="0">
                <a:solidFill>
                  <a:schemeClr val="accent3"/>
                </a:solidFill>
              </a:rPr>
              <a:t> de huur lager.</a:t>
            </a:r>
            <a:endParaRPr lang="en-US" sz="1600" dirty="0"/>
          </a:p>
          <a:p>
            <a:pPr indent="0" marL="0">
              <a:spcAft>
                <a:spcPts val="400"/>
              </a:spcAft>
              <a:buNone/>
            </a:pPr>
            <a:r>
              <a:rPr lang="en-US" sz="1600" b="1" dirty="0">
                <a:solidFill>
                  <a:schemeClr val="tx2"/>
                </a:solidFill>
              </a:rPr>
              <a:t>4.  </a:t>
            </a:r>
            <a:r>
              <a:rPr lang="en-US" sz="1600" dirty="0">
                <a:solidFill>
                  <a:schemeClr val="tx1"/>
                </a:solidFill>
              </a:rPr>
              <a:t>Ik was in Sint-Gillis. + Ik zag de woning. (toen)</a:t>
            </a:r>
            <a:endParaRPr lang="en-US" sz="1600" dirty="0"/>
          </a:p>
          <a:p>
            <a:pPr indent="0" marL="0">
              <a:spcAft>
                <a:spcPts val="600"/>
              </a:spcAft>
              <a:buNone/>
            </a:pPr>
            <a:r>
              <a:rPr lang="en-US" sz="1600" b="1" dirty="0">
                <a:solidFill>
                  <a:schemeClr val="accent3"/>
                </a:solidFill>
              </a:rPr>
              <a:t>→ </a:t>
            </a:r>
            <a:r>
              <a:rPr lang="en-US" sz="1600" b="1" dirty="0">
                <a:solidFill>
                  <a:schemeClr val="accent3"/>
                </a:solidFill>
              </a:rPr>
              <a:t>Toen</a:t>
            </a:r>
            <a:r>
              <a:rPr lang="en-US" sz="1600" dirty="0">
                <a:solidFill>
                  <a:schemeClr val="accent3"/>
                </a:solidFill>
              </a:rPr>
              <a:t> ik in Sint-Gillis was, </a:t>
            </a:r>
            <a:r>
              <a:rPr lang="en-US" sz="1600" b="1" dirty="0">
                <a:solidFill>
                  <a:schemeClr val="accent3"/>
                </a:solidFill>
              </a:rPr>
              <a:t>zag</a:t>
            </a:r>
            <a:r>
              <a:rPr lang="en-US" sz="1600" dirty="0">
                <a:solidFill>
                  <a:schemeClr val="accent3"/>
                </a:solidFill>
              </a:rPr>
              <a:t> ik de woning.</a:t>
            </a:r>
            <a:endParaRPr lang="en-US" sz="1600" dirty="0"/>
          </a:p>
          <a:p>
            <a:pPr indent="0" marL="0">
              <a:spcAft>
                <a:spcPts val="400"/>
              </a:spcAft>
              <a:buNone/>
            </a:pPr>
            <a:r>
              <a:rPr lang="en-US" sz="1600" b="1" dirty="0">
                <a:solidFill>
                  <a:schemeClr val="tx2"/>
                </a:solidFill>
              </a:rPr>
              <a:t>5.  </a:t>
            </a:r>
            <a:r>
              <a:rPr lang="en-US" sz="1600" dirty="0">
                <a:solidFill>
                  <a:schemeClr val="tx1"/>
                </a:solidFill>
              </a:rPr>
              <a:t>Stef werkt bij ons. + Het is minder druk. (sinds)</a:t>
            </a:r>
            <a:endParaRPr lang="en-US" sz="1600" dirty="0"/>
          </a:p>
          <a:p>
            <a:pPr indent="0" marL="0">
              <a:spcAft>
                <a:spcPts val="600"/>
              </a:spcAft>
              <a:buNone/>
            </a:pPr>
            <a:r>
              <a:rPr lang="en-US" sz="1600" b="1" dirty="0">
                <a:solidFill>
                  <a:schemeClr val="accent3"/>
                </a:solidFill>
              </a:rPr>
              <a:t>→ </a:t>
            </a:r>
            <a:r>
              <a:rPr lang="en-US" sz="1600" b="1" dirty="0">
                <a:solidFill>
                  <a:schemeClr val="accent3"/>
                </a:solidFill>
              </a:rPr>
              <a:t>Sinds</a:t>
            </a:r>
            <a:r>
              <a:rPr lang="en-US" sz="1600" dirty="0">
                <a:solidFill>
                  <a:schemeClr val="accent3"/>
                </a:solidFill>
              </a:rPr>
              <a:t> Stef bij ons werkt, </a:t>
            </a:r>
            <a:r>
              <a:rPr lang="en-US" sz="1600" b="1" dirty="0">
                <a:solidFill>
                  <a:schemeClr val="accent3"/>
                </a:solidFill>
              </a:rPr>
              <a:t>is</a:t>
            </a:r>
            <a:r>
              <a:rPr lang="en-US" sz="1600" dirty="0">
                <a:solidFill>
                  <a:schemeClr val="accent3"/>
                </a:solidFill>
              </a:rPr>
              <a:t> het minder druk.</a:t>
            </a:r>
            <a:endParaRPr lang="en-US" sz="1600" dirty="0"/>
          </a:p>
          <a:p>
            <a:pPr indent="0" marL="0">
              <a:spcAft>
                <a:spcPts val="400"/>
              </a:spcAft>
              <a:buNone/>
            </a:pPr>
            <a:r>
              <a:rPr lang="en-US" sz="1600" b="1" dirty="0">
                <a:solidFill>
                  <a:schemeClr val="tx2"/>
                </a:solidFill>
              </a:rPr>
              <a:t>6.  </a:t>
            </a:r>
            <a:r>
              <a:rPr lang="en-US" sz="1600" dirty="0">
                <a:solidFill>
                  <a:schemeClr val="tx1"/>
                </a:solidFill>
              </a:rPr>
              <a:t>Ik bel u morgen. + U hebt dan alle documenten. (zodat)</a:t>
            </a:r>
            <a:endParaRPr lang="en-US" sz="1600" dirty="0"/>
          </a:p>
          <a:p>
            <a:pPr indent="0" marL="0">
              <a:spcAft>
                <a:spcPts val="600"/>
              </a:spcAft>
              <a:buNone/>
            </a:pPr>
            <a:r>
              <a:rPr lang="en-US" sz="1600" b="1" dirty="0">
                <a:solidFill>
                  <a:schemeClr val="accent3"/>
                </a:solidFill>
              </a:rPr>
              <a:t>→ </a:t>
            </a:r>
            <a:r>
              <a:rPr lang="en-US" sz="1600" dirty="0">
                <a:solidFill>
                  <a:schemeClr val="accent3"/>
                </a:solidFill>
              </a:rPr>
              <a:t>Ik bel u morgen, </a:t>
            </a:r>
            <a:r>
              <a:rPr lang="en-US" sz="1600" b="1" dirty="0">
                <a:solidFill>
                  <a:schemeClr val="accent3"/>
                </a:solidFill>
              </a:rPr>
              <a:t>zodat</a:t>
            </a:r>
            <a:r>
              <a:rPr lang="en-US" sz="1600" dirty="0">
                <a:solidFill>
                  <a:schemeClr val="accent3"/>
                </a:solidFill>
              </a:rPr>
              <a:t> u dan alle documenten hebt.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5 : </a:t>
            </a:r>
            <a:r>
              <a:rPr lang="en-US" sz="2400" b="1" i="1" dirty="0">
                <a:solidFill>
                  <a:schemeClr val="bg1"/>
                </a:solidFill>
                <a:latin typeface="+mj-lt" pitchFamily="34" charset="0"/>
                <a:ea typeface="+mj-lt" pitchFamily="34" charset="-122"/>
                <a:cs typeface="+mj-lt" pitchFamily="34" charset="-120"/>
              </a:rPr>
              <a:t>l’ordre des mots, niveau supérieur</a:t>
            </a:r>
            <a:r>
              <a:rPr lang="en-US" sz="2400" i="1" dirty="0">
                <a:solidFill>
                  <a:schemeClr val="bg1"/>
                </a:solidFill>
                <a:latin typeface="+mj-lt" pitchFamily="34" charset="0"/>
                <a:ea typeface="+mj-lt" pitchFamily="34" charset="-122"/>
                <a:cs typeface="+mj-lt" pitchFamily="34" charset="-120"/>
              </a:rPr>
              <a:t> (deux verbes, particules, inversion), la </a:t>
            </a:r>
            <a:r>
              <a:rPr lang="en-US" sz="2400" b="1" i="1" dirty="0">
                <a:solidFill>
                  <a:schemeClr val="bg1"/>
                </a:solidFill>
                <a:latin typeface="+mj-lt" pitchFamily="34" charset="0"/>
                <a:ea typeface="+mj-lt" pitchFamily="34" charset="-122"/>
                <a:cs typeface="+mj-lt" pitchFamily="34" charset="-120"/>
              </a:rPr>
              <a:t>négociation</a:t>
            </a:r>
            <a:r>
              <a:rPr lang="en-US" sz="2400" i="1" dirty="0">
                <a:solidFill>
                  <a:schemeClr val="bg1"/>
                </a:solidFill>
                <a:latin typeface="+mj-lt" pitchFamily="34" charset="0"/>
                <a:ea typeface="+mj-lt" pitchFamily="34" charset="-122"/>
                <a:cs typeface="+mj-lt" pitchFamily="34" charset="-120"/>
              </a:rPr>
              <a:t> (TAAK 5) — puis la </a:t>
            </a:r>
            <a:r>
              <a:rPr lang="en-US" sz="2400" b="1" i="1" dirty="0">
                <a:solidFill>
                  <a:schemeClr val="bg1"/>
                </a:solidFill>
                <a:latin typeface="+mj-lt" pitchFamily="34" charset="0"/>
                <a:ea typeface="+mj-lt" pitchFamily="34" charset="-122"/>
                <a:cs typeface="+mj-lt" pitchFamily="34" charset="-120"/>
              </a:rPr>
              <a:t>TAAK 6</a:t>
            </a:r>
            <a:r>
              <a:rPr lang="en-US" sz="2400" i="1" dirty="0">
                <a:solidFill>
                  <a:schemeClr val="bg1"/>
                </a:solidFill>
                <a:latin typeface="+mj-lt" pitchFamily="34" charset="0"/>
                <a:ea typeface="+mj-lt" pitchFamily="34" charset="-122"/>
                <a:cs typeface="+mj-lt" pitchFamily="34" charset="-120"/>
              </a:rPr>
              <a:t> : votre dossier complet.</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Apprendre les </a:t>
            </a:r>
            <a:r>
              <a:rPr lang="en-US" sz="1700" b="1" dirty="0">
                <a:solidFill>
                  <a:schemeClr val="tx1"/>
                </a:solidFill>
              </a:rPr>
              <a:t>six conjonctions</a:t>
            </a:r>
            <a:r>
              <a:rPr lang="en-US" sz="1700" dirty="0">
                <a:solidFill>
                  <a:schemeClr val="tx1"/>
                </a:solidFill>
              </a:rPr>
              <a:t> (aangezien, zodat, zodra, toen, sinds, tenzij) avec un exemple.</a:t>
            </a:r>
            <a:endParaRPr lang="en-US" sz="1700" dirty="0"/>
          </a:p>
          <a:p>
            <a:pPr marL="190500" indent="-190500">
              <a:spcAft>
                <a:spcPts val="800"/>
              </a:spcAft>
              <a:buSzPct val="100000"/>
              <a:buChar char="•"/>
            </a:pPr>
            <a:r>
              <a:rPr lang="en-US" sz="1700" dirty="0">
                <a:solidFill>
                  <a:schemeClr val="tx1"/>
                </a:solidFill>
              </a:rPr>
              <a:t>Terminer la </a:t>
            </a:r>
            <a:r>
              <a:rPr lang="en-US" sz="1700" b="1" dirty="0">
                <a:solidFill>
                  <a:schemeClr val="tx1"/>
                </a:solidFill>
              </a:rPr>
              <a:t>TAAK 4</a:t>
            </a:r>
            <a:r>
              <a:rPr lang="en-US" sz="1700" dirty="0">
                <a:solidFill>
                  <a:schemeClr val="tx1"/>
                </a:solidFill>
              </a:rPr>
              <a:t> (10 à 12 phrases) et souligner vos subordonnées.</a:t>
            </a:r>
            <a:endParaRPr lang="en-US" sz="1700" dirty="0"/>
          </a:p>
          <a:p>
            <a:pPr marL="190500" indent="-190500">
              <a:spcAft>
                <a:spcPts val="800"/>
              </a:spcAft>
              <a:buSzPct val="100000"/>
              <a:buChar char="•"/>
            </a:pPr>
            <a:r>
              <a:rPr lang="en-US" sz="1700" dirty="0">
                <a:solidFill>
                  <a:schemeClr val="tx1"/>
                </a:solidFill>
              </a:rPr>
              <a:t>Terminer le </a:t>
            </a:r>
            <a:r>
              <a:rPr lang="en-US" sz="1700" b="1" dirty="0">
                <a:solidFill>
                  <a:schemeClr val="tx1"/>
                </a:solidFill>
              </a:rPr>
              <a:t>message D4</a:t>
            </a:r>
            <a:r>
              <a:rPr lang="en-US" sz="1700" dirty="0">
                <a:solidFill>
                  <a:schemeClr val="tx1"/>
                </a:solidFill>
              </a:rPr>
              <a:t> (4 à 5 phrases) et préparer la réponse du vendeur.</a:t>
            </a:r>
            <a:endParaRPr lang="en-US" sz="1700" dirty="0"/>
          </a:p>
          <a:p>
            <a:pPr marL="190500" indent="-190500">
              <a:spcAft>
                <a:spcPts val="800"/>
              </a:spcAft>
              <a:buSzPct val="100000"/>
              <a:buChar char="•"/>
            </a:pPr>
            <a:r>
              <a:rPr lang="en-US" sz="1700" dirty="0">
                <a:solidFill>
                  <a:schemeClr val="tx1"/>
                </a:solidFill>
              </a:rPr>
              <a:t>Retenir : subordonnée </a:t>
            </a:r>
            <a:r>
              <a:rPr lang="en-US" sz="1700" b="1" dirty="0">
                <a:solidFill>
                  <a:schemeClr val="tx1"/>
                </a:solidFill>
              </a:rPr>
              <a:t>en tête</a:t>
            </a:r>
            <a:r>
              <a:rPr lang="en-US" sz="1700" dirty="0">
                <a:solidFill>
                  <a:schemeClr val="tx1"/>
                </a:solidFill>
              </a:rPr>
              <a:t> → la principale commence par le </a:t>
            </a:r>
            <a:r>
              <a:rPr lang="en-US" sz="1700" b="1" dirty="0">
                <a:solidFill>
                  <a:schemeClr val="tx1"/>
                </a:solidFill>
              </a:rPr>
              <a:t>verbe</a:t>
            </a:r>
            <a:r>
              <a:rPr lang="en-US" sz="1700" dirty="0">
                <a:solidFill>
                  <a:schemeClr val="tx1"/>
                </a:solidFill>
              </a:rPr>
              <a:t>.</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Complétez : </a:t>
            </a:r>
            <a:r>
              <a:rPr lang="en-US" sz="1600" i="1" dirty="0">
                <a:solidFill>
                  <a:schemeClr val="accent5"/>
                </a:solidFill>
              </a:rPr>
              <a:t>……………</a:t>
            </a:r>
            <a:r>
              <a:rPr lang="en-US" sz="1600" i="1" dirty="0">
                <a:solidFill>
                  <a:schemeClr val="bg1"/>
                </a:solidFill>
              </a:rPr>
              <a:t> het bod binnen is, bel ik de eigenaar.</a:t>
            </a:r>
            <a:r>
              <a:rPr lang="en-US" sz="1600" dirty="0">
                <a:solidFill>
                  <a:schemeClr val="bg1"/>
                </a:solidFill>
              </a:rPr>
              <a:t> · </a:t>
            </a:r>
            <a:r>
              <a:rPr lang="en-US" sz="1600" i="1" dirty="0">
                <a:solidFill>
                  <a:schemeClr val="bg1"/>
                </a:solidFill>
              </a:rPr>
              <a:t>De verkoop gaat door, </a:t>
            </a:r>
            <a:r>
              <a:rPr lang="en-US" sz="1600" i="1" dirty="0">
                <a:solidFill>
                  <a:schemeClr val="accent5"/>
                </a:solidFill>
              </a:rPr>
              <a:t>……………</a:t>
            </a:r>
            <a:r>
              <a:rPr lang="en-US" sz="1600" i="1" dirty="0">
                <a:solidFill>
                  <a:schemeClr val="bg1"/>
                </a:solidFill>
              </a:rPr>
              <a:t> de bank weigert.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04 — Voorwaarden en afspraken</dc:title>
  <dc:subject>Néerlandais B1 — immobilier et vie quotidienne (Yasmina &amp; Stef)</dc:subject>
  <dc:creator>A. Jouniaux</dc:creator>
  <cp:lastModifiedBy>A. Jouniaux</cp:lastModifiedBy>
  <cp:revision>1</cp:revision>
  <dcterms:created xsi:type="dcterms:W3CDTF">2026-10-03T21:59:50Z</dcterms:created>
  <dcterms:modified xsi:type="dcterms:W3CDTF">2026-10-03T21:59:50Z</dcterms:modified>
</cp:coreProperties>
</file>