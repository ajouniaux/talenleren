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f785fc93-b7c2-f879-d0f1-da2a1a408e65}">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Lst>
        </p14:section>
        <p14:section name="Clôture" id="{2975ba58-51eb-2ee5-956b-35119516c2fa}">
          <p14:sldIdLst>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Dernière séance du palier 7. Elle traite la séquence 7.5 (concession-réfutation : weliswaar… maar, hoewel, toch, dat klopt maar…), l’exercice 8 (geef toe… en weerleg), la TAAK 5 (minidébat à quatre), l’activité Dagelijks leven D5 (rapporter un achat au magasin) et la TAAK 6 finale (séquence 7.6 : l’assemblée générale complète, avec ordre du jour, débat, vote et notulen). Les notulen (étape 3) se terminent à la maison.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Durées indicatives sur 90 minutes : séance chargée. Pages 19 à 24a du livret. Si le temps manque : D5 peut se limiter à une ronde, et l’étape 3 de la TAAK 6 (le procès-verbal de 10 à 12 phrases) se fait à la maison. L’étape 2 (l’assemblée) demande des groupes de 5 à 6 étudiants ; prévoir un rôle d’observateur pour les groupes voisins.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 de la séance 14 (4 minutes). Ces tournures serviront dans l’étape 3 de la TAAK 6 (les notulen de la réunion jouée). Faire dire les phrases à voix haute avec le bon ordre des mots.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 er » est oublié dans la phrase 1, renvoyer à la règle de la séance 14 : sans autre élément en tête, « er » est obligatoire.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 : Stef reconnaît que Yasmina a raison sur l’urgence (« dat klopt », la décision tarde et les dégâts grandissent) ; il réfute en soulignant que l’examen des offres n’est pas terminé, donc qu’on ne peut pas encore voter. Le livret ne donne pas de titre à cette séquence (le titre « SÉQUENCE 7.5 » est absent de la page 19) ; nous l’appelons « 7.5 : concession et réfutation ». Le livret dit que « hoewel » est connu du palier 4 ; la page 15a (D3) le renvoie au palier 5 : peu important, il est à réactiver.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Tableau du livret (p. 20). Faire lire les exemples à voix haute et identifier ce qui est concédé et ce qui est réfuté. « Weliswaar » se place dans le champ du milieu (de werken zijn weliswaar duur) ou en tête avec inversion (Weliswaar zijn de werken duur, maar…). « Hoewel » introduit une subordonnée : verbe à la fin ; la principale qui suit commence par le verbe (…, blijf ik bij mijn standpunt).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Résumé de la séquence par les ordres des mots. « maar » est une conjonction de coordination : elle ne compte pas dans l’ordre (maar de schade wordt…). « Toch » et « weliswaar » en tête : inversion. « Hoewel » : la subordonnée occupe la première place, donc la principale commence par le verbe (blijf ik). Piège francophone : « Bien que je comprenne, je maintiens » → « Hoewel ik begrijp, ik blijf » est faux.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21 du livret. Remarque : dans l’exemple du livret « U komt toch naar de vergadering? », « toch » n’est pas en fin de phrase mais après le sujet et le verbe (particule modale) ; la place finale correspond à la question de confirmation (« …, toch? »), comme dans la ligne 3 du dialogue. Faire répéter la paire toch / tot pour l’oreille.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semi-libre : donner un modèle par phrase, accepter toute réponse correcte avec concession puis réfutation. Autres modèles : 1. « Ik begrijp dat de kostprijs hoog is. Toch is wachten riskant. » 2. « Uitstellen is weliswaar mogelijk, maar het wordt elk jaar duurder. » 3. « Hoewel hij veel doet, beslist hij niet alleen: de vergadering stemt. » 4. « Dat klopt weliswaar, maar twee weken wachten verandert niets. » Dans l’objection 3, « toch » est une particule modale (« après tout ») et ne se traduit pas toujours.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lire à voix haute avec intonation : la concession monte, la réfutation descend. Reprendre les erreurs d’ordre des mots (« maar stemt de vergadering » est faux ; « maar de vergadering stemt » est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Modalités : 4 par groupe (A, B, président, observateur). Ronde 1 : 6 minutes ; on tourne les rôles ; ronde 2 : 6 minutes. Le président donne la parole (« Meneer X, u hebt het woord. ») et fait respecter le temps ; l’observateur note le nombre de concessions-réfutations et de connecteurs variés. Les objectifs secrets créent le débat : A veut un vote aujourd’hui, B veut le report en novembre (c’est la décision du PV de l’exercice 7). Après le jeu : débrief de 2 minutes — quelle concession a été la plus efficace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Vocabulaire du livret (« Zo zeg je dat »), avec deux ajouts : de solden (les soldes, belgicisme ; en néerlandais des Pays-Bas : de uitverkoop) et la phrase « Ik begrijp dat u ontgoocheld bent. Toch… » (concession du vendeur dans le jeu de rôle). « Het kasticket » est la forme belge ; « de kassabon » est aussi courante. « omruilen » et « terugbetalen » sont séparables : « Ik ruil het om », « We betalen het terug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Modalités : binômes (A client, B vendeur) et un observateur si la classe est impaire ; ronde 1, puis on inverse avec une autre carte. Rappeler le vouvoiement (u). Pour la carte ③ : la garantie a expiré depuis une semaine : le client peut concéder (« De garantie is weliswaar verlopen, maar… ») et réfuter avec un fait (« het apparaat maakte al lawaai in de eerste maand »). Un modèle de dialogue suit (bonus).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Mini-dialogue ajouté à titre de modèle (carte ① : le casque en panne, sans ticket mais avec un extrait bancaire). Faire repérer les concessions (Ik begrijp dat…, U hebt weliswaar gelijk, Dat klopt weliswaar) et les réfutations (Toch…, maar…). Le compromis final : bon d’achat. Lire à deux voix, puis inverser les rôles et changer la carte.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Constituer les groupes de 5 ou 6 (syndic, notulist, trois ou quatre copropriétaires). Chaque copropriétaire prépare des mots-clés pour les deux points d’agenda ; le représentant de mevrouw Dubois défend la sécurisation de la porte (c’est la demande de la TAAK 2) et doit présenter sa volmacht. Le syndic prépare l’ordre du jour avec des nominalisations (« Bespreking van… », « Stemming over…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Tableau « Checklist de réemploi » du livret (minimum 5 / 4 / 3 / 5 / 10). Les étudiants le recopient et cochent pendant la préparation puis pendant l’assemblée ; les groupes observateurs utilisent la mini-grille avec les mêmes lignes.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 15 à 20 minutes par groupe ; si la classe a plusieurs groupes, un groupe joue pendant que l’autre observe, puis on échange. Le syndic dit : « De vergadering is geopend. Punt 1: de renovatie van de gevel. » Le président donne la parole (« Meneer X, u hebt het woord »). Vote : « Wie is voor? Tegen? Onthoudingen? » Le notulist note les scores (voor, tegen, onthouding).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écrite finale. Chaque étudiant rédige le PV de la réunion jouée par son groupe. Critères : passif impersonnel (Er werd…), discours indirect (zei dat, vroeg of), nominalisations dans les intitulés, scores corrects (le total des voix doit égaler le nombre de présents). À rendre à la séance suivante (dossier du palier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Modèle de 10 phrases : intitulés nominaux (Renovatie, Beveiliging), passif impersonnel (Er werd beslist, Er werd voorgesteld), passif personnel (werd geopend, werd goedgekeurd, werd afgesloten), discours indirect (zei dat, vroeg of), résultat chiffré (7 + 1 + 1 = 9 présents). À adapter à la réunion jouée.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Variante de la page 24a pour les étudiants qui préfèrent un dossier de la vie courante. Les cartes de profil (jeune famille, retraité·e, commerçant·e, cycliste…) donnent à chaque bewoner une position défendable. Le double rapport (notulen formelles + message informel de 5 phrases) reprend l’activité D4 de la séance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ajouté (4 minutes) pour fixer l’ordre des mots et le piège toch / tot. Phrase 4 : « maar » ne provoque pas d’inversion. Phrase 5 : « toch » particule modale (« n’est-ce pas ? »). Phrase 6 : « Toch vind ik… » = pourtant je trouve… Faire lire chaque phrase correcte à voix haute.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un étudiant choisit « maar stel ik voor », rappeler que maar se comporte comme et / of : il ne compte pas dans l’ordre des mots.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Auto-évaluation de fin de palier (hors syllabus) : les étudiants cochent ce qu’ils maîtrisent ; ce qui reste vide devient la priorité de révision avant le palier 8. Une minute de partage : un point fort, un point à travailler.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 attendue (exemples) : « Dat klopt weliswaar, maar de vergadering stemt over de beslissingen. » ou « De syndicus heeft weliswaar veel taken, maar hij beslist niet alleen. » Vérifier : concession puis réfutation, pas d’inversion après maar.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TLAS_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Néerlandais 3 · B1 · Yasmina &amp; Stef · Séance 15</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TLAS_DARK">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bg2"/>
                </a:solidFill>
              </a:rPr>
              <a:t>Néerlandais 3 · B1 · Yasmina &amp; Stef · Séance 15</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TLAS_COVER">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263640"/>
            <a:ext cx="7315200" cy="320040"/>
          </a:xfrm>
          <a:prstGeom prst="rect">
            <a:avLst/>
          </a:prstGeom>
          <a:noFill/>
          <a:ln/>
        </p:spPr>
        <p:txBody>
          <a:bodyPr wrap="square" lIns="0" tIns="0" rIns="0" bIns="0" rtlCol="0" anchor="ctr"/>
          <a:lstStyle/>
          <a:p>
            <a:pPr indent="0" marL="0">
              <a:buNone/>
            </a:pPr>
            <a:r>
              <a:rPr lang="en-US" sz="1200" dirty="0">
                <a:solidFill>
                  <a:schemeClr val="bg2"/>
                </a:solidFill>
              </a:rPr>
              <a:t>Néerlandais 3 · B1 · A. Jouniaux · IRAM — Enseignement pour adultes</a:t>
            </a:r>
            <a:endParaRPr lang="en-US" sz="1200" dirty="0"/>
          </a:p>
        </p:txBody>
      </p:sp>
      <p:sp>
        <p:nvSpPr>
          <p:cNvPr id="3" name="Text 1"/>
          <p:cNvSpPr/>
          <p:nvPr>
            <p:ph idx="101" type="title" hasCustomPrompt="1"/>
          </p:nvPr>
        </p:nvSpPr>
        <p:spPr>
          <a:xfrm>
            <a:off x="548640" y="1874520"/>
            <a:ext cx="576072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1"/>
          <p:cNvSpPr/>
          <p:nvPr>
            <p:ph idx="102" type="body" hasCustomPrompt="1"/>
          </p:nvPr>
        </p:nvSpPr>
        <p:spPr>
          <a:xfrm>
            <a:off x="548640" y="3794760"/>
            <a:ext cx="5760720" cy="137160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2.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2.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2.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cNvSpPr/>
          <p:nvPr/>
        </p:nvSpPr>
        <p:spPr>
          <a:xfrm>
            <a:off x="548640" y="640080"/>
            <a:ext cx="2369820" cy="384048"/>
          </a:xfrm>
          <a:prstGeom prst="roundRect">
            <a:avLst>
              <a:gd name="adj" fmla="val 11905"/>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SÉANCE 15 / 19</a:t>
            </a:r>
            <a:endParaRPr lang="en-US" sz="1400" dirty="0"/>
          </a:p>
        </p:txBody>
      </p:sp>
      <p:sp>
        <p:nvSpPr>
          <p:cNvPr id="3" name="Text 1"/>
          <p:cNvSpPr txBox="1"/>
          <p:nvPr/>
        </p:nvSpPr>
        <p:spPr>
          <a:xfrm>
            <a:off x="548640" y="1188720"/>
            <a:ext cx="2377440" cy="777240"/>
          </a:xfrm>
          <a:prstGeom prst="rect">
            <a:avLst/>
          </a:prstGeom>
          <a:noFill/>
          <a:ln/>
        </p:spPr>
        <p:txBody>
          <a:bodyPr wrap="square" lIns="0" tIns="0" rIns="0" bIns="0" rtlCol="0" anchor="t"/>
          <a:lstStyle/>
          <a:p>
            <a:pPr indent="0" marL="0">
              <a:buNone/>
            </a:pPr>
            <a:r>
              <a:rPr lang="en-US" sz="1300" b="1" spc="200" kern="0" dirty="0">
                <a:solidFill>
                  <a:schemeClr val="bg2"/>
                </a:solidFill>
              </a:rPr>
              <a:t>SÉQUENCE</a:t>
            </a:r>
            <a:endParaRPr lang="en-US" sz="1300" dirty="0"/>
          </a:p>
          <a:p>
            <a:pPr indent="0" marL="0">
              <a:buNone/>
            </a:pPr>
            <a:r>
              <a:rPr lang="en-US" sz="3000" b="1" dirty="0">
                <a:solidFill>
                  <a:schemeClr val="bg1"/>
                </a:solidFill>
                <a:latin typeface="+mj-lt" pitchFamily="34" charset="0"/>
                <a:ea typeface="+mj-lt" pitchFamily="34" charset="-122"/>
                <a:cs typeface="+mj-lt" pitchFamily="34" charset="-120"/>
              </a:rPr>
              <a:t>7.5</a:t>
            </a:r>
            <a:endParaRPr lang="en-US" sz="1300" dirty="0"/>
          </a:p>
        </p:txBody>
      </p:sp>
      <p:sp>
        <p:nvSpPr>
          <p:cNvPr id="4" name="Text 1"/>
          <p:cNvSpPr/>
          <p:nvPr>
            <p:ph idx="101" type="title" hasCustomPrompt="1"/>
          </p:nvPr>
        </p:nvSpPr>
        <p:spPr>
          <a:xfrm>
            <a:off x="548640" y="1874520"/>
            <a:ext cx="5760720" cy="1737360"/>
          </a:xfrm>
          <a:prstGeom prst="rect">
            <a:avLst/>
          </a:prstGeom>
          <a:noFill/>
          <a:ln/>
        </p:spPr>
        <p:txBody>
          <a:bodyPr wrap="square" lIns="0" tIns="0" rIns="0" bIns="0" rtlCol="0" anchor="b"/>
          <a:lstStyle/>
          <a:p>
            <a:pPr algn="l" indent="0" marL="0">
              <a:buNone/>
            </a:pPr>
            <a:r>
              <a:rPr lang="en-US" sz="4000" b="1" dirty="0">
                <a:solidFill>
                  <a:schemeClr val="bg1"/>
                </a:solidFill>
              </a:rPr>
              <a:t>Toegeven en weerleggen</a:t>
            </a:r>
            <a:endParaRPr lang="en-US" sz="4000" dirty="0"/>
          </a:p>
        </p:txBody>
      </p:sp>
      <p:sp>
        <p:nvSpPr>
          <p:cNvPr id="5" name="Text 1"/>
          <p:cNvSpPr/>
          <p:nvPr>
            <p:ph idx="102" type="body" hasCustomPrompt="1"/>
          </p:nvPr>
        </p:nvSpPr>
        <p:spPr>
          <a:xfrm>
            <a:off x="548640" y="3794760"/>
            <a:ext cx="5760720" cy="1371600"/>
          </a:xfrm>
          <a:prstGeom prst="rect">
            <a:avLst/>
          </a:prstGeom>
          <a:noFill/>
          <a:ln/>
        </p:spPr>
        <p:txBody>
          <a:bodyPr wrap="square" lIns="0" tIns="0" rIns="0" bIns="0" rtlCol="0" anchor="t"/>
          <a:lstStyle/>
          <a:p>
            <a:pPr algn="l" indent="0" marL="0">
              <a:spcAft>
                <a:spcPts val="1000"/>
              </a:spcAft>
              <a:buNone/>
            </a:pPr>
            <a:r>
              <a:rPr lang="en-US" sz="1800" i="1" dirty="0">
                <a:solidFill>
                  <a:schemeClr val="bg2"/>
                </a:solidFill>
              </a:rPr>
              <a:t>La concession-réfutation, le minidébat et la grande assemblée finale (TAAK 6)</a:t>
            </a:r>
            <a:endParaRPr lang="en-US" sz="1800" dirty="0"/>
          </a:p>
          <a:p>
            <a:pPr algn="l" indent="0" marL="0">
              <a:buNone/>
            </a:pPr>
            <a:r>
              <a:rPr lang="en-US" sz="1800" b="1" dirty="0">
                <a:solidFill>
                  <a:schemeClr val="bg2"/>
                </a:solidFill>
              </a:rPr>
              <a:t>Palier 7 · Mede-eigendom</a:t>
            </a:r>
            <a:endParaRPr lang="en-US" sz="1800" dirty="0"/>
          </a:p>
          <a:p>
            <a:pPr algn="l" indent="0" marL="0">
              <a:buNone/>
            </a:pPr>
            <a:r>
              <a:rPr lang="en-US" sz="1800" dirty="0">
                <a:solidFill>
                  <a:schemeClr val="bg2"/>
                </a:solidFill>
              </a:rPr>
              <a:t>Livret p. 19–24a</a:t>
            </a:r>
            <a:endParaRPr lang="en-US" sz="1800" dirty="0"/>
          </a:p>
        </p:txBody>
      </p:sp>
      <p:pic>
        <p:nvPicPr>
          <p:cNvPr id="6" name="illustration" descr="Illustration du syllabus">    </p:cNvPr>
          <p:cNvPicPr>
            <a:picLocks noChangeAspect="1"/>
          </p:cNvPicPr>
          <p:nvPr/>
        </p:nvPicPr>
        <p:blipFill>
          <a:blip r:embed="rId1"/>
          <a:stretch>
            <a:fillRect/>
          </a:stretch>
        </p:blipFill>
        <p:spPr>
          <a:xfrm>
            <a:off x="6583680" y="1719557"/>
            <a:ext cx="5120640" cy="3418886"/>
          </a:xfrm>
          <a:prstGeom prst="rect">
            <a:avLst/>
          </a:prstGeom>
          <a:effectLst>
            <a:outerShdw sx="100000" sy="100000" kx="0" ky="0" algn="bl" rotWithShape="0" blurRad="101600" dist="25400" dir="3600000">
              <a:srgbClr val="000000">
                <a:alpha val="18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Mission du jour</a:t>
            </a:r>
            <a:endParaRPr lang="en-US" sz="3200" dirty="0"/>
          </a:p>
        </p:txBody>
      </p:sp>
      <p:sp>
        <p:nvSpPr>
          <p:cNvPr id="3" name="tag"/>
          <p:cNvSpPr/>
          <p:nvPr/>
        </p:nvSpPr>
        <p:spPr>
          <a:xfrm>
            <a:off x="548640" y="237744"/>
            <a:ext cx="82296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PLAN</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19–24a</a:t>
            </a:r>
            <a:endParaRPr lang="en-US" sz="1200" dirty="0"/>
          </a:p>
        </p:txBody>
      </p:sp>
      <p:sp>
        <p:nvSpPr>
          <p:cNvPr id="6" name="Shape 3"/>
          <p:cNvSpPr/>
          <p:nvPr/>
        </p:nvSpPr>
        <p:spPr>
          <a:xfrm>
            <a:off x="548640" y="1508760"/>
            <a:ext cx="5257800" cy="1463040"/>
          </a:xfrm>
          <a:prstGeom prst="roundRect">
            <a:avLst>
              <a:gd name="adj" fmla="val 5000"/>
            </a:avLst>
          </a:prstGeom>
          <a:solidFill>
            <a:schemeClr val="bg2"/>
          </a:solidFill>
          <a:ln w="9525">
            <a:solidFill>
              <a:srgbClr val="D5DCE6"/>
            </a:solidFill>
            <a:prstDash val="solid"/>
          </a:ln>
        </p:spPr>
      </p:sp>
      <p:sp>
        <p:nvSpPr>
          <p:cNvPr id="7" name="Shape 4"/>
          <p:cNvSpPr/>
          <p:nvPr/>
        </p:nvSpPr>
        <p:spPr>
          <a:xfrm>
            <a:off x="749808" y="1709928"/>
            <a:ext cx="566928" cy="566928"/>
          </a:xfrm>
          <a:prstGeom prst="ellipse">
            <a:avLst/>
          </a:prstGeom>
          <a:solidFill>
            <a:schemeClr val="accent1"/>
          </a:solidFill>
          <a:ln/>
        </p:spPr>
      </p:sp>
      <p:pic>
        <p:nvPicPr>
          <p:cNvPr id="8" name="Image 0" descr="preencoded.png">    </p:cNvPr>
          <p:cNvPicPr>
            <a:picLocks noChangeAspect="1"/>
          </p:cNvPicPr>
          <p:nvPr/>
        </p:nvPicPr>
        <p:blipFill>
          <a:blip r:embed="rId1"/>
          <a:stretch>
            <a:fillRect/>
          </a:stretch>
        </p:blipFill>
        <p:spPr>
          <a:xfrm>
            <a:off x="886968" y="1847088"/>
            <a:ext cx="292608" cy="292608"/>
          </a:xfrm>
          <a:prstGeom prst="rect">
            <a:avLst/>
          </a:prstGeom>
        </p:spPr>
      </p:pic>
      <p:sp>
        <p:nvSpPr>
          <p:cNvPr id="9" name="Text 5"/>
          <p:cNvSpPr txBox="1"/>
          <p:nvPr/>
        </p:nvSpPr>
        <p:spPr>
          <a:xfrm>
            <a:off x="1481328" y="1655064"/>
            <a:ext cx="4160520" cy="292608"/>
          </a:xfrm>
          <a:prstGeom prst="rect">
            <a:avLst/>
          </a:prstGeom>
          <a:noFill/>
          <a:ln/>
        </p:spPr>
        <p:txBody>
          <a:bodyPr wrap="square" lIns="0" tIns="0" rIns="0" bIns="0" rtlCol="0" anchor="ctr"/>
          <a:lstStyle/>
          <a:p>
            <a:pPr indent="0" marL="0">
              <a:buNone/>
            </a:pPr>
            <a:r>
              <a:rPr lang="en-US" sz="1200" b="1" spc="100" kern="0" dirty="0">
                <a:solidFill>
                  <a:schemeClr val="accent1"/>
                </a:solidFill>
              </a:rPr>
              <a:t>EN FIN DE SÉANCE, JE SAIS…</a:t>
            </a:r>
            <a:endParaRPr lang="en-US" sz="1200" dirty="0"/>
          </a:p>
        </p:txBody>
      </p:sp>
      <p:sp>
        <p:nvSpPr>
          <p:cNvPr id="10" name="Text 6"/>
          <p:cNvSpPr txBox="1"/>
          <p:nvPr/>
        </p:nvSpPr>
        <p:spPr>
          <a:xfrm>
            <a:off x="1481328" y="1947672"/>
            <a:ext cx="4160520" cy="932688"/>
          </a:xfrm>
          <a:prstGeom prst="rect">
            <a:avLst/>
          </a:prstGeom>
          <a:noFill/>
          <a:ln/>
        </p:spPr>
        <p:txBody>
          <a:bodyPr wrap="square" lIns="0" tIns="0" rIns="0" bIns="0" rtlCol="0" anchor="t"/>
          <a:lstStyle/>
          <a:p>
            <a:pPr indent="0" marL="0">
              <a:buNone/>
            </a:pPr>
            <a:r>
              <a:rPr lang="en-US" sz="1400" b="1" dirty="0">
                <a:solidFill>
                  <a:schemeClr val="tx1"/>
                </a:solidFill>
              </a:rPr>
              <a:t>Concéder puis réfuter</a:t>
            </a:r>
            <a:r>
              <a:rPr lang="en-US" sz="1400" dirty="0">
                <a:solidFill>
                  <a:schemeClr val="tx1"/>
                </a:solidFill>
              </a:rPr>
              <a:t> (weliswaar… maar, toch, hoewel), tenir un </a:t>
            </a:r>
            <a:r>
              <a:rPr lang="en-US" sz="1400" b="1" dirty="0">
                <a:solidFill>
                  <a:schemeClr val="tx1"/>
                </a:solidFill>
              </a:rPr>
              <a:t>minidébat</a:t>
            </a:r>
            <a:r>
              <a:rPr lang="en-US" sz="1400" dirty="0">
                <a:solidFill>
                  <a:schemeClr val="tx1"/>
                </a:solidFill>
              </a:rPr>
              <a:t>, puis mener une </a:t>
            </a:r>
            <a:r>
              <a:rPr lang="en-US" sz="1400" b="1" dirty="0">
                <a:solidFill>
                  <a:schemeClr val="tx1"/>
                </a:solidFill>
              </a:rPr>
              <a:t>assemblée générale complète</a:t>
            </a:r>
            <a:r>
              <a:rPr lang="en-US" sz="1400" dirty="0">
                <a:solidFill>
                  <a:schemeClr val="tx1"/>
                </a:solidFill>
              </a:rPr>
              <a:t> : ordre du jour, débat, vote et notulen.</a:t>
            </a:r>
            <a:endParaRPr lang="en-US" sz="1400" dirty="0"/>
          </a:p>
        </p:txBody>
      </p:sp>
      <p:sp>
        <p:nvSpPr>
          <p:cNvPr id="11" name="Shape 7"/>
          <p:cNvSpPr/>
          <p:nvPr/>
        </p:nvSpPr>
        <p:spPr>
          <a:xfrm>
            <a:off x="548640" y="3136392"/>
            <a:ext cx="5257800" cy="1463040"/>
          </a:xfrm>
          <a:prstGeom prst="roundRect">
            <a:avLst>
              <a:gd name="adj" fmla="val 5000"/>
            </a:avLst>
          </a:prstGeom>
          <a:solidFill>
            <a:schemeClr val="bg2"/>
          </a:solidFill>
          <a:ln w="9525">
            <a:solidFill>
              <a:srgbClr val="D5DCE6"/>
            </a:solidFill>
            <a:prstDash val="solid"/>
          </a:ln>
        </p:spPr>
      </p:sp>
      <p:sp>
        <p:nvSpPr>
          <p:cNvPr id="12" name="Shape 8"/>
          <p:cNvSpPr/>
          <p:nvPr/>
        </p:nvSpPr>
        <p:spPr>
          <a:xfrm>
            <a:off x="749808" y="3337560"/>
            <a:ext cx="566928" cy="566928"/>
          </a:xfrm>
          <a:prstGeom prst="ellipse">
            <a:avLst/>
          </a:prstGeom>
          <a:solidFill>
            <a:schemeClr val="accent2"/>
          </a:solidFill>
          <a:ln/>
        </p:spPr>
      </p:sp>
      <p:pic>
        <p:nvPicPr>
          <p:cNvPr id="13" name="Image 1" descr="preencoded.png">    </p:cNvPr>
          <p:cNvPicPr>
            <a:picLocks noChangeAspect="1"/>
          </p:cNvPicPr>
          <p:nvPr/>
        </p:nvPicPr>
        <p:blipFill>
          <a:blip r:embed="rId2"/>
          <a:stretch>
            <a:fillRect/>
          </a:stretch>
        </p:blipFill>
        <p:spPr>
          <a:xfrm>
            <a:off x="886968" y="3474720"/>
            <a:ext cx="292608" cy="292608"/>
          </a:xfrm>
          <a:prstGeom prst="rect">
            <a:avLst/>
          </a:prstGeom>
        </p:spPr>
      </p:pic>
      <p:sp>
        <p:nvSpPr>
          <p:cNvPr id="14" name="Text 9"/>
          <p:cNvSpPr txBox="1"/>
          <p:nvPr/>
        </p:nvSpPr>
        <p:spPr>
          <a:xfrm>
            <a:off x="1481328" y="3282696"/>
            <a:ext cx="4160520" cy="292608"/>
          </a:xfrm>
          <a:prstGeom prst="rect">
            <a:avLst/>
          </a:prstGeom>
          <a:noFill/>
          <a:ln/>
        </p:spPr>
        <p:txBody>
          <a:bodyPr wrap="square" lIns="0" tIns="0" rIns="0" bIns="0" rtlCol="0" anchor="ctr"/>
          <a:lstStyle/>
          <a:p>
            <a:pPr indent="0" marL="0">
              <a:buNone/>
            </a:pPr>
            <a:r>
              <a:rPr lang="en-US" sz="1200" b="1" spc="100" kern="0" dirty="0">
                <a:solidFill>
                  <a:schemeClr val="accent2"/>
                </a:solidFill>
              </a:rPr>
              <a:t>LANGUE CIBLE</a:t>
            </a:r>
            <a:endParaRPr lang="en-US" sz="1200" dirty="0"/>
          </a:p>
        </p:txBody>
      </p:sp>
      <p:sp>
        <p:nvSpPr>
          <p:cNvPr id="15" name="Text 10"/>
          <p:cNvSpPr txBox="1"/>
          <p:nvPr/>
        </p:nvSpPr>
        <p:spPr>
          <a:xfrm>
            <a:off x="1481328" y="3575304"/>
            <a:ext cx="4160520" cy="932688"/>
          </a:xfrm>
          <a:prstGeom prst="rect">
            <a:avLst/>
          </a:prstGeom>
          <a:noFill/>
          <a:ln/>
        </p:spPr>
        <p:txBody>
          <a:bodyPr wrap="square" lIns="0" tIns="0" rIns="0" bIns="0" rtlCol="0" anchor="t"/>
          <a:lstStyle/>
          <a:p>
            <a:pPr indent="0" marL="0">
              <a:buNone/>
            </a:pPr>
            <a:r>
              <a:rPr lang="en-US" sz="1400" i="1" dirty="0">
                <a:solidFill>
                  <a:schemeClr val="tx1"/>
                </a:solidFill>
              </a:rPr>
              <a:t>De kostprijs is weliswaar hoog, maar… · Dat klopt, maar… · Toch stel ik voor… · Hoewel ik uw punt begrijp, … · Wie is voor? Tegen? Onthoudingen?</a:t>
            </a:r>
            <a:endParaRPr lang="en-US" sz="1400" dirty="0"/>
          </a:p>
        </p:txBody>
      </p:sp>
      <p:sp>
        <p:nvSpPr>
          <p:cNvPr id="16" name="Shape 11"/>
          <p:cNvSpPr/>
          <p:nvPr/>
        </p:nvSpPr>
        <p:spPr>
          <a:xfrm>
            <a:off x="548640" y="4764024"/>
            <a:ext cx="5257800" cy="1463040"/>
          </a:xfrm>
          <a:prstGeom prst="roundRect">
            <a:avLst>
              <a:gd name="adj" fmla="val 5000"/>
            </a:avLst>
          </a:prstGeom>
          <a:solidFill>
            <a:schemeClr val="bg2"/>
          </a:solidFill>
          <a:ln w="9525">
            <a:solidFill>
              <a:srgbClr val="D5DCE6"/>
            </a:solidFill>
            <a:prstDash val="solid"/>
          </a:ln>
        </p:spPr>
      </p:sp>
      <p:sp>
        <p:nvSpPr>
          <p:cNvPr id="17" name="Shape 12"/>
          <p:cNvSpPr/>
          <p:nvPr/>
        </p:nvSpPr>
        <p:spPr>
          <a:xfrm>
            <a:off x="749808" y="4965192"/>
            <a:ext cx="566928" cy="566928"/>
          </a:xfrm>
          <a:prstGeom prst="ellipse">
            <a:avLst/>
          </a:prstGeom>
          <a:solidFill>
            <a:schemeClr val="accent3"/>
          </a:solidFill>
          <a:ln/>
        </p:spPr>
      </p:sp>
      <p:pic>
        <p:nvPicPr>
          <p:cNvPr id="18" name="Image 2" descr="preencoded.png">    </p:cNvPr>
          <p:cNvPicPr>
            <a:picLocks noChangeAspect="1"/>
          </p:cNvPicPr>
          <p:nvPr/>
        </p:nvPicPr>
        <p:blipFill>
          <a:blip r:embed="rId3"/>
          <a:stretch>
            <a:fillRect/>
          </a:stretch>
        </p:blipFill>
        <p:spPr>
          <a:xfrm>
            <a:off x="886968" y="5102352"/>
            <a:ext cx="292608" cy="292608"/>
          </a:xfrm>
          <a:prstGeom prst="rect">
            <a:avLst/>
          </a:prstGeom>
        </p:spPr>
      </p:pic>
      <p:sp>
        <p:nvSpPr>
          <p:cNvPr id="19" name="Text 13"/>
          <p:cNvSpPr txBox="1"/>
          <p:nvPr/>
        </p:nvSpPr>
        <p:spPr>
          <a:xfrm>
            <a:off x="1481328" y="4910328"/>
            <a:ext cx="4160520" cy="292608"/>
          </a:xfrm>
          <a:prstGeom prst="rect">
            <a:avLst/>
          </a:prstGeom>
          <a:noFill/>
          <a:ln/>
        </p:spPr>
        <p:txBody>
          <a:bodyPr wrap="square" lIns="0" tIns="0" rIns="0" bIns="0" rtlCol="0" anchor="ctr"/>
          <a:lstStyle/>
          <a:p>
            <a:pPr indent="0" marL="0">
              <a:buNone/>
            </a:pPr>
            <a:r>
              <a:rPr lang="en-US" sz="1200" b="1" spc="100" kern="0" dirty="0">
                <a:solidFill>
                  <a:schemeClr val="accent3"/>
                </a:solidFill>
              </a:rPr>
              <a:t>COMPÉTENCES</a:t>
            </a:r>
            <a:endParaRPr lang="en-US" sz="1200" dirty="0"/>
          </a:p>
        </p:txBody>
      </p:sp>
      <p:sp>
        <p:nvSpPr>
          <p:cNvPr id="20" name="Text 14"/>
          <p:cNvSpPr txBox="1"/>
          <p:nvPr/>
        </p:nvSpPr>
        <p:spPr>
          <a:xfrm>
            <a:off x="1481328" y="5202936"/>
            <a:ext cx="4160520" cy="932688"/>
          </a:xfrm>
          <a:prstGeom prst="rect">
            <a:avLst/>
          </a:prstGeom>
          <a:noFill/>
          <a:ln/>
        </p:spPr>
        <p:txBody>
          <a:bodyPr wrap="square" lIns="0" tIns="0" rIns="0" bIns="0" rtlCol="0" anchor="t"/>
          <a:lstStyle/>
          <a:p>
            <a:pPr indent="0" marL="0">
              <a:buNone/>
            </a:pPr>
            <a:r>
              <a:rPr lang="en-US" sz="1400" dirty="0">
                <a:solidFill>
                  <a:schemeClr val="tx1"/>
                </a:solidFill>
              </a:rPr>
              <a:t>Réfuter poliment · débattre avec un président de séance · négocier au service clientèle · réemployer tout le palier dans une performance finale</a:t>
            </a:r>
            <a:endParaRPr lang="en-US" sz="1400" dirty="0"/>
          </a:p>
        </p:txBody>
      </p:sp>
      <p:sp>
        <p:nvSpPr>
          <p:cNvPr id="21" name="Text 15"/>
          <p:cNvSpPr txBox="1"/>
          <p:nvPr/>
        </p:nvSpPr>
        <p:spPr>
          <a:xfrm>
            <a:off x="6263640" y="1463040"/>
            <a:ext cx="3657600" cy="320040"/>
          </a:xfrm>
          <a:prstGeom prst="rect">
            <a:avLst/>
          </a:prstGeom>
          <a:noFill/>
          <a:ln/>
        </p:spPr>
        <p:txBody>
          <a:bodyPr wrap="square" lIns="0" tIns="0" rIns="0" bIns="0" rtlCol="0" anchor="ctr"/>
          <a:lstStyle/>
          <a:p>
            <a:pPr indent="0" marL="0">
              <a:buNone/>
            </a:pPr>
            <a:r>
              <a:rPr lang="en-US" sz="1300" b="1" spc="200" kern="0" dirty="0">
                <a:solidFill>
                  <a:schemeClr val="accent5"/>
                </a:solidFill>
              </a:rPr>
              <a:t>DÉROULÉ</a:t>
            </a:r>
            <a:endParaRPr lang="en-US" sz="1300" dirty="0"/>
          </a:p>
        </p:txBody>
      </p:sp>
      <p:sp>
        <p:nvSpPr>
          <p:cNvPr id="22" name="Text 16"/>
          <p:cNvSpPr txBox="1"/>
          <p:nvPr/>
        </p:nvSpPr>
        <p:spPr>
          <a:xfrm>
            <a:off x="8897112" y="1463040"/>
            <a:ext cx="2743200" cy="320040"/>
          </a:xfrm>
          <a:prstGeom prst="rect">
            <a:avLst/>
          </a:prstGeom>
          <a:noFill/>
          <a:ln/>
        </p:spPr>
        <p:txBody>
          <a:bodyPr wrap="square" lIns="0" tIns="0" rIns="0" bIns="0" rtlCol="0" anchor="ctr"/>
          <a:lstStyle/>
          <a:p>
            <a:pPr algn="r" indent="0" marL="0">
              <a:buNone/>
            </a:pPr>
            <a:r>
              <a:rPr lang="en-US" sz="1200" i="1" dirty="0">
                <a:solidFill>
                  <a:schemeClr val="accent5"/>
                </a:solidFill>
              </a:rPr>
              <a:t>≈ 90 min (indicatif)</a:t>
            </a:r>
            <a:endParaRPr lang="en-US" sz="1200" dirty="0"/>
          </a:p>
        </p:txBody>
      </p:sp>
      <p:sp>
        <p:nvSpPr>
          <p:cNvPr id="23" name="Shape 17"/>
          <p:cNvSpPr/>
          <p:nvPr/>
        </p:nvSpPr>
        <p:spPr>
          <a:xfrm>
            <a:off x="6263640" y="1965960"/>
            <a:ext cx="384048" cy="384048"/>
          </a:xfrm>
          <a:prstGeom prst="ellipse">
            <a:avLst/>
          </a:prstGeom>
          <a:solidFill>
            <a:schemeClr val="tx2"/>
          </a:solidFill>
          <a:ln/>
        </p:spPr>
      </p:sp>
      <p:sp>
        <p:nvSpPr>
          <p:cNvPr id="24" name="Text 18"/>
          <p:cNvSpPr txBox="1"/>
          <p:nvPr/>
        </p:nvSpPr>
        <p:spPr>
          <a:xfrm>
            <a:off x="6263640" y="196596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5" name="Text 19"/>
          <p:cNvSpPr txBox="1"/>
          <p:nvPr/>
        </p:nvSpPr>
        <p:spPr>
          <a:xfrm>
            <a:off x="6784848" y="1874520"/>
            <a:ext cx="4114800" cy="566928"/>
          </a:xfrm>
          <a:prstGeom prst="rect">
            <a:avLst/>
          </a:prstGeom>
          <a:noFill/>
          <a:ln/>
        </p:spPr>
        <p:txBody>
          <a:bodyPr wrap="square" lIns="0" tIns="0" rIns="0" bIns="0" rtlCol="0" anchor="ctr"/>
          <a:lstStyle/>
          <a:p>
            <a:pPr indent="0" marL="0">
              <a:buNone/>
            </a:pPr>
            <a:r>
              <a:rPr lang="en-US" sz="1600" dirty="0">
                <a:solidFill>
                  <a:schemeClr val="tx1"/>
                </a:solidFill>
              </a:rPr>
              <a:t>Rappel séance 14</a:t>
            </a:r>
            <a:endParaRPr lang="en-US" sz="1600" dirty="0"/>
          </a:p>
        </p:txBody>
      </p:sp>
      <p:sp>
        <p:nvSpPr>
          <p:cNvPr id="26" name="Text 20"/>
          <p:cNvSpPr txBox="1"/>
          <p:nvPr/>
        </p:nvSpPr>
        <p:spPr>
          <a:xfrm>
            <a:off x="10972800" y="1874520"/>
            <a:ext cx="667512" cy="566928"/>
          </a:xfrm>
          <a:prstGeom prst="rect">
            <a:avLst/>
          </a:prstGeom>
          <a:noFill/>
          <a:ln/>
        </p:spPr>
        <p:txBody>
          <a:bodyPr wrap="square" lIns="0" tIns="0" rIns="0" bIns="0" rtlCol="0" anchor="ctr"/>
          <a:lstStyle/>
          <a:p>
            <a:pPr algn="r" indent="0" marL="0">
              <a:buNone/>
            </a:pPr>
            <a:r>
              <a:rPr lang="en-US" sz="1500" b="1" dirty="0">
                <a:solidFill>
                  <a:schemeClr val="accent1"/>
                </a:solidFill>
              </a:rPr>
              <a:t>6'</a:t>
            </a:r>
            <a:endParaRPr lang="en-US" sz="1500" dirty="0"/>
          </a:p>
        </p:txBody>
      </p:sp>
      <p:sp>
        <p:nvSpPr>
          <p:cNvPr id="27" name="Shape 21"/>
          <p:cNvSpPr/>
          <p:nvPr/>
        </p:nvSpPr>
        <p:spPr>
          <a:xfrm>
            <a:off x="6263640" y="2532888"/>
            <a:ext cx="384048" cy="384048"/>
          </a:xfrm>
          <a:prstGeom prst="ellipse">
            <a:avLst/>
          </a:prstGeom>
          <a:solidFill>
            <a:schemeClr val="tx2"/>
          </a:solidFill>
          <a:ln/>
        </p:spPr>
      </p:sp>
      <p:sp>
        <p:nvSpPr>
          <p:cNvPr id="28" name="Text 22"/>
          <p:cNvSpPr txBox="1"/>
          <p:nvPr/>
        </p:nvSpPr>
        <p:spPr>
          <a:xfrm>
            <a:off x="6263640" y="253288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9" name="Text 23"/>
          <p:cNvSpPr txBox="1"/>
          <p:nvPr/>
        </p:nvSpPr>
        <p:spPr>
          <a:xfrm>
            <a:off x="6784848" y="2441448"/>
            <a:ext cx="4114800" cy="566928"/>
          </a:xfrm>
          <a:prstGeom prst="rect">
            <a:avLst/>
          </a:prstGeom>
          <a:noFill/>
          <a:ln/>
        </p:spPr>
        <p:txBody>
          <a:bodyPr wrap="square" lIns="0" tIns="0" rIns="0" bIns="0" rtlCol="0" anchor="ctr"/>
          <a:lstStyle/>
          <a:p>
            <a:pPr indent="0" marL="0">
              <a:buNone/>
            </a:pPr>
            <a:r>
              <a:rPr lang="en-US" sz="1600" dirty="0">
                <a:solidFill>
                  <a:schemeClr val="tx1"/>
                </a:solidFill>
              </a:rPr>
              <a:t>7.5 · concession-réfutation (p. 19–21)</a:t>
            </a:r>
            <a:endParaRPr lang="en-US" sz="1600" dirty="0"/>
          </a:p>
        </p:txBody>
      </p:sp>
      <p:sp>
        <p:nvSpPr>
          <p:cNvPr id="30" name="Text 24"/>
          <p:cNvSpPr txBox="1"/>
          <p:nvPr/>
        </p:nvSpPr>
        <p:spPr>
          <a:xfrm>
            <a:off x="10972800" y="2441448"/>
            <a:ext cx="667512" cy="566928"/>
          </a:xfrm>
          <a:prstGeom prst="rect">
            <a:avLst/>
          </a:prstGeom>
          <a:noFill/>
          <a:ln/>
        </p:spPr>
        <p:txBody>
          <a:bodyPr wrap="square" lIns="0" tIns="0" rIns="0" bIns="0" rtlCol="0" anchor="ctr"/>
          <a:lstStyle/>
          <a:p>
            <a:pPr algn="r" indent="0" marL="0">
              <a:buNone/>
            </a:pPr>
            <a:r>
              <a:rPr lang="en-US" sz="1500" b="1" dirty="0">
                <a:solidFill>
                  <a:schemeClr val="accent1"/>
                </a:solidFill>
              </a:rPr>
              <a:t>14'</a:t>
            </a:r>
            <a:endParaRPr lang="en-US" sz="1500" dirty="0"/>
          </a:p>
        </p:txBody>
      </p:sp>
      <p:sp>
        <p:nvSpPr>
          <p:cNvPr id="31" name="Shape 25"/>
          <p:cNvSpPr/>
          <p:nvPr/>
        </p:nvSpPr>
        <p:spPr>
          <a:xfrm>
            <a:off x="6263640" y="3099816"/>
            <a:ext cx="384048" cy="384048"/>
          </a:xfrm>
          <a:prstGeom prst="ellipse">
            <a:avLst/>
          </a:prstGeom>
          <a:solidFill>
            <a:schemeClr val="tx2"/>
          </a:solidFill>
          <a:ln/>
        </p:spPr>
      </p:sp>
      <p:sp>
        <p:nvSpPr>
          <p:cNvPr id="32" name="Text 26"/>
          <p:cNvSpPr txBox="1"/>
          <p:nvPr/>
        </p:nvSpPr>
        <p:spPr>
          <a:xfrm>
            <a:off x="6263640" y="309981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3" name="Text 27"/>
          <p:cNvSpPr txBox="1"/>
          <p:nvPr/>
        </p:nvSpPr>
        <p:spPr>
          <a:xfrm>
            <a:off x="6784848" y="3008376"/>
            <a:ext cx="4114800" cy="566928"/>
          </a:xfrm>
          <a:prstGeom prst="rect">
            <a:avLst/>
          </a:prstGeom>
          <a:noFill/>
          <a:ln/>
        </p:spPr>
        <p:txBody>
          <a:bodyPr wrap="square" lIns="0" tIns="0" rIns="0" bIns="0" rtlCol="0" anchor="ctr"/>
          <a:lstStyle/>
          <a:p>
            <a:pPr indent="0" marL="0">
              <a:buNone/>
            </a:pPr>
            <a:r>
              <a:rPr lang="en-US" sz="1600" dirty="0">
                <a:solidFill>
                  <a:schemeClr val="tx1"/>
                </a:solidFill>
              </a:rPr>
              <a:t>Ex. 8 · geef toe… en weerleg</a:t>
            </a:r>
            <a:endParaRPr lang="en-US" sz="1600" dirty="0"/>
          </a:p>
        </p:txBody>
      </p:sp>
      <p:sp>
        <p:nvSpPr>
          <p:cNvPr id="34" name="Text 28"/>
          <p:cNvSpPr txBox="1"/>
          <p:nvPr/>
        </p:nvSpPr>
        <p:spPr>
          <a:xfrm>
            <a:off x="10972800" y="3008376"/>
            <a:ext cx="667512" cy="566928"/>
          </a:xfrm>
          <a:prstGeom prst="rect">
            <a:avLst/>
          </a:prstGeom>
          <a:noFill/>
          <a:ln/>
        </p:spPr>
        <p:txBody>
          <a:bodyPr wrap="square" lIns="0" tIns="0" rIns="0" bIns="0" rtlCol="0" anchor="ctr"/>
          <a:lstStyle/>
          <a:p>
            <a:pPr algn="r" indent="0" marL="0">
              <a:buNone/>
            </a:pPr>
            <a:r>
              <a:rPr lang="en-US" sz="1500" b="1" dirty="0">
                <a:solidFill>
                  <a:schemeClr val="accent1"/>
                </a:solidFill>
              </a:rPr>
              <a:t>10'</a:t>
            </a:r>
            <a:endParaRPr lang="en-US" sz="1500" dirty="0"/>
          </a:p>
        </p:txBody>
      </p:sp>
      <p:sp>
        <p:nvSpPr>
          <p:cNvPr id="35" name="Shape 29"/>
          <p:cNvSpPr/>
          <p:nvPr/>
        </p:nvSpPr>
        <p:spPr>
          <a:xfrm>
            <a:off x="6263640" y="3666744"/>
            <a:ext cx="384048" cy="384048"/>
          </a:xfrm>
          <a:prstGeom prst="ellipse">
            <a:avLst/>
          </a:prstGeom>
          <a:solidFill>
            <a:schemeClr val="tx2"/>
          </a:solidFill>
          <a:ln/>
        </p:spPr>
      </p:sp>
      <p:sp>
        <p:nvSpPr>
          <p:cNvPr id="36" name="Text 30"/>
          <p:cNvSpPr txBox="1"/>
          <p:nvPr/>
        </p:nvSpPr>
        <p:spPr>
          <a:xfrm>
            <a:off x="6263640" y="366674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7" name="Text 31"/>
          <p:cNvSpPr txBox="1"/>
          <p:nvPr/>
        </p:nvSpPr>
        <p:spPr>
          <a:xfrm>
            <a:off x="6784848" y="3575304"/>
            <a:ext cx="4114800" cy="566928"/>
          </a:xfrm>
          <a:prstGeom prst="rect">
            <a:avLst/>
          </a:prstGeom>
          <a:noFill/>
          <a:ln/>
        </p:spPr>
        <p:txBody>
          <a:bodyPr wrap="square" lIns="0" tIns="0" rIns="0" bIns="0" rtlCol="0" anchor="ctr"/>
          <a:lstStyle/>
          <a:p>
            <a:pPr indent="0" marL="0">
              <a:buNone/>
            </a:pPr>
            <a:r>
              <a:rPr lang="en-US" sz="1600" dirty="0">
                <a:solidFill>
                  <a:schemeClr val="tx1"/>
                </a:solidFill>
              </a:rPr>
              <a:t>TAAK 5 · het minidebat</a:t>
            </a:r>
            <a:endParaRPr lang="en-US" sz="1600" dirty="0"/>
          </a:p>
        </p:txBody>
      </p:sp>
      <p:sp>
        <p:nvSpPr>
          <p:cNvPr id="38" name="Text 32"/>
          <p:cNvSpPr txBox="1"/>
          <p:nvPr/>
        </p:nvSpPr>
        <p:spPr>
          <a:xfrm>
            <a:off x="10972800" y="3575304"/>
            <a:ext cx="667512" cy="566928"/>
          </a:xfrm>
          <a:prstGeom prst="rect">
            <a:avLst/>
          </a:prstGeom>
          <a:noFill/>
          <a:ln/>
        </p:spPr>
        <p:txBody>
          <a:bodyPr wrap="square" lIns="0" tIns="0" rIns="0" bIns="0" rtlCol="0" anchor="ctr"/>
          <a:lstStyle/>
          <a:p>
            <a:pPr algn="r" indent="0" marL="0">
              <a:buNone/>
            </a:pPr>
            <a:r>
              <a:rPr lang="en-US" sz="1500" b="1" dirty="0">
                <a:solidFill>
                  <a:schemeClr val="accent1"/>
                </a:solidFill>
              </a:rPr>
              <a:t>14'</a:t>
            </a:r>
            <a:endParaRPr lang="en-US" sz="1500" dirty="0"/>
          </a:p>
        </p:txBody>
      </p:sp>
      <p:sp>
        <p:nvSpPr>
          <p:cNvPr id="39" name="Shape 33"/>
          <p:cNvSpPr/>
          <p:nvPr/>
        </p:nvSpPr>
        <p:spPr>
          <a:xfrm>
            <a:off x="6263640" y="4233672"/>
            <a:ext cx="384048" cy="384048"/>
          </a:xfrm>
          <a:prstGeom prst="ellipse">
            <a:avLst/>
          </a:prstGeom>
          <a:solidFill>
            <a:schemeClr val="tx2"/>
          </a:solidFill>
          <a:ln/>
        </p:spPr>
      </p:sp>
      <p:sp>
        <p:nvSpPr>
          <p:cNvPr id="40" name="Text 34"/>
          <p:cNvSpPr txBox="1"/>
          <p:nvPr/>
        </p:nvSpPr>
        <p:spPr>
          <a:xfrm>
            <a:off x="6263640" y="423367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41" name="Text 35"/>
          <p:cNvSpPr txBox="1"/>
          <p:nvPr/>
        </p:nvSpPr>
        <p:spPr>
          <a:xfrm>
            <a:off x="6784848" y="4142232"/>
            <a:ext cx="4114800" cy="566928"/>
          </a:xfrm>
          <a:prstGeom prst="rect">
            <a:avLst/>
          </a:prstGeom>
          <a:noFill/>
          <a:ln/>
        </p:spPr>
        <p:txBody>
          <a:bodyPr wrap="square" lIns="0" tIns="0" rIns="0" bIns="0" rtlCol="0" anchor="ctr"/>
          <a:lstStyle/>
          <a:p>
            <a:pPr indent="0" marL="0">
              <a:buNone/>
            </a:pPr>
            <a:r>
              <a:rPr lang="en-US" sz="1600" dirty="0">
                <a:solidFill>
                  <a:schemeClr val="tx1"/>
                </a:solidFill>
              </a:rPr>
              <a:t>D5 · Een aankoop terugbrengen</a:t>
            </a:r>
            <a:endParaRPr lang="en-US" sz="1600" dirty="0"/>
          </a:p>
        </p:txBody>
      </p:sp>
      <p:sp>
        <p:nvSpPr>
          <p:cNvPr id="42" name="Text 36"/>
          <p:cNvSpPr txBox="1"/>
          <p:nvPr/>
        </p:nvSpPr>
        <p:spPr>
          <a:xfrm>
            <a:off x="10972800" y="4142232"/>
            <a:ext cx="667512" cy="566928"/>
          </a:xfrm>
          <a:prstGeom prst="rect">
            <a:avLst/>
          </a:prstGeom>
          <a:noFill/>
          <a:ln/>
        </p:spPr>
        <p:txBody>
          <a:bodyPr wrap="square" lIns="0" tIns="0" rIns="0" bIns="0" rtlCol="0" anchor="ctr"/>
          <a:lstStyle/>
          <a:p>
            <a:pPr algn="r" indent="0" marL="0">
              <a:buNone/>
            </a:pPr>
            <a:r>
              <a:rPr lang="en-US" sz="1500" b="1" dirty="0">
                <a:solidFill>
                  <a:schemeClr val="accent1"/>
                </a:solidFill>
              </a:rPr>
              <a:t>10'</a:t>
            </a:r>
            <a:endParaRPr lang="en-US" sz="1500" dirty="0"/>
          </a:p>
        </p:txBody>
      </p:sp>
      <p:sp>
        <p:nvSpPr>
          <p:cNvPr id="43" name="Shape 37"/>
          <p:cNvSpPr/>
          <p:nvPr/>
        </p:nvSpPr>
        <p:spPr>
          <a:xfrm>
            <a:off x="6263640" y="4800600"/>
            <a:ext cx="384048" cy="384048"/>
          </a:xfrm>
          <a:prstGeom prst="ellipse">
            <a:avLst/>
          </a:prstGeom>
          <a:solidFill>
            <a:schemeClr val="tx2"/>
          </a:solidFill>
          <a:ln/>
        </p:spPr>
      </p:sp>
      <p:sp>
        <p:nvSpPr>
          <p:cNvPr id="44" name="Text 38"/>
          <p:cNvSpPr txBox="1"/>
          <p:nvPr/>
        </p:nvSpPr>
        <p:spPr>
          <a:xfrm>
            <a:off x="6263640" y="480060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45" name="Text 39"/>
          <p:cNvSpPr txBox="1"/>
          <p:nvPr/>
        </p:nvSpPr>
        <p:spPr>
          <a:xfrm>
            <a:off x="6784848" y="4709160"/>
            <a:ext cx="4114800" cy="566928"/>
          </a:xfrm>
          <a:prstGeom prst="rect">
            <a:avLst/>
          </a:prstGeom>
          <a:noFill/>
          <a:ln/>
        </p:spPr>
        <p:txBody>
          <a:bodyPr wrap="square" lIns="0" tIns="0" rIns="0" bIns="0" rtlCol="0" anchor="ctr"/>
          <a:lstStyle/>
          <a:p>
            <a:pPr indent="0" marL="0">
              <a:buNone/>
            </a:pPr>
            <a:r>
              <a:rPr lang="en-US" sz="1600" dirty="0">
                <a:solidFill>
                  <a:schemeClr val="tx1"/>
                </a:solidFill>
              </a:rPr>
              <a:t>TAAK 6 · étapes 1 et 2 (p. 23–24)</a:t>
            </a:r>
            <a:endParaRPr lang="en-US" sz="1600" dirty="0"/>
          </a:p>
        </p:txBody>
      </p:sp>
      <p:sp>
        <p:nvSpPr>
          <p:cNvPr id="46" name="Text 40"/>
          <p:cNvSpPr txBox="1"/>
          <p:nvPr/>
        </p:nvSpPr>
        <p:spPr>
          <a:xfrm>
            <a:off x="10972800" y="4709160"/>
            <a:ext cx="667512" cy="566928"/>
          </a:xfrm>
          <a:prstGeom prst="rect">
            <a:avLst/>
          </a:prstGeom>
          <a:noFill/>
          <a:ln/>
        </p:spPr>
        <p:txBody>
          <a:bodyPr wrap="square" lIns="0" tIns="0" rIns="0" bIns="0" rtlCol="0" anchor="ctr"/>
          <a:lstStyle/>
          <a:p>
            <a:pPr algn="r" indent="0" marL="0">
              <a:buNone/>
            </a:pPr>
            <a:r>
              <a:rPr lang="en-US" sz="1500" b="1" dirty="0">
                <a:solidFill>
                  <a:schemeClr val="accent1"/>
                </a:solidFill>
              </a:rPr>
              <a:t>28'</a:t>
            </a:r>
            <a:endParaRPr lang="en-US" sz="1500" dirty="0"/>
          </a:p>
        </p:txBody>
      </p:sp>
      <p:sp>
        <p:nvSpPr>
          <p:cNvPr id="47" name="Shape 41"/>
          <p:cNvSpPr/>
          <p:nvPr/>
        </p:nvSpPr>
        <p:spPr>
          <a:xfrm>
            <a:off x="6263640" y="5367528"/>
            <a:ext cx="384048" cy="384048"/>
          </a:xfrm>
          <a:prstGeom prst="ellipse">
            <a:avLst/>
          </a:prstGeom>
          <a:solidFill>
            <a:schemeClr val="tx2"/>
          </a:solidFill>
          <a:ln/>
        </p:spPr>
      </p:sp>
      <p:sp>
        <p:nvSpPr>
          <p:cNvPr id="48" name="Text 42"/>
          <p:cNvSpPr txBox="1"/>
          <p:nvPr/>
        </p:nvSpPr>
        <p:spPr>
          <a:xfrm>
            <a:off x="6263640" y="536752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49" name="Text 43"/>
          <p:cNvSpPr txBox="1"/>
          <p:nvPr/>
        </p:nvSpPr>
        <p:spPr>
          <a:xfrm>
            <a:off x="6784848" y="5276088"/>
            <a:ext cx="4114800" cy="566928"/>
          </a:xfrm>
          <a:prstGeom prst="rect">
            <a:avLst/>
          </a:prstGeom>
          <a:noFill/>
          <a:ln/>
        </p:spPr>
        <p:txBody>
          <a:bodyPr wrap="square" lIns="0" tIns="0" rIns="0" bIns="0" rtlCol="0" anchor="ctr"/>
          <a:lstStyle/>
          <a:p>
            <a:pPr indent="0" marL="0">
              <a:buNone/>
            </a:pPr>
            <a:r>
              <a:rPr lang="en-US" sz="1600" dirty="0">
                <a:solidFill>
                  <a:schemeClr val="tx1"/>
                </a:solidFill>
              </a:rPr>
              <a:t>Bilan du palier</a:t>
            </a:r>
            <a:endParaRPr lang="en-US" sz="1600" dirty="0"/>
          </a:p>
        </p:txBody>
      </p:sp>
      <p:sp>
        <p:nvSpPr>
          <p:cNvPr id="50" name="Text 44"/>
          <p:cNvSpPr txBox="1"/>
          <p:nvPr/>
        </p:nvSpPr>
        <p:spPr>
          <a:xfrm>
            <a:off x="10972800" y="5276088"/>
            <a:ext cx="667512" cy="566928"/>
          </a:xfrm>
          <a:prstGeom prst="rect">
            <a:avLst/>
          </a:prstGeom>
          <a:noFill/>
          <a:ln/>
        </p:spPr>
        <p:txBody>
          <a:bodyPr wrap="square" lIns="0" tIns="0" rIns="0" bIns="0" rtlCol="0" anchor="ctr"/>
          <a:lstStyle/>
          <a:p>
            <a:pPr algn="r" indent="0" marL="0">
              <a:buNone/>
            </a:pPr>
            <a:r>
              <a:rPr lang="en-US" sz="1500" b="1" dirty="0">
                <a:solidFill>
                  <a:schemeClr val="accent1"/>
                </a:solidFill>
              </a:rPr>
              <a:t>8'</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Rappel séance 14 : le procès-verbal</a:t>
            </a:r>
            <a:endParaRPr lang="en-US" sz="3200" dirty="0"/>
          </a:p>
        </p:txBody>
      </p:sp>
      <p:sp>
        <p:nvSpPr>
          <p:cNvPr id="3" name="tag"/>
          <p:cNvSpPr/>
          <p:nvPr/>
        </p:nvSpPr>
        <p:spPr>
          <a:xfrm>
            <a:off x="548640" y="237744"/>
            <a:ext cx="187452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ÉCHAUFFEMENT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Rappel séance 14</a:t>
            </a:r>
            <a:endParaRPr lang="en-US" sz="1200" dirty="0"/>
          </a:p>
        </p:txBody>
      </p:sp>
      <p:sp>
        <p:nvSpPr>
          <p:cNvPr id="6" name="Text 3"/>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Seul · 4 min, puis correction orale.</a:t>
            </a:r>
            <a:endParaRPr lang="en-US" sz="1600" dirty="0"/>
          </a:p>
        </p:txBody>
      </p:sp>
      <p:sp>
        <p:nvSpPr>
          <p:cNvPr id="7"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1400"/>
              </a:spcAft>
              <a:buNone/>
            </a:pPr>
            <a:r>
              <a:rPr lang="en-US" sz="2600" b="1" dirty="0">
                <a:solidFill>
                  <a:schemeClr val="tx2"/>
                </a:solidFill>
              </a:rPr>
              <a:t>1.  </a:t>
            </a:r>
            <a:r>
              <a:rPr lang="en-US" sz="2600" dirty="0">
                <a:solidFill>
                  <a:schemeClr val="tx1"/>
                </a:solidFill>
              </a:rPr>
              <a:t>Passif impersonnel : « On a décidé de reporter le vote. »</a:t>
            </a:r>
            <a:endParaRPr lang="en-US" sz="2600" dirty="0"/>
          </a:p>
          <a:p>
            <a:pPr indent="0" marL="0">
              <a:spcAft>
                <a:spcPts val="1400"/>
              </a:spcAft>
              <a:buNone/>
            </a:pPr>
            <a:r>
              <a:rPr lang="en-US" sz="2600" b="1" dirty="0">
                <a:solidFill>
                  <a:schemeClr val="tx2"/>
                </a:solidFill>
              </a:rPr>
              <a:t>2.  </a:t>
            </a:r>
            <a:r>
              <a:rPr lang="en-US" sz="2600" dirty="0">
                <a:solidFill>
                  <a:schemeClr val="tx1"/>
                </a:solidFill>
              </a:rPr>
              <a:t>Yilmaz : </a:t>
            </a:r>
            <a:r>
              <a:rPr lang="en-US" sz="2600" i="1" dirty="0">
                <a:solidFill>
                  <a:schemeClr val="tx1"/>
                </a:solidFill>
              </a:rPr>
              <a:t>«Is een tweede offerte mogelijk?»</a:t>
            </a:r>
            <a:r>
              <a:rPr lang="en-US" sz="2600" dirty="0">
                <a:solidFill>
                  <a:schemeClr val="tx1"/>
                </a:solidFill>
              </a:rPr>
              <a:t> → discours indirect</a:t>
            </a:r>
            <a:endParaRPr lang="en-US" sz="2600" dirty="0"/>
          </a:p>
          <a:p>
            <a:pPr indent="0" marL="0">
              <a:spcAft>
                <a:spcPts val="1400"/>
              </a:spcAft>
              <a:buNone/>
            </a:pPr>
            <a:r>
              <a:rPr lang="en-US" sz="2600" b="1" dirty="0">
                <a:solidFill>
                  <a:schemeClr val="tx2"/>
                </a:solidFill>
              </a:rPr>
              <a:t>3.  </a:t>
            </a:r>
            <a:r>
              <a:rPr lang="en-US" sz="2600" dirty="0">
                <a:solidFill>
                  <a:schemeClr val="tx1"/>
                </a:solidFill>
              </a:rPr>
              <a:t>« L’augmentation a été approuvée par 8 voix contre 3. »</a:t>
            </a:r>
            <a:endParaRPr lang="en-US" sz="2600" dirty="0"/>
          </a:p>
          <a:p>
            <a:pPr indent="0" marL="0">
              <a:spcAft>
                <a:spcPts val="1400"/>
              </a:spcAft>
              <a:buNone/>
            </a:pPr>
            <a:r>
              <a:rPr lang="en-US" sz="2600" b="1" dirty="0">
                <a:solidFill>
                  <a:schemeClr val="tx2"/>
                </a:solidFill>
              </a:rPr>
              <a:t>4.  </a:t>
            </a:r>
            <a:r>
              <a:rPr lang="en-US" sz="2600" dirty="0">
                <a:solidFill>
                  <a:schemeClr val="tx1"/>
                </a:solidFill>
              </a:rPr>
              <a:t>Participes : goedkeuren · afsluiten</a:t>
            </a:r>
            <a:endParaRPr lang="en-US" sz="2600" dirty="0"/>
          </a:p>
          <a:p>
            <a:pPr indent="0" marL="0">
              <a:spcAft>
                <a:spcPts val="1400"/>
              </a:spcAft>
              <a:buNone/>
            </a:pPr>
            <a:r>
              <a:rPr lang="en-US" sz="2600" b="1" dirty="0">
                <a:solidFill>
                  <a:schemeClr val="tx2"/>
                </a:solidFill>
              </a:rPr>
              <a:t>5.  </a:t>
            </a:r>
            <a:r>
              <a:rPr lang="en-US" sz="2600" dirty="0">
                <a:solidFill>
                  <a:schemeClr val="tx1"/>
                </a:solidFill>
              </a:rPr>
              <a:t>Que signifie « 1 onthouding » ?</a:t>
            </a:r>
            <a:endParaRPr lang="en-US" sz="2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Rappel séance 14 : le procès-verbal</a:t>
            </a:r>
            <a:endParaRPr lang="en-US" sz="3200" dirty="0"/>
          </a:p>
        </p:txBody>
      </p:sp>
      <p:sp>
        <p:nvSpPr>
          <p:cNvPr id="3" name="tag"/>
          <p:cNvSpPr/>
          <p:nvPr/>
        </p:nvSpPr>
        <p:spPr>
          <a:xfrm>
            <a:off x="548640" y="237744"/>
            <a:ext cx="187452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ÉCHAUFFEMENT</a:t>
            </a:r>
            <a:endParaRPr lang="en-US" sz="1200" dirty="0"/>
          </a:p>
        </p:txBody>
      </p:sp>
      <p:sp>
        <p:nvSpPr>
          <p:cNvPr id="4" name="tag"/>
          <p:cNvSpPr/>
          <p:nvPr/>
        </p:nvSpPr>
        <p:spPr>
          <a:xfrm>
            <a:off x="253288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Rappel séance 14</a:t>
            </a:r>
            <a:endParaRPr lang="en-US" sz="1200" dirty="0"/>
          </a:p>
        </p:txBody>
      </p:sp>
      <p:sp>
        <p:nvSpPr>
          <p:cNvPr id="7" name="Text 4"/>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Seul · 4 min, puis correction orale.</a:t>
            </a:r>
            <a:endParaRPr lang="en-US" sz="1600" dirty="0"/>
          </a:p>
        </p:txBody>
      </p:sp>
      <p:sp>
        <p:nvSpPr>
          <p:cNvPr id="8"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1.  </a:t>
            </a:r>
            <a:r>
              <a:rPr lang="en-US" sz="1800" dirty="0">
                <a:solidFill>
                  <a:schemeClr val="tx1"/>
                </a:solidFill>
              </a:rPr>
              <a:t>Passif impersonnel : « On a décidé de reporter le vote. »</a:t>
            </a:r>
            <a:endParaRPr lang="en-US" sz="1800" dirty="0"/>
          </a:p>
          <a:p>
            <a:pPr indent="0" marL="0">
              <a:spcAft>
                <a:spcPts val="1200"/>
              </a:spcAft>
              <a:buNone/>
            </a:pPr>
            <a:r>
              <a:rPr lang="en-US" sz="1800" b="1" dirty="0">
                <a:solidFill>
                  <a:schemeClr val="accent3"/>
                </a:solidFill>
              </a:rPr>
              <a:t>→ </a:t>
            </a:r>
            <a:r>
              <a:rPr lang="en-US" sz="1800" b="1" dirty="0">
                <a:solidFill>
                  <a:schemeClr val="accent3"/>
                </a:solidFill>
              </a:rPr>
              <a:t>Er werd beslist</a:t>
            </a:r>
            <a:r>
              <a:rPr lang="en-US" sz="1800" dirty="0">
                <a:solidFill>
                  <a:schemeClr val="accent3"/>
                </a:solidFill>
              </a:rPr>
              <a:t> om de stemming </a:t>
            </a:r>
            <a:r>
              <a:rPr lang="en-US" sz="1800" b="1" dirty="0">
                <a:solidFill>
                  <a:schemeClr val="accent3"/>
                </a:solidFill>
              </a:rPr>
              <a:t>te verplaatsen</a:t>
            </a:r>
            <a:r>
              <a:rPr lang="en-US" sz="1800" dirty="0">
                <a:solidFill>
                  <a:schemeClr val="accent3"/>
                </a:solidFill>
              </a:rPr>
              <a:t>.</a:t>
            </a:r>
            <a:endParaRPr lang="en-US" sz="1800" dirty="0"/>
          </a:p>
          <a:p>
            <a:pPr indent="0" marL="0">
              <a:spcAft>
                <a:spcPts val="400"/>
              </a:spcAft>
              <a:buNone/>
            </a:pPr>
            <a:r>
              <a:rPr lang="en-US" sz="1800" b="1" dirty="0">
                <a:solidFill>
                  <a:schemeClr val="tx2"/>
                </a:solidFill>
              </a:rPr>
              <a:t>2.  </a:t>
            </a:r>
            <a:r>
              <a:rPr lang="en-US" sz="1800" dirty="0">
                <a:solidFill>
                  <a:schemeClr val="tx1"/>
                </a:solidFill>
              </a:rPr>
              <a:t>Yilmaz : </a:t>
            </a:r>
            <a:r>
              <a:rPr lang="en-US" sz="1800" i="1" dirty="0">
                <a:solidFill>
                  <a:schemeClr val="tx1"/>
                </a:solidFill>
              </a:rPr>
              <a:t>«Is een tweede offerte mogelijk?»</a:t>
            </a:r>
            <a:r>
              <a:rPr lang="en-US" sz="1800" dirty="0">
                <a:solidFill>
                  <a:schemeClr val="tx1"/>
                </a:solidFill>
              </a:rPr>
              <a:t> → discours indirect</a:t>
            </a:r>
            <a:endParaRPr lang="en-US" sz="1800" dirty="0"/>
          </a:p>
          <a:p>
            <a:pPr indent="0" marL="0">
              <a:spcAft>
                <a:spcPts val="1200"/>
              </a:spcAft>
              <a:buNone/>
            </a:pPr>
            <a:r>
              <a:rPr lang="en-US" sz="1800" b="1" dirty="0">
                <a:solidFill>
                  <a:schemeClr val="accent3"/>
                </a:solidFill>
              </a:rPr>
              <a:t>→ </a:t>
            </a:r>
            <a:r>
              <a:rPr lang="en-US" sz="1800" dirty="0">
                <a:solidFill>
                  <a:schemeClr val="accent3"/>
                </a:solidFill>
              </a:rPr>
              <a:t>De heer Yilmaz vroeg </a:t>
            </a:r>
            <a:r>
              <a:rPr lang="en-US" sz="1800" b="1" dirty="0">
                <a:solidFill>
                  <a:schemeClr val="accent3"/>
                </a:solidFill>
              </a:rPr>
              <a:t>of</a:t>
            </a:r>
            <a:r>
              <a:rPr lang="en-US" sz="1800" dirty="0">
                <a:solidFill>
                  <a:schemeClr val="accent3"/>
                </a:solidFill>
              </a:rPr>
              <a:t> een tweede offerte mogelijk </a:t>
            </a:r>
            <a:r>
              <a:rPr lang="en-US" sz="1800" b="1" dirty="0">
                <a:solidFill>
                  <a:schemeClr val="accent3"/>
                </a:solidFill>
              </a:rPr>
              <a:t>was</a:t>
            </a:r>
            <a:r>
              <a:rPr lang="en-US" sz="1800" dirty="0">
                <a:solidFill>
                  <a:schemeClr val="accent3"/>
                </a:solidFill>
              </a:rPr>
              <a:t>.</a:t>
            </a:r>
            <a:endParaRPr lang="en-US" sz="1800" dirty="0"/>
          </a:p>
          <a:p>
            <a:pPr indent="0" marL="0">
              <a:spcAft>
                <a:spcPts val="400"/>
              </a:spcAft>
              <a:buNone/>
            </a:pPr>
            <a:r>
              <a:rPr lang="en-US" sz="1800" b="1" dirty="0">
                <a:solidFill>
                  <a:schemeClr val="tx2"/>
                </a:solidFill>
              </a:rPr>
              <a:t>3.  </a:t>
            </a:r>
            <a:r>
              <a:rPr lang="en-US" sz="1800" dirty="0">
                <a:solidFill>
                  <a:schemeClr val="tx1"/>
                </a:solidFill>
              </a:rPr>
              <a:t>« L’augmentation a été approuvée par 8 voix contre 3. »</a:t>
            </a:r>
            <a:endParaRPr lang="en-US" sz="1800" dirty="0"/>
          </a:p>
          <a:p>
            <a:pPr indent="0" marL="0">
              <a:spcAft>
                <a:spcPts val="1200"/>
              </a:spcAft>
              <a:buNone/>
            </a:pPr>
            <a:r>
              <a:rPr lang="en-US" sz="1800" b="1" dirty="0">
                <a:solidFill>
                  <a:schemeClr val="accent3"/>
                </a:solidFill>
              </a:rPr>
              <a:t>→ </a:t>
            </a:r>
            <a:r>
              <a:rPr lang="en-US" sz="1800" dirty="0">
                <a:solidFill>
                  <a:schemeClr val="accent3"/>
                </a:solidFill>
              </a:rPr>
              <a:t>De verhoging </a:t>
            </a:r>
            <a:r>
              <a:rPr lang="en-US" sz="1800" b="1" dirty="0">
                <a:solidFill>
                  <a:schemeClr val="accent3"/>
                </a:solidFill>
              </a:rPr>
              <a:t>werd goedgekeurd</a:t>
            </a:r>
            <a:r>
              <a:rPr lang="en-US" sz="1800" dirty="0">
                <a:solidFill>
                  <a:schemeClr val="accent3"/>
                </a:solidFill>
              </a:rPr>
              <a:t> met 8 stemmen tegen 3.</a:t>
            </a:r>
            <a:endParaRPr lang="en-US" sz="1800" dirty="0"/>
          </a:p>
          <a:p>
            <a:pPr indent="0" marL="0">
              <a:spcAft>
                <a:spcPts val="400"/>
              </a:spcAft>
              <a:buNone/>
            </a:pPr>
            <a:r>
              <a:rPr lang="en-US" sz="1800" b="1" dirty="0">
                <a:solidFill>
                  <a:schemeClr val="tx2"/>
                </a:solidFill>
              </a:rPr>
              <a:t>4.  </a:t>
            </a:r>
            <a:r>
              <a:rPr lang="en-US" sz="1800" dirty="0">
                <a:solidFill>
                  <a:schemeClr val="tx1"/>
                </a:solidFill>
              </a:rPr>
              <a:t>Participes : goedkeuren · afsluiten</a:t>
            </a:r>
            <a:endParaRPr lang="en-US" sz="1800" dirty="0"/>
          </a:p>
          <a:p>
            <a:pPr indent="0" marL="0">
              <a:spcAft>
                <a:spcPts val="1200"/>
              </a:spcAft>
              <a:buNone/>
            </a:pPr>
            <a:r>
              <a:rPr lang="en-US" sz="1800" b="1" dirty="0">
                <a:solidFill>
                  <a:schemeClr val="accent3"/>
                </a:solidFill>
              </a:rPr>
              <a:t>→ </a:t>
            </a:r>
            <a:r>
              <a:rPr lang="en-US" sz="1800" dirty="0">
                <a:solidFill>
                  <a:schemeClr val="accent3"/>
                </a:solidFill>
              </a:rPr>
              <a:t>werd </a:t>
            </a:r>
            <a:r>
              <a:rPr lang="en-US" sz="1800" b="1" dirty="0">
                <a:solidFill>
                  <a:schemeClr val="accent3"/>
                </a:solidFill>
              </a:rPr>
              <a:t>goedgekeurd</a:t>
            </a:r>
            <a:r>
              <a:rPr lang="en-US" sz="1800" dirty="0">
                <a:solidFill>
                  <a:schemeClr val="accent3"/>
                </a:solidFill>
              </a:rPr>
              <a:t> · werd </a:t>
            </a:r>
            <a:r>
              <a:rPr lang="en-US" sz="1800" b="1" dirty="0">
                <a:solidFill>
                  <a:schemeClr val="accent3"/>
                </a:solidFill>
              </a:rPr>
              <a:t>afgesloten</a:t>
            </a:r>
            <a:endParaRPr lang="en-US" sz="1800" dirty="0"/>
          </a:p>
          <a:p>
            <a:pPr indent="0" marL="0">
              <a:spcAft>
                <a:spcPts val="400"/>
              </a:spcAft>
              <a:buNone/>
            </a:pPr>
            <a:r>
              <a:rPr lang="en-US" sz="1800" b="1" dirty="0">
                <a:solidFill>
                  <a:schemeClr val="tx2"/>
                </a:solidFill>
              </a:rPr>
              <a:t>5.  </a:t>
            </a:r>
            <a:r>
              <a:rPr lang="en-US" sz="1800" dirty="0">
                <a:solidFill>
                  <a:schemeClr val="tx1"/>
                </a:solidFill>
              </a:rPr>
              <a:t>Que signifie « 1 onthouding » ?</a:t>
            </a:r>
            <a:endParaRPr lang="en-US" sz="1800" dirty="0"/>
          </a:p>
          <a:p>
            <a:pPr indent="0" marL="0">
              <a:spcAft>
                <a:spcPts val="1200"/>
              </a:spcAft>
              <a:buNone/>
            </a:pPr>
            <a:r>
              <a:rPr lang="en-US" sz="1800" b="1" dirty="0">
                <a:solidFill>
                  <a:schemeClr val="accent3"/>
                </a:solidFill>
              </a:rPr>
              <a:t>→ </a:t>
            </a:r>
            <a:r>
              <a:rPr lang="en-US" sz="1800" dirty="0">
                <a:solidFill>
                  <a:schemeClr val="accent3"/>
                </a:solidFill>
              </a:rPr>
              <a:t>Une </a:t>
            </a:r>
            <a:r>
              <a:rPr lang="en-US" sz="1800" b="1" dirty="0">
                <a:solidFill>
                  <a:schemeClr val="accent3"/>
                </a:solidFill>
              </a:rPr>
              <a:t>abstention</a:t>
            </a:r>
            <a:r>
              <a:rPr lang="en-US" sz="1800" dirty="0">
                <a:solidFill>
                  <a:schemeClr val="accent3"/>
                </a:solidFill>
              </a:rPr>
              <a:t> (ni pour, ni contre).</a:t>
            </a:r>
            <a:endParaRPr lang="en-US" sz="1800" dirty="0"/>
          </a:p>
        </p:txBody>
      </p:sp>
      <p:sp>
        <p:nvSpPr>
          <p:cNvPr id="9" name="aside"/>
          <p:cNvSpPr/>
          <p:nvPr/>
        </p:nvSpPr>
        <p:spPr>
          <a:xfrm>
            <a:off x="8046720" y="1481328"/>
            <a:ext cx="3593592" cy="4809744"/>
          </a:xfrm>
          <a:prstGeom prst="roundRect">
            <a:avLst>
              <a:gd name="adj" fmla="val 2036"/>
            </a:avLst>
          </a:prstGeom>
          <a:solidFill>
            <a:schemeClr val="accent6">
              <a:alpha val="10000"/>
            </a:schemeClr>
          </a:solidFill>
          <a:ln w="12700">
            <a:solidFill>
              <a:schemeClr val="accent6">
                <a:alpha val="60000"/>
              </a:schemeClr>
            </a:solidFill>
            <a:prstDash val="solid"/>
          </a:ln>
        </p:spPr>
      </p:sp>
      <p:pic>
        <p:nvPicPr>
          <p:cNvPr id="10"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1" name="Text 7"/>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ATTENTION</a:t>
            </a:r>
            <a:endParaRPr lang="en-US" sz="1400" dirty="0"/>
          </a:p>
        </p:txBody>
      </p:sp>
      <p:sp>
        <p:nvSpPr>
          <p:cNvPr id="12" name="Text 8"/>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Er werd</a:t>
            </a:r>
            <a:r>
              <a:rPr lang="en-US" sz="1800" dirty="0">
                <a:solidFill>
                  <a:schemeClr val="tx1"/>
                </a:solidFill>
              </a:rPr>
              <a:t> + participe en fin de phrase.</a:t>
            </a:r>
            <a:endParaRPr lang="en-US" sz="1800" dirty="0"/>
          </a:p>
          <a:p>
            <a:pPr marL="177800" indent="-177800">
              <a:spcAft>
                <a:spcPts val="600"/>
              </a:spcAft>
              <a:buSzPct val="100000"/>
              <a:buChar char="•"/>
            </a:pPr>
            <a:r>
              <a:rPr lang="en-US" sz="1800" b="1" dirty="0">
                <a:solidFill>
                  <a:schemeClr val="tx1"/>
                </a:solidFill>
              </a:rPr>
              <a:t>of</a:t>
            </a:r>
            <a:r>
              <a:rPr lang="en-US" sz="1800" dirty="0">
                <a:solidFill>
                  <a:schemeClr val="tx1"/>
                </a:solidFill>
              </a:rPr>
              <a:t> (pas </a:t>
            </a:r>
            <a:r>
              <a:rPr lang="en-US" sz="1800" i="1" dirty="0">
                <a:solidFill>
                  <a:schemeClr val="tx1"/>
                </a:solidFill>
              </a:rPr>
              <a:t>dat</a:t>
            </a:r>
            <a:r>
              <a:rPr lang="en-US" sz="1800" dirty="0">
                <a:solidFill>
                  <a:schemeClr val="tx1"/>
                </a:solidFill>
              </a:rPr>
              <a:t>) pour une question indirecte.</a:t>
            </a:r>
            <a:endParaRPr lang="en-US" sz="1800" dirty="0"/>
          </a:p>
          <a:p>
            <a:pPr marL="177800" indent="-177800">
              <a:spcAft>
                <a:spcPts val="600"/>
              </a:spcAft>
              <a:buSzPct val="100000"/>
              <a:buChar char="•"/>
            </a:pPr>
            <a:r>
              <a:rPr lang="en-US" sz="1800" dirty="0">
                <a:solidFill>
                  <a:schemeClr val="tx1"/>
                </a:solidFill>
              </a:rPr>
              <a:t>Séparables : </a:t>
            </a:r>
            <a:r>
              <a:rPr lang="en-US" sz="1800" i="1" dirty="0">
                <a:solidFill>
                  <a:schemeClr val="tx1"/>
                </a:solidFill>
              </a:rPr>
              <a:t>goedgekeurd · afgesloten</a:t>
            </a:r>
            <a:r>
              <a:rPr lang="en-US" sz="1800" dirty="0">
                <a:solidFill>
                  <a:schemeClr val="tx1"/>
                </a:solidFill>
              </a:rPr>
              <a: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Séquence 7.5 : concéder d’abord</a:t>
            </a:r>
            <a:endParaRPr lang="en-US" sz="3200" dirty="0"/>
          </a:p>
        </p:txBody>
      </p:sp>
      <p:sp>
        <p:nvSpPr>
          <p:cNvPr id="3" name="tag"/>
          <p:cNvSpPr/>
          <p:nvPr/>
        </p:nvSpPr>
        <p:spPr>
          <a:xfrm>
            <a:off x="548640" y="237744"/>
            <a:ext cx="9372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FOCUS</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19</a:t>
            </a:r>
            <a:endParaRPr lang="en-US" sz="1200" dirty="0"/>
          </a:p>
        </p:txBody>
      </p:sp>
      <p:pic>
        <p:nvPicPr>
          <p:cNvPr id="6" name="illustration" descr="Illustration du syllabus">    </p:cNvPr>
          <p:cNvPicPr>
            <a:picLocks noChangeAspect="1"/>
          </p:cNvPicPr>
          <p:nvPr/>
        </p:nvPicPr>
        <p:blipFill>
          <a:blip r:embed="rId1"/>
          <a:stretch>
            <a:fillRect/>
          </a:stretch>
        </p:blipFill>
        <p:spPr>
          <a:xfrm>
            <a:off x="548640" y="1508760"/>
            <a:ext cx="6035040" cy="4029401"/>
          </a:xfrm>
          <a:prstGeom prst="rect">
            <a:avLst/>
          </a:prstGeom>
          <a:effectLst>
            <a:outerShdw sx="100000" sy="100000" kx="0" ky="0" algn="bl" rotWithShape="0" blurRad="101600" dist="25400" dir="3600000">
              <a:srgbClr val="000000">
                <a:alpha val="18000"/>
              </a:srgbClr>
            </a:outerShdw>
          </a:effectLst>
        </p:spPr>
      </p:pic>
      <p:sp>
        <p:nvSpPr>
          <p:cNvPr id="7" name="Shape 3"/>
          <p:cNvSpPr/>
          <p:nvPr/>
        </p:nvSpPr>
        <p:spPr>
          <a:xfrm>
            <a:off x="6995160" y="1508760"/>
            <a:ext cx="1600200" cy="868680"/>
          </a:xfrm>
          <a:prstGeom prst="roundRect">
            <a:avLst>
              <a:gd name="adj" fmla="val 8421"/>
            </a:avLst>
          </a:prstGeom>
          <a:solidFill>
            <a:schemeClr val="tx2"/>
          </a:solidFill>
          <a:ln/>
        </p:spPr>
      </p:sp>
      <p:sp>
        <p:nvSpPr>
          <p:cNvPr id="8" name="Text 4"/>
          <p:cNvSpPr txBox="1"/>
          <p:nvPr/>
        </p:nvSpPr>
        <p:spPr>
          <a:xfrm>
            <a:off x="6995160" y="1554480"/>
            <a:ext cx="1600200" cy="777240"/>
          </a:xfrm>
          <a:prstGeom prst="rect">
            <a:avLst/>
          </a:prstGeom>
          <a:noFill/>
          <a:ln/>
        </p:spPr>
        <p:txBody>
          <a:bodyPr wrap="square" lIns="0" tIns="0" rIns="0" bIns="0" rtlCol="0" anchor="ctr"/>
          <a:lstStyle/>
          <a:p>
            <a:pPr algn="ctr" indent="0" marL="0">
              <a:buNone/>
            </a:pPr>
            <a:r>
              <a:rPr lang="en-US" sz="1100" b="1" spc="200" kern="0" dirty="0">
                <a:solidFill>
                  <a:schemeClr val="bg2"/>
                </a:solidFill>
              </a:rPr>
              <a:t>SÉQUENCE</a:t>
            </a:r>
            <a:endParaRPr lang="en-US" sz="1100" dirty="0"/>
          </a:p>
          <a:p>
            <a:pPr algn="ctr" indent="0" marL="0">
              <a:buNone/>
            </a:pPr>
            <a:r>
              <a:rPr lang="en-US" sz="2400" b="1" dirty="0">
                <a:solidFill>
                  <a:schemeClr val="bg1"/>
                </a:solidFill>
                <a:latin typeface="+mj-lt" pitchFamily="34" charset="0"/>
                <a:ea typeface="+mj-lt" pitchFamily="34" charset="-122"/>
                <a:cs typeface="+mj-lt" pitchFamily="34" charset="-120"/>
              </a:rPr>
              <a:t>7.5</a:t>
            </a:r>
            <a:endParaRPr lang="en-US" sz="1100" dirty="0"/>
          </a:p>
        </p:txBody>
      </p:sp>
      <p:sp>
        <p:nvSpPr>
          <p:cNvPr id="9" name="Text 5"/>
          <p:cNvSpPr txBox="1"/>
          <p:nvPr/>
        </p:nvSpPr>
        <p:spPr>
          <a:xfrm>
            <a:off x="6995160" y="2560320"/>
            <a:ext cx="4645152" cy="2639568"/>
          </a:xfrm>
          <a:prstGeom prst="rect">
            <a:avLst/>
          </a:prstGeom>
          <a:noFill/>
          <a:ln/>
        </p:spPr>
        <p:txBody>
          <a:bodyPr wrap="square" lIns="0" tIns="0" rIns="0" bIns="0" rtlCol="0" anchor="t"/>
          <a:lstStyle/>
          <a:p>
            <a:pPr indent="0" marL="0">
              <a:spcAft>
                <a:spcPts val="1000"/>
              </a:spcAft>
              <a:buNone/>
            </a:pPr>
            <a:r>
              <a:rPr lang="en-US" sz="1700" dirty="0">
                <a:solidFill>
                  <a:schemeClr val="tx1"/>
                </a:solidFill>
              </a:rPr>
              <a:t>Le débatteur maladroit dit « non ». Le professionnel dit « </a:t>
            </a:r>
            <a:r>
              <a:rPr lang="en-US" sz="1700" b="1" dirty="0">
                <a:solidFill>
                  <a:schemeClr val="tx1"/>
                </a:solidFill>
              </a:rPr>
              <a:t>certes…, mais</a:t>
            </a:r>
            <a:r>
              <a:rPr lang="en-US" sz="1700" dirty="0">
                <a:solidFill>
                  <a:schemeClr val="tx1"/>
                </a:solidFill>
              </a:rPr>
              <a:t> » : il </a:t>
            </a:r>
            <a:r>
              <a:rPr lang="en-US" sz="1700" b="1" dirty="0">
                <a:solidFill>
                  <a:schemeClr val="tx1"/>
                </a:solidFill>
              </a:rPr>
              <a:t>reconnaît</a:t>
            </a:r>
            <a:r>
              <a:rPr lang="en-US" sz="1700" dirty="0">
                <a:solidFill>
                  <a:schemeClr val="tx1"/>
                </a:solidFill>
              </a:rPr>
              <a:t> le point adverse, </a:t>
            </a:r>
            <a:r>
              <a:rPr lang="en-US" sz="1700" b="1" dirty="0">
                <a:solidFill>
                  <a:schemeClr val="tx1"/>
                </a:solidFill>
              </a:rPr>
              <a:t>puis le renverse</a:t>
            </a:r>
            <a:r>
              <a:rPr lang="en-US" sz="1700" dirty="0">
                <a:solidFill>
                  <a:schemeClr val="tx1"/>
                </a:solidFill>
              </a:rPr>
              <a:t>.</a:t>
            </a:r>
            <a:endParaRPr lang="en-US" sz="1700" dirty="0"/>
          </a:p>
          <a:p>
            <a:pPr indent="0" marL="0">
              <a:spcAft>
                <a:spcPts val="1000"/>
              </a:spcAft>
              <a:buNone/>
            </a:pPr>
            <a:r>
              <a:rPr lang="en-US" sz="1700" b="1" dirty="0">
                <a:solidFill>
                  <a:schemeClr val="tx1"/>
                </a:solidFill>
              </a:rPr>
              <a:t>Focus : ligne 7 du dialogue</a:t>
            </a:r>
            <a:endParaRPr lang="en-US" sz="1700" dirty="0"/>
          </a:p>
          <a:p>
            <a:pPr indent="0" marL="0">
              <a:spcAft>
                <a:spcPts val="1000"/>
              </a:spcAft>
              <a:buNone/>
            </a:pPr>
            <a:r>
              <a:rPr lang="en-US" sz="1700" dirty="0">
                <a:solidFill>
                  <a:schemeClr val="tx1"/>
                </a:solidFill>
              </a:rPr>
              <a:t>Stef : «Dat klopt </a:t>
            </a:r>
            <a:r>
              <a:rPr lang="en-US" sz="1700" b="1" dirty="0">
                <a:solidFill>
                  <a:schemeClr val="tx1"/>
                </a:solidFill>
              </a:rPr>
              <a:t>weliswaar</a:t>
            </a:r>
            <a:r>
              <a:rPr lang="en-US" sz="1700" dirty="0">
                <a:solidFill>
                  <a:schemeClr val="tx1"/>
                </a:solidFill>
              </a:rPr>
              <a:t>, </a:t>
            </a:r>
            <a:r>
              <a:rPr lang="en-US" sz="1700" b="1" dirty="0">
                <a:solidFill>
                  <a:schemeClr val="tx1"/>
                </a:solidFill>
              </a:rPr>
              <a:t>maar</a:t>
            </a:r>
            <a:r>
              <a:rPr lang="en-US" sz="1700" dirty="0">
                <a:solidFill>
                  <a:schemeClr val="tx1"/>
                </a:solidFill>
              </a:rPr>
              <a:t> het offerte-onderzoek is nog niet afgerond.»</a:t>
            </a:r>
            <a:endParaRPr lang="en-US" sz="1700" dirty="0"/>
          </a:p>
          <a:p>
            <a:pPr indent="0" marL="0">
              <a:spcAft>
                <a:spcPts val="1000"/>
              </a:spcAft>
              <a:buNone/>
            </a:pPr>
            <a:r>
              <a:rPr lang="en-US" sz="1700" i="1" dirty="0">
                <a:solidFill>
                  <a:schemeClr val="tx1"/>
                </a:solidFill>
              </a:rPr>
              <a:t>C’est certes vrai, mais l’examen des offres n’est pas terminé.</a:t>
            </a:r>
            <a:endParaRPr lang="en-US" sz="1700" dirty="0"/>
          </a:p>
        </p:txBody>
      </p:sp>
      <p:sp>
        <p:nvSpPr>
          <p:cNvPr id="10" name="Shape 6"/>
          <p:cNvSpPr/>
          <p:nvPr/>
        </p:nvSpPr>
        <p:spPr>
          <a:xfrm>
            <a:off x="6995160" y="5382768"/>
            <a:ext cx="4645152" cy="908304"/>
          </a:xfrm>
          <a:prstGeom prst="roundRect">
            <a:avLst>
              <a:gd name="adj" fmla="val 8054"/>
            </a:avLst>
          </a:prstGeom>
          <a:solidFill>
            <a:schemeClr val="accent1">
              <a:alpha val="12000"/>
            </a:schemeClr>
          </a:solidFill>
          <a:ln w="12700">
            <a:solidFill>
              <a:srgbClr val="D9700F"/>
            </a:solidFill>
            <a:prstDash val="solid"/>
          </a:ln>
        </p:spPr>
      </p:sp>
      <p:sp>
        <p:nvSpPr>
          <p:cNvPr id="11" name="Text 7"/>
          <p:cNvSpPr txBox="1"/>
          <p:nvPr/>
        </p:nvSpPr>
        <p:spPr>
          <a:xfrm>
            <a:off x="7178040" y="5474208"/>
            <a:ext cx="4279392" cy="292608"/>
          </a:xfrm>
          <a:prstGeom prst="rect">
            <a:avLst/>
          </a:prstGeom>
          <a:noFill/>
          <a:ln/>
        </p:spPr>
        <p:txBody>
          <a:bodyPr wrap="square" lIns="0" tIns="0" rIns="0" bIns="0" rtlCol="0" anchor="ctr"/>
          <a:lstStyle/>
          <a:p>
            <a:pPr indent="0" marL="0">
              <a:buNone/>
            </a:pPr>
            <a:r>
              <a:rPr lang="en-US" sz="1200" b="1" spc="100" kern="0" dirty="0">
                <a:solidFill>
                  <a:schemeClr val="accent1"/>
                </a:solidFill>
              </a:rPr>
              <a:t>QUESTION À LA CLASSE</a:t>
            </a:r>
            <a:endParaRPr lang="en-US" sz="1200" dirty="0"/>
          </a:p>
        </p:txBody>
      </p:sp>
      <p:sp>
        <p:nvSpPr>
          <p:cNvPr id="12" name="Text 8"/>
          <p:cNvSpPr txBox="1"/>
          <p:nvPr/>
        </p:nvSpPr>
        <p:spPr>
          <a:xfrm>
            <a:off x="7178040" y="5766816"/>
            <a:ext cx="4279392" cy="451104"/>
          </a:xfrm>
          <a:prstGeom prst="rect">
            <a:avLst/>
          </a:prstGeom>
          <a:noFill/>
          <a:ln/>
        </p:spPr>
        <p:txBody>
          <a:bodyPr wrap="square" lIns="0" tIns="0" rIns="0" bIns="0" rtlCol="0" anchor="t"/>
          <a:lstStyle/>
          <a:p>
            <a:pPr indent="0" marL="0">
              <a:buNone/>
            </a:pPr>
            <a:r>
              <a:rPr lang="en-US" sz="1700" dirty="0">
                <a:solidFill>
                  <a:schemeClr val="tx1"/>
                </a:solidFill>
              </a:rPr>
              <a:t>Que concède Stef ? Que réfute-t-il ?</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Concéder puis réfuter : quatre structures</a:t>
            </a:r>
            <a:endParaRPr lang="en-US" sz="3200" dirty="0"/>
          </a:p>
        </p:txBody>
      </p:sp>
      <p:sp>
        <p:nvSpPr>
          <p:cNvPr id="3" name="tag"/>
          <p:cNvSpPr/>
          <p:nvPr/>
        </p:nvSpPr>
        <p:spPr>
          <a:xfrm>
            <a:off x="548640" y="237744"/>
            <a:ext cx="15087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GRAMMATICA</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20</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3017520"/>
                <a:gridCol w="2651760"/>
                <a:gridCol w="5422392"/>
              </a:tblGrid>
              <a:tr h="596189">
                <a:tc>
                  <a:txBody>
                    <a:bodyPr/>
                    <a:lstStyle/>
                    <a:p>
                      <a:pPr algn="l" indent="0" marL="0">
                        <a:buNone/>
                      </a:pPr>
                      <a:r>
                        <a:rPr lang="en-US" sz="1600" b="1" dirty="0">
                          <a:solidFill>
                            <a:schemeClr val="bg1"/>
                          </a:solidFill>
                        </a:rPr>
                        <a:t>STRUCTURE</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600" b="1" dirty="0">
                          <a:solidFill>
                            <a:schemeClr val="bg1"/>
                          </a:solidFill>
                        </a:rPr>
                        <a:t>FRANÇAIS</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600" b="1" dirty="0">
                          <a:solidFill>
                            <a:schemeClr val="bg1"/>
                          </a:solidFill>
                        </a:rPr>
                        <a:t>EXEMPLE</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681228">
                <a:tc>
                  <a:txBody>
                    <a:bodyPr/>
                    <a:lstStyle/>
                    <a:p>
                      <a:pPr algn="l" indent="0" marL="0">
                        <a:buNone/>
                      </a:pPr>
                      <a:r>
                        <a:rPr lang="en-US" sz="1800" b="1" dirty="0">
                          <a:solidFill>
                            <a:schemeClr val="tx1"/>
                          </a:solidFill>
                        </a:rPr>
                        <a:t>weliswaar …, maar …</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800" dirty="0">
                          <a:solidFill>
                            <a:schemeClr val="tx1"/>
                          </a:solidFill>
                        </a:rPr>
                        <a:t>certes…, mais…</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800" dirty="0">
                          <a:solidFill>
                            <a:schemeClr val="tx1"/>
                          </a:solidFill>
                        </a:rPr>
                        <a:t>De werken zijn weliswaar duur, maar noodzakelijk.</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960120">
                <a:tc>
                  <a:txBody>
                    <a:bodyPr/>
                    <a:lstStyle/>
                    <a:p>
                      <a:pPr algn="l" indent="0" marL="0">
                        <a:buNone/>
                      </a:pPr>
                      <a:r>
                        <a:rPr lang="en-US" sz="1800" b="1" dirty="0">
                          <a:solidFill>
                            <a:schemeClr val="tx1"/>
                          </a:solidFill>
                        </a:rPr>
                        <a:t>hoewel …</a:t>
                      </a:r>
                      <a:r>
                        <a:rPr lang="en-US" sz="1800" dirty="0">
                          <a:solidFill>
                            <a:schemeClr val="tx1"/>
                          </a:solidFill>
                        </a:rPr>
                        <a:t> (palier 4)</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800" dirty="0">
                          <a:solidFill>
                            <a:schemeClr val="tx1"/>
                          </a:solidFill>
                        </a:rPr>
                        <a:t>bien que</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800" dirty="0">
                          <a:solidFill>
                            <a:schemeClr val="tx1"/>
                          </a:solidFill>
                        </a:rPr>
                        <a:t>Hoewel ik uw punt begrijp, blijf ik bij mijn standpunt.</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960120">
                <a:tc>
                  <a:txBody>
                    <a:bodyPr/>
                    <a:lstStyle/>
                    <a:p>
                      <a:pPr algn="l" indent="0" marL="0">
                        <a:buNone/>
                      </a:pPr>
                      <a:r>
                        <a:rPr lang="en-US" sz="1800" b="1" dirty="0">
                          <a:solidFill>
                            <a:schemeClr val="tx1"/>
                          </a:solidFill>
                        </a:rPr>
                        <a:t>toch</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800" dirty="0">
                          <a:solidFill>
                            <a:schemeClr val="tx1"/>
                          </a:solidFill>
                        </a:rPr>
                        <a:t>pourtant / quand même</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800" dirty="0">
                          <a:solidFill>
                            <a:schemeClr val="tx1"/>
                          </a:solidFill>
                        </a:rPr>
                        <a:t>De offerte is hoog. Toch stel ik voor om te wachten.</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81228">
                <a:tc>
                  <a:txBody>
                    <a:bodyPr/>
                    <a:lstStyle/>
                    <a:p>
                      <a:pPr algn="l" indent="0" marL="0">
                        <a:buNone/>
                      </a:pPr>
                      <a:r>
                        <a:rPr lang="en-US" sz="1800" b="1" dirty="0">
                          <a:solidFill>
                            <a:schemeClr val="tx1"/>
                          </a:solidFill>
                        </a:rPr>
                        <a:t>dat klopt, maar …</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800" dirty="0">
                          <a:solidFill>
                            <a:schemeClr val="tx1"/>
                          </a:solidFill>
                        </a:rPr>
                        <a:t>c’est vrai, mais…</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800" dirty="0">
                          <a:solidFill>
                            <a:schemeClr val="tx1"/>
                          </a:solidFill>
                        </a:rPr>
                        <a:t>Dat klopt, maar de schade wordt elk jaar groter.</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Ordre des mots : weliswaar · hoewel · toch · maar</a:t>
            </a:r>
            <a:endParaRPr lang="en-US" sz="3200" dirty="0"/>
          </a:p>
        </p:txBody>
      </p:sp>
      <p:sp>
        <p:nvSpPr>
          <p:cNvPr id="3" name="tag"/>
          <p:cNvSpPr/>
          <p:nvPr/>
        </p:nvSpPr>
        <p:spPr>
          <a:xfrm>
            <a:off x="548640" y="237744"/>
            <a:ext cx="15087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GRAMMATICA</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20</a:t>
            </a:r>
            <a:endParaRPr lang="en-US" sz="1200" dirty="0"/>
          </a:p>
        </p:txBody>
      </p:sp>
      <p:sp>
        <p:nvSpPr>
          <p:cNvPr id="6" name="Text 3"/>
          <p:cNvSpPr txBox="1"/>
          <p:nvPr/>
        </p:nvSpPr>
        <p:spPr>
          <a:xfrm>
            <a:off x="548640" y="1481328"/>
            <a:ext cx="11091672" cy="329184"/>
          </a:xfrm>
          <a:prstGeom prst="rect">
            <a:avLst/>
          </a:prstGeom>
          <a:noFill/>
          <a:ln/>
        </p:spPr>
        <p:txBody>
          <a:bodyPr wrap="square" lIns="0" tIns="0" rIns="0" bIns="0" rtlCol="0" anchor="t"/>
          <a:lstStyle/>
          <a:p>
            <a:pPr indent="0" marL="0">
              <a:buNone/>
            </a:pPr>
            <a:r>
              <a:rPr lang="en-US" sz="1800" dirty="0">
                <a:solidFill>
                  <a:schemeClr val="tx1"/>
                </a:solidFill>
              </a:rPr>
              <a:t>Quatre mécaniques, quatre ordres des mots. Observez la position du </a:t>
            </a:r>
            <a:r>
              <a:rPr lang="en-US" sz="1800" b="1" dirty="0">
                <a:solidFill>
                  <a:schemeClr val="tx1"/>
                </a:solidFill>
              </a:rPr>
              <a:t>verbe conjugué</a:t>
            </a:r>
            <a:r>
              <a:rPr lang="en-US" sz="1800" dirty="0">
                <a:solidFill>
                  <a:schemeClr val="tx1"/>
                </a:solidFill>
              </a:rPr>
              <a:t>.</a:t>
            </a:r>
            <a:endParaRPr lang="en-US" sz="1800" dirty="0"/>
          </a:p>
        </p:txBody>
      </p:sp>
      <p:sp>
        <p:nvSpPr>
          <p:cNvPr id="7" name="Text 4"/>
          <p:cNvSpPr txBox="1"/>
          <p:nvPr/>
        </p:nvSpPr>
        <p:spPr>
          <a:xfrm>
            <a:off x="548640" y="2185416"/>
            <a:ext cx="1463040" cy="329184"/>
          </a:xfrm>
          <a:prstGeom prst="rect">
            <a:avLst/>
          </a:prstGeom>
          <a:noFill/>
          <a:ln/>
        </p:spPr>
        <p:txBody>
          <a:bodyPr wrap="square" lIns="0" tIns="0" rIns="0" bIns="0" rtlCol="0" anchor="ctr"/>
          <a:lstStyle/>
          <a:p>
            <a:pPr indent="0" marL="0">
              <a:buNone/>
            </a:pPr>
            <a:r>
              <a:rPr lang="en-US" sz="1400" b="1" dirty="0">
                <a:solidFill>
                  <a:schemeClr val="accent5"/>
                </a:solidFill>
              </a:rPr>
              <a:t>Weliswaar … maar</a:t>
            </a:r>
            <a:endParaRPr lang="en-US" sz="1400" dirty="0"/>
          </a:p>
        </p:txBody>
      </p:sp>
      <p:sp>
        <p:nvSpPr>
          <p:cNvPr id="8" name="Text 5"/>
          <p:cNvSpPr txBox="1"/>
          <p:nvPr/>
        </p:nvSpPr>
        <p:spPr>
          <a:xfrm>
            <a:off x="2103120" y="1947672"/>
            <a:ext cx="1280160"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9" name="Shape 6"/>
          <p:cNvSpPr/>
          <p:nvPr/>
        </p:nvSpPr>
        <p:spPr>
          <a:xfrm>
            <a:off x="2103120" y="2185416"/>
            <a:ext cx="1280160" cy="329184"/>
          </a:xfrm>
          <a:prstGeom prst="roundRect">
            <a:avLst>
              <a:gd name="adj" fmla="val 16667"/>
            </a:avLst>
          </a:prstGeom>
          <a:solidFill>
            <a:schemeClr val="tx2">
              <a:alpha val="88000"/>
            </a:schemeClr>
          </a:solidFill>
          <a:ln w="12700">
            <a:solidFill>
              <a:srgbClr val="17375E"/>
            </a:solidFill>
            <a:prstDash val="solid"/>
          </a:ln>
        </p:spPr>
      </p:sp>
      <p:sp>
        <p:nvSpPr>
          <p:cNvPr id="10" name="Text 7"/>
          <p:cNvSpPr txBox="1"/>
          <p:nvPr/>
        </p:nvSpPr>
        <p:spPr>
          <a:xfrm>
            <a:off x="2139696" y="2185416"/>
            <a:ext cx="1207008" cy="329184"/>
          </a:xfrm>
          <a:prstGeom prst="rect">
            <a:avLst/>
          </a:prstGeom>
          <a:noFill/>
          <a:ln/>
        </p:spPr>
        <p:txBody>
          <a:bodyPr wrap="square" lIns="0" tIns="0" rIns="0" bIns="0" rtlCol="0" anchor="ctr"/>
          <a:lstStyle/>
          <a:p>
            <a:pPr algn="ctr" indent="0" marL="0">
              <a:buNone/>
            </a:pPr>
            <a:r>
              <a:rPr lang="en-US" sz="1600" b="1" dirty="0">
                <a:solidFill>
                  <a:schemeClr val="bg1"/>
                </a:solidFill>
              </a:rPr>
              <a:t>De werken</a:t>
            </a:r>
            <a:endParaRPr lang="en-US" sz="1600" dirty="0"/>
          </a:p>
        </p:txBody>
      </p:sp>
      <p:sp>
        <p:nvSpPr>
          <p:cNvPr id="11" name="Text 8"/>
          <p:cNvSpPr txBox="1"/>
          <p:nvPr/>
        </p:nvSpPr>
        <p:spPr>
          <a:xfrm>
            <a:off x="3493008" y="1947672"/>
            <a:ext cx="751840"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12" name="Shape 9"/>
          <p:cNvSpPr/>
          <p:nvPr/>
        </p:nvSpPr>
        <p:spPr>
          <a:xfrm>
            <a:off x="3493008" y="2185416"/>
            <a:ext cx="751840" cy="329184"/>
          </a:xfrm>
          <a:prstGeom prst="roundRect">
            <a:avLst>
              <a:gd name="adj" fmla="val 16667"/>
            </a:avLst>
          </a:prstGeom>
          <a:solidFill>
            <a:schemeClr val="accent6">
              <a:alpha val="88000"/>
            </a:schemeClr>
          </a:solidFill>
          <a:ln w="12700">
            <a:solidFill>
              <a:srgbClr val="B83227"/>
            </a:solidFill>
            <a:prstDash val="solid"/>
          </a:ln>
        </p:spPr>
      </p:sp>
      <p:sp>
        <p:nvSpPr>
          <p:cNvPr id="13" name="Text 10"/>
          <p:cNvSpPr txBox="1"/>
          <p:nvPr/>
        </p:nvSpPr>
        <p:spPr>
          <a:xfrm>
            <a:off x="3529584" y="2185416"/>
            <a:ext cx="678688" cy="329184"/>
          </a:xfrm>
          <a:prstGeom prst="rect">
            <a:avLst/>
          </a:prstGeom>
          <a:noFill/>
          <a:ln/>
        </p:spPr>
        <p:txBody>
          <a:bodyPr wrap="square" lIns="0" tIns="0" rIns="0" bIns="0" rtlCol="0" anchor="ctr"/>
          <a:lstStyle/>
          <a:p>
            <a:pPr algn="ctr" indent="0" marL="0">
              <a:buNone/>
            </a:pPr>
            <a:r>
              <a:rPr lang="en-US" sz="1600" b="1" dirty="0">
                <a:solidFill>
                  <a:schemeClr val="bg1"/>
                </a:solidFill>
              </a:rPr>
              <a:t>zijn</a:t>
            </a:r>
            <a:endParaRPr lang="en-US" sz="1600" dirty="0"/>
          </a:p>
        </p:txBody>
      </p:sp>
      <p:sp>
        <p:nvSpPr>
          <p:cNvPr id="14" name="Text 11"/>
          <p:cNvSpPr txBox="1"/>
          <p:nvPr/>
        </p:nvSpPr>
        <p:spPr>
          <a:xfrm>
            <a:off x="4354576" y="1947672"/>
            <a:ext cx="1280160" cy="219456"/>
          </a:xfrm>
          <a:prstGeom prst="rect">
            <a:avLst/>
          </a:prstGeom>
          <a:noFill/>
          <a:ln/>
        </p:spPr>
        <p:txBody>
          <a:bodyPr wrap="square" lIns="0" tIns="0" rIns="0" bIns="0" rtlCol="0" anchor="b"/>
          <a:lstStyle/>
          <a:p>
            <a:pPr algn="ctr" indent="0" marL="0">
              <a:buNone/>
            </a:pPr>
            <a:r>
              <a:rPr lang="en-US" sz="1000" b="1" dirty="0">
                <a:solidFill>
                  <a:srgbClr val="6E4A9E"/>
                </a:solidFill>
              </a:rPr>
              <a:t>liaison</a:t>
            </a:r>
            <a:endParaRPr lang="en-US" sz="1000" dirty="0"/>
          </a:p>
        </p:txBody>
      </p:sp>
      <p:sp>
        <p:nvSpPr>
          <p:cNvPr id="15" name="Shape 12"/>
          <p:cNvSpPr/>
          <p:nvPr/>
        </p:nvSpPr>
        <p:spPr>
          <a:xfrm>
            <a:off x="4354576" y="2185416"/>
            <a:ext cx="1280160" cy="329184"/>
          </a:xfrm>
          <a:prstGeom prst="roundRect">
            <a:avLst>
              <a:gd name="adj" fmla="val 16667"/>
            </a:avLst>
          </a:prstGeom>
          <a:solidFill>
            <a:srgbClr val="6E4A9E">
              <a:alpha val="88000"/>
            </a:srgbClr>
          </a:solidFill>
          <a:ln w="12700">
            <a:solidFill>
              <a:srgbClr val="6E4A9E"/>
            </a:solidFill>
            <a:prstDash val="solid"/>
          </a:ln>
        </p:spPr>
      </p:sp>
      <p:sp>
        <p:nvSpPr>
          <p:cNvPr id="16" name="Text 13"/>
          <p:cNvSpPr txBox="1"/>
          <p:nvPr/>
        </p:nvSpPr>
        <p:spPr>
          <a:xfrm>
            <a:off x="4391152" y="2185416"/>
            <a:ext cx="1207008" cy="329184"/>
          </a:xfrm>
          <a:prstGeom prst="rect">
            <a:avLst/>
          </a:prstGeom>
          <a:noFill/>
          <a:ln/>
        </p:spPr>
        <p:txBody>
          <a:bodyPr wrap="square" lIns="0" tIns="0" rIns="0" bIns="0" rtlCol="0" anchor="ctr"/>
          <a:lstStyle/>
          <a:p>
            <a:pPr algn="ctr" indent="0" marL="0">
              <a:buNone/>
            </a:pPr>
            <a:r>
              <a:rPr lang="en-US" sz="1600" b="1" dirty="0">
                <a:solidFill>
                  <a:schemeClr val="bg1"/>
                </a:solidFill>
              </a:rPr>
              <a:t>weliswaar</a:t>
            </a:r>
            <a:endParaRPr lang="en-US" sz="1600" dirty="0"/>
          </a:p>
        </p:txBody>
      </p:sp>
      <p:sp>
        <p:nvSpPr>
          <p:cNvPr id="17" name="Text 14"/>
          <p:cNvSpPr txBox="1"/>
          <p:nvPr/>
        </p:nvSpPr>
        <p:spPr>
          <a:xfrm>
            <a:off x="5744464" y="1947672"/>
            <a:ext cx="751840" cy="219456"/>
          </a:xfrm>
          <a:prstGeom prst="rect">
            <a:avLst/>
          </a:prstGeom>
          <a:noFill/>
          <a:ln/>
        </p:spPr>
        <p:txBody>
          <a:bodyPr wrap="square" lIns="0" tIns="0" rIns="0" bIns="0" rtlCol="0" anchor="b"/>
          <a:lstStyle/>
          <a:p>
            <a:pPr algn="ctr" indent="0" marL="0">
              <a:buNone/>
            </a:pPr>
            <a:r>
              <a:rPr lang="en-US" sz="1000" b="1" dirty="0">
                <a:solidFill>
                  <a:schemeClr val="accent3"/>
                </a:solidFill>
              </a:rPr>
              <a:t>manier · comment</a:t>
            </a:r>
            <a:endParaRPr lang="en-US" sz="1000" dirty="0"/>
          </a:p>
        </p:txBody>
      </p:sp>
      <p:sp>
        <p:nvSpPr>
          <p:cNvPr id="18" name="Shape 15"/>
          <p:cNvSpPr/>
          <p:nvPr/>
        </p:nvSpPr>
        <p:spPr>
          <a:xfrm>
            <a:off x="5744464" y="2185416"/>
            <a:ext cx="751840" cy="329184"/>
          </a:xfrm>
          <a:prstGeom prst="roundRect">
            <a:avLst>
              <a:gd name="adj" fmla="val 16667"/>
            </a:avLst>
          </a:prstGeom>
          <a:solidFill>
            <a:schemeClr val="accent3">
              <a:alpha val="88000"/>
            </a:schemeClr>
          </a:solidFill>
          <a:ln w="12700">
            <a:solidFill>
              <a:srgbClr val="2E7D4F"/>
            </a:solidFill>
            <a:prstDash val="solid"/>
          </a:ln>
        </p:spPr>
      </p:sp>
      <p:sp>
        <p:nvSpPr>
          <p:cNvPr id="19" name="Text 16"/>
          <p:cNvSpPr txBox="1"/>
          <p:nvPr/>
        </p:nvSpPr>
        <p:spPr>
          <a:xfrm>
            <a:off x="5781040" y="2185416"/>
            <a:ext cx="678688" cy="329184"/>
          </a:xfrm>
          <a:prstGeom prst="rect">
            <a:avLst/>
          </a:prstGeom>
          <a:noFill/>
          <a:ln/>
        </p:spPr>
        <p:txBody>
          <a:bodyPr wrap="square" lIns="0" tIns="0" rIns="0" bIns="0" rtlCol="0" anchor="ctr"/>
          <a:lstStyle/>
          <a:p>
            <a:pPr algn="ctr" indent="0" marL="0">
              <a:buNone/>
            </a:pPr>
            <a:r>
              <a:rPr lang="en-US" sz="1600" b="1" dirty="0">
                <a:solidFill>
                  <a:schemeClr val="bg1"/>
                </a:solidFill>
              </a:rPr>
              <a:t>duur</a:t>
            </a:r>
            <a:endParaRPr lang="en-US" sz="1600" dirty="0"/>
          </a:p>
        </p:txBody>
      </p:sp>
      <p:sp>
        <p:nvSpPr>
          <p:cNvPr id="20" name="Text 17"/>
          <p:cNvSpPr txBox="1"/>
          <p:nvPr/>
        </p:nvSpPr>
        <p:spPr>
          <a:xfrm>
            <a:off x="6606032" y="1947672"/>
            <a:ext cx="751840" cy="219456"/>
          </a:xfrm>
          <a:prstGeom prst="rect">
            <a:avLst/>
          </a:prstGeom>
          <a:noFill/>
          <a:ln/>
        </p:spPr>
        <p:txBody>
          <a:bodyPr wrap="square" lIns="0" tIns="0" rIns="0" bIns="0" rtlCol="0" anchor="b"/>
          <a:lstStyle/>
          <a:p>
            <a:pPr algn="ctr" indent="0" marL="0">
              <a:buNone/>
            </a:pPr>
            <a:r>
              <a:rPr lang="en-US" sz="1000" b="1" dirty="0">
                <a:solidFill>
                  <a:srgbClr val="6E4A9E"/>
                </a:solidFill>
              </a:rPr>
              <a:t>liaison</a:t>
            </a:r>
            <a:endParaRPr lang="en-US" sz="1000" dirty="0"/>
          </a:p>
        </p:txBody>
      </p:sp>
      <p:sp>
        <p:nvSpPr>
          <p:cNvPr id="21" name="Shape 18"/>
          <p:cNvSpPr/>
          <p:nvPr/>
        </p:nvSpPr>
        <p:spPr>
          <a:xfrm>
            <a:off x="6606032" y="2185416"/>
            <a:ext cx="751840" cy="329184"/>
          </a:xfrm>
          <a:prstGeom prst="roundRect">
            <a:avLst>
              <a:gd name="adj" fmla="val 16667"/>
            </a:avLst>
          </a:prstGeom>
          <a:solidFill>
            <a:srgbClr val="6E4A9E">
              <a:alpha val="88000"/>
            </a:srgbClr>
          </a:solidFill>
          <a:ln w="12700">
            <a:solidFill>
              <a:srgbClr val="6E4A9E"/>
            </a:solidFill>
            <a:prstDash val="solid"/>
          </a:ln>
        </p:spPr>
      </p:sp>
      <p:sp>
        <p:nvSpPr>
          <p:cNvPr id="22" name="Text 19"/>
          <p:cNvSpPr txBox="1"/>
          <p:nvPr/>
        </p:nvSpPr>
        <p:spPr>
          <a:xfrm>
            <a:off x="6642608" y="2185416"/>
            <a:ext cx="678688" cy="329184"/>
          </a:xfrm>
          <a:prstGeom prst="rect">
            <a:avLst/>
          </a:prstGeom>
          <a:noFill/>
          <a:ln/>
        </p:spPr>
        <p:txBody>
          <a:bodyPr wrap="square" lIns="0" tIns="0" rIns="0" bIns="0" rtlCol="0" anchor="ctr"/>
          <a:lstStyle/>
          <a:p>
            <a:pPr algn="ctr" indent="0" marL="0">
              <a:buNone/>
            </a:pPr>
            <a:r>
              <a:rPr lang="en-US" sz="1600" b="1" dirty="0">
                <a:solidFill>
                  <a:schemeClr val="bg1"/>
                </a:solidFill>
              </a:rPr>
              <a:t>maar</a:t>
            </a:r>
            <a:endParaRPr lang="en-US" sz="1600" dirty="0"/>
          </a:p>
        </p:txBody>
      </p:sp>
      <p:sp>
        <p:nvSpPr>
          <p:cNvPr id="23" name="Text 20"/>
          <p:cNvSpPr txBox="1"/>
          <p:nvPr/>
        </p:nvSpPr>
        <p:spPr>
          <a:xfrm>
            <a:off x="7467600" y="1947672"/>
            <a:ext cx="1597152" cy="219456"/>
          </a:xfrm>
          <a:prstGeom prst="rect">
            <a:avLst/>
          </a:prstGeom>
          <a:noFill/>
          <a:ln/>
        </p:spPr>
        <p:txBody>
          <a:bodyPr wrap="square" lIns="0" tIns="0" rIns="0" bIns="0" rtlCol="0" anchor="b"/>
          <a:lstStyle/>
          <a:p>
            <a:pPr algn="ctr" indent="0" marL="0">
              <a:buNone/>
            </a:pPr>
            <a:r>
              <a:rPr lang="en-US" sz="1000" b="1" dirty="0">
                <a:solidFill>
                  <a:schemeClr val="accent3"/>
                </a:solidFill>
              </a:rPr>
              <a:t>manier · comment</a:t>
            </a:r>
            <a:endParaRPr lang="en-US" sz="1000" dirty="0"/>
          </a:p>
        </p:txBody>
      </p:sp>
      <p:sp>
        <p:nvSpPr>
          <p:cNvPr id="24" name="Shape 21"/>
          <p:cNvSpPr/>
          <p:nvPr/>
        </p:nvSpPr>
        <p:spPr>
          <a:xfrm>
            <a:off x="7467600" y="2185416"/>
            <a:ext cx="1597152" cy="329184"/>
          </a:xfrm>
          <a:prstGeom prst="roundRect">
            <a:avLst>
              <a:gd name="adj" fmla="val 16667"/>
            </a:avLst>
          </a:prstGeom>
          <a:solidFill>
            <a:schemeClr val="accent3">
              <a:alpha val="88000"/>
            </a:schemeClr>
          </a:solidFill>
          <a:ln w="12700">
            <a:solidFill>
              <a:srgbClr val="2E7D4F"/>
            </a:solidFill>
            <a:prstDash val="solid"/>
          </a:ln>
        </p:spPr>
      </p:sp>
      <p:sp>
        <p:nvSpPr>
          <p:cNvPr id="25" name="Text 22"/>
          <p:cNvSpPr txBox="1"/>
          <p:nvPr/>
        </p:nvSpPr>
        <p:spPr>
          <a:xfrm>
            <a:off x="7504176" y="2185416"/>
            <a:ext cx="1524000" cy="329184"/>
          </a:xfrm>
          <a:prstGeom prst="rect">
            <a:avLst/>
          </a:prstGeom>
          <a:noFill/>
          <a:ln/>
        </p:spPr>
        <p:txBody>
          <a:bodyPr wrap="square" lIns="0" tIns="0" rIns="0" bIns="0" rtlCol="0" anchor="ctr"/>
          <a:lstStyle/>
          <a:p>
            <a:pPr algn="ctr" indent="0" marL="0">
              <a:buNone/>
            </a:pPr>
            <a:r>
              <a:rPr lang="en-US" sz="1600" b="1" dirty="0">
                <a:solidFill>
                  <a:schemeClr val="bg1"/>
                </a:solidFill>
              </a:rPr>
              <a:t>noodzakelijk</a:t>
            </a:r>
            <a:endParaRPr lang="en-US" sz="1600" dirty="0"/>
          </a:p>
        </p:txBody>
      </p:sp>
      <p:sp>
        <p:nvSpPr>
          <p:cNvPr id="26" name="Text 23"/>
          <p:cNvSpPr txBox="1"/>
          <p:nvPr/>
        </p:nvSpPr>
        <p:spPr>
          <a:xfrm>
            <a:off x="2103120" y="2542032"/>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Les travaux sont certes chers, mais nécessaires.</a:t>
            </a:r>
            <a:endParaRPr lang="en-US" sz="1400" dirty="0"/>
          </a:p>
        </p:txBody>
      </p:sp>
      <p:sp>
        <p:nvSpPr>
          <p:cNvPr id="27" name="Text 24"/>
          <p:cNvSpPr txBox="1"/>
          <p:nvPr/>
        </p:nvSpPr>
        <p:spPr>
          <a:xfrm>
            <a:off x="548640" y="2868778"/>
            <a:ext cx="1463040" cy="329184"/>
          </a:xfrm>
          <a:prstGeom prst="rect">
            <a:avLst/>
          </a:prstGeom>
          <a:noFill/>
          <a:ln/>
        </p:spPr>
        <p:txBody>
          <a:bodyPr wrap="square" lIns="0" tIns="0" rIns="0" bIns="0" rtlCol="0" anchor="ctr"/>
          <a:lstStyle/>
          <a:p>
            <a:pPr indent="0" marL="0">
              <a:buNone/>
            </a:pPr>
            <a:r>
              <a:rPr lang="en-US" sz="1400" b="1" dirty="0">
                <a:solidFill>
                  <a:schemeClr val="accent5"/>
                </a:solidFill>
              </a:rPr>
              <a:t>Weliswaar en tête</a:t>
            </a:r>
            <a:endParaRPr lang="en-US" sz="1400" dirty="0"/>
          </a:p>
        </p:txBody>
      </p:sp>
      <p:sp>
        <p:nvSpPr>
          <p:cNvPr id="28" name="Text 25"/>
          <p:cNvSpPr txBox="1"/>
          <p:nvPr/>
        </p:nvSpPr>
        <p:spPr>
          <a:xfrm>
            <a:off x="2103120" y="2631034"/>
            <a:ext cx="1280160" cy="219456"/>
          </a:xfrm>
          <a:prstGeom prst="rect">
            <a:avLst/>
          </a:prstGeom>
          <a:noFill/>
          <a:ln/>
        </p:spPr>
        <p:txBody>
          <a:bodyPr wrap="square" lIns="0" tIns="0" rIns="0" bIns="0" rtlCol="0" anchor="b"/>
          <a:lstStyle/>
          <a:p>
            <a:pPr algn="ctr" indent="0" marL="0">
              <a:buNone/>
            </a:pPr>
            <a:r>
              <a:rPr lang="en-US" sz="1000" b="1" dirty="0">
                <a:solidFill>
                  <a:srgbClr val="6E4A9E"/>
                </a:solidFill>
              </a:rPr>
              <a:t>liaison</a:t>
            </a:r>
            <a:endParaRPr lang="en-US" sz="1000" dirty="0"/>
          </a:p>
        </p:txBody>
      </p:sp>
      <p:sp>
        <p:nvSpPr>
          <p:cNvPr id="29" name="Shape 26"/>
          <p:cNvSpPr/>
          <p:nvPr/>
        </p:nvSpPr>
        <p:spPr>
          <a:xfrm>
            <a:off x="2103120" y="2868778"/>
            <a:ext cx="1280160" cy="329184"/>
          </a:xfrm>
          <a:prstGeom prst="roundRect">
            <a:avLst>
              <a:gd name="adj" fmla="val 16667"/>
            </a:avLst>
          </a:prstGeom>
          <a:solidFill>
            <a:srgbClr val="6E4A9E">
              <a:alpha val="88000"/>
            </a:srgbClr>
          </a:solidFill>
          <a:ln w="12700">
            <a:solidFill>
              <a:srgbClr val="6E4A9E"/>
            </a:solidFill>
            <a:prstDash val="solid"/>
          </a:ln>
        </p:spPr>
      </p:sp>
      <p:sp>
        <p:nvSpPr>
          <p:cNvPr id="30" name="Text 27"/>
          <p:cNvSpPr txBox="1"/>
          <p:nvPr/>
        </p:nvSpPr>
        <p:spPr>
          <a:xfrm>
            <a:off x="2139696" y="2868778"/>
            <a:ext cx="1207008" cy="329184"/>
          </a:xfrm>
          <a:prstGeom prst="rect">
            <a:avLst/>
          </a:prstGeom>
          <a:noFill/>
          <a:ln/>
        </p:spPr>
        <p:txBody>
          <a:bodyPr wrap="square" lIns="0" tIns="0" rIns="0" bIns="0" rtlCol="0" anchor="ctr"/>
          <a:lstStyle/>
          <a:p>
            <a:pPr algn="ctr" indent="0" marL="0">
              <a:buNone/>
            </a:pPr>
            <a:r>
              <a:rPr lang="en-US" sz="1600" b="1" dirty="0">
                <a:solidFill>
                  <a:schemeClr val="bg1"/>
                </a:solidFill>
              </a:rPr>
              <a:t>Weliswaar</a:t>
            </a:r>
            <a:endParaRPr lang="en-US" sz="1600" dirty="0"/>
          </a:p>
        </p:txBody>
      </p:sp>
      <p:sp>
        <p:nvSpPr>
          <p:cNvPr id="31" name="Text 28"/>
          <p:cNvSpPr txBox="1"/>
          <p:nvPr/>
        </p:nvSpPr>
        <p:spPr>
          <a:xfrm>
            <a:off x="3493008" y="2631034"/>
            <a:ext cx="751840"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32" name="Shape 29"/>
          <p:cNvSpPr/>
          <p:nvPr/>
        </p:nvSpPr>
        <p:spPr>
          <a:xfrm>
            <a:off x="3493008" y="2868778"/>
            <a:ext cx="751840" cy="329184"/>
          </a:xfrm>
          <a:prstGeom prst="roundRect">
            <a:avLst>
              <a:gd name="adj" fmla="val 16667"/>
            </a:avLst>
          </a:prstGeom>
          <a:solidFill>
            <a:schemeClr val="accent6">
              <a:alpha val="88000"/>
            </a:schemeClr>
          </a:solidFill>
          <a:ln w="12700">
            <a:solidFill>
              <a:srgbClr val="B83227"/>
            </a:solidFill>
            <a:prstDash val="solid"/>
          </a:ln>
        </p:spPr>
      </p:sp>
      <p:sp>
        <p:nvSpPr>
          <p:cNvPr id="33" name="Text 30"/>
          <p:cNvSpPr txBox="1"/>
          <p:nvPr/>
        </p:nvSpPr>
        <p:spPr>
          <a:xfrm>
            <a:off x="3529584" y="2868778"/>
            <a:ext cx="678688" cy="329184"/>
          </a:xfrm>
          <a:prstGeom prst="rect">
            <a:avLst/>
          </a:prstGeom>
          <a:noFill/>
          <a:ln/>
        </p:spPr>
        <p:txBody>
          <a:bodyPr wrap="square" lIns="0" tIns="0" rIns="0" bIns="0" rtlCol="0" anchor="ctr"/>
          <a:lstStyle/>
          <a:p>
            <a:pPr algn="ctr" indent="0" marL="0">
              <a:buNone/>
            </a:pPr>
            <a:r>
              <a:rPr lang="en-US" sz="1600" b="1" dirty="0">
                <a:solidFill>
                  <a:schemeClr val="bg1"/>
                </a:solidFill>
              </a:rPr>
              <a:t>zijn</a:t>
            </a:r>
            <a:endParaRPr lang="en-US" sz="1600" dirty="0"/>
          </a:p>
        </p:txBody>
      </p:sp>
      <p:sp>
        <p:nvSpPr>
          <p:cNvPr id="34" name="Text 31"/>
          <p:cNvSpPr txBox="1"/>
          <p:nvPr/>
        </p:nvSpPr>
        <p:spPr>
          <a:xfrm>
            <a:off x="4354576" y="2631034"/>
            <a:ext cx="1280160"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35" name="Shape 32"/>
          <p:cNvSpPr/>
          <p:nvPr/>
        </p:nvSpPr>
        <p:spPr>
          <a:xfrm>
            <a:off x="4354576" y="2868778"/>
            <a:ext cx="1280160" cy="329184"/>
          </a:xfrm>
          <a:prstGeom prst="roundRect">
            <a:avLst>
              <a:gd name="adj" fmla="val 16667"/>
            </a:avLst>
          </a:prstGeom>
          <a:solidFill>
            <a:schemeClr val="tx2">
              <a:alpha val="88000"/>
            </a:schemeClr>
          </a:solidFill>
          <a:ln w="12700">
            <a:solidFill>
              <a:srgbClr val="17375E"/>
            </a:solidFill>
            <a:prstDash val="solid"/>
          </a:ln>
        </p:spPr>
      </p:sp>
      <p:sp>
        <p:nvSpPr>
          <p:cNvPr id="36" name="Text 33"/>
          <p:cNvSpPr txBox="1"/>
          <p:nvPr/>
        </p:nvSpPr>
        <p:spPr>
          <a:xfrm>
            <a:off x="4391152" y="2868778"/>
            <a:ext cx="1207008" cy="329184"/>
          </a:xfrm>
          <a:prstGeom prst="rect">
            <a:avLst/>
          </a:prstGeom>
          <a:noFill/>
          <a:ln/>
        </p:spPr>
        <p:txBody>
          <a:bodyPr wrap="square" lIns="0" tIns="0" rIns="0" bIns="0" rtlCol="0" anchor="ctr"/>
          <a:lstStyle/>
          <a:p>
            <a:pPr algn="ctr" indent="0" marL="0">
              <a:buNone/>
            </a:pPr>
            <a:r>
              <a:rPr lang="en-US" sz="1600" b="1" dirty="0">
                <a:solidFill>
                  <a:schemeClr val="bg1"/>
                </a:solidFill>
              </a:rPr>
              <a:t>de werken</a:t>
            </a:r>
            <a:endParaRPr lang="en-US" sz="1600" dirty="0"/>
          </a:p>
        </p:txBody>
      </p:sp>
      <p:sp>
        <p:nvSpPr>
          <p:cNvPr id="37" name="Text 34"/>
          <p:cNvSpPr txBox="1"/>
          <p:nvPr/>
        </p:nvSpPr>
        <p:spPr>
          <a:xfrm>
            <a:off x="5744464" y="2631034"/>
            <a:ext cx="751840" cy="219456"/>
          </a:xfrm>
          <a:prstGeom prst="rect">
            <a:avLst/>
          </a:prstGeom>
          <a:noFill/>
          <a:ln/>
        </p:spPr>
        <p:txBody>
          <a:bodyPr wrap="square" lIns="0" tIns="0" rIns="0" bIns="0" rtlCol="0" anchor="b"/>
          <a:lstStyle/>
          <a:p>
            <a:pPr algn="ctr" indent="0" marL="0">
              <a:buNone/>
            </a:pPr>
            <a:r>
              <a:rPr lang="en-US" sz="1000" b="1" dirty="0">
                <a:solidFill>
                  <a:schemeClr val="accent3"/>
                </a:solidFill>
              </a:rPr>
              <a:t>manier · comment</a:t>
            </a:r>
            <a:endParaRPr lang="en-US" sz="1000" dirty="0"/>
          </a:p>
        </p:txBody>
      </p:sp>
      <p:sp>
        <p:nvSpPr>
          <p:cNvPr id="38" name="Shape 35"/>
          <p:cNvSpPr/>
          <p:nvPr/>
        </p:nvSpPr>
        <p:spPr>
          <a:xfrm>
            <a:off x="5744464" y="2868778"/>
            <a:ext cx="751840" cy="329184"/>
          </a:xfrm>
          <a:prstGeom prst="roundRect">
            <a:avLst>
              <a:gd name="adj" fmla="val 16667"/>
            </a:avLst>
          </a:prstGeom>
          <a:solidFill>
            <a:schemeClr val="accent3">
              <a:alpha val="88000"/>
            </a:schemeClr>
          </a:solidFill>
          <a:ln w="12700">
            <a:solidFill>
              <a:srgbClr val="2E7D4F"/>
            </a:solidFill>
            <a:prstDash val="solid"/>
          </a:ln>
        </p:spPr>
      </p:sp>
      <p:sp>
        <p:nvSpPr>
          <p:cNvPr id="39" name="Text 36"/>
          <p:cNvSpPr txBox="1"/>
          <p:nvPr/>
        </p:nvSpPr>
        <p:spPr>
          <a:xfrm>
            <a:off x="5781040" y="2868778"/>
            <a:ext cx="678688" cy="329184"/>
          </a:xfrm>
          <a:prstGeom prst="rect">
            <a:avLst/>
          </a:prstGeom>
          <a:noFill/>
          <a:ln/>
        </p:spPr>
        <p:txBody>
          <a:bodyPr wrap="square" lIns="0" tIns="0" rIns="0" bIns="0" rtlCol="0" anchor="ctr"/>
          <a:lstStyle/>
          <a:p>
            <a:pPr algn="ctr" indent="0" marL="0">
              <a:buNone/>
            </a:pPr>
            <a:r>
              <a:rPr lang="en-US" sz="1600" b="1" dirty="0">
                <a:solidFill>
                  <a:schemeClr val="bg1"/>
                </a:solidFill>
              </a:rPr>
              <a:t>duur</a:t>
            </a:r>
            <a:endParaRPr lang="en-US" sz="1600" dirty="0"/>
          </a:p>
        </p:txBody>
      </p:sp>
      <p:sp>
        <p:nvSpPr>
          <p:cNvPr id="40" name="Text 37"/>
          <p:cNvSpPr txBox="1"/>
          <p:nvPr/>
        </p:nvSpPr>
        <p:spPr>
          <a:xfrm>
            <a:off x="6606032" y="2631034"/>
            <a:ext cx="751840" cy="219456"/>
          </a:xfrm>
          <a:prstGeom prst="rect">
            <a:avLst/>
          </a:prstGeom>
          <a:noFill/>
          <a:ln/>
        </p:spPr>
        <p:txBody>
          <a:bodyPr wrap="square" lIns="0" tIns="0" rIns="0" bIns="0" rtlCol="0" anchor="b"/>
          <a:lstStyle/>
          <a:p>
            <a:pPr algn="ctr" indent="0" marL="0">
              <a:buNone/>
            </a:pPr>
            <a:r>
              <a:rPr lang="en-US" sz="1000" b="1" dirty="0">
                <a:solidFill>
                  <a:srgbClr val="6E4A9E"/>
                </a:solidFill>
              </a:rPr>
              <a:t>liaison</a:t>
            </a:r>
            <a:endParaRPr lang="en-US" sz="1000" dirty="0"/>
          </a:p>
        </p:txBody>
      </p:sp>
      <p:sp>
        <p:nvSpPr>
          <p:cNvPr id="41" name="Shape 38"/>
          <p:cNvSpPr/>
          <p:nvPr/>
        </p:nvSpPr>
        <p:spPr>
          <a:xfrm>
            <a:off x="6606032" y="2868778"/>
            <a:ext cx="751840" cy="329184"/>
          </a:xfrm>
          <a:prstGeom prst="roundRect">
            <a:avLst>
              <a:gd name="adj" fmla="val 16667"/>
            </a:avLst>
          </a:prstGeom>
          <a:solidFill>
            <a:srgbClr val="6E4A9E">
              <a:alpha val="88000"/>
            </a:srgbClr>
          </a:solidFill>
          <a:ln w="12700">
            <a:solidFill>
              <a:srgbClr val="6E4A9E"/>
            </a:solidFill>
            <a:prstDash val="solid"/>
          </a:ln>
        </p:spPr>
      </p:sp>
      <p:sp>
        <p:nvSpPr>
          <p:cNvPr id="42" name="Text 39"/>
          <p:cNvSpPr txBox="1"/>
          <p:nvPr/>
        </p:nvSpPr>
        <p:spPr>
          <a:xfrm>
            <a:off x="6642608" y="2868778"/>
            <a:ext cx="678688" cy="329184"/>
          </a:xfrm>
          <a:prstGeom prst="rect">
            <a:avLst/>
          </a:prstGeom>
          <a:noFill/>
          <a:ln/>
        </p:spPr>
        <p:txBody>
          <a:bodyPr wrap="square" lIns="0" tIns="0" rIns="0" bIns="0" rtlCol="0" anchor="ctr"/>
          <a:lstStyle/>
          <a:p>
            <a:pPr algn="ctr" indent="0" marL="0">
              <a:buNone/>
            </a:pPr>
            <a:r>
              <a:rPr lang="en-US" sz="1600" b="1" dirty="0">
                <a:solidFill>
                  <a:schemeClr val="bg1"/>
                </a:solidFill>
              </a:rPr>
              <a:t>maar</a:t>
            </a:r>
            <a:endParaRPr lang="en-US" sz="1600" dirty="0"/>
          </a:p>
        </p:txBody>
      </p:sp>
      <p:sp>
        <p:nvSpPr>
          <p:cNvPr id="43" name="Text 40"/>
          <p:cNvSpPr txBox="1"/>
          <p:nvPr/>
        </p:nvSpPr>
        <p:spPr>
          <a:xfrm>
            <a:off x="7467600" y="2631034"/>
            <a:ext cx="1597152" cy="219456"/>
          </a:xfrm>
          <a:prstGeom prst="rect">
            <a:avLst/>
          </a:prstGeom>
          <a:noFill/>
          <a:ln/>
        </p:spPr>
        <p:txBody>
          <a:bodyPr wrap="square" lIns="0" tIns="0" rIns="0" bIns="0" rtlCol="0" anchor="b"/>
          <a:lstStyle/>
          <a:p>
            <a:pPr algn="ctr" indent="0" marL="0">
              <a:buNone/>
            </a:pPr>
            <a:r>
              <a:rPr lang="en-US" sz="1000" b="1" dirty="0">
                <a:solidFill>
                  <a:schemeClr val="accent3"/>
                </a:solidFill>
              </a:rPr>
              <a:t>manier · comment</a:t>
            </a:r>
            <a:endParaRPr lang="en-US" sz="1000" dirty="0"/>
          </a:p>
        </p:txBody>
      </p:sp>
      <p:sp>
        <p:nvSpPr>
          <p:cNvPr id="44" name="Shape 41"/>
          <p:cNvSpPr/>
          <p:nvPr/>
        </p:nvSpPr>
        <p:spPr>
          <a:xfrm>
            <a:off x="7467600" y="2868778"/>
            <a:ext cx="1597152" cy="329184"/>
          </a:xfrm>
          <a:prstGeom prst="roundRect">
            <a:avLst>
              <a:gd name="adj" fmla="val 16667"/>
            </a:avLst>
          </a:prstGeom>
          <a:solidFill>
            <a:schemeClr val="accent3">
              <a:alpha val="88000"/>
            </a:schemeClr>
          </a:solidFill>
          <a:ln w="12700">
            <a:solidFill>
              <a:srgbClr val="2E7D4F"/>
            </a:solidFill>
            <a:prstDash val="solid"/>
          </a:ln>
        </p:spPr>
      </p:sp>
      <p:sp>
        <p:nvSpPr>
          <p:cNvPr id="45" name="Text 42"/>
          <p:cNvSpPr txBox="1"/>
          <p:nvPr/>
        </p:nvSpPr>
        <p:spPr>
          <a:xfrm>
            <a:off x="7504176" y="2868778"/>
            <a:ext cx="1524000" cy="329184"/>
          </a:xfrm>
          <a:prstGeom prst="rect">
            <a:avLst/>
          </a:prstGeom>
          <a:noFill/>
          <a:ln/>
        </p:spPr>
        <p:txBody>
          <a:bodyPr wrap="square" lIns="0" tIns="0" rIns="0" bIns="0" rtlCol="0" anchor="ctr"/>
          <a:lstStyle/>
          <a:p>
            <a:pPr algn="ctr" indent="0" marL="0">
              <a:buNone/>
            </a:pPr>
            <a:r>
              <a:rPr lang="en-US" sz="1600" b="1" dirty="0">
                <a:solidFill>
                  <a:schemeClr val="bg1"/>
                </a:solidFill>
              </a:rPr>
              <a:t>noodzakelijk</a:t>
            </a:r>
            <a:endParaRPr lang="en-US" sz="1600" dirty="0"/>
          </a:p>
        </p:txBody>
      </p:sp>
      <p:sp>
        <p:nvSpPr>
          <p:cNvPr id="46" name="Text 43"/>
          <p:cNvSpPr txBox="1"/>
          <p:nvPr/>
        </p:nvSpPr>
        <p:spPr>
          <a:xfrm>
            <a:off x="2103120" y="3225394"/>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Certes, les travaux sont chers, mais nécessaires.</a:t>
            </a:r>
            <a:endParaRPr lang="en-US" sz="1400" dirty="0"/>
          </a:p>
        </p:txBody>
      </p:sp>
      <p:sp>
        <p:nvSpPr>
          <p:cNvPr id="47" name="Text 44"/>
          <p:cNvSpPr txBox="1"/>
          <p:nvPr/>
        </p:nvSpPr>
        <p:spPr>
          <a:xfrm>
            <a:off x="548640" y="3552139"/>
            <a:ext cx="1463040" cy="329184"/>
          </a:xfrm>
          <a:prstGeom prst="rect">
            <a:avLst/>
          </a:prstGeom>
          <a:noFill/>
          <a:ln/>
        </p:spPr>
        <p:txBody>
          <a:bodyPr wrap="square" lIns="0" tIns="0" rIns="0" bIns="0" rtlCol="0" anchor="ctr"/>
          <a:lstStyle/>
          <a:p>
            <a:pPr indent="0" marL="0">
              <a:buNone/>
            </a:pPr>
            <a:r>
              <a:rPr lang="en-US" sz="1400" b="1" dirty="0">
                <a:solidFill>
                  <a:schemeClr val="accent5"/>
                </a:solidFill>
              </a:rPr>
              <a:t>Hoewel</a:t>
            </a:r>
            <a:endParaRPr lang="en-US" sz="1400" dirty="0"/>
          </a:p>
        </p:txBody>
      </p:sp>
      <p:sp>
        <p:nvSpPr>
          <p:cNvPr id="48" name="Text 45"/>
          <p:cNvSpPr txBox="1"/>
          <p:nvPr/>
        </p:nvSpPr>
        <p:spPr>
          <a:xfrm>
            <a:off x="2103120" y="3314395"/>
            <a:ext cx="963168" cy="219456"/>
          </a:xfrm>
          <a:prstGeom prst="rect">
            <a:avLst/>
          </a:prstGeom>
          <a:noFill/>
          <a:ln/>
        </p:spPr>
        <p:txBody>
          <a:bodyPr wrap="square" lIns="0" tIns="0" rIns="0" bIns="0" rtlCol="0" anchor="b"/>
          <a:lstStyle/>
          <a:p>
            <a:pPr algn="ctr" indent="0" marL="0">
              <a:buNone/>
            </a:pPr>
            <a:r>
              <a:rPr lang="en-US" sz="1000" b="1" dirty="0">
                <a:solidFill>
                  <a:srgbClr val="6E4A9E"/>
                </a:solidFill>
              </a:rPr>
              <a:t>liaison</a:t>
            </a:r>
            <a:endParaRPr lang="en-US" sz="1000" dirty="0"/>
          </a:p>
        </p:txBody>
      </p:sp>
      <p:sp>
        <p:nvSpPr>
          <p:cNvPr id="49" name="Shape 46"/>
          <p:cNvSpPr/>
          <p:nvPr/>
        </p:nvSpPr>
        <p:spPr>
          <a:xfrm>
            <a:off x="2103120" y="3552139"/>
            <a:ext cx="963168" cy="329184"/>
          </a:xfrm>
          <a:prstGeom prst="roundRect">
            <a:avLst>
              <a:gd name="adj" fmla="val 16667"/>
            </a:avLst>
          </a:prstGeom>
          <a:solidFill>
            <a:srgbClr val="6E4A9E">
              <a:alpha val="88000"/>
            </a:srgbClr>
          </a:solidFill>
          <a:ln w="12700">
            <a:solidFill>
              <a:srgbClr val="6E4A9E"/>
            </a:solidFill>
            <a:prstDash val="solid"/>
          </a:ln>
        </p:spPr>
      </p:sp>
      <p:sp>
        <p:nvSpPr>
          <p:cNvPr id="50" name="Text 47"/>
          <p:cNvSpPr txBox="1"/>
          <p:nvPr/>
        </p:nvSpPr>
        <p:spPr>
          <a:xfrm>
            <a:off x="2139696" y="3552139"/>
            <a:ext cx="890016" cy="329184"/>
          </a:xfrm>
          <a:prstGeom prst="rect">
            <a:avLst/>
          </a:prstGeom>
          <a:noFill/>
          <a:ln/>
        </p:spPr>
        <p:txBody>
          <a:bodyPr wrap="square" lIns="0" tIns="0" rIns="0" bIns="0" rtlCol="0" anchor="ctr"/>
          <a:lstStyle/>
          <a:p>
            <a:pPr algn="ctr" indent="0" marL="0">
              <a:buNone/>
            </a:pPr>
            <a:r>
              <a:rPr lang="en-US" sz="1600" b="1" dirty="0">
                <a:solidFill>
                  <a:schemeClr val="bg1"/>
                </a:solidFill>
              </a:rPr>
              <a:t>Hoewel</a:t>
            </a:r>
            <a:endParaRPr lang="en-US" sz="1600" dirty="0"/>
          </a:p>
        </p:txBody>
      </p:sp>
      <p:sp>
        <p:nvSpPr>
          <p:cNvPr id="51" name="Text 48"/>
          <p:cNvSpPr txBox="1"/>
          <p:nvPr/>
        </p:nvSpPr>
        <p:spPr>
          <a:xfrm>
            <a:off x="3176016" y="3314395"/>
            <a:ext cx="1385824"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52" name="Shape 49"/>
          <p:cNvSpPr/>
          <p:nvPr/>
        </p:nvSpPr>
        <p:spPr>
          <a:xfrm>
            <a:off x="3176016" y="3552139"/>
            <a:ext cx="1385824" cy="329184"/>
          </a:xfrm>
          <a:prstGeom prst="roundRect">
            <a:avLst>
              <a:gd name="adj" fmla="val 16667"/>
            </a:avLst>
          </a:prstGeom>
          <a:solidFill>
            <a:schemeClr val="tx2">
              <a:alpha val="88000"/>
            </a:schemeClr>
          </a:solidFill>
          <a:ln w="12700">
            <a:solidFill>
              <a:srgbClr val="17375E"/>
            </a:solidFill>
            <a:prstDash val="solid"/>
          </a:ln>
        </p:spPr>
      </p:sp>
      <p:sp>
        <p:nvSpPr>
          <p:cNvPr id="53" name="Text 50"/>
          <p:cNvSpPr txBox="1"/>
          <p:nvPr/>
        </p:nvSpPr>
        <p:spPr>
          <a:xfrm>
            <a:off x="3212592" y="3552139"/>
            <a:ext cx="1312672" cy="329184"/>
          </a:xfrm>
          <a:prstGeom prst="rect">
            <a:avLst/>
          </a:prstGeom>
          <a:noFill/>
          <a:ln/>
        </p:spPr>
        <p:txBody>
          <a:bodyPr wrap="square" lIns="0" tIns="0" rIns="0" bIns="0" rtlCol="0" anchor="ctr"/>
          <a:lstStyle/>
          <a:p>
            <a:pPr algn="ctr" indent="0" marL="0">
              <a:buNone/>
            </a:pPr>
            <a:r>
              <a:rPr lang="en-US" sz="1600" b="1" dirty="0">
                <a:solidFill>
                  <a:schemeClr val="bg1"/>
                </a:solidFill>
              </a:rPr>
              <a:t>ik uw punt</a:t>
            </a:r>
            <a:endParaRPr lang="en-US" sz="1600" dirty="0"/>
          </a:p>
        </p:txBody>
      </p:sp>
      <p:sp>
        <p:nvSpPr>
          <p:cNvPr id="54" name="Text 51"/>
          <p:cNvSpPr txBox="1"/>
          <p:nvPr/>
        </p:nvSpPr>
        <p:spPr>
          <a:xfrm>
            <a:off x="4671568" y="3314395"/>
            <a:ext cx="1068832" cy="219456"/>
          </a:xfrm>
          <a:prstGeom prst="rect">
            <a:avLst/>
          </a:prstGeom>
          <a:noFill/>
          <a:ln/>
        </p:spPr>
        <p:txBody>
          <a:bodyPr wrap="square" lIns="0" tIns="0" rIns="0" bIns="0" rtlCol="0" anchor="b"/>
          <a:lstStyle/>
          <a:p>
            <a:pPr algn="ctr" indent="0" marL="0">
              <a:buNone/>
            </a:pPr>
            <a:r>
              <a:rPr lang="en-US" sz="1000" b="1" dirty="0">
                <a:solidFill>
                  <a:schemeClr val="accent6"/>
                </a:solidFill>
              </a:rPr>
              <a:t>à la fin</a:t>
            </a:r>
            <a:endParaRPr lang="en-US" sz="1000" dirty="0"/>
          </a:p>
        </p:txBody>
      </p:sp>
      <p:sp>
        <p:nvSpPr>
          <p:cNvPr id="55" name="Shape 52"/>
          <p:cNvSpPr/>
          <p:nvPr/>
        </p:nvSpPr>
        <p:spPr>
          <a:xfrm>
            <a:off x="4671568" y="3552139"/>
            <a:ext cx="1068832" cy="329184"/>
          </a:xfrm>
          <a:prstGeom prst="roundRect">
            <a:avLst>
              <a:gd name="adj" fmla="val 16667"/>
            </a:avLst>
          </a:prstGeom>
          <a:solidFill>
            <a:schemeClr val="accent6">
              <a:alpha val="88000"/>
            </a:schemeClr>
          </a:solidFill>
          <a:ln w="12700">
            <a:solidFill>
              <a:srgbClr val="B83227"/>
            </a:solidFill>
            <a:prstDash val="solid"/>
          </a:ln>
        </p:spPr>
      </p:sp>
      <p:sp>
        <p:nvSpPr>
          <p:cNvPr id="56" name="Text 53"/>
          <p:cNvSpPr txBox="1"/>
          <p:nvPr/>
        </p:nvSpPr>
        <p:spPr>
          <a:xfrm>
            <a:off x="4708144" y="3552139"/>
            <a:ext cx="995680" cy="329184"/>
          </a:xfrm>
          <a:prstGeom prst="rect">
            <a:avLst/>
          </a:prstGeom>
          <a:noFill/>
          <a:ln/>
        </p:spPr>
        <p:txBody>
          <a:bodyPr wrap="square" lIns="0" tIns="0" rIns="0" bIns="0" rtlCol="0" anchor="ctr"/>
          <a:lstStyle/>
          <a:p>
            <a:pPr algn="ctr" indent="0" marL="0">
              <a:buNone/>
            </a:pPr>
            <a:r>
              <a:rPr lang="en-US" sz="1600" b="1" dirty="0">
                <a:solidFill>
                  <a:schemeClr val="bg1"/>
                </a:solidFill>
              </a:rPr>
              <a:t>begrijp</a:t>
            </a:r>
            <a:endParaRPr lang="en-US" sz="1600" dirty="0"/>
          </a:p>
        </p:txBody>
      </p:sp>
      <p:sp>
        <p:nvSpPr>
          <p:cNvPr id="57" name="Text 54"/>
          <p:cNvSpPr txBox="1"/>
          <p:nvPr/>
        </p:nvSpPr>
        <p:spPr>
          <a:xfrm>
            <a:off x="5850128" y="3314395"/>
            <a:ext cx="857504" cy="219456"/>
          </a:xfrm>
          <a:prstGeom prst="rect">
            <a:avLst/>
          </a:prstGeom>
          <a:noFill/>
          <a:ln/>
        </p:spPr>
        <p:txBody>
          <a:bodyPr wrap="square" lIns="0" tIns="0" rIns="0" bIns="0" rtlCol="0" anchor="b"/>
          <a:lstStyle/>
          <a:p>
            <a:pPr algn="ctr" indent="0" marL="0">
              <a:buNone/>
            </a:pPr>
            <a:r>
              <a:rPr lang="en-US" sz="1000" b="1" dirty="0">
                <a:solidFill>
                  <a:schemeClr val="accent6"/>
                </a:solidFill>
              </a:rPr>
              <a:t>2e place</a:t>
            </a:r>
            <a:endParaRPr lang="en-US" sz="1000" dirty="0"/>
          </a:p>
        </p:txBody>
      </p:sp>
      <p:sp>
        <p:nvSpPr>
          <p:cNvPr id="58" name="Shape 55"/>
          <p:cNvSpPr/>
          <p:nvPr/>
        </p:nvSpPr>
        <p:spPr>
          <a:xfrm>
            <a:off x="5850128" y="3552139"/>
            <a:ext cx="857504" cy="329184"/>
          </a:xfrm>
          <a:prstGeom prst="roundRect">
            <a:avLst>
              <a:gd name="adj" fmla="val 16667"/>
            </a:avLst>
          </a:prstGeom>
          <a:solidFill>
            <a:schemeClr val="accent6">
              <a:alpha val="88000"/>
            </a:schemeClr>
          </a:solidFill>
          <a:ln w="12700">
            <a:solidFill>
              <a:srgbClr val="B83227"/>
            </a:solidFill>
            <a:prstDash val="solid"/>
          </a:ln>
        </p:spPr>
      </p:sp>
      <p:sp>
        <p:nvSpPr>
          <p:cNvPr id="59" name="Text 56"/>
          <p:cNvSpPr txBox="1"/>
          <p:nvPr/>
        </p:nvSpPr>
        <p:spPr>
          <a:xfrm>
            <a:off x="5886704" y="3552139"/>
            <a:ext cx="784352" cy="329184"/>
          </a:xfrm>
          <a:prstGeom prst="rect">
            <a:avLst/>
          </a:prstGeom>
          <a:noFill/>
          <a:ln/>
        </p:spPr>
        <p:txBody>
          <a:bodyPr wrap="square" lIns="0" tIns="0" rIns="0" bIns="0" rtlCol="0" anchor="ctr"/>
          <a:lstStyle/>
          <a:p>
            <a:pPr algn="ctr" indent="0" marL="0">
              <a:buNone/>
            </a:pPr>
            <a:r>
              <a:rPr lang="en-US" sz="1600" b="1" dirty="0">
                <a:solidFill>
                  <a:schemeClr val="bg1"/>
                </a:solidFill>
              </a:rPr>
              <a:t>blijf</a:t>
            </a:r>
            <a:endParaRPr lang="en-US" sz="1600" dirty="0"/>
          </a:p>
        </p:txBody>
      </p:sp>
      <p:sp>
        <p:nvSpPr>
          <p:cNvPr id="60" name="Text 57"/>
          <p:cNvSpPr txBox="1"/>
          <p:nvPr/>
        </p:nvSpPr>
        <p:spPr>
          <a:xfrm>
            <a:off x="6817360" y="3314395"/>
            <a:ext cx="685800"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61" name="Shape 58"/>
          <p:cNvSpPr/>
          <p:nvPr/>
        </p:nvSpPr>
        <p:spPr>
          <a:xfrm>
            <a:off x="6817360" y="3552139"/>
            <a:ext cx="685800" cy="329184"/>
          </a:xfrm>
          <a:prstGeom prst="roundRect">
            <a:avLst>
              <a:gd name="adj" fmla="val 16667"/>
            </a:avLst>
          </a:prstGeom>
          <a:solidFill>
            <a:schemeClr val="tx2">
              <a:alpha val="88000"/>
            </a:schemeClr>
          </a:solidFill>
          <a:ln w="12700">
            <a:solidFill>
              <a:srgbClr val="17375E"/>
            </a:solidFill>
            <a:prstDash val="solid"/>
          </a:ln>
        </p:spPr>
      </p:sp>
      <p:sp>
        <p:nvSpPr>
          <p:cNvPr id="62" name="Text 59"/>
          <p:cNvSpPr txBox="1"/>
          <p:nvPr/>
        </p:nvSpPr>
        <p:spPr>
          <a:xfrm>
            <a:off x="6853936" y="3552139"/>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ik</a:t>
            </a:r>
            <a:endParaRPr lang="en-US" sz="1600" dirty="0"/>
          </a:p>
        </p:txBody>
      </p:sp>
      <p:sp>
        <p:nvSpPr>
          <p:cNvPr id="63" name="Text 60"/>
          <p:cNvSpPr txBox="1"/>
          <p:nvPr/>
        </p:nvSpPr>
        <p:spPr>
          <a:xfrm>
            <a:off x="7612888" y="3314395"/>
            <a:ext cx="2231136" cy="219456"/>
          </a:xfrm>
          <a:prstGeom prst="rect">
            <a:avLst/>
          </a:prstGeom>
          <a:noFill/>
          <a:ln/>
        </p:spPr>
        <p:txBody>
          <a:bodyPr wrap="square" lIns="0" tIns="0" rIns="0" bIns="0" rtlCol="0" anchor="b"/>
          <a:lstStyle/>
          <a:p>
            <a:pPr algn="ctr" indent="0" marL="0">
              <a:buNone/>
            </a:pPr>
            <a:r>
              <a:rPr lang="en-US" sz="1000" b="1" dirty="0">
                <a:solidFill>
                  <a:schemeClr val="accent5"/>
                </a:solidFill>
              </a:rPr>
              <a:t>objet</a:t>
            </a:r>
            <a:endParaRPr lang="en-US" sz="1000" dirty="0"/>
          </a:p>
        </p:txBody>
      </p:sp>
      <p:sp>
        <p:nvSpPr>
          <p:cNvPr id="64" name="Shape 61"/>
          <p:cNvSpPr/>
          <p:nvPr/>
        </p:nvSpPr>
        <p:spPr>
          <a:xfrm>
            <a:off x="7612888" y="3552139"/>
            <a:ext cx="2231136" cy="329184"/>
          </a:xfrm>
          <a:prstGeom prst="roundRect">
            <a:avLst>
              <a:gd name="adj" fmla="val 16667"/>
            </a:avLst>
          </a:prstGeom>
          <a:solidFill>
            <a:schemeClr val="accent5">
              <a:alpha val="25000"/>
            </a:schemeClr>
          </a:solidFill>
          <a:ln w="12700">
            <a:solidFill>
              <a:srgbClr val="4A5A70"/>
            </a:solidFill>
            <a:prstDash val="solid"/>
          </a:ln>
        </p:spPr>
      </p:sp>
      <p:sp>
        <p:nvSpPr>
          <p:cNvPr id="65" name="Text 62"/>
          <p:cNvSpPr txBox="1"/>
          <p:nvPr/>
        </p:nvSpPr>
        <p:spPr>
          <a:xfrm>
            <a:off x="7649464" y="3552139"/>
            <a:ext cx="2157984" cy="329184"/>
          </a:xfrm>
          <a:prstGeom prst="rect">
            <a:avLst/>
          </a:prstGeom>
          <a:noFill/>
          <a:ln/>
        </p:spPr>
        <p:txBody>
          <a:bodyPr wrap="square" lIns="0" tIns="0" rIns="0" bIns="0" rtlCol="0" anchor="ctr"/>
          <a:lstStyle/>
          <a:p>
            <a:pPr algn="ctr" indent="0" marL="0">
              <a:buNone/>
            </a:pPr>
            <a:r>
              <a:rPr lang="en-US" sz="1600" b="1" dirty="0">
                <a:solidFill>
                  <a:schemeClr val="tx1"/>
                </a:solidFill>
              </a:rPr>
              <a:t>bij mijn standpunt</a:t>
            </a:r>
            <a:endParaRPr lang="en-US" sz="1600" dirty="0"/>
          </a:p>
        </p:txBody>
      </p:sp>
      <p:sp>
        <p:nvSpPr>
          <p:cNvPr id="66" name="Text 63"/>
          <p:cNvSpPr txBox="1"/>
          <p:nvPr/>
        </p:nvSpPr>
        <p:spPr>
          <a:xfrm>
            <a:off x="2103120" y="3908755"/>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Bien que je comprenne votre point, je maintiens mon point de vue.</a:t>
            </a:r>
            <a:endParaRPr lang="en-US" sz="1400" dirty="0"/>
          </a:p>
        </p:txBody>
      </p:sp>
      <p:sp>
        <p:nvSpPr>
          <p:cNvPr id="67" name="Text 64"/>
          <p:cNvSpPr txBox="1"/>
          <p:nvPr/>
        </p:nvSpPr>
        <p:spPr>
          <a:xfrm>
            <a:off x="548640" y="4235501"/>
            <a:ext cx="1463040" cy="329184"/>
          </a:xfrm>
          <a:prstGeom prst="rect">
            <a:avLst/>
          </a:prstGeom>
          <a:noFill/>
          <a:ln/>
        </p:spPr>
        <p:txBody>
          <a:bodyPr wrap="square" lIns="0" tIns="0" rIns="0" bIns="0" rtlCol="0" anchor="ctr"/>
          <a:lstStyle/>
          <a:p>
            <a:pPr indent="0" marL="0">
              <a:buNone/>
            </a:pPr>
            <a:r>
              <a:rPr lang="en-US" sz="1400" b="1" dirty="0">
                <a:solidFill>
                  <a:schemeClr val="accent5"/>
                </a:solidFill>
              </a:rPr>
              <a:t>Toch</a:t>
            </a:r>
            <a:endParaRPr lang="en-US" sz="1400" dirty="0"/>
          </a:p>
        </p:txBody>
      </p:sp>
      <p:sp>
        <p:nvSpPr>
          <p:cNvPr id="68" name="Text 65"/>
          <p:cNvSpPr txBox="1"/>
          <p:nvPr/>
        </p:nvSpPr>
        <p:spPr>
          <a:xfrm>
            <a:off x="2103120" y="3997757"/>
            <a:ext cx="751840" cy="219456"/>
          </a:xfrm>
          <a:prstGeom prst="rect">
            <a:avLst/>
          </a:prstGeom>
          <a:noFill/>
          <a:ln/>
        </p:spPr>
        <p:txBody>
          <a:bodyPr wrap="square" lIns="0" tIns="0" rIns="0" bIns="0" rtlCol="0" anchor="b"/>
          <a:lstStyle/>
          <a:p>
            <a:pPr algn="ctr" indent="0" marL="0">
              <a:buNone/>
            </a:pPr>
            <a:r>
              <a:rPr lang="en-US" sz="1000" b="1" dirty="0">
                <a:solidFill>
                  <a:srgbClr val="6E4A9E"/>
                </a:solidFill>
              </a:rPr>
              <a:t>liaison</a:t>
            </a:r>
            <a:endParaRPr lang="en-US" sz="1000" dirty="0"/>
          </a:p>
        </p:txBody>
      </p:sp>
      <p:sp>
        <p:nvSpPr>
          <p:cNvPr id="69" name="Shape 66"/>
          <p:cNvSpPr/>
          <p:nvPr/>
        </p:nvSpPr>
        <p:spPr>
          <a:xfrm>
            <a:off x="2103120" y="4235501"/>
            <a:ext cx="751840" cy="329184"/>
          </a:xfrm>
          <a:prstGeom prst="roundRect">
            <a:avLst>
              <a:gd name="adj" fmla="val 16667"/>
            </a:avLst>
          </a:prstGeom>
          <a:solidFill>
            <a:srgbClr val="6E4A9E">
              <a:alpha val="88000"/>
            </a:srgbClr>
          </a:solidFill>
          <a:ln w="12700">
            <a:solidFill>
              <a:srgbClr val="6E4A9E"/>
            </a:solidFill>
            <a:prstDash val="solid"/>
          </a:ln>
        </p:spPr>
      </p:sp>
      <p:sp>
        <p:nvSpPr>
          <p:cNvPr id="70" name="Text 67"/>
          <p:cNvSpPr txBox="1"/>
          <p:nvPr/>
        </p:nvSpPr>
        <p:spPr>
          <a:xfrm>
            <a:off x="2139696" y="4235501"/>
            <a:ext cx="678688" cy="329184"/>
          </a:xfrm>
          <a:prstGeom prst="rect">
            <a:avLst/>
          </a:prstGeom>
          <a:noFill/>
          <a:ln/>
        </p:spPr>
        <p:txBody>
          <a:bodyPr wrap="square" lIns="0" tIns="0" rIns="0" bIns="0" rtlCol="0" anchor="ctr"/>
          <a:lstStyle/>
          <a:p>
            <a:pPr algn="ctr" indent="0" marL="0">
              <a:buNone/>
            </a:pPr>
            <a:r>
              <a:rPr lang="en-US" sz="1600" b="1" dirty="0">
                <a:solidFill>
                  <a:schemeClr val="bg1"/>
                </a:solidFill>
              </a:rPr>
              <a:t>Toch</a:t>
            </a:r>
            <a:endParaRPr lang="en-US" sz="1600" dirty="0"/>
          </a:p>
        </p:txBody>
      </p:sp>
      <p:sp>
        <p:nvSpPr>
          <p:cNvPr id="71" name="Text 68"/>
          <p:cNvSpPr txBox="1"/>
          <p:nvPr/>
        </p:nvSpPr>
        <p:spPr>
          <a:xfrm>
            <a:off x="2964688" y="3997757"/>
            <a:ext cx="751840"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72" name="Shape 69"/>
          <p:cNvSpPr/>
          <p:nvPr/>
        </p:nvSpPr>
        <p:spPr>
          <a:xfrm>
            <a:off x="2964688" y="4235501"/>
            <a:ext cx="751840" cy="329184"/>
          </a:xfrm>
          <a:prstGeom prst="roundRect">
            <a:avLst>
              <a:gd name="adj" fmla="val 16667"/>
            </a:avLst>
          </a:prstGeom>
          <a:solidFill>
            <a:schemeClr val="accent6">
              <a:alpha val="88000"/>
            </a:schemeClr>
          </a:solidFill>
          <a:ln w="12700">
            <a:solidFill>
              <a:srgbClr val="B83227"/>
            </a:solidFill>
            <a:prstDash val="solid"/>
          </a:ln>
        </p:spPr>
      </p:sp>
      <p:sp>
        <p:nvSpPr>
          <p:cNvPr id="73" name="Text 70"/>
          <p:cNvSpPr txBox="1"/>
          <p:nvPr/>
        </p:nvSpPr>
        <p:spPr>
          <a:xfrm>
            <a:off x="3001264" y="4235501"/>
            <a:ext cx="678688" cy="329184"/>
          </a:xfrm>
          <a:prstGeom prst="rect">
            <a:avLst/>
          </a:prstGeom>
          <a:noFill/>
          <a:ln/>
        </p:spPr>
        <p:txBody>
          <a:bodyPr wrap="square" lIns="0" tIns="0" rIns="0" bIns="0" rtlCol="0" anchor="ctr"/>
          <a:lstStyle/>
          <a:p>
            <a:pPr algn="ctr" indent="0" marL="0">
              <a:buNone/>
            </a:pPr>
            <a:r>
              <a:rPr lang="en-US" sz="1600" b="1" dirty="0">
                <a:solidFill>
                  <a:schemeClr val="bg1"/>
                </a:solidFill>
              </a:rPr>
              <a:t>stel</a:t>
            </a:r>
            <a:endParaRPr lang="en-US" sz="1600" dirty="0"/>
          </a:p>
        </p:txBody>
      </p:sp>
      <p:sp>
        <p:nvSpPr>
          <p:cNvPr id="74" name="Text 71"/>
          <p:cNvSpPr txBox="1"/>
          <p:nvPr/>
        </p:nvSpPr>
        <p:spPr>
          <a:xfrm>
            <a:off x="3826256" y="3997757"/>
            <a:ext cx="685800"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75" name="Shape 72"/>
          <p:cNvSpPr/>
          <p:nvPr/>
        </p:nvSpPr>
        <p:spPr>
          <a:xfrm>
            <a:off x="3826256" y="4235501"/>
            <a:ext cx="685800" cy="329184"/>
          </a:xfrm>
          <a:prstGeom prst="roundRect">
            <a:avLst>
              <a:gd name="adj" fmla="val 16667"/>
            </a:avLst>
          </a:prstGeom>
          <a:solidFill>
            <a:schemeClr val="tx2">
              <a:alpha val="88000"/>
            </a:schemeClr>
          </a:solidFill>
          <a:ln w="12700">
            <a:solidFill>
              <a:srgbClr val="17375E"/>
            </a:solidFill>
            <a:prstDash val="solid"/>
          </a:ln>
        </p:spPr>
      </p:sp>
      <p:sp>
        <p:nvSpPr>
          <p:cNvPr id="76" name="Text 73"/>
          <p:cNvSpPr txBox="1"/>
          <p:nvPr/>
        </p:nvSpPr>
        <p:spPr>
          <a:xfrm>
            <a:off x="3862832" y="4235501"/>
            <a:ext cx="612648" cy="329184"/>
          </a:xfrm>
          <a:prstGeom prst="rect">
            <a:avLst/>
          </a:prstGeom>
          <a:noFill/>
          <a:ln/>
        </p:spPr>
        <p:txBody>
          <a:bodyPr wrap="square" lIns="0" tIns="0" rIns="0" bIns="0" rtlCol="0" anchor="ctr"/>
          <a:lstStyle/>
          <a:p>
            <a:pPr algn="ctr" indent="0" marL="0">
              <a:buNone/>
            </a:pPr>
            <a:r>
              <a:rPr lang="en-US" sz="1600" b="1" dirty="0">
                <a:solidFill>
                  <a:schemeClr val="bg1"/>
                </a:solidFill>
              </a:rPr>
              <a:t>ik</a:t>
            </a:r>
            <a:endParaRPr lang="en-US" sz="1600" dirty="0"/>
          </a:p>
        </p:txBody>
      </p:sp>
      <p:sp>
        <p:nvSpPr>
          <p:cNvPr id="77" name="Text 74"/>
          <p:cNvSpPr txBox="1"/>
          <p:nvPr/>
        </p:nvSpPr>
        <p:spPr>
          <a:xfrm>
            <a:off x="4621784" y="3997757"/>
            <a:ext cx="751840" cy="219456"/>
          </a:xfrm>
          <a:prstGeom prst="rect">
            <a:avLst/>
          </a:prstGeom>
          <a:noFill/>
          <a:ln/>
        </p:spPr>
        <p:txBody>
          <a:bodyPr wrap="square" lIns="0" tIns="0" rIns="0" bIns="0" rtlCol="0" anchor="b"/>
          <a:lstStyle/>
          <a:p>
            <a:pPr algn="ctr" indent="0" marL="0">
              <a:buNone/>
            </a:pPr>
            <a:r>
              <a:rPr lang="en-US" sz="1000" b="1" dirty="0">
                <a:solidFill>
                  <a:schemeClr val="accent1"/>
                </a:solidFill>
              </a:rPr>
              <a:t>fin</a:t>
            </a:r>
            <a:endParaRPr lang="en-US" sz="1000" dirty="0"/>
          </a:p>
        </p:txBody>
      </p:sp>
      <p:sp>
        <p:nvSpPr>
          <p:cNvPr id="78" name="Shape 75"/>
          <p:cNvSpPr/>
          <p:nvPr/>
        </p:nvSpPr>
        <p:spPr>
          <a:xfrm>
            <a:off x="4621784" y="4235501"/>
            <a:ext cx="751840" cy="329184"/>
          </a:xfrm>
          <a:prstGeom prst="roundRect">
            <a:avLst>
              <a:gd name="adj" fmla="val 16667"/>
            </a:avLst>
          </a:prstGeom>
          <a:solidFill>
            <a:schemeClr val="accent1">
              <a:alpha val="88000"/>
            </a:schemeClr>
          </a:solidFill>
          <a:ln w="12700">
            <a:solidFill>
              <a:srgbClr val="D9700F"/>
            </a:solidFill>
            <a:prstDash val="solid"/>
          </a:ln>
        </p:spPr>
      </p:sp>
      <p:sp>
        <p:nvSpPr>
          <p:cNvPr id="79" name="Text 76"/>
          <p:cNvSpPr txBox="1"/>
          <p:nvPr/>
        </p:nvSpPr>
        <p:spPr>
          <a:xfrm>
            <a:off x="4658360" y="4235501"/>
            <a:ext cx="678688" cy="329184"/>
          </a:xfrm>
          <a:prstGeom prst="rect">
            <a:avLst/>
          </a:prstGeom>
          <a:noFill/>
          <a:ln/>
        </p:spPr>
        <p:txBody>
          <a:bodyPr wrap="square" lIns="0" tIns="0" rIns="0" bIns="0" rtlCol="0" anchor="ctr"/>
          <a:lstStyle/>
          <a:p>
            <a:pPr algn="ctr" indent="0" marL="0">
              <a:buNone/>
            </a:pPr>
            <a:r>
              <a:rPr lang="en-US" sz="1600" b="1" dirty="0">
                <a:solidFill>
                  <a:schemeClr val="bg1"/>
                </a:solidFill>
              </a:rPr>
              <a:t>voor</a:t>
            </a:r>
            <a:endParaRPr lang="en-US" sz="1600" dirty="0"/>
          </a:p>
        </p:txBody>
      </p:sp>
      <p:sp>
        <p:nvSpPr>
          <p:cNvPr id="80" name="Text 77"/>
          <p:cNvSpPr txBox="1"/>
          <p:nvPr/>
        </p:nvSpPr>
        <p:spPr>
          <a:xfrm>
            <a:off x="5483352" y="3997757"/>
            <a:ext cx="1702816" cy="219456"/>
          </a:xfrm>
          <a:prstGeom prst="rect">
            <a:avLst/>
          </a:prstGeom>
          <a:noFill/>
          <a:ln/>
        </p:spPr>
        <p:txBody>
          <a:bodyPr wrap="square" lIns="0" tIns="0" rIns="0" bIns="0" rtlCol="0" anchor="b"/>
          <a:lstStyle/>
          <a:p>
            <a:pPr algn="ctr" indent="0" marL="0">
              <a:buNone/>
            </a:pPr>
            <a:r>
              <a:rPr lang="en-US" sz="1000" b="1" dirty="0">
                <a:solidFill>
                  <a:schemeClr val="accent5"/>
                </a:solidFill>
              </a:rPr>
              <a:t>objet</a:t>
            </a:r>
            <a:endParaRPr lang="en-US" sz="1000" dirty="0"/>
          </a:p>
        </p:txBody>
      </p:sp>
      <p:sp>
        <p:nvSpPr>
          <p:cNvPr id="81" name="Shape 78"/>
          <p:cNvSpPr/>
          <p:nvPr/>
        </p:nvSpPr>
        <p:spPr>
          <a:xfrm>
            <a:off x="5483352" y="4235501"/>
            <a:ext cx="1702816" cy="329184"/>
          </a:xfrm>
          <a:prstGeom prst="roundRect">
            <a:avLst>
              <a:gd name="adj" fmla="val 16667"/>
            </a:avLst>
          </a:prstGeom>
          <a:solidFill>
            <a:schemeClr val="accent5">
              <a:alpha val="25000"/>
            </a:schemeClr>
          </a:solidFill>
          <a:ln w="12700">
            <a:solidFill>
              <a:srgbClr val="4A5A70"/>
            </a:solidFill>
            <a:prstDash val="solid"/>
          </a:ln>
        </p:spPr>
      </p:sp>
      <p:sp>
        <p:nvSpPr>
          <p:cNvPr id="82" name="Text 79"/>
          <p:cNvSpPr txBox="1"/>
          <p:nvPr/>
        </p:nvSpPr>
        <p:spPr>
          <a:xfrm>
            <a:off x="5519928" y="4235501"/>
            <a:ext cx="1629664" cy="329184"/>
          </a:xfrm>
          <a:prstGeom prst="rect">
            <a:avLst/>
          </a:prstGeom>
          <a:noFill/>
          <a:ln/>
        </p:spPr>
        <p:txBody>
          <a:bodyPr wrap="square" lIns="0" tIns="0" rIns="0" bIns="0" rtlCol="0" anchor="ctr"/>
          <a:lstStyle/>
          <a:p>
            <a:pPr algn="ctr" indent="0" marL="0">
              <a:buNone/>
            </a:pPr>
            <a:r>
              <a:rPr lang="en-US" sz="1600" b="1" dirty="0">
                <a:solidFill>
                  <a:schemeClr val="tx1"/>
                </a:solidFill>
              </a:rPr>
              <a:t>om te wachten</a:t>
            </a:r>
            <a:endParaRPr lang="en-US" sz="1600" dirty="0"/>
          </a:p>
        </p:txBody>
      </p:sp>
      <p:sp>
        <p:nvSpPr>
          <p:cNvPr id="83" name="Text 80"/>
          <p:cNvSpPr txBox="1"/>
          <p:nvPr/>
        </p:nvSpPr>
        <p:spPr>
          <a:xfrm>
            <a:off x="2103120" y="4592117"/>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Pourtant, je propose d’attendre.</a:t>
            </a:r>
            <a:endParaRPr lang="en-US" sz="1400" dirty="0"/>
          </a:p>
        </p:txBody>
      </p:sp>
      <p:sp>
        <p:nvSpPr>
          <p:cNvPr id="84" name="Text 81"/>
          <p:cNvSpPr txBox="1"/>
          <p:nvPr/>
        </p:nvSpPr>
        <p:spPr>
          <a:xfrm>
            <a:off x="548640" y="4918862"/>
            <a:ext cx="1463040" cy="329184"/>
          </a:xfrm>
          <a:prstGeom prst="rect">
            <a:avLst/>
          </a:prstGeom>
          <a:noFill/>
          <a:ln/>
        </p:spPr>
        <p:txBody>
          <a:bodyPr wrap="square" lIns="0" tIns="0" rIns="0" bIns="0" rtlCol="0" anchor="ctr"/>
          <a:lstStyle/>
          <a:p>
            <a:pPr indent="0" marL="0">
              <a:buNone/>
            </a:pPr>
            <a:r>
              <a:rPr lang="en-US" sz="1400" b="1" dirty="0">
                <a:solidFill>
                  <a:schemeClr val="accent5"/>
                </a:solidFill>
              </a:rPr>
              <a:t>Dat klopt, maar</a:t>
            </a:r>
            <a:endParaRPr lang="en-US" sz="1400" dirty="0"/>
          </a:p>
        </p:txBody>
      </p:sp>
      <p:sp>
        <p:nvSpPr>
          <p:cNvPr id="85" name="Text 82"/>
          <p:cNvSpPr txBox="1"/>
          <p:nvPr/>
        </p:nvSpPr>
        <p:spPr>
          <a:xfrm>
            <a:off x="2103120" y="4681118"/>
            <a:ext cx="1385824" cy="219456"/>
          </a:xfrm>
          <a:prstGeom prst="rect">
            <a:avLst/>
          </a:prstGeom>
          <a:noFill/>
          <a:ln/>
        </p:spPr>
        <p:txBody>
          <a:bodyPr wrap="square" lIns="0" tIns="0" rIns="0" bIns="0" rtlCol="0" anchor="b"/>
          <a:lstStyle/>
          <a:p>
            <a:pPr algn="ctr" indent="0" marL="0">
              <a:buNone/>
            </a:pPr>
            <a:r>
              <a:rPr lang="en-US" sz="1000" b="1" dirty="0">
                <a:solidFill>
                  <a:schemeClr val="accent5"/>
                </a:solidFill>
              </a:rPr>
              <a:t>objet</a:t>
            </a:r>
            <a:endParaRPr lang="en-US" sz="1000" dirty="0"/>
          </a:p>
        </p:txBody>
      </p:sp>
      <p:sp>
        <p:nvSpPr>
          <p:cNvPr id="86" name="Shape 83"/>
          <p:cNvSpPr/>
          <p:nvPr/>
        </p:nvSpPr>
        <p:spPr>
          <a:xfrm>
            <a:off x="2103120" y="4918862"/>
            <a:ext cx="1385824" cy="329184"/>
          </a:xfrm>
          <a:prstGeom prst="roundRect">
            <a:avLst>
              <a:gd name="adj" fmla="val 16667"/>
            </a:avLst>
          </a:prstGeom>
          <a:solidFill>
            <a:schemeClr val="accent5">
              <a:alpha val="25000"/>
            </a:schemeClr>
          </a:solidFill>
          <a:ln w="12700">
            <a:solidFill>
              <a:srgbClr val="4A5A70"/>
            </a:solidFill>
            <a:prstDash val="solid"/>
          </a:ln>
        </p:spPr>
      </p:sp>
      <p:sp>
        <p:nvSpPr>
          <p:cNvPr id="87" name="Text 84"/>
          <p:cNvSpPr txBox="1"/>
          <p:nvPr/>
        </p:nvSpPr>
        <p:spPr>
          <a:xfrm>
            <a:off x="2139696" y="4918862"/>
            <a:ext cx="1312672" cy="329184"/>
          </a:xfrm>
          <a:prstGeom prst="rect">
            <a:avLst/>
          </a:prstGeom>
          <a:noFill/>
          <a:ln/>
        </p:spPr>
        <p:txBody>
          <a:bodyPr wrap="square" lIns="0" tIns="0" rIns="0" bIns="0" rtlCol="0" anchor="ctr"/>
          <a:lstStyle/>
          <a:p>
            <a:pPr algn="ctr" indent="0" marL="0">
              <a:buNone/>
            </a:pPr>
            <a:r>
              <a:rPr lang="en-US" sz="1600" b="1" dirty="0">
                <a:solidFill>
                  <a:schemeClr val="tx1"/>
                </a:solidFill>
              </a:rPr>
              <a:t>Dat klopt,</a:t>
            </a:r>
            <a:endParaRPr lang="en-US" sz="1600" dirty="0"/>
          </a:p>
        </p:txBody>
      </p:sp>
      <p:sp>
        <p:nvSpPr>
          <p:cNvPr id="88" name="Text 85"/>
          <p:cNvSpPr txBox="1"/>
          <p:nvPr/>
        </p:nvSpPr>
        <p:spPr>
          <a:xfrm>
            <a:off x="3598672" y="4681118"/>
            <a:ext cx="751840" cy="219456"/>
          </a:xfrm>
          <a:prstGeom prst="rect">
            <a:avLst/>
          </a:prstGeom>
          <a:noFill/>
          <a:ln/>
        </p:spPr>
        <p:txBody>
          <a:bodyPr wrap="square" lIns="0" tIns="0" rIns="0" bIns="0" rtlCol="0" anchor="b"/>
          <a:lstStyle/>
          <a:p>
            <a:pPr algn="ctr" indent="0" marL="0">
              <a:buNone/>
            </a:pPr>
            <a:r>
              <a:rPr lang="en-US" sz="1000" b="1" dirty="0">
                <a:solidFill>
                  <a:srgbClr val="6E4A9E"/>
                </a:solidFill>
              </a:rPr>
              <a:t>liaison</a:t>
            </a:r>
            <a:endParaRPr lang="en-US" sz="1000" dirty="0"/>
          </a:p>
        </p:txBody>
      </p:sp>
      <p:sp>
        <p:nvSpPr>
          <p:cNvPr id="89" name="Shape 86"/>
          <p:cNvSpPr/>
          <p:nvPr/>
        </p:nvSpPr>
        <p:spPr>
          <a:xfrm>
            <a:off x="3598672" y="4918862"/>
            <a:ext cx="751840" cy="329184"/>
          </a:xfrm>
          <a:prstGeom prst="roundRect">
            <a:avLst>
              <a:gd name="adj" fmla="val 16667"/>
            </a:avLst>
          </a:prstGeom>
          <a:solidFill>
            <a:srgbClr val="6E4A9E">
              <a:alpha val="88000"/>
            </a:srgbClr>
          </a:solidFill>
          <a:ln w="12700">
            <a:solidFill>
              <a:srgbClr val="6E4A9E"/>
            </a:solidFill>
            <a:prstDash val="solid"/>
          </a:ln>
        </p:spPr>
      </p:sp>
      <p:sp>
        <p:nvSpPr>
          <p:cNvPr id="90" name="Text 87"/>
          <p:cNvSpPr txBox="1"/>
          <p:nvPr/>
        </p:nvSpPr>
        <p:spPr>
          <a:xfrm>
            <a:off x="3635248" y="4918862"/>
            <a:ext cx="678688" cy="329184"/>
          </a:xfrm>
          <a:prstGeom prst="rect">
            <a:avLst/>
          </a:prstGeom>
          <a:noFill/>
          <a:ln/>
        </p:spPr>
        <p:txBody>
          <a:bodyPr wrap="square" lIns="0" tIns="0" rIns="0" bIns="0" rtlCol="0" anchor="ctr"/>
          <a:lstStyle/>
          <a:p>
            <a:pPr algn="ctr" indent="0" marL="0">
              <a:buNone/>
            </a:pPr>
            <a:r>
              <a:rPr lang="en-US" sz="1600" b="1" dirty="0">
                <a:solidFill>
                  <a:schemeClr val="bg1"/>
                </a:solidFill>
              </a:rPr>
              <a:t>maar</a:t>
            </a:r>
            <a:endParaRPr lang="en-US" sz="1600" dirty="0"/>
          </a:p>
        </p:txBody>
      </p:sp>
      <p:sp>
        <p:nvSpPr>
          <p:cNvPr id="91" name="Text 88"/>
          <p:cNvSpPr txBox="1"/>
          <p:nvPr/>
        </p:nvSpPr>
        <p:spPr>
          <a:xfrm>
            <a:off x="4460240" y="4681118"/>
            <a:ext cx="1280160"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92" name="Shape 89"/>
          <p:cNvSpPr/>
          <p:nvPr/>
        </p:nvSpPr>
        <p:spPr>
          <a:xfrm>
            <a:off x="4460240" y="4918862"/>
            <a:ext cx="1280160" cy="329184"/>
          </a:xfrm>
          <a:prstGeom prst="roundRect">
            <a:avLst>
              <a:gd name="adj" fmla="val 16667"/>
            </a:avLst>
          </a:prstGeom>
          <a:solidFill>
            <a:schemeClr val="tx2">
              <a:alpha val="88000"/>
            </a:schemeClr>
          </a:solidFill>
          <a:ln w="12700">
            <a:solidFill>
              <a:srgbClr val="17375E"/>
            </a:solidFill>
            <a:prstDash val="solid"/>
          </a:ln>
        </p:spPr>
      </p:sp>
      <p:sp>
        <p:nvSpPr>
          <p:cNvPr id="93" name="Text 90"/>
          <p:cNvSpPr txBox="1"/>
          <p:nvPr/>
        </p:nvSpPr>
        <p:spPr>
          <a:xfrm>
            <a:off x="4496816" y="4918862"/>
            <a:ext cx="1207008" cy="329184"/>
          </a:xfrm>
          <a:prstGeom prst="rect">
            <a:avLst/>
          </a:prstGeom>
          <a:noFill/>
          <a:ln/>
        </p:spPr>
        <p:txBody>
          <a:bodyPr wrap="square" lIns="0" tIns="0" rIns="0" bIns="0" rtlCol="0" anchor="ctr"/>
          <a:lstStyle/>
          <a:p>
            <a:pPr algn="ctr" indent="0" marL="0">
              <a:buNone/>
            </a:pPr>
            <a:r>
              <a:rPr lang="en-US" sz="1600" b="1" dirty="0">
                <a:solidFill>
                  <a:schemeClr val="bg1"/>
                </a:solidFill>
              </a:rPr>
              <a:t>de schade</a:t>
            </a:r>
            <a:endParaRPr lang="en-US" sz="1600" dirty="0"/>
          </a:p>
        </p:txBody>
      </p:sp>
      <p:sp>
        <p:nvSpPr>
          <p:cNvPr id="94" name="Text 91"/>
          <p:cNvSpPr txBox="1"/>
          <p:nvPr/>
        </p:nvSpPr>
        <p:spPr>
          <a:xfrm>
            <a:off x="5850128" y="4681118"/>
            <a:ext cx="857504"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95" name="Shape 92"/>
          <p:cNvSpPr/>
          <p:nvPr/>
        </p:nvSpPr>
        <p:spPr>
          <a:xfrm>
            <a:off x="5850128" y="4918862"/>
            <a:ext cx="857504" cy="329184"/>
          </a:xfrm>
          <a:prstGeom prst="roundRect">
            <a:avLst>
              <a:gd name="adj" fmla="val 16667"/>
            </a:avLst>
          </a:prstGeom>
          <a:solidFill>
            <a:schemeClr val="accent6">
              <a:alpha val="88000"/>
            </a:schemeClr>
          </a:solidFill>
          <a:ln w="12700">
            <a:solidFill>
              <a:srgbClr val="B83227"/>
            </a:solidFill>
            <a:prstDash val="solid"/>
          </a:ln>
        </p:spPr>
      </p:sp>
      <p:sp>
        <p:nvSpPr>
          <p:cNvPr id="96" name="Text 93"/>
          <p:cNvSpPr txBox="1"/>
          <p:nvPr/>
        </p:nvSpPr>
        <p:spPr>
          <a:xfrm>
            <a:off x="5886704" y="4918862"/>
            <a:ext cx="784352" cy="329184"/>
          </a:xfrm>
          <a:prstGeom prst="rect">
            <a:avLst/>
          </a:prstGeom>
          <a:noFill/>
          <a:ln/>
        </p:spPr>
        <p:txBody>
          <a:bodyPr wrap="square" lIns="0" tIns="0" rIns="0" bIns="0" rtlCol="0" anchor="ctr"/>
          <a:lstStyle/>
          <a:p>
            <a:pPr algn="ctr" indent="0" marL="0">
              <a:buNone/>
            </a:pPr>
            <a:r>
              <a:rPr lang="en-US" sz="1600" b="1" dirty="0">
                <a:solidFill>
                  <a:schemeClr val="bg1"/>
                </a:solidFill>
              </a:rPr>
              <a:t>wordt</a:t>
            </a:r>
            <a:endParaRPr lang="en-US" sz="1600" dirty="0"/>
          </a:p>
        </p:txBody>
      </p:sp>
      <p:sp>
        <p:nvSpPr>
          <p:cNvPr id="97" name="Text 94"/>
          <p:cNvSpPr txBox="1"/>
          <p:nvPr/>
        </p:nvSpPr>
        <p:spPr>
          <a:xfrm>
            <a:off x="6817360" y="4681118"/>
            <a:ext cx="1174496" cy="219456"/>
          </a:xfrm>
          <a:prstGeom prst="rect">
            <a:avLst/>
          </a:prstGeom>
          <a:noFill/>
          <a:ln/>
        </p:spPr>
        <p:txBody>
          <a:bodyPr wrap="square" lIns="0" tIns="0" rIns="0" bIns="0" rtlCol="0" anchor="b"/>
          <a:lstStyle/>
          <a:p>
            <a:pPr algn="ctr" indent="0" marL="0">
              <a:buNone/>
            </a:pPr>
            <a:r>
              <a:rPr lang="en-US" sz="1000" b="1" dirty="0">
                <a:solidFill>
                  <a:schemeClr val="accent2"/>
                </a:solidFill>
              </a:rPr>
              <a:t>tijd · quand</a:t>
            </a:r>
            <a:endParaRPr lang="en-US" sz="1000" dirty="0"/>
          </a:p>
        </p:txBody>
      </p:sp>
      <p:sp>
        <p:nvSpPr>
          <p:cNvPr id="98" name="Shape 95"/>
          <p:cNvSpPr/>
          <p:nvPr/>
        </p:nvSpPr>
        <p:spPr>
          <a:xfrm>
            <a:off x="6817360" y="4918862"/>
            <a:ext cx="1174496" cy="329184"/>
          </a:xfrm>
          <a:prstGeom prst="roundRect">
            <a:avLst>
              <a:gd name="adj" fmla="val 16667"/>
            </a:avLst>
          </a:prstGeom>
          <a:solidFill>
            <a:schemeClr val="accent2">
              <a:alpha val="88000"/>
            </a:schemeClr>
          </a:solidFill>
          <a:ln w="12700">
            <a:solidFill>
              <a:srgbClr val="2A6FB0"/>
            </a:solidFill>
            <a:prstDash val="solid"/>
          </a:ln>
        </p:spPr>
      </p:sp>
      <p:sp>
        <p:nvSpPr>
          <p:cNvPr id="99" name="Text 96"/>
          <p:cNvSpPr txBox="1"/>
          <p:nvPr/>
        </p:nvSpPr>
        <p:spPr>
          <a:xfrm>
            <a:off x="6853936" y="4918862"/>
            <a:ext cx="1101344" cy="329184"/>
          </a:xfrm>
          <a:prstGeom prst="rect">
            <a:avLst/>
          </a:prstGeom>
          <a:noFill/>
          <a:ln/>
        </p:spPr>
        <p:txBody>
          <a:bodyPr wrap="square" lIns="0" tIns="0" rIns="0" bIns="0" rtlCol="0" anchor="ctr"/>
          <a:lstStyle/>
          <a:p>
            <a:pPr algn="ctr" indent="0" marL="0">
              <a:buNone/>
            </a:pPr>
            <a:r>
              <a:rPr lang="en-US" sz="1600" b="1" dirty="0">
                <a:solidFill>
                  <a:schemeClr val="bg1"/>
                </a:solidFill>
              </a:rPr>
              <a:t>elk jaar</a:t>
            </a:r>
            <a:endParaRPr lang="en-US" sz="1600" dirty="0"/>
          </a:p>
        </p:txBody>
      </p:sp>
      <p:sp>
        <p:nvSpPr>
          <p:cNvPr id="100" name="Text 97"/>
          <p:cNvSpPr txBox="1"/>
          <p:nvPr/>
        </p:nvSpPr>
        <p:spPr>
          <a:xfrm>
            <a:off x="8101584" y="4681118"/>
            <a:ext cx="963168" cy="219456"/>
          </a:xfrm>
          <a:prstGeom prst="rect">
            <a:avLst/>
          </a:prstGeom>
          <a:noFill/>
          <a:ln/>
        </p:spPr>
        <p:txBody>
          <a:bodyPr wrap="square" lIns="0" tIns="0" rIns="0" bIns="0" rtlCol="0" anchor="b"/>
          <a:lstStyle/>
          <a:p>
            <a:pPr algn="ctr" indent="0" marL="0">
              <a:buNone/>
            </a:pPr>
            <a:r>
              <a:rPr lang="en-US" sz="1000" b="1" dirty="0">
                <a:solidFill>
                  <a:schemeClr val="accent3"/>
                </a:solidFill>
              </a:rPr>
              <a:t>manier · comment</a:t>
            </a:r>
            <a:endParaRPr lang="en-US" sz="1000" dirty="0"/>
          </a:p>
        </p:txBody>
      </p:sp>
      <p:sp>
        <p:nvSpPr>
          <p:cNvPr id="101" name="Shape 98"/>
          <p:cNvSpPr/>
          <p:nvPr/>
        </p:nvSpPr>
        <p:spPr>
          <a:xfrm>
            <a:off x="8101584" y="4918862"/>
            <a:ext cx="963168" cy="329184"/>
          </a:xfrm>
          <a:prstGeom prst="roundRect">
            <a:avLst>
              <a:gd name="adj" fmla="val 16667"/>
            </a:avLst>
          </a:prstGeom>
          <a:solidFill>
            <a:schemeClr val="accent3">
              <a:alpha val="88000"/>
            </a:schemeClr>
          </a:solidFill>
          <a:ln w="12700">
            <a:solidFill>
              <a:srgbClr val="2E7D4F"/>
            </a:solidFill>
            <a:prstDash val="solid"/>
          </a:ln>
        </p:spPr>
      </p:sp>
      <p:sp>
        <p:nvSpPr>
          <p:cNvPr id="102" name="Text 99"/>
          <p:cNvSpPr txBox="1"/>
          <p:nvPr/>
        </p:nvSpPr>
        <p:spPr>
          <a:xfrm>
            <a:off x="8138160" y="4918862"/>
            <a:ext cx="890016" cy="329184"/>
          </a:xfrm>
          <a:prstGeom prst="rect">
            <a:avLst/>
          </a:prstGeom>
          <a:noFill/>
          <a:ln/>
        </p:spPr>
        <p:txBody>
          <a:bodyPr wrap="square" lIns="0" tIns="0" rIns="0" bIns="0" rtlCol="0" anchor="ctr"/>
          <a:lstStyle/>
          <a:p>
            <a:pPr algn="ctr" indent="0" marL="0">
              <a:buNone/>
            </a:pPr>
            <a:r>
              <a:rPr lang="en-US" sz="1600" b="1" dirty="0">
                <a:solidFill>
                  <a:schemeClr val="bg1"/>
                </a:solidFill>
              </a:rPr>
              <a:t>groter</a:t>
            </a:r>
            <a:endParaRPr lang="en-US" sz="1600" dirty="0"/>
          </a:p>
        </p:txBody>
      </p:sp>
      <p:sp>
        <p:nvSpPr>
          <p:cNvPr id="103" name="Text 100"/>
          <p:cNvSpPr txBox="1"/>
          <p:nvPr/>
        </p:nvSpPr>
        <p:spPr>
          <a:xfrm>
            <a:off x="2103120" y="5275478"/>
            <a:ext cx="9537192" cy="274320"/>
          </a:xfrm>
          <a:prstGeom prst="rect">
            <a:avLst/>
          </a:prstGeom>
          <a:noFill/>
          <a:ln/>
        </p:spPr>
        <p:txBody>
          <a:bodyPr wrap="square" lIns="0" tIns="0" rIns="0" bIns="0" rtlCol="0" anchor="ctr"/>
          <a:lstStyle/>
          <a:p>
            <a:pPr indent="0" marL="0">
              <a:buNone/>
            </a:pPr>
            <a:r>
              <a:rPr lang="en-US" sz="1400" i="1" dirty="0">
                <a:solidFill>
                  <a:schemeClr val="accent5"/>
                </a:solidFill>
              </a:rPr>
              <a:t>C’est vrai, mais les dégâts s’aggravent chaque année.</a:t>
            </a:r>
            <a:endParaRPr lang="en-US" sz="1400" dirty="0"/>
          </a:p>
        </p:txBody>
      </p:sp>
      <p:sp>
        <p:nvSpPr>
          <p:cNvPr id="104" name="Shape 101"/>
          <p:cNvSpPr/>
          <p:nvPr/>
        </p:nvSpPr>
        <p:spPr>
          <a:xfrm>
            <a:off x="548640" y="5565648"/>
            <a:ext cx="11091672" cy="725424"/>
          </a:xfrm>
          <a:prstGeom prst="roundRect">
            <a:avLst>
              <a:gd name="adj" fmla="val 10084"/>
            </a:avLst>
          </a:prstGeom>
          <a:solidFill>
            <a:schemeClr val="accent6">
              <a:alpha val="10000"/>
            </a:schemeClr>
          </a:solidFill>
          <a:ln w="9525">
            <a:solidFill>
              <a:schemeClr val="accent6">
                <a:alpha val="70000"/>
              </a:schemeClr>
            </a:solidFill>
            <a:prstDash val="solid"/>
          </a:ln>
        </p:spPr>
      </p:sp>
      <p:pic>
        <p:nvPicPr>
          <p:cNvPr id="105" name="Image 0" descr="preencoded.png">    </p:cNvPr>
          <p:cNvPicPr>
            <a:picLocks noChangeAspect="1"/>
          </p:cNvPicPr>
          <p:nvPr/>
        </p:nvPicPr>
        <p:blipFill>
          <a:blip r:embed="rId1"/>
          <a:stretch>
            <a:fillRect/>
          </a:stretch>
        </p:blipFill>
        <p:spPr>
          <a:xfrm>
            <a:off x="749808" y="5763768"/>
            <a:ext cx="329184" cy="329184"/>
          </a:xfrm>
          <a:prstGeom prst="rect">
            <a:avLst/>
          </a:prstGeom>
        </p:spPr>
      </p:pic>
      <p:sp>
        <p:nvSpPr>
          <p:cNvPr id="106" name="Text 102"/>
          <p:cNvSpPr txBox="1"/>
          <p:nvPr/>
        </p:nvSpPr>
        <p:spPr>
          <a:xfrm>
            <a:off x="1234440" y="5602224"/>
            <a:ext cx="10287000" cy="652272"/>
          </a:xfrm>
          <a:prstGeom prst="rect">
            <a:avLst/>
          </a:prstGeom>
          <a:noFill/>
          <a:ln/>
        </p:spPr>
        <p:txBody>
          <a:bodyPr wrap="square" lIns="0" tIns="0" rIns="0" bIns="0" rtlCol="0" anchor="ctr"/>
          <a:lstStyle/>
          <a:p>
            <a:pPr indent="0" marL="0">
              <a:buNone/>
            </a:pPr>
            <a:r>
              <a:rPr lang="en-US" sz="1700" b="1" dirty="0">
                <a:solidFill>
                  <a:schemeClr val="accent6"/>
                </a:solidFill>
              </a:rPr>
              <a:t>Piège pour francophones — </a:t>
            </a:r>
            <a:r>
              <a:rPr lang="en-US" sz="1700" dirty="0">
                <a:solidFill>
                  <a:schemeClr val="tx1"/>
                </a:solidFill>
              </a:rPr>
              <a:t>Après </a:t>
            </a:r>
            <a:r>
              <a:rPr lang="en-US" sz="1700" i="1" dirty="0">
                <a:solidFill>
                  <a:schemeClr val="tx1"/>
                </a:solidFill>
              </a:rPr>
              <a:t>maar</a:t>
            </a:r>
            <a:r>
              <a:rPr lang="en-US" sz="1700" dirty="0">
                <a:solidFill>
                  <a:schemeClr val="tx1"/>
                </a:solidFill>
              </a:rPr>
              <a:t> (« mais »), </a:t>
            </a:r>
            <a:r>
              <a:rPr lang="en-US" sz="1700" b="1" dirty="0">
                <a:solidFill>
                  <a:schemeClr val="tx1"/>
                </a:solidFill>
              </a:rPr>
              <a:t>pas d’inversion</a:t>
            </a:r>
            <a:r>
              <a:rPr lang="en-US" sz="1700" dirty="0">
                <a:solidFill>
                  <a:schemeClr val="tx1"/>
                </a:solidFill>
              </a:rPr>
              <a:t> : </a:t>
            </a:r>
            <a:r>
              <a:rPr lang="en-US" sz="1700" i="1" dirty="0">
                <a:solidFill>
                  <a:schemeClr val="tx1"/>
                </a:solidFill>
              </a:rPr>
              <a:t>maar de schade wordt…</a:t>
            </a:r>
            <a:r>
              <a:rPr lang="en-US" sz="1700" dirty="0">
                <a:solidFill>
                  <a:schemeClr val="tx1"/>
                </a:solidFill>
              </a:rPr>
              <a:t>. Après </a:t>
            </a:r>
            <a:r>
              <a:rPr lang="en-US" sz="1700" i="1" dirty="0">
                <a:solidFill>
                  <a:schemeClr val="tx1"/>
                </a:solidFill>
              </a:rPr>
              <a:t>toch</a:t>
            </a:r>
            <a:r>
              <a:rPr lang="en-US" sz="1700" dirty="0">
                <a:solidFill>
                  <a:schemeClr val="tx1"/>
                </a:solidFill>
              </a:rPr>
              <a:t> en tête : inversion (</a:t>
            </a:r>
            <a:r>
              <a:rPr lang="en-US" sz="1700" i="1" dirty="0">
                <a:solidFill>
                  <a:schemeClr val="tx1"/>
                </a:solidFill>
              </a:rPr>
              <a:t>Toch stel ik…</a:t>
            </a:r>
            <a:r>
              <a:rPr lang="en-US" sz="1700" dirty="0">
                <a:solidFill>
                  <a:schemeClr val="tx1"/>
                </a:solidFill>
              </a:rPr>
              <a:t>). Après </a:t>
            </a:r>
            <a:r>
              <a:rPr lang="en-US" sz="1700" i="1" dirty="0">
                <a:solidFill>
                  <a:schemeClr val="tx1"/>
                </a:solidFill>
              </a:rPr>
              <a:t>hoewel</a:t>
            </a:r>
            <a:r>
              <a:rPr lang="en-US" sz="1700" dirty="0">
                <a:solidFill>
                  <a:schemeClr val="tx1"/>
                </a:solidFill>
              </a:rPr>
              <a:t> : verbe </a:t>
            </a:r>
            <a:r>
              <a:rPr lang="en-US" sz="1700" b="1" dirty="0">
                <a:solidFill>
                  <a:schemeClr val="tx1"/>
                </a:solidFill>
              </a:rPr>
              <a:t>à la fin</a:t>
            </a:r>
            <a:r>
              <a:rPr lang="en-US" sz="1700" dirty="0">
                <a:solidFill>
                  <a:schemeClr val="tx1"/>
                </a:solidFill>
              </a:rPr>
              <a:t>, puis la principale commence par le </a:t>
            </a:r>
            <a:r>
              <a:rPr lang="en-US" sz="1700" b="1" dirty="0">
                <a:solidFill>
                  <a:schemeClr val="tx1"/>
                </a:solidFill>
              </a:rPr>
              <a:t>verbe</a:t>
            </a:r>
            <a:r>
              <a:rPr lang="en-US" sz="1700" dirty="0">
                <a:solidFill>
                  <a:schemeClr val="tx1"/>
                </a:solidFill>
              </a:rPr>
              <a:t>.</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Le piège classique : toch n’est pas tot</a:t>
            </a:r>
            <a:endParaRPr lang="en-US" sz="3200" dirty="0"/>
          </a:p>
        </p:txBody>
      </p:sp>
      <p:sp>
        <p:nvSpPr>
          <p:cNvPr id="3" name="tag"/>
          <p:cNvSpPr/>
          <p:nvPr/>
        </p:nvSpPr>
        <p:spPr>
          <a:xfrm>
            <a:off x="548640" y="237744"/>
            <a:ext cx="1074420"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chemeClr val="bg1"/>
                </a:solidFill>
              </a:rPr>
              <a:t>PIÈGE</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21</a:t>
            </a:r>
            <a:endParaRPr lang="en-US" sz="1200" dirty="0"/>
          </a:p>
        </p:txBody>
      </p:sp>
      <p:sp>
        <p:nvSpPr>
          <p:cNvPr id="6" name="Text 3"/>
          <p:cNvSpPr txBox="1"/>
          <p:nvPr/>
        </p:nvSpPr>
        <p:spPr>
          <a:xfrm>
            <a:off x="548640" y="1481328"/>
            <a:ext cx="11091672" cy="329184"/>
          </a:xfrm>
          <a:prstGeom prst="rect">
            <a:avLst/>
          </a:prstGeom>
          <a:noFill/>
          <a:ln/>
        </p:spPr>
        <p:txBody>
          <a:bodyPr wrap="square" lIns="0" tIns="0" rIns="0" bIns="0" rtlCol="0" anchor="t"/>
          <a:lstStyle/>
          <a:p>
            <a:pPr indent="0" marL="0">
              <a:buNone/>
            </a:pPr>
            <a:r>
              <a:rPr lang="en-US" sz="1800" dirty="0">
                <a:solidFill>
                  <a:schemeClr val="tx1"/>
                </a:solidFill>
              </a:rPr>
              <a:t>Deux mots proches, deux sens, deux sons.</a:t>
            </a:r>
            <a:endParaRPr lang="en-US" sz="1800" dirty="0"/>
          </a:p>
        </p:txBody>
      </p:sp>
      <p:sp>
        <p:nvSpPr>
          <p:cNvPr id="7" name="Shape 4"/>
          <p:cNvSpPr/>
          <p:nvPr/>
        </p:nvSpPr>
        <p:spPr>
          <a:xfrm>
            <a:off x="548640" y="1947672"/>
            <a:ext cx="5225796" cy="3456432"/>
          </a:xfrm>
          <a:prstGeom prst="roundRect">
            <a:avLst>
              <a:gd name="adj" fmla="val 2646"/>
            </a:avLst>
          </a:prstGeom>
          <a:solidFill>
            <a:schemeClr val="accent1">
              <a:alpha val="8000"/>
            </a:schemeClr>
          </a:solidFill>
          <a:ln w="15875">
            <a:solidFill>
              <a:schemeClr val="accent1"/>
            </a:solidFill>
            <a:prstDash val="solid"/>
          </a:ln>
        </p:spPr>
      </p:sp>
      <p:pic>
        <p:nvPicPr>
          <p:cNvPr id="8" name="Image 0" descr="preencoded.png">    </p:cNvPr>
          <p:cNvPicPr>
            <a:picLocks noChangeAspect="1"/>
          </p:cNvPicPr>
          <p:nvPr/>
        </p:nvPicPr>
        <p:blipFill>
          <a:blip r:embed="rId1"/>
          <a:stretch>
            <a:fillRect/>
          </a:stretch>
        </p:blipFill>
        <p:spPr>
          <a:xfrm>
            <a:off x="777240" y="2148840"/>
            <a:ext cx="384048" cy="384048"/>
          </a:xfrm>
          <a:prstGeom prst="rect">
            <a:avLst/>
          </a:prstGeom>
        </p:spPr>
      </p:pic>
      <p:sp>
        <p:nvSpPr>
          <p:cNvPr id="9" name="Text 5"/>
          <p:cNvSpPr txBox="1"/>
          <p:nvPr/>
        </p:nvSpPr>
        <p:spPr>
          <a:xfrm>
            <a:off x="1280160" y="2084832"/>
            <a:ext cx="4311396" cy="548640"/>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TOCH [tox]</a:t>
            </a:r>
            <a:endParaRPr lang="en-US" sz="2000" dirty="0"/>
          </a:p>
        </p:txBody>
      </p:sp>
      <p:sp>
        <p:nvSpPr>
          <p:cNvPr id="10" name="Text 6"/>
          <p:cNvSpPr txBox="1"/>
          <p:nvPr/>
        </p:nvSpPr>
        <p:spPr>
          <a:xfrm>
            <a:off x="777240" y="2770632"/>
            <a:ext cx="4768596" cy="2496312"/>
          </a:xfrm>
          <a:prstGeom prst="rect">
            <a:avLst/>
          </a:prstGeom>
          <a:noFill/>
          <a:ln/>
        </p:spPr>
        <p:txBody>
          <a:bodyPr wrap="square" lIns="0" tIns="0" rIns="0" bIns="0" rtlCol="0" anchor="t"/>
          <a:lstStyle/>
          <a:p>
            <a:pPr marL="203200" indent="-203200">
              <a:spcAft>
                <a:spcPts val="800"/>
              </a:spcAft>
              <a:buSzPct val="100000"/>
              <a:buChar char="•"/>
            </a:pPr>
            <a:r>
              <a:rPr lang="en-US" sz="1800" b="1" dirty="0">
                <a:solidFill>
                  <a:schemeClr val="tx1"/>
                </a:solidFill>
              </a:rPr>
              <a:t>pourtant, quand même</a:t>
            </a:r>
            <a:r>
              <a:rPr lang="en-US" sz="1800" dirty="0">
                <a:solidFill>
                  <a:schemeClr val="tx1"/>
                </a:solidFill>
              </a:rPr>
              <a:t> : l’arme de la réfutation — </a:t>
            </a:r>
            <a:r>
              <a:rPr lang="en-US" sz="1800" i="1" dirty="0">
                <a:solidFill>
                  <a:schemeClr val="tx1"/>
                </a:solidFill>
              </a:rPr>
              <a:t>Toch stem ik tegen.</a:t>
            </a:r>
            <a:endParaRPr lang="en-US" sz="1800" dirty="0"/>
          </a:p>
          <a:p>
            <a:pPr marL="203200" indent="-203200">
              <a:spcAft>
                <a:spcPts val="800"/>
              </a:spcAft>
              <a:buSzPct val="100000"/>
              <a:buChar char="•"/>
            </a:pPr>
            <a:r>
              <a:rPr lang="en-US" sz="1800" b="1" dirty="0">
                <a:solidFill>
                  <a:schemeClr val="tx1"/>
                </a:solidFill>
              </a:rPr>
              <a:t>n’est-ce pas ?</a:t>
            </a:r>
            <a:r>
              <a:rPr lang="en-US" sz="1800" dirty="0">
                <a:solidFill>
                  <a:schemeClr val="tx1"/>
                </a:solidFill>
              </a:rPr>
              <a:t> : adoucit une demande — </a:t>
            </a:r>
            <a:r>
              <a:rPr lang="en-US" sz="1800" i="1" dirty="0">
                <a:solidFill>
                  <a:schemeClr val="tx1"/>
                </a:solidFill>
              </a:rPr>
              <a:t>U komt toch naar de vergadering?</a:t>
            </a:r>
            <a:endParaRPr lang="en-US" sz="1800" dirty="0"/>
          </a:p>
          <a:p>
            <a:pPr marL="203200" indent="-203200">
              <a:spcAft>
                <a:spcPts val="800"/>
              </a:spcAft>
              <a:buSzPct val="100000"/>
              <a:buChar char="•"/>
            </a:pPr>
            <a:r>
              <a:rPr lang="en-US" sz="1800" dirty="0">
                <a:solidFill>
                  <a:schemeClr val="tx1"/>
                </a:solidFill>
              </a:rPr>
              <a:t>En fin de phrase : </a:t>
            </a:r>
            <a:r>
              <a:rPr lang="en-US" sz="1800" i="1" dirty="0">
                <a:solidFill>
                  <a:schemeClr val="tx1"/>
                </a:solidFill>
              </a:rPr>
              <a:t>Wij vertegenwoordigen mevrouw Dubois, toch?</a:t>
            </a:r>
            <a:endParaRPr lang="en-US" sz="1800" dirty="0"/>
          </a:p>
        </p:txBody>
      </p:sp>
      <p:sp>
        <p:nvSpPr>
          <p:cNvPr id="11" name="Shape 7"/>
          <p:cNvSpPr/>
          <p:nvPr/>
        </p:nvSpPr>
        <p:spPr>
          <a:xfrm>
            <a:off x="6414516" y="1947672"/>
            <a:ext cx="5225796" cy="3456432"/>
          </a:xfrm>
          <a:prstGeom prst="roundRect">
            <a:avLst>
              <a:gd name="adj" fmla="val 2646"/>
            </a:avLst>
          </a:prstGeom>
          <a:solidFill>
            <a:schemeClr val="accent2">
              <a:alpha val="8000"/>
            </a:schemeClr>
          </a:solidFill>
          <a:ln w="15875">
            <a:solidFill>
              <a:schemeClr val="accent2"/>
            </a:solidFill>
            <a:prstDash val="solid"/>
          </a:ln>
        </p:spPr>
      </p:sp>
      <p:pic>
        <p:nvPicPr>
          <p:cNvPr id="12" name="Image 1" descr="preencoded.png">    </p:cNvPr>
          <p:cNvPicPr>
            <a:picLocks noChangeAspect="1"/>
          </p:cNvPicPr>
          <p:nvPr/>
        </p:nvPicPr>
        <p:blipFill>
          <a:blip r:embed="rId2"/>
          <a:stretch>
            <a:fillRect/>
          </a:stretch>
        </p:blipFill>
        <p:spPr>
          <a:xfrm>
            <a:off x="6643116" y="2148840"/>
            <a:ext cx="384048" cy="384048"/>
          </a:xfrm>
          <a:prstGeom prst="rect">
            <a:avLst/>
          </a:prstGeom>
        </p:spPr>
      </p:pic>
      <p:sp>
        <p:nvSpPr>
          <p:cNvPr id="13" name="Text 8"/>
          <p:cNvSpPr txBox="1"/>
          <p:nvPr/>
        </p:nvSpPr>
        <p:spPr>
          <a:xfrm>
            <a:off x="7146036" y="2084832"/>
            <a:ext cx="4311396" cy="548640"/>
          </a:xfrm>
          <a:prstGeom prst="rect">
            <a:avLst/>
          </a:prstGeom>
          <a:noFill/>
          <a:ln/>
        </p:spPr>
        <p:txBody>
          <a:bodyPr wrap="square" lIns="0" tIns="0" rIns="0" bIns="0" rtlCol="0" anchor="ctr"/>
          <a:lstStyle/>
          <a:p>
            <a:pPr indent="0" marL="0">
              <a:buNone/>
            </a:pPr>
            <a:r>
              <a:rPr lang="en-US" sz="2000" b="1" dirty="0">
                <a:solidFill>
                  <a:schemeClr val="accent2"/>
                </a:solidFill>
                <a:latin typeface="+mj-lt" pitchFamily="34" charset="0"/>
                <a:ea typeface="+mj-lt" pitchFamily="34" charset="-122"/>
                <a:cs typeface="+mj-lt" pitchFamily="34" charset="-120"/>
              </a:rPr>
              <a:t>TOT [tot]</a:t>
            </a:r>
            <a:endParaRPr lang="en-US" sz="2000" dirty="0"/>
          </a:p>
        </p:txBody>
      </p:sp>
      <p:sp>
        <p:nvSpPr>
          <p:cNvPr id="14" name="Text 9"/>
          <p:cNvSpPr txBox="1"/>
          <p:nvPr/>
        </p:nvSpPr>
        <p:spPr>
          <a:xfrm>
            <a:off x="6643116" y="2770632"/>
            <a:ext cx="4768596" cy="2496312"/>
          </a:xfrm>
          <a:prstGeom prst="rect">
            <a:avLst/>
          </a:prstGeom>
          <a:noFill/>
          <a:ln/>
        </p:spPr>
        <p:txBody>
          <a:bodyPr wrap="square" lIns="0" tIns="0" rIns="0" bIns="0" rtlCol="0" anchor="t"/>
          <a:lstStyle/>
          <a:p>
            <a:pPr marL="203200" indent="-203200">
              <a:spcAft>
                <a:spcPts val="800"/>
              </a:spcAft>
              <a:buSzPct val="100000"/>
              <a:buChar char="•"/>
            </a:pPr>
            <a:r>
              <a:rPr lang="en-US" sz="1800" b="1" dirty="0">
                <a:solidFill>
                  <a:schemeClr val="tx1"/>
                </a:solidFill>
              </a:rPr>
              <a:t>jusqu’à</a:t>
            </a:r>
            <a:r>
              <a:rPr lang="en-US" sz="1800" dirty="0">
                <a:solidFill>
                  <a:schemeClr val="tx1"/>
                </a:solidFill>
              </a:rPr>
              <a:t> : </a:t>
            </a:r>
            <a:r>
              <a:rPr lang="en-US" sz="1800" i="1" dirty="0">
                <a:solidFill>
                  <a:schemeClr val="tx1"/>
                </a:solidFill>
              </a:rPr>
              <a:t>Tot ziens! · Tot straks!</a:t>
            </a:r>
            <a:r>
              <a:rPr lang="en-US" sz="1800" dirty="0">
                <a:solidFill>
                  <a:schemeClr val="tx1"/>
                </a:solidFill>
              </a:rPr>
              <a:t> (palier 1)</a:t>
            </a:r>
            <a:endParaRPr lang="en-US" sz="1800" dirty="0"/>
          </a:p>
          <a:p>
            <a:pPr marL="203200" indent="-203200">
              <a:spcAft>
                <a:spcPts val="800"/>
              </a:spcAft>
              <a:buSzPct val="100000"/>
              <a:buChar char="•"/>
            </a:pPr>
            <a:r>
              <a:rPr lang="en-US" sz="1800" i="1" dirty="0">
                <a:solidFill>
                  <a:schemeClr val="tx1"/>
                </a:solidFill>
              </a:rPr>
              <a:t>Annulering is mogelijk tot 24 uur vooraf.</a:t>
            </a:r>
            <a:endParaRPr lang="en-US" sz="1800" dirty="0"/>
          </a:p>
          <a:p>
            <a:pPr marL="203200" indent="-203200">
              <a:spcAft>
                <a:spcPts val="800"/>
              </a:spcAft>
              <a:buSzPct val="100000"/>
              <a:buChar char="•"/>
            </a:pPr>
            <a:r>
              <a:rPr lang="en-US" sz="1800" i="1" dirty="0">
                <a:solidFill>
                  <a:schemeClr val="tx1"/>
                </a:solidFill>
              </a:rPr>
              <a:t>van 7 tot 18 uur</a:t>
            </a:r>
            <a:endParaRPr lang="en-US" sz="1800" dirty="0"/>
          </a:p>
        </p:txBody>
      </p:sp>
      <p:sp>
        <p:nvSpPr>
          <p:cNvPr id="15" name="Shape 10"/>
          <p:cNvSpPr/>
          <p:nvPr/>
        </p:nvSpPr>
        <p:spPr>
          <a:xfrm>
            <a:off x="5838444" y="3419856"/>
            <a:ext cx="512064" cy="512064"/>
          </a:xfrm>
          <a:prstGeom prst="ellipse">
            <a:avLst/>
          </a:prstGeom>
          <a:solidFill>
            <a:schemeClr val="tx2"/>
          </a:solidFill>
          <a:ln/>
        </p:spPr>
      </p:sp>
      <p:sp>
        <p:nvSpPr>
          <p:cNvPr id="16" name="Text 11"/>
          <p:cNvSpPr txBox="1"/>
          <p:nvPr/>
        </p:nvSpPr>
        <p:spPr>
          <a:xfrm>
            <a:off x="5838444" y="3419856"/>
            <a:ext cx="512064" cy="512064"/>
          </a:xfrm>
          <a:prstGeom prst="rect">
            <a:avLst/>
          </a:prstGeom>
          <a:noFill/>
          <a:ln/>
        </p:spPr>
        <p:txBody>
          <a:bodyPr wrap="square" lIns="0" tIns="0" rIns="0" bIns="0" rtlCol="0" anchor="ctr"/>
          <a:lstStyle/>
          <a:p>
            <a:pPr algn="ctr" indent="0" marL="0">
              <a:buNone/>
            </a:pPr>
            <a:r>
              <a:rPr lang="en-US" sz="1400" b="1" dirty="0">
                <a:solidFill>
                  <a:schemeClr val="bg1"/>
                </a:solidFill>
              </a:rPr>
              <a:t>≠</a:t>
            </a:r>
            <a:endParaRPr lang="en-US" sz="1400" dirty="0"/>
          </a:p>
        </p:txBody>
      </p:sp>
      <p:sp>
        <p:nvSpPr>
          <p:cNvPr id="17" name="Shape 12"/>
          <p:cNvSpPr/>
          <p:nvPr/>
        </p:nvSpPr>
        <p:spPr>
          <a:xfrm>
            <a:off x="548640" y="5605272"/>
            <a:ext cx="11091672" cy="685800"/>
          </a:xfrm>
          <a:prstGeom prst="roundRect">
            <a:avLst>
              <a:gd name="adj" fmla="val 10667"/>
            </a:avLst>
          </a:prstGeom>
          <a:solidFill>
            <a:schemeClr val="accent6">
              <a:alpha val="10000"/>
            </a:schemeClr>
          </a:solidFill>
          <a:ln w="9525">
            <a:solidFill>
              <a:schemeClr val="accent6">
                <a:alpha val="70000"/>
              </a:schemeClr>
            </a:solidFill>
            <a:prstDash val="solid"/>
          </a:ln>
        </p:spPr>
      </p:sp>
      <p:pic>
        <p:nvPicPr>
          <p:cNvPr id="18" name="Image 2" descr="preencoded.png">    </p:cNvPr>
          <p:cNvPicPr>
            <a:picLocks noChangeAspect="1"/>
          </p:cNvPicPr>
          <p:nvPr/>
        </p:nvPicPr>
        <p:blipFill>
          <a:blip r:embed="rId3"/>
          <a:stretch>
            <a:fillRect/>
          </a:stretch>
        </p:blipFill>
        <p:spPr>
          <a:xfrm>
            <a:off x="749808" y="5783580"/>
            <a:ext cx="329184" cy="329184"/>
          </a:xfrm>
          <a:prstGeom prst="rect">
            <a:avLst/>
          </a:prstGeom>
        </p:spPr>
      </p:pic>
      <p:sp>
        <p:nvSpPr>
          <p:cNvPr id="19" name="Text 13"/>
          <p:cNvSpPr txBox="1"/>
          <p:nvPr/>
        </p:nvSpPr>
        <p:spPr>
          <a:xfrm>
            <a:off x="1234440" y="5641848"/>
            <a:ext cx="10287000" cy="612648"/>
          </a:xfrm>
          <a:prstGeom prst="rect">
            <a:avLst/>
          </a:prstGeom>
          <a:noFill/>
          <a:ln/>
        </p:spPr>
        <p:txBody>
          <a:bodyPr wrap="square" lIns="0" tIns="0" rIns="0" bIns="0" rtlCol="0" anchor="ctr"/>
          <a:lstStyle/>
          <a:p>
            <a:pPr indent="0" marL="0">
              <a:buNone/>
            </a:pPr>
            <a:r>
              <a:rPr lang="en-US" sz="1700" b="1" dirty="0">
                <a:solidFill>
                  <a:schemeClr val="accent6"/>
                </a:solidFill>
              </a:rPr>
              <a:t>Piège pour francophones — </a:t>
            </a:r>
            <a:r>
              <a:rPr lang="en-US" sz="1700" dirty="0">
                <a:solidFill>
                  <a:schemeClr val="tx1"/>
                </a:solidFill>
              </a:rPr>
              <a:t>Prononciation : </a:t>
            </a:r>
            <a:r>
              <a:rPr lang="en-US" sz="1700" i="1" dirty="0">
                <a:solidFill>
                  <a:schemeClr val="tx1"/>
                </a:solidFill>
              </a:rPr>
              <a:t>toch</a:t>
            </a:r>
            <a:r>
              <a:rPr lang="en-US" sz="1700" dirty="0">
                <a:solidFill>
                  <a:schemeClr val="tx1"/>
                </a:solidFill>
              </a:rPr>
              <a:t> avec le </a:t>
            </a:r>
            <a:r>
              <a:rPr lang="en-US" sz="1700" b="1" dirty="0">
                <a:solidFill>
                  <a:schemeClr val="tx1"/>
                </a:solidFill>
              </a:rPr>
              <a:t>ch</a:t>
            </a:r>
            <a:r>
              <a:rPr lang="en-US" sz="1700" dirty="0">
                <a:solidFill>
                  <a:schemeClr val="tx1"/>
                </a:solidFill>
              </a:rPr>
              <a:t> rauque [tox] ; </a:t>
            </a:r>
            <a:r>
              <a:rPr lang="en-US" sz="1700" i="1" dirty="0">
                <a:solidFill>
                  <a:schemeClr val="tx1"/>
                </a:solidFill>
              </a:rPr>
              <a:t>tot</a:t>
            </a:r>
            <a:r>
              <a:rPr lang="en-US" sz="1700" dirty="0">
                <a:solidFill>
                  <a:schemeClr val="tx1"/>
                </a:solidFill>
              </a:rPr>
              <a:t> se termine par un </a:t>
            </a:r>
            <a:r>
              <a:rPr lang="en-US" sz="1700" b="1" dirty="0">
                <a:solidFill>
                  <a:schemeClr val="tx1"/>
                </a:solidFill>
              </a:rPr>
              <a:t>t</a:t>
            </a:r>
            <a:r>
              <a:rPr lang="en-US" sz="1700" dirty="0">
                <a:solidFill>
                  <a:schemeClr val="tx1"/>
                </a:solidFill>
              </a:rPr>
              <a:t> net. Ne confondez pas.</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8 Geef toe… en weerleg</a:t>
            </a:r>
            <a:endParaRPr lang="en-US" sz="3200" dirty="0"/>
          </a:p>
        </p:txBody>
      </p:sp>
      <p:sp>
        <p:nvSpPr>
          <p:cNvPr id="3" name="tag"/>
          <p:cNvSpPr/>
          <p:nvPr/>
        </p:nvSpPr>
        <p:spPr>
          <a:xfrm>
            <a:off x="548640" y="237744"/>
            <a:ext cx="12801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COUCHE 2</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21</a:t>
            </a:r>
            <a:endParaRPr lang="en-US" sz="1200" dirty="0"/>
          </a:p>
        </p:txBody>
      </p:sp>
      <p:sp>
        <p:nvSpPr>
          <p:cNvPr id="6" name="Text 3"/>
          <p:cNvSpPr txBox="1"/>
          <p:nvPr/>
        </p:nvSpPr>
        <p:spPr>
          <a:xfrm>
            <a:off x="548640" y="1481328"/>
            <a:ext cx="7178040" cy="615696"/>
          </a:xfrm>
          <a:prstGeom prst="rect">
            <a:avLst/>
          </a:prstGeom>
          <a:noFill/>
          <a:ln/>
        </p:spPr>
        <p:txBody>
          <a:bodyPr wrap="square" lIns="0" tIns="0" rIns="0" bIns="0" rtlCol="0" anchor="t"/>
          <a:lstStyle/>
          <a:p>
            <a:pPr indent="0" marL="0">
              <a:buNone/>
            </a:pPr>
            <a:r>
              <a:rPr lang="en-US" sz="1600" i="1" dirty="0">
                <a:solidFill>
                  <a:schemeClr val="accent5"/>
                </a:solidFill>
              </a:rPr>
              <a:t>Répondez en deux temps : </a:t>
            </a:r>
            <a:r>
              <a:rPr lang="en-US" sz="1600" b="1" i="1" dirty="0">
                <a:solidFill>
                  <a:schemeClr val="accent5"/>
                </a:solidFill>
              </a:rPr>
              <a:t>concédez</a:t>
            </a:r>
            <a:r>
              <a:rPr lang="en-US" sz="1600" i="1" dirty="0">
                <a:solidFill>
                  <a:schemeClr val="accent5"/>
                </a:solidFill>
              </a:rPr>
              <a:t> (weliswaar / dat klopt / ik begrijp dat), puis </a:t>
            </a:r>
            <a:r>
              <a:rPr lang="en-US" sz="1600" b="1" i="1" dirty="0">
                <a:solidFill>
                  <a:schemeClr val="accent5"/>
                </a:solidFill>
              </a:rPr>
              <a:t>réfutez</a:t>
            </a:r>
            <a:r>
              <a:rPr lang="en-US" sz="1600" i="1" dirty="0">
                <a:solidFill>
                  <a:schemeClr val="accent5"/>
                </a:solidFill>
              </a:rPr>
              <a:t> (maar / toch / echter). Une phrase par mécanique. Seul · 6 min.</a:t>
            </a:r>
            <a:endParaRPr lang="en-US" sz="1600" dirty="0"/>
          </a:p>
        </p:txBody>
      </p:sp>
      <p:sp>
        <p:nvSpPr>
          <p:cNvPr id="7" name="exercise"/>
          <p:cNvSpPr txBox="1"/>
          <p:nvPr/>
        </p:nvSpPr>
        <p:spPr>
          <a:xfrm>
            <a:off x="548640" y="2170176"/>
            <a:ext cx="7178040" cy="4120896"/>
          </a:xfrm>
          <a:prstGeom prst="rect">
            <a:avLst/>
          </a:prstGeom>
          <a:noFill/>
          <a:ln/>
        </p:spPr>
        <p:txBody>
          <a:bodyPr wrap="square" lIns="0" tIns="0" rIns="0" bIns="0" rtlCol="0" anchor="t"/>
          <a:lstStyle/>
          <a:p>
            <a:pPr indent="0" marL="0">
              <a:spcAft>
                <a:spcPts val="800"/>
              </a:spcAft>
              <a:buNone/>
            </a:pPr>
            <a:r>
              <a:rPr lang="en-US" sz="2600" b="1" dirty="0">
                <a:solidFill>
                  <a:schemeClr val="tx1"/>
                </a:solidFill>
              </a:rPr>
              <a:t>1</a:t>
            </a:r>
            <a:r>
              <a:rPr lang="en-US" sz="2600" dirty="0">
                <a:solidFill>
                  <a:schemeClr val="tx1"/>
                </a:solidFill>
              </a:rPr>
              <a:t> « De renovatie is veel te duur! »</a:t>
            </a:r>
            <a:endParaRPr lang="en-US" sz="2600" dirty="0"/>
          </a:p>
          <a:p>
            <a:pPr indent="0" marL="0">
              <a:spcAft>
                <a:spcPts val="800"/>
              </a:spcAft>
              <a:buNone/>
            </a:pPr>
            <a:r>
              <a:rPr lang="en-US" sz="2600" b="1" dirty="0">
                <a:solidFill>
                  <a:schemeClr val="tx1"/>
                </a:solidFill>
              </a:rPr>
              <a:t>2</a:t>
            </a:r>
            <a:r>
              <a:rPr lang="en-US" sz="2600" dirty="0">
                <a:solidFill>
                  <a:schemeClr val="tx1"/>
                </a:solidFill>
              </a:rPr>
              <a:t> « We kunnen de werken nog een jaar uitstellen. »</a:t>
            </a:r>
            <a:endParaRPr lang="en-US" sz="2600" dirty="0"/>
          </a:p>
          <a:p>
            <a:pPr indent="0" marL="0">
              <a:spcAft>
                <a:spcPts val="800"/>
              </a:spcAft>
              <a:buNone/>
            </a:pPr>
            <a:r>
              <a:rPr lang="en-US" sz="2600" b="1" dirty="0">
                <a:solidFill>
                  <a:schemeClr val="tx1"/>
                </a:solidFill>
              </a:rPr>
              <a:t>3</a:t>
            </a:r>
            <a:r>
              <a:rPr lang="en-US" sz="2600" dirty="0">
                <a:solidFill>
                  <a:schemeClr val="tx1"/>
                </a:solidFill>
              </a:rPr>
              <a:t> « De syndicus beslist toch alles alleen. »</a:t>
            </a:r>
            <a:endParaRPr lang="en-US" sz="2600" dirty="0"/>
          </a:p>
          <a:p>
            <a:pPr indent="0" marL="0">
              <a:spcAft>
                <a:spcPts val="800"/>
              </a:spcAft>
              <a:buNone/>
            </a:pPr>
            <a:r>
              <a:rPr lang="en-US" sz="2600" b="1" dirty="0">
                <a:solidFill>
                  <a:schemeClr val="tx1"/>
                </a:solidFill>
              </a:rPr>
              <a:t>4</a:t>
            </a:r>
            <a:r>
              <a:rPr lang="en-US" sz="2600" dirty="0">
                <a:solidFill>
                  <a:schemeClr val="tx1"/>
                </a:solidFill>
              </a:rPr>
              <a:t> « Een tweede offerte is tijdverlies. »</a:t>
            </a:r>
            <a:endParaRPr lang="en-US" sz="2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8 Geef toe… en weerleg</a:t>
            </a:r>
            <a:endParaRPr lang="en-US" sz="3200" dirty="0"/>
          </a:p>
        </p:txBody>
      </p:sp>
      <p:sp>
        <p:nvSpPr>
          <p:cNvPr id="3" name="tag"/>
          <p:cNvSpPr/>
          <p:nvPr/>
        </p:nvSpPr>
        <p:spPr>
          <a:xfrm>
            <a:off x="548640" y="237744"/>
            <a:ext cx="12801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COUCHE 2</a:t>
            </a:r>
            <a:endParaRPr lang="en-US" sz="1200" dirty="0"/>
          </a:p>
        </p:txBody>
      </p:sp>
      <p:sp>
        <p:nvSpPr>
          <p:cNvPr id="4" name="tag"/>
          <p:cNvSpPr/>
          <p:nvPr/>
        </p:nvSpPr>
        <p:spPr>
          <a:xfrm>
            <a:off x="19385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21</a:t>
            </a:r>
            <a:endParaRPr lang="en-US" sz="1200" dirty="0"/>
          </a:p>
        </p:txBody>
      </p:sp>
      <p:sp>
        <p:nvSpPr>
          <p:cNvPr id="7" name="Text 4"/>
          <p:cNvSpPr txBox="1"/>
          <p:nvPr/>
        </p:nvSpPr>
        <p:spPr>
          <a:xfrm>
            <a:off x="548640" y="1481328"/>
            <a:ext cx="7178040" cy="615696"/>
          </a:xfrm>
          <a:prstGeom prst="rect">
            <a:avLst/>
          </a:prstGeom>
          <a:noFill/>
          <a:ln/>
        </p:spPr>
        <p:txBody>
          <a:bodyPr wrap="square" lIns="0" tIns="0" rIns="0" bIns="0" rtlCol="0" anchor="t"/>
          <a:lstStyle/>
          <a:p>
            <a:pPr indent="0" marL="0">
              <a:buNone/>
            </a:pPr>
            <a:r>
              <a:rPr lang="en-US" sz="1600" i="1" dirty="0">
                <a:solidFill>
                  <a:schemeClr val="accent5"/>
                </a:solidFill>
              </a:rPr>
              <a:t>Répondez en deux temps : </a:t>
            </a:r>
            <a:r>
              <a:rPr lang="en-US" sz="1600" b="1" i="1" dirty="0">
                <a:solidFill>
                  <a:schemeClr val="accent5"/>
                </a:solidFill>
              </a:rPr>
              <a:t>concédez</a:t>
            </a:r>
            <a:r>
              <a:rPr lang="en-US" sz="1600" i="1" dirty="0">
                <a:solidFill>
                  <a:schemeClr val="accent5"/>
                </a:solidFill>
              </a:rPr>
              <a:t> (weliswaar / dat klopt / ik begrijp dat), puis </a:t>
            </a:r>
            <a:r>
              <a:rPr lang="en-US" sz="1600" b="1" i="1" dirty="0">
                <a:solidFill>
                  <a:schemeClr val="accent5"/>
                </a:solidFill>
              </a:rPr>
              <a:t>réfutez</a:t>
            </a:r>
            <a:r>
              <a:rPr lang="en-US" sz="1600" i="1" dirty="0">
                <a:solidFill>
                  <a:schemeClr val="accent5"/>
                </a:solidFill>
              </a:rPr>
              <a:t> (maar / toch / echter). Une phrase par mécanique. Seul · 6 min.</a:t>
            </a:r>
            <a:endParaRPr lang="en-US" sz="1600" dirty="0"/>
          </a:p>
        </p:txBody>
      </p:sp>
      <p:sp>
        <p:nvSpPr>
          <p:cNvPr id="8" name="exercise"/>
          <p:cNvSpPr txBox="1"/>
          <p:nvPr/>
        </p:nvSpPr>
        <p:spPr>
          <a:xfrm>
            <a:off x="548640" y="2170176"/>
            <a:ext cx="7178040" cy="4120896"/>
          </a:xfrm>
          <a:prstGeom prst="rect">
            <a:avLst/>
          </a:prstGeom>
          <a:noFill/>
          <a:ln/>
        </p:spPr>
        <p:txBody>
          <a:bodyPr wrap="square" lIns="0" tIns="0" rIns="0" bIns="0" rtlCol="0" anchor="t"/>
          <a:lstStyle/>
          <a:p>
            <a:pPr indent="0" marL="0">
              <a:spcAft>
                <a:spcPts val="400"/>
              </a:spcAft>
              <a:buNone/>
            </a:pPr>
            <a:r>
              <a:rPr lang="en-US" sz="2100" b="1" dirty="0">
                <a:solidFill>
                  <a:schemeClr val="tx1"/>
                </a:solidFill>
              </a:rPr>
              <a:t>1</a:t>
            </a:r>
            <a:r>
              <a:rPr lang="en-US" sz="2100" dirty="0">
                <a:solidFill>
                  <a:schemeClr val="tx1"/>
                </a:solidFill>
              </a:rPr>
              <a:t> « De renovatie is veel te duur! »</a:t>
            </a:r>
            <a:endParaRPr lang="en-US" sz="2100" dirty="0"/>
          </a:p>
          <a:p>
            <a:pPr indent="0" marL="0">
              <a:spcAft>
                <a:spcPts val="200"/>
              </a:spcAft>
              <a:buNone/>
            </a:pPr>
            <a:r>
              <a:rPr lang="en-US" sz="2100" b="1" dirty="0">
                <a:solidFill>
                  <a:schemeClr val="accent3"/>
                </a:solidFill>
              </a:rPr>
              <a:t>→ </a:t>
            </a:r>
            <a:r>
              <a:rPr lang="en-US" sz="2100" dirty="0">
                <a:solidFill>
                  <a:schemeClr val="accent3"/>
                </a:solidFill>
              </a:rPr>
              <a:t>Dat klopt, </a:t>
            </a:r>
            <a:r>
              <a:rPr lang="en-US" sz="2100" b="1" dirty="0">
                <a:solidFill>
                  <a:schemeClr val="accent3"/>
                </a:solidFill>
              </a:rPr>
              <a:t>maar</a:t>
            </a:r>
            <a:r>
              <a:rPr lang="en-US" sz="2100" dirty="0">
                <a:solidFill>
                  <a:schemeClr val="accent3"/>
                </a:solidFill>
              </a:rPr>
              <a:t> de schade wordt elk jaar groter. / De renovatie is </a:t>
            </a:r>
            <a:r>
              <a:rPr lang="en-US" sz="2100" b="1" dirty="0">
                <a:solidFill>
                  <a:schemeClr val="accent3"/>
                </a:solidFill>
              </a:rPr>
              <a:t>weliswaar</a:t>
            </a:r>
            <a:r>
              <a:rPr lang="en-US" sz="2100" dirty="0">
                <a:solidFill>
                  <a:schemeClr val="accent3"/>
                </a:solidFill>
              </a:rPr>
              <a:t> duur, </a:t>
            </a:r>
            <a:r>
              <a:rPr lang="en-US" sz="2100" b="1" dirty="0">
                <a:solidFill>
                  <a:schemeClr val="accent3"/>
                </a:solidFill>
              </a:rPr>
              <a:t>maar</a:t>
            </a:r>
            <a:r>
              <a:rPr lang="en-US" sz="2100" dirty="0">
                <a:solidFill>
                  <a:schemeClr val="accent3"/>
                </a:solidFill>
              </a:rPr>
              <a:t> uitstel kost meer.</a:t>
            </a:r>
            <a:endParaRPr lang="en-US" sz="2100" dirty="0"/>
          </a:p>
          <a:p>
            <a:pPr indent="0" marL="0">
              <a:spcAft>
                <a:spcPts val="400"/>
              </a:spcAft>
              <a:buNone/>
            </a:pPr>
            <a:r>
              <a:rPr lang="en-US" sz="2100" b="1" dirty="0">
                <a:solidFill>
                  <a:schemeClr val="tx1"/>
                </a:solidFill>
              </a:rPr>
              <a:t>2</a:t>
            </a:r>
            <a:r>
              <a:rPr lang="en-US" sz="2100" dirty="0">
                <a:solidFill>
                  <a:schemeClr val="tx1"/>
                </a:solidFill>
              </a:rPr>
              <a:t> « We kunnen de werken nog een jaar uitstellen. »</a:t>
            </a:r>
            <a:endParaRPr lang="en-US" sz="2100" dirty="0"/>
          </a:p>
          <a:p>
            <a:pPr indent="0" marL="0">
              <a:spcAft>
                <a:spcPts val="200"/>
              </a:spcAft>
              <a:buNone/>
            </a:pPr>
            <a:r>
              <a:rPr lang="en-US" sz="2100" b="1" dirty="0">
                <a:solidFill>
                  <a:schemeClr val="accent3"/>
                </a:solidFill>
              </a:rPr>
              <a:t>→ </a:t>
            </a:r>
            <a:r>
              <a:rPr lang="en-US" sz="2100" dirty="0">
                <a:solidFill>
                  <a:schemeClr val="accent3"/>
                </a:solidFill>
              </a:rPr>
              <a:t>Dat klopt </a:t>
            </a:r>
            <a:r>
              <a:rPr lang="en-US" sz="2100" b="1" dirty="0">
                <a:solidFill>
                  <a:schemeClr val="accent3"/>
                </a:solidFill>
              </a:rPr>
              <a:t>weliswaar</a:t>
            </a:r>
            <a:r>
              <a:rPr lang="en-US" sz="2100" dirty="0">
                <a:solidFill>
                  <a:schemeClr val="accent3"/>
                </a:solidFill>
              </a:rPr>
              <a:t>, </a:t>
            </a:r>
            <a:r>
              <a:rPr lang="en-US" sz="2100" b="1" dirty="0">
                <a:solidFill>
                  <a:schemeClr val="accent3"/>
                </a:solidFill>
              </a:rPr>
              <a:t>maar</a:t>
            </a:r>
            <a:r>
              <a:rPr lang="en-US" sz="2100" dirty="0">
                <a:solidFill>
                  <a:schemeClr val="accent3"/>
                </a:solidFill>
              </a:rPr>
              <a:t> het reservefonds is bijna leeg.</a:t>
            </a:r>
            <a:endParaRPr lang="en-US" sz="2100" dirty="0"/>
          </a:p>
          <a:p>
            <a:pPr indent="0" marL="0">
              <a:spcAft>
                <a:spcPts val="400"/>
              </a:spcAft>
              <a:buNone/>
            </a:pPr>
            <a:r>
              <a:rPr lang="en-US" sz="2100" b="1" dirty="0">
                <a:solidFill>
                  <a:schemeClr val="tx1"/>
                </a:solidFill>
              </a:rPr>
              <a:t>3</a:t>
            </a:r>
            <a:r>
              <a:rPr lang="en-US" sz="2100" dirty="0">
                <a:solidFill>
                  <a:schemeClr val="tx1"/>
                </a:solidFill>
              </a:rPr>
              <a:t> « De syndicus beslist toch alles alleen. »</a:t>
            </a:r>
            <a:endParaRPr lang="en-US" sz="2100" dirty="0"/>
          </a:p>
          <a:p>
            <a:pPr indent="0" marL="0">
              <a:spcAft>
                <a:spcPts val="200"/>
              </a:spcAft>
              <a:buNone/>
            </a:pPr>
            <a:r>
              <a:rPr lang="en-US" sz="2100" b="1" dirty="0">
                <a:solidFill>
                  <a:schemeClr val="accent3"/>
                </a:solidFill>
              </a:rPr>
              <a:t>→ </a:t>
            </a:r>
            <a:r>
              <a:rPr lang="en-US" sz="2100" dirty="0">
                <a:solidFill>
                  <a:schemeClr val="accent3"/>
                </a:solidFill>
              </a:rPr>
              <a:t>De syndicus heeft </a:t>
            </a:r>
            <a:r>
              <a:rPr lang="en-US" sz="2100" b="1" dirty="0">
                <a:solidFill>
                  <a:schemeClr val="accent3"/>
                </a:solidFill>
              </a:rPr>
              <a:t>weliswaar</a:t>
            </a:r>
            <a:r>
              <a:rPr lang="en-US" sz="2100" dirty="0">
                <a:solidFill>
                  <a:schemeClr val="accent3"/>
                </a:solidFill>
              </a:rPr>
              <a:t> veel taken, </a:t>
            </a:r>
            <a:r>
              <a:rPr lang="en-US" sz="2100" b="1" dirty="0">
                <a:solidFill>
                  <a:schemeClr val="accent3"/>
                </a:solidFill>
              </a:rPr>
              <a:t>maar</a:t>
            </a:r>
            <a:r>
              <a:rPr lang="en-US" sz="2100" dirty="0">
                <a:solidFill>
                  <a:schemeClr val="accent3"/>
                </a:solidFill>
              </a:rPr>
              <a:t> de vergadering beslist door te stemmen.</a:t>
            </a:r>
            <a:endParaRPr lang="en-US" sz="2100" dirty="0"/>
          </a:p>
          <a:p>
            <a:pPr indent="0" marL="0">
              <a:spcAft>
                <a:spcPts val="400"/>
              </a:spcAft>
              <a:buNone/>
            </a:pPr>
            <a:r>
              <a:rPr lang="en-US" sz="2100" b="1" dirty="0">
                <a:solidFill>
                  <a:schemeClr val="tx1"/>
                </a:solidFill>
              </a:rPr>
              <a:t>4</a:t>
            </a:r>
            <a:r>
              <a:rPr lang="en-US" sz="2100" dirty="0">
                <a:solidFill>
                  <a:schemeClr val="tx1"/>
                </a:solidFill>
              </a:rPr>
              <a:t> « Een tweede offerte is tijdverlies. »</a:t>
            </a:r>
            <a:endParaRPr lang="en-US" sz="2100" dirty="0"/>
          </a:p>
          <a:p>
            <a:pPr indent="0" marL="0">
              <a:spcAft>
                <a:spcPts val="200"/>
              </a:spcAft>
              <a:buNone/>
            </a:pPr>
            <a:r>
              <a:rPr lang="en-US" sz="2100" b="1" dirty="0">
                <a:solidFill>
                  <a:schemeClr val="accent3"/>
                </a:solidFill>
              </a:rPr>
              <a:t>→ </a:t>
            </a:r>
            <a:r>
              <a:rPr lang="en-US" sz="2100" dirty="0">
                <a:solidFill>
                  <a:schemeClr val="accent3"/>
                </a:solidFill>
              </a:rPr>
              <a:t>Ik begrijp dat. </a:t>
            </a:r>
            <a:r>
              <a:rPr lang="en-US" sz="2100" b="1" dirty="0">
                <a:solidFill>
                  <a:schemeClr val="accent3"/>
                </a:solidFill>
              </a:rPr>
              <a:t>Toch</a:t>
            </a:r>
            <a:r>
              <a:rPr lang="en-US" sz="2100" dirty="0">
                <a:solidFill>
                  <a:schemeClr val="accent3"/>
                </a:solidFill>
              </a:rPr>
              <a:t> kan een tweede offerte de prijs verlagen.</a:t>
            </a:r>
            <a:endParaRPr lang="en-US" sz="2100" dirty="0"/>
          </a:p>
        </p:txBody>
      </p:sp>
      <p:sp>
        <p:nvSpPr>
          <p:cNvPr id="9" name="aside"/>
          <p:cNvSpPr/>
          <p:nvPr/>
        </p:nvSpPr>
        <p:spPr>
          <a:xfrm>
            <a:off x="8046720" y="1481328"/>
            <a:ext cx="3593592" cy="4809744"/>
          </a:xfrm>
          <a:prstGeom prst="roundRect">
            <a:avLst>
              <a:gd name="adj" fmla="val 2036"/>
            </a:avLst>
          </a:prstGeom>
          <a:solidFill>
            <a:schemeClr val="accent6">
              <a:alpha val="10000"/>
            </a:schemeClr>
          </a:solidFill>
          <a:ln w="12700">
            <a:solidFill>
              <a:schemeClr val="accent6">
                <a:alpha val="60000"/>
              </a:schemeClr>
            </a:solidFill>
            <a:prstDash val="solid"/>
          </a:ln>
        </p:spPr>
      </p:sp>
      <p:pic>
        <p:nvPicPr>
          <p:cNvPr id="10"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1" name="Text 7"/>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ATTENTION</a:t>
            </a:r>
            <a:endParaRPr lang="en-US" sz="1400" dirty="0"/>
          </a:p>
        </p:txBody>
      </p:sp>
      <p:sp>
        <p:nvSpPr>
          <p:cNvPr id="12" name="Text 8"/>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chemeClr val="tx1"/>
                </a:solidFill>
              </a:rPr>
              <a:t>Concession = reconnaître un </a:t>
            </a:r>
            <a:r>
              <a:rPr lang="en-US" sz="1800" b="1" dirty="0">
                <a:solidFill>
                  <a:schemeClr val="tx1"/>
                </a:solidFill>
              </a:rPr>
              <a:t>fait</a:t>
            </a:r>
            <a:r>
              <a:rPr lang="en-US" sz="1800" dirty="0">
                <a:solidFill>
                  <a:schemeClr val="tx1"/>
                </a:solidFill>
              </a:rPr>
              <a:t>, pas céder</a:t>
            </a:r>
            <a:endParaRPr lang="en-US" sz="1800" dirty="0"/>
          </a:p>
          <a:p>
            <a:pPr marL="177800" indent="-177800">
              <a:spcAft>
                <a:spcPts val="600"/>
              </a:spcAft>
              <a:buSzPct val="100000"/>
              <a:buChar char="•"/>
            </a:pPr>
            <a:r>
              <a:rPr lang="en-US" sz="1800" b="1" dirty="0">
                <a:solidFill>
                  <a:schemeClr val="tx1"/>
                </a:solidFill>
              </a:rPr>
              <a:t>maar</a:t>
            </a:r>
            <a:r>
              <a:rPr lang="en-US" sz="1800" dirty="0">
                <a:solidFill>
                  <a:schemeClr val="tx1"/>
                </a:solidFill>
              </a:rPr>
              <a:t> : pas d’inversion</a:t>
            </a:r>
            <a:endParaRPr lang="en-US" sz="1800" dirty="0"/>
          </a:p>
          <a:p>
            <a:pPr marL="177800" indent="-177800">
              <a:spcAft>
                <a:spcPts val="600"/>
              </a:spcAft>
              <a:buSzPct val="100000"/>
              <a:buChar char="•"/>
            </a:pPr>
            <a:r>
              <a:rPr lang="en-US" sz="1800" b="1" dirty="0">
                <a:solidFill>
                  <a:schemeClr val="tx1"/>
                </a:solidFill>
              </a:rPr>
              <a:t>Toch</a:t>
            </a:r>
            <a:r>
              <a:rPr lang="en-US" sz="1800" dirty="0">
                <a:solidFill>
                  <a:schemeClr val="tx1"/>
                </a:solidFill>
              </a:rPr>
              <a:t> en tête : verbe en 2e place</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TAAK 5 : het minidebat</a:t>
            </a:r>
            <a:endParaRPr lang="en-US" sz="3200" dirty="0"/>
          </a:p>
        </p:txBody>
      </p:sp>
      <p:sp>
        <p:nvSpPr>
          <p:cNvPr id="3" name="tag"/>
          <p:cNvSpPr/>
          <p:nvPr/>
        </p:nvSpPr>
        <p:spPr>
          <a:xfrm>
            <a:off x="548640" y="237744"/>
            <a:ext cx="822960"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chemeClr val="bg1"/>
                </a:solidFill>
              </a:rPr>
              <a:t>ORAL</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22</a:t>
            </a:r>
            <a:endParaRPr lang="en-US" sz="1200" dirty="0"/>
          </a:p>
        </p:txBody>
      </p:sp>
      <p:sp>
        <p:nvSpPr>
          <p:cNvPr id="6" name="Text 3"/>
          <p:cNvSpPr txBox="1"/>
          <p:nvPr/>
        </p:nvSpPr>
        <p:spPr>
          <a:xfrm>
            <a:off x="548640" y="1481328"/>
            <a:ext cx="11091672" cy="877824"/>
          </a:xfrm>
          <a:prstGeom prst="rect">
            <a:avLst/>
          </a:prstGeom>
          <a:noFill/>
          <a:ln/>
        </p:spPr>
        <p:txBody>
          <a:bodyPr wrap="square" lIns="0" tIns="0" rIns="0" bIns="0" rtlCol="0" anchor="t"/>
          <a:lstStyle/>
          <a:p>
            <a:pPr indent="0" marL="0">
              <a:buNone/>
            </a:pPr>
            <a:r>
              <a:rPr lang="en-US" sz="1800" dirty="0">
                <a:solidFill>
                  <a:schemeClr val="tx1"/>
                </a:solidFill>
              </a:rPr>
              <a:t>Mini-assemblée à quatre : </a:t>
            </a:r>
            <a:r>
              <a:rPr lang="en-US" sz="1800" b="1" dirty="0">
                <a:solidFill>
                  <a:schemeClr val="tx1"/>
                </a:solidFill>
              </a:rPr>
              <a:t>deux débatteurs, un président, un observateur</a:t>
            </a:r>
            <a:r>
              <a:rPr lang="en-US" sz="1800" dirty="0">
                <a:solidFill>
                  <a:schemeClr val="tx1"/>
                </a:solidFill>
              </a:rPr>
              <a:t> · </a:t>
            </a:r>
            <a:r>
              <a:rPr lang="en-US" sz="1800" b="1" dirty="0">
                <a:solidFill>
                  <a:schemeClr val="tx1"/>
                </a:solidFill>
              </a:rPr>
              <a:t>2 rondes de 6 minutes</a:t>
            </a:r>
            <a:r>
              <a:rPr lang="en-US" sz="1800" dirty="0">
                <a:solidFill>
                  <a:schemeClr val="tx1"/>
                </a:solidFill>
              </a:rPr>
              <a:t>, rôles tournants. L’observateur coche : concession-réfutation · connecteurs variés · aucune interruption. Le président : </a:t>
            </a:r>
            <a:r>
              <a:rPr lang="en-US" sz="1800" i="1" dirty="0">
                <a:solidFill>
                  <a:schemeClr val="tx1"/>
                </a:solidFill>
              </a:rPr>
              <a:t>Meneer X, u hebt het woord.</a:t>
            </a:r>
            <a:endParaRPr lang="en-US" sz="1800" dirty="0"/>
          </a:p>
        </p:txBody>
      </p:sp>
      <p:sp>
        <p:nvSpPr>
          <p:cNvPr id="7" name="Shape 4"/>
          <p:cNvSpPr/>
          <p:nvPr/>
        </p:nvSpPr>
        <p:spPr>
          <a:xfrm>
            <a:off x="548640" y="2496312"/>
            <a:ext cx="5225796" cy="3794760"/>
          </a:xfrm>
          <a:prstGeom prst="roundRect">
            <a:avLst>
              <a:gd name="adj" fmla="val 2410"/>
            </a:avLst>
          </a:prstGeom>
          <a:solidFill>
            <a:schemeClr val="accent3">
              <a:alpha val="8000"/>
            </a:schemeClr>
          </a:solidFill>
          <a:ln w="15875">
            <a:solidFill>
              <a:schemeClr val="accent3"/>
            </a:solidFill>
            <a:prstDash val="solid"/>
          </a:ln>
        </p:spPr>
      </p:sp>
      <p:pic>
        <p:nvPicPr>
          <p:cNvPr id="8" name="Image 0" descr="preencoded.png">    </p:cNvPr>
          <p:cNvPicPr>
            <a:picLocks noChangeAspect="1"/>
          </p:cNvPicPr>
          <p:nvPr/>
        </p:nvPicPr>
        <p:blipFill>
          <a:blip r:embed="rId1"/>
          <a:stretch>
            <a:fillRect/>
          </a:stretch>
        </p:blipFill>
        <p:spPr>
          <a:xfrm>
            <a:off x="777240" y="2697480"/>
            <a:ext cx="384048" cy="384048"/>
          </a:xfrm>
          <a:prstGeom prst="rect">
            <a:avLst/>
          </a:prstGeom>
        </p:spPr>
      </p:pic>
      <p:sp>
        <p:nvSpPr>
          <p:cNvPr id="9" name="Text 5"/>
          <p:cNvSpPr txBox="1"/>
          <p:nvPr/>
        </p:nvSpPr>
        <p:spPr>
          <a:xfrm>
            <a:off x="1280160" y="2633472"/>
            <a:ext cx="4311396" cy="548640"/>
          </a:xfrm>
          <a:prstGeom prst="rect">
            <a:avLst/>
          </a:prstGeom>
          <a:noFill/>
          <a:ln/>
        </p:spPr>
        <p:txBody>
          <a:bodyPr wrap="square" lIns="0" tIns="0" rIns="0" bIns="0" rtlCol="0" anchor="ctr"/>
          <a:lstStyle/>
          <a:p>
            <a:pPr indent="0" marL="0">
              <a:buNone/>
            </a:pPr>
            <a:r>
              <a:rPr lang="en-US" sz="2000" b="1" dirty="0">
                <a:solidFill>
                  <a:schemeClr val="accent3"/>
                </a:solidFill>
                <a:latin typeface="+mj-lt" pitchFamily="34" charset="0"/>
                <a:ea typeface="+mj-lt" pitchFamily="34" charset="-122"/>
                <a:cs typeface="+mj-lt" pitchFamily="34" charset="-120"/>
              </a:rPr>
              <a:t>ROL A — VOOR de onmiddellijke renovatie</a:t>
            </a:r>
            <a:endParaRPr lang="en-US" sz="2000" dirty="0"/>
          </a:p>
        </p:txBody>
      </p:sp>
      <p:sp>
        <p:nvSpPr>
          <p:cNvPr id="10" name="Text 6"/>
          <p:cNvSpPr txBox="1"/>
          <p:nvPr/>
        </p:nvSpPr>
        <p:spPr>
          <a:xfrm>
            <a:off x="777240" y="3319272"/>
            <a:ext cx="4768596" cy="2834640"/>
          </a:xfrm>
          <a:prstGeom prst="rect">
            <a:avLst/>
          </a:prstGeom>
          <a:noFill/>
          <a:ln/>
        </p:spPr>
        <p:txBody>
          <a:bodyPr wrap="square" lIns="0" tIns="0" rIns="0" bIns="0" rtlCol="0" anchor="t"/>
          <a:lstStyle/>
          <a:p>
            <a:pPr marL="203200" indent="-203200">
              <a:spcAft>
                <a:spcPts val="800"/>
              </a:spcAft>
              <a:buSzPct val="100000"/>
              <a:buChar char="•"/>
            </a:pPr>
            <a:r>
              <a:rPr lang="en-US" sz="1600" b="1" dirty="0">
                <a:solidFill>
                  <a:schemeClr val="tx1"/>
                </a:solidFill>
              </a:rPr>
              <a:t>Vos arguments</a:t>
            </a:r>
            <a:r>
              <a:rPr lang="en-US" sz="1600" dirty="0">
                <a:solidFill>
                  <a:schemeClr val="tx1"/>
                </a:solidFill>
              </a:rPr>
              <a:t> : la schade grandit (</a:t>
            </a:r>
            <a:r>
              <a:rPr lang="en-US" sz="1600" i="1" dirty="0">
                <a:solidFill>
                  <a:schemeClr val="tx1"/>
                </a:solidFill>
              </a:rPr>
              <a:t>wordt elk jaar groter</a:t>
            </a:r>
            <a:r>
              <a:rPr lang="en-US" sz="1600" dirty="0">
                <a:solidFill>
                  <a:schemeClr val="tx1"/>
                </a:solidFill>
              </a:rPr>
              <a:t>) · le report coûtera plus cher · la sécurité</a:t>
            </a:r>
            <a:endParaRPr lang="en-US" sz="1600" dirty="0"/>
          </a:p>
          <a:p>
            <a:pPr marL="203200" indent="-203200">
              <a:spcAft>
                <a:spcPts val="800"/>
              </a:spcAft>
              <a:buSzPct val="100000"/>
              <a:buChar char="•"/>
            </a:pPr>
            <a:r>
              <a:rPr lang="en-US" sz="1600" dirty="0">
                <a:solidFill>
                  <a:schemeClr val="tx1"/>
                </a:solidFill>
              </a:rPr>
              <a:t>Concédez le prix : </a:t>
            </a:r>
            <a:r>
              <a:rPr lang="en-US" sz="1600" i="1" dirty="0">
                <a:solidFill>
                  <a:schemeClr val="tx1"/>
                </a:solidFill>
              </a:rPr>
              <a:t>De kostprijs is weliswaar hoog, maar…</a:t>
            </a:r>
            <a:endParaRPr lang="en-US" sz="1600" dirty="0"/>
          </a:p>
          <a:p>
            <a:pPr marL="203200" indent="-203200">
              <a:spcAft>
                <a:spcPts val="800"/>
              </a:spcAft>
              <a:buSzPct val="100000"/>
              <a:buChar char="•"/>
            </a:pPr>
            <a:r>
              <a:rPr lang="en-US" sz="1600" b="1" dirty="0">
                <a:solidFill>
                  <a:schemeClr val="tx1"/>
                </a:solidFill>
              </a:rPr>
              <a:t>Objectif secret</a:t>
            </a:r>
            <a:r>
              <a:rPr lang="en-US" sz="1600" dirty="0">
                <a:solidFill>
                  <a:schemeClr val="tx1"/>
                </a:solidFill>
              </a:rPr>
              <a:t> : obtenir un vote </a:t>
            </a:r>
            <a:r>
              <a:rPr lang="en-US" sz="1600" b="1" dirty="0">
                <a:solidFill>
                  <a:schemeClr val="tx1"/>
                </a:solidFill>
              </a:rPr>
              <a:t>aujourd’hui</a:t>
            </a:r>
            <a:endParaRPr lang="en-US" sz="1600" dirty="0"/>
          </a:p>
        </p:txBody>
      </p:sp>
      <p:sp>
        <p:nvSpPr>
          <p:cNvPr id="11" name="Shape 7"/>
          <p:cNvSpPr/>
          <p:nvPr/>
        </p:nvSpPr>
        <p:spPr>
          <a:xfrm>
            <a:off x="6414516" y="2496312"/>
            <a:ext cx="5225796" cy="3794760"/>
          </a:xfrm>
          <a:prstGeom prst="roundRect">
            <a:avLst>
              <a:gd name="adj" fmla="val 2410"/>
            </a:avLst>
          </a:prstGeom>
          <a:solidFill>
            <a:schemeClr val="accent1">
              <a:alpha val="8000"/>
            </a:schemeClr>
          </a:solidFill>
          <a:ln w="15875">
            <a:solidFill>
              <a:schemeClr val="accent1"/>
            </a:solidFill>
            <a:prstDash val="solid"/>
          </a:ln>
        </p:spPr>
      </p:sp>
      <p:pic>
        <p:nvPicPr>
          <p:cNvPr id="12" name="Image 1" descr="preencoded.png">    </p:cNvPr>
          <p:cNvPicPr>
            <a:picLocks noChangeAspect="1"/>
          </p:cNvPicPr>
          <p:nvPr/>
        </p:nvPicPr>
        <p:blipFill>
          <a:blip r:embed="rId2"/>
          <a:stretch>
            <a:fillRect/>
          </a:stretch>
        </p:blipFill>
        <p:spPr>
          <a:xfrm>
            <a:off x="6643116" y="2697480"/>
            <a:ext cx="384048" cy="384048"/>
          </a:xfrm>
          <a:prstGeom prst="rect">
            <a:avLst/>
          </a:prstGeom>
        </p:spPr>
      </p:pic>
      <p:sp>
        <p:nvSpPr>
          <p:cNvPr id="13" name="Text 8"/>
          <p:cNvSpPr txBox="1"/>
          <p:nvPr/>
        </p:nvSpPr>
        <p:spPr>
          <a:xfrm>
            <a:off x="7146036" y="2633472"/>
            <a:ext cx="4311396" cy="548640"/>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ROL B — TEGEN (eerst een tweede offerte)</a:t>
            </a:r>
            <a:endParaRPr lang="en-US" sz="2000" dirty="0"/>
          </a:p>
        </p:txBody>
      </p:sp>
      <p:sp>
        <p:nvSpPr>
          <p:cNvPr id="14" name="Text 9"/>
          <p:cNvSpPr txBox="1"/>
          <p:nvPr/>
        </p:nvSpPr>
        <p:spPr>
          <a:xfrm>
            <a:off x="6643116" y="3319272"/>
            <a:ext cx="4768596" cy="2834640"/>
          </a:xfrm>
          <a:prstGeom prst="rect">
            <a:avLst/>
          </a:prstGeom>
          <a:noFill/>
          <a:ln/>
        </p:spPr>
        <p:txBody>
          <a:bodyPr wrap="square" lIns="0" tIns="0" rIns="0" bIns="0" rtlCol="0" anchor="t"/>
          <a:lstStyle/>
          <a:p>
            <a:pPr marL="203200" indent="-203200">
              <a:spcAft>
                <a:spcPts val="800"/>
              </a:spcAft>
              <a:buSzPct val="100000"/>
              <a:buChar char="•"/>
            </a:pPr>
            <a:r>
              <a:rPr lang="en-US" sz="1600" b="1" dirty="0">
                <a:solidFill>
                  <a:schemeClr val="tx1"/>
                </a:solidFill>
              </a:rPr>
              <a:t>Vos arguments</a:t>
            </a:r>
            <a:r>
              <a:rPr lang="en-US" sz="1600" dirty="0">
                <a:solidFill>
                  <a:schemeClr val="tx1"/>
                </a:solidFill>
              </a:rPr>
              <a:t> : € 86.500 sans comparaison · reservefonds presque vide · une 2e offerte = économie possible</a:t>
            </a:r>
            <a:endParaRPr lang="en-US" sz="1600" dirty="0"/>
          </a:p>
          <a:p>
            <a:pPr marL="203200" indent="-203200">
              <a:spcAft>
                <a:spcPts val="800"/>
              </a:spcAft>
              <a:buSzPct val="100000"/>
              <a:buChar char="•"/>
            </a:pPr>
            <a:r>
              <a:rPr lang="en-US" sz="1600" dirty="0">
                <a:solidFill>
                  <a:schemeClr val="tx1"/>
                </a:solidFill>
              </a:rPr>
              <a:t>Concédez l’urgence : </a:t>
            </a:r>
            <a:r>
              <a:rPr lang="en-US" sz="1600" i="1" dirty="0">
                <a:solidFill>
                  <a:schemeClr val="tx1"/>
                </a:solidFill>
              </a:rPr>
              <a:t>Dat klopt, maar twee weken wachten verandert niets.</a:t>
            </a:r>
            <a:endParaRPr lang="en-US" sz="1600" dirty="0"/>
          </a:p>
          <a:p>
            <a:pPr marL="203200" indent="-203200">
              <a:spcAft>
                <a:spcPts val="800"/>
              </a:spcAft>
              <a:buSzPct val="100000"/>
              <a:buChar char="•"/>
            </a:pPr>
            <a:r>
              <a:rPr lang="en-US" sz="1600" b="1" dirty="0">
                <a:solidFill>
                  <a:schemeClr val="tx1"/>
                </a:solidFill>
              </a:rPr>
              <a:t>Objectif secret</a:t>
            </a:r>
            <a:r>
              <a:rPr lang="en-US" sz="1600" dirty="0">
                <a:solidFill>
                  <a:schemeClr val="tx1"/>
                </a:solidFill>
              </a:rPr>
              <a:t> : obtenir le report en novembre (le compromis du PV réel !)</a:t>
            </a:r>
            <a:endParaRPr lang="en-US" sz="1600" dirty="0"/>
          </a:p>
        </p:txBody>
      </p:sp>
      <p:sp>
        <p:nvSpPr>
          <p:cNvPr id="15" name="Shape 10"/>
          <p:cNvSpPr/>
          <p:nvPr/>
        </p:nvSpPr>
        <p:spPr>
          <a:xfrm>
            <a:off x="5838444" y="4137660"/>
            <a:ext cx="512064" cy="512064"/>
          </a:xfrm>
          <a:prstGeom prst="ellipse">
            <a:avLst/>
          </a:prstGeom>
          <a:solidFill>
            <a:schemeClr val="tx2"/>
          </a:solidFill>
          <a:ln/>
        </p:spPr>
      </p:sp>
      <p:sp>
        <p:nvSpPr>
          <p:cNvPr id="16" name="Text 11"/>
          <p:cNvSpPr txBox="1"/>
          <p:nvPr/>
        </p:nvSpPr>
        <p:spPr>
          <a:xfrm>
            <a:off x="5838444" y="4137660"/>
            <a:ext cx="512064" cy="512064"/>
          </a:xfrm>
          <a:prstGeom prst="rect">
            <a:avLst/>
          </a:prstGeom>
          <a:noFill/>
          <a:ln/>
        </p:spPr>
        <p:txBody>
          <a:bodyPr wrap="square" lIns="0" tIns="0" rIns="0" bIns="0" rtlCol="0" anchor="ctr"/>
          <a:lstStyle/>
          <a:p>
            <a:pPr algn="ctr" indent="0" marL="0">
              <a:buNone/>
            </a:pPr>
            <a:r>
              <a:rPr lang="en-US" sz="1400" b="1" dirty="0">
                <a:solidFill>
                  <a:schemeClr val="bg1"/>
                </a:solidFill>
              </a:rPr>
              <a:t>vs</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D5 · Zo zeg je dat : au service clientèle</a:t>
            </a:r>
            <a:endParaRPr lang="en-US" sz="3200" dirty="0"/>
          </a:p>
        </p:txBody>
      </p:sp>
      <p:sp>
        <p:nvSpPr>
          <p:cNvPr id="3" name="tag"/>
          <p:cNvSpPr/>
          <p:nvPr/>
        </p:nvSpPr>
        <p:spPr>
          <a:xfrm>
            <a:off x="548640" y="237744"/>
            <a:ext cx="17373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WOORDENSCHAT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22a</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5669280"/>
                <a:gridCol w="5422392"/>
              </a:tblGrid>
              <a:tr h="565099">
                <a:tc>
                  <a:txBody>
                    <a:bodyPr/>
                    <a:lstStyle/>
                    <a:p>
                      <a:pPr algn="l" indent="0" marL="0">
                        <a:buNone/>
                      </a:pPr>
                      <a:r>
                        <a:rPr lang="en-US" sz="1400" b="1" dirty="0">
                          <a:solidFill>
                            <a:schemeClr val="bg1"/>
                          </a:solidFill>
                        </a:rPr>
                        <a:t>NEDERLANDS</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FRANÇAIS</a:t>
                      </a:r>
                      <a:endParaRPr lang="en-US" sz="14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523951">
                <a:tc>
                  <a:txBody>
                    <a:bodyPr/>
                    <a:lstStyle/>
                    <a:p>
                      <a:pPr algn="l" indent="0" marL="0">
                        <a:buNone/>
                      </a:pPr>
                      <a:r>
                        <a:rPr lang="en-US" sz="1600" b="1" dirty="0">
                          <a:solidFill>
                            <a:schemeClr val="accent4"/>
                          </a:solidFill>
                        </a:rPr>
                        <a:t>het</a:t>
                      </a:r>
                      <a:r>
                        <a:rPr lang="en-US" sz="1600" dirty="0">
                          <a:solidFill>
                            <a:schemeClr val="tx1"/>
                          </a:solidFill>
                        </a:rPr>
                        <a:t> kasticket (NL : </a:t>
                      </a:r>
                      <a:r>
                        <a:rPr lang="en-US" sz="1600" b="1" dirty="0">
                          <a:solidFill>
                            <a:schemeClr val="accent2"/>
                          </a:solidFill>
                        </a:rPr>
                        <a:t>de</a:t>
                      </a:r>
                      <a:r>
                        <a:rPr lang="en-US" sz="1600" dirty="0">
                          <a:solidFill>
                            <a:schemeClr val="tx1"/>
                          </a:solidFill>
                        </a:rPr>
                        <a:t> kassabon)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le ticket de caisse (belgicisme)</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523951">
                <a:tc>
                  <a:txBody>
                    <a:bodyPr/>
                    <a:lstStyle/>
                    <a:p>
                      <a:pPr algn="l" indent="0" marL="0">
                        <a:buNone/>
                      </a:pPr>
                      <a:r>
                        <a:rPr lang="en-US" sz="1600" dirty="0">
                          <a:solidFill>
                            <a:schemeClr val="tx1"/>
                          </a:solidFill>
                        </a:rPr>
                        <a:t>De garantie loopt nog / is verlopen.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La garantie court encore / a expiré.</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523951">
                <a:tc>
                  <a:txBody>
                    <a:bodyPr/>
                    <a:lstStyle/>
                    <a:p>
                      <a:pPr algn="l" indent="0" marL="0">
                        <a:buNone/>
                      </a:pPr>
                      <a:r>
                        <a:rPr lang="en-US" sz="1600" dirty="0">
                          <a:solidFill>
                            <a:schemeClr val="tx1"/>
                          </a:solidFill>
                        </a:rPr>
                        <a:t>iets omruilen · terugbetalen (séparables)</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échanger · rembourser quelque chose</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523951">
                <a:tc>
                  <a:txBody>
                    <a:bodyPr/>
                    <a:lstStyle/>
                    <a:p>
                      <a:pPr algn="l" indent="0" marL="0">
                        <a:buNone/>
                      </a:pPr>
                      <a:r>
                        <a:rPr lang="en-US" sz="1600" b="1" dirty="0">
                          <a:solidFill>
                            <a:schemeClr val="accent2"/>
                          </a:solidFill>
                        </a:rPr>
                        <a:t>de</a:t>
                      </a:r>
                      <a:r>
                        <a:rPr lang="en-US" sz="1600" dirty="0">
                          <a:solidFill>
                            <a:schemeClr val="tx1"/>
                          </a:solidFill>
                        </a:rPr>
                        <a:t> tegoedbon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un bon d’achat (un avoir)</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523951">
                <a:tc>
                  <a:txBody>
                    <a:bodyPr/>
                    <a:lstStyle/>
                    <a:p>
                      <a:pPr algn="l" indent="0" marL="0">
                        <a:buNone/>
                      </a:pPr>
                      <a:r>
                        <a:rPr lang="en-US" sz="1600" dirty="0">
                          <a:solidFill>
                            <a:schemeClr val="tx1"/>
                          </a:solidFill>
                        </a:rPr>
                        <a:t>Het werkte maar twee weken.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Ça n’a fonctionné que deux semaines.</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523951">
                <a:tc>
                  <a:txBody>
                    <a:bodyPr/>
                    <a:lstStyle/>
                    <a:p>
                      <a:pPr algn="l" indent="0" marL="0">
                        <a:buNone/>
                      </a:pPr>
                      <a:r>
                        <a:rPr lang="en-US" sz="1600" dirty="0">
                          <a:solidFill>
                            <a:schemeClr val="tx1"/>
                          </a:solidFill>
                        </a:rPr>
                        <a:t>Zou ik de verantwoordelijke kunnen spreken?</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Pourrais-je parler au responsable ?</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523951">
                <a:tc>
                  <a:txBody>
                    <a:bodyPr/>
                    <a:lstStyle/>
                    <a:p>
                      <a:pPr algn="l" indent="0" marL="0">
                        <a:buNone/>
                      </a:pPr>
                      <a:r>
                        <a:rPr lang="en-US" sz="1600" b="1" dirty="0">
                          <a:solidFill>
                            <a:schemeClr val="accent2"/>
                          </a:solidFill>
                        </a:rPr>
                        <a:t>de</a:t>
                      </a:r>
                      <a:r>
                        <a:rPr lang="en-US" sz="1600" dirty="0">
                          <a:solidFill>
                            <a:schemeClr val="tx1"/>
                          </a:solidFill>
                        </a:rPr>
                        <a:t> solden (pl.) · ontgoocheld</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600" dirty="0">
                          <a:solidFill>
                            <a:schemeClr val="tx1"/>
                          </a:solidFill>
                        </a:rPr>
                        <a:t>les soldes (belgicisme) · déçu</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523951">
                <a:tc>
                  <a:txBody>
                    <a:bodyPr/>
                    <a:lstStyle/>
                    <a:p>
                      <a:pPr algn="l" indent="0" marL="0">
                        <a:buNone/>
                      </a:pPr>
                      <a:r>
                        <a:rPr lang="en-US" sz="1600" dirty="0">
                          <a:solidFill>
                            <a:schemeClr val="tx1"/>
                          </a:solidFill>
                        </a:rPr>
                        <a:t>Ik begrijp dat u ontgoocheld bent. Toch…</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600" dirty="0">
                          <a:solidFill>
                            <a:schemeClr val="tx1"/>
                          </a:solidFill>
                        </a:rPr>
                        <a:t>Je comprends que vous soyez déçu. Pourtant…</a:t>
                      </a:r>
                      <a:endParaRPr lang="en-US" sz="16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D5 · Een aankoop terugbrengen</a:t>
            </a:r>
            <a:endParaRPr lang="en-US" sz="3200" dirty="0"/>
          </a:p>
        </p:txBody>
      </p:sp>
      <p:sp>
        <p:nvSpPr>
          <p:cNvPr id="3" name="tag"/>
          <p:cNvSpPr/>
          <p:nvPr/>
        </p:nvSpPr>
        <p:spPr>
          <a:xfrm>
            <a:off x="548640" y="237744"/>
            <a:ext cx="822960"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chemeClr val="bg1"/>
                </a:solidFill>
              </a:rPr>
              <a:t>ORAL</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22a</a:t>
            </a:r>
            <a:endParaRPr lang="en-US" sz="1200" dirty="0"/>
          </a:p>
        </p:txBody>
      </p:sp>
      <p:sp>
        <p:nvSpPr>
          <p:cNvPr id="6" name="Text 3"/>
          <p:cNvSpPr txBox="1"/>
          <p:nvPr/>
        </p:nvSpPr>
        <p:spPr>
          <a:xfrm>
            <a:off x="548640" y="1481328"/>
            <a:ext cx="11091672" cy="877824"/>
          </a:xfrm>
          <a:prstGeom prst="rect">
            <a:avLst/>
          </a:prstGeom>
          <a:noFill/>
          <a:ln/>
        </p:spPr>
        <p:txBody>
          <a:bodyPr wrap="square" lIns="0" tIns="0" rIns="0" bIns="0" rtlCol="0" anchor="t"/>
          <a:lstStyle/>
          <a:p>
            <a:pPr indent="0" marL="0">
              <a:buNone/>
            </a:pPr>
            <a:r>
              <a:rPr lang="en-US" sz="1800" dirty="0">
                <a:solidFill>
                  <a:schemeClr val="tx1"/>
                </a:solidFill>
              </a:rPr>
              <a:t>Le client a ses arguments, le vendeur ses objections : </a:t>
            </a:r>
            <a:r>
              <a:rPr lang="en-US" sz="1800" b="1" dirty="0">
                <a:solidFill>
                  <a:schemeClr val="tx1"/>
                </a:solidFill>
              </a:rPr>
              <a:t>concéder d’abord, puis réfuter</a:t>
            </a:r>
            <a:r>
              <a:rPr lang="en-US" sz="1800" dirty="0">
                <a:solidFill>
                  <a:schemeClr val="tx1"/>
                </a:solidFill>
              </a:rPr>
              <a:t>. </a:t>
            </a:r>
            <a:r>
              <a:rPr lang="en-US" sz="1800" b="1" dirty="0">
                <a:solidFill>
                  <a:schemeClr val="tx1"/>
                </a:solidFill>
              </a:rPr>
              <a:t>2 rondes de 5 min</a:t>
            </a:r>
            <a:r>
              <a:rPr lang="en-US" sz="1800" dirty="0">
                <a:solidFill>
                  <a:schemeClr val="tx1"/>
                </a:solidFill>
              </a:rPr>
              <a:t>, rôles inversés. L’observateur coche : concessions variées (</a:t>
            </a:r>
            <a:r>
              <a:rPr lang="en-US" sz="1800" i="1" dirty="0">
                <a:solidFill>
                  <a:schemeClr val="tx1"/>
                </a:solidFill>
              </a:rPr>
              <a:t>weliswaar · dat klopt · toch · hoewel</a:t>
            </a:r>
            <a:r>
              <a:rPr lang="en-US" sz="1800" dirty="0">
                <a:solidFill>
                  <a:schemeClr val="tx1"/>
                </a:solidFill>
              </a:rPr>
              <a:t>), ton poli, accord trouvé ou non.</a:t>
            </a:r>
            <a:endParaRPr lang="en-US" sz="1800" dirty="0"/>
          </a:p>
        </p:txBody>
      </p:sp>
      <p:sp>
        <p:nvSpPr>
          <p:cNvPr id="7" name="Shape 4"/>
          <p:cNvSpPr/>
          <p:nvPr/>
        </p:nvSpPr>
        <p:spPr>
          <a:xfrm>
            <a:off x="548640" y="2496312"/>
            <a:ext cx="5225796" cy="3794760"/>
          </a:xfrm>
          <a:prstGeom prst="roundRect">
            <a:avLst>
              <a:gd name="adj" fmla="val 2410"/>
            </a:avLst>
          </a:prstGeom>
          <a:solidFill>
            <a:schemeClr val="accent2">
              <a:alpha val="8000"/>
            </a:schemeClr>
          </a:solidFill>
          <a:ln w="15875">
            <a:solidFill>
              <a:schemeClr val="accent2"/>
            </a:solidFill>
            <a:prstDash val="solid"/>
          </a:ln>
        </p:spPr>
      </p:sp>
      <p:pic>
        <p:nvPicPr>
          <p:cNvPr id="8" name="Image 0" descr="preencoded.png">    </p:cNvPr>
          <p:cNvPicPr>
            <a:picLocks noChangeAspect="1"/>
          </p:cNvPicPr>
          <p:nvPr/>
        </p:nvPicPr>
        <p:blipFill>
          <a:blip r:embed="rId1"/>
          <a:stretch>
            <a:fillRect/>
          </a:stretch>
        </p:blipFill>
        <p:spPr>
          <a:xfrm>
            <a:off x="777240" y="2697480"/>
            <a:ext cx="384048" cy="384048"/>
          </a:xfrm>
          <a:prstGeom prst="rect">
            <a:avLst/>
          </a:prstGeom>
        </p:spPr>
      </p:pic>
      <p:sp>
        <p:nvSpPr>
          <p:cNvPr id="9" name="Text 5"/>
          <p:cNvSpPr txBox="1"/>
          <p:nvPr/>
        </p:nvSpPr>
        <p:spPr>
          <a:xfrm>
            <a:off x="1280160" y="2633472"/>
            <a:ext cx="4311396" cy="548640"/>
          </a:xfrm>
          <a:prstGeom prst="rect">
            <a:avLst/>
          </a:prstGeom>
          <a:noFill/>
          <a:ln/>
        </p:spPr>
        <p:txBody>
          <a:bodyPr wrap="square" lIns="0" tIns="0" rIns="0" bIns="0" rtlCol="0" anchor="ctr"/>
          <a:lstStyle/>
          <a:p>
            <a:pPr indent="0" marL="0">
              <a:buNone/>
            </a:pPr>
            <a:r>
              <a:rPr lang="en-US" sz="2000" b="1" dirty="0">
                <a:solidFill>
                  <a:schemeClr val="accent2"/>
                </a:solidFill>
                <a:latin typeface="+mj-lt" pitchFamily="34" charset="0"/>
                <a:ea typeface="+mj-lt" pitchFamily="34" charset="-122"/>
                <a:cs typeface="+mj-lt" pitchFamily="34" charset="-120"/>
              </a:rPr>
              <a:t>ROL A — De klant</a:t>
            </a:r>
            <a:endParaRPr lang="en-US" sz="2000" dirty="0"/>
          </a:p>
        </p:txBody>
      </p:sp>
      <p:sp>
        <p:nvSpPr>
          <p:cNvPr id="10" name="Text 6"/>
          <p:cNvSpPr txBox="1"/>
          <p:nvPr/>
        </p:nvSpPr>
        <p:spPr>
          <a:xfrm>
            <a:off x="777240" y="3319272"/>
            <a:ext cx="4768596" cy="283464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Achat défectueux : concédez </a:t>
            </a:r>
            <a:r>
              <a:rPr lang="en-US" sz="1500" b="1" dirty="0">
                <a:solidFill>
                  <a:schemeClr val="tx1"/>
                </a:solidFill>
              </a:rPr>
              <a:t>2 fois</a:t>
            </a:r>
            <a:r>
              <a:rPr lang="en-US" sz="1500" dirty="0">
                <a:solidFill>
                  <a:schemeClr val="tx1"/>
                </a:solidFill>
              </a:rPr>
              <a:t> (</a:t>
            </a:r>
            <a:r>
              <a:rPr lang="en-US" sz="1500" i="1" dirty="0">
                <a:solidFill>
                  <a:schemeClr val="tx1"/>
                </a:solidFill>
              </a:rPr>
              <a:t>U hebt weliswaar gelijk, maar… · Dat klopt, maar…</a:t>
            </a:r>
            <a:r>
              <a:rPr lang="en-US" sz="1500" dirty="0">
                <a:solidFill>
                  <a:schemeClr val="tx1"/>
                </a:solidFill>
              </a:rPr>
              <a:t>)</a:t>
            </a:r>
            <a:endParaRPr lang="en-US" sz="1500" dirty="0"/>
          </a:p>
          <a:p>
            <a:pPr marL="203200" indent="-203200">
              <a:spcAft>
                <a:spcPts val="800"/>
              </a:spcAft>
              <a:buSzPct val="100000"/>
              <a:buChar char="•"/>
            </a:pPr>
            <a:r>
              <a:rPr lang="en-US" sz="1500" dirty="0">
                <a:solidFill>
                  <a:schemeClr val="tx1"/>
                </a:solidFill>
              </a:rPr>
              <a:t>Réfutez avec </a:t>
            </a:r>
            <a:r>
              <a:rPr lang="en-US" sz="1500" b="1" dirty="0">
                <a:solidFill>
                  <a:schemeClr val="tx1"/>
                </a:solidFill>
              </a:rPr>
              <a:t>un fait précis</a:t>
            </a:r>
            <a:r>
              <a:rPr lang="en-US" sz="1500" dirty="0">
                <a:solidFill>
                  <a:schemeClr val="tx1"/>
                </a:solidFill>
              </a:rPr>
              <a:t> (date, prix) · proposez un </a:t>
            </a:r>
            <a:r>
              <a:rPr lang="en-US" sz="1500" b="1" dirty="0">
                <a:solidFill>
                  <a:schemeClr val="tx1"/>
                </a:solidFill>
              </a:rPr>
              <a:t>compromis</a:t>
            </a:r>
            <a:endParaRPr lang="en-US" sz="1500" dirty="0"/>
          </a:p>
          <a:p>
            <a:pPr marL="203200" indent="-203200">
              <a:spcAft>
                <a:spcPts val="800"/>
              </a:spcAft>
              <a:buSzPct val="100000"/>
              <a:buChar char="•"/>
            </a:pPr>
            <a:r>
              <a:rPr lang="en-US" sz="1500" dirty="0">
                <a:solidFill>
                  <a:schemeClr val="tx1"/>
                </a:solidFill>
              </a:rPr>
              <a:t>Cartes : ① casque en panne après 3 semaines (extrait bancaire) · ② veste trop petite (de solden) · ③ aspirateur bruyant, garantie expirée depuis une semaine</a:t>
            </a:r>
            <a:endParaRPr lang="en-US" sz="1500" dirty="0"/>
          </a:p>
          <a:p>
            <a:pPr marL="203200" indent="-203200">
              <a:spcAft>
                <a:spcPts val="800"/>
              </a:spcAft>
              <a:buSzPct val="100000"/>
              <a:buChar char="•"/>
            </a:pPr>
            <a:r>
              <a:rPr lang="en-US" sz="1500" b="1" dirty="0">
                <a:solidFill>
                  <a:schemeClr val="tx1"/>
                </a:solidFill>
              </a:rPr>
              <a:t>Secret</a:t>
            </a:r>
            <a:r>
              <a:rPr lang="en-US" sz="1500" dirty="0">
                <a:solidFill>
                  <a:schemeClr val="tx1"/>
                </a:solidFill>
              </a:rPr>
              <a:t> : remboursement… mais échange accepté</a:t>
            </a:r>
            <a:endParaRPr lang="en-US" sz="1500" dirty="0"/>
          </a:p>
        </p:txBody>
      </p:sp>
      <p:sp>
        <p:nvSpPr>
          <p:cNvPr id="11" name="Shape 7"/>
          <p:cNvSpPr/>
          <p:nvPr/>
        </p:nvSpPr>
        <p:spPr>
          <a:xfrm>
            <a:off x="6414516" y="2496312"/>
            <a:ext cx="5225796" cy="3794760"/>
          </a:xfrm>
          <a:prstGeom prst="roundRect">
            <a:avLst>
              <a:gd name="adj" fmla="val 2410"/>
            </a:avLst>
          </a:prstGeom>
          <a:solidFill>
            <a:schemeClr val="accent1">
              <a:alpha val="8000"/>
            </a:schemeClr>
          </a:solidFill>
          <a:ln w="15875">
            <a:solidFill>
              <a:schemeClr val="accent1"/>
            </a:solidFill>
            <a:prstDash val="solid"/>
          </a:ln>
        </p:spPr>
      </p:sp>
      <p:pic>
        <p:nvPicPr>
          <p:cNvPr id="12" name="Image 1" descr="preencoded.png">    </p:cNvPr>
          <p:cNvPicPr>
            <a:picLocks noChangeAspect="1"/>
          </p:cNvPicPr>
          <p:nvPr/>
        </p:nvPicPr>
        <p:blipFill>
          <a:blip r:embed="rId2"/>
          <a:stretch>
            <a:fillRect/>
          </a:stretch>
        </p:blipFill>
        <p:spPr>
          <a:xfrm>
            <a:off x="6643116" y="2697480"/>
            <a:ext cx="384048" cy="384048"/>
          </a:xfrm>
          <a:prstGeom prst="rect">
            <a:avLst/>
          </a:prstGeom>
        </p:spPr>
      </p:pic>
      <p:sp>
        <p:nvSpPr>
          <p:cNvPr id="13" name="Text 8"/>
          <p:cNvSpPr txBox="1"/>
          <p:nvPr/>
        </p:nvSpPr>
        <p:spPr>
          <a:xfrm>
            <a:off x="7146036" y="2633472"/>
            <a:ext cx="4311396" cy="548640"/>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ROL B — De verkoper</a:t>
            </a:r>
            <a:endParaRPr lang="en-US" sz="2000" dirty="0"/>
          </a:p>
        </p:txBody>
      </p:sp>
      <p:sp>
        <p:nvSpPr>
          <p:cNvPr id="14" name="Text 9"/>
          <p:cNvSpPr txBox="1"/>
          <p:nvPr/>
        </p:nvSpPr>
        <p:spPr>
          <a:xfrm>
            <a:off x="6643116" y="3319272"/>
            <a:ext cx="4768596" cy="2834640"/>
          </a:xfrm>
          <a:prstGeom prst="rect">
            <a:avLst/>
          </a:prstGeom>
          <a:noFill/>
          <a:ln/>
        </p:spPr>
        <p:txBody>
          <a:bodyPr wrap="square" lIns="0" tIns="0" rIns="0" bIns="0" rtlCol="0" anchor="t"/>
          <a:lstStyle/>
          <a:p>
            <a:pPr marL="203200" indent="-203200">
              <a:spcAft>
                <a:spcPts val="800"/>
              </a:spcAft>
              <a:buSzPct val="100000"/>
              <a:buChar char="•"/>
            </a:pPr>
            <a:r>
              <a:rPr lang="en-US" sz="1500" b="1" dirty="0">
                <a:solidFill>
                  <a:schemeClr val="tx1"/>
                </a:solidFill>
              </a:rPr>
              <a:t>3 objections</a:t>
            </a:r>
            <a:r>
              <a:rPr lang="en-US" sz="1500" dirty="0">
                <a:solidFill>
                  <a:schemeClr val="tx1"/>
                </a:solidFill>
              </a:rPr>
              <a:t> : pas de ticket · garantie · mauvaise utilisation</a:t>
            </a:r>
            <a:endParaRPr lang="en-US" sz="1500" dirty="0"/>
          </a:p>
          <a:p>
            <a:pPr marL="203200" indent="-203200">
              <a:spcAft>
                <a:spcPts val="800"/>
              </a:spcAft>
              <a:buSzPct val="100000"/>
              <a:buChar char="•"/>
            </a:pPr>
            <a:r>
              <a:rPr lang="en-US" sz="1500" dirty="0">
                <a:solidFill>
                  <a:schemeClr val="tx1"/>
                </a:solidFill>
              </a:rPr>
              <a:t>Concédez </a:t>
            </a:r>
            <a:r>
              <a:rPr lang="en-US" sz="1500" b="1" dirty="0">
                <a:solidFill>
                  <a:schemeClr val="tx1"/>
                </a:solidFill>
              </a:rPr>
              <a:t>1 fois</a:t>
            </a:r>
            <a:r>
              <a:rPr lang="en-US" sz="1500" dirty="0">
                <a:solidFill>
                  <a:schemeClr val="tx1"/>
                </a:solidFill>
              </a:rPr>
              <a:t> : </a:t>
            </a:r>
            <a:r>
              <a:rPr lang="en-US" sz="1500" i="1" dirty="0">
                <a:solidFill>
                  <a:schemeClr val="tx1"/>
                </a:solidFill>
              </a:rPr>
              <a:t>Ik begrijp dat u ontgoocheld bent. Toch…</a:t>
            </a:r>
            <a:endParaRPr lang="en-US" sz="1500" dirty="0"/>
          </a:p>
          <a:p>
            <a:pPr marL="203200" indent="-203200">
              <a:spcAft>
                <a:spcPts val="800"/>
              </a:spcAft>
              <a:buSzPct val="100000"/>
              <a:buChar char="•"/>
            </a:pPr>
            <a:r>
              <a:rPr lang="en-US" sz="1500" dirty="0">
                <a:solidFill>
                  <a:schemeClr val="tx1"/>
                </a:solidFill>
              </a:rPr>
              <a:t>Proposez une </a:t>
            </a:r>
            <a:r>
              <a:rPr lang="en-US" sz="1500" b="1" dirty="0">
                <a:solidFill>
                  <a:schemeClr val="tx1"/>
                </a:solidFill>
              </a:rPr>
              <a:t>solution</a:t>
            </a:r>
            <a:endParaRPr lang="en-US" sz="1500" dirty="0"/>
          </a:p>
          <a:p>
            <a:pPr marL="203200" indent="-203200">
              <a:spcAft>
                <a:spcPts val="800"/>
              </a:spcAft>
              <a:buSzPct val="100000"/>
              <a:buChar char="•"/>
            </a:pPr>
            <a:r>
              <a:rPr lang="en-US" sz="1500" b="1" dirty="0">
                <a:solidFill>
                  <a:schemeClr val="tx1"/>
                </a:solidFill>
              </a:rPr>
              <a:t>Secret</a:t>
            </a:r>
            <a:r>
              <a:rPr lang="en-US" sz="1500" dirty="0">
                <a:solidFill>
                  <a:schemeClr val="tx1"/>
                </a:solidFill>
              </a:rPr>
              <a:t> : bon d’achat, pas d’argent… sauf si le client vous convainc</a:t>
            </a:r>
            <a:endParaRPr lang="en-US" sz="1500" dirty="0"/>
          </a:p>
          <a:p>
            <a:pPr marL="203200" indent="-203200">
              <a:spcAft>
                <a:spcPts val="800"/>
              </a:spcAft>
              <a:buSzPct val="100000"/>
              <a:buChar char="•"/>
            </a:pPr>
            <a:r>
              <a:rPr lang="en-US" sz="1500" dirty="0">
                <a:solidFill>
                  <a:schemeClr val="tx1"/>
                </a:solidFill>
              </a:rPr>
              <a:t>Imprévu : votre responsable n’est pas là !</a:t>
            </a:r>
            <a:endParaRPr lang="en-US" sz="1500" dirty="0"/>
          </a:p>
        </p:txBody>
      </p:sp>
      <p:sp>
        <p:nvSpPr>
          <p:cNvPr id="15" name="Shape 10"/>
          <p:cNvSpPr/>
          <p:nvPr/>
        </p:nvSpPr>
        <p:spPr>
          <a:xfrm>
            <a:off x="5838444" y="4137660"/>
            <a:ext cx="512064" cy="512064"/>
          </a:xfrm>
          <a:prstGeom prst="ellipse">
            <a:avLst/>
          </a:prstGeom>
          <a:solidFill>
            <a:schemeClr val="tx2"/>
          </a:solidFill>
          <a:ln/>
        </p:spPr>
      </p:sp>
      <p:sp>
        <p:nvSpPr>
          <p:cNvPr id="16" name="Text 11"/>
          <p:cNvSpPr txBox="1"/>
          <p:nvPr/>
        </p:nvSpPr>
        <p:spPr>
          <a:xfrm>
            <a:off x="5838444" y="4137660"/>
            <a:ext cx="512064" cy="512064"/>
          </a:xfrm>
          <a:prstGeom prst="rect">
            <a:avLst/>
          </a:prstGeom>
          <a:noFill/>
          <a:ln/>
        </p:spPr>
        <p:txBody>
          <a:bodyPr wrap="square" lIns="0" tIns="0" rIns="0" bIns="0" rtlCol="0" anchor="ctr"/>
          <a:lstStyle/>
          <a:p>
            <a:pPr algn="ctr" indent="0" marL="0">
              <a:buNone/>
            </a:pPr>
            <a:r>
              <a:rPr lang="en-US" sz="1400" b="1" dirty="0">
                <a:solidFill>
                  <a:schemeClr val="bg1"/>
                </a:solidFill>
              </a:rPr>
              <a:t>vs</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D5 Modèle : de koptelefoon</a:t>
            </a:r>
            <a:endParaRPr lang="en-US" sz="3200" dirty="0"/>
          </a:p>
        </p:txBody>
      </p:sp>
      <p:sp>
        <p:nvSpPr>
          <p:cNvPr id="3" name="tag"/>
          <p:cNvSpPr/>
          <p:nvPr/>
        </p:nvSpPr>
        <p:spPr>
          <a:xfrm>
            <a:off x="548640" y="237744"/>
            <a:ext cx="11658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 BONUS</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6" name="Text 3"/>
          <p:cNvSpPr txBox="1"/>
          <p:nvPr/>
        </p:nvSpPr>
        <p:spPr>
          <a:xfrm>
            <a:off x="548640" y="1508760"/>
            <a:ext cx="11091672" cy="4754880"/>
          </a:xfrm>
          <a:prstGeom prst="rect">
            <a:avLst/>
          </a:prstGeom>
          <a:noFill/>
          <a:ln/>
        </p:spPr>
        <p:txBody>
          <a:bodyPr wrap="square" lIns="0" tIns="0" rIns="0" bIns="0" rtlCol="0" anchor="t"/>
          <a:lstStyle/>
          <a:p>
            <a:pPr indent="0" marL="0">
              <a:spcAft>
                <a:spcPts val="800"/>
              </a:spcAft>
              <a:buNone/>
            </a:pPr>
            <a:r>
              <a:rPr lang="en-US" sz="1200" dirty="0">
                <a:solidFill>
                  <a:schemeClr val="accent5"/>
                </a:solidFill>
              </a:rPr>
              <a:t>1  </a:t>
            </a:r>
            <a:r>
              <a:rPr lang="en-US" sz="2200" b="1" dirty="0">
                <a:solidFill>
                  <a:schemeClr val="accent1"/>
                </a:solidFill>
              </a:rPr>
              <a:t>Verkoper :  </a:t>
            </a:r>
            <a:r>
              <a:rPr lang="en-US" sz="2200" dirty="0">
                <a:solidFill>
                  <a:schemeClr val="tx1"/>
                </a:solidFill>
              </a:rPr>
              <a:t>«Goedemiddag, waarmee kan ik u helpen?»</a:t>
            </a:r>
            <a:endParaRPr lang="en-US" sz="2200" dirty="0"/>
          </a:p>
          <a:p>
            <a:pPr indent="0" marL="0">
              <a:spcAft>
                <a:spcPts val="800"/>
              </a:spcAft>
              <a:buNone/>
            </a:pPr>
            <a:r>
              <a:rPr lang="en-US" sz="1200" dirty="0">
                <a:solidFill>
                  <a:schemeClr val="accent5"/>
                </a:solidFill>
              </a:rPr>
              <a:t>2  </a:t>
            </a:r>
            <a:r>
              <a:rPr lang="en-US" sz="2200" b="1" dirty="0">
                <a:solidFill>
                  <a:schemeClr val="accent2"/>
                </a:solidFill>
              </a:rPr>
              <a:t>Klant :  </a:t>
            </a:r>
            <a:r>
              <a:rPr lang="en-US" sz="2200" dirty="0">
                <a:solidFill>
                  <a:schemeClr val="tx1"/>
                </a:solidFill>
              </a:rPr>
              <a:t>«Goedemiddag. Ik breng deze koptelefoon terug: hij is na drie weken kapot.»</a:t>
            </a:r>
            <a:endParaRPr lang="en-US" sz="2200" dirty="0"/>
          </a:p>
          <a:p>
            <a:pPr indent="0" marL="0">
              <a:spcAft>
                <a:spcPts val="800"/>
              </a:spcAft>
              <a:buNone/>
            </a:pPr>
            <a:r>
              <a:rPr lang="en-US" sz="1200" dirty="0">
                <a:solidFill>
                  <a:schemeClr val="accent5"/>
                </a:solidFill>
              </a:rPr>
              <a:t>3  </a:t>
            </a:r>
            <a:r>
              <a:rPr lang="en-US" sz="2200" b="1" dirty="0">
                <a:solidFill>
                  <a:schemeClr val="accent1"/>
                </a:solidFill>
              </a:rPr>
              <a:t>Verkoper :  </a:t>
            </a:r>
            <a:r>
              <a:rPr lang="en-US" sz="2200" dirty="0">
                <a:solidFill>
                  <a:schemeClr val="tx1"/>
                </a:solidFill>
              </a:rPr>
              <a:t>«Ik begrijp dat u ontgoocheld bent. Toch heb ik uw kasticket nodig.»</a:t>
            </a:r>
            <a:endParaRPr lang="en-US" sz="2200" dirty="0"/>
          </a:p>
          <a:p>
            <a:pPr indent="0" marL="0">
              <a:spcAft>
                <a:spcPts val="800"/>
              </a:spcAft>
              <a:buNone/>
            </a:pPr>
            <a:r>
              <a:rPr lang="en-US" sz="1200" dirty="0">
                <a:solidFill>
                  <a:schemeClr val="accent5"/>
                </a:solidFill>
              </a:rPr>
              <a:t>4  </a:t>
            </a:r>
            <a:r>
              <a:rPr lang="en-US" sz="2200" b="1" dirty="0">
                <a:solidFill>
                  <a:schemeClr val="accent2"/>
                </a:solidFill>
              </a:rPr>
              <a:t>Klant :  </a:t>
            </a:r>
            <a:r>
              <a:rPr lang="en-US" sz="2200" dirty="0">
                <a:solidFill>
                  <a:schemeClr val="tx1"/>
                </a:solidFill>
              </a:rPr>
              <a:t>«U hebt weliswaar gelijk, maar ik heb het ticket niet meer. Hier is mijn bankuittreksel: ik heb op 12 september betaald.»</a:t>
            </a:r>
            <a:endParaRPr lang="en-US" sz="2200" dirty="0"/>
          </a:p>
          <a:p>
            <a:pPr indent="0" marL="0">
              <a:spcAft>
                <a:spcPts val="800"/>
              </a:spcAft>
              <a:buNone/>
            </a:pPr>
            <a:r>
              <a:rPr lang="en-US" sz="1200" dirty="0">
                <a:solidFill>
                  <a:schemeClr val="accent5"/>
                </a:solidFill>
              </a:rPr>
              <a:t>5  </a:t>
            </a:r>
            <a:r>
              <a:rPr lang="en-US" sz="2200" b="1" dirty="0">
                <a:solidFill>
                  <a:schemeClr val="accent1"/>
                </a:solidFill>
              </a:rPr>
              <a:t>Verkoper :  </a:t>
            </a:r>
            <a:r>
              <a:rPr lang="en-US" sz="2200" dirty="0">
                <a:solidFill>
                  <a:schemeClr val="tx1"/>
                </a:solidFill>
              </a:rPr>
              <a:t>«Dat klopt, maar de garantie dekt geen verkeerd gebruik.»</a:t>
            </a:r>
            <a:endParaRPr lang="en-US" sz="2200" dirty="0"/>
          </a:p>
          <a:p>
            <a:pPr indent="0" marL="0">
              <a:spcAft>
                <a:spcPts val="800"/>
              </a:spcAft>
              <a:buNone/>
            </a:pPr>
            <a:r>
              <a:rPr lang="en-US" sz="1200" dirty="0">
                <a:solidFill>
                  <a:schemeClr val="accent5"/>
                </a:solidFill>
              </a:rPr>
              <a:t>6  </a:t>
            </a:r>
            <a:r>
              <a:rPr lang="en-US" sz="2200" b="1" dirty="0">
                <a:solidFill>
                  <a:schemeClr val="accent2"/>
                </a:solidFill>
              </a:rPr>
              <a:t>Klant :  </a:t>
            </a:r>
            <a:r>
              <a:rPr lang="en-US" sz="2200" dirty="0">
                <a:solidFill>
                  <a:schemeClr val="tx1"/>
                </a:solidFill>
              </a:rPr>
              <a:t>«Dat klopt weliswaar, maar hij werkte maar drie weken. Kunt u hem dan omruilen?»</a:t>
            </a:r>
            <a:endParaRPr lang="en-US" sz="2200" dirty="0"/>
          </a:p>
          <a:p>
            <a:pPr indent="0" marL="0">
              <a:spcAft>
                <a:spcPts val="800"/>
              </a:spcAft>
              <a:buNone/>
            </a:pPr>
            <a:r>
              <a:rPr lang="en-US" sz="1200" dirty="0">
                <a:solidFill>
                  <a:schemeClr val="accent5"/>
                </a:solidFill>
              </a:rPr>
              <a:t>7  </a:t>
            </a:r>
            <a:r>
              <a:rPr lang="en-US" sz="2200" b="1" dirty="0">
                <a:solidFill>
                  <a:schemeClr val="accent1"/>
                </a:solidFill>
              </a:rPr>
              <a:t>Verkoper :  </a:t>
            </a:r>
            <a:r>
              <a:rPr lang="en-US" sz="2200" dirty="0">
                <a:solidFill>
                  <a:schemeClr val="tx1"/>
                </a:solidFill>
              </a:rPr>
              <a:t>«Ik kan u een tegoedbon aanbieden, maar geen terugbetaling.»</a:t>
            </a:r>
            <a:endParaRPr lang="en-US" sz="2200" dirty="0"/>
          </a:p>
          <a:p>
            <a:pPr indent="0" marL="0">
              <a:spcAft>
                <a:spcPts val="800"/>
              </a:spcAft>
              <a:buNone/>
            </a:pPr>
            <a:r>
              <a:rPr lang="en-US" sz="1200" dirty="0">
                <a:solidFill>
                  <a:schemeClr val="accent5"/>
                </a:solidFill>
              </a:rPr>
              <a:t>8  </a:t>
            </a:r>
            <a:r>
              <a:rPr lang="en-US" sz="2200" b="1" dirty="0">
                <a:solidFill>
                  <a:schemeClr val="accent2"/>
                </a:solidFill>
              </a:rPr>
              <a:t>Klant :  </a:t>
            </a:r>
            <a:r>
              <a:rPr lang="en-US" sz="2200" dirty="0">
                <a:solidFill>
                  <a:schemeClr val="tx1"/>
                </a:solidFill>
              </a:rPr>
              <a:t>«Goed, dan neem ik een tegoedbon. Bedankt voor uw begrip!»</a:t>
            </a:r>
            <a:endParaRPr lang="en-US" sz="2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TAAK 6 · étape 1 : de voorbereiding</a:t>
            </a:r>
            <a:endParaRPr lang="en-US" sz="3200" dirty="0"/>
          </a:p>
        </p:txBody>
      </p:sp>
      <p:sp>
        <p:nvSpPr>
          <p:cNvPr id="3" name="tag"/>
          <p:cNvSpPr/>
          <p:nvPr/>
        </p:nvSpPr>
        <p:spPr>
          <a:xfrm>
            <a:off x="548640" y="237744"/>
            <a:ext cx="822960"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chemeClr val="bg1"/>
                </a:solidFill>
              </a:rPr>
              <a:t>ORAL</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23</a:t>
            </a:r>
            <a:endParaRPr lang="en-US" sz="1200" dirty="0"/>
          </a:p>
        </p:txBody>
      </p:sp>
      <p:sp>
        <p:nvSpPr>
          <p:cNvPr id="6" name="Text 3"/>
          <p:cNvSpPr txBox="1"/>
          <p:nvPr/>
        </p:nvSpPr>
        <p:spPr>
          <a:xfrm>
            <a:off x="548640" y="1481328"/>
            <a:ext cx="11091672" cy="603504"/>
          </a:xfrm>
          <a:prstGeom prst="rect">
            <a:avLst/>
          </a:prstGeom>
          <a:noFill/>
          <a:ln/>
        </p:spPr>
        <p:txBody>
          <a:bodyPr wrap="square" lIns="0" tIns="0" rIns="0" bIns="0" rtlCol="0" anchor="t"/>
          <a:lstStyle/>
          <a:p>
            <a:pPr indent="0" marL="0">
              <a:buNone/>
            </a:pPr>
            <a:r>
              <a:rPr lang="en-US" sz="1800" dirty="0">
                <a:solidFill>
                  <a:schemeClr val="tx1"/>
                </a:solidFill>
              </a:rPr>
              <a:t>Vous avez expliqué (TAAK 1), écrit (2), pris position (3), rendu compte (4) et débattu (5). Place à la </a:t>
            </a:r>
            <a:r>
              <a:rPr lang="en-US" sz="1800" b="1" dirty="0">
                <a:solidFill>
                  <a:schemeClr val="tx1"/>
                </a:solidFill>
              </a:rPr>
              <a:t>grandeur nature</a:t>
            </a:r>
            <a:r>
              <a:rPr lang="en-US" sz="1800" dirty="0">
                <a:solidFill>
                  <a:schemeClr val="tx1"/>
                </a:solidFill>
              </a:rPr>
              <a:t> : une assemblée générale complète, en groupe. Préparation · 8 min.</a:t>
            </a:r>
            <a:endParaRPr lang="en-US" sz="1800" dirty="0"/>
          </a:p>
        </p:txBody>
      </p:sp>
      <p:sp>
        <p:nvSpPr>
          <p:cNvPr id="7" name="Shape 4"/>
          <p:cNvSpPr/>
          <p:nvPr/>
        </p:nvSpPr>
        <p:spPr>
          <a:xfrm>
            <a:off x="548640" y="2267712"/>
            <a:ext cx="3502152" cy="4023360"/>
          </a:xfrm>
          <a:prstGeom prst="roundRect">
            <a:avLst>
              <a:gd name="adj" fmla="val 2611"/>
            </a:avLst>
          </a:prstGeom>
          <a:solidFill>
            <a:schemeClr val="bg2"/>
          </a:solidFill>
          <a:ln w="9525">
            <a:solidFill>
              <a:srgbClr val="D5DCE6"/>
            </a:solidFill>
            <a:prstDash val="solid"/>
          </a:ln>
        </p:spPr>
      </p:sp>
      <p:sp>
        <p:nvSpPr>
          <p:cNvPr id="8" name="Shape 5"/>
          <p:cNvSpPr/>
          <p:nvPr/>
        </p:nvSpPr>
        <p:spPr>
          <a:xfrm>
            <a:off x="1970532" y="2450592"/>
            <a:ext cx="658368" cy="658368"/>
          </a:xfrm>
          <a:prstGeom prst="ellipse">
            <a:avLst/>
          </a:prstGeom>
          <a:solidFill>
            <a:schemeClr val="accent2"/>
          </a:solidFill>
          <a:ln/>
        </p:spPr>
      </p:sp>
      <p:sp>
        <p:nvSpPr>
          <p:cNvPr id="9" name="Text 6"/>
          <p:cNvSpPr txBox="1"/>
          <p:nvPr/>
        </p:nvSpPr>
        <p:spPr>
          <a:xfrm>
            <a:off x="1970532" y="2450592"/>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10" name="Text 7"/>
          <p:cNvSpPr txBox="1"/>
          <p:nvPr/>
        </p:nvSpPr>
        <p:spPr>
          <a:xfrm>
            <a:off x="658368" y="3182112"/>
            <a:ext cx="3282696" cy="685800"/>
          </a:xfrm>
          <a:prstGeom prst="rect">
            <a:avLst/>
          </a:prstGeom>
          <a:noFill/>
          <a:ln/>
        </p:spPr>
        <p:txBody>
          <a:bodyPr wrap="square" lIns="0" tIns="0" rIns="0" bIns="0" rtlCol="0" anchor="ctr"/>
          <a:lstStyle/>
          <a:p>
            <a:pPr algn="ctr" indent="0" marL="0">
              <a:buNone/>
            </a:pPr>
            <a:r>
              <a:rPr lang="en-US" sz="1700" b="1" dirty="0">
                <a:solidFill>
                  <a:schemeClr val="accent2"/>
                </a:solidFill>
              </a:rPr>
              <a:t>Les rôles</a:t>
            </a:r>
            <a:endParaRPr lang="en-US" sz="1700" dirty="0"/>
          </a:p>
        </p:txBody>
      </p:sp>
      <p:sp>
        <p:nvSpPr>
          <p:cNvPr id="11" name="Text 8"/>
          <p:cNvSpPr txBox="1"/>
          <p:nvPr/>
        </p:nvSpPr>
        <p:spPr>
          <a:xfrm>
            <a:off x="685800" y="3959352"/>
            <a:ext cx="3227832" cy="2240280"/>
          </a:xfrm>
          <a:prstGeom prst="rect">
            <a:avLst/>
          </a:prstGeom>
          <a:noFill/>
          <a:ln/>
        </p:spPr>
        <p:txBody>
          <a:bodyPr wrap="square" lIns="0" tIns="0" rIns="0" bIns="0" rtlCol="0" anchor="t"/>
          <a:lstStyle/>
          <a:p>
            <a:pPr algn="ctr" indent="0" marL="0">
              <a:spcAft>
                <a:spcPts val="600"/>
              </a:spcAft>
              <a:buNone/>
            </a:pPr>
            <a:r>
              <a:rPr lang="en-US" sz="1700" b="1" dirty="0">
                <a:solidFill>
                  <a:schemeClr val="tx1"/>
                </a:solidFill>
              </a:rPr>
              <a:t>De syndicus</a:t>
            </a:r>
            <a:r>
              <a:rPr lang="en-US" sz="1700" dirty="0">
                <a:solidFill>
                  <a:schemeClr val="tx1"/>
                </a:solidFill>
              </a:rPr>
              <a:t> : préside, présente l’agenda</a:t>
            </a:r>
            <a:endParaRPr lang="en-US" sz="1700" dirty="0"/>
          </a:p>
          <a:p>
            <a:pPr algn="ctr" indent="0" marL="0">
              <a:spcAft>
                <a:spcPts val="600"/>
              </a:spcAft>
              <a:buNone/>
            </a:pPr>
            <a:r>
              <a:rPr lang="en-US" sz="1700" b="1" dirty="0">
                <a:solidFill>
                  <a:schemeClr val="tx1"/>
                </a:solidFill>
              </a:rPr>
              <a:t>De notulist</a:t>
            </a:r>
            <a:r>
              <a:rPr lang="en-US" sz="1700" dirty="0">
                <a:solidFill>
                  <a:schemeClr val="tx1"/>
                </a:solidFill>
              </a:rPr>
              <a:t> : prendra le PV</a:t>
            </a:r>
            <a:endParaRPr lang="en-US" sz="1700" dirty="0"/>
          </a:p>
          <a:p>
            <a:pPr algn="ctr" indent="0" marL="0">
              <a:spcAft>
                <a:spcPts val="600"/>
              </a:spcAft>
              <a:buNone/>
            </a:pPr>
            <a:r>
              <a:rPr lang="en-US" sz="1700" b="1" dirty="0">
                <a:solidFill>
                  <a:schemeClr val="tx1"/>
                </a:solidFill>
              </a:rPr>
              <a:t>3 ou 4 mede-eigenaars</a:t>
            </a:r>
            <a:r>
              <a:rPr lang="en-US" sz="1700" dirty="0">
                <a:solidFill>
                  <a:schemeClr val="tx1"/>
                </a:solidFill>
              </a:rPr>
              <a:t>, dont le représentant de mevrouw Dubois (avec </a:t>
            </a:r>
            <a:r>
              <a:rPr lang="en-US" sz="1700" b="1" dirty="0">
                <a:solidFill>
                  <a:schemeClr val="tx1"/>
                </a:solidFill>
              </a:rPr>
              <a:t>volmacht</a:t>
            </a:r>
            <a:r>
              <a:rPr lang="en-US" sz="1700" dirty="0">
                <a:solidFill>
                  <a:schemeClr val="tx1"/>
                </a:solidFill>
              </a:rPr>
              <a:t>)</a:t>
            </a:r>
            <a:endParaRPr lang="en-US" sz="1700" dirty="0"/>
          </a:p>
        </p:txBody>
      </p:sp>
      <p:pic>
        <p:nvPicPr>
          <p:cNvPr id="12" name="Image 0" descr="preencoded.png">    </p:cNvPr>
          <p:cNvPicPr>
            <a:picLocks noChangeAspect="1"/>
          </p:cNvPicPr>
          <p:nvPr/>
        </p:nvPicPr>
        <p:blipFill>
          <a:blip r:embed="rId1"/>
          <a:stretch>
            <a:fillRect/>
          </a:stretch>
        </p:blipFill>
        <p:spPr>
          <a:xfrm>
            <a:off x="4087368" y="2670048"/>
            <a:ext cx="219456" cy="219456"/>
          </a:xfrm>
          <a:prstGeom prst="rect">
            <a:avLst/>
          </a:prstGeom>
        </p:spPr>
      </p:pic>
      <p:sp>
        <p:nvSpPr>
          <p:cNvPr id="13" name="Shape 9"/>
          <p:cNvSpPr/>
          <p:nvPr/>
        </p:nvSpPr>
        <p:spPr>
          <a:xfrm>
            <a:off x="4343400" y="2267712"/>
            <a:ext cx="3502152" cy="4023360"/>
          </a:xfrm>
          <a:prstGeom prst="roundRect">
            <a:avLst>
              <a:gd name="adj" fmla="val 2611"/>
            </a:avLst>
          </a:prstGeom>
          <a:solidFill>
            <a:schemeClr val="bg2"/>
          </a:solidFill>
          <a:ln w="9525">
            <a:solidFill>
              <a:srgbClr val="D5DCE6"/>
            </a:solidFill>
            <a:prstDash val="solid"/>
          </a:ln>
        </p:spPr>
      </p:sp>
      <p:sp>
        <p:nvSpPr>
          <p:cNvPr id="14" name="Shape 10"/>
          <p:cNvSpPr/>
          <p:nvPr/>
        </p:nvSpPr>
        <p:spPr>
          <a:xfrm>
            <a:off x="5765292" y="2450592"/>
            <a:ext cx="658368" cy="658368"/>
          </a:xfrm>
          <a:prstGeom prst="ellipse">
            <a:avLst/>
          </a:prstGeom>
          <a:solidFill>
            <a:schemeClr val="accent3"/>
          </a:solidFill>
          <a:ln/>
        </p:spPr>
      </p:sp>
      <p:sp>
        <p:nvSpPr>
          <p:cNvPr id="15" name="Text 11"/>
          <p:cNvSpPr txBox="1"/>
          <p:nvPr/>
        </p:nvSpPr>
        <p:spPr>
          <a:xfrm>
            <a:off x="5765292" y="2450592"/>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6" name="Text 12"/>
          <p:cNvSpPr txBox="1"/>
          <p:nvPr/>
        </p:nvSpPr>
        <p:spPr>
          <a:xfrm>
            <a:off x="4453128" y="3182112"/>
            <a:ext cx="3282696" cy="685800"/>
          </a:xfrm>
          <a:prstGeom prst="rect">
            <a:avLst/>
          </a:prstGeom>
          <a:noFill/>
          <a:ln/>
        </p:spPr>
        <p:txBody>
          <a:bodyPr wrap="square" lIns="0" tIns="0" rIns="0" bIns="0" rtlCol="0" anchor="ctr"/>
          <a:lstStyle/>
          <a:p>
            <a:pPr algn="ctr" indent="0" marL="0">
              <a:buNone/>
            </a:pPr>
            <a:r>
              <a:rPr lang="en-US" sz="1700" b="1" dirty="0">
                <a:solidFill>
                  <a:schemeClr val="accent3"/>
                </a:solidFill>
              </a:rPr>
              <a:t>Les deux points</a:t>
            </a:r>
            <a:endParaRPr lang="en-US" sz="1700" dirty="0"/>
          </a:p>
        </p:txBody>
      </p:sp>
      <p:sp>
        <p:nvSpPr>
          <p:cNvPr id="17" name="Text 13"/>
          <p:cNvSpPr txBox="1"/>
          <p:nvPr/>
        </p:nvSpPr>
        <p:spPr>
          <a:xfrm>
            <a:off x="4480560" y="3959352"/>
            <a:ext cx="3227832" cy="2240280"/>
          </a:xfrm>
          <a:prstGeom prst="rect">
            <a:avLst/>
          </a:prstGeom>
          <a:noFill/>
          <a:ln/>
        </p:spPr>
        <p:txBody>
          <a:bodyPr wrap="square" lIns="0" tIns="0" rIns="0" bIns="0" rtlCol="0" anchor="t"/>
          <a:lstStyle/>
          <a:p>
            <a:pPr algn="ctr" indent="0" marL="0">
              <a:spcAft>
                <a:spcPts val="600"/>
              </a:spcAft>
              <a:buNone/>
            </a:pPr>
            <a:r>
              <a:rPr lang="en-US" sz="1700" b="1" dirty="0">
                <a:solidFill>
                  <a:schemeClr val="tx1"/>
                </a:solidFill>
              </a:rPr>
              <a:t>Punt 1</a:t>
            </a:r>
            <a:r>
              <a:rPr lang="en-US" sz="1700" dirty="0">
                <a:solidFill>
                  <a:schemeClr val="tx1"/>
                </a:solidFill>
              </a:rPr>
              <a:t> : la rénovation de la façade</a:t>
            </a:r>
            <a:endParaRPr lang="en-US" sz="1700" dirty="0"/>
          </a:p>
          <a:p>
            <a:pPr algn="ctr" indent="0" marL="0">
              <a:spcAft>
                <a:spcPts val="600"/>
              </a:spcAft>
              <a:buNone/>
            </a:pPr>
            <a:r>
              <a:rPr lang="en-US" sz="1700" b="1" dirty="0">
                <a:solidFill>
                  <a:schemeClr val="tx1"/>
                </a:solidFill>
              </a:rPr>
              <a:t>Punt 2</a:t>
            </a:r>
            <a:r>
              <a:rPr lang="en-US" sz="1700" dirty="0">
                <a:solidFill>
                  <a:schemeClr val="tx1"/>
                </a:solidFill>
              </a:rPr>
              <a:t> : la sécurisation de la porte d’entrée (TAAK 2 !)</a:t>
            </a:r>
            <a:endParaRPr lang="en-US" sz="1700" dirty="0"/>
          </a:p>
        </p:txBody>
      </p:sp>
      <p:pic>
        <p:nvPicPr>
          <p:cNvPr id="18" name="Image 1" descr="preencoded.png">    </p:cNvPr>
          <p:cNvPicPr>
            <a:picLocks noChangeAspect="1"/>
          </p:cNvPicPr>
          <p:nvPr/>
        </p:nvPicPr>
        <p:blipFill>
          <a:blip r:embed="rId2"/>
          <a:stretch>
            <a:fillRect/>
          </a:stretch>
        </p:blipFill>
        <p:spPr>
          <a:xfrm>
            <a:off x="7882128" y="2670048"/>
            <a:ext cx="219456" cy="219456"/>
          </a:xfrm>
          <a:prstGeom prst="rect">
            <a:avLst/>
          </a:prstGeom>
        </p:spPr>
      </p:pic>
      <p:sp>
        <p:nvSpPr>
          <p:cNvPr id="19" name="Shape 14"/>
          <p:cNvSpPr/>
          <p:nvPr/>
        </p:nvSpPr>
        <p:spPr>
          <a:xfrm>
            <a:off x="8138160" y="2267712"/>
            <a:ext cx="3502152" cy="4023360"/>
          </a:xfrm>
          <a:prstGeom prst="roundRect">
            <a:avLst>
              <a:gd name="adj" fmla="val 2611"/>
            </a:avLst>
          </a:prstGeom>
          <a:solidFill>
            <a:schemeClr val="bg2"/>
          </a:solidFill>
          <a:ln w="9525">
            <a:solidFill>
              <a:srgbClr val="D5DCE6"/>
            </a:solidFill>
            <a:prstDash val="solid"/>
          </a:ln>
        </p:spPr>
      </p:sp>
      <p:sp>
        <p:nvSpPr>
          <p:cNvPr id="20" name="Shape 15"/>
          <p:cNvSpPr/>
          <p:nvPr/>
        </p:nvSpPr>
        <p:spPr>
          <a:xfrm>
            <a:off x="9560052" y="2450592"/>
            <a:ext cx="658368" cy="658368"/>
          </a:xfrm>
          <a:prstGeom prst="ellipse">
            <a:avLst/>
          </a:prstGeom>
          <a:solidFill>
            <a:schemeClr val="accent1"/>
          </a:solidFill>
          <a:ln/>
        </p:spPr>
      </p:sp>
      <p:sp>
        <p:nvSpPr>
          <p:cNvPr id="21" name="Text 16"/>
          <p:cNvSpPr txBox="1"/>
          <p:nvPr/>
        </p:nvSpPr>
        <p:spPr>
          <a:xfrm>
            <a:off x="9560052" y="2450592"/>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2" name="Text 17"/>
          <p:cNvSpPr txBox="1"/>
          <p:nvPr/>
        </p:nvSpPr>
        <p:spPr>
          <a:xfrm>
            <a:off x="8247888" y="3182112"/>
            <a:ext cx="3282696" cy="685800"/>
          </a:xfrm>
          <a:prstGeom prst="rect">
            <a:avLst/>
          </a:prstGeom>
          <a:noFill/>
          <a:ln/>
        </p:spPr>
        <p:txBody>
          <a:bodyPr wrap="square" lIns="0" tIns="0" rIns="0" bIns="0" rtlCol="0" anchor="ctr"/>
          <a:lstStyle/>
          <a:p>
            <a:pPr algn="ctr" indent="0" marL="0">
              <a:buNone/>
            </a:pPr>
            <a:r>
              <a:rPr lang="en-US" sz="1700" b="1" dirty="0">
                <a:solidFill>
                  <a:schemeClr val="accent1"/>
                </a:solidFill>
              </a:rPr>
              <a:t>Les positions</a:t>
            </a:r>
            <a:endParaRPr lang="en-US" sz="1700" dirty="0"/>
          </a:p>
        </p:txBody>
      </p:sp>
      <p:sp>
        <p:nvSpPr>
          <p:cNvPr id="23" name="Text 18"/>
          <p:cNvSpPr txBox="1"/>
          <p:nvPr/>
        </p:nvSpPr>
        <p:spPr>
          <a:xfrm>
            <a:off x="8275320" y="3959352"/>
            <a:ext cx="3227832" cy="2240280"/>
          </a:xfrm>
          <a:prstGeom prst="rect">
            <a:avLst/>
          </a:prstGeom>
          <a:noFill/>
          <a:ln/>
        </p:spPr>
        <p:txBody>
          <a:bodyPr wrap="square" lIns="0" tIns="0" rIns="0" bIns="0" rtlCol="0" anchor="t"/>
          <a:lstStyle/>
          <a:p>
            <a:pPr algn="ctr" indent="0" marL="0">
              <a:spcAft>
                <a:spcPts val="600"/>
              </a:spcAft>
              <a:buNone/>
            </a:pPr>
            <a:r>
              <a:rPr lang="en-US" sz="1700" dirty="0">
                <a:solidFill>
                  <a:schemeClr val="tx1"/>
                </a:solidFill>
              </a:rPr>
              <a:t>Chaque copropriétaire prépare sa position en </a:t>
            </a:r>
            <a:r>
              <a:rPr lang="en-US" sz="1700" b="1" dirty="0">
                <a:solidFill>
                  <a:schemeClr val="tx1"/>
                </a:solidFill>
              </a:rPr>
              <a:t>mots-clés</a:t>
            </a:r>
            <a:r>
              <a:rPr lang="en-US" sz="1700" dirty="0">
                <a:solidFill>
                  <a:schemeClr val="tx1"/>
                </a:solidFill>
              </a:rPr>
              <a:t> sur les </a:t>
            </a:r>
            <a:r>
              <a:rPr lang="en-US" sz="1700" b="1" dirty="0">
                <a:solidFill>
                  <a:schemeClr val="tx1"/>
                </a:solidFill>
              </a:rPr>
              <a:t>deux</a:t>
            </a:r>
            <a:r>
              <a:rPr lang="en-US" sz="1700" dirty="0">
                <a:solidFill>
                  <a:schemeClr val="tx1"/>
                </a:solidFill>
              </a:rPr>
              <a:t> points</a:t>
            </a:r>
            <a:endParaRPr lang="en-US" sz="1700" dirty="0"/>
          </a:p>
          <a:p>
            <a:pPr algn="ctr" indent="0" marL="0">
              <a:spcAft>
                <a:spcPts val="600"/>
              </a:spcAft>
              <a:buNone/>
            </a:pPr>
            <a:r>
              <a:rPr lang="en-US" sz="1700" dirty="0">
                <a:solidFill>
                  <a:schemeClr val="tx1"/>
                </a:solidFill>
              </a:rPr>
              <a:t>Utilisez la checklist (diapositive suivante)</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TAAK 6 : la checklist de réemploi</a:t>
            </a:r>
            <a:endParaRPr lang="en-US" sz="3200" dirty="0"/>
          </a:p>
        </p:txBody>
      </p:sp>
      <p:sp>
        <p:nvSpPr>
          <p:cNvPr id="3" name="tag"/>
          <p:cNvSpPr/>
          <p:nvPr/>
        </p:nvSpPr>
        <p:spPr>
          <a:xfrm>
            <a:off x="548640" y="237744"/>
            <a:ext cx="822960"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chemeClr val="bg1"/>
                </a:solidFill>
              </a:rPr>
              <a:t>ORAL</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23</a:t>
            </a:r>
            <a:endParaRPr lang="en-US" sz="1200" dirty="0"/>
          </a:p>
        </p:txBody>
      </p:sp>
      <p:sp>
        <p:nvSpPr>
          <p:cNvPr id="6" name="Text 3"/>
          <p:cNvSpPr txBox="1"/>
          <p:nvPr/>
        </p:nvSpPr>
        <p:spPr>
          <a:xfrm>
            <a:off x="548640" y="1481328"/>
            <a:ext cx="11091672" cy="313944"/>
          </a:xfrm>
          <a:prstGeom prst="rect">
            <a:avLst/>
          </a:prstGeom>
          <a:noFill/>
          <a:ln/>
        </p:spPr>
        <p:txBody>
          <a:bodyPr wrap="square" lIns="0" tIns="0" rIns="0" bIns="0" rtlCol="0" anchor="t"/>
          <a:lstStyle/>
          <a:p>
            <a:pPr indent="0" marL="0">
              <a:buNone/>
            </a:pPr>
            <a:r>
              <a:rPr lang="en-US" sz="1700" i="1" dirty="0">
                <a:solidFill>
                  <a:schemeClr val="accent5"/>
                </a:solidFill>
              </a:rPr>
              <a:t>Cochez pendant la préparation : chaque ligne a un </a:t>
            </a:r>
            <a:r>
              <a:rPr lang="en-US" sz="1700" b="1" i="1" dirty="0">
                <a:solidFill>
                  <a:schemeClr val="accent5"/>
                </a:solidFill>
              </a:rPr>
              <a:t>minimum</a:t>
            </a:r>
            <a:r>
              <a:rPr lang="en-US" sz="1700" i="1" dirty="0">
                <a:solidFill>
                  <a:schemeClr val="accent5"/>
                </a:solidFill>
              </a:rPr>
              <a:t>.</a:t>
            </a:r>
            <a:endParaRPr lang="en-US" sz="1700" dirty="0"/>
          </a:p>
        </p:txBody>
      </p:sp>
      <p:sp>
        <p:nvSpPr>
          <p:cNvPr id="7" name="Shape 4"/>
          <p:cNvSpPr/>
          <p:nvPr/>
        </p:nvSpPr>
        <p:spPr>
          <a:xfrm>
            <a:off x="548640" y="1941576"/>
            <a:ext cx="11091672" cy="704088"/>
          </a:xfrm>
          <a:prstGeom prst="roundRect">
            <a:avLst>
              <a:gd name="adj" fmla="val 7792"/>
            </a:avLst>
          </a:prstGeom>
          <a:solidFill>
            <a:schemeClr val="bg2"/>
          </a:solidFill>
          <a:ln w="6350">
            <a:solidFill>
              <a:srgbClr val="D5DCE6"/>
            </a:solidFill>
            <a:prstDash val="solid"/>
          </a:ln>
        </p:spPr>
      </p:sp>
      <p:pic>
        <p:nvPicPr>
          <p:cNvPr id="8" name="Image 0" descr="preencoded.png">    </p:cNvPr>
          <p:cNvPicPr>
            <a:picLocks noChangeAspect="1"/>
          </p:cNvPicPr>
          <p:nvPr/>
        </p:nvPicPr>
        <p:blipFill>
          <a:blip r:embed="rId1"/>
          <a:stretch>
            <a:fillRect/>
          </a:stretch>
        </p:blipFill>
        <p:spPr>
          <a:xfrm>
            <a:off x="731520" y="2138172"/>
            <a:ext cx="310896" cy="310896"/>
          </a:xfrm>
          <a:prstGeom prst="rect">
            <a:avLst/>
          </a:prstGeom>
        </p:spPr>
      </p:pic>
      <p:sp>
        <p:nvSpPr>
          <p:cNvPr id="9" name="Text 5"/>
          <p:cNvSpPr txBox="1"/>
          <p:nvPr/>
        </p:nvSpPr>
        <p:spPr>
          <a:xfrm>
            <a:off x="1207008" y="1941576"/>
            <a:ext cx="10314432" cy="704088"/>
          </a:xfrm>
          <a:prstGeom prst="rect">
            <a:avLst/>
          </a:prstGeom>
          <a:noFill/>
          <a:ln/>
        </p:spPr>
        <p:txBody>
          <a:bodyPr wrap="square" lIns="0" tIns="0" rIns="0" bIns="0" rtlCol="0" anchor="ctr"/>
          <a:lstStyle/>
          <a:p>
            <a:pPr indent="0" marL="0">
              <a:buNone/>
            </a:pPr>
            <a:r>
              <a:rPr lang="en-US" sz="1900" dirty="0">
                <a:solidFill>
                  <a:schemeClr val="tx1"/>
                </a:solidFill>
              </a:rPr>
              <a:t>Nominalisations (</a:t>
            </a:r>
            <a:r>
              <a:rPr lang="en-US" sz="1900" i="1" dirty="0">
                <a:solidFill>
                  <a:schemeClr val="tx1"/>
                </a:solidFill>
              </a:rPr>
              <a:t>de stemming, de goedkeuring, het uitstellen van…</a:t>
            </a:r>
            <a:r>
              <a:rPr lang="en-US" sz="1900" dirty="0">
                <a:solidFill>
                  <a:schemeClr val="tx1"/>
                </a:solidFill>
              </a:rPr>
              <a:t>) — </a:t>
            </a:r>
            <a:r>
              <a:rPr lang="en-US" sz="1900" b="1" dirty="0">
                <a:solidFill>
                  <a:schemeClr val="tx1"/>
                </a:solidFill>
              </a:rPr>
              <a:t>min. 5</a:t>
            </a:r>
            <a:endParaRPr lang="en-US" sz="1900" dirty="0"/>
          </a:p>
        </p:txBody>
      </p:sp>
      <p:sp>
        <p:nvSpPr>
          <p:cNvPr id="10" name="Shape 6"/>
          <p:cNvSpPr/>
          <p:nvPr/>
        </p:nvSpPr>
        <p:spPr>
          <a:xfrm>
            <a:off x="548640" y="2718816"/>
            <a:ext cx="11091672" cy="704088"/>
          </a:xfrm>
          <a:prstGeom prst="roundRect">
            <a:avLst>
              <a:gd name="adj" fmla="val 7792"/>
            </a:avLst>
          </a:prstGeom>
          <a:solidFill>
            <a:schemeClr val="bg1"/>
          </a:solidFill>
          <a:ln w="6350">
            <a:solidFill>
              <a:srgbClr val="D5DCE6"/>
            </a:solidFill>
            <a:prstDash val="solid"/>
          </a:ln>
        </p:spPr>
      </p:sp>
      <p:pic>
        <p:nvPicPr>
          <p:cNvPr id="11" name="Image 1" descr="preencoded.png">    </p:cNvPr>
          <p:cNvPicPr>
            <a:picLocks noChangeAspect="1"/>
          </p:cNvPicPr>
          <p:nvPr/>
        </p:nvPicPr>
        <p:blipFill>
          <a:blip r:embed="rId2"/>
          <a:stretch>
            <a:fillRect/>
          </a:stretch>
        </p:blipFill>
        <p:spPr>
          <a:xfrm>
            <a:off x="731520" y="2915412"/>
            <a:ext cx="310896" cy="310896"/>
          </a:xfrm>
          <a:prstGeom prst="rect">
            <a:avLst/>
          </a:prstGeom>
        </p:spPr>
      </p:pic>
      <p:sp>
        <p:nvSpPr>
          <p:cNvPr id="12" name="Text 7"/>
          <p:cNvSpPr txBox="1"/>
          <p:nvPr/>
        </p:nvSpPr>
        <p:spPr>
          <a:xfrm>
            <a:off x="1207008" y="2718816"/>
            <a:ext cx="10314432" cy="704088"/>
          </a:xfrm>
          <a:prstGeom prst="rect">
            <a:avLst/>
          </a:prstGeom>
          <a:noFill/>
          <a:ln/>
        </p:spPr>
        <p:txBody>
          <a:bodyPr wrap="square" lIns="0" tIns="0" rIns="0" bIns="0" rtlCol="0" anchor="ctr"/>
          <a:lstStyle/>
          <a:p>
            <a:pPr indent="0" marL="0">
              <a:buNone/>
            </a:pPr>
            <a:r>
              <a:rPr lang="en-US" sz="1900" dirty="0">
                <a:solidFill>
                  <a:schemeClr val="tx1"/>
                </a:solidFill>
              </a:rPr>
              <a:t>Connecteurs argumentatifs (</a:t>
            </a:r>
            <a:r>
              <a:rPr lang="en-US" sz="1900" i="1" dirty="0">
                <a:solidFill>
                  <a:schemeClr val="tx1"/>
                </a:solidFill>
              </a:rPr>
              <a:t>enerzijds / anderzijds, echter, daarentegen, ten slotte</a:t>
            </a:r>
            <a:r>
              <a:rPr lang="en-US" sz="1900" dirty="0">
                <a:solidFill>
                  <a:schemeClr val="tx1"/>
                </a:solidFill>
              </a:rPr>
              <a:t>) — </a:t>
            </a:r>
            <a:r>
              <a:rPr lang="en-US" sz="1900" b="1" dirty="0">
                <a:solidFill>
                  <a:schemeClr val="tx1"/>
                </a:solidFill>
              </a:rPr>
              <a:t>min. 4</a:t>
            </a:r>
            <a:endParaRPr lang="en-US" sz="1900" dirty="0"/>
          </a:p>
        </p:txBody>
      </p:sp>
      <p:sp>
        <p:nvSpPr>
          <p:cNvPr id="13" name="Shape 8"/>
          <p:cNvSpPr/>
          <p:nvPr/>
        </p:nvSpPr>
        <p:spPr>
          <a:xfrm>
            <a:off x="548640" y="3496056"/>
            <a:ext cx="11091672" cy="704088"/>
          </a:xfrm>
          <a:prstGeom prst="roundRect">
            <a:avLst>
              <a:gd name="adj" fmla="val 7792"/>
            </a:avLst>
          </a:prstGeom>
          <a:solidFill>
            <a:schemeClr val="bg2"/>
          </a:solidFill>
          <a:ln w="6350">
            <a:solidFill>
              <a:srgbClr val="D5DCE6"/>
            </a:solidFill>
            <a:prstDash val="solid"/>
          </a:ln>
        </p:spPr>
      </p:sp>
      <p:pic>
        <p:nvPicPr>
          <p:cNvPr id="14" name="Image 2" descr="preencoded.png">    </p:cNvPr>
          <p:cNvPicPr>
            <a:picLocks noChangeAspect="1"/>
          </p:cNvPicPr>
          <p:nvPr/>
        </p:nvPicPr>
        <p:blipFill>
          <a:blip r:embed="rId3"/>
          <a:stretch>
            <a:fillRect/>
          </a:stretch>
        </p:blipFill>
        <p:spPr>
          <a:xfrm>
            <a:off x="731520" y="3692652"/>
            <a:ext cx="310896" cy="310896"/>
          </a:xfrm>
          <a:prstGeom prst="rect">
            <a:avLst/>
          </a:prstGeom>
        </p:spPr>
      </p:pic>
      <p:sp>
        <p:nvSpPr>
          <p:cNvPr id="15" name="Text 9"/>
          <p:cNvSpPr txBox="1"/>
          <p:nvPr/>
        </p:nvSpPr>
        <p:spPr>
          <a:xfrm>
            <a:off x="1207008" y="3496056"/>
            <a:ext cx="10314432" cy="704088"/>
          </a:xfrm>
          <a:prstGeom prst="rect">
            <a:avLst/>
          </a:prstGeom>
          <a:noFill/>
          <a:ln/>
        </p:spPr>
        <p:txBody>
          <a:bodyPr wrap="square" lIns="0" tIns="0" rIns="0" bIns="0" rtlCol="0" anchor="ctr"/>
          <a:lstStyle/>
          <a:p>
            <a:pPr indent="0" marL="0">
              <a:buNone/>
            </a:pPr>
            <a:r>
              <a:rPr lang="en-US" sz="1900" dirty="0">
                <a:solidFill>
                  <a:schemeClr val="tx1"/>
                </a:solidFill>
              </a:rPr>
              <a:t>Concessions-réfutations (</a:t>
            </a:r>
            <a:r>
              <a:rPr lang="en-US" sz="1900" i="1" dirty="0">
                <a:solidFill>
                  <a:schemeClr val="tx1"/>
                </a:solidFill>
              </a:rPr>
              <a:t>weliswaar… maar, dat klopt maar, toch</a:t>
            </a:r>
            <a:r>
              <a:rPr lang="en-US" sz="1900" dirty="0">
                <a:solidFill>
                  <a:schemeClr val="tx1"/>
                </a:solidFill>
              </a:rPr>
              <a:t>) — </a:t>
            </a:r>
            <a:r>
              <a:rPr lang="en-US" sz="1900" b="1" dirty="0">
                <a:solidFill>
                  <a:schemeClr val="tx1"/>
                </a:solidFill>
              </a:rPr>
              <a:t>min. 3</a:t>
            </a:r>
            <a:endParaRPr lang="en-US" sz="1900" dirty="0"/>
          </a:p>
        </p:txBody>
      </p:sp>
      <p:sp>
        <p:nvSpPr>
          <p:cNvPr id="16" name="Shape 10"/>
          <p:cNvSpPr/>
          <p:nvPr/>
        </p:nvSpPr>
        <p:spPr>
          <a:xfrm>
            <a:off x="548640" y="4273296"/>
            <a:ext cx="11091672" cy="704088"/>
          </a:xfrm>
          <a:prstGeom prst="roundRect">
            <a:avLst>
              <a:gd name="adj" fmla="val 7792"/>
            </a:avLst>
          </a:prstGeom>
          <a:solidFill>
            <a:schemeClr val="bg1"/>
          </a:solidFill>
          <a:ln w="6350">
            <a:solidFill>
              <a:srgbClr val="D5DCE6"/>
            </a:solidFill>
            <a:prstDash val="solid"/>
          </a:ln>
        </p:spPr>
      </p:sp>
      <p:pic>
        <p:nvPicPr>
          <p:cNvPr id="17" name="Image 3" descr="preencoded.png">    </p:cNvPr>
          <p:cNvPicPr>
            <a:picLocks noChangeAspect="1"/>
          </p:cNvPicPr>
          <p:nvPr/>
        </p:nvPicPr>
        <p:blipFill>
          <a:blip r:embed="rId4"/>
          <a:stretch>
            <a:fillRect/>
          </a:stretch>
        </p:blipFill>
        <p:spPr>
          <a:xfrm>
            <a:off x="731520" y="4469892"/>
            <a:ext cx="310896" cy="310896"/>
          </a:xfrm>
          <a:prstGeom prst="rect">
            <a:avLst/>
          </a:prstGeom>
        </p:spPr>
      </p:pic>
      <p:sp>
        <p:nvSpPr>
          <p:cNvPr id="18" name="Text 11"/>
          <p:cNvSpPr txBox="1"/>
          <p:nvPr/>
        </p:nvSpPr>
        <p:spPr>
          <a:xfrm>
            <a:off x="1207008" y="4273296"/>
            <a:ext cx="10314432" cy="704088"/>
          </a:xfrm>
          <a:prstGeom prst="rect">
            <a:avLst/>
          </a:prstGeom>
          <a:noFill/>
          <a:ln/>
        </p:spPr>
        <p:txBody>
          <a:bodyPr wrap="square" lIns="0" tIns="0" rIns="0" bIns="0" rtlCol="0" anchor="ctr"/>
          <a:lstStyle/>
          <a:p>
            <a:pPr indent="0" marL="0">
              <a:buNone/>
            </a:pPr>
            <a:r>
              <a:rPr lang="en-US" sz="1900" dirty="0">
                <a:solidFill>
                  <a:schemeClr val="tx1"/>
                </a:solidFill>
              </a:rPr>
              <a:t>Acquis des paliers 5–6 (relatives, zodra / tenzij, zou, passif, discours indirect) — </a:t>
            </a:r>
            <a:r>
              <a:rPr lang="en-US" sz="1900" b="1" dirty="0">
                <a:solidFill>
                  <a:schemeClr val="tx1"/>
                </a:solidFill>
              </a:rPr>
              <a:t>min. 5</a:t>
            </a:r>
            <a:endParaRPr lang="en-US" sz="1900" dirty="0"/>
          </a:p>
        </p:txBody>
      </p:sp>
      <p:sp>
        <p:nvSpPr>
          <p:cNvPr id="19" name="Shape 12"/>
          <p:cNvSpPr/>
          <p:nvPr/>
        </p:nvSpPr>
        <p:spPr>
          <a:xfrm>
            <a:off x="548640" y="5050536"/>
            <a:ext cx="11091672" cy="704088"/>
          </a:xfrm>
          <a:prstGeom prst="roundRect">
            <a:avLst>
              <a:gd name="adj" fmla="val 7792"/>
            </a:avLst>
          </a:prstGeom>
          <a:solidFill>
            <a:schemeClr val="bg2"/>
          </a:solidFill>
          <a:ln w="6350">
            <a:solidFill>
              <a:srgbClr val="D5DCE6"/>
            </a:solidFill>
            <a:prstDash val="solid"/>
          </a:ln>
        </p:spPr>
      </p:sp>
      <p:pic>
        <p:nvPicPr>
          <p:cNvPr id="20" name="Image 4" descr="preencoded.png">    </p:cNvPr>
          <p:cNvPicPr>
            <a:picLocks noChangeAspect="1"/>
          </p:cNvPicPr>
          <p:nvPr/>
        </p:nvPicPr>
        <p:blipFill>
          <a:blip r:embed="rId5"/>
          <a:stretch>
            <a:fillRect/>
          </a:stretch>
        </p:blipFill>
        <p:spPr>
          <a:xfrm>
            <a:off x="731520" y="5247132"/>
            <a:ext cx="310896" cy="310896"/>
          </a:xfrm>
          <a:prstGeom prst="rect">
            <a:avLst/>
          </a:prstGeom>
        </p:spPr>
      </p:pic>
      <p:sp>
        <p:nvSpPr>
          <p:cNvPr id="21" name="Text 13"/>
          <p:cNvSpPr txBox="1"/>
          <p:nvPr/>
        </p:nvSpPr>
        <p:spPr>
          <a:xfrm>
            <a:off x="1207008" y="5050536"/>
            <a:ext cx="10314432" cy="704088"/>
          </a:xfrm>
          <a:prstGeom prst="rect">
            <a:avLst/>
          </a:prstGeom>
          <a:noFill/>
          <a:ln/>
        </p:spPr>
        <p:txBody>
          <a:bodyPr wrap="square" lIns="0" tIns="0" rIns="0" bIns="0" rtlCol="0" anchor="ctr"/>
          <a:lstStyle/>
          <a:p>
            <a:pPr indent="0" marL="0">
              <a:buNone/>
            </a:pPr>
            <a:r>
              <a:rPr lang="en-US" sz="1900" dirty="0">
                <a:solidFill>
                  <a:schemeClr val="tx1"/>
                </a:solidFill>
              </a:rPr>
              <a:t>Lexique de la copropriété (mindmap 7.1) — </a:t>
            </a:r>
            <a:r>
              <a:rPr lang="en-US" sz="1900" b="1" dirty="0">
                <a:solidFill>
                  <a:schemeClr val="tx1"/>
                </a:solidFill>
              </a:rPr>
              <a:t>min. 10</a:t>
            </a:r>
            <a:endParaRPr lang="en-US" sz="19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TAAK 6 · étape 2 : de vergadering</a:t>
            </a:r>
            <a:endParaRPr lang="en-US" sz="3200" dirty="0"/>
          </a:p>
        </p:txBody>
      </p:sp>
      <p:sp>
        <p:nvSpPr>
          <p:cNvPr id="3" name="tag"/>
          <p:cNvSpPr/>
          <p:nvPr/>
        </p:nvSpPr>
        <p:spPr>
          <a:xfrm>
            <a:off x="548640" y="237744"/>
            <a:ext cx="822960"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chemeClr val="bg1"/>
                </a:solidFill>
              </a:rPr>
              <a:t>ORAL</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24</a:t>
            </a:r>
            <a:endParaRPr lang="en-US" sz="1200" dirty="0"/>
          </a:p>
        </p:txBody>
      </p:sp>
      <p:pic>
        <p:nvPicPr>
          <p:cNvPr id="6" name="illustration" descr="Illustration du syllabus">    </p:cNvPr>
          <p:cNvPicPr>
            <a:picLocks noChangeAspect="1"/>
          </p:cNvPicPr>
          <p:nvPr/>
        </p:nvPicPr>
        <p:blipFill>
          <a:blip r:embed="rId1"/>
          <a:stretch>
            <a:fillRect/>
          </a:stretch>
        </p:blipFill>
        <p:spPr>
          <a:xfrm>
            <a:off x="548640" y="1508760"/>
            <a:ext cx="6035040" cy="4025372"/>
          </a:xfrm>
          <a:prstGeom prst="rect">
            <a:avLst/>
          </a:prstGeom>
          <a:effectLst>
            <a:outerShdw sx="100000" sy="100000" kx="0" ky="0" algn="bl" rotWithShape="0" blurRad="101600" dist="25400" dir="3600000">
              <a:srgbClr val="000000">
                <a:alpha val="18000"/>
              </a:srgbClr>
            </a:outerShdw>
          </a:effectLst>
        </p:spPr>
      </p:pic>
      <p:sp>
        <p:nvSpPr>
          <p:cNvPr id="7" name="Text 3"/>
          <p:cNvSpPr txBox="1"/>
          <p:nvPr/>
        </p:nvSpPr>
        <p:spPr>
          <a:xfrm>
            <a:off x="6995160" y="1508760"/>
            <a:ext cx="4645152" cy="3172968"/>
          </a:xfrm>
          <a:prstGeom prst="rect">
            <a:avLst/>
          </a:prstGeom>
          <a:noFill/>
          <a:ln/>
        </p:spPr>
        <p:txBody>
          <a:bodyPr wrap="square" lIns="0" tIns="0" rIns="0" bIns="0" rtlCol="0" anchor="t"/>
          <a:lstStyle/>
          <a:p>
            <a:pPr indent="0" marL="0">
              <a:spcAft>
                <a:spcPts val="1000"/>
              </a:spcAft>
              <a:buNone/>
            </a:pPr>
            <a:r>
              <a:rPr lang="en-US" sz="1900" dirty="0">
                <a:solidFill>
                  <a:schemeClr val="tx1"/>
                </a:solidFill>
              </a:rPr>
              <a:t>Le syndic </a:t>
            </a:r>
            <a:r>
              <a:rPr lang="en-US" sz="1900" b="1" dirty="0">
                <a:solidFill>
                  <a:schemeClr val="tx1"/>
                </a:solidFill>
              </a:rPr>
              <a:t>ouvre</a:t>
            </a:r>
            <a:r>
              <a:rPr lang="en-US" sz="1900" dirty="0">
                <a:solidFill>
                  <a:schemeClr val="tx1"/>
                </a:solidFill>
              </a:rPr>
              <a:t> : </a:t>
            </a:r>
            <a:r>
              <a:rPr lang="en-US" sz="1900" i="1" dirty="0">
                <a:solidFill>
                  <a:schemeClr val="tx1"/>
                </a:solidFill>
              </a:rPr>
              <a:t>De vergadering is geopend.</a:t>
            </a:r>
            <a:r>
              <a:rPr lang="en-US" sz="1900" dirty="0">
                <a:solidFill>
                  <a:schemeClr val="tx1"/>
                </a:solidFill>
              </a:rPr>
              <a:t> Il présente chaque point avec des </a:t>
            </a:r>
            <a:r>
              <a:rPr lang="en-US" sz="1900" b="1" dirty="0">
                <a:solidFill>
                  <a:schemeClr val="tx1"/>
                </a:solidFill>
              </a:rPr>
              <a:t>nominalisations</a:t>
            </a:r>
            <a:r>
              <a:rPr lang="en-US" sz="1900" dirty="0">
                <a:solidFill>
                  <a:schemeClr val="tx1"/>
                </a:solidFill>
              </a:rPr>
              <a:t> et distribue la parole.</a:t>
            </a:r>
            <a:endParaRPr lang="en-US" sz="1900" dirty="0"/>
          </a:p>
          <a:p>
            <a:pPr indent="0" marL="0">
              <a:spcAft>
                <a:spcPts val="1000"/>
              </a:spcAft>
              <a:buNone/>
            </a:pPr>
            <a:r>
              <a:rPr lang="en-US" sz="1900" b="1" dirty="0">
                <a:solidFill>
                  <a:schemeClr val="tx1"/>
                </a:solidFill>
              </a:rPr>
              <a:t>Débat contradictoire</a:t>
            </a:r>
            <a:r>
              <a:rPr lang="en-US" sz="1900" dirty="0">
                <a:solidFill>
                  <a:schemeClr val="tx1"/>
                </a:solidFill>
              </a:rPr>
              <a:t>, puis </a:t>
            </a:r>
            <a:r>
              <a:rPr lang="en-US" sz="1900" b="1" dirty="0">
                <a:solidFill>
                  <a:schemeClr val="tx1"/>
                </a:solidFill>
              </a:rPr>
              <a:t>vote à main levée</a:t>
            </a:r>
            <a:r>
              <a:rPr lang="en-US" sz="1900" dirty="0">
                <a:solidFill>
                  <a:schemeClr val="tx1"/>
                </a:solidFill>
              </a:rPr>
              <a:t> sur chaque point : </a:t>
            </a:r>
            <a:r>
              <a:rPr lang="en-US" sz="1900" i="1" dirty="0">
                <a:solidFill>
                  <a:schemeClr val="tx1"/>
                </a:solidFill>
              </a:rPr>
              <a:t>Wie is voor? Tegen? Onthoudingen?</a:t>
            </a:r>
            <a:endParaRPr lang="en-US" sz="1900" dirty="0"/>
          </a:p>
          <a:p>
            <a:pPr indent="0" marL="0">
              <a:spcAft>
                <a:spcPts val="1000"/>
              </a:spcAft>
              <a:buNone/>
            </a:pPr>
            <a:r>
              <a:rPr lang="en-US" sz="1900" dirty="0">
                <a:solidFill>
                  <a:schemeClr val="tx1"/>
                </a:solidFill>
              </a:rPr>
              <a:t>Le notulist note </a:t>
            </a:r>
            <a:r>
              <a:rPr lang="en-US" sz="1900" b="1" dirty="0">
                <a:solidFill>
                  <a:schemeClr val="tx1"/>
                </a:solidFill>
              </a:rPr>
              <a:t>décisions et scores</a:t>
            </a:r>
            <a:r>
              <a:rPr lang="en-US" sz="1900" dirty="0">
                <a:solidFill>
                  <a:schemeClr val="tx1"/>
                </a:solidFill>
              </a:rPr>
              <a:t>. Les autres groupes observent avec la mini-grille.</a:t>
            </a:r>
            <a:endParaRPr lang="en-US" sz="1900" dirty="0"/>
          </a:p>
        </p:txBody>
      </p:sp>
      <p:sp>
        <p:nvSpPr>
          <p:cNvPr id="8" name="Shape 4"/>
          <p:cNvSpPr/>
          <p:nvPr/>
        </p:nvSpPr>
        <p:spPr>
          <a:xfrm>
            <a:off x="6995160" y="4864608"/>
            <a:ext cx="4645152" cy="1426464"/>
          </a:xfrm>
          <a:prstGeom prst="roundRect">
            <a:avLst>
              <a:gd name="adj" fmla="val 5128"/>
            </a:avLst>
          </a:prstGeom>
          <a:solidFill>
            <a:schemeClr val="accent1">
              <a:alpha val="12000"/>
            </a:schemeClr>
          </a:solidFill>
          <a:ln w="12700">
            <a:solidFill>
              <a:srgbClr val="D9700F"/>
            </a:solidFill>
            <a:prstDash val="solid"/>
          </a:ln>
        </p:spPr>
      </p:sp>
      <p:sp>
        <p:nvSpPr>
          <p:cNvPr id="9" name="Text 5"/>
          <p:cNvSpPr txBox="1"/>
          <p:nvPr/>
        </p:nvSpPr>
        <p:spPr>
          <a:xfrm>
            <a:off x="7178040" y="4956048"/>
            <a:ext cx="4279392" cy="292608"/>
          </a:xfrm>
          <a:prstGeom prst="rect">
            <a:avLst/>
          </a:prstGeom>
          <a:noFill/>
          <a:ln/>
        </p:spPr>
        <p:txBody>
          <a:bodyPr wrap="square" lIns="0" tIns="0" rIns="0" bIns="0" rtlCol="0" anchor="ctr"/>
          <a:lstStyle/>
          <a:p>
            <a:pPr indent="0" marL="0">
              <a:buNone/>
            </a:pPr>
            <a:r>
              <a:rPr lang="en-US" sz="1200" b="1" spc="100" kern="0" dirty="0">
                <a:solidFill>
                  <a:schemeClr val="accent1"/>
                </a:solidFill>
              </a:rPr>
              <a:t>QUESTION À LA CLASSE</a:t>
            </a:r>
            <a:endParaRPr lang="en-US" sz="1200" dirty="0"/>
          </a:p>
        </p:txBody>
      </p:sp>
      <p:sp>
        <p:nvSpPr>
          <p:cNvPr id="10" name="Text 6"/>
          <p:cNvSpPr txBox="1"/>
          <p:nvPr/>
        </p:nvSpPr>
        <p:spPr>
          <a:xfrm>
            <a:off x="7178040" y="5248656"/>
            <a:ext cx="4279392" cy="969264"/>
          </a:xfrm>
          <a:prstGeom prst="rect">
            <a:avLst/>
          </a:prstGeom>
          <a:noFill/>
          <a:ln/>
        </p:spPr>
        <p:txBody>
          <a:bodyPr wrap="square" lIns="0" tIns="0" rIns="0" bIns="0" rtlCol="0" anchor="t"/>
          <a:lstStyle/>
          <a:p>
            <a:pPr indent="0" marL="0">
              <a:buNone/>
            </a:pPr>
            <a:r>
              <a:rPr lang="en-US" sz="1700" dirty="0">
                <a:solidFill>
                  <a:schemeClr val="tx1"/>
                </a:solidFill>
              </a:rPr>
              <a:t>Quel connecteur ouvrira votre première intervention : </a:t>
            </a:r>
            <a:r>
              <a:rPr lang="en-US" sz="1700" i="1" dirty="0">
                <a:solidFill>
                  <a:schemeClr val="tx1"/>
                </a:solidFill>
              </a:rPr>
              <a:t>wat … betreft</a:t>
            </a:r>
            <a:r>
              <a:rPr lang="en-US" sz="1700" dirty="0">
                <a:solidFill>
                  <a:schemeClr val="tx1"/>
                </a:solidFill>
              </a:rPr>
              <a:t>, </a:t>
            </a:r>
            <a:r>
              <a:rPr lang="en-US" sz="1700" i="1" dirty="0">
                <a:solidFill>
                  <a:schemeClr val="tx1"/>
                </a:solidFill>
              </a:rPr>
              <a:t>enerzijds</a:t>
            </a:r>
            <a:r>
              <a:rPr lang="en-US" sz="1700" dirty="0">
                <a:solidFill>
                  <a:schemeClr val="tx1"/>
                </a:solidFill>
              </a:rPr>
              <a:t>, </a:t>
            </a:r>
            <a:r>
              <a:rPr lang="en-US" sz="1700" i="1" dirty="0">
                <a:solidFill>
                  <a:schemeClr val="tx1"/>
                </a:solidFill>
              </a:rPr>
              <a:t>echter</a:t>
            </a:r>
            <a:r>
              <a:rPr lang="en-US" sz="1700" dirty="0">
                <a:solidFill>
                  <a:schemeClr val="tx1"/>
                </a:solidFill>
              </a:rPr>
              <a:t> ?</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TAAK 6 · étape 3 : de notulen</a:t>
            </a:r>
            <a:endParaRPr lang="en-US" sz="3200" dirty="0"/>
          </a:p>
        </p:txBody>
      </p:sp>
      <p:sp>
        <p:nvSpPr>
          <p:cNvPr id="3" name="tag"/>
          <p:cNvSpPr/>
          <p:nvPr/>
        </p:nvSpPr>
        <p:spPr>
          <a:xfrm>
            <a:off x="548640" y="237744"/>
            <a:ext cx="10744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ÉCRIT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24</a:t>
            </a:r>
            <a:endParaRPr lang="en-US" sz="1200" dirty="0"/>
          </a:p>
        </p:txBody>
      </p:sp>
      <p:sp>
        <p:nvSpPr>
          <p:cNvPr id="6" name="Text 3"/>
          <p:cNvSpPr txBox="1"/>
          <p:nvPr/>
        </p:nvSpPr>
        <p:spPr>
          <a:xfrm>
            <a:off x="548640" y="1481328"/>
            <a:ext cx="7178040" cy="615696"/>
          </a:xfrm>
          <a:prstGeom prst="rect">
            <a:avLst/>
          </a:prstGeom>
          <a:noFill/>
          <a:ln/>
        </p:spPr>
        <p:txBody>
          <a:bodyPr wrap="square" lIns="0" tIns="0" rIns="0" bIns="0" rtlCol="0" anchor="t"/>
          <a:lstStyle/>
          <a:p>
            <a:pPr indent="0" marL="0">
              <a:buNone/>
            </a:pPr>
            <a:r>
              <a:rPr lang="en-US" sz="1600" i="1" dirty="0">
                <a:solidFill>
                  <a:schemeClr val="accent5"/>
                </a:solidFill>
              </a:rPr>
              <a:t>Écrit · 10 à 12 phrases · à terminer à la maison. Chacun rédige le PV de </a:t>
            </a:r>
            <a:r>
              <a:rPr lang="en-US" sz="1600" b="1" i="1" dirty="0">
                <a:solidFill>
                  <a:schemeClr val="accent5"/>
                </a:solidFill>
              </a:rPr>
              <a:t>SA</a:t>
            </a:r>
            <a:r>
              <a:rPr lang="en-US" sz="1600" i="1" dirty="0">
                <a:solidFill>
                  <a:schemeClr val="accent5"/>
                </a:solidFill>
              </a:rPr>
              <a:t> réunion au style officiel : la pièce maîtresse de votre dossier du palier 7.</a:t>
            </a:r>
            <a:endParaRPr lang="en-US" sz="1600" dirty="0"/>
          </a:p>
        </p:txBody>
      </p:sp>
      <p:sp>
        <p:nvSpPr>
          <p:cNvPr id="7" name="exercise"/>
          <p:cNvSpPr txBox="1"/>
          <p:nvPr/>
        </p:nvSpPr>
        <p:spPr>
          <a:xfrm>
            <a:off x="548640" y="2170176"/>
            <a:ext cx="7178040" cy="4120896"/>
          </a:xfrm>
          <a:prstGeom prst="rect">
            <a:avLst/>
          </a:prstGeom>
          <a:noFill/>
          <a:ln/>
        </p:spPr>
        <p:txBody>
          <a:bodyPr wrap="square" lIns="0" tIns="0" rIns="0" bIns="0" rtlCol="0" anchor="t"/>
          <a:lstStyle/>
          <a:p>
            <a:pPr indent="0" marL="0">
              <a:spcAft>
                <a:spcPts val="800"/>
              </a:spcAft>
              <a:buNone/>
            </a:pPr>
            <a:r>
              <a:rPr lang="en-US" sz="2400" b="1" dirty="0">
                <a:solidFill>
                  <a:schemeClr val="tx1"/>
                </a:solidFill>
              </a:rPr>
              <a:t>Passif impersonnel</a:t>
            </a:r>
            <a:r>
              <a:rPr lang="en-US" sz="2400" dirty="0">
                <a:solidFill>
                  <a:schemeClr val="tx1"/>
                </a:solidFill>
              </a:rPr>
              <a:t> : </a:t>
            </a:r>
            <a:r>
              <a:rPr lang="en-US" sz="2400" i="1" dirty="0">
                <a:solidFill>
                  <a:schemeClr val="tx1"/>
                </a:solidFill>
              </a:rPr>
              <a:t>Er werd beslist dat…</a:t>
            </a:r>
            <a:endParaRPr lang="en-US" sz="2400" dirty="0"/>
          </a:p>
          <a:p>
            <a:pPr indent="0" marL="0">
              <a:spcAft>
                <a:spcPts val="800"/>
              </a:spcAft>
              <a:buNone/>
            </a:pPr>
            <a:r>
              <a:rPr lang="en-US" sz="2400" b="1" dirty="0">
                <a:solidFill>
                  <a:schemeClr val="tx1"/>
                </a:solidFill>
              </a:rPr>
              <a:t>Discours indirect</a:t>
            </a:r>
            <a:r>
              <a:rPr lang="en-US" sz="2400" dirty="0">
                <a:solidFill>
                  <a:schemeClr val="tx1"/>
                </a:solidFill>
              </a:rPr>
              <a:t> pour les positions : </a:t>
            </a:r>
            <a:r>
              <a:rPr lang="en-US" sz="2400" i="1" dirty="0">
                <a:solidFill>
                  <a:schemeClr val="tx1"/>
                </a:solidFill>
              </a:rPr>
              <a:t>zei dat · vroeg of</a:t>
            </a:r>
            <a:endParaRPr lang="en-US" sz="2400" dirty="0"/>
          </a:p>
          <a:p>
            <a:pPr indent="0" marL="0">
              <a:spcAft>
                <a:spcPts val="800"/>
              </a:spcAft>
              <a:buNone/>
            </a:pPr>
            <a:r>
              <a:rPr lang="en-US" sz="2400" b="1" dirty="0">
                <a:solidFill>
                  <a:schemeClr val="tx1"/>
                </a:solidFill>
              </a:rPr>
              <a:t>Nominalisations</a:t>
            </a:r>
            <a:r>
              <a:rPr lang="en-US" sz="2400" dirty="0">
                <a:solidFill>
                  <a:schemeClr val="tx1"/>
                </a:solidFill>
              </a:rPr>
              <a:t> dans les intitulés : </a:t>
            </a:r>
            <a:r>
              <a:rPr lang="en-US" sz="2400" i="1" dirty="0">
                <a:solidFill>
                  <a:schemeClr val="tx1"/>
                </a:solidFill>
              </a:rPr>
              <a:t>Punt 1 — Renovatie van de gevel</a:t>
            </a:r>
            <a:endParaRPr lang="en-US" sz="2400" dirty="0"/>
          </a:p>
          <a:p>
            <a:pPr indent="0" marL="0">
              <a:spcAft>
                <a:spcPts val="800"/>
              </a:spcAft>
              <a:buNone/>
            </a:pPr>
            <a:r>
              <a:rPr lang="en-US" sz="2400" b="1" dirty="0">
                <a:solidFill>
                  <a:schemeClr val="tx1"/>
                </a:solidFill>
              </a:rPr>
              <a:t>Résultats des votes</a:t>
            </a:r>
            <a:r>
              <a:rPr lang="en-US" sz="2400" dirty="0">
                <a:solidFill>
                  <a:schemeClr val="tx1"/>
                </a:solidFill>
              </a:rPr>
              <a:t> chiffrés : </a:t>
            </a:r>
            <a:r>
              <a:rPr lang="en-US" sz="2400" i="1" dirty="0">
                <a:solidFill>
                  <a:schemeClr val="tx1"/>
                </a:solidFill>
              </a:rPr>
              <a:t>met 7 stemmen voor, 1 tegen en 1 onthouding</a:t>
            </a:r>
            <a:endParaRPr lang="en-US" sz="2400" dirty="0"/>
          </a:p>
        </p:txBody>
      </p:sp>
      <p:sp>
        <p:nvSpPr>
          <p:cNvPr id="8" name="aside"/>
          <p:cNvSpPr/>
          <p:nvPr/>
        </p:nvSpPr>
        <p:spPr>
          <a:xfrm>
            <a:off x="8046720" y="1481328"/>
            <a:ext cx="3593592" cy="4809744"/>
          </a:xfrm>
          <a:prstGeom prst="roundRect">
            <a:avLst>
              <a:gd name="adj" fmla="val 2036"/>
            </a:avLst>
          </a:prstGeom>
          <a:solidFill>
            <a:schemeClr val="accent5">
              <a:alpha val="10000"/>
            </a:schemeClr>
          </a:solidFill>
          <a:ln w="12700">
            <a:solidFill>
              <a:schemeClr val="accent5">
                <a:alpha val="60000"/>
              </a:schemeClr>
            </a:solidFill>
            <a:prstDash val="solid"/>
          </a:ln>
        </p:spPr>
      </p:sp>
      <p:pic>
        <p:nvPicPr>
          <p:cNvPr id="9"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0" name="Text 6"/>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5"/>
                </a:solidFill>
              </a:rPr>
              <a:t>ATTENDU</a:t>
            </a:r>
            <a:endParaRPr lang="en-US" sz="1400" dirty="0"/>
          </a:p>
        </p:txBody>
      </p:sp>
      <p:sp>
        <p:nvSpPr>
          <p:cNvPr id="11" name="Text 7"/>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10 à 12 phrases</a:t>
            </a:r>
            <a:endParaRPr lang="en-US" sz="1800" dirty="0"/>
          </a:p>
          <a:p>
            <a:pPr marL="177800" indent="-177800">
              <a:spcAft>
                <a:spcPts val="600"/>
              </a:spcAft>
              <a:buSzPct val="100000"/>
              <a:buChar char="•"/>
            </a:pPr>
            <a:r>
              <a:rPr lang="en-US" sz="1800" dirty="0">
                <a:solidFill>
                  <a:schemeClr val="tx1"/>
                </a:solidFill>
              </a:rPr>
              <a:t>Style </a:t>
            </a:r>
            <a:r>
              <a:rPr lang="en-US" sz="1800" b="1" dirty="0">
                <a:solidFill>
                  <a:schemeClr val="tx1"/>
                </a:solidFill>
              </a:rPr>
              <a:t>officiel</a:t>
            </a:r>
            <a:endParaRPr lang="en-US" sz="1800" dirty="0"/>
          </a:p>
          <a:p>
            <a:pPr marL="177800" indent="-177800">
              <a:spcAft>
                <a:spcPts val="600"/>
              </a:spcAft>
              <a:buSzPct val="100000"/>
              <a:buChar char="•"/>
            </a:pPr>
            <a:r>
              <a:rPr lang="en-US" sz="1800" dirty="0">
                <a:solidFill>
                  <a:schemeClr val="tx1"/>
                </a:solidFill>
              </a:rPr>
              <a:t>Modèle : diapositive suivante</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TAAK 6 : notulen-modèle</a:t>
            </a:r>
            <a:endParaRPr lang="en-US" sz="3200" dirty="0"/>
          </a:p>
        </p:txBody>
      </p:sp>
      <p:sp>
        <p:nvSpPr>
          <p:cNvPr id="3" name="tag"/>
          <p:cNvSpPr/>
          <p:nvPr/>
        </p:nvSpPr>
        <p:spPr>
          <a:xfrm>
            <a:off x="548640" y="237744"/>
            <a:ext cx="10744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ÉCRIT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24</a:t>
            </a:r>
            <a:endParaRPr lang="en-US" sz="1200" dirty="0"/>
          </a:p>
        </p:txBody>
      </p:sp>
      <p:sp>
        <p:nvSpPr>
          <p:cNvPr id="6" name="Shape 3"/>
          <p:cNvSpPr/>
          <p:nvPr/>
        </p:nvSpPr>
        <p:spPr>
          <a:xfrm>
            <a:off x="548640" y="1481328"/>
            <a:ext cx="11091672" cy="4809744"/>
          </a:xfrm>
          <a:prstGeom prst="rect">
            <a:avLst/>
          </a:prstGeom>
          <a:solidFill>
            <a:schemeClr val="bg1"/>
          </a:solidFill>
          <a:ln w="12700">
            <a:solidFill>
              <a:srgbClr val="4A5A70"/>
            </a:solidFill>
            <a:prstDash val="dash"/>
          </a:ln>
        </p:spPr>
      </p:sp>
      <p:sp>
        <p:nvSpPr>
          <p:cNvPr id="7" name="tag"/>
          <p:cNvSpPr/>
          <p:nvPr/>
        </p:nvSpPr>
        <p:spPr>
          <a:xfrm>
            <a:off x="777240" y="1645920"/>
            <a:ext cx="118872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MODÈLE</a:t>
            </a:r>
            <a:endParaRPr lang="en-US" sz="1200" dirty="0"/>
          </a:p>
        </p:txBody>
      </p:sp>
      <p:sp>
        <p:nvSpPr>
          <p:cNvPr id="8" name="Text 5"/>
          <p:cNvSpPr txBox="1"/>
          <p:nvPr/>
        </p:nvSpPr>
        <p:spPr>
          <a:xfrm>
            <a:off x="2194560" y="1609344"/>
            <a:ext cx="9354312" cy="384048"/>
          </a:xfrm>
          <a:prstGeom prst="rect">
            <a:avLst/>
          </a:prstGeom>
          <a:noFill/>
          <a:ln/>
        </p:spPr>
        <p:txBody>
          <a:bodyPr wrap="square" lIns="0" tIns="0" rIns="0" bIns="0" rtlCol="0" anchor="ctr"/>
          <a:lstStyle/>
          <a:p>
            <a:pPr indent="0" marL="0">
              <a:buNone/>
            </a:pPr>
            <a:r>
              <a:rPr lang="en-US" sz="1800" b="1" dirty="0">
                <a:solidFill>
                  <a:schemeClr val="accent5"/>
                </a:solidFill>
                <a:latin typeface="+mj-lt" pitchFamily="34" charset="0"/>
                <a:ea typeface="+mj-lt" pitchFamily="34" charset="-122"/>
                <a:cs typeface="+mj-lt" pitchFamily="34" charset="-120"/>
              </a:rPr>
              <a:t>Notulen — Algemene vergadering (uittreksel)</a:t>
            </a:r>
            <a:endParaRPr lang="en-US" sz="1800" dirty="0"/>
          </a:p>
        </p:txBody>
      </p:sp>
      <p:sp>
        <p:nvSpPr>
          <p:cNvPr id="9" name="Text 6"/>
          <p:cNvSpPr txBox="1"/>
          <p:nvPr/>
        </p:nvSpPr>
        <p:spPr>
          <a:xfrm>
            <a:off x="777240" y="2148840"/>
            <a:ext cx="10634472" cy="4023360"/>
          </a:xfrm>
          <a:prstGeom prst="rect">
            <a:avLst/>
          </a:prstGeom>
          <a:noFill/>
          <a:ln/>
        </p:spPr>
        <p:txBody>
          <a:bodyPr wrap="square" lIns="0" tIns="0" rIns="0" bIns="0" rtlCol="0" anchor="t"/>
          <a:lstStyle/>
          <a:p>
            <a:pPr indent="0" marL="0">
              <a:spcAft>
                <a:spcPts val="800"/>
              </a:spcAft>
              <a:buNone/>
            </a:pPr>
            <a:r>
              <a:rPr lang="en-US" sz="2100" b="1" dirty="0">
                <a:solidFill>
                  <a:schemeClr val="tx2"/>
                </a:solidFill>
              </a:rPr>
              <a:t>Aanwezig   </a:t>
            </a:r>
            <a:r>
              <a:rPr lang="en-US" sz="2100" dirty="0">
                <a:solidFill>
                  <a:schemeClr val="tx1"/>
                </a:solidFill>
              </a:rPr>
              <a:t>9 mede-eigenaars (waarvan 1 bij volmacht). De vergadering werd om 19.05 uur geopend.</a:t>
            </a:r>
            <a:endParaRPr lang="en-US" sz="2100" dirty="0"/>
          </a:p>
          <a:p>
            <a:pPr indent="0" marL="0">
              <a:spcAft>
                <a:spcPts val="800"/>
              </a:spcAft>
              <a:buNone/>
            </a:pPr>
            <a:r>
              <a:rPr lang="en-US" sz="2100" b="1" dirty="0">
                <a:solidFill>
                  <a:schemeClr val="tx2"/>
                </a:solidFill>
              </a:rPr>
              <a:t>Punt 1   </a:t>
            </a:r>
            <a:r>
              <a:rPr lang="en-US" sz="2100" dirty="0">
                <a:solidFill>
                  <a:schemeClr val="tx1"/>
                </a:solidFill>
              </a:rPr>
              <a:t>Renovatie van de gevel: De syndicus lichtte de offerte toe (€ 86.500). Mevrouw Peeters zei dat de schade elk jaar groter werd. De heer Yilmaz vroeg of een tweede offerte mogelijk was. Er werd beslist om de stemming te verplaatsen naar november.</a:t>
            </a:r>
            <a:endParaRPr lang="en-US" sz="2100" dirty="0"/>
          </a:p>
          <a:p>
            <a:pPr indent="0" marL="0">
              <a:spcAft>
                <a:spcPts val="800"/>
              </a:spcAft>
              <a:buNone/>
            </a:pPr>
            <a:r>
              <a:rPr lang="en-US" sz="2100" b="1" dirty="0">
                <a:solidFill>
                  <a:schemeClr val="tx2"/>
                </a:solidFill>
              </a:rPr>
              <a:t>Punt 2   </a:t>
            </a:r>
            <a:r>
              <a:rPr lang="en-US" sz="2100" dirty="0">
                <a:solidFill>
                  <a:schemeClr val="tx1"/>
                </a:solidFill>
              </a:rPr>
              <a:t>Beveiliging van de inkomdeur: De vertegenwoordiger van mevrouw Dubois zei dat er twee incidenten waren geweest. Er werd voorgesteld om het slot te vervangen. Het voorstel werd goedgekeurd met 7 stemmen voor, 1 tegen en 1 onthouding.</a:t>
            </a:r>
            <a:endParaRPr lang="en-US" sz="2100" dirty="0"/>
          </a:p>
          <a:p>
            <a:pPr indent="0" marL="0">
              <a:spcAft>
                <a:spcPts val="800"/>
              </a:spcAft>
              <a:buNone/>
            </a:pPr>
            <a:r>
              <a:rPr lang="en-US" sz="2100" b="1" dirty="0">
                <a:solidFill>
                  <a:schemeClr val="tx2"/>
                </a:solidFill>
              </a:rPr>
              <a:t>Slot   </a:t>
            </a:r>
            <a:r>
              <a:rPr lang="en-US" sz="2100" dirty="0">
                <a:solidFill>
                  <a:schemeClr val="tx1"/>
                </a:solidFill>
              </a:rPr>
              <a:t>De vergadering werd om 20.15 uur afgesloten.</a:t>
            </a:r>
            <a:endParaRPr lang="en-US" sz="21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Variante : de buurtvergadering</a:t>
            </a:r>
            <a:endParaRPr lang="en-US" sz="3200" dirty="0"/>
          </a:p>
        </p:txBody>
      </p:sp>
      <p:sp>
        <p:nvSpPr>
          <p:cNvPr id="3" name="tag"/>
          <p:cNvSpPr/>
          <p:nvPr/>
        </p:nvSpPr>
        <p:spPr>
          <a:xfrm>
            <a:off x="548640" y="237744"/>
            <a:ext cx="822960"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chemeClr val="bg1"/>
                </a:solidFill>
              </a:rPr>
              <a:t>ORAL</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24a</a:t>
            </a:r>
            <a:endParaRPr lang="en-US" sz="1200" dirty="0"/>
          </a:p>
        </p:txBody>
      </p:sp>
      <p:sp>
        <p:nvSpPr>
          <p:cNvPr id="6" name="Text 3"/>
          <p:cNvSpPr txBox="1"/>
          <p:nvPr/>
        </p:nvSpPr>
        <p:spPr>
          <a:xfrm>
            <a:off x="548640" y="1481328"/>
            <a:ext cx="11091672" cy="329184"/>
          </a:xfrm>
          <a:prstGeom prst="rect">
            <a:avLst/>
          </a:prstGeom>
          <a:noFill/>
          <a:ln/>
        </p:spPr>
        <p:txBody>
          <a:bodyPr wrap="square" lIns="0" tIns="0" rIns="0" bIns="0" rtlCol="0" anchor="t"/>
          <a:lstStyle/>
          <a:p>
            <a:pPr indent="0" marL="0">
              <a:buNone/>
            </a:pPr>
            <a:r>
              <a:rPr lang="en-US" sz="1800" dirty="0">
                <a:solidFill>
                  <a:schemeClr val="tx1"/>
                </a:solidFill>
              </a:rPr>
              <a:t>Pour un dossier de la </a:t>
            </a:r>
            <a:r>
              <a:rPr lang="en-US" sz="1800" b="1" dirty="0">
                <a:solidFill>
                  <a:schemeClr val="tx1"/>
                </a:solidFill>
              </a:rPr>
              <a:t>vie courante</a:t>
            </a:r>
            <a:r>
              <a:rPr lang="en-US" sz="1800" dirty="0">
                <a:solidFill>
                  <a:schemeClr val="tx1"/>
                </a:solidFill>
              </a:rPr>
              <a:t> : la TAAK 6 se joue en </a:t>
            </a:r>
            <a:r>
              <a:rPr lang="en-US" sz="1800" b="1" dirty="0">
                <a:solidFill>
                  <a:schemeClr val="tx1"/>
                </a:solidFill>
              </a:rPr>
              <a:t>comité de quartier</a:t>
            </a:r>
            <a:r>
              <a:rPr lang="en-US" sz="1800" dirty="0">
                <a:solidFill>
                  <a:schemeClr val="tx1"/>
                </a:solidFill>
              </a:rPr>
              <a:t>. Même déroulé, mêmes exigences.</a:t>
            </a:r>
            <a:endParaRPr lang="en-US" sz="1800" dirty="0"/>
          </a:p>
        </p:txBody>
      </p:sp>
      <p:sp>
        <p:nvSpPr>
          <p:cNvPr id="7" name="Shape 4"/>
          <p:cNvSpPr/>
          <p:nvPr/>
        </p:nvSpPr>
        <p:spPr>
          <a:xfrm>
            <a:off x="548640" y="1993392"/>
            <a:ext cx="3502152" cy="3343656"/>
          </a:xfrm>
          <a:prstGeom prst="roundRect">
            <a:avLst>
              <a:gd name="adj" fmla="val 2735"/>
            </a:avLst>
          </a:prstGeom>
          <a:solidFill>
            <a:schemeClr val="bg2"/>
          </a:solidFill>
          <a:ln w="9525">
            <a:solidFill>
              <a:srgbClr val="D5DCE6"/>
            </a:solidFill>
            <a:prstDash val="solid"/>
          </a:ln>
        </p:spPr>
      </p:sp>
      <p:sp>
        <p:nvSpPr>
          <p:cNvPr id="8" name="Shape 5"/>
          <p:cNvSpPr/>
          <p:nvPr/>
        </p:nvSpPr>
        <p:spPr>
          <a:xfrm>
            <a:off x="1970532" y="2176272"/>
            <a:ext cx="658368" cy="658368"/>
          </a:xfrm>
          <a:prstGeom prst="ellipse">
            <a:avLst/>
          </a:prstGeom>
          <a:solidFill>
            <a:schemeClr val="accent2"/>
          </a:solidFill>
          <a:ln/>
        </p:spPr>
      </p:sp>
      <p:sp>
        <p:nvSpPr>
          <p:cNvPr id="9" name="Text 6"/>
          <p:cNvSpPr txBox="1"/>
          <p:nvPr/>
        </p:nvSpPr>
        <p:spPr>
          <a:xfrm>
            <a:off x="1970532" y="2176272"/>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10" name="Text 7"/>
          <p:cNvSpPr txBox="1"/>
          <p:nvPr/>
        </p:nvSpPr>
        <p:spPr>
          <a:xfrm>
            <a:off x="658368" y="2907792"/>
            <a:ext cx="3282696" cy="685800"/>
          </a:xfrm>
          <a:prstGeom prst="rect">
            <a:avLst/>
          </a:prstGeom>
          <a:noFill/>
          <a:ln/>
        </p:spPr>
        <p:txBody>
          <a:bodyPr wrap="square" lIns="0" tIns="0" rIns="0" bIns="0" rtlCol="0" anchor="ctr"/>
          <a:lstStyle/>
          <a:p>
            <a:pPr algn="ctr" indent="0" marL="0">
              <a:buNone/>
            </a:pPr>
            <a:r>
              <a:rPr lang="en-US" sz="1700" b="1" dirty="0">
                <a:solidFill>
                  <a:schemeClr val="accent2"/>
                </a:solidFill>
              </a:rPr>
              <a:t>De voorbereiding</a:t>
            </a:r>
            <a:endParaRPr lang="en-US" sz="1700" dirty="0"/>
          </a:p>
        </p:txBody>
      </p:sp>
      <p:sp>
        <p:nvSpPr>
          <p:cNvPr id="11" name="Text 8"/>
          <p:cNvSpPr txBox="1"/>
          <p:nvPr/>
        </p:nvSpPr>
        <p:spPr>
          <a:xfrm>
            <a:off x="685800" y="3685032"/>
            <a:ext cx="3227832" cy="1560576"/>
          </a:xfrm>
          <a:prstGeom prst="rect">
            <a:avLst/>
          </a:prstGeom>
          <a:noFill/>
          <a:ln/>
        </p:spPr>
        <p:txBody>
          <a:bodyPr wrap="square" lIns="0" tIns="0" rIns="0" bIns="0" rtlCol="0" anchor="t"/>
          <a:lstStyle/>
          <a:p>
            <a:pPr algn="ctr" indent="0" marL="0">
              <a:spcAft>
                <a:spcPts val="600"/>
              </a:spcAft>
              <a:buNone/>
            </a:pPr>
            <a:r>
              <a:rPr lang="en-US" sz="1400" dirty="0">
                <a:solidFill>
                  <a:schemeClr val="tx1"/>
                </a:solidFill>
              </a:rPr>
              <a:t>Le groupe choisit </a:t>
            </a:r>
            <a:r>
              <a:rPr lang="en-US" sz="1400" b="1" dirty="0">
                <a:solidFill>
                  <a:schemeClr val="tx1"/>
                </a:solidFill>
              </a:rPr>
              <a:t>deux points</a:t>
            </a:r>
            <a:r>
              <a:rPr lang="en-US" sz="1400" dirty="0">
                <a:solidFill>
                  <a:schemeClr val="tx1"/>
                </a:solidFill>
              </a:rPr>
              <a:t> (speelstraat, buurtfeest, passage piéton dangereux, geveltuintjes, vélos partagés…) en </a:t>
            </a:r>
            <a:r>
              <a:rPr lang="en-US" sz="1400" b="1" dirty="0">
                <a:solidFill>
                  <a:schemeClr val="tx1"/>
                </a:solidFill>
              </a:rPr>
              <a:t>style nominal</a:t>
            </a:r>
            <a:endParaRPr lang="en-US" sz="1400" dirty="0"/>
          </a:p>
          <a:p>
            <a:pPr algn="ctr" indent="0" marL="0">
              <a:spcAft>
                <a:spcPts val="600"/>
              </a:spcAft>
              <a:buNone/>
            </a:pPr>
            <a:r>
              <a:rPr lang="en-US" sz="1400" dirty="0">
                <a:solidFill>
                  <a:schemeClr val="tx1"/>
                </a:solidFill>
              </a:rPr>
              <a:t>Rôles : </a:t>
            </a:r>
            <a:r>
              <a:rPr lang="en-US" sz="1400" b="1" dirty="0">
                <a:solidFill>
                  <a:schemeClr val="tx1"/>
                </a:solidFill>
              </a:rPr>
              <a:t>voorzitter</a:t>
            </a:r>
            <a:r>
              <a:rPr lang="en-US" sz="1400" dirty="0">
                <a:solidFill>
                  <a:schemeClr val="tx1"/>
                </a:solidFill>
              </a:rPr>
              <a:t>, </a:t>
            </a:r>
            <a:r>
              <a:rPr lang="en-US" sz="1400" b="1" dirty="0">
                <a:solidFill>
                  <a:schemeClr val="tx1"/>
                </a:solidFill>
              </a:rPr>
              <a:t>notulist</a:t>
            </a:r>
            <a:r>
              <a:rPr lang="en-US" sz="1400" dirty="0">
                <a:solidFill>
                  <a:schemeClr val="tx1"/>
                </a:solidFill>
              </a:rPr>
              <a:t>, 3 ou 4 </a:t>
            </a:r>
            <a:r>
              <a:rPr lang="en-US" sz="1400" b="1" dirty="0">
                <a:solidFill>
                  <a:schemeClr val="tx1"/>
                </a:solidFill>
              </a:rPr>
              <a:t>bewoners</a:t>
            </a:r>
            <a:r>
              <a:rPr lang="en-US" sz="1400" dirty="0">
                <a:solidFill>
                  <a:schemeClr val="tx1"/>
                </a:solidFill>
              </a:rPr>
              <a:t> avec une carte de profil</a:t>
            </a:r>
            <a:endParaRPr lang="en-US" sz="1400" dirty="0"/>
          </a:p>
        </p:txBody>
      </p:sp>
      <p:pic>
        <p:nvPicPr>
          <p:cNvPr id="12" name="Image 0" descr="preencoded.png">    </p:cNvPr>
          <p:cNvPicPr>
            <a:picLocks noChangeAspect="1"/>
          </p:cNvPicPr>
          <p:nvPr/>
        </p:nvPicPr>
        <p:blipFill>
          <a:blip r:embed="rId1"/>
          <a:stretch>
            <a:fillRect/>
          </a:stretch>
        </p:blipFill>
        <p:spPr>
          <a:xfrm>
            <a:off x="4087368" y="2395728"/>
            <a:ext cx="219456" cy="219456"/>
          </a:xfrm>
          <a:prstGeom prst="rect">
            <a:avLst/>
          </a:prstGeom>
        </p:spPr>
      </p:pic>
      <p:sp>
        <p:nvSpPr>
          <p:cNvPr id="13" name="Shape 9"/>
          <p:cNvSpPr/>
          <p:nvPr/>
        </p:nvSpPr>
        <p:spPr>
          <a:xfrm>
            <a:off x="4343400" y="1993392"/>
            <a:ext cx="3502152" cy="3343656"/>
          </a:xfrm>
          <a:prstGeom prst="roundRect">
            <a:avLst>
              <a:gd name="adj" fmla="val 2735"/>
            </a:avLst>
          </a:prstGeom>
          <a:solidFill>
            <a:schemeClr val="bg2"/>
          </a:solidFill>
          <a:ln w="9525">
            <a:solidFill>
              <a:srgbClr val="D5DCE6"/>
            </a:solidFill>
            <a:prstDash val="solid"/>
          </a:ln>
        </p:spPr>
      </p:sp>
      <p:sp>
        <p:nvSpPr>
          <p:cNvPr id="14" name="Shape 10"/>
          <p:cNvSpPr/>
          <p:nvPr/>
        </p:nvSpPr>
        <p:spPr>
          <a:xfrm>
            <a:off x="5765292" y="2176272"/>
            <a:ext cx="658368" cy="658368"/>
          </a:xfrm>
          <a:prstGeom prst="ellipse">
            <a:avLst/>
          </a:prstGeom>
          <a:solidFill>
            <a:schemeClr val="accent3"/>
          </a:solidFill>
          <a:ln/>
        </p:spPr>
      </p:sp>
      <p:sp>
        <p:nvSpPr>
          <p:cNvPr id="15" name="Text 11"/>
          <p:cNvSpPr txBox="1"/>
          <p:nvPr/>
        </p:nvSpPr>
        <p:spPr>
          <a:xfrm>
            <a:off x="5765292" y="2176272"/>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6" name="Text 12"/>
          <p:cNvSpPr txBox="1"/>
          <p:nvPr/>
        </p:nvSpPr>
        <p:spPr>
          <a:xfrm>
            <a:off x="4453128" y="2907792"/>
            <a:ext cx="3282696" cy="685800"/>
          </a:xfrm>
          <a:prstGeom prst="rect">
            <a:avLst/>
          </a:prstGeom>
          <a:noFill/>
          <a:ln/>
        </p:spPr>
        <p:txBody>
          <a:bodyPr wrap="square" lIns="0" tIns="0" rIns="0" bIns="0" rtlCol="0" anchor="ctr"/>
          <a:lstStyle/>
          <a:p>
            <a:pPr algn="ctr" indent="0" marL="0">
              <a:buNone/>
            </a:pPr>
            <a:r>
              <a:rPr lang="en-US" sz="1700" b="1" dirty="0">
                <a:solidFill>
                  <a:schemeClr val="accent3"/>
                </a:solidFill>
              </a:rPr>
              <a:t>De vergadering</a:t>
            </a:r>
            <a:endParaRPr lang="en-US" sz="1700" dirty="0"/>
          </a:p>
        </p:txBody>
      </p:sp>
      <p:sp>
        <p:nvSpPr>
          <p:cNvPr id="17" name="Text 13"/>
          <p:cNvSpPr txBox="1"/>
          <p:nvPr/>
        </p:nvSpPr>
        <p:spPr>
          <a:xfrm>
            <a:off x="4480560" y="3685032"/>
            <a:ext cx="3227832" cy="1560576"/>
          </a:xfrm>
          <a:prstGeom prst="rect">
            <a:avLst/>
          </a:prstGeom>
          <a:noFill/>
          <a:ln/>
        </p:spPr>
        <p:txBody>
          <a:bodyPr wrap="square" lIns="0" tIns="0" rIns="0" bIns="0" rtlCol="0" anchor="t"/>
          <a:lstStyle/>
          <a:p>
            <a:pPr algn="ctr" indent="0" marL="0">
              <a:spcAft>
                <a:spcPts val="600"/>
              </a:spcAft>
              <a:buNone/>
            </a:pPr>
            <a:r>
              <a:rPr lang="en-US" sz="1400" dirty="0">
                <a:solidFill>
                  <a:schemeClr val="tx1"/>
                </a:solidFill>
              </a:rPr>
              <a:t>Le président ouvre, présente chaque point, distribue la parole</a:t>
            </a:r>
            <a:endParaRPr lang="en-US" sz="1400" dirty="0"/>
          </a:p>
          <a:p>
            <a:pPr algn="ctr" indent="0" marL="0">
              <a:spcAft>
                <a:spcPts val="600"/>
              </a:spcAft>
              <a:buNone/>
            </a:pPr>
            <a:r>
              <a:rPr lang="en-US" sz="1400" dirty="0">
                <a:solidFill>
                  <a:schemeClr val="tx1"/>
                </a:solidFill>
              </a:rPr>
              <a:t>Débat avec </a:t>
            </a:r>
            <a:r>
              <a:rPr lang="en-US" sz="1400" b="1" dirty="0">
                <a:solidFill>
                  <a:schemeClr val="tx1"/>
                </a:solidFill>
              </a:rPr>
              <a:t>concessions</a:t>
            </a:r>
            <a:r>
              <a:rPr lang="en-US" sz="1400" dirty="0">
                <a:solidFill>
                  <a:schemeClr val="tx1"/>
                </a:solidFill>
              </a:rPr>
              <a:t>, puis vote à main levée : </a:t>
            </a:r>
            <a:r>
              <a:rPr lang="en-US" sz="1400" i="1" dirty="0">
                <a:solidFill>
                  <a:schemeClr val="tx1"/>
                </a:solidFill>
              </a:rPr>
              <a:t>Wie is voor? Tegen? Onthoudingen?</a:t>
            </a:r>
            <a:endParaRPr lang="en-US" sz="1400" dirty="0"/>
          </a:p>
        </p:txBody>
      </p:sp>
      <p:pic>
        <p:nvPicPr>
          <p:cNvPr id="18" name="Image 1" descr="preencoded.png">    </p:cNvPr>
          <p:cNvPicPr>
            <a:picLocks noChangeAspect="1"/>
          </p:cNvPicPr>
          <p:nvPr/>
        </p:nvPicPr>
        <p:blipFill>
          <a:blip r:embed="rId2"/>
          <a:stretch>
            <a:fillRect/>
          </a:stretch>
        </p:blipFill>
        <p:spPr>
          <a:xfrm>
            <a:off x="7882128" y="2395728"/>
            <a:ext cx="219456" cy="219456"/>
          </a:xfrm>
          <a:prstGeom prst="rect">
            <a:avLst/>
          </a:prstGeom>
        </p:spPr>
      </p:pic>
      <p:sp>
        <p:nvSpPr>
          <p:cNvPr id="19" name="Shape 14"/>
          <p:cNvSpPr/>
          <p:nvPr/>
        </p:nvSpPr>
        <p:spPr>
          <a:xfrm>
            <a:off x="8138160" y="1993392"/>
            <a:ext cx="3502152" cy="3343656"/>
          </a:xfrm>
          <a:prstGeom prst="roundRect">
            <a:avLst>
              <a:gd name="adj" fmla="val 2735"/>
            </a:avLst>
          </a:prstGeom>
          <a:solidFill>
            <a:schemeClr val="bg2"/>
          </a:solidFill>
          <a:ln w="9525">
            <a:solidFill>
              <a:srgbClr val="D5DCE6"/>
            </a:solidFill>
            <a:prstDash val="solid"/>
          </a:ln>
        </p:spPr>
      </p:sp>
      <p:sp>
        <p:nvSpPr>
          <p:cNvPr id="20" name="Shape 15"/>
          <p:cNvSpPr/>
          <p:nvPr/>
        </p:nvSpPr>
        <p:spPr>
          <a:xfrm>
            <a:off x="9560052" y="2176272"/>
            <a:ext cx="658368" cy="658368"/>
          </a:xfrm>
          <a:prstGeom prst="ellipse">
            <a:avLst/>
          </a:prstGeom>
          <a:solidFill>
            <a:schemeClr val="accent1"/>
          </a:solidFill>
          <a:ln/>
        </p:spPr>
      </p:sp>
      <p:sp>
        <p:nvSpPr>
          <p:cNvPr id="21" name="Text 16"/>
          <p:cNvSpPr txBox="1"/>
          <p:nvPr/>
        </p:nvSpPr>
        <p:spPr>
          <a:xfrm>
            <a:off x="9560052" y="2176272"/>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2" name="Text 17"/>
          <p:cNvSpPr txBox="1"/>
          <p:nvPr/>
        </p:nvSpPr>
        <p:spPr>
          <a:xfrm>
            <a:off x="8247888" y="2907792"/>
            <a:ext cx="3282696" cy="685800"/>
          </a:xfrm>
          <a:prstGeom prst="rect">
            <a:avLst/>
          </a:prstGeom>
          <a:noFill/>
          <a:ln/>
        </p:spPr>
        <p:txBody>
          <a:bodyPr wrap="square" lIns="0" tIns="0" rIns="0" bIns="0" rtlCol="0" anchor="ctr"/>
          <a:lstStyle/>
          <a:p>
            <a:pPr algn="ctr" indent="0" marL="0">
              <a:buNone/>
            </a:pPr>
            <a:r>
              <a:rPr lang="en-US" sz="1700" b="1" dirty="0">
                <a:solidFill>
                  <a:schemeClr val="accent1"/>
                </a:solidFill>
              </a:rPr>
              <a:t>Twee verslagen</a:t>
            </a:r>
            <a:endParaRPr lang="en-US" sz="1700" dirty="0"/>
          </a:p>
        </p:txBody>
      </p:sp>
      <p:sp>
        <p:nvSpPr>
          <p:cNvPr id="23" name="Text 18"/>
          <p:cNvSpPr txBox="1"/>
          <p:nvPr/>
        </p:nvSpPr>
        <p:spPr>
          <a:xfrm>
            <a:off x="8275320" y="3685032"/>
            <a:ext cx="3227832" cy="1560576"/>
          </a:xfrm>
          <a:prstGeom prst="rect">
            <a:avLst/>
          </a:prstGeom>
          <a:noFill/>
          <a:ln/>
        </p:spPr>
        <p:txBody>
          <a:bodyPr wrap="square" lIns="0" tIns="0" rIns="0" bIns="0" rtlCol="0" anchor="t"/>
          <a:lstStyle/>
          <a:p>
            <a:pPr algn="ctr" indent="0" marL="0">
              <a:spcAft>
                <a:spcPts val="600"/>
              </a:spcAft>
              <a:buNone/>
            </a:pPr>
            <a:r>
              <a:rPr lang="en-US" sz="1400" b="1" dirty="0">
                <a:solidFill>
                  <a:schemeClr val="tx1"/>
                </a:solidFill>
              </a:rPr>
              <a:t>Notulen</a:t>
            </a:r>
            <a:r>
              <a:rPr lang="en-US" sz="1400" dirty="0">
                <a:solidFill>
                  <a:schemeClr val="tx1"/>
                </a:solidFill>
              </a:rPr>
              <a:t> (10 à 12 phrases, style officiel)</a:t>
            </a:r>
            <a:endParaRPr lang="en-US" sz="1400" dirty="0"/>
          </a:p>
          <a:p>
            <a:pPr algn="ctr" indent="0" marL="0">
              <a:spcAft>
                <a:spcPts val="600"/>
              </a:spcAft>
              <a:buNone/>
            </a:pPr>
            <a:r>
              <a:rPr lang="en-US" sz="1400" b="1" dirty="0">
                <a:solidFill>
                  <a:schemeClr val="tx1"/>
                </a:solidFill>
              </a:rPr>
              <a:t>ET</a:t>
            </a:r>
            <a:r>
              <a:rPr lang="en-US" sz="1400" dirty="0">
                <a:solidFill>
                  <a:schemeClr val="tx1"/>
                </a:solidFill>
              </a:rPr>
              <a:t> un message informel de 5 phrases à un voisin absent</a:t>
            </a:r>
            <a:endParaRPr lang="en-US" sz="1400" dirty="0"/>
          </a:p>
          <a:p>
            <a:pPr algn="ctr" indent="0" marL="0">
              <a:spcAft>
                <a:spcPts val="600"/>
              </a:spcAft>
              <a:buNone/>
            </a:pPr>
            <a:r>
              <a:rPr lang="en-US" sz="1400" dirty="0">
                <a:solidFill>
                  <a:schemeClr val="tx1"/>
                </a:solidFill>
              </a:rPr>
              <a:t>Même contenu, </a:t>
            </a:r>
            <a:r>
              <a:rPr lang="en-US" sz="1400" b="1" dirty="0">
                <a:solidFill>
                  <a:schemeClr val="tx1"/>
                </a:solidFill>
              </a:rPr>
              <a:t>deux registres</a:t>
            </a:r>
            <a:endParaRPr lang="en-US" sz="1400" dirty="0"/>
          </a:p>
        </p:txBody>
      </p:sp>
      <p:sp>
        <p:nvSpPr>
          <p:cNvPr id="24" name="Shape 19"/>
          <p:cNvSpPr/>
          <p:nvPr/>
        </p:nvSpPr>
        <p:spPr>
          <a:xfrm>
            <a:off x="548640" y="5565648"/>
            <a:ext cx="11091672" cy="725424"/>
          </a:xfrm>
          <a:prstGeom prst="roundRect">
            <a:avLst>
              <a:gd name="adj" fmla="val 10084"/>
            </a:avLst>
          </a:prstGeom>
          <a:solidFill>
            <a:schemeClr val="accent3">
              <a:alpha val="10000"/>
            </a:schemeClr>
          </a:solidFill>
          <a:ln w="9525">
            <a:solidFill>
              <a:schemeClr val="accent3">
                <a:alpha val="70000"/>
              </a:schemeClr>
            </a:solidFill>
            <a:prstDash val="solid"/>
          </a:ln>
        </p:spPr>
      </p:sp>
      <p:pic>
        <p:nvPicPr>
          <p:cNvPr id="25" name="Image 2" descr="preencoded.png">    </p:cNvPr>
          <p:cNvPicPr>
            <a:picLocks noChangeAspect="1"/>
          </p:cNvPicPr>
          <p:nvPr/>
        </p:nvPicPr>
        <p:blipFill>
          <a:blip r:embed="rId3"/>
          <a:stretch>
            <a:fillRect/>
          </a:stretch>
        </p:blipFill>
        <p:spPr>
          <a:xfrm>
            <a:off x="749808" y="5763768"/>
            <a:ext cx="329184" cy="329184"/>
          </a:xfrm>
          <a:prstGeom prst="rect">
            <a:avLst/>
          </a:prstGeom>
        </p:spPr>
      </p:pic>
      <p:sp>
        <p:nvSpPr>
          <p:cNvPr id="26" name="Text 20"/>
          <p:cNvSpPr txBox="1"/>
          <p:nvPr/>
        </p:nvSpPr>
        <p:spPr>
          <a:xfrm>
            <a:off x="1234440" y="5602224"/>
            <a:ext cx="10287000" cy="652272"/>
          </a:xfrm>
          <a:prstGeom prst="rect">
            <a:avLst/>
          </a:prstGeom>
          <a:noFill/>
          <a:ln/>
        </p:spPr>
        <p:txBody>
          <a:bodyPr wrap="square" lIns="0" tIns="0" rIns="0" bIns="0" rtlCol="0" anchor="ctr"/>
          <a:lstStyle/>
          <a:p>
            <a:pPr indent="0" marL="0">
              <a:buNone/>
            </a:pPr>
            <a:r>
              <a:rPr lang="en-US" sz="1700" b="1" dirty="0">
                <a:solidFill>
                  <a:schemeClr val="accent3"/>
                </a:solidFill>
              </a:rPr>
              <a:t>Checklist — </a:t>
            </a:r>
            <a:r>
              <a:rPr lang="en-US" sz="1700" dirty="0">
                <a:solidFill>
                  <a:schemeClr val="tx1"/>
                </a:solidFill>
              </a:rPr>
              <a:t>Identique à l’étape 1, sauf « Lexique de la copropriété » → « Lexique du quartier (activités D1 à D5) » : minimum 10.</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Toch, hoewel, weliswaar : quel ordre ?</a:t>
            </a:r>
            <a:endParaRPr lang="en-US" sz="3200" dirty="0"/>
          </a:p>
        </p:txBody>
      </p:sp>
      <p:sp>
        <p:nvSpPr>
          <p:cNvPr id="3" name="tag"/>
          <p:cNvSpPr/>
          <p:nvPr/>
        </p:nvSpPr>
        <p:spPr>
          <a:xfrm>
            <a:off x="548640" y="237744"/>
            <a:ext cx="11658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 BONUS</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6" name="Text 3"/>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Choisissez la bonne forme. Seul · 4 min.</a:t>
            </a:r>
            <a:endParaRPr lang="en-US" sz="1600" dirty="0"/>
          </a:p>
        </p:txBody>
      </p:sp>
      <p:sp>
        <p:nvSpPr>
          <p:cNvPr id="7"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1000"/>
              </a:spcAft>
              <a:buNone/>
            </a:pPr>
            <a:r>
              <a:rPr lang="en-US" sz="2400" b="1" dirty="0">
                <a:solidFill>
                  <a:schemeClr val="tx2"/>
                </a:solidFill>
              </a:rPr>
              <a:t>1.  </a:t>
            </a:r>
            <a:r>
              <a:rPr lang="en-US" sz="2400" dirty="0">
                <a:solidFill>
                  <a:schemeClr val="tx1"/>
                </a:solidFill>
              </a:rPr>
              <a:t>Toch </a:t>
            </a:r>
            <a:r>
              <a:rPr lang="en-US" sz="2400" dirty="0">
                <a:solidFill>
                  <a:schemeClr val="tx1"/>
                </a:solidFill>
              </a:rPr>
              <a:t>ik stem</a:t>
            </a:r>
            <a:r>
              <a:rPr lang="en-US" sz="2400" dirty="0">
                <a:solidFill>
                  <a:schemeClr val="tx1"/>
                </a:solidFill>
              </a:rPr>
              <a:t> / </a:t>
            </a:r>
            <a:r>
              <a:rPr lang="en-US" sz="2400" dirty="0">
                <a:solidFill>
                  <a:schemeClr val="tx1"/>
                </a:solidFill>
              </a:rPr>
              <a:t>stem ik</a:t>
            </a:r>
            <a:r>
              <a:rPr lang="en-US" sz="2400" dirty="0">
                <a:solidFill>
                  <a:schemeClr val="tx1"/>
                </a:solidFill>
              </a:rPr>
              <a:t> tegen.</a:t>
            </a:r>
            <a:endParaRPr lang="en-US" sz="2400" dirty="0"/>
          </a:p>
          <a:p>
            <a:pPr indent="0" marL="0">
              <a:spcAft>
                <a:spcPts val="1000"/>
              </a:spcAft>
              <a:buNone/>
            </a:pPr>
            <a:r>
              <a:rPr lang="en-US" sz="2400" b="1" dirty="0">
                <a:solidFill>
                  <a:schemeClr val="tx2"/>
                </a:solidFill>
              </a:rPr>
              <a:t>2.  </a:t>
            </a:r>
            <a:r>
              <a:rPr lang="en-US" sz="2400" dirty="0">
                <a:solidFill>
                  <a:schemeClr val="tx1"/>
                </a:solidFill>
              </a:rPr>
              <a:t>Hoewel ik uw punt begrijp, </a:t>
            </a:r>
            <a:r>
              <a:rPr lang="en-US" sz="2400" dirty="0">
                <a:solidFill>
                  <a:schemeClr val="tx1"/>
                </a:solidFill>
              </a:rPr>
              <a:t>ik blijf</a:t>
            </a:r>
            <a:r>
              <a:rPr lang="en-US" sz="2400" dirty="0">
                <a:solidFill>
                  <a:schemeClr val="tx1"/>
                </a:solidFill>
              </a:rPr>
              <a:t> / </a:t>
            </a:r>
            <a:r>
              <a:rPr lang="en-US" sz="2400" dirty="0">
                <a:solidFill>
                  <a:schemeClr val="tx1"/>
                </a:solidFill>
              </a:rPr>
              <a:t>blijf ik</a:t>
            </a:r>
            <a:r>
              <a:rPr lang="en-US" sz="2400" dirty="0">
                <a:solidFill>
                  <a:schemeClr val="tx1"/>
                </a:solidFill>
              </a:rPr>
              <a:t> bij mijn standpunt.</a:t>
            </a:r>
            <a:endParaRPr lang="en-US" sz="2400" dirty="0"/>
          </a:p>
          <a:p>
            <a:pPr indent="0" marL="0">
              <a:spcAft>
                <a:spcPts val="1000"/>
              </a:spcAft>
              <a:buNone/>
            </a:pPr>
            <a:r>
              <a:rPr lang="en-US" sz="2400" b="1" dirty="0">
                <a:solidFill>
                  <a:schemeClr val="tx2"/>
                </a:solidFill>
              </a:rPr>
              <a:t>3.  </a:t>
            </a:r>
            <a:r>
              <a:rPr lang="en-US" sz="2400" dirty="0">
                <a:solidFill>
                  <a:schemeClr val="tx1"/>
                </a:solidFill>
              </a:rPr>
              <a:t>Weliswaar </a:t>
            </a:r>
            <a:r>
              <a:rPr lang="en-US" sz="2400" dirty="0">
                <a:solidFill>
                  <a:schemeClr val="tx1"/>
                </a:solidFill>
              </a:rPr>
              <a:t>de werken zijn</a:t>
            </a:r>
            <a:r>
              <a:rPr lang="en-US" sz="2400" dirty="0">
                <a:solidFill>
                  <a:schemeClr val="tx1"/>
                </a:solidFill>
              </a:rPr>
              <a:t> / </a:t>
            </a:r>
            <a:r>
              <a:rPr lang="en-US" sz="2400" dirty="0">
                <a:solidFill>
                  <a:schemeClr val="tx1"/>
                </a:solidFill>
              </a:rPr>
              <a:t>zijn de werken</a:t>
            </a:r>
            <a:r>
              <a:rPr lang="en-US" sz="2400" dirty="0">
                <a:solidFill>
                  <a:schemeClr val="tx1"/>
                </a:solidFill>
              </a:rPr>
              <a:t> duur, maar noodzakelijk.</a:t>
            </a:r>
            <a:endParaRPr lang="en-US" sz="2400" dirty="0"/>
          </a:p>
          <a:p>
            <a:pPr indent="0" marL="0">
              <a:spcAft>
                <a:spcPts val="1000"/>
              </a:spcAft>
              <a:buNone/>
            </a:pPr>
            <a:r>
              <a:rPr lang="en-US" sz="2400" b="1" dirty="0">
                <a:solidFill>
                  <a:schemeClr val="tx2"/>
                </a:solidFill>
              </a:rPr>
              <a:t>4.  </a:t>
            </a:r>
            <a:r>
              <a:rPr lang="en-US" sz="2400" dirty="0">
                <a:solidFill>
                  <a:schemeClr val="tx1"/>
                </a:solidFill>
              </a:rPr>
              <a:t>De offerte is hoog, maar </a:t>
            </a:r>
            <a:r>
              <a:rPr lang="en-US" sz="2400" dirty="0">
                <a:solidFill>
                  <a:schemeClr val="tx1"/>
                </a:solidFill>
              </a:rPr>
              <a:t>stel ik voor</a:t>
            </a:r>
            <a:r>
              <a:rPr lang="en-US" sz="2400" dirty="0">
                <a:solidFill>
                  <a:schemeClr val="tx1"/>
                </a:solidFill>
              </a:rPr>
              <a:t> / </a:t>
            </a:r>
            <a:r>
              <a:rPr lang="en-US" sz="2400" dirty="0">
                <a:solidFill>
                  <a:schemeClr val="tx1"/>
                </a:solidFill>
              </a:rPr>
              <a:t>ik stel voor</a:t>
            </a:r>
            <a:r>
              <a:rPr lang="en-US" sz="2400" dirty="0">
                <a:solidFill>
                  <a:schemeClr val="tx1"/>
                </a:solidFill>
              </a:rPr>
              <a:t> om te wachten.</a:t>
            </a:r>
            <a:endParaRPr lang="en-US" sz="2400" dirty="0"/>
          </a:p>
          <a:p>
            <a:pPr indent="0" marL="0">
              <a:spcAft>
                <a:spcPts val="1000"/>
              </a:spcAft>
              <a:buNone/>
            </a:pPr>
            <a:r>
              <a:rPr lang="en-US" sz="2400" b="1" dirty="0">
                <a:solidFill>
                  <a:schemeClr val="tx2"/>
                </a:solidFill>
              </a:rPr>
              <a:t>5.  </a:t>
            </a:r>
            <a:r>
              <a:rPr lang="en-US" sz="2400" dirty="0">
                <a:solidFill>
                  <a:schemeClr val="tx1"/>
                </a:solidFill>
              </a:rPr>
              <a:t>U komt </a:t>
            </a:r>
            <a:r>
              <a:rPr lang="en-US" sz="2400" dirty="0">
                <a:solidFill>
                  <a:schemeClr val="tx1"/>
                </a:solidFill>
              </a:rPr>
              <a:t>tot</a:t>
            </a:r>
            <a:r>
              <a:rPr lang="en-US" sz="2400" dirty="0">
                <a:solidFill>
                  <a:schemeClr val="tx1"/>
                </a:solidFill>
              </a:rPr>
              <a:t> / </a:t>
            </a:r>
            <a:r>
              <a:rPr lang="en-US" sz="2400" dirty="0">
                <a:solidFill>
                  <a:schemeClr val="tx1"/>
                </a:solidFill>
              </a:rPr>
              <a:t>toch</a:t>
            </a:r>
            <a:r>
              <a:rPr lang="en-US" sz="2400" dirty="0">
                <a:solidFill>
                  <a:schemeClr val="tx1"/>
                </a:solidFill>
              </a:rPr>
              <a:t> naar de vergadering?</a:t>
            </a:r>
            <a:endParaRPr lang="en-US" sz="2400" dirty="0"/>
          </a:p>
          <a:p>
            <a:pPr indent="0" marL="0">
              <a:spcAft>
                <a:spcPts val="1000"/>
              </a:spcAft>
              <a:buNone/>
            </a:pPr>
            <a:r>
              <a:rPr lang="en-US" sz="2400" b="1" dirty="0">
                <a:solidFill>
                  <a:schemeClr val="tx2"/>
                </a:solidFill>
              </a:rPr>
              <a:t>6.  </a:t>
            </a:r>
            <a:r>
              <a:rPr lang="en-US" sz="2400" dirty="0">
                <a:solidFill>
                  <a:schemeClr val="tx1"/>
                </a:solidFill>
              </a:rPr>
              <a:t>Tot</a:t>
            </a:r>
            <a:r>
              <a:rPr lang="en-US" sz="2400" dirty="0">
                <a:solidFill>
                  <a:schemeClr val="tx1"/>
                </a:solidFill>
              </a:rPr>
              <a:t> / </a:t>
            </a:r>
            <a:r>
              <a:rPr lang="en-US" sz="2400" dirty="0">
                <a:solidFill>
                  <a:schemeClr val="tx1"/>
                </a:solidFill>
              </a:rPr>
              <a:t>Toch</a:t>
            </a:r>
            <a:r>
              <a:rPr lang="en-US" sz="2400" dirty="0">
                <a:solidFill>
                  <a:schemeClr val="tx1"/>
                </a:solidFill>
              </a:rPr>
              <a:t> vind ik het een goed idee.</a:t>
            </a:r>
            <a:endParaRPr lang="en-US" sz="2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Toch, hoewel, weliswaar : quel ordre ?</a:t>
            </a:r>
            <a:endParaRPr lang="en-US" sz="3200" dirty="0"/>
          </a:p>
        </p:txBody>
      </p:sp>
      <p:sp>
        <p:nvSpPr>
          <p:cNvPr id="3" name="tag"/>
          <p:cNvSpPr/>
          <p:nvPr/>
        </p:nvSpPr>
        <p:spPr>
          <a:xfrm>
            <a:off x="548640" y="237744"/>
            <a:ext cx="11658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 BONUS</a:t>
            </a:r>
            <a:endParaRPr lang="en-US" sz="1200" dirty="0"/>
          </a:p>
        </p:txBody>
      </p:sp>
      <p:sp>
        <p:nvSpPr>
          <p:cNvPr id="4" name="tag"/>
          <p:cNvSpPr/>
          <p:nvPr/>
        </p:nvSpPr>
        <p:spPr>
          <a:xfrm>
            <a:off x="18242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7" name="Text 4"/>
          <p:cNvSpPr txBox="1"/>
          <p:nvPr/>
        </p:nvSpPr>
        <p:spPr>
          <a:xfrm>
            <a:off x="548640" y="1481328"/>
            <a:ext cx="7178040" cy="371856"/>
          </a:xfrm>
          <a:prstGeom prst="rect">
            <a:avLst/>
          </a:prstGeom>
          <a:noFill/>
          <a:ln/>
        </p:spPr>
        <p:txBody>
          <a:bodyPr wrap="square" lIns="0" tIns="0" rIns="0" bIns="0" rtlCol="0" anchor="t"/>
          <a:lstStyle/>
          <a:p>
            <a:pPr indent="0" marL="0">
              <a:buNone/>
            </a:pPr>
            <a:r>
              <a:rPr lang="en-US" sz="1600" i="1" dirty="0">
                <a:solidFill>
                  <a:schemeClr val="accent5"/>
                </a:solidFill>
              </a:rPr>
              <a:t>Choisissez la bonne forme. Seul · 4 min.</a:t>
            </a:r>
            <a:endParaRPr lang="en-US" sz="1600" dirty="0"/>
          </a:p>
        </p:txBody>
      </p:sp>
      <p:sp>
        <p:nvSpPr>
          <p:cNvPr id="8" name="exercise"/>
          <p:cNvSpPr txBox="1"/>
          <p:nvPr/>
        </p:nvSpPr>
        <p:spPr>
          <a:xfrm>
            <a:off x="548640" y="1926336"/>
            <a:ext cx="7178040" cy="4364736"/>
          </a:xfrm>
          <a:prstGeom prst="rect">
            <a:avLst/>
          </a:prstGeom>
          <a:noFill/>
          <a:ln/>
        </p:spPr>
        <p:txBody>
          <a:bodyPr wrap="square" lIns="0" tIns="0" rIns="0" bIns="0" rtlCol="0" anchor="t"/>
          <a:lstStyle/>
          <a:p>
            <a:pPr indent="0" marL="0">
              <a:spcAft>
                <a:spcPts val="1000"/>
              </a:spcAft>
              <a:buNone/>
            </a:pPr>
            <a:r>
              <a:rPr lang="en-US" sz="2400" b="1" dirty="0">
                <a:solidFill>
                  <a:schemeClr val="tx2"/>
                </a:solidFill>
              </a:rPr>
              <a:t>1.  </a:t>
            </a:r>
            <a:r>
              <a:rPr lang="en-US" sz="2400" dirty="0">
                <a:solidFill>
                  <a:schemeClr val="tx1"/>
                </a:solidFill>
              </a:rPr>
              <a:t>Toch </a:t>
            </a:r>
            <a:r>
              <a:rPr lang="en-US" sz="2400" strike="sngStrike" dirty="0">
                <a:solidFill>
                  <a:schemeClr val="accent6"/>
                </a:solidFill>
              </a:rPr>
              <a:t>ik stem</a:t>
            </a:r>
            <a:r>
              <a:rPr lang="en-US" sz="2400" dirty="0">
                <a:solidFill>
                  <a:schemeClr val="tx1"/>
                </a:solidFill>
              </a:rPr>
              <a:t> / </a:t>
            </a:r>
            <a:r>
              <a:rPr lang="en-US" sz="2400" b="1" dirty="0">
                <a:solidFill>
                  <a:schemeClr val="accent3"/>
                </a:solidFill>
              </a:rPr>
              <a:t>stem ik</a:t>
            </a:r>
            <a:r>
              <a:rPr lang="en-US" sz="2400" dirty="0">
                <a:solidFill>
                  <a:schemeClr val="tx1"/>
                </a:solidFill>
              </a:rPr>
              <a:t> tegen.</a:t>
            </a:r>
            <a:endParaRPr lang="en-US" sz="2400" dirty="0"/>
          </a:p>
          <a:p>
            <a:pPr indent="0" marL="0">
              <a:spcAft>
                <a:spcPts val="1000"/>
              </a:spcAft>
              <a:buNone/>
            </a:pPr>
            <a:r>
              <a:rPr lang="en-US" sz="2400" b="1" dirty="0">
                <a:solidFill>
                  <a:schemeClr val="tx2"/>
                </a:solidFill>
              </a:rPr>
              <a:t>2.  </a:t>
            </a:r>
            <a:r>
              <a:rPr lang="en-US" sz="2400" dirty="0">
                <a:solidFill>
                  <a:schemeClr val="tx1"/>
                </a:solidFill>
              </a:rPr>
              <a:t>Hoewel ik uw punt begrijp, </a:t>
            </a:r>
            <a:r>
              <a:rPr lang="en-US" sz="2400" strike="sngStrike" dirty="0">
                <a:solidFill>
                  <a:schemeClr val="accent6"/>
                </a:solidFill>
              </a:rPr>
              <a:t>ik blijf</a:t>
            </a:r>
            <a:r>
              <a:rPr lang="en-US" sz="2400" dirty="0">
                <a:solidFill>
                  <a:schemeClr val="tx1"/>
                </a:solidFill>
              </a:rPr>
              <a:t> / </a:t>
            </a:r>
            <a:r>
              <a:rPr lang="en-US" sz="2400" b="1" dirty="0">
                <a:solidFill>
                  <a:schemeClr val="accent3"/>
                </a:solidFill>
              </a:rPr>
              <a:t>blijf ik</a:t>
            </a:r>
            <a:r>
              <a:rPr lang="en-US" sz="2400" dirty="0">
                <a:solidFill>
                  <a:schemeClr val="tx1"/>
                </a:solidFill>
              </a:rPr>
              <a:t> bij mijn standpunt.</a:t>
            </a:r>
            <a:endParaRPr lang="en-US" sz="2400" dirty="0"/>
          </a:p>
          <a:p>
            <a:pPr indent="0" marL="0">
              <a:spcAft>
                <a:spcPts val="1000"/>
              </a:spcAft>
              <a:buNone/>
            </a:pPr>
            <a:r>
              <a:rPr lang="en-US" sz="2400" b="1" dirty="0">
                <a:solidFill>
                  <a:schemeClr val="tx2"/>
                </a:solidFill>
              </a:rPr>
              <a:t>3.  </a:t>
            </a:r>
            <a:r>
              <a:rPr lang="en-US" sz="2400" dirty="0">
                <a:solidFill>
                  <a:schemeClr val="tx1"/>
                </a:solidFill>
              </a:rPr>
              <a:t>Weliswaar </a:t>
            </a:r>
            <a:r>
              <a:rPr lang="en-US" sz="2400" strike="sngStrike" dirty="0">
                <a:solidFill>
                  <a:schemeClr val="accent6"/>
                </a:solidFill>
              </a:rPr>
              <a:t>de werken zijn</a:t>
            </a:r>
            <a:r>
              <a:rPr lang="en-US" sz="2400" dirty="0">
                <a:solidFill>
                  <a:schemeClr val="tx1"/>
                </a:solidFill>
              </a:rPr>
              <a:t> / </a:t>
            </a:r>
            <a:r>
              <a:rPr lang="en-US" sz="2400" b="1" dirty="0">
                <a:solidFill>
                  <a:schemeClr val="accent3"/>
                </a:solidFill>
              </a:rPr>
              <a:t>zijn de werken</a:t>
            </a:r>
            <a:r>
              <a:rPr lang="en-US" sz="2400" dirty="0">
                <a:solidFill>
                  <a:schemeClr val="tx1"/>
                </a:solidFill>
              </a:rPr>
              <a:t> duur, maar noodzakelijk.</a:t>
            </a:r>
            <a:endParaRPr lang="en-US" sz="2400" dirty="0"/>
          </a:p>
          <a:p>
            <a:pPr indent="0" marL="0">
              <a:spcAft>
                <a:spcPts val="1000"/>
              </a:spcAft>
              <a:buNone/>
            </a:pPr>
            <a:r>
              <a:rPr lang="en-US" sz="2400" b="1" dirty="0">
                <a:solidFill>
                  <a:schemeClr val="tx2"/>
                </a:solidFill>
              </a:rPr>
              <a:t>4.  </a:t>
            </a:r>
            <a:r>
              <a:rPr lang="en-US" sz="2400" dirty="0">
                <a:solidFill>
                  <a:schemeClr val="tx1"/>
                </a:solidFill>
              </a:rPr>
              <a:t>De offerte is hoog, maar </a:t>
            </a:r>
            <a:r>
              <a:rPr lang="en-US" sz="2400" strike="sngStrike" dirty="0">
                <a:solidFill>
                  <a:schemeClr val="accent6"/>
                </a:solidFill>
              </a:rPr>
              <a:t>stel ik voor</a:t>
            </a:r>
            <a:r>
              <a:rPr lang="en-US" sz="2400" dirty="0">
                <a:solidFill>
                  <a:schemeClr val="tx1"/>
                </a:solidFill>
              </a:rPr>
              <a:t> / </a:t>
            </a:r>
            <a:r>
              <a:rPr lang="en-US" sz="2400" b="1" dirty="0">
                <a:solidFill>
                  <a:schemeClr val="accent3"/>
                </a:solidFill>
              </a:rPr>
              <a:t>ik stel voor</a:t>
            </a:r>
            <a:r>
              <a:rPr lang="en-US" sz="2400" dirty="0">
                <a:solidFill>
                  <a:schemeClr val="tx1"/>
                </a:solidFill>
              </a:rPr>
              <a:t> om te wachten.</a:t>
            </a:r>
            <a:endParaRPr lang="en-US" sz="2400" dirty="0"/>
          </a:p>
          <a:p>
            <a:pPr indent="0" marL="0">
              <a:spcAft>
                <a:spcPts val="1000"/>
              </a:spcAft>
              <a:buNone/>
            </a:pPr>
            <a:r>
              <a:rPr lang="en-US" sz="2400" b="1" dirty="0">
                <a:solidFill>
                  <a:schemeClr val="tx2"/>
                </a:solidFill>
              </a:rPr>
              <a:t>5.  </a:t>
            </a:r>
            <a:r>
              <a:rPr lang="en-US" sz="2400" dirty="0">
                <a:solidFill>
                  <a:schemeClr val="tx1"/>
                </a:solidFill>
              </a:rPr>
              <a:t>U komt </a:t>
            </a:r>
            <a:r>
              <a:rPr lang="en-US" sz="2400" strike="sngStrike" dirty="0">
                <a:solidFill>
                  <a:schemeClr val="accent6"/>
                </a:solidFill>
              </a:rPr>
              <a:t>tot</a:t>
            </a:r>
            <a:r>
              <a:rPr lang="en-US" sz="2400" dirty="0">
                <a:solidFill>
                  <a:schemeClr val="tx1"/>
                </a:solidFill>
              </a:rPr>
              <a:t> / </a:t>
            </a:r>
            <a:r>
              <a:rPr lang="en-US" sz="2400" b="1" dirty="0">
                <a:solidFill>
                  <a:schemeClr val="accent3"/>
                </a:solidFill>
              </a:rPr>
              <a:t>toch</a:t>
            </a:r>
            <a:r>
              <a:rPr lang="en-US" sz="2400" dirty="0">
                <a:solidFill>
                  <a:schemeClr val="tx1"/>
                </a:solidFill>
              </a:rPr>
              <a:t> naar de vergadering?</a:t>
            </a:r>
            <a:endParaRPr lang="en-US" sz="2400" dirty="0"/>
          </a:p>
          <a:p>
            <a:pPr indent="0" marL="0">
              <a:spcAft>
                <a:spcPts val="1000"/>
              </a:spcAft>
              <a:buNone/>
            </a:pPr>
            <a:r>
              <a:rPr lang="en-US" sz="2400" b="1" dirty="0">
                <a:solidFill>
                  <a:schemeClr val="tx2"/>
                </a:solidFill>
              </a:rPr>
              <a:t>6.  </a:t>
            </a:r>
            <a:r>
              <a:rPr lang="en-US" sz="2400" strike="sngStrike" dirty="0">
                <a:solidFill>
                  <a:schemeClr val="accent6"/>
                </a:solidFill>
              </a:rPr>
              <a:t>Tot</a:t>
            </a:r>
            <a:r>
              <a:rPr lang="en-US" sz="2400" dirty="0">
                <a:solidFill>
                  <a:schemeClr val="tx1"/>
                </a:solidFill>
              </a:rPr>
              <a:t> / </a:t>
            </a:r>
            <a:r>
              <a:rPr lang="en-US" sz="2400" b="1" dirty="0">
                <a:solidFill>
                  <a:schemeClr val="accent3"/>
                </a:solidFill>
              </a:rPr>
              <a:t>Toch</a:t>
            </a:r>
            <a:r>
              <a:rPr lang="en-US" sz="2400" dirty="0">
                <a:solidFill>
                  <a:schemeClr val="tx1"/>
                </a:solidFill>
              </a:rPr>
              <a:t> vind ik het een goed idee.</a:t>
            </a:r>
            <a:endParaRPr lang="en-US" sz="2400" dirty="0"/>
          </a:p>
        </p:txBody>
      </p:sp>
      <p:sp>
        <p:nvSpPr>
          <p:cNvPr id="9" name="aside"/>
          <p:cNvSpPr/>
          <p:nvPr/>
        </p:nvSpPr>
        <p:spPr>
          <a:xfrm>
            <a:off x="8046720" y="1481328"/>
            <a:ext cx="3593592" cy="4809744"/>
          </a:xfrm>
          <a:prstGeom prst="roundRect">
            <a:avLst>
              <a:gd name="adj" fmla="val 2036"/>
            </a:avLst>
          </a:prstGeom>
          <a:solidFill>
            <a:schemeClr val="accent6">
              <a:alpha val="10000"/>
            </a:schemeClr>
          </a:solidFill>
          <a:ln w="12700">
            <a:solidFill>
              <a:schemeClr val="accent6">
                <a:alpha val="60000"/>
              </a:schemeClr>
            </a:solidFill>
            <a:prstDash val="solid"/>
          </a:ln>
        </p:spPr>
      </p:sp>
      <p:pic>
        <p:nvPicPr>
          <p:cNvPr id="10"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1" name="Text 7"/>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ATTENTION</a:t>
            </a:r>
            <a:endParaRPr lang="en-US" sz="1400" dirty="0"/>
          </a:p>
        </p:txBody>
      </p:sp>
      <p:sp>
        <p:nvSpPr>
          <p:cNvPr id="12" name="Text 8"/>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b="1" dirty="0">
                <a:solidFill>
                  <a:schemeClr val="tx1"/>
                </a:solidFill>
              </a:rPr>
              <a:t>maar</a:t>
            </a:r>
            <a:r>
              <a:rPr lang="en-US" sz="1800" dirty="0">
                <a:solidFill>
                  <a:schemeClr val="tx1"/>
                </a:solidFill>
              </a:rPr>
              <a:t> : pas d’inversion (</a:t>
            </a:r>
            <a:r>
              <a:rPr lang="en-US" sz="1800" i="1" dirty="0">
                <a:solidFill>
                  <a:schemeClr val="tx1"/>
                </a:solidFill>
              </a:rPr>
              <a:t>maar ik stel voor…</a:t>
            </a:r>
            <a:r>
              <a:rPr lang="en-US" sz="1800" dirty="0">
                <a:solidFill>
                  <a:schemeClr val="tx1"/>
                </a:solidFill>
              </a:rPr>
              <a:t>).</a:t>
            </a:r>
            <a:endParaRPr lang="en-US" sz="1800" dirty="0"/>
          </a:p>
          <a:p>
            <a:pPr marL="177800" indent="-177800">
              <a:spcAft>
                <a:spcPts val="600"/>
              </a:spcAft>
              <a:buSzPct val="100000"/>
              <a:buChar char="•"/>
            </a:pPr>
            <a:r>
              <a:rPr lang="en-US" sz="1800" b="1" dirty="0">
                <a:solidFill>
                  <a:schemeClr val="tx1"/>
                </a:solidFill>
              </a:rPr>
              <a:t>Toch / Weliswaar</a:t>
            </a:r>
            <a:r>
              <a:rPr lang="en-US" sz="1800" dirty="0">
                <a:solidFill>
                  <a:schemeClr val="tx1"/>
                </a:solidFill>
              </a:rPr>
              <a:t> en tête : inversion.</a:t>
            </a:r>
            <a:endParaRPr lang="en-US" sz="1800" dirty="0"/>
          </a:p>
          <a:p>
            <a:pPr marL="177800" indent="-177800">
              <a:spcAft>
                <a:spcPts val="600"/>
              </a:spcAft>
              <a:buSzPct val="100000"/>
              <a:buChar char="•"/>
            </a:pPr>
            <a:r>
              <a:rPr lang="en-US" sz="1800" b="1" dirty="0">
                <a:solidFill>
                  <a:schemeClr val="tx1"/>
                </a:solidFill>
              </a:rPr>
              <a:t>Hoewel</a:t>
            </a:r>
            <a:r>
              <a:rPr lang="en-US" sz="1800" dirty="0">
                <a:solidFill>
                  <a:schemeClr val="tx1"/>
                </a:solidFill>
              </a:rPr>
              <a:t> : verbe à la fin, puis verbe en tête.</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Bilan du palier 7 : je sais…</a:t>
            </a:r>
            <a:endParaRPr lang="en-US" sz="3200" dirty="0"/>
          </a:p>
        </p:txBody>
      </p:sp>
      <p:sp>
        <p:nvSpPr>
          <p:cNvPr id="3" name="tag"/>
          <p:cNvSpPr/>
          <p:nvPr/>
        </p:nvSpPr>
        <p:spPr>
          <a:xfrm>
            <a:off x="548640" y="237744"/>
            <a:ext cx="221742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AUTO-ÉVALUATION</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6" name="Text 3"/>
          <p:cNvSpPr txBox="1"/>
          <p:nvPr/>
        </p:nvSpPr>
        <p:spPr>
          <a:xfrm>
            <a:off x="548640" y="1481328"/>
            <a:ext cx="11091672" cy="313944"/>
          </a:xfrm>
          <a:prstGeom prst="rect">
            <a:avLst/>
          </a:prstGeom>
          <a:noFill/>
          <a:ln/>
        </p:spPr>
        <p:txBody>
          <a:bodyPr wrap="square" lIns="0" tIns="0" rIns="0" bIns="0" rtlCol="0" anchor="t"/>
          <a:lstStyle/>
          <a:p>
            <a:pPr indent="0" marL="0">
              <a:buNone/>
            </a:pPr>
            <a:r>
              <a:rPr lang="en-US" sz="1700" i="1" dirty="0">
                <a:solidFill>
                  <a:schemeClr val="accent5"/>
                </a:solidFill>
              </a:rPr>
              <a:t>Cochez ce que vous savez faire </a:t>
            </a:r>
            <a:r>
              <a:rPr lang="en-US" sz="1700" b="1" i="1" dirty="0">
                <a:solidFill>
                  <a:schemeClr val="accent5"/>
                </a:solidFill>
              </a:rPr>
              <a:t>sans notes</a:t>
            </a:r>
            <a:r>
              <a:rPr lang="en-US" sz="1700" i="1" dirty="0">
                <a:solidFill>
                  <a:schemeClr val="accent5"/>
                </a:solidFill>
              </a:rPr>
              <a:t>.</a:t>
            </a:r>
            <a:endParaRPr lang="en-US" sz="1700" dirty="0"/>
          </a:p>
        </p:txBody>
      </p:sp>
      <p:sp>
        <p:nvSpPr>
          <p:cNvPr id="7" name="Shape 4"/>
          <p:cNvSpPr/>
          <p:nvPr/>
        </p:nvSpPr>
        <p:spPr>
          <a:xfrm>
            <a:off x="548640" y="1941576"/>
            <a:ext cx="11091672" cy="657860"/>
          </a:xfrm>
          <a:prstGeom prst="roundRect">
            <a:avLst>
              <a:gd name="adj" fmla="val 8340"/>
            </a:avLst>
          </a:prstGeom>
          <a:solidFill>
            <a:schemeClr val="bg2"/>
          </a:solidFill>
          <a:ln w="6350">
            <a:solidFill>
              <a:srgbClr val="D5DCE6"/>
            </a:solidFill>
            <a:prstDash val="solid"/>
          </a:ln>
        </p:spPr>
      </p:sp>
      <p:pic>
        <p:nvPicPr>
          <p:cNvPr id="8" name="Image 0" descr="preencoded.png">    </p:cNvPr>
          <p:cNvPicPr>
            <a:picLocks noChangeAspect="1"/>
          </p:cNvPicPr>
          <p:nvPr/>
        </p:nvPicPr>
        <p:blipFill>
          <a:blip r:embed="rId1"/>
          <a:stretch>
            <a:fillRect/>
          </a:stretch>
        </p:blipFill>
        <p:spPr>
          <a:xfrm>
            <a:off x="731520" y="2115058"/>
            <a:ext cx="310896" cy="310896"/>
          </a:xfrm>
          <a:prstGeom prst="rect">
            <a:avLst/>
          </a:prstGeom>
        </p:spPr>
      </p:pic>
      <p:sp>
        <p:nvSpPr>
          <p:cNvPr id="9" name="Text 5"/>
          <p:cNvSpPr txBox="1"/>
          <p:nvPr/>
        </p:nvSpPr>
        <p:spPr>
          <a:xfrm>
            <a:off x="1207008" y="1941576"/>
            <a:ext cx="10314432" cy="657860"/>
          </a:xfrm>
          <a:prstGeom prst="rect">
            <a:avLst/>
          </a:prstGeom>
          <a:noFill/>
          <a:ln/>
        </p:spPr>
        <p:txBody>
          <a:bodyPr wrap="square" lIns="0" tIns="0" rIns="0" bIns="0" rtlCol="0" anchor="ctr"/>
          <a:lstStyle/>
          <a:p>
            <a:pPr indent="0" marL="0">
              <a:buNone/>
            </a:pPr>
            <a:r>
              <a:rPr lang="en-US" sz="1900" dirty="0">
                <a:solidFill>
                  <a:schemeClr val="tx1"/>
                </a:solidFill>
              </a:rPr>
              <a:t>Expliquer </a:t>
            </a:r>
            <a:r>
              <a:rPr lang="en-US" sz="1900" b="1" dirty="0">
                <a:solidFill>
                  <a:schemeClr val="tx1"/>
                </a:solidFill>
              </a:rPr>
              <a:t>syndicus, gemene delen, volmacht, quotiteiten</a:t>
            </a:r>
            <a:r>
              <a:rPr lang="en-US" sz="1900" dirty="0">
                <a:solidFill>
                  <a:schemeClr val="tx1"/>
                </a:solidFill>
              </a:rPr>
              <a:t> avec une relative</a:t>
            </a:r>
            <a:endParaRPr lang="en-US" sz="1900" dirty="0"/>
          </a:p>
        </p:txBody>
      </p:sp>
      <p:sp>
        <p:nvSpPr>
          <p:cNvPr id="10" name="Shape 6"/>
          <p:cNvSpPr/>
          <p:nvPr/>
        </p:nvSpPr>
        <p:spPr>
          <a:xfrm>
            <a:off x="548640" y="2672588"/>
            <a:ext cx="11091672" cy="657860"/>
          </a:xfrm>
          <a:prstGeom prst="roundRect">
            <a:avLst>
              <a:gd name="adj" fmla="val 8340"/>
            </a:avLst>
          </a:prstGeom>
          <a:solidFill>
            <a:schemeClr val="bg1"/>
          </a:solidFill>
          <a:ln w="6350">
            <a:solidFill>
              <a:srgbClr val="D5DCE6"/>
            </a:solidFill>
            <a:prstDash val="solid"/>
          </a:ln>
        </p:spPr>
      </p:sp>
      <p:pic>
        <p:nvPicPr>
          <p:cNvPr id="11" name="Image 1" descr="preencoded.png">    </p:cNvPr>
          <p:cNvPicPr>
            <a:picLocks noChangeAspect="1"/>
          </p:cNvPicPr>
          <p:nvPr/>
        </p:nvPicPr>
        <p:blipFill>
          <a:blip r:embed="rId2"/>
          <a:stretch>
            <a:fillRect/>
          </a:stretch>
        </p:blipFill>
        <p:spPr>
          <a:xfrm>
            <a:off x="731520" y="2846070"/>
            <a:ext cx="310896" cy="310896"/>
          </a:xfrm>
          <a:prstGeom prst="rect">
            <a:avLst/>
          </a:prstGeom>
        </p:spPr>
      </p:pic>
      <p:sp>
        <p:nvSpPr>
          <p:cNvPr id="12" name="Text 7"/>
          <p:cNvSpPr txBox="1"/>
          <p:nvPr/>
        </p:nvSpPr>
        <p:spPr>
          <a:xfrm>
            <a:off x="1207008" y="2672588"/>
            <a:ext cx="10314432" cy="657860"/>
          </a:xfrm>
          <a:prstGeom prst="rect">
            <a:avLst/>
          </a:prstGeom>
          <a:noFill/>
          <a:ln/>
        </p:spPr>
        <p:txBody>
          <a:bodyPr wrap="square" lIns="0" tIns="0" rIns="0" bIns="0" rtlCol="0" anchor="ctr"/>
          <a:lstStyle/>
          <a:p>
            <a:pPr indent="0" marL="0">
              <a:buNone/>
            </a:pPr>
            <a:r>
              <a:rPr lang="en-US" sz="1900" dirty="0">
                <a:solidFill>
                  <a:schemeClr val="tx1"/>
                </a:solidFill>
              </a:rPr>
              <a:t>Transformer un verbe en </a:t>
            </a:r>
            <a:r>
              <a:rPr lang="en-US" sz="1900" b="1" dirty="0">
                <a:solidFill>
                  <a:schemeClr val="tx1"/>
                </a:solidFill>
              </a:rPr>
              <a:t>nom</a:t>
            </a:r>
            <a:r>
              <a:rPr lang="en-US" sz="1900" dirty="0">
                <a:solidFill>
                  <a:schemeClr val="tx1"/>
                </a:solidFill>
              </a:rPr>
              <a:t> : </a:t>
            </a:r>
            <a:r>
              <a:rPr lang="en-US" sz="1900" i="1" dirty="0">
                <a:solidFill>
                  <a:schemeClr val="tx1"/>
                </a:solidFill>
              </a:rPr>
              <a:t>de verdeling van de kosten · het uitstellen van de werken</a:t>
            </a:r>
            <a:endParaRPr lang="en-US" sz="1900" dirty="0"/>
          </a:p>
        </p:txBody>
      </p:sp>
      <p:sp>
        <p:nvSpPr>
          <p:cNvPr id="13" name="Shape 8"/>
          <p:cNvSpPr/>
          <p:nvPr/>
        </p:nvSpPr>
        <p:spPr>
          <a:xfrm>
            <a:off x="548640" y="3403600"/>
            <a:ext cx="11091672" cy="657860"/>
          </a:xfrm>
          <a:prstGeom prst="roundRect">
            <a:avLst>
              <a:gd name="adj" fmla="val 8340"/>
            </a:avLst>
          </a:prstGeom>
          <a:solidFill>
            <a:schemeClr val="bg2"/>
          </a:solidFill>
          <a:ln w="6350">
            <a:solidFill>
              <a:srgbClr val="D5DCE6"/>
            </a:solidFill>
            <a:prstDash val="solid"/>
          </a:ln>
        </p:spPr>
      </p:sp>
      <p:pic>
        <p:nvPicPr>
          <p:cNvPr id="14" name="Image 2" descr="preencoded.png">    </p:cNvPr>
          <p:cNvPicPr>
            <a:picLocks noChangeAspect="1"/>
          </p:cNvPicPr>
          <p:nvPr/>
        </p:nvPicPr>
        <p:blipFill>
          <a:blip r:embed="rId3"/>
          <a:stretch>
            <a:fillRect/>
          </a:stretch>
        </p:blipFill>
        <p:spPr>
          <a:xfrm>
            <a:off x="731520" y="3577082"/>
            <a:ext cx="310896" cy="310896"/>
          </a:xfrm>
          <a:prstGeom prst="rect">
            <a:avLst/>
          </a:prstGeom>
        </p:spPr>
      </p:pic>
      <p:sp>
        <p:nvSpPr>
          <p:cNvPr id="15" name="Text 9"/>
          <p:cNvSpPr txBox="1"/>
          <p:nvPr/>
        </p:nvSpPr>
        <p:spPr>
          <a:xfrm>
            <a:off x="1207008" y="3403600"/>
            <a:ext cx="10314432" cy="657860"/>
          </a:xfrm>
          <a:prstGeom prst="rect">
            <a:avLst/>
          </a:prstGeom>
          <a:noFill/>
          <a:ln/>
        </p:spPr>
        <p:txBody>
          <a:bodyPr wrap="square" lIns="0" tIns="0" rIns="0" bIns="0" rtlCol="0" anchor="ctr"/>
          <a:lstStyle/>
          <a:p>
            <a:pPr indent="0" marL="0">
              <a:buNone/>
            </a:pPr>
            <a:r>
              <a:rPr lang="en-US" sz="1900" dirty="0">
                <a:solidFill>
                  <a:schemeClr val="tx1"/>
                </a:solidFill>
              </a:rPr>
              <a:t>Construire une prise de position : </a:t>
            </a:r>
            <a:r>
              <a:rPr lang="en-US" sz="1900" b="1" dirty="0">
                <a:solidFill>
                  <a:schemeClr val="tx1"/>
                </a:solidFill>
              </a:rPr>
              <a:t>wat … betreft → enerzijds / anderzijds → echter → ten slotte → kortom</a:t>
            </a:r>
            <a:endParaRPr lang="en-US" sz="1900" dirty="0"/>
          </a:p>
        </p:txBody>
      </p:sp>
      <p:sp>
        <p:nvSpPr>
          <p:cNvPr id="16" name="Shape 10"/>
          <p:cNvSpPr/>
          <p:nvPr/>
        </p:nvSpPr>
        <p:spPr>
          <a:xfrm>
            <a:off x="548640" y="4134612"/>
            <a:ext cx="11091672" cy="657860"/>
          </a:xfrm>
          <a:prstGeom prst="roundRect">
            <a:avLst>
              <a:gd name="adj" fmla="val 8340"/>
            </a:avLst>
          </a:prstGeom>
          <a:solidFill>
            <a:schemeClr val="bg1"/>
          </a:solidFill>
          <a:ln w="6350">
            <a:solidFill>
              <a:srgbClr val="D5DCE6"/>
            </a:solidFill>
            <a:prstDash val="solid"/>
          </a:ln>
        </p:spPr>
      </p:sp>
      <p:pic>
        <p:nvPicPr>
          <p:cNvPr id="17" name="Image 3" descr="preencoded.png">    </p:cNvPr>
          <p:cNvPicPr>
            <a:picLocks noChangeAspect="1"/>
          </p:cNvPicPr>
          <p:nvPr/>
        </p:nvPicPr>
        <p:blipFill>
          <a:blip r:embed="rId4"/>
          <a:stretch>
            <a:fillRect/>
          </a:stretch>
        </p:blipFill>
        <p:spPr>
          <a:xfrm>
            <a:off x="731520" y="4308094"/>
            <a:ext cx="310896" cy="310896"/>
          </a:xfrm>
          <a:prstGeom prst="rect">
            <a:avLst/>
          </a:prstGeom>
        </p:spPr>
      </p:pic>
      <p:sp>
        <p:nvSpPr>
          <p:cNvPr id="18" name="Text 11"/>
          <p:cNvSpPr txBox="1"/>
          <p:nvPr/>
        </p:nvSpPr>
        <p:spPr>
          <a:xfrm>
            <a:off x="1207008" y="4134612"/>
            <a:ext cx="10314432" cy="657860"/>
          </a:xfrm>
          <a:prstGeom prst="rect">
            <a:avLst/>
          </a:prstGeom>
          <a:noFill/>
          <a:ln/>
        </p:spPr>
        <p:txBody>
          <a:bodyPr wrap="square" lIns="0" tIns="0" rIns="0" bIns="0" rtlCol="0" anchor="ctr"/>
          <a:lstStyle/>
          <a:p>
            <a:pPr indent="0" marL="0">
              <a:buNone/>
            </a:pPr>
            <a:r>
              <a:rPr lang="en-US" sz="1900" dirty="0">
                <a:solidFill>
                  <a:schemeClr val="tx1"/>
                </a:solidFill>
              </a:rPr>
              <a:t>Rapporter une réunion : </a:t>
            </a:r>
            <a:r>
              <a:rPr lang="en-US" sz="1900" b="1" dirty="0">
                <a:solidFill>
                  <a:schemeClr val="tx1"/>
                </a:solidFill>
              </a:rPr>
              <a:t>Er werd beslist dat… · zei dat · vroeg of</a:t>
            </a:r>
            <a:endParaRPr lang="en-US" sz="1900" dirty="0"/>
          </a:p>
        </p:txBody>
      </p:sp>
      <p:sp>
        <p:nvSpPr>
          <p:cNvPr id="19" name="Shape 12"/>
          <p:cNvSpPr/>
          <p:nvPr/>
        </p:nvSpPr>
        <p:spPr>
          <a:xfrm>
            <a:off x="548640" y="4865624"/>
            <a:ext cx="11091672" cy="657860"/>
          </a:xfrm>
          <a:prstGeom prst="roundRect">
            <a:avLst>
              <a:gd name="adj" fmla="val 8340"/>
            </a:avLst>
          </a:prstGeom>
          <a:solidFill>
            <a:schemeClr val="bg2"/>
          </a:solidFill>
          <a:ln w="6350">
            <a:solidFill>
              <a:srgbClr val="D5DCE6"/>
            </a:solidFill>
            <a:prstDash val="solid"/>
          </a:ln>
        </p:spPr>
      </p:sp>
      <p:pic>
        <p:nvPicPr>
          <p:cNvPr id="20" name="Image 4" descr="preencoded.png">    </p:cNvPr>
          <p:cNvPicPr>
            <a:picLocks noChangeAspect="1"/>
          </p:cNvPicPr>
          <p:nvPr/>
        </p:nvPicPr>
        <p:blipFill>
          <a:blip r:embed="rId5"/>
          <a:stretch>
            <a:fillRect/>
          </a:stretch>
        </p:blipFill>
        <p:spPr>
          <a:xfrm>
            <a:off x="731520" y="5039106"/>
            <a:ext cx="310896" cy="310896"/>
          </a:xfrm>
          <a:prstGeom prst="rect">
            <a:avLst/>
          </a:prstGeom>
        </p:spPr>
      </p:pic>
      <p:sp>
        <p:nvSpPr>
          <p:cNvPr id="21" name="Text 13"/>
          <p:cNvSpPr txBox="1"/>
          <p:nvPr/>
        </p:nvSpPr>
        <p:spPr>
          <a:xfrm>
            <a:off x="1207008" y="4865624"/>
            <a:ext cx="10314432" cy="657860"/>
          </a:xfrm>
          <a:prstGeom prst="rect">
            <a:avLst/>
          </a:prstGeom>
          <a:noFill/>
          <a:ln/>
        </p:spPr>
        <p:txBody>
          <a:bodyPr wrap="square" lIns="0" tIns="0" rIns="0" bIns="0" rtlCol="0" anchor="ctr"/>
          <a:lstStyle/>
          <a:p>
            <a:pPr indent="0" marL="0">
              <a:buNone/>
            </a:pPr>
            <a:r>
              <a:rPr lang="en-US" sz="1900" dirty="0">
                <a:solidFill>
                  <a:schemeClr val="tx1"/>
                </a:solidFill>
              </a:rPr>
              <a:t>Concéder puis réfuter : </a:t>
            </a:r>
            <a:r>
              <a:rPr lang="en-US" sz="1900" b="1" dirty="0">
                <a:solidFill>
                  <a:schemeClr val="tx1"/>
                </a:solidFill>
              </a:rPr>
              <a:t>weliswaar… maar · dat klopt, maar · toch · hoewel</a:t>
            </a:r>
            <a:endParaRPr lang="en-US" sz="1900" dirty="0"/>
          </a:p>
        </p:txBody>
      </p:sp>
      <p:sp>
        <p:nvSpPr>
          <p:cNvPr id="22" name="Shape 14"/>
          <p:cNvSpPr/>
          <p:nvPr/>
        </p:nvSpPr>
        <p:spPr>
          <a:xfrm>
            <a:off x="548640" y="5596636"/>
            <a:ext cx="11091672" cy="657860"/>
          </a:xfrm>
          <a:prstGeom prst="roundRect">
            <a:avLst>
              <a:gd name="adj" fmla="val 8340"/>
            </a:avLst>
          </a:prstGeom>
          <a:solidFill>
            <a:schemeClr val="bg1"/>
          </a:solidFill>
          <a:ln w="6350">
            <a:solidFill>
              <a:srgbClr val="D5DCE6"/>
            </a:solidFill>
            <a:prstDash val="solid"/>
          </a:ln>
        </p:spPr>
      </p:sp>
      <p:pic>
        <p:nvPicPr>
          <p:cNvPr id="23" name="Image 5" descr="preencoded.png">    </p:cNvPr>
          <p:cNvPicPr>
            <a:picLocks noChangeAspect="1"/>
          </p:cNvPicPr>
          <p:nvPr/>
        </p:nvPicPr>
        <p:blipFill>
          <a:blip r:embed="rId6"/>
          <a:stretch>
            <a:fillRect/>
          </a:stretch>
        </p:blipFill>
        <p:spPr>
          <a:xfrm>
            <a:off x="731520" y="5770118"/>
            <a:ext cx="310896" cy="310896"/>
          </a:xfrm>
          <a:prstGeom prst="rect">
            <a:avLst/>
          </a:prstGeom>
        </p:spPr>
      </p:pic>
      <p:sp>
        <p:nvSpPr>
          <p:cNvPr id="24" name="Text 15"/>
          <p:cNvSpPr txBox="1"/>
          <p:nvPr/>
        </p:nvSpPr>
        <p:spPr>
          <a:xfrm>
            <a:off x="1207008" y="5596636"/>
            <a:ext cx="10314432" cy="657860"/>
          </a:xfrm>
          <a:prstGeom prst="rect">
            <a:avLst/>
          </a:prstGeom>
          <a:noFill/>
          <a:ln/>
        </p:spPr>
        <p:txBody>
          <a:bodyPr wrap="square" lIns="0" tIns="0" rIns="0" bIns="0" rtlCol="0" anchor="ctr"/>
          <a:lstStyle/>
          <a:p>
            <a:pPr indent="0" marL="0">
              <a:buNone/>
            </a:pPr>
            <a:r>
              <a:rPr lang="en-US" sz="1900" dirty="0">
                <a:solidFill>
                  <a:schemeClr val="tx1"/>
                </a:solidFill>
              </a:rPr>
              <a:t>Rédiger des </a:t>
            </a:r>
            <a:r>
              <a:rPr lang="en-US" sz="1900" b="1" dirty="0">
                <a:solidFill>
                  <a:schemeClr val="tx1"/>
                </a:solidFill>
              </a:rPr>
              <a:t>notulen</a:t>
            </a:r>
            <a:r>
              <a:rPr lang="en-US" sz="1900" dirty="0">
                <a:solidFill>
                  <a:schemeClr val="tx1"/>
                </a:solidFill>
              </a:rPr>
              <a:t> de 10 à 12 phrases au style officiel</a:t>
            </a:r>
            <a:endParaRPr lang="en-US" sz="19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bg1"/>
                </a:solidFill>
              </a:rPr>
              <a:t>Tot de volgende keer!</a:t>
            </a:r>
            <a:endParaRPr lang="en-US" sz="3200" dirty="0"/>
          </a:p>
        </p:txBody>
      </p:sp>
      <p:sp>
        <p:nvSpPr>
          <p:cNvPr id="3" name="tag"/>
          <p:cNvSpPr/>
          <p:nvPr/>
        </p:nvSpPr>
        <p:spPr>
          <a:xfrm>
            <a:off x="548640" y="237744"/>
            <a:ext cx="19888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FIN DE SÉANCE</a:t>
            </a:r>
            <a:endParaRPr lang="en-US" sz="1200" dirty="0"/>
          </a:p>
        </p:txBody>
      </p:sp>
      <p:sp>
        <p:nvSpPr>
          <p:cNvPr id="4" name="Shape 2"/>
          <p:cNvSpPr/>
          <p:nvPr/>
        </p:nvSpPr>
        <p:spPr>
          <a:xfrm>
            <a:off x="548640" y="1554480"/>
            <a:ext cx="6035040" cy="3108960"/>
          </a:xfrm>
          <a:prstGeom prst="roundRect">
            <a:avLst>
              <a:gd name="adj" fmla="val 2941"/>
            </a:avLst>
          </a:prstGeom>
          <a:solidFill>
            <a:schemeClr val="bg1">
              <a:alpha val="10000"/>
            </a:schemeClr>
          </a:solidFill>
          <a:ln w="12700">
            <a:solidFill>
              <a:srgbClr val="EEF3F8"/>
            </a:solidFill>
            <a:prstDash val="solid"/>
          </a:ln>
        </p:spPr>
      </p:sp>
      <p:sp>
        <p:nvSpPr>
          <p:cNvPr id="5" name="Text 3"/>
          <p:cNvSpPr txBox="1"/>
          <p:nvPr/>
        </p:nvSpPr>
        <p:spPr>
          <a:xfrm>
            <a:off x="822960" y="1737360"/>
            <a:ext cx="5486400" cy="320040"/>
          </a:xfrm>
          <a:prstGeom prst="rect">
            <a:avLst/>
          </a:prstGeom>
          <a:noFill/>
          <a:ln/>
        </p:spPr>
        <p:txBody>
          <a:bodyPr wrap="square" lIns="0" tIns="0" rIns="0" bIns="0" rtlCol="0" anchor="ctr"/>
          <a:lstStyle/>
          <a:p>
            <a:pPr indent="0" marL="0">
              <a:buNone/>
            </a:pPr>
            <a:r>
              <a:rPr lang="en-US" sz="1300" b="1" spc="200" kern="0" dirty="0">
                <a:solidFill>
                  <a:schemeClr val="accent1"/>
                </a:solidFill>
              </a:rPr>
              <a:t>LA PROCHAINE FOIS</a:t>
            </a:r>
            <a:endParaRPr lang="en-US" sz="1300" dirty="0"/>
          </a:p>
        </p:txBody>
      </p:sp>
      <p:sp>
        <p:nvSpPr>
          <p:cNvPr id="6" name="Text 4"/>
          <p:cNvSpPr txBox="1"/>
          <p:nvPr/>
        </p:nvSpPr>
        <p:spPr>
          <a:xfrm>
            <a:off x="822960" y="2148840"/>
            <a:ext cx="5486400" cy="2377440"/>
          </a:xfrm>
          <a:prstGeom prst="rect">
            <a:avLst/>
          </a:prstGeom>
          <a:noFill/>
          <a:ln/>
        </p:spPr>
        <p:txBody>
          <a:bodyPr wrap="square" lIns="0" tIns="0" rIns="0" bIns="0" rtlCol="0" anchor="t"/>
          <a:lstStyle/>
          <a:p>
            <a:pPr indent="0" marL="0">
              <a:buNone/>
            </a:pPr>
            <a:r>
              <a:rPr lang="en-US" sz="2400" i="1" dirty="0">
                <a:solidFill>
                  <a:schemeClr val="bg1"/>
                </a:solidFill>
                <a:latin typeface="+mj-lt" pitchFamily="34" charset="0"/>
                <a:ea typeface="+mj-lt" pitchFamily="34" charset="-122"/>
                <a:cs typeface="+mj-lt" pitchFamily="34" charset="-120"/>
              </a:rPr>
              <a:t>Séance 16 : ouverture du </a:t>
            </a:r>
            <a:r>
              <a:rPr lang="en-US" sz="2400" b="1" i="1" dirty="0">
                <a:solidFill>
                  <a:schemeClr val="bg1"/>
                </a:solidFill>
                <a:latin typeface="+mj-lt" pitchFamily="34" charset="0"/>
                <a:ea typeface="+mj-lt" pitchFamily="34" charset="-122"/>
                <a:cs typeface="+mj-lt" pitchFamily="34" charset="-120"/>
              </a:rPr>
              <a:t>palier 8</a:t>
            </a:r>
            <a:r>
              <a:rPr lang="en-US" sz="2400" i="1" dirty="0">
                <a:solidFill>
                  <a:schemeClr val="bg1"/>
                </a:solidFill>
                <a:latin typeface="+mj-lt" pitchFamily="34" charset="0"/>
                <a:ea typeface="+mj-lt" pitchFamily="34" charset="-122"/>
                <a:cs typeface="+mj-lt" pitchFamily="34" charset="-120"/>
              </a:rPr>
              <a:t>, </a:t>
            </a:r>
            <a:r>
              <a:rPr lang="en-US" sz="2400" b="1" i="1" dirty="0">
                <a:solidFill>
                  <a:schemeClr val="bg1"/>
                </a:solidFill>
                <a:latin typeface="+mj-lt" pitchFamily="34" charset="0"/>
                <a:ea typeface="+mj-lt" pitchFamily="34" charset="-122"/>
                <a:cs typeface="+mj-lt" pitchFamily="34" charset="-120"/>
              </a:rPr>
              <a:t>De schatting</a:t>
            </a:r>
            <a:r>
              <a:rPr lang="en-US" sz="2400" i="1" dirty="0">
                <a:solidFill>
                  <a:schemeClr val="bg1"/>
                </a:solidFill>
                <a:latin typeface="+mj-lt" pitchFamily="34" charset="0"/>
                <a:ea typeface="+mj-lt" pitchFamily="34" charset="-122"/>
                <a:cs typeface="+mj-lt" pitchFamily="34" charset="-120"/>
              </a:rPr>
              <a:t> : estimer un bien et justifier une valeur — avec tout ce que vous savez maintenant argumenter.</a:t>
            </a:r>
            <a:endParaRPr lang="en-US" sz="2400" dirty="0"/>
          </a:p>
        </p:txBody>
      </p:sp>
      <p:sp>
        <p:nvSpPr>
          <p:cNvPr id="7" name="Shape 5"/>
          <p:cNvSpPr/>
          <p:nvPr/>
        </p:nvSpPr>
        <p:spPr>
          <a:xfrm>
            <a:off x="6903720" y="1554480"/>
            <a:ext cx="4736592" cy="4709160"/>
          </a:xfrm>
          <a:prstGeom prst="roundRect">
            <a:avLst>
              <a:gd name="adj" fmla="val 1942"/>
            </a:avLst>
          </a:prstGeom>
          <a:solidFill>
            <a:schemeClr val="bg1"/>
          </a:solidFill>
          <a:ln/>
        </p:spPr>
      </p:sp>
      <p:pic>
        <p:nvPicPr>
          <p:cNvPr id="8" name="Image 0" descr="preencoded.png">    </p:cNvPr>
          <p:cNvPicPr>
            <a:picLocks noChangeAspect="1"/>
          </p:cNvPicPr>
          <p:nvPr/>
        </p:nvPicPr>
        <p:blipFill>
          <a:blip r:embed="rId1"/>
          <a:stretch>
            <a:fillRect/>
          </a:stretch>
        </p:blipFill>
        <p:spPr>
          <a:xfrm>
            <a:off x="7132320" y="1755648"/>
            <a:ext cx="365760" cy="365760"/>
          </a:xfrm>
          <a:prstGeom prst="rect">
            <a:avLst/>
          </a:prstGeom>
        </p:spPr>
      </p:pic>
      <p:sp>
        <p:nvSpPr>
          <p:cNvPr id="9" name="Text 6"/>
          <p:cNvSpPr txBox="1"/>
          <p:nvPr/>
        </p:nvSpPr>
        <p:spPr>
          <a:xfrm>
            <a:off x="7635240" y="1737360"/>
            <a:ext cx="3840480" cy="384048"/>
          </a:xfrm>
          <a:prstGeom prst="rect">
            <a:avLst/>
          </a:prstGeom>
          <a:noFill/>
          <a:ln/>
        </p:spPr>
        <p:txBody>
          <a:bodyPr wrap="square" lIns="0" tIns="0" rIns="0" bIns="0" rtlCol="0" anchor="ctr"/>
          <a:lstStyle/>
          <a:p>
            <a:pPr indent="0" marL="0">
              <a:buNone/>
            </a:pPr>
            <a:r>
              <a:rPr lang="en-US" sz="1400" b="1" spc="100" kern="0" dirty="0">
                <a:solidFill>
                  <a:schemeClr val="tx2"/>
                </a:solidFill>
              </a:rPr>
              <a:t>POUR LA PROCHAINE SÉANCE</a:t>
            </a:r>
            <a:endParaRPr lang="en-US" sz="1400" dirty="0"/>
          </a:p>
        </p:txBody>
      </p:sp>
      <p:sp>
        <p:nvSpPr>
          <p:cNvPr id="10" name="Text 7"/>
          <p:cNvSpPr txBox="1"/>
          <p:nvPr/>
        </p:nvSpPr>
        <p:spPr>
          <a:xfrm>
            <a:off x="7132320" y="2286000"/>
            <a:ext cx="4297680" cy="3840480"/>
          </a:xfrm>
          <a:prstGeom prst="rect">
            <a:avLst/>
          </a:prstGeom>
          <a:noFill/>
          <a:ln/>
        </p:spPr>
        <p:txBody>
          <a:bodyPr wrap="square" lIns="0" tIns="0" rIns="0" bIns="0" rtlCol="0" anchor="t"/>
          <a:lstStyle/>
          <a:p>
            <a:pPr marL="190500" indent="-190500">
              <a:spcAft>
                <a:spcPts val="800"/>
              </a:spcAft>
              <a:buSzPct val="100000"/>
              <a:buChar char="•"/>
            </a:pPr>
            <a:r>
              <a:rPr lang="en-US" sz="1700" dirty="0">
                <a:solidFill>
                  <a:schemeClr val="tx1"/>
                </a:solidFill>
              </a:rPr>
              <a:t>Terminer les </a:t>
            </a:r>
            <a:r>
              <a:rPr lang="en-US" sz="1700" b="1" dirty="0">
                <a:solidFill>
                  <a:schemeClr val="tx1"/>
                </a:solidFill>
              </a:rPr>
              <a:t>notulen</a:t>
            </a:r>
            <a:r>
              <a:rPr lang="en-US" sz="1700" dirty="0">
                <a:solidFill>
                  <a:schemeClr val="tx1"/>
                </a:solidFill>
              </a:rPr>
              <a:t> de VOTRE assemblée (TAAK 6) : 10 à 12 phrases.</a:t>
            </a:r>
            <a:endParaRPr lang="en-US" sz="1700" dirty="0"/>
          </a:p>
          <a:p>
            <a:pPr marL="190500" indent="-190500">
              <a:spcAft>
                <a:spcPts val="800"/>
              </a:spcAft>
              <a:buSzPct val="100000"/>
              <a:buChar char="•"/>
            </a:pPr>
            <a:r>
              <a:rPr lang="en-US" sz="1700" dirty="0">
                <a:solidFill>
                  <a:schemeClr val="tx1"/>
                </a:solidFill>
              </a:rPr>
              <a:t>Rassembler le </a:t>
            </a:r>
            <a:r>
              <a:rPr lang="en-US" sz="1700" b="1" dirty="0">
                <a:solidFill>
                  <a:schemeClr val="tx1"/>
                </a:solidFill>
              </a:rPr>
              <a:t>dossier du palier 7</a:t>
            </a:r>
            <a:r>
              <a:rPr lang="en-US" sz="1700" dirty="0">
                <a:solidFill>
                  <a:schemeClr val="tx1"/>
                </a:solidFill>
              </a:rPr>
              <a:t> : TAAK 2, 4 et 6 + activités D2 à D5.</a:t>
            </a:r>
            <a:endParaRPr lang="en-US" sz="1700" dirty="0"/>
          </a:p>
          <a:p>
            <a:pPr marL="190500" indent="-190500">
              <a:spcAft>
                <a:spcPts val="800"/>
              </a:spcAft>
              <a:buSzPct val="100000"/>
              <a:buChar char="•"/>
            </a:pPr>
            <a:r>
              <a:rPr lang="en-US" sz="1700" dirty="0">
                <a:solidFill>
                  <a:schemeClr val="tx1"/>
                </a:solidFill>
              </a:rPr>
              <a:t>Réviser les </a:t>
            </a:r>
            <a:r>
              <a:rPr lang="en-US" sz="1700" b="1" dirty="0">
                <a:solidFill>
                  <a:schemeClr val="tx1"/>
                </a:solidFill>
              </a:rPr>
              <a:t>nominalisations</a:t>
            </a:r>
            <a:r>
              <a:rPr lang="en-US" sz="1700" dirty="0">
                <a:solidFill>
                  <a:schemeClr val="tx1"/>
                </a:solidFill>
              </a:rPr>
              <a:t>, les </a:t>
            </a:r>
            <a:r>
              <a:rPr lang="en-US" sz="1700" b="1" dirty="0">
                <a:solidFill>
                  <a:schemeClr val="tx1"/>
                </a:solidFill>
              </a:rPr>
              <a:t>connecteurs</a:t>
            </a:r>
            <a:r>
              <a:rPr lang="en-US" sz="1700" dirty="0">
                <a:solidFill>
                  <a:schemeClr val="tx1"/>
                </a:solidFill>
              </a:rPr>
              <a:t> et la </a:t>
            </a:r>
            <a:r>
              <a:rPr lang="en-US" sz="1700" b="1" dirty="0">
                <a:solidFill>
                  <a:schemeClr val="tx1"/>
                </a:solidFill>
              </a:rPr>
              <a:t>concession</a:t>
            </a:r>
            <a:r>
              <a:rPr lang="en-US" sz="1700" dirty="0">
                <a:solidFill>
                  <a:schemeClr val="tx1"/>
                </a:solidFill>
              </a:rPr>
              <a:t> (p. 8, 12, 20).</a:t>
            </a:r>
            <a:endParaRPr lang="en-US" sz="1700" dirty="0"/>
          </a:p>
        </p:txBody>
      </p:sp>
      <p:sp>
        <p:nvSpPr>
          <p:cNvPr id="11" name="Shape 8"/>
          <p:cNvSpPr/>
          <p:nvPr/>
        </p:nvSpPr>
        <p:spPr>
          <a:xfrm>
            <a:off x="548640" y="4892040"/>
            <a:ext cx="6035040" cy="1371600"/>
          </a:xfrm>
          <a:prstGeom prst="roundRect">
            <a:avLst>
              <a:gd name="adj" fmla="val 6667"/>
            </a:avLst>
          </a:prstGeom>
          <a:solidFill>
            <a:schemeClr val="accent1"/>
          </a:solidFill>
          <a:ln/>
        </p:spPr>
      </p:sp>
      <p:sp>
        <p:nvSpPr>
          <p:cNvPr id="12" name="Text 9"/>
          <p:cNvSpPr txBox="1"/>
          <p:nvPr/>
        </p:nvSpPr>
        <p:spPr>
          <a:xfrm>
            <a:off x="777240" y="4983480"/>
            <a:ext cx="5623560" cy="1188720"/>
          </a:xfrm>
          <a:prstGeom prst="rect">
            <a:avLst/>
          </a:prstGeom>
          <a:noFill/>
          <a:ln/>
        </p:spPr>
        <p:txBody>
          <a:bodyPr wrap="square" lIns="0" tIns="0" rIns="0" bIns="0" rtlCol="0" anchor="ctr"/>
          <a:lstStyle/>
          <a:p>
            <a:pPr indent="0" marL="0">
              <a:buNone/>
            </a:pPr>
            <a:r>
              <a:rPr lang="en-US" sz="1300" b="1" spc="100" kern="0" dirty="0">
                <a:solidFill>
                  <a:schemeClr val="bg1"/>
                </a:solidFill>
              </a:rPr>
              <a:t>TICKET DE SORTIE  </a:t>
            </a:r>
            <a:endParaRPr lang="en-US" sz="1300" dirty="0"/>
          </a:p>
          <a:p>
            <a:pPr indent="0" marL="0">
              <a:buNone/>
            </a:pPr>
            <a:r>
              <a:rPr lang="en-US" sz="1600" dirty="0">
                <a:solidFill>
                  <a:schemeClr val="bg1"/>
                </a:solidFill>
              </a:rPr>
              <a:t>Concédez puis réfutez : </a:t>
            </a:r>
            <a:r>
              <a:rPr lang="en-US" sz="1600" b="1" dirty="0">
                <a:solidFill>
                  <a:schemeClr val="bg1"/>
                </a:solidFill>
              </a:rPr>
              <a:t>« De syndicus beslist alles alleen. »</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Nederlands B1 vastgoed">
  <a:themeElements>
    <a:clrScheme name="Nederlands B1 vastgoed">
      <a:dk1>
        <a:srgbClr val="1B2333"/>
      </a:dk1>
      <a:lt1>
        <a:srgbClr val="FFFFFF"/>
      </a:lt1>
      <a:dk2>
        <a:srgbClr val="17375E"/>
      </a:dk2>
      <a:lt2>
        <a:srgbClr val="EEF3F8"/>
      </a:lt2>
      <a:accent1>
        <a:srgbClr val="D9700F"/>
      </a:accent1>
      <a:accent2>
        <a:srgbClr val="2A6FB0"/>
      </a:accent2>
      <a:accent3>
        <a:srgbClr val="2E7D4F"/>
      </a:accent3>
      <a:accent4>
        <a:srgbClr val="B4236A"/>
      </a:accent4>
      <a:accent5>
        <a:srgbClr val="4A5A70"/>
      </a:accent5>
      <a:accent6>
        <a:srgbClr val="B83227"/>
      </a:accent6>
      <a:hlink>
        <a:srgbClr val="2A6FB0"/>
      </a:hlink>
      <a:folHlink>
        <a:srgbClr val="B4236A"/>
      </a:folHlink>
    </a:clrScheme>
    <a:fontScheme name="Nederlands B1 vastgo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IRAM — Néerlandais 3 (B1)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Séance 15 — Toegeven en weerleggen</dc:title>
  <dc:subject>Néerlandais B1 — immobilier et vie quotidienne (Yasmina &amp; Stef)</dc:subject>
  <dc:creator>A. Jouniaux</dc:creator>
  <cp:lastModifiedBy>A. Jouniaux</cp:lastModifiedBy>
  <cp:revision>1</cp:revision>
  <dcterms:created xsi:type="dcterms:W3CDTF">2026-10-03T21:59:52Z</dcterms:created>
  <dcterms:modified xsi:type="dcterms:W3CDTF">2026-10-03T21:59:52Z</dcterms:modified>
</cp:coreProperties>
</file>