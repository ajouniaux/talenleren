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c45a0ef-5d1d-3746-183e-63fec76a87b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Clôture" id="{6ce5c6da-705e-1ae3-1a8f-0f56201c7291}">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consacrée à la séquence 6.4 : zou, le « smoking verbal » du gestionnaire. On étudie les quatre fonctions (demande polie, conseil, hypothèse prudente, condition irréelle), on reformule des phrases brutales (ex. 8), on lit le courriel inquiet de mevrouw Dubois (ex. 9), on rédige le mail de conseil (TAAK 4), puis D4 applique zou au service clientèle (la panne d’internet de Stef). Pages couvertes : p. 15 à 18a du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Pages 15 à 18a du livret. Zou se construit comme zullen (palier 4) : verbe conjugué en 2e position (ou en tête dans une question) et infinitif à la fin. Le point délicat est « Als ik u was, zou ik… » : après als, on emploie l’imperfectum et non zou.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8. Faire répondre à l’oral. Le lien avec la séance du jour : le verbe part à la fin dans la subordonnée, et l’infinitif part à la fin avec zou. Phrase 3 : « hoeveel de herstelling kostte » prépare l’exercice 9 (« hoeveel de herstelling zou kosten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Corriger phrase par phrase. Phrase 4 : « Zij zei dat ze geen tijd had » (ze ou zij accepté). Insister sur le verbe conjugué en dernière position dans la subordonnée.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 l’infinitif est toujours à la fin (willen beheren, doen, bellen) ; même construction qu’avec zullen (palier 4 : ik zal u bellen). Fonctions : ligne 1 = demande polie ; ligne 8 = hypothèse (« que ferais-tu ? ») ; ligne 9 = conseil (« moi, j’appellerais…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du livret (p. 16), à lire ligne par ligne. Faire varier le sujet : « Wij zouden graag… », « De eigenaar zou beter… ». Rappeler que zou n’est pas « zal » : zal = futur, zou = politesse, conseil, hypothèse. « de leiding » = la canalisation (belgicisme courant dans le bâtiment).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Visualiser l’ordre des mots : zou prend la place du verbe conjugué ; l’infinitif ne bouge pas vers le verbe mais va à la fin. Dans la 4e ligne, la subordonnée en als renvoie was en fin de proposition ; la principale commence ensuite par zou (inversion, comme après toen). Faire construire une phrase de chaque type avec un autre sujet.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Mots du courriel (ex. 9), de la TAAK 4 et de D4. Faire repérer les verbes séparables : aanraden (raadde aan), geruststellen (stelde gerust), doorsturen, afronden. Faire dire une phrase avec zou pour chaque verbe : « Ik zou u aanraden…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8 du livret : seul, 8 minutes, puis correction orale en acceptant plusieurs solutions. Critères : zou en 2e position (ou en tête dans une question), infinitif à la fin, registre u. Phrase 5 : « U zou beter wachten op het verslag van de expert » est aussi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phrase, projeter la solution du livret puis demander une seconde formulation (kunnen ↔ willen, Ik zou… ↔ U zou beter…). Piège fréquent : « Als ik u zou zijn » (calque du français) ; la forme correcte est « Als ik u was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Compréhension de l’écrit : la propriétaire a reçu l’appel de la TAAK 3 et s’inquiète. Lecture silencieuse, soulignement des zou(den), puis mise en commun. Le courriel mêle trois outils du palier : zou, imperfectum (« Toen mijn man het gebouw beheerde, hadden we nooit problemen ») et discours indirect (« hoeveel… zou kosten », « of … dekt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du livret. Question 1 : les fonctions peuvent être nuancées (souhait ≈ politesse). Question 2 : l’imperfectum décrit une situation passée et répétée (nooit problemen), non un événement précis. Question 3 : deux questions indirectes (hoeveel + of), verbe à la fin dans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du livret. Question 1 : les fonctions peuvent être nuancées (souhait ≈ politesse). Question 2 : l’imperfectum décrit une situation passée et répétée (nooit problemen), non un événement précis. Question 3 : deux questions indirectes (hoeveel + of), verbe à la fin dans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Tâche écrite de 15 minutes. Le binôme vérifie chaque zou (infinitif à la fin ?) et le discours indirect. Rappeler les formules de politesse écrites : « Geachte mevrouw Dubois, … Met vriendelijke groeten ». Le modèle à la diapositive suivante n’est pas un corrigé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de réponse (12 phrases) : discours indirect (zei dat… was), quatre zou, hypothèse prudente (Dat zou … kunnen zijn), conditions (Als u dat wenst, tenzij), connecteurs (ten eerste, bovendien, kortom), registre formel (u, Geachte, Met vriendelijke groeten). Faire repérer chaque exigence du livret dans le texte projeté.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livret présente directement les deux colonnes ; ici, les étudiants proposent d’abord leur reformulation polie (4 minutes), puis on projette la version du livret. Exiger : zou + infinitif à la fin, et un ton qui reste factuel (« Zou het kunnen dat… » pour suggérer une cause sans accuser).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du livret. Faire remarquer la logique : on remplace l’ordre ou l’accusation par une question ou une hypothèse. Autres solutions acceptées : « Zou u mijn geld kunnen terugstorten? », « Wat zou u in mijn plaats doen?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Expressions pour la conversation téléphonique. « Dat werd twee keer aangerekend » est un passif (séquence 6.5) : en Belgique, aanrekenen = facturer. « valt uit » : uitvallen est séparable. La dernière expression sert à insister poliment (imprévu du jeu de 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Binômes, deux rondes, rôles inversés. Le client réutilise les trois outils du palier : imperfectum (récit du début du problème), discours indirect (ce qu’a dit le premier conseiller), zou (demandes polies). L’imprévu : la solution du medewerker ne convient pas ; le client insiste poliment et un compromis est trouvé.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dialogue (non issu du livret) : à projeter après le jeu de rôle pour comparer. Il combine imperfectum (werkte), discours indirect (Uw collega zei dat een technicus zou langskomen), zou (zou u…, zou er…, zou het niet mogelijk zijn…, ik zou eerst…, dat zou kunnen) et conditions (als dat niet helpt, tenzij…). « zou langskomen » : zou exprime ici le futur dans le passé (rapporté).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(4 min) : fixe l’accord zou / zouden et le piège « Als ik u zou zijn » (calque du français). Phrase 5 : sujet pluriel dans les deux propositions (waren / zouden).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(4 min) : fixe l’accord zou / zouden et le piège « Als ik u zou zijn » (calque du français). Phrase 5 : sujet pluriel dans les deux propositions (waren / zouden).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Réponse attendue : « Zou u me uw nummer kunnen geven? » et « Als ik u was, zou ik … + infinitif ». Vérifier la place de kunnen en fin de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09</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09</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09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6.4</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Het advies</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Le conditionnel ZOU — demander poliment, conseiller, supposer</a:t>
            </a:r>
            <a:endParaRPr lang="en-US" sz="1800" dirty="0"/>
          </a:p>
          <a:p>
            <a:pPr algn="l" indent="0" marL="0">
              <a:buNone/>
            </a:pPr>
            <a:r>
              <a:rPr lang="en-US" sz="1800" b="1" dirty="0">
                <a:solidFill>
                  <a:schemeClr val="bg2"/>
                </a:solidFill>
              </a:rPr>
              <a:t>Palier 6 · Verhuur en beheer</a:t>
            </a:r>
            <a:endParaRPr lang="en-US" sz="1800" dirty="0"/>
          </a:p>
          <a:p>
            <a:pPr algn="l" indent="0" marL="0">
              <a:buNone/>
            </a:pPr>
            <a:r>
              <a:rPr lang="en-US" sz="1800" dirty="0">
                <a:solidFill>
                  <a:schemeClr val="bg2"/>
                </a:solidFill>
              </a:rPr>
              <a:t>Livret p. 15–18a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0410"/>
            <a:ext cx="5120640" cy="3417181"/>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15–18a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800" dirty="0">
                <a:solidFill>
                  <a:schemeClr val="tx1"/>
                </a:solidFill>
              </a:rPr>
              <a:t>Demander </a:t>
            </a:r>
            <a:r>
              <a:rPr lang="en-US" sz="1800" b="1" dirty="0">
                <a:solidFill>
                  <a:schemeClr val="tx1"/>
                </a:solidFill>
              </a:rPr>
              <a:t>poliment</a:t>
            </a:r>
            <a:r>
              <a:rPr lang="en-US" sz="1800" dirty="0">
                <a:solidFill>
                  <a:schemeClr val="tx1"/>
                </a:solidFill>
              </a:rPr>
              <a:t>, </a:t>
            </a:r>
            <a:r>
              <a:rPr lang="en-US" sz="1800" b="1" dirty="0">
                <a:solidFill>
                  <a:schemeClr val="tx1"/>
                </a:solidFill>
              </a:rPr>
              <a:t>conseiller</a:t>
            </a:r>
            <a:r>
              <a:rPr lang="en-US" sz="1800" dirty="0">
                <a:solidFill>
                  <a:schemeClr val="tx1"/>
                </a:solidFill>
              </a:rPr>
              <a:t> et formuler une </a:t>
            </a:r>
            <a:r>
              <a:rPr lang="en-US" sz="1800" b="1" dirty="0">
                <a:solidFill>
                  <a:schemeClr val="tx1"/>
                </a:solidFill>
              </a:rPr>
              <a:t>hypothèse prudente</a:t>
            </a:r>
            <a:r>
              <a:rPr lang="en-US" sz="1800" dirty="0">
                <a:solidFill>
                  <a:schemeClr val="tx1"/>
                </a:solidFill>
              </a:rPr>
              <a:t> avec </a:t>
            </a:r>
            <a:r>
              <a:rPr lang="en-US" sz="1800" i="1" dirty="0">
                <a:solidFill>
                  <a:schemeClr val="tx1"/>
                </a:solidFill>
              </a:rPr>
              <a:t>zou</a:t>
            </a:r>
            <a:r>
              <a:rPr lang="en-US" sz="1800" dirty="0">
                <a:solidFill>
                  <a:schemeClr val="tx1"/>
                </a:solidFill>
              </a:rPr>
              <a:t> ; rédiger un </a:t>
            </a:r>
            <a:r>
              <a:rPr lang="en-US" sz="1800" b="1" dirty="0">
                <a:solidFill>
                  <a:schemeClr val="tx1"/>
                </a:solidFill>
              </a:rPr>
              <a:t>mail de conseil</a:t>
            </a:r>
            <a:r>
              <a:rPr lang="en-US" sz="1800" dirty="0">
                <a:solidFill>
                  <a:schemeClr val="tx1"/>
                </a:solidFill>
              </a:rPr>
              <a:t> formel.</a:t>
            </a:r>
            <a:endParaRPr lang="en-US" sz="18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i="1" dirty="0">
                <a:solidFill>
                  <a:schemeClr val="tx1"/>
                </a:solidFill>
              </a:rPr>
              <a:t>Zou u … kunnen / willen + inf.?</a:t>
            </a:r>
            <a:r>
              <a:rPr lang="en-US" sz="1800" dirty="0">
                <a:solidFill>
                  <a:schemeClr val="tx1"/>
                </a:solidFill>
              </a:rPr>
              <a:t> — </a:t>
            </a:r>
            <a:r>
              <a:rPr lang="en-US" sz="1800" i="1" dirty="0">
                <a:solidFill>
                  <a:schemeClr val="tx1"/>
                </a:solidFill>
              </a:rPr>
              <a:t>Ik zou … · U zou beter …</a:t>
            </a:r>
            <a:r>
              <a:rPr lang="en-US" sz="1800" dirty="0">
                <a:solidFill>
                  <a:schemeClr val="tx1"/>
                </a:solidFill>
              </a:rPr>
              <a:t> — </a:t>
            </a:r>
            <a:r>
              <a:rPr lang="en-US" sz="1800" i="1" dirty="0">
                <a:solidFill>
                  <a:schemeClr val="tx1"/>
                </a:solidFill>
              </a:rPr>
              <a:t>Dat zou … kunnen zijn</a:t>
            </a:r>
            <a:r>
              <a:rPr lang="en-US" sz="1800" dirty="0">
                <a:solidFill>
                  <a:schemeClr val="tx1"/>
                </a:solidFill>
              </a:rPr>
              <a:t> — </a:t>
            </a:r>
            <a:r>
              <a:rPr lang="en-US" sz="1800" i="1" dirty="0">
                <a:solidFill>
                  <a:schemeClr val="tx1"/>
                </a:solidFill>
              </a:rPr>
              <a:t>Als ik u was, zou ik …</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800" dirty="0">
                <a:solidFill>
                  <a:schemeClr val="tx1"/>
                </a:solidFill>
              </a:rPr>
              <a:t>Reformuler poliment · lire un courriel inquiet · écrire un mail de conseil (10 à 12 phrases) · parler au service clientèle</a:t>
            </a:r>
            <a:endParaRPr lang="en-US" sz="18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Rappel séance 8 : discours indirect</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6'</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6.4 · zou : formes et structures</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14'</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Woordenschat : conseil, politesse</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8 Maak het beleefd</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9 Lezen : de ongeruste mail</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4 · het adviesmail</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D4 · De klantendienst aan de lijn</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18'</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Bonus · 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8 : le discours indirect</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8</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Rapportez au passé (Hij zei… · Hij vroeg…) — seul, 4 min, puis correction orale.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 Het is een lek. » → Hij zei </a:t>
            </a:r>
            <a:r>
              <a:rPr lang="en-US" sz="2400" dirty="0">
                <a:solidFill>
                  <a:schemeClr val="accent5"/>
                </a:solidFill>
              </a:rPr>
              <a:t>…………………………</a:t>
            </a:r>
            <a:r>
              <a:rPr lang="en-US" sz="2400" dirty="0">
                <a:solidFill>
                  <a:schemeClr val="tx1"/>
                </a:solidFill>
              </a:rPr>
              <a:t>.</a:t>
            </a:r>
            <a:endParaRPr lang="en-US" sz="2400" dirty="0"/>
          </a:p>
          <a:p>
            <a:pPr indent="0" marL="0">
              <a:spcAft>
                <a:spcPts val="1000"/>
              </a:spcAft>
              <a:buNone/>
            </a:pPr>
            <a:r>
              <a:rPr lang="en-US" sz="2400" b="1" dirty="0">
                <a:solidFill>
                  <a:schemeClr val="tx2"/>
                </a:solidFill>
              </a:rPr>
              <a:t>2.  </a:t>
            </a:r>
            <a:r>
              <a:rPr lang="en-US" sz="2400" dirty="0">
                <a:solidFill>
                  <a:schemeClr val="tx1"/>
                </a:solidFill>
              </a:rPr>
              <a:t>« Komt de loodgieter morgen? » → Hij vroeg </a:t>
            </a:r>
            <a:r>
              <a:rPr lang="en-US" sz="2400" dirty="0">
                <a:solidFill>
                  <a:schemeClr val="accent5"/>
                </a:solidFill>
              </a:rPr>
              <a:t>……………………………………</a:t>
            </a:r>
            <a:r>
              <a:rPr lang="en-US" sz="2400" dirty="0">
                <a:solidFill>
                  <a:schemeClr val="tx1"/>
                </a:solidFill>
              </a:rPr>
              <a:t>.</a:t>
            </a:r>
            <a:endParaRPr lang="en-US" sz="2400" dirty="0"/>
          </a:p>
          <a:p>
            <a:pPr indent="0" marL="0">
              <a:spcAft>
                <a:spcPts val="1000"/>
              </a:spcAft>
              <a:buNone/>
            </a:pPr>
            <a:r>
              <a:rPr lang="en-US" sz="2400" b="1" dirty="0">
                <a:solidFill>
                  <a:schemeClr val="tx2"/>
                </a:solidFill>
              </a:rPr>
              <a:t>3.  </a:t>
            </a:r>
            <a:r>
              <a:rPr lang="en-US" sz="2400" dirty="0">
                <a:solidFill>
                  <a:schemeClr val="tx1"/>
                </a:solidFill>
              </a:rPr>
              <a:t>« Hoeveel kost de herstelling? » → Hij vroeg </a:t>
            </a:r>
            <a:r>
              <a:rPr lang="en-US" sz="2400" dirty="0">
                <a:solidFill>
                  <a:schemeClr val="accent5"/>
                </a:solidFill>
              </a:rPr>
              <a:t>……………………………………</a:t>
            </a:r>
            <a:r>
              <a:rPr lang="en-US" sz="2400" dirty="0">
                <a:solidFill>
                  <a:schemeClr val="tx1"/>
                </a:solidFill>
              </a:rPr>
              <a:t>.</a:t>
            </a:r>
            <a:endParaRPr lang="en-US" sz="2400" dirty="0"/>
          </a:p>
          <a:p>
            <a:pPr indent="0" marL="0">
              <a:spcAft>
                <a:spcPts val="1000"/>
              </a:spcAft>
              <a:buNone/>
            </a:pPr>
            <a:r>
              <a:rPr lang="en-US" sz="2400" b="1" dirty="0">
                <a:solidFill>
                  <a:schemeClr val="tx2"/>
                </a:solidFill>
              </a:rPr>
              <a:t>4.  </a:t>
            </a:r>
            <a:r>
              <a:rPr lang="en-US" sz="2400" dirty="0">
                <a:solidFill>
                  <a:schemeClr val="tx1"/>
                </a:solidFill>
              </a:rPr>
              <a:t>« Ik heb geen tijd. » → Zij zei </a:t>
            </a:r>
            <a:r>
              <a:rPr lang="en-US" sz="2400" dirty="0">
                <a:solidFill>
                  <a:schemeClr val="accent5"/>
                </a:solidFill>
              </a:rPr>
              <a:t>……………………………</a:t>
            </a:r>
            <a:r>
              <a:rPr lang="en-US" sz="2400" dirty="0">
                <a:solidFill>
                  <a:schemeClr val="tx1"/>
                </a:solidFill>
              </a:rPr>
              <a:t>.</a:t>
            </a:r>
            <a:endParaRPr lang="en-US" sz="2400" dirty="0"/>
          </a:p>
          <a:p>
            <a:pPr indent="0" marL="0">
              <a:spcAft>
                <a:spcPts val="1000"/>
              </a:spcAft>
              <a:buNone/>
            </a:pPr>
            <a:r>
              <a:rPr lang="en-US" sz="2400" b="1" dirty="0">
                <a:solidFill>
                  <a:schemeClr val="tx2"/>
                </a:solidFill>
              </a:rPr>
              <a:t>5.  </a:t>
            </a:r>
            <a:r>
              <a:rPr lang="en-US" sz="2400" dirty="0">
                <a:solidFill>
                  <a:schemeClr val="tx1"/>
                </a:solidFill>
              </a:rPr>
              <a:t>« Bel me morgen terug. » → Hij vroeg </a:t>
            </a:r>
            <a:r>
              <a:rPr lang="en-US" sz="2400" dirty="0">
                <a:solidFill>
                  <a:schemeClr val="accent5"/>
                </a:solidFill>
              </a:rPr>
              <a:t>……………………………………</a:t>
            </a:r>
            <a:r>
              <a:rPr lang="en-US" sz="2400" dirty="0">
                <a:solidFill>
                  <a:schemeClr val="tx1"/>
                </a:solidFill>
              </a:rPr>
              <a:t>.</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2">
              <a:alpha val="10000"/>
            </a:schemeClr>
          </a:solidFill>
          <a:ln w="12700">
            <a:solidFill>
              <a:schemeClr val="accent2">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RAPPEL</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dat / of / vraagwoord</a:t>
            </a:r>
            <a:r>
              <a:rPr lang="en-US" sz="1800" dirty="0">
                <a:solidFill>
                  <a:schemeClr val="tx1"/>
                </a:solidFill>
              </a:rPr>
              <a:t> : verbe </a:t>
            </a:r>
            <a:r>
              <a:rPr lang="en-US" sz="1800" b="1" dirty="0">
                <a:solidFill>
                  <a:schemeClr val="tx1"/>
                </a:solidFill>
              </a:rPr>
              <a:t>à la fin</a:t>
            </a:r>
            <a:endParaRPr lang="en-US" sz="1800" dirty="0"/>
          </a:p>
          <a:p>
            <a:pPr marL="177800" indent="-177800">
              <a:spcAft>
                <a:spcPts val="600"/>
              </a:spcAft>
              <a:buSzPct val="100000"/>
              <a:buChar char="•"/>
            </a:pPr>
            <a:r>
              <a:rPr lang="en-US" sz="1800" b="1" dirty="0">
                <a:solidFill>
                  <a:schemeClr val="tx1"/>
                </a:solidFill>
              </a:rPr>
              <a:t>présent → imperfectum</a:t>
            </a:r>
            <a:endParaRPr lang="en-US" sz="1800" dirty="0"/>
          </a:p>
          <a:p>
            <a:pPr marL="177800" indent="-177800">
              <a:spcAft>
                <a:spcPts val="600"/>
              </a:spcAft>
              <a:buSzPct val="100000"/>
              <a:buChar char="•"/>
            </a:pPr>
            <a:r>
              <a:rPr lang="en-US" sz="1800" b="1" dirty="0">
                <a:solidFill>
                  <a:schemeClr val="tx1"/>
                </a:solidFill>
              </a:rPr>
              <a:t>Demande</a:t>
            </a:r>
            <a:r>
              <a:rPr lang="en-US" sz="1800" dirty="0">
                <a:solidFill>
                  <a:schemeClr val="tx1"/>
                </a:solidFill>
              </a:rPr>
              <a:t> : </a:t>
            </a:r>
            <a:r>
              <a:rPr lang="en-US" sz="1800" i="1" dirty="0">
                <a:solidFill>
                  <a:schemeClr val="tx1"/>
                </a:solidFill>
              </a:rPr>
              <a:t>om … te</a:t>
            </a:r>
            <a:r>
              <a:rPr lang="en-US" sz="1800" dirty="0">
                <a:solidFill>
                  <a:schemeClr val="tx1"/>
                </a:solidFill>
              </a:rPr>
              <a:t> + infinitif</a:t>
            </a:r>
            <a:endParaRPr lang="en-US" sz="1800" dirty="0"/>
          </a:p>
          <a:p>
            <a:pPr marL="177800" indent="-177800">
              <a:spcAft>
                <a:spcPts val="600"/>
              </a:spcAft>
              <a:buSzPct val="100000"/>
              <a:buChar char="•"/>
            </a:pPr>
            <a:r>
              <a:rPr lang="en-US" sz="1800" dirty="0">
                <a:solidFill>
                  <a:schemeClr val="tx1"/>
                </a:solidFill>
              </a:rPr>
              <a:t>Cette séance : même place du verbe avec </a:t>
            </a:r>
            <a:r>
              <a:rPr lang="en-US" sz="1800" b="1" dirty="0">
                <a:solidFill>
                  <a:schemeClr val="tx1"/>
                </a:solidFill>
              </a:rPr>
              <a:t>zou</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8 : le discours indirect</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8</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Rapportez au passé (Hij zei… · Hij vroeg…) — seul, 4 min, puis correction orale.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 Het is een lek. » → Hij zei </a:t>
            </a:r>
            <a:r>
              <a:rPr lang="en-US" sz="2400" b="1" dirty="0">
                <a:solidFill>
                  <a:schemeClr val="accent3"/>
                </a:solidFill>
              </a:rPr>
              <a:t>dat het een lek was</a:t>
            </a:r>
            <a:r>
              <a:rPr lang="en-US" sz="2400" dirty="0">
                <a:solidFill>
                  <a:schemeClr val="tx1"/>
                </a:solidFill>
              </a:rPr>
              <a:t>.</a:t>
            </a:r>
            <a:endParaRPr lang="en-US" sz="2400" dirty="0"/>
          </a:p>
          <a:p>
            <a:pPr indent="0" marL="0">
              <a:spcAft>
                <a:spcPts val="1000"/>
              </a:spcAft>
              <a:buNone/>
            </a:pPr>
            <a:r>
              <a:rPr lang="en-US" sz="2400" b="1" dirty="0">
                <a:solidFill>
                  <a:schemeClr val="tx2"/>
                </a:solidFill>
              </a:rPr>
              <a:t>2.  </a:t>
            </a:r>
            <a:r>
              <a:rPr lang="en-US" sz="2400" dirty="0">
                <a:solidFill>
                  <a:schemeClr val="tx1"/>
                </a:solidFill>
              </a:rPr>
              <a:t>« Komt de loodgieter morgen? » → Hij vroeg </a:t>
            </a:r>
            <a:r>
              <a:rPr lang="en-US" sz="2400" b="1" dirty="0">
                <a:solidFill>
                  <a:schemeClr val="accent3"/>
                </a:solidFill>
              </a:rPr>
              <a:t>of de loodgieter morgen kwam</a:t>
            </a:r>
            <a:r>
              <a:rPr lang="en-US" sz="2400" dirty="0">
                <a:solidFill>
                  <a:schemeClr val="tx1"/>
                </a:solidFill>
              </a:rPr>
              <a:t>.</a:t>
            </a:r>
            <a:endParaRPr lang="en-US" sz="2400" dirty="0"/>
          </a:p>
          <a:p>
            <a:pPr indent="0" marL="0">
              <a:spcAft>
                <a:spcPts val="1000"/>
              </a:spcAft>
              <a:buNone/>
            </a:pPr>
            <a:r>
              <a:rPr lang="en-US" sz="2400" b="1" dirty="0">
                <a:solidFill>
                  <a:schemeClr val="tx2"/>
                </a:solidFill>
              </a:rPr>
              <a:t>3.  </a:t>
            </a:r>
            <a:r>
              <a:rPr lang="en-US" sz="2400" dirty="0">
                <a:solidFill>
                  <a:schemeClr val="tx1"/>
                </a:solidFill>
              </a:rPr>
              <a:t>« Hoeveel kost de herstelling? » → Hij vroeg </a:t>
            </a:r>
            <a:r>
              <a:rPr lang="en-US" sz="2400" b="1" dirty="0">
                <a:solidFill>
                  <a:schemeClr val="accent3"/>
                </a:solidFill>
              </a:rPr>
              <a:t>hoeveel de herstelling kostte</a:t>
            </a:r>
            <a:r>
              <a:rPr lang="en-US" sz="2400" dirty="0">
                <a:solidFill>
                  <a:schemeClr val="tx1"/>
                </a:solidFill>
              </a:rPr>
              <a:t>.</a:t>
            </a:r>
            <a:endParaRPr lang="en-US" sz="2400" dirty="0"/>
          </a:p>
          <a:p>
            <a:pPr indent="0" marL="0">
              <a:spcAft>
                <a:spcPts val="1000"/>
              </a:spcAft>
              <a:buNone/>
            </a:pPr>
            <a:r>
              <a:rPr lang="en-US" sz="2400" b="1" dirty="0">
                <a:solidFill>
                  <a:schemeClr val="tx2"/>
                </a:solidFill>
              </a:rPr>
              <a:t>4.  </a:t>
            </a:r>
            <a:r>
              <a:rPr lang="en-US" sz="2400" dirty="0">
                <a:solidFill>
                  <a:schemeClr val="tx1"/>
                </a:solidFill>
              </a:rPr>
              <a:t>« Ik heb geen tijd. » → Zij zei </a:t>
            </a:r>
            <a:r>
              <a:rPr lang="en-US" sz="2400" b="1" dirty="0">
                <a:solidFill>
                  <a:schemeClr val="accent3"/>
                </a:solidFill>
              </a:rPr>
              <a:t>dat ze geen tijd had</a:t>
            </a:r>
            <a:r>
              <a:rPr lang="en-US" sz="2400" dirty="0">
                <a:solidFill>
                  <a:schemeClr val="tx1"/>
                </a:solidFill>
              </a:rPr>
              <a:t>.</a:t>
            </a:r>
            <a:endParaRPr lang="en-US" sz="2400" dirty="0"/>
          </a:p>
          <a:p>
            <a:pPr indent="0" marL="0">
              <a:spcAft>
                <a:spcPts val="1000"/>
              </a:spcAft>
              <a:buNone/>
            </a:pPr>
            <a:r>
              <a:rPr lang="en-US" sz="2400" b="1" dirty="0">
                <a:solidFill>
                  <a:schemeClr val="tx2"/>
                </a:solidFill>
              </a:rPr>
              <a:t>5.  </a:t>
            </a:r>
            <a:r>
              <a:rPr lang="en-US" sz="2400" dirty="0">
                <a:solidFill>
                  <a:schemeClr val="tx1"/>
                </a:solidFill>
              </a:rPr>
              <a:t>« Bel me morgen terug. » → Hij vroeg </a:t>
            </a:r>
            <a:r>
              <a:rPr lang="en-US" sz="2400" b="1" dirty="0">
                <a:solidFill>
                  <a:schemeClr val="accent3"/>
                </a:solidFill>
              </a:rPr>
              <a:t>om hem morgen terug te bellen</a:t>
            </a:r>
            <a:r>
              <a:rPr lang="en-US" sz="2400" dirty="0">
                <a:solidFill>
                  <a:schemeClr val="tx1"/>
                </a:solidFill>
              </a:rPr>
              <a:t>.</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2">
              <a:alpha val="10000"/>
            </a:schemeClr>
          </a:solidFill>
          <a:ln w="12700">
            <a:solidFill>
              <a:schemeClr val="accent2">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RAPPEL</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dat / of / vraagwoord</a:t>
            </a:r>
            <a:r>
              <a:rPr lang="en-US" sz="1800" dirty="0">
                <a:solidFill>
                  <a:schemeClr val="tx1"/>
                </a:solidFill>
              </a:rPr>
              <a:t> : verbe </a:t>
            </a:r>
            <a:r>
              <a:rPr lang="en-US" sz="1800" b="1" dirty="0">
                <a:solidFill>
                  <a:schemeClr val="tx1"/>
                </a:solidFill>
              </a:rPr>
              <a:t>à la fin</a:t>
            </a:r>
            <a:endParaRPr lang="en-US" sz="1800" dirty="0"/>
          </a:p>
          <a:p>
            <a:pPr marL="177800" indent="-177800">
              <a:spcAft>
                <a:spcPts val="600"/>
              </a:spcAft>
              <a:buSzPct val="100000"/>
              <a:buChar char="•"/>
            </a:pPr>
            <a:r>
              <a:rPr lang="en-US" sz="1800" b="1" dirty="0">
                <a:solidFill>
                  <a:schemeClr val="tx1"/>
                </a:solidFill>
              </a:rPr>
              <a:t>présent → imperfectum</a:t>
            </a:r>
            <a:endParaRPr lang="en-US" sz="1800" dirty="0"/>
          </a:p>
          <a:p>
            <a:pPr marL="177800" indent="-177800">
              <a:spcAft>
                <a:spcPts val="600"/>
              </a:spcAft>
              <a:buSzPct val="100000"/>
              <a:buChar char="•"/>
            </a:pPr>
            <a:r>
              <a:rPr lang="en-US" sz="1800" b="1" dirty="0">
                <a:solidFill>
                  <a:schemeClr val="tx1"/>
                </a:solidFill>
              </a:rPr>
              <a:t>Demande</a:t>
            </a:r>
            <a:r>
              <a:rPr lang="en-US" sz="1800" dirty="0">
                <a:solidFill>
                  <a:schemeClr val="tx1"/>
                </a:solidFill>
              </a:rPr>
              <a:t> : </a:t>
            </a:r>
            <a:r>
              <a:rPr lang="en-US" sz="1800" i="1" dirty="0">
                <a:solidFill>
                  <a:schemeClr val="tx1"/>
                </a:solidFill>
              </a:rPr>
              <a:t>om … te</a:t>
            </a:r>
            <a:r>
              <a:rPr lang="en-US" sz="1800" dirty="0">
                <a:solidFill>
                  <a:schemeClr val="tx1"/>
                </a:solidFill>
              </a:rPr>
              <a:t> + infinitif</a:t>
            </a:r>
            <a:endParaRPr lang="en-US" sz="1800" dirty="0"/>
          </a:p>
          <a:p>
            <a:pPr marL="177800" indent="-177800">
              <a:spcAft>
                <a:spcPts val="600"/>
              </a:spcAft>
              <a:buSzPct val="100000"/>
              <a:buChar char="•"/>
            </a:pPr>
            <a:r>
              <a:rPr lang="en-US" sz="1800" dirty="0">
                <a:solidFill>
                  <a:schemeClr val="tx1"/>
                </a:solidFill>
              </a:rPr>
              <a:t>Cette séance : même place du verbe avec </a:t>
            </a:r>
            <a:r>
              <a:rPr lang="en-US" sz="1800" b="1" dirty="0">
                <a:solidFill>
                  <a:schemeClr val="tx1"/>
                </a:solidFill>
              </a:rPr>
              <a:t>zou</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6.4 : zou, le mot le plus poli du métier</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7391"/>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6.4</a:t>
            </a:r>
            <a:endParaRPr lang="en-US" sz="1100" dirty="0"/>
          </a:p>
        </p:txBody>
      </p:sp>
      <p:sp>
        <p:nvSpPr>
          <p:cNvPr id="9" name="Text 5"/>
          <p:cNvSpPr txBox="1"/>
          <p:nvPr/>
        </p:nvSpPr>
        <p:spPr>
          <a:xfrm>
            <a:off x="6995160" y="2560320"/>
            <a:ext cx="4645152" cy="2380488"/>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«Betaal de herstelling!» ou «</a:t>
            </a:r>
            <a:r>
              <a:rPr lang="en-US" sz="1600" b="1" dirty="0">
                <a:solidFill>
                  <a:schemeClr val="tx1"/>
                </a:solidFill>
              </a:rPr>
              <a:t>Zou u</a:t>
            </a:r>
            <a:r>
              <a:rPr lang="en-US" sz="1600" dirty="0">
                <a:solidFill>
                  <a:schemeClr val="tx1"/>
                </a:solidFill>
              </a:rPr>
              <a:t> de herstelling </a:t>
            </a:r>
            <a:r>
              <a:rPr lang="en-US" sz="1600" b="1" dirty="0">
                <a:solidFill>
                  <a:schemeClr val="tx1"/>
                </a:solidFill>
              </a:rPr>
              <a:t>kunnen betalen</a:t>
            </a:r>
            <a:r>
              <a:rPr lang="en-US" sz="1600" dirty="0">
                <a:solidFill>
                  <a:schemeClr val="tx1"/>
                </a:solidFill>
              </a:rPr>
              <a:t>?» : même demande, </a:t>
            </a:r>
            <a:r>
              <a:rPr lang="en-US" sz="1600" b="1" dirty="0">
                <a:solidFill>
                  <a:schemeClr val="tx1"/>
                </a:solidFill>
              </a:rPr>
              <a:t>deux mondes</a:t>
            </a:r>
            <a:r>
              <a:rPr lang="en-US" sz="1600" dirty="0">
                <a:solidFill>
                  <a:schemeClr val="tx1"/>
                </a:solidFill>
              </a:rPr>
              <a:t>.</a:t>
            </a:r>
            <a:endParaRPr lang="en-US" sz="1600" dirty="0"/>
          </a:p>
          <a:p>
            <a:pPr indent="0" marL="0">
              <a:spcAft>
                <a:spcPts val="1000"/>
              </a:spcAft>
              <a:buNone/>
            </a:pPr>
            <a:r>
              <a:rPr lang="en-US" sz="1600" b="1" dirty="0">
                <a:solidFill>
                  <a:schemeClr val="tx1"/>
                </a:solidFill>
              </a:rPr>
              <a:t>Focus : lignes 1, 8 et 9</a:t>
            </a:r>
            <a:endParaRPr lang="en-US" sz="1600" dirty="0"/>
          </a:p>
          <a:p>
            <a:pPr indent="0" marL="0">
              <a:spcAft>
                <a:spcPts val="1000"/>
              </a:spcAft>
              <a:buNone/>
            </a:pPr>
            <a:r>
              <a:rPr lang="en-US" sz="1600" dirty="0">
                <a:solidFill>
                  <a:schemeClr val="tx1"/>
                </a:solidFill>
              </a:rPr>
              <a:t>«</a:t>
            </a:r>
            <a:r>
              <a:rPr lang="en-US" sz="1600" b="1" dirty="0">
                <a:solidFill>
                  <a:schemeClr val="tx1"/>
                </a:solidFill>
              </a:rPr>
              <a:t>Zou</a:t>
            </a:r>
            <a:r>
              <a:rPr lang="en-US" sz="1600" dirty="0">
                <a:solidFill>
                  <a:schemeClr val="tx1"/>
                </a:solidFill>
              </a:rPr>
              <a:t> jij het dossier </a:t>
            </a:r>
            <a:r>
              <a:rPr lang="en-US" sz="1600" b="1" dirty="0">
                <a:solidFill>
                  <a:schemeClr val="tx1"/>
                </a:solidFill>
              </a:rPr>
              <a:t>willen beheren</a:t>
            </a:r>
            <a:r>
              <a:rPr lang="en-US" sz="1600" dirty="0">
                <a:solidFill>
                  <a:schemeClr val="tx1"/>
                </a:solidFill>
              </a:rPr>
              <a:t>?»</a:t>
            </a:r>
            <a:endParaRPr lang="en-US" sz="1600" dirty="0"/>
          </a:p>
          <a:p>
            <a:pPr indent="0" marL="0">
              <a:spcAft>
                <a:spcPts val="1000"/>
              </a:spcAft>
              <a:buNone/>
            </a:pPr>
            <a:r>
              <a:rPr lang="en-US" sz="1600" dirty="0">
                <a:solidFill>
                  <a:schemeClr val="tx1"/>
                </a:solidFill>
              </a:rPr>
              <a:t>«Wat </a:t>
            </a:r>
            <a:r>
              <a:rPr lang="en-US" sz="1600" b="1" dirty="0">
                <a:solidFill>
                  <a:schemeClr val="tx1"/>
                </a:solidFill>
              </a:rPr>
              <a:t>zou</a:t>
            </a:r>
            <a:r>
              <a:rPr lang="en-US" sz="1600" dirty="0">
                <a:solidFill>
                  <a:schemeClr val="tx1"/>
                </a:solidFill>
              </a:rPr>
              <a:t> jij </a:t>
            </a:r>
            <a:r>
              <a:rPr lang="en-US" sz="1600" b="1" dirty="0">
                <a:solidFill>
                  <a:schemeClr val="tx1"/>
                </a:solidFill>
              </a:rPr>
              <a:t>doen</a:t>
            </a:r>
            <a:r>
              <a:rPr lang="en-US" sz="1600" dirty="0">
                <a:solidFill>
                  <a:schemeClr val="tx1"/>
                </a:solidFill>
              </a:rPr>
              <a:t> als eerste stap?»</a:t>
            </a:r>
            <a:endParaRPr lang="en-US" sz="1600" dirty="0"/>
          </a:p>
          <a:p>
            <a:pPr indent="0" marL="0">
              <a:spcAft>
                <a:spcPts val="1000"/>
              </a:spcAft>
              <a:buNone/>
            </a:pPr>
            <a:r>
              <a:rPr lang="en-US" sz="1600" dirty="0">
                <a:solidFill>
                  <a:schemeClr val="tx1"/>
                </a:solidFill>
              </a:rPr>
              <a:t>«Ik </a:t>
            </a:r>
            <a:r>
              <a:rPr lang="en-US" sz="1600" b="1" dirty="0">
                <a:solidFill>
                  <a:schemeClr val="tx1"/>
                </a:solidFill>
              </a:rPr>
              <a:t>zou</a:t>
            </a:r>
            <a:r>
              <a:rPr lang="en-US" sz="1600" dirty="0">
                <a:solidFill>
                  <a:schemeClr val="tx1"/>
                </a:solidFill>
              </a:rPr>
              <a:t> meteen de loodgieter </a:t>
            </a:r>
            <a:r>
              <a:rPr lang="en-US" sz="1600" b="1" dirty="0">
                <a:solidFill>
                  <a:schemeClr val="tx1"/>
                </a:solidFill>
              </a:rPr>
              <a:t>bellen</a:t>
            </a:r>
            <a:r>
              <a:rPr lang="en-US" sz="1600" dirty="0">
                <a:solidFill>
                  <a:schemeClr val="tx1"/>
                </a:solidFill>
              </a:rPr>
              <a:t>.»</a:t>
            </a:r>
            <a:endParaRPr lang="en-US" sz="1600" dirty="0"/>
          </a:p>
        </p:txBody>
      </p:sp>
      <p:sp>
        <p:nvSpPr>
          <p:cNvPr id="10" name="Shape 6"/>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11" name="Text 7"/>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Où est l’infinitif dans chaque phrase ? Avec quel verbe du palier 4 fait-on pareil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quatre fonctions de zou</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377440"/>
                <a:gridCol w="3931920"/>
                <a:gridCol w="4782312"/>
              </a:tblGrid>
              <a:tr h="580644">
                <a:tc>
                  <a:txBody>
                    <a:bodyPr/>
                    <a:lstStyle/>
                    <a:p>
                      <a:pPr algn="l" indent="0" marL="0">
                        <a:buNone/>
                      </a:pPr>
                      <a:r>
                        <a:rPr lang="en-US" sz="1500" b="1" dirty="0">
                          <a:solidFill>
                            <a:schemeClr val="bg1"/>
                          </a:solidFill>
                        </a:rPr>
                        <a:t>FONCTION</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STRUCTURE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EXEMPLE DU MÉTIER</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65683">
                <a:tc>
                  <a:txBody>
                    <a:bodyPr/>
                    <a:lstStyle/>
                    <a:p>
                      <a:pPr algn="l" indent="0" marL="0">
                        <a:buNone/>
                      </a:pPr>
                      <a:r>
                        <a:rPr lang="en-US" sz="1700" b="1" dirty="0">
                          <a:solidFill>
                            <a:schemeClr val="tx1"/>
                          </a:solidFill>
                        </a:rPr>
                        <a:t>Demande polie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Zou u … kunnen / willen + inf.?</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Zou u de documenten kunnen doorsturen?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929030">
                <a:tc>
                  <a:txBody>
                    <a:bodyPr/>
                    <a:lstStyle/>
                    <a:p>
                      <a:pPr algn="l" indent="0" marL="0">
                        <a:buNone/>
                      </a:pPr>
                      <a:r>
                        <a:rPr lang="en-US" sz="1700" b="1" dirty="0">
                          <a:solidFill>
                            <a:schemeClr val="tx1"/>
                          </a:solidFill>
                        </a:rPr>
                        <a:t>Conseil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Ik zou … + inf. · U zou beter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Ik zou eerst een expert laten komen. U zou beter wachten.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929030">
                <a:tc>
                  <a:txBody>
                    <a:bodyPr/>
                    <a:lstStyle/>
                    <a:p>
                      <a:pPr algn="l" indent="0" marL="0">
                        <a:buNone/>
                      </a:pPr>
                      <a:r>
                        <a:rPr lang="en-US" sz="1700" b="1" dirty="0">
                          <a:solidFill>
                            <a:schemeClr val="tx1"/>
                          </a:solidFill>
                        </a:rPr>
                        <a:t>Hypothèse prudente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Dat zou … zijn / kunnen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Dat zou een probleem met de leiding kunnen zijn.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929030">
                <a:tc>
                  <a:txBody>
                    <a:bodyPr/>
                    <a:lstStyle/>
                    <a:p>
                      <a:pPr algn="l" indent="0" marL="0">
                        <a:buNone/>
                      </a:pPr>
                      <a:r>
                        <a:rPr lang="en-US" sz="1700" b="1" dirty="0">
                          <a:solidFill>
                            <a:schemeClr val="tx1"/>
                          </a:solidFill>
                        </a:rPr>
                        <a:t>Condition irréelle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Als ik u was, zou ik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Als ik u was, zou ik de verzekering contacteren.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Formes : </a:t>
            </a:r>
            <a:r>
              <a:rPr lang="en-US" sz="1500" i="1" dirty="0">
                <a:solidFill>
                  <a:schemeClr val="accent5"/>
                </a:solidFill>
              </a:rPr>
              <a:t>ik · jij · u · hij · zij </a:t>
            </a:r>
            <a:r>
              <a:rPr lang="en-US" sz="1500" b="1" i="1" dirty="0">
                <a:solidFill>
                  <a:schemeClr val="accent5"/>
                </a:solidFill>
              </a:rPr>
              <a:t>zou</a:t>
            </a:r>
            <a:r>
              <a:rPr lang="en-US" sz="1500" i="1" dirty="0">
                <a:solidFill>
                  <a:schemeClr val="accent5"/>
                </a:solidFill>
              </a:rPr>
              <a:t> — </a:t>
            </a:r>
            <a:r>
              <a:rPr lang="en-US" sz="1500" i="1" dirty="0">
                <a:solidFill>
                  <a:schemeClr val="accent5"/>
                </a:solidFill>
              </a:rPr>
              <a:t>wij · jullie · zij </a:t>
            </a:r>
            <a:r>
              <a:rPr lang="en-US" sz="1500" b="1" i="1" dirty="0">
                <a:solidFill>
                  <a:schemeClr val="accent5"/>
                </a:solidFill>
              </a:rPr>
              <a:t>zouden</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Zou + infinitif en fin de phrase</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15–16</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b="1" dirty="0">
                <a:solidFill>
                  <a:schemeClr val="tx1"/>
                </a:solidFill>
              </a:rPr>
              <a:t>Zou</a:t>
            </a:r>
            <a:r>
              <a:rPr lang="en-US" sz="1800" dirty="0">
                <a:solidFill>
                  <a:schemeClr val="tx1"/>
                </a:solidFill>
              </a:rPr>
              <a:t> est le verbe conjugué (2e position, ou en tête dans une question) ; l’</a:t>
            </a:r>
            <a:r>
              <a:rPr lang="en-US" sz="1800" b="1" dirty="0">
                <a:solidFill>
                  <a:schemeClr val="tx1"/>
                </a:solidFill>
              </a:rPr>
              <a:t>infinitif</a:t>
            </a:r>
            <a:r>
              <a:rPr lang="en-US" sz="1800" dirty="0">
                <a:solidFill>
                  <a:schemeClr val="tx1"/>
                </a:solidFill>
              </a:rPr>
              <a:t> part </a:t>
            </a:r>
            <a:r>
              <a:rPr lang="en-US" sz="1800" b="1" dirty="0">
                <a:solidFill>
                  <a:schemeClr val="tx1"/>
                </a:solidFill>
              </a:rPr>
              <a:t>à la fin</a:t>
            </a:r>
            <a:r>
              <a:rPr lang="en-US" sz="1800" dirty="0">
                <a:solidFill>
                  <a:schemeClr val="tx1"/>
                </a:solidFill>
              </a:rPr>
              <a:t> — comme avec </a:t>
            </a:r>
            <a:r>
              <a:rPr lang="en-US" sz="1800" i="1" dirty="0">
                <a:solidFill>
                  <a:schemeClr val="tx1"/>
                </a:solidFill>
              </a:rPr>
              <a:t>zullen</a:t>
            </a:r>
            <a:r>
              <a:rPr lang="en-US" sz="1800" dirty="0">
                <a:solidFill>
                  <a:schemeClr val="tx1"/>
                </a:solidFill>
              </a:rPr>
              <a:t>.</a:t>
            </a:r>
            <a:endParaRPr lang="en-US" sz="1800" dirty="0"/>
          </a:p>
        </p:txBody>
      </p:sp>
      <p:sp>
        <p:nvSpPr>
          <p:cNvPr id="7" name="Text 4"/>
          <p:cNvSpPr txBox="1"/>
          <p:nvPr/>
        </p:nvSpPr>
        <p:spPr>
          <a:xfrm>
            <a:off x="548640" y="245973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Demande</a:t>
            </a:r>
            <a:endParaRPr lang="en-US" sz="1400" dirty="0"/>
          </a:p>
        </p:txBody>
      </p:sp>
      <p:sp>
        <p:nvSpPr>
          <p:cNvPr id="8" name="Text 5"/>
          <p:cNvSpPr txBox="1"/>
          <p:nvPr/>
        </p:nvSpPr>
        <p:spPr>
          <a:xfrm>
            <a:off x="2103120" y="2221992"/>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9" name="Shape 6"/>
          <p:cNvSpPr/>
          <p:nvPr/>
        </p:nvSpPr>
        <p:spPr>
          <a:xfrm>
            <a:off x="2103120" y="2459736"/>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10" name="Text 7"/>
          <p:cNvSpPr txBox="1"/>
          <p:nvPr/>
        </p:nvSpPr>
        <p:spPr>
          <a:xfrm>
            <a:off x="2139696" y="245973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Zou</a:t>
            </a:r>
            <a:endParaRPr lang="en-US" sz="1600" dirty="0"/>
          </a:p>
        </p:txBody>
      </p:sp>
      <p:sp>
        <p:nvSpPr>
          <p:cNvPr id="11" name="Text 8"/>
          <p:cNvSpPr txBox="1"/>
          <p:nvPr/>
        </p:nvSpPr>
        <p:spPr>
          <a:xfrm>
            <a:off x="2898648" y="222199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12" name="Shape 9"/>
          <p:cNvSpPr/>
          <p:nvPr/>
        </p:nvSpPr>
        <p:spPr>
          <a:xfrm>
            <a:off x="2898648" y="2459736"/>
            <a:ext cx="685800" cy="329184"/>
          </a:xfrm>
          <a:prstGeom prst="roundRect">
            <a:avLst>
              <a:gd name="adj" fmla="val 16667"/>
            </a:avLst>
          </a:prstGeom>
          <a:solidFill>
            <a:schemeClr val="tx2">
              <a:alpha val="88000"/>
            </a:schemeClr>
          </a:solidFill>
          <a:ln w="12700">
            <a:solidFill>
              <a:srgbClr val="17375E"/>
            </a:solidFill>
            <a:prstDash val="solid"/>
          </a:ln>
        </p:spPr>
      </p:sp>
      <p:sp>
        <p:nvSpPr>
          <p:cNvPr id="13" name="Text 10"/>
          <p:cNvSpPr txBox="1"/>
          <p:nvPr/>
        </p:nvSpPr>
        <p:spPr>
          <a:xfrm>
            <a:off x="2935224" y="245973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u</a:t>
            </a:r>
            <a:endParaRPr lang="en-US" sz="1600" dirty="0"/>
          </a:p>
        </p:txBody>
      </p:sp>
      <p:sp>
        <p:nvSpPr>
          <p:cNvPr id="14" name="Text 11"/>
          <p:cNvSpPr txBox="1"/>
          <p:nvPr/>
        </p:nvSpPr>
        <p:spPr>
          <a:xfrm>
            <a:off x="3694176" y="2221992"/>
            <a:ext cx="1702816"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15" name="Shape 12"/>
          <p:cNvSpPr/>
          <p:nvPr/>
        </p:nvSpPr>
        <p:spPr>
          <a:xfrm>
            <a:off x="3694176" y="2459736"/>
            <a:ext cx="1702816" cy="329184"/>
          </a:xfrm>
          <a:prstGeom prst="roundRect">
            <a:avLst>
              <a:gd name="adj" fmla="val 16667"/>
            </a:avLst>
          </a:prstGeom>
          <a:solidFill>
            <a:schemeClr val="accent5">
              <a:alpha val="25000"/>
            </a:schemeClr>
          </a:solidFill>
          <a:ln w="12700">
            <a:solidFill>
              <a:srgbClr val="4A5A70"/>
            </a:solidFill>
            <a:prstDash val="solid"/>
          </a:ln>
        </p:spPr>
      </p:sp>
      <p:sp>
        <p:nvSpPr>
          <p:cNvPr id="16" name="Text 13"/>
          <p:cNvSpPr txBox="1"/>
          <p:nvPr/>
        </p:nvSpPr>
        <p:spPr>
          <a:xfrm>
            <a:off x="3730752" y="2459736"/>
            <a:ext cx="1629664" cy="329184"/>
          </a:xfrm>
          <a:prstGeom prst="rect">
            <a:avLst/>
          </a:prstGeom>
          <a:noFill/>
          <a:ln/>
        </p:spPr>
        <p:txBody>
          <a:bodyPr wrap="square" lIns="0" tIns="0" rIns="0" bIns="0" rtlCol="0" anchor="ctr"/>
          <a:lstStyle/>
          <a:p>
            <a:pPr algn="ctr" indent="0" marL="0">
              <a:buNone/>
            </a:pPr>
            <a:r>
              <a:rPr lang="en-US" sz="1600" b="1" dirty="0">
                <a:solidFill>
                  <a:schemeClr val="tx1"/>
                </a:solidFill>
              </a:rPr>
              <a:t>de documenten</a:t>
            </a:r>
            <a:endParaRPr lang="en-US" sz="1600" dirty="0"/>
          </a:p>
        </p:txBody>
      </p:sp>
      <p:sp>
        <p:nvSpPr>
          <p:cNvPr id="17" name="Text 14"/>
          <p:cNvSpPr txBox="1"/>
          <p:nvPr/>
        </p:nvSpPr>
        <p:spPr>
          <a:xfrm>
            <a:off x="5506720" y="2221992"/>
            <a:ext cx="2125472"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18" name="Shape 15"/>
          <p:cNvSpPr/>
          <p:nvPr/>
        </p:nvSpPr>
        <p:spPr>
          <a:xfrm>
            <a:off x="5506720" y="2459736"/>
            <a:ext cx="2125472" cy="329184"/>
          </a:xfrm>
          <a:prstGeom prst="roundRect">
            <a:avLst>
              <a:gd name="adj" fmla="val 16667"/>
            </a:avLst>
          </a:prstGeom>
          <a:solidFill>
            <a:schemeClr val="accent1">
              <a:alpha val="88000"/>
            </a:schemeClr>
          </a:solidFill>
          <a:ln w="12700">
            <a:solidFill>
              <a:srgbClr val="D9700F"/>
            </a:solidFill>
            <a:prstDash val="solid"/>
          </a:ln>
        </p:spPr>
      </p:sp>
      <p:sp>
        <p:nvSpPr>
          <p:cNvPr id="19" name="Text 16"/>
          <p:cNvSpPr txBox="1"/>
          <p:nvPr/>
        </p:nvSpPr>
        <p:spPr>
          <a:xfrm>
            <a:off x="5543296" y="2459736"/>
            <a:ext cx="2052320" cy="329184"/>
          </a:xfrm>
          <a:prstGeom prst="rect">
            <a:avLst/>
          </a:prstGeom>
          <a:noFill/>
          <a:ln/>
        </p:spPr>
        <p:txBody>
          <a:bodyPr wrap="square" lIns="0" tIns="0" rIns="0" bIns="0" rtlCol="0" anchor="ctr"/>
          <a:lstStyle/>
          <a:p>
            <a:pPr algn="ctr" indent="0" marL="0">
              <a:buNone/>
            </a:pPr>
            <a:r>
              <a:rPr lang="en-US" sz="1600" b="1" dirty="0">
                <a:solidFill>
                  <a:schemeClr val="bg1"/>
                </a:solidFill>
              </a:rPr>
              <a:t>kunnen doorsturen</a:t>
            </a:r>
            <a:endParaRPr lang="en-US" sz="1600" dirty="0"/>
          </a:p>
        </p:txBody>
      </p:sp>
      <p:sp>
        <p:nvSpPr>
          <p:cNvPr id="20" name="Text 17"/>
          <p:cNvSpPr txBox="1"/>
          <p:nvPr/>
        </p:nvSpPr>
        <p:spPr>
          <a:xfrm>
            <a:off x="2103120" y="281635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Pourriez-vous transmettre les documents ?</a:t>
            </a:r>
            <a:endParaRPr lang="en-US" sz="1400" dirty="0"/>
          </a:p>
        </p:txBody>
      </p:sp>
      <p:sp>
        <p:nvSpPr>
          <p:cNvPr id="21" name="Text 18"/>
          <p:cNvSpPr txBox="1"/>
          <p:nvPr/>
        </p:nvSpPr>
        <p:spPr>
          <a:xfrm>
            <a:off x="548640" y="324535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Conseil</a:t>
            </a:r>
            <a:endParaRPr lang="en-US" sz="1400" dirty="0"/>
          </a:p>
        </p:txBody>
      </p:sp>
      <p:sp>
        <p:nvSpPr>
          <p:cNvPr id="22" name="Text 19"/>
          <p:cNvSpPr txBox="1"/>
          <p:nvPr/>
        </p:nvSpPr>
        <p:spPr>
          <a:xfrm>
            <a:off x="2103120" y="3007614"/>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3" name="Shape 20"/>
          <p:cNvSpPr/>
          <p:nvPr/>
        </p:nvSpPr>
        <p:spPr>
          <a:xfrm>
            <a:off x="2103120" y="3245358"/>
            <a:ext cx="685800" cy="329184"/>
          </a:xfrm>
          <a:prstGeom prst="roundRect">
            <a:avLst>
              <a:gd name="adj" fmla="val 16667"/>
            </a:avLst>
          </a:prstGeom>
          <a:solidFill>
            <a:schemeClr val="tx2">
              <a:alpha val="88000"/>
            </a:schemeClr>
          </a:solidFill>
          <a:ln w="12700">
            <a:solidFill>
              <a:srgbClr val="17375E"/>
            </a:solidFill>
            <a:prstDash val="solid"/>
          </a:ln>
        </p:spPr>
      </p:sp>
      <p:sp>
        <p:nvSpPr>
          <p:cNvPr id="24" name="Text 21"/>
          <p:cNvSpPr txBox="1"/>
          <p:nvPr/>
        </p:nvSpPr>
        <p:spPr>
          <a:xfrm>
            <a:off x="2139696" y="324535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25" name="Text 22"/>
          <p:cNvSpPr txBox="1"/>
          <p:nvPr/>
        </p:nvSpPr>
        <p:spPr>
          <a:xfrm>
            <a:off x="2898648" y="3007614"/>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6" name="Shape 23"/>
          <p:cNvSpPr/>
          <p:nvPr/>
        </p:nvSpPr>
        <p:spPr>
          <a:xfrm>
            <a:off x="2898648" y="3245358"/>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27" name="Text 24"/>
          <p:cNvSpPr txBox="1"/>
          <p:nvPr/>
        </p:nvSpPr>
        <p:spPr>
          <a:xfrm>
            <a:off x="2935224" y="324535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zou</a:t>
            </a:r>
            <a:endParaRPr lang="en-US" sz="1600" dirty="0"/>
          </a:p>
        </p:txBody>
      </p:sp>
      <p:sp>
        <p:nvSpPr>
          <p:cNvPr id="28" name="Text 25"/>
          <p:cNvSpPr txBox="1"/>
          <p:nvPr/>
        </p:nvSpPr>
        <p:spPr>
          <a:xfrm>
            <a:off x="3694176" y="3007614"/>
            <a:ext cx="857504"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29" name="Shape 26"/>
          <p:cNvSpPr/>
          <p:nvPr/>
        </p:nvSpPr>
        <p:spPr>
          <a:xfrm>
            <a:off x="3694176" y="3245358"/>
            <a:ext cx="857504" cy="329184"/>
          </a:xfrm>
          <a:prstGeom prst="roundRect">
            <a:avLst>
              <a:gd name="adj" fmla="val 16667"/>
            </a:avLst>
          </a:prstGeom>
          <a:solidFill>
            <a:schemeClr val="accent2">
              <a:alpha val="88000"/>
            </a:schemeClr>
          </a:solidFill>
          <a:ln w="12700">
            <a:solidFill>
              <a:srgbClr val="2A6FB0"/>
            </a:solidFill>
            <a:prstDash val="solid"/>
          </a:ln>
        </p:spPr>
      </p:sp>
      <p:sp>
        <p:nvSpPr>
          <p:cNvPr id="30" name="Text 27"/>
          <p:cNvSpPr txBox="1"/>
          <p:nvPr/>
        </p:nvSpPr>
        <p:spPr>
          <a:xfrm>
            <a:off x="3730752" y="3245358"/>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eerst</a:t>
            </a:r>
            <a:endParaRPr lang="en-US" sz="1600" dirty="0"/>
          </a:p>
        </p:txBody>
      </p:sp>
      <p:sp>
        <p:nvSpPr>
          <p:cNvPr id="31" name="Text 28"/>
          <p:cNvSpPr txBox="1"/>
          <p:nvPr/>
        </p:nvSpPr>
        <p:spPr>
          <a:xfrm>
            <a:off x="4661408" y="3007614"/>
            <a:ext cx="1385824"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32" name="Shape 29"/>
          <p:cNvSpPr/>
          <p:nvPr/>
        </p:nvSpPr>
        <p:spPr>
          <a:xfrm>
            <a:off x="4661408" y="3245358"/>
            <a:ext cx="1385824" cy="329184"/>
          </a:xfrm>
          <a:prstGeom prst="roundRect">
            <a:avLst>
              <a:gd name="adj" fmla="val 16667"/>
            </a:avLst>
          </a:prstGeom>
          <a:solidFill>
            <a:schemeClr val="accent5">
              <a:alpha val="25000"/>
            </a:schemeClr>
          </a:solidFill>
          <a:ln w="12700">
            <a:solidFill>
              <a:srgbClr val="4A5A70"/>
            </a:solidFill>
            <a:prstDash val="solid"/>
          </a:ln>
        </p:spPr>
      </p:sp>
      <p:sp>
        <p:nvSpPr>
          <p:cNvPr id="33" name="Text 30"/>
          <p:cNvSpPr txBox="1"/>
          <p:nvPr/>
        </p:nvSpPr>
        <p:spPr>
          <a:xfrm>
            <a:off x="4697984" y="3245358"/>
            <a:ext cx="1312672" cy="329184"/>
          </a:xfrm>
          <a:prstGeom prst="rect">
            <a:avLst/>
          </a:prstGeom>
          <a:noFill/>
          <a:ln/>
        </p:spPr>
        <p:txBody>
          <a:bodyPr wrap="square" lIns="0" tIns="0" rIns="0" bIns="0" rtlCol="0" anchor="ctr"/>
          <a:lstStyle/>
          <a:p>
            <a:pPr algn="ctr" indent="0" marL="0">
              <a:buNone/>
            </a:pPr>
            <a:r>
              <a:rPr lang="en-US" sz="1600" b="1" dirty="0">
                <a:solidFill>
                  <a:schemeClr val="tx1"/>
                </a:solidFill>
              </a:rPr>
              <a:t>een expert</a:t>
            </a:r>
            <a:endParaRPr lang="en-US" sz="1600" dirty="0"/>
          </a:p>
        </p:txBody>
      </p:sp>
      <p:sp>
        <p:nvSpPr>
          <p:cNvPr id="34" name="Text 31"/>
          <p:cNvSpPr txBox="1"/>
          <p:nvPr/>
        </p:nvSpPr>
        <p:spPr>
          <a:xfrm>
            <a:off x="6156960" y="3007614"/>
            <a:ext cx="1491488"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35" name="Shape 32"/>
          <p:cNvSpPr/>
          <p:nvPr/>
        </p:nvSpPr>
        <p:spPr>
          <a:xfrm>
            <a:off x="6156960" y="3245358"/>
            <a:ext cx="1491488" cy="329184"/>
          </a:xfrm>
          <a:prstGeom prst="roundRect">
            <a:avLst>
              <a:gd name="adj" fmla="val 16667"/>
            </a:avLst>
          </a:prstGeom>
          <a:solidFill>
            <a:schemeClr val="accent1">
              <a:alpha val="88000"/>
            </a:schemeClr>
          </a:solidFill>
          <a:ln w="12700">
            <a:solidFill>
              <a:srgbClr val="D9700F"/>
            </a:solidFill>
            <a:prstDash val="solid"/>
          </a:ln>
        </p:spPr>
      </p:sp>
      <p:sp>
        <p:nvSpPr>
          <p:cNvPr id="36" name="Text 33"/>
          <p:cNvSpPr txBox="1"/>
          <p:nvPr/>
        </p:nvSpPr>
        <p:spPr>
          <a:xfrm>
            <a:off x="6193536" y="3245358"/>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laten komen</a:t>
            </a:r>
            <a:endParaRPr lang="en-US" sz="1600" dirty="0"/>
          </a:p>
        </p:txBody>
      </p:sp>
      <p:sp>
        <p:nvSpPr>
          <p:cNvPr id="37" name="Text 34"/>
          <p:cNvSpPr txBox="1"/>
          <p:nvPr/>
        </p:nvSpPr>
        <p:spPr>
          <a:xfrm>
            <a:off x="2103120" y="360197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Moi, je ferais d’abord venir un expert.</a:t>
            </a:r>
            <a:endParaRPr lang="en-US" sz="1400" dirty="0"/>
          </a:p>
        </p:txBody>
      </p:sp>
      <p:sp>
        <p:nvSpPr>
          <p:cNvPr id="38" name="Text 35"/>
          <p:cNvSpPr txBox="1"/>
          <p:nvPr/>
        </p:nvSpPr>
        <p:spPr>
          <a:xfrm>
            <a:off x="548640" y="4030980"/>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Hypothèse</a:t>
            </a:r>
            <a:endParaRPr lang="en-US" sz="1400" dirty="0"/>
          </a:p>
        </p:txBody>
      </p:sp>
      <p:sp>
        <p:nvSpPr>
          <p:cNvPr id="39" name="Text 36"/>
          <p:cNvSpPr txBox="1"/>
          <p:nvPr/>
        </p:nvSpPr>
        <p:spPr>
          <a:xfrm>
            <a:off x="2103120" y="3793236"/>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0" name="Shape 37"/>
          <p:cNvSpPr/>
          <p:nvPr/>
        </p:nvSpPr>
        <p:spPr>
          <a:xfrm>
            <a:off x="2103120" y="4030980"/>
            <a:ext cx="685800" cy="329184"/>
          </a:xfrm>
          <a:prstGeom prst="roundRect">
            <a:avLst>
              <a:gd name="adj" fmla="val 16667"/>
            </a:avLst>
          </a:prstGeom>
          <a:solidFill>
            <a:schemeClr val="tx2">
              <a:alpha val="88000"/>
            </a:schemeClr>
          </a:solidFill>
          <a:ln w="12700">
            <a:solidFill>
              <a:srgbClr val="17375E"/>
            </a:solidFill>
            <a:prstDash val="solid"/>
          </a:ln>
        </p:spPr>
      </p:sp>
      <p:sp>
        <p:nvSpPr>
          <p:cNvPr id="41" name="Text 38"/>
          <p:cNvSpPr txBox="1"/>
          <p:nvPr/>
        </p:nvSpPr>
        <p:spPr>
          <a:xfrm>
            <a:off x="2139696" y="4030980"/>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Dat</a:t>
            </a:r>
            <a:endParaRPr lang="en-US" sz="1600" dirty="0"/>
          </a:p>
        </p:txBody>
      </p:sp>
      <p:sp>
        <p:nvSpPr>
          <p:cNvPr id="42" name="Text 39"/>
          <p:cNvSpPr txBox="1"/>
          <p:nvPr/>
        </p:nvSpPr>
        <p:spPr>
          <a:xfrm>
            <a:off x="2898648" y="3793236"/>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3" name="Shape 40"/>
          <p:cNvSpPr/>
          <p:nvPr/>
        </p:nvSpPr>
        <p:spPr>
          <a:xfrm>
            <a:off x="2898648" y="4030980"/>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44" name="Text 41"/>
          <p:cNvSpPr txBox="1"/>
          <p:nvPr/>
        </p:nvSpPr>
        <p:spPr>
          <a:xfrm>
            <a:off x="2935224" y="4030980"/>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zou</a:t>
            </a:r>
            <a:endParaRPr lang="en-US" sz="1600" dirty="0"/>
          </a:p>
        </p:txBody>
      </p:sp>
      <p:sp>
        <p:nvSpPr>
          <p:cNvPr id="45" name="Text 42"/>
          <p:cNvSpPr txBox="1"/>
          <p:nvPr/>
        </p:nvSpPr>
        <p:spPr>
          <a:xfrm>
            <a:off x="3694176" y="3793236"/>
            <a:ext cx="3182112"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46" name="Shape 43"/>
          <p:cNvSpPr/>
          <p:nvPr/>
        </p:nvSpPr>
        <p:spPr>
          <a:xfrm>
            <a:off x="3694176" y="4030980"/>
            <a:ext cx="3182112" cy="329184"/>
          </a:xfrm>
          <a:prstGeom prst="roundRect">
            <a:avLst>
              <a:gd name="adj" fmla="val 16667"/>
            </a:avLst>
          </a:prstGeom>
          <a:solidFill>
            <a:schemeClr val="accent5">
              <a:alpha val="25000"/>
            </a:schemeClr>
          </a:solidFill>
          <a:ln w="12700">
            <a:solidFill>
              <a:srgbClr val="4A5A70"/>
            </a:solidFill>
            <a:prstDash val="solid"/>
          </a:ln>
        </p:spPr>
      </p:sp>
      <p:sp>
        <p:nvSpPr>
          <p:cNvPr id="47" name="Text 44"/>
          <p:cNvSpPr txBox="1"/>
          <p:nvPr/>
        </p:nvSpPr>
        <p:spPr>
          <a:xfrm>
            <a:off x="3730752" y="4030980"/>
            <a:ext cx="3108960" cy="329184"/>
          </a:xfrm>
          <a:prstGeom prst="rect">
            <a:avLst/>
          </a:prstGeom>
          <a:noFill/>
          <a:ln/>
        </p:spPr>
        <p:txBody>
          <a:bodyPr wrap="square" lIns="0" tIns="0" rIns="0" bIns="0" rtlCol="0" anchor="ctr"/>
          <a:lstStyle/>
          <a:p>
            <a:pPr algn="ctr" indent="0" marL="0">
              <a:buNone/>
            </a:pPr>
            <a:r>
              <a:rPr lang="en-US" sz="1600" b="1" dirty="0">
                <a:solidFill>
                  <a:schemeClr val="tx1"/>
                </a:solidFill>
              </a:rPr>
              <a:t>een probleem met de leiding</a:t>
            </a:r>
            <a:endParaRPr lang="en-US" sz="1600" dirty="0"/>
          </a:p>
        </p:txBody>
      </p:sp>
      <p:sp>
        <p:nvSpPr>
          <p:cNvPr id="48" name="Text 45"/>
          <p:cNvSpPr txBox="1"/>
          <p:nvPr/>
        </p:nvSpPr>
        <p:spPr>
          <a:xfrm>
            <a:off x="6986016" y="3793236"/>
            <a:ext cx="1491488"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49" name="Shape 46"/>
          <p:cNvSpPr/>
          <p:nvPr/>
        </p:nvSpPr>
        <p:spPr>
          <a:xfrm>
            <a:off x="6986016" y="4030980"/>
            <a:ext cx="1491488" cy="329184"/>
          </a:xfrm>
          <a:prstGeom prst="roundRect">
            <a:avLst>
              <a:gd name="adj" fmla="val 16667"/>
            </a:avLst>
          </a:prstGeom>
          <a:solidFill>
            <a:schemeClr val="accent1">
              <a:alpha val="88000"/>
            </a:schemeClr>
          </a:solidFill>
          <a:ln w="12700">
            <a:solidFill>
              <a:srgbClr val="D9700F"/>
            </a:solidFill>
            <a:prstDash val="solid"/>
          </a:ln>
        </p:spPr>
      </p:sp>
      <p:sp>
        <p:nvSpPr>
          <p:cNvPr id="50" name="Text 47"/>
          <p:cNvSpPr txBox="1"/>
          <p:nvPr/>
        </p:nvSpPr>
        <p:spPr>
          <a:xfrm>
            <a:off x="7022592" y="4030980"/>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kunnen zijn</a:t>
            </a:r>
            <a:endParaRPr lang="en-US" sz="1600" dirty="0"/>
          </a:p>
        </p:txBody>
      </p:sp>
      <p:sp>
        <p:nvSpPr>
          <p:cNvPr id="51" name="Text 48"/>
          <p:cNvSpPr txBox="1"/>
          <p:nvPr/>
        </p:nvSpPr>
        <p:spPr>
          <a:xfrm>
            <a:off x="2103120" y="4387596"/>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Ce pourrait être un problème de canalisation.</a:t>
            </a:r>
            <a:endParaRPr lang="en-US" sz="1400" dirty="0"/>
          </a:p>
        </p:txBody>
      </p:sp>
      <p:sp>
        <p:nvSpPr>
          <p:cNvPr id="52" name="Text 49"/>
          <p:cNvSpPr txBox="1"/>
          <p:nvPr/>
        </p:nvSpPr>
        <p:spPr>
          <a:xfrm>
            <a:off x="548640" y="481660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Condition</a:t>
            </a:r>
            <a:endParaRPr lang="en-US" sz="1400" dirty="0"/>
          </a:p>
        </p:txBody>
      </p:sp>
      <p:sp>
        <p:nvSpPr>
          <p:cNvPr id="53" name="Text 50"/>
          <p:cNvSpPr txBox="1"/>
          <p:nvPr/>
        </p:nvSpPr>
        <p:spPr>
          <a:xfrm>
            <a:off x="2103120" y="4578858"/>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54" name="Shape 51"/>
          <p:cNvSpPr/>
          <p:nvPr/>
        </p:nvSpPr>
        <p:spPr>
          <a:xfrm>
            <a:off x="2103120" y="4816602"/>
            <a:ext cx="685800" cy="329184"/>
          </a:xfrm>
          <a:prstGeom prst="roundRect">
            <a:avLst>
              <a:gd name="adj" fmla="val 16667"/>
            </a:avLst>
          </a:prstGeom>
          <a:solidFill>
            <a:srgbClr val="6E4A9E">
              <a:alpha val="88000"/>
            </a:srgbClr>
          </a:solidFill>
          <a:ln w="12700">
            <a:solidFill>
              <a:srgbClr val="6E4A9E"/>
            </a:solidFill>
            <a:prstDash val="solid"/>
          </a:ln>
        </p:spPr>
      </p:sp>
      <p:sp>
        <p:nvSpPr>
          <p:cNvPr id="55" name="Text 52"/>
          <p:cNvSpPr txBox="1"/>
          <p:nvPr/>
        </p:nvSpPr>
        <p:spPr>
          <a:xfrm>
            <a:off x="2139696" y="481660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Als</a:t>
            </a:r>
            <a:endParaRPr lang="en-US" sz="1600" dirty="0"/>
          </a:p>
        </p:txBody>
      </p:sp>
      <p:sp>
        <p:nvSpPr>
          <p:cNvPr id="56" name="Text 53"/>
          <p:cNvSpPr txBox="1"/>
          <p:nvPr/>
        </p:nvSpPr>
        <p:spPr>
          <a:xfrm>
            <a:off x="2898648" y="457885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57" name="Shape 54"/>
          <p:cNvSpPr/>
          <p:nvPr/>
        </p:nvSpPr>
        <p:spPr>
          <a:xfrm>
            <a:off x="2898648" y="4816602"/>
            <a:ext cx="685800" cy="329184"/>
          </a:xfrm>
          <a:prstGeom prst="roundRect">
            <a:avLst>
              <a:gd name="adj" fmla="val 16667"/>
            </a:avLst>
          </a:prstGeom>
          <a:solidFill>
            <a:schemeClr val="tx2">
              <a:alpha val="88000"/>
            </a:schemeClr>
          </a:solidFill>
          <a:ln w="12700">
            <a:solidFill>
              <a:srgbClr val="17375E"/>
            </a:solidFill>
            <a:prstDash val="solid"/>
          </a:ln>
        </p:spPr>
      </p:sp>
      <p:sp>
        <p:nvSpPr>
          <p:cNvPr id="58" name="Text 55"/>
          <p:cNvSpPr txBox="1"/>
          <p:nvPr/>
        </p:nvSpPr>
        <p:spPr>
          <a:xfrm>
            <a:off x="2935224" y="481660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59" name="Text 56"/>
          <p:cNvSpPr txBox="1"/>
          <p:nvPr/>
        </p:nvSpPr>
        <p:spPr>
          <a:xfrm>
            <a:off x="3694176" y="4578858"/>
            <a:ext cx="685800" cy="219456"/>
          </a:xfrm>
          <a:prstGeom prst="rect">
            <a:avLst/>
          </a:prstGeom>
          <a:noFill/>
          <a:ln/>
        </p:spPr>
        <p:txBody>
          <a:bodyPr wrap="square" lIns="0" tIns="0" rIns="0" bIns="0" rtlCol="0" anchor="b"/>
          <a:lstStyle/>
          <a:p>
            <a:pPr algn="ctr" indent="0" marL="0">
              <a:buNone/>
            </a:pPr>
            <a:endParaRPr lang="en-US" sz="1000" dirty="0"/>
          </a:p>
        </p:txBody>
      </p:sp>
      <p:sp>
        <p:nvSpPr>
          <p:cNvPr id="60" name="Shape 57"/>
          <p:cNvSpPr/>
          <p:nvPr/>
        </p:nvSpPr>
        <p:spPr>
          <a:xfrm>
            <a:off x="3694176" y="4816602"/>
            <a:ext cx="685800" cy="329184"/>
          </a:xfrm>
          <a:prstGeom prst="roundRect">
            <a:avLst>
              <a:gd name="adj" fmla="val 16667"/>
            </a:avLst>
          </a:prstGeom>
          <a:solidFill>
            <a:schemeClr val="accent5">
              <a:alpha val="25000"/>
            </a:schemeClr>
          </a:solidFill>
          <a:ln w="12700">
            <a:solidFill>
              <a:srgbClr val="4A5A70"/>
            </a:solidFill>
            <a:prstDash val="solid"/>
          </a:ln>
        </p:spPr>
      </p:sp>
      <p:sp>
        <p:nvSpPr>
          <p:cNvPr id="61" name="Text 58"/>
          <p:cNvSpPr txBox="1"/>
          <p:nvPr/>
        </p:nvSpPr>
        <p:spPr>
          <a:xfrm>
            <a:off x="3730752" y="4816602"/>
            <a:ext cx="612648" cy="329184"/>
          </a:xfrm>
          <a:prstGeom prst="rect">
            <a:avLst/>
          </a:prstGeom>
          <a:noFill/>
          <a:ln/>
        </p:spPr>
        <p:txBody>
          <a:bodyPr wrap="square" lIns="0" tIns="0" rIns="0" bIns="0" rtlCol="0" anchor="ctr"/>
          <a:lstStyle/>
          <a:p>
            <a:pPr algn="ctr" indent="0" marL="0">
              <a:buNone/>
            </a:pPr>
            <a:r>
              <a:rPr lang="en-US" sz="1600" b="1" dirty="0">
                <a:solidFill>
                  <a:schemeClr val="tx1"/>
                </a:solidFill>
              </a:rPr>
              <a:t>u</a:t>
            </a:r>
            <a:endParaRPr lang="en-US" sz="1600" dirty="0"/>
          </a:p>
        </p:txBody>
      </p:sp>
      <p:sp>
        <p:nvSpPr>
          <p:cNvPr id="62" name="Text 59"/>
          <p:cNvSpPr txBox="1"/>
          <p:nvPr/>
        </p:nvSpPr>
        <p:spPr>
          <a:xfrm>
            <a:off x="4489704" y="4578858"/>
            <a:ext cx="685800"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63" name="Shape 60"/>
          <p:cNvSpPr/>
          <p:nvPr/>
        </p:nvSpPr>
        <p:spPr>
          <a:xfrm>
            <a:off x="4489704" y="4816602"/>
            <a:ext cx="685800" cy="329184"/>
          </a:xfrm>
          <a:prstGeom prst="roundRect">
            <a:avLst>
              <a:gd name="adj" fmla="val 16667"/>
            </a:avLst>
          </a:prstGeom>
          <a:solidFill>
            <a:schemeClr val="accent1">
              <a:alpha val="88000"/>
            </a:schemeClr>
          </a:solidFill>
          <a:ln w="12700">
            <a:solidFill>
              <a:srgbClr val="D9700F"/>
            </a:solidFill>
            <a:prstDash val="solid"/>
          </a:ln>
        </p:spPr>
      </p:sp>
      <p:sp>
        <p:nvSpPr>
          <p:cNvPr id="64" name="Text 61"/>
          <p:cNvSpPr txBox="1"/>
          <p:nvPr/>
        </p:nvSpPr>
        <p:spPr>
          <a:xfrm>
            <a:off x="4526280" y="481660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was</a:t>
            </a:r>
            <a:endParaRPr lang="en-US" sz="1600" dirty="0"/>
          </a:p>
        </p:txBody>
      </p:sp>
      <p:sp>
        <p:nvSpPr>
          <p:cNvPr id="65" name="Text 62"/>
          <p:cNvSpPr txBox="1"/>
          <p:nvPr/>
        </p:nvSpPr>
        <p:spPr>
          <a:xfrm>
            <a:off x="5285232" y="4578858"/>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66" name="Shape 63"/>
          <p:cNvSpPr/>
          <p:nvPr/>
        </p:nvSpPr>
        <p:spPr>
          <a:xfrm>
            <a:off x="5285232" y="4816602"/>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67" name="Text 64"/>
          <p:cNvSpPr txBox="1"/>
          <p:nvPr/>
        </p:nvSpPr>
        <p:spPr>
          <a:xfrm>
            <a:off x="5321808" y="481660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zou</a:t>
            </a:r>
            <a:endParaRPr lang="en-US" sz="1600" dirty="0"/>
          </a:p>
        </p:txBody>
      </p:sp>
      <p:sp>
        <p:nvSpPr>
          <p:cNvPr id="68" name="Text 65"/>
          <p:cNvSpPr txBox="1"/>
          <p:nvPr/>
        </p:nvSpPr>
        <p:spPr>
          <a:xfrm>
            <a:off x="6080760" y="457885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9" name="Shape 66"/>
          <p:cNvSpPr/>
          <p:nvPr/>
        </p:nvSpPr>
        <p:spPr>
          <a:xfrm>
            <a:off x="6080760" y="4816602"/>
            <a:ext cx="685800" cy="329184"/>
          </a:xfrm>
          <a:prstGeom prst="roundRect">
            <a:avLst>
              <a:gd name="adj" fmla="val 16667"/>
            </a:avLst>
          </a:prstGeom>
          <a:solidFill>
            <a:schemeClr val="tx2">
              <a:alpha val="88000"/>
            </a:schemeClr>
          </a:solidFill>
          <a:ln w="12700">
            <a:solidFill>
              <a:srgbClr val="17375E"/>
            </a:solidFill>
            <a:prstDash val="solid"/>
          </a:ln>
        </p:spPr>
      </p:sp>
      <p:sp>
        <p:nvSpPr>
          <p:cNvPr id="70" name="Text 67"/>
          <p:cNvSpPr txBox="1"/>
          <p:nvPr/>
        </p:nvSpPr>
        <p:spPr>
          <a:xfrm>
            <a:off x="6117336" y="481660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71" name="Text 68"/>
          <p:cNvSpPr txBox="1"/>
          <p:nvPr/>
        </p:nvSpPr>
        <p:spPr>
          <a:xfrm>
            <a:off x="6876288" y="4578858"/>
            <a:ext cx="180848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72" name="Shape 69"/>
          <p:cNvSpPr/>
          <p:nvPr/>
        </p:nvSpPr>
        <p:spPr>
          <a:xfrm>
            <a:off x="6876288" y="4816602"/>
            <a:ext cx="1808480" cy="329184"/>
          </a:xfrm>
          <a:prstGeom prst="roundRect">
            <a:avLst>
              <a:gd name="adj" fmla="val 16667"/>
            </a:avLst>
          </a:prstGeom>
          <a:solidFill>
            <a:schemeClr val="accent5">
              <a:alpha val="25000"/>
            </a:schemeClr>
          </a:solidFill>
          <a:ln w="12700">
            <a:solidFill>
              <a:srgbClr val="4A5A70"/>
            </a:solidFill>
            <a:prstDash val="solid"/>
          </a:ln>
        </p:spPr>
      </p:sp>
      <p:sp>
        <p:nvSpPr>
          <p:cNvPr id="73" name="Text 70"/>
          <p:cNvSpPr txBox="1"/>
          <p:nvPr/>
        </p:nvSpPr>
        <p:spPr>
          <a:xfrm>
            <a:off x="6912864" y="4816602"/>
            <a:ext cx="1735328" cy="329184"/>
          </a:xfrm>
          <a:prstGeom prst="rect">
            <a:avLst/>
          </a:prstGeom>
          <a:noFill/>
          <a:ln/>
        </p:spPr>
        <p:txBody>
          <a:bodyPr wrap="square" lIns="0" tIns="0" rIns="0" bIns="0" rtlCol="0" anchor="ctr"/>
          <a:lstStyle/>
          <a:p>
            <a:pPr algn="ctr" indent="0" marL="0">
              <a:buNone/>
            </a:pPr>
            <a:r>
              <a:rPr lang="en-US" sz="1600" b="1" dirty="0">
                <a:solidFill>
                  <a:schemeClr val="tx1"/>
                </a:solidFill>
              </a:rPr>
              <a:t>de verzekering</a:t>
            </a:r>
            <a:endParaRPr lang="en-US" sz="1600" dirty="0"/>
          </a:p>
        </p:txBody>
      </p:sp>
      <p:sp>
        <p:nvSpPr>
          <p:cNvPr id="74" name="Text 71"/>
          <p:cNvSpPr txBox="1"/>
          <p:nvPr/>
        </p:nvSpPr>
        <p:spPr>
          <a:xfrm>
            <a:off x="8794496" y="4578858"/>
            <a:ext cx="1491488"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75" name="Shape 72"/>
          <p:cNvSpPr/>
          <p:nvPr/>
        </p:nvSpPr>
        <p:spPr>
          <a:xfrm>
            <a:off x="8794496" y="4816602"/>
            <a:ext cx="1491488" cy="329184"/>
          </a:xfrm>
          <a:prstGeom prst="roundRect">
            <a:avLst>
              <a:gd name="adj" fmla="val 16667"/>
            </a:avLst>
          </a:prstGeom>
          <a:solidFill>
            <a:schemeClr val="accent1">
              <a:alpha val="88000"/>
            </a:schemeClr>
          </a:solidFill>
          <a:ln w="12700">
            <a:solidFill>
              <a:srgbClr val="D9700F"/>
            </a:solidFill>
            <a:prstDash val="solid"/>
          </a:ln>
        </p:spPr>
      </p:sp>
      <p:sp>
        <p:nvSpPr>
          <p:cNvPr id="76" name="Text 73"/>
          <p:cNvSpPr txBox="1"/>
          <p:nvPr/>
        </p:nvSpPr>
        <p:spPr>
          <a:xfrm>
            <a:off x="8831072" y="4816602"/>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contacteren</a:t>
            </a:r>
            <a:endParaRPr lang="en-US" sz="1600" dirty="0"/>
          </a:p>
        </p:txBody>
      </p:sp>
      <p:sp>
        <p:nvSpPr>
          <p:cNvPr id="77" name="Text 74"/>
          <p:cNvSpPr txBox="1"/>
          <p:nvPr/>
        </p:nvSpPr>
        <p:spPr>
          <a:xfrm>
            <a:off x="2103120" y="517321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Si j’étais vous, je contacterais l’assurance.</a:t>
            </a:r>
            <a:endParaRPr lang="en-US" sz="1400" dirty="0"/>
          </a:p>
        </p:txBody>
      </p:sp>
      <p:sp>
        <p:nvSpPr>
          <p:cNvPr id="78" name="Shape 75"/>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79"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80" name="Text 76"/>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met le conditionnel dans les deux propositions (</a:t>
            </a:r>
            <a:r>
              <a:rPr lang="en-US" sz="1700" i="1" dirty="0">
                <a:solidFill>
                  <a:schemeClr val="tx1"/>
                </a:solidFill>
              </a:rPr>
              <a:t>si j’étais… je ferais</a:t>
            </a:r>
            <a:r>
              <a:rPr lang="en-US" sz="1700" dirty="0">
                <a:solidFill>
                  <a:schemeClr val="tx1"/>
                </a:solidFill>
              </a:rPr>
              <a:t>) ; en néerlandais, </a:t>
            </a:r>
            <a:r>
              <a:rPr lang="en-US" sz="1700" b="1" dirty="0">
                <a:solidFill>
                  <a:schemeClr val="tx1"/>
                </a:solidFill>
              </a:rPr>
              <a:t>après </a:t>
            </a:r>
            <a:r>
              <a:rPr lang="en-US" sz="1700" b="1" i="1" dirty="0">
                <a:solidFill>
                  <a:schemeClr val="tx1"/>
                </a:solidFill>
              </a:rPr>
              <a:t>als</a:t>
            </a:r>
            <a:r>
              <a:rPr lang="en-US" sz="1700" b="1" dirty="0">
                <a:solidFill>
                  <a:schemeClr val="tx1"/>
                </a:solidFill>
              </a:rPr>
              <a:t> : l’imperfectum</a:t>
            </a:r>
            <a:r>
              <a:rPr lang="en-US" sz="1700" dirty="0">
                <a:solidFill>
                  <a:schemeClr val="tx1"/>
                </a:solidFill>
              </a:rPr>
              <a:t> : </a:t>
            </a:r>
            <a:r>
              <a:rPr lang="en-US" sz="1700" i="1" dirty="0">
                <a:solidFill>
                  <a:schemeClr val="tx1"/>
                </a:solidFill>
              </a:rPr>
              <a:t>Als ik u </a:t>
            </a:r>
            <a:r>
              <a:rPr lang="en-US" sz="1700" b="1" i="1" dirty="0">
                <a:solidFill>
                  <a:schemeClr val="tx1"/>
                </a:solidFill>
              </a:rPr>
              <a:t>was</a:t>
            </a:r>
            <a:r>
              <a:rPr lang="en-US" sz="1700" i="1" dirty="0">
                <a:solidFill>
                  <a:schemeClr val="tx1"/>
                </a:solidFill>
              </a:rPr>
              <a:t>, zou ik…</a:t>
            </a:r>
            <a:r>
              <a:rPr lang="en-US" sz="1700" dirty="0">
                <a:solidFill>
                  <a:schemeClr val="tx1"/>
                </a:solidFill>
              </a:rPr>
              <a:t> (✗ </a:t>
            </a:r>
            <a:r>
              <a:rPr lang="en-US" sz="1700" i="1" dirty="0">
                <a:solidFill>
                  <a:schemeClr val="tx1"/>
                </a:solidFill>
              </a:rPr>
              <a:t>Als ik u zou zijn</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Woordenschat : conseil, politesse et décision</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16–18</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926080"/>
                <a:gridCol w="2606040"/>
                <a:gridCol w="2926080"/>
                <a:gridCol w="2633472"/>
              </a:tblGrid>
              <a:tr h="565099">
                <a:tc>
                  <a:txBody>
                    <a:bodyPr/>
                    <a:lstStyle/>
                    <a:p>
                      <a:pPr algn="l" indent="0" marL="0">
                        <a:buNone/>
                      </a:pPr>
                      <a:r>
                        <a:rPr lang="en-US" sz="1400" b="1" dirty="0">
                          <a:solidFill>
                            <a:schemeClr val="bg1"/>
                          </a:solidFill>
                        </a:rPr>
                        <a:t>NEDERLANDS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NEDERLANDS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95605">
                <a:tc>
                  <a:txBody>
                    <a:bodyPr/>
                    <a:lstStyle/>
                    <a:p>
                      <a:pPr algn="l" indent="0" marL="0">
                        <a:buNone/>
                      </a:pPr>
                      <a:r>
                        <a:rPr lang="en-US" sz="1600" b="1" dirty="0">
                          <a:solidFill>
                            <a:schemeClr val="accent4"/>
                          </a:solidFill>
                        </a:rPr>
                        <a:t>het</a:t>
                      </a:r>
                      <a:r>
                        <a:rPr lang="en-US" sz="1600" dirty="0">
                          <a:solidFill>
                            <a:schemeClr val="tx1"/>
                          </a:solidFill>
                        </a:rPr>
                        <a:t> advies · adviseren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conseil · conseiller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beslissing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la décision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95605">
                <a:tc>
                  <a:txBody>
                    <a:bodyPr/>
                    <a:lstStyle/>
                    <a:p>
                      <a:pPr algn="l" indent="0" marL="0">
                        <a:buNone/>
                      </a:pPr>
                      <a:r>
                        <a:rPr lang="en-US" sz="1600" dirty="0">
                          <a:solidFill>
                            <a:schemeClr val="tx1"/>
                          </a:solidFill>
                        </a:rPr>
                        <a:t>aanraden (raadde aan)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recommander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afronden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finaliser, boucler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95605">
                <a:tc>
                  <a:txBody>
                    <a:bodyPr/>
                    <a:lstStyle/>
                    <a:p>
                      <a:pPr algn="l" indent="0" marL="0">
                        <a:buNone/>
                      </a:pPr>
                      <a:r>
                        <a:rPr lang="en-US" sz="1600" dirty="0">
                          <a:solidFill>
                            <a:schemeClr val="tx1"/>
                          </a:solidFill>
                        </a:rPr>
                        <a:t>geruststellen (stelde gerust)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rassurer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doorsturen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transmettre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95605">
                <a:tc>
                  <a:txBody>
                    <a:bodyPr/>
                    <a:lstStyle/>
                    <a:p>
                      <a:pPr algn="l" indent="0" marL="0">
                        <a:buNone/>
                      </a:pPr>
                      <a:r>
                        <a:rPr lang="en-US" sz="1600" dirty="0">
                          <a:solidFill>
                            <a:schemeClr val="tx1"/>
                          </a:solidFill>
                        </a:rPr>
                        <a:t>ongerust zijn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être inquiet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contacteren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contacter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95605">
                <a:tc>
                  <a:txBody>
                    <a:bodyPr/>
                    <a:lstStyle/>
                    <a:p>
                      <a:pPr algn="l" indent="0" marL="0">
                        <a:buNone/>
                      </a:pPr>
                      <a:r>
                        <a:rPr lang="en-US" sz="1600" dirty="0">
                          <a:solidFill>
                            <a:schemeClr val="tx1"/>
                          </a:solidFill>
                        </a:rPr>
                        <a:t>verwittigen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prévenir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verzekering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l’assurance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95605">
                <a:tc>
                  <a:txBody>
                    <a:bodyPr/>
                    <a:lstStyle/>
                    <a:p>
                      <a:pPr algn="l" indent="0" marL="0">
                        <a:buNone/>
                      </a:pPr>
                      <a:r>
                        <a:rPr lang="en-US" sz="1600" dirty="0">
                          <a:solidFill>
                            <a:schemeClr val="tx1"/>
                          </a:solidFill>
                        </a:rPr>
                        <a:t>dekken (dekte)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couvrir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accent2"/>
                          </a:solidFill>
                        </a:rPr>
                        <a:t>de</a:t>
                      </a:r>
                      <a:r>
                        <a:rPr lang="en-US" sz="1600" dirty="0">
                          <a:solidFill>
                            <a:schemeClr val="tx1"/>
                          </a:solidFill>
                        </a:rPr>
                        <a:t> leiding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canalisation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95605">
                <a:tc>
                  <a:txBody>
                    <a:bodyPr/>
                    <a:lstStyle/>
                    <a:p>
                      <a:pPr algn="l" indent="0" marL="0">
                        <a:buNone/>
                      </a:pPr>
                      <a:r>
                        <a:rPr lang="en-US" sz="1600" b="1" dirty="0">
                          <a:solidFill>
                            <a:schemeClr val="accent2"/>
                          </a:solidFill>
                        </a:rPr>
                        <a:t>de</a:t>
                      </a:r>
                      <a:r>
                        <a:rPr lang="en-US" sz="1600" dirty="0">
                          <a:solidFill>
                            <a:schemeClr val="tx1"/>
                          </a:solidFill>
                        </a:rPr>
                        <a:t> expert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l’expert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klantendienst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service clientèle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44322">
                <a:tc>
                  <a:txBody>
                    <a:bodyPr/>
                    <a:lstStyle/>
                    <a:p>
                      <a:pPr algn="l" indent="0" marL="0">
                        <a:buNone/>
                      </a:pPr>
                      <a:r>
                        <a:rPr lang="en-US" sz="1600" dirty="0">
                          <a:solidFill>
                            <a:schemeClr val="tx1"/>
                          </a:solidFill>
                        </a:rPr>
                        <a:t>ten eerste · bovendien · kortom</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d’abord · de plus · bref</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accent2"/>
                          </a:solidFill>
                        </a:rPr>
                        <a:t>de</a:t>
                      </a:r>
                      <a:r>
                        <a:rPr lang="en-US" sz="1600" dirty="0">
                          <a:solidFill>
                            <a:schemeClr val="tx1"/>
                          </a:solidFill>
                        </a:rPr>
                        <a:t> storing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panne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Maak het beleefd en professioneel</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Reformulez chaque phrase brutale en version professionnelle avec </a:t>
            </a:r>
            <a:r>
              <a:rPr lang="en-US" sz="1600" b="1" i="1" dirty="0">
                <a:solidFill>
                  <a:schemeClr val="accent5"/>
                </a:solidFill>
              </a:rPr>
              <a:t>zou</a:t>
            </a:r>
            <a:r>
              <a:rPr lang="en-US" sz="1600" i="1" dirty="0">
                <a:solidFill>
                  <a:schemeClr val="accent5"/>
                </a:solidFill>
              </a:rPr>
              <a:t>. Plusieurs solutions correctes. Seul · 8 min.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400"/>
              </a:spcAft>
              <a:buNone/>
            </a:pPr>
            <a:r>
              <a:rPr lang="en-US" sz="2500" b="1" dirty="0">
                <a:solidFill>
                  <a:schemeClr val="tx2"/>
                </a:solidFill>
              </a:rPr>
              <a:t>1.  </a:t>
            </a:r>
            <a:r>
              <a:rPr lang="en-US" sz="2500" dirty="0">
                <a:solidFill>
                  <a:schemeClr val="tx1"/>
                </a:solidFill>
              </a:rPr>
              <a:t>« Stuur me het contract! » (demande polie)</a:t>
            </a:r>
            <a:endParaRPr lang="en-US" sz="2500" dirty="0"/>
          </a:p>
          <a:p>
            <a:pPr indent="0" marL="0">
              <a:spcAft>
                <a:spcPts val="1400"/>
              </a:spcAft>
              <a:buNone/>
            </a:pPr>
            <a:r>
              <a:rPr lang="en-US" sz="2500" b="1" dirty="0">
                <a:solidFill>
                  <a:schemeClr val="tx2"/>
                </a:solidFill>
              </a:rPr>
              <a:t>2.  </a:t>
            </a:r>
            <a:r>
              <a:rPr lang="en-US" sz="2500" dirty="0">
                <a:solidFill>
                  <a:schemeClr val="tx1"/>
                </a:solidFill>
              </a:rPr>
              <a:t>« Bel de verzekering. » (Als ik u was…)</a:t>
            </a:r>
            <a:endParaRPr lang="en-US" sz="2500" dirty="0"/>
          </a:p>
          <a:p>
            <a:pPr indent="0" marL="0">
              <a:spcAft>
                <a:spcPts val="1400"/>
              </a:spcAft>
              <a:buNone/>
            </a:pPr>
            <a:r>
              <a:rPr lang="en-US" sz="2500" b="1" dirty="0">
                <a:solidFill>
                  <a:schemeClr val="tx2"/>
                </a:solidFill>
              </a:rPr>
              <a:t>3.  </a:t>
            </a:r>
            <a:r>
              <a:rPr lang="en-US" sz="2500" dirty="0">
                <a:solidFill>
                  <a:schemeClr val="tx1"/>
                </a:solidFill>
              </a:rPr>
              <a:t>« Betaal de helft van de kosten. » (à la propriétaire)</a:t>
            </a:r>
            <a:endParaRPr lang="en-US" sz="2500" dirty="0"/>
          </a:p>
          <a:p>
            <a:pPr indent="0" marL="0">
              <a:spcAft>
                <a:spcPts val="1400"/>
              </a:spcAft>
              <a:buNone/>
            </a:pPr>
            <a:r>
              <a:rPr lang="en-US" sz="2500" b="1" dirty="0">
                <a:solidFill>
                  <a:schemeClr val="tx2"/>
                </a:solidFill>
              </a:rPr>
              <a:t>4.  </a:t>
            </a:r>
            <a:r>
              <a:rPr lang="en-US" sz="2500" dirty="0">
                <a:solidFill>
                  <a:schemeClr val="tx1"/>
                </a:solidFill>
              </a:rPr>
              <a:t>« Het is de oude leiding. » (hypothèse prudente)</a:t>
            </a:r>
            <a:endParaRPr lang="en-US" sz="2500" dirty="0"/>
          </a:p>
          <a:p>
            <a:pPr indent="0" marL="0">
              <a:spcAft>
                <a:spcPts val="1400"/>
              </a:spcAft>
              <a:buNone/>
            </a:pPr>
            <a:r>
              <a:rPr lang="en-US" sz="2500" b="1" dirty="0">
                <a:solidFill>
                  <a:schemeClr val="tx2"/>
                </a:solidFill>
              </a:rPr>
              <a:t>5.  </a:t>
            </a:r>
            <a:r>
              <a:rPr lang="en-US" sz="2500" dirty="0">
                <a:solidFill>
                  <a:schemeClr val="tx1"/>
                </a:solidFill>
              </a:rPr>
              <a:t>« Wacht op het verslag van de expert. » (U zou beter…)</a:t>
            </a:r>
            <a:endParaRPr lang="en-US" sz="2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Maak het beleefd en professioneel</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Reformulez chaque phrase brutale en version professionnelle avec </a:t>
            </a:r>
            <a:r>
              <a:rPr lang="en-US" sz="1600" b="1" i="1" dirty="0">
                <a:solidFill>
                  <a:schemeClr val="accent5"/>
                </a:solidFill>
              </a:rPr>
              <a:t>zou</a:t>
            </a:r>
            <a:r>
              <a:rPr lang="en-US" sz="1600" i="1" dirty="0">
                <a:solidFill>
                  <a:schemeClr val="accent5"/>
                </a:solidFill>
              </a:rPr>
              <a:t>. Plusieurs solutions correctes. Seul · 8 min.</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a:t>
            </a:r>
            <a:r>
              <a:rPr lang="en-US" sz="1600" dirty="0">
                <a:solidFill>
                  <a:schemeClr val="tx1"/>
                </a:solidFill>
              </a:rPr>
              <a:t>« Stuur me het contract! » (demande polie)</a:t>
            </a:r>
            <a:endParaRPr lang="en-US" sz="1600" dirty="0"/>
          </a:p>
          <a:p>
            <a:pPr indent="0" marL="0">
              <a:spcAft>
                <a:spcPts val="1200"/>
              </a:spcAft>
              <a:buNone/>
            </a:pPr>
            <a:r>
              <a:rPr lang="en-US" sz="1600" b="1" dirty="0">
                <a:solidFill>
                  <a:schemeClr val="accent3"/>
                </a:solidFill>
              </a:rPr>
              <a:t>→ </a:t>
            </a:r>
            <a:r>
              <a:rPr lang="en-US" sz="1600" b="1" dirty="0">
                <a:solidFill>
                  <a:schemeClr val="accent3"/>
                </a:solidFill>
              </a:rPr>
              <a:t>Zou u</a:t>
            </a:r>
            <a:r>
              <a:rPr lang="en-US" sz="1600" dirty="0">
                <a:solidFill>
                  <a:schemeClr val="accent3"/>
                </a:solidFill>
              </a:rPr>
              <a:t> me het contract </a:t>
            </a:r>
            <a:r>
              <a:rPr lang="en-US" sz="1600" b="1" dirty="0">
                <a:solidFill>
                  <a:schemeClr val="accent3"/>
                </a:solidFill>
              </a:rPr>
              <a:t>kunnen sturen</a:t>
            </a:r>
            <a:r>
              <a:rPr lang="en-US" sz="1600" dirty="0">
                <a:solidFill>
                  <a:schemeClr val="accent3"/>
                </a:solidFill>
              </a:rPr>
              <a:t>?</a:t>
            </a:r>
            <a:endParaRPr lang="en-US" sz="1600" dirty="0"/>
          </a:p>
          <a:p>
            <a:pPr indent="0" marL="0">
              <a:spcAft>
                <a:spcPts val="400"/>
              </a:spcAft>
              <a:buNone/>
            </a:pPr>
            <a:r>
              <a:rPr lang="en-US" sz="1600" b="1" dirty="0">
                <a:solidFill>
                  <a:schemeClr val="tx2"/>
                </a:solidFill>
              </a:rPr>
              <a:t>2.  </a:t>
            </a:r>
            <a:r>
              <a:rPr lang="en-US" sz="1600" dirty="0">
                <a:solidFill>
                  <a:schemeClr val="tx1"/>
                </a:solidFill>
              </a:rPr>
              <a:t>« Bel de verzekering. » (Als ik u was…)</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Als ik u </a:t>
            </a:r>
            <a:r>
              <a:rPr lang="en-US" sz="1600" b="1" dirty="0">
                <a:solidFill>
                  <a:schemeClr val="accent3"/>
                </a:solidFill>
              </a:rPr>
              <a:t>was</a:t>
            </a:r>
            <a:r>
              <a:rPr lang="en-US" sz="1600" dirty="0">
                <a:solidFill>
                  <a:schemeClr val="accent3"/>
                </a:solidFill>
              </a:rPr>
              <a:t>, </a:t>
            </a:r>
            <a:r>
              <a:rPr lang="en-US" sz="1600" b="1" dirty="0">
                <a:solidFill>
                  <a:schemeClr val="accent3"/>
                </a:solidFill>
              </a:rPr>
              <a:t>zou</a:t>
            </a:r>
            <a:r>
              <a:rPr lang="en-US" sz="1600" dirty="0">
                <a:solidFill>
                  <a:schemeClr val="accent3"/>
                </a:solidFill>
              </a:rPr>
              <a:t> ik de verzekering </a:t>
            </a:r>
            <a:r>
              <a:rPr lang="en-US" sz="1600" b="1" dirty="0">
                <a:solidFill>
                  <a:schemeClr val="accent3"/>
                </a:solidFill>
              </a:rPr>
              <a:t>bellen</a:t>
            </a:r>
            <a:r>
              <a:rPr lang="en-US" sz="1600" dirty="0">
                <a:solidFill>
                  <a:schemeClr val="accent3"/>
                </a:solidFill>
              </a:rPr>
              <a:t>.</a:t>
            </a:r>
            <a:endParaRPr lang="en-US" sz="1600" dirty="0"/>
          </a:p>
          <a:p>
            <a:pPr indent="0" marL="0">
              <a:spcAft>
                <a:spcPts val="400"/>
              </a:spcAft>
              <a:buNone/>
            </a:pPr>
            <a:r>
              <a:rPr lang="en-US" sz="1600" b="1" dirty="0">
                <a:solidFill>
                  <a:schemeClr val="tx2"/>
                </a:solidFill>
              </a:rPr>
              <a:t>3.  </a:t>
            </a:r>
            <a:r>
              <a:rPr lang="en-US" sz="1600" dirty="0">
                <a:solidFill>
                  <a:schemeClr val="tx1"/>
                </a:solidFill>
              </a:rPr>
              <a:t>« Betaal de helft van de kosten. » (à la propriétaire)</a:t>
            </a:r>
            <a:endParaRPr lang="en-US" sz="1600" dirty="0"/>
          </a:p>
          <a:p>
            <a:pPr indent="0" marL="0">
              <a:spcAft>
                <a:spcPts val="1200"/>
              </a:spcAft>
              <a:buNone/>
            </a:pPr>
            <a:r>
              <a:rPr lang="en-US" sz="1600" b="1" dirty="0">
                <a:solidFill>
                  <a:schemeClr val="accent3"/>
                </a:solidFill>
              </a:rPr>
              <a:t>→ </a:t>
            </a:r>
            <a:r>
              <a:rPr lang="en-US" sz="1600" b="1" dirty="0">
                <a:solidFill>
                  <a:schemeClr val="accent3"/>
                </a:solidFill>
              </a:rPr>
              <a:t>Zou u</a:t>
            </a:r>
            <a:r>
              <a:rPr lang="en-US" sz="1600" dirty="0">
                <a:solidFill>
                  <a:schemeClr val="accent3"/>
                </a:solidFill>
              </a:rPr>
              <a:t> de helft van de kosten </a:t>
            </a:r>
            <a:r>
              <a:rPr lang="en-US" sz="1600" b="1" dirty="0">
                <a:solidFill>
                  <a:schemeClr val="accent3"/>
                </a:solidFill>
              </a:rPr>
              <a:t>willen betalen</a:t>
            </a:r>
            <a:r>
              <a:rPr lang="en-US" sz="1600" dirty="0">
                <a:solidFill>
                  <a:schemeClr val="accent3"/>
                </a:solidFill>
              </a:rPr>
              <a:t>?</a:t>
            </a:r>
            <a:endParaRPr lang="en-US" sz="1600" dirty="0"/>
          </a:p>
          <a:p>
            <a:pPr indent="0" marL="0">
              <a:spcAft>
                <a:spcPts val="400"/>
              </a:spcAft>
              <a:buNone/>
            </a:pPr>
            <a:r>
              <a:rPr lang="en-US" sz="1600" b="1" dirty="0">
                <a:solidFill>
                  <a:schemeClr val="tx2"/>
                </a:solidFill>
              </a:rPr>
              <a:t>4.  </a:t>
            </a:r>
            <a:r>
              <a:rPr lang="en-US" sz="1600" dirty="0">
                <a:solidFill>
                  <a:schemeClr val="tx1"/>
                </a:solidFill>
              </a:rPr>
              <a:t>« Het is de oude leiding. » (hypothèse prudente)</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Dat </a:t>
            </a:r>
            <a:r>
              <a:rPr lang="en-US" sz="1600" b="1" dirty="0">
                <a:solidFill>
                  <a:schemeClr val="accent3"/>
                </a:solidFill>
              </a:rPr>
              <a:t>zou</a:t>
            </a:r>
            <a:r>
              <a:rPr lang="en-US" sz="1600" dirty="0">
                <a:solidFill>
                  <a:schemeClr val="accent3"/>
                </a:solidFill>
              </a:rPr>
              <a:t> de oude leiding </a:t>
            </a:r>
            <a:r>
              <a:rPr lang="en-US" sz="1600" b="1" dirty="0">
                <a:solidFill>
                  <a:schemeClr val="accent3"/>
                </a:solidFill>
              </a:rPr>
              <a:t>kunnen zijn</a:t>
            </a:r>
            <a:r>
              <a:rPr lang="en-US" sz="1600" dirty="0">
                <a:solidFill>
                  <a:schemeClr val="accent3"/>
                </a:solidFill>
              </a:rPr>
              <a:t>.</a:t>
            </a:r>
            <a:endParaRPr lang="en-US" sz="1600" dirty="0"/>
          </a:p>
          <a:p>
            <a:pPr indent="0" marL="0">
              <a:spcAft>
                <a:spcPts val="400"/>
              </a:spcAft>
              <a:buNone/>
            </a:pPr>
            <a:r>
              <a:rPr lang="en-US" sz="1600" b="1" dirty="0">
                <a:solidFill>
                  <a:schemeClr val="tx2"/>
                </a:solidFill>
              </a:rPr>
              <a:t>5.  </a:t>
            </a:r>
            <a:r>
              <a:rPr lang="en-US" sz="1600" dirty="0">
                <a:solidFill>
                  <a:schemeClr val="tx1"/>
                </a:solidFill>
              </a:rPr>
              <a:t>« Wacht op het verslag van de expert. » (U zou beter…)</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U </a:t>
            </a:r>
            <a:r>
              <a:rPr lang="en-US" sz="1600" b="1" dirty="0">
                <a:solidFill>
                  <a:schemeClr val="accent3"/>
                </a:solidFill>
              </a:rPr>
              <a:t>zou beter</a:t>
            </a:r>
            <a:r>
              <a:rPr lang="en-US" sz="1600" dirty="0">
                <a:solidFill>
                  <a:schemeClr val="accent3"/>
                </a:solidFill>
              </a:rPr>
              <a:t> op het verslag van de expert </a:t>
            </a:r>
            <a:r>
              <a:rPr lang="en-US" sz="1600" b="1" dirty="0">
                <a:solidFill>
                  <a:schemeClr val="accent3"/>
                </a:solidFill>
              </a:rPr>
              <a:t>wachten</a:t>
            </a:r>
            <a:r>
              <a:rPr lang="en-US" sz="1600" dirty="0">
                <a:solidFill>
                  <a:schemeClr val="accent3"/>
                </a:solidFill>
              </a:rPr>
              <a:t>.</a:t>
            </a:r>
            <a:endParaRPr lang="en-US" sz="16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Infinitif </a:t>
            </a:r>
            <a:r>
              <a:rPr lang="en-US" sz="1800" b="1" dirty="0">
                <a:solidFill>
                  <a:schemeClr val="tx1"/>
                </a:solidFill>
              </a:rPr>
              <a:t>à la fin</a:t>
            </a:r>
            <a:endParaRPr lang="en-US" sz="1800" dirty="0"/>
          </a:p>
          <a:p>
            <a:pPr marL="177800" indent="-177800">
              <a:spcAft>
                <a:spcPts val="600"/>
              </a:spcAft>
              <a:buSzPct val="100000"/>
              <a:buChar char="•"/>
            </a:pPr>
            <a:r>
              <a:rPr lang="en-US" sz="1800" i="1" dirty="0">
                <a:solidFill>
                  <a:schemeClr val="tx1"/>
                </a:solidFill>
              </a:rPr>
              <a:t>kunnen / willen</a:t>
            </a:r>
            <a:r>
              <a:rPr lang="en-US" sz="1800" dirty="0">
                <a:solidFill>
                  <a:schemeClr val="tx1"/>
                </a:solidFill>
              </a:rPr>
              <a:t> : demande polie</a:t>
            </a:r>
            <a:endParaRPr lang="en-US" sz="1800" dirty="0"/>
          </a:p>
          <a:p>
            <a:pPr marL="177800" indent="-177800">
              <a:spcAft>
                <a:spcPts val="600"/>
              </a:spcAft>
              <a:buSzPct val="100000"/>
              <a:buChar char="•"/>
            </a:pPr>
            <a:r>
              <a:rPr lang="en-US" sz="1800" dirty="0">
                <a:solidFill>
                  <a:schemeClr val="tx1"/>
                </a:solidFill>
              </a:rPr>
              <a:t>Autres solutions : </a:t>
            </a:r>
            <a:r>
              <a:rPr lang="en-US" sz="1800" i="1" dirty="0">
                <a:solidFill>
                  <a:schemeClr val="tx1"/>
                </a:solidFill>
              </a:rPr>
              <a:t>Het zou de oude leiding kunnen zijn.</a:t>
            </a:r>
            <a:endParaRPr lang="en-US" sz="1800" dirty="0"/>
          </a:p>
          <a:p>
            <a:pPr marL="177800" indent="-177800">
              <a:spcAft>
                <a:spcPts val="600"/>
              </a:spcAft>
              <a:buSzPct val="100000"/>
              <a:buChar char="•"/>
            </a:pPr>
            <a:r>
              <a:rPr lang="en-US" sz="1800" dirty="0">
                <a:solidFill>
                  <a:schemeClr val="tx1"/>
                </a:solidFill>
              </a:rPr>
              <a:t>✗ </a:t>
            </a:r>
            <a:r>
              <a:rPr lang="en-US" sz="1800" i="1" dirty="0">
                <a:solidFill>
                  <a:schemeClr val="tx1"/>
                </a:solidFill>
              </a:rPr>
              <a:t>Als ik u zou zijn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9 Lezen: de ongeruste mail van mevrouw Dubois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0515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E-MAIL</a:t>
            </a:r>
            <a:endParaRPr lang="en-US" sz="1200" dirty="0"/>
          </a:p>
        </p:txBody>
      </p:sp>
      <p:sp>
        <p:nvSpPr>
          <p:cNvPr id="8" name="Text 5"/>
          <p:cNvSpPr txBox="1"/>
          <p:nvPr/>
        </p:nvSpPr>
        <p:spPr>
          <a:xfrm>
            <a:off x="2057400" y="1609344"/>
            <a:ext cx="580644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lek Waversesteenweg — ongerust</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dirty="0">
                <a:solidFill>
                  <a:schemeClr val="tx1"/>
                </a:solidFill>
              </a:rPr>
              <a:t>Geachte heer,</a:t>
            </a:r>
            <a:endParaRPr lang="en-US" sz="2100" dirty="0"/>
          </a:p>
          <a:p>
            <a:pPr indent="0" marL="0">
              <a:spcAft>
                <a:spcPts val="800"/>
              </a:spcAft>
              <a:buNone/>
            </a:pPr>
            <a:r>
              <a:rPr lang="en-US" sz="2100" dirty="0">
                <a:solidFill>
                  <a:schemeClr val="tx1"/>
                </a:solidFill>
              </a:rPr>
              <a:t>Bedankt voor uw telefoontje van gisteren. Eerlijk gezegd ben ik ongerust. Toen mijn man het gebouw beheerde, hadden we nooit problemen. Zou de huurder iets verkeerd hebben gedaan? Ik zou graag weten hoeveel de herstelling zou kosten, en of mijn verzekering de schade dekt. Zou u mij kunnen adviseren voordat ik een beslissing neem? Ik zou het dossier liefst deze week afronden.</a:t>
            </a:r>
            <a:endParaRPr lang="en-US" sz="2100" dirty="0"/>
          </a:p>
          <a:p>
            <a:pPr indent="0" marL="0">
              <a:spcAft>
                <a:spcPts val="800"/>
              </a:spcAft>
              <a:buNone/>
            </a:pPr>
            <a:r>
              <a:rPr lang="en-US" sz="2100" dirty="0">
                <a:solidFill>
                  <a:schemeClr val="tx1"/>
                </a:solidFill>
              </a:rPr>
              <a:t>Met vriendelijke groeten, Christine Dubois</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2">
              <a:alpha val="10000"/>
            </a:schemeClr>
          </a:solidFill>
          <a:ln w="12700">
            <a:solidFill>
              <a:schemeClr val="accent2">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À FAIRE · 8 MIN</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1</a:t>
            </a:r>
            <a:r>
              <a:rPr lang="en-US" sz="1800" dirty="0">
                <a:solidFill>
                  <a:schemeClr val="tx1"/>
                </a:solidFill>
              </a:rPr>
              <a:t> Soulignez les </a:t>
            </a:r>
            <a:r>
              <a:rPr lang="en-US" sz="1800" b="1" dirty="0">
                <a:solidFill>
                  <a:schemeClr val="tx1"/>
                </a:solidFill>
              </a:rPr>
              <a:t>5 zou(den)</a:t>
            </a:r>
            <a:r>
              <a:rPr lang="en-US" sz="1800" dirty="0">
                <a:solidFill>
                  <a:schemeClr val="tx1"/>
                </a:solidFill>
              </a:rPr>
              <a:t> : demande polie, hypothèse ou souhait ?</a:t>
            </a:r>
            <a:endParaRPr lang="en-US" sz="1800" dirty="0"/>
          </a:p>
          <a:p>
            <a:pPr marL="177800" indent="-177800">
              <a:spcAft>
                <a:spcPts val="600"/>
              </a:spcAft>
              <a:buSzPct val="100000"/>
              <a:buChar char="•"/>
            </a:pPr>
            <a:r>
              <a:rPr lang="en-US" sz="1800" b="1" dirty="0">
                <a:solidFill>
                  <a:schemeClr val="tx1"/>
                </a:solidFill>
              </a:rPr>
              <a:t>2</a:t>
            </a:r>
            <a:r>
              <a:rPr lang="en-US" sz="1800" dirty="0">
                <a:solidFill>
                  <a:schemeClr val="tx1"/>
                </a:solidFill>
              </a:rPr>
              <a:t> Quelle phrase est à l’</a:t>
            </a:r>
            <a:r>
              <a:rPr lang="en-US" sz="1800" b="1" dirty="0">
                <a:solidFill>
                  <a:schemeClr val="tx1"/>
                </a:solidFill>
              </a:rPr>
              <a:t>imperfectum</a:t>
            </a:r>
            <a:r>
              <a:rPr lang="en-US" sz="1800" dirty="0">
                <a:solidFill>
                  <a:schemeClr val="tx1"/>
                </a:solidFill>
              </a:rPr>
              <a:t> ? Pourquoi ?</a:t>
            </a:r>
            <a:endParaRPr lang="en-US" sz="1800" dirty="0"/>
          </a:p>
          <a:p>
            <a:pPr marL="177800" indent="-177800">
              <a:spcAft>
                <a:spcPts val="600"/>
              </a:spcAft>
              <a:buSzPct val="100000"/>
              <a:buChar char="•"/>
            </a:pPr>
            <a:r>
              <a:rPr lang="en-US" sz="1800" b="1" dirty="0">
                <a:solidFill>
                  <a:schemeClr val="tx1"/>
                </a:solidFill>
              </a:rPr>
              <a:t>3</a:t>
            </a:r>
            <a:r>
              <a:rPr lang="en-US" sz="1800" dirty="0">
                <a:solidFill>
                  <a:schemeClr val="tx1"/>
                </a:solidFill>
              </a:rPr>
              <a:t> Que veut-elle savoir ? (</a:t>
            </a:r>
            <a:r>
              <a:rPr lang="en-US" sz="1800" b="1" dirty="0">
                <a:solidFill>
                  <a:schemeClr val="tx1"/>
                </a:solidFill>
              </a:rPr>
              <a:t>hoeveel</a:t>
            </a:r>
            <a:r>
              <a:rPr lang="en-US" sz="1800" dirty="0">
                <a:solidFill>
                  <a:schemeClr val="tx1"/>
                </a:solidFill>
              </a:rPr>
              <a:t>, </a:t>
            </a:r>
            <a:r>
              <a:rPr lang="en-US" sz="1800" b="1" dirty="0">
                <a:solidFill>
                  <a:schemeClr val="tx1"/>
                </a:solidFill>
              </a:rPr>
              <a:t>of</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9 Lezen: de ongeruste mail — réponses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exercise"/>
          <p:cNvSpPr txBox="1"/>
          <p:nvPr/>
        </p:nvSpPr>
        <p:spPr>
          <a:xfrm>
            <a:off x="548640" y="1481328"/>
            <a:ext cx="11091672" cy="4809744"/>
          </a:xfrm>
          <a:prstGeom prst="rect">
            <a:avLst/>
          </a:prstGeom>
          <a:noFill/>
          <a:ln/>
        </p:spPr>
        <p:txBody>
          <a:bodyPr wrap="square" lIns="0" tIns="0" rIns="0" bIns="0" rtlCol="0" anchor="t"/>
          <a:lstStyle/>
          <a:p>
            <a:pPr indent="0" marL="0">
              <a:spcAft>
                <a:spcPts val="1400"/>
              </a:spcAft>
              <a:buNone/>
            </a:pPr>
            <a:r>
              <a:rPr lang="en-US" sz="2200" b="1" dirty="0">
                <a:solidFill>
                  <a:schemeClr val="tx1"/>
                </a:solidFill>
              </a:rPr>
              <a:t>1.</a:t>
            </a:r>
            <a:r>
              <a:rPr lang="en-US" sz="2200" dirty="0">
                <a:solidFill>
                  <a:schemeClr val="tx1"/>
                </a:solidFill>
              </a:rPr>
              <a:t> Les cinq </a:t>
            </a:r>
            <a:r>
              <a:rPr lang="en-US" sz="2200" i="1" dirty="0">
                <a:solidFill>
                  <a:schemeClr val="tx1"/>
                </a:solidFill>
              </a:rPr>
              <a:t>zou(den)</a:t>
            </a:r>
            <a:r>
              <a:rPr lang="en-US" sz="2200" dirty="0">
                <a:solidFill>
                  <a:schemeClr val="tx1"/>
                </a:solidFill>
              </a:rPr>
              <a:t> et leur fonction</a:t>
            </a:r>
            <a:endParaRPr lang="en-US" sz="2200" dirty="0"/>
          </a:p>
          <a:p>
            <a:pPr indent="0" marL="0">
              <a:spcAft>
                <a:spcPts val="1400"/>
              </a:spcAft>
              <a:buNone/>
            </a:pPr>
            <a:r>
              <a:rPr lang="en-US" sz="2200" b="1" dirty="0">
                <a:solidFill>
                  <a:schemeClr val="tx1"/>
                </a:solidFill>
              </a:rPr>
              <a:t>2.</a:t>
            </a:r>
            <a:r>
              <a:rPr lang="en-US" sz="2200" dirty="0">
                <a:solidFill>
                  <a:schemeClr val="tx1"/>
                </a:solidFill>
              </a:rPr>
              <a:t> Phrase à l’imperfectum ? Pourquoi ?</a:t>
            </a:r>
            <a:endParaRPr lang="en-US" sz="2200" dirty="0"/>
          </a:p>
          <a:p>
            <a:pPr indent="0" marL="0">
              <a:spcAft>
                <a:spcPts val="1400"/>
              </a:spcAft>
              <a:buNone/>
            </a:pPr>
            <a:r>
              <a:rPr lang="en-US" sz="2200" b="1" dirty="0">
                <a:solidFill>
                  <a:schemeClr val="tx1"/>
                </a:solidFill>
              </a:rPr>
              <a:t>3.</a:t>
            </a:r>
            <a:r>
              <a:rPr lang="en-US" sz="2200" dirty="0">
                <a:solidFill>
                  <a:schemeClr val="tx1"/>
                </a:solidFill>
              </a:rPr>
              <a:t> Discours indirect : que veut-elle savoir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9 Lezen: de ongeruste mail — réponses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7" name="exercise"/>
          <p:cNvSpPr txBox="1"/>
          <p:nvPr/>
        </p:nvSpPr>
        <p:spPr>
          <a:xfrm>
            <a:off x="548640" y="1481328"/>
            <a:ext cx="11091672" cy="4809744"/>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1.</a:t>
            </a:r>
            <a:r>
              <a:rPr lang="en-US" sz="2000" dirty="0">
                <a:solidFill>
                  <a:schemeClr val="tx1"/>
                </a:solidFill>
              </a:rPr>
              <a:t> Les cinq </a:t>
            </a:r>
            <a:r>
              <a:rPr lang="en-US" sz="2000" i="1" dirty="0">
                <a:solidFill>
                  <a:schemeClr val="tx1"/>
                </a:solidFill>
              </a:rPr>
              <a:t>zou(den)</a:t>
            </a:r>
            <a:r>
              <a:rPr lang="en-US" sz="2000" dirty="0">
                <a:solidFill>
                  <a:schemeClr val="tx1"/>
                </a:solidFill>
              </a:rPr>
              <a:t> et leur fonction</a:t>
            </a:r>
            <a:endParaRPr lang="en-US" sz="2000" dirty="0"/>
          </a:p>
          <a:p>
            <a:pPr indent="0" marL="0">
              <a:spcAft>
                <a:spcPts val="1200"/>
              </a:spcAft>
              <a:buNone/>
            </a:pPr>
            <a:r>
              <a:rPr lang="en-US" sz="2000" b="1" dirty="0">
                <a:solidFill>
                  <a:schemeClr val="accent3"/>
                </a:solidFill>
              </a:rPr>
              <a:t>→ </a:t>
            </a:r>
            <a:r>
              <a:rPr lang="en-US" sz="2000" i="1" dirty="0">
                <a:solidFill>
                  <a:schemeClr val="accent3"/>
                </a:solidFill>
              </a:rPr>
              <a:t>Zou de huurder iets … hebben gedaan?</a:t>
            </a:r>
            <a:r>
              <a:rPr lang="en-US" sz="2000" dirty="0">
                <a:solidFill>
                  <a:schemeClr val="accent3"/>
                </a:solidFill>
              </a:rPr>
              <a:t> (hypothèse) · </a:t>
            </a:r>
            <a:r>
              <a:rPr lang="en-US" sz="2000" i="1" dirty="0">
                <a:solidFill>
                  <a:schemeClr val="accent3"/>
                </a:solidFill>
              </a:rPr>
              <a:t>Ik zou graag weten</a:t>
            </a:r>
            <a:r>
              <a:rPr lang="en-US" sz="2000" dirty="0">
                <a:solidFill>
                  <a:schemeClr val="accent3"/>
                </a:solidFill>
              </a:rPr>
              <a:t> (souhait) · </a:t>
            </a:r>
            <a:r>
              <a:rPr lang="en-US" sz="2000" i="1" dirty="0">
                <a:solidFill>
                  <a:schemeClr val="accent3"/>
                </a:solidFill>
              </a:rPr>
              <a:t>hoeveel de herstelling zou kosten</a:t>
            </a:r>
            <a:r>
              <a:rPr lang="en-US" sz="2000" dirty="0">
                <a:solidFill>
                  <a:schemeClr val="accent3"/>
                </a:solidFill>
              </a:rPr>
              <a:t> (hypothèse) · </a:t>
            </a:r>
            <a:r>
              <a:rPr lang="en-US" sz="2000" i="1" dirty="0">
                <a:solidFill>
                  <a:schemeClr val="accent3"/>
                </a:solidFill>
              </a:rPr>
              <a:t>Zou u mij kunnen adviseren?</a:t>
            </a:r>
            <a:r>
              <a:rPr lang="en-US" sz="2000" dirty="0">
                <a:solidFill>
                  <a:schemeClr val="accent3"/>
                </a:solidFill>
              </a:rPr>
              <a:t> (demande polie) · </a:t>
            </a:r>
            <a:r>
              <a:rPr lang="en-US" sz="2000" i="1" dirty="0">
                <a:solidFill>
                  <a:schemeClr val="accent3"/>
                </a:solidFill>
              </a:rPr>
              <a:t>Ik zou … liefst afronden</a:t>
            </a:r>
            <a:r>
              <a:rPr lang="en-US" sz="2000" dirty="0">
                <a:solidFill>
                  <a:schemeClr val="accent3"/>
                </a:solidFill>
              </a:rPr>
              <a:t> (souhait)</a:t>
            </a:r>
            <a:endParaRPr lang="en-US" sz="2000" dirty="0"/>
          </a:p>
          <a:p>
            <a:pPr indent="0" marL="0">
              <a:spcAft>
                <a:spcPts val="400"/>
              </a:spcAft>
              <a:buNone/>
            </a:pPr>
            <a:r>
              <a:rPr lang="en-US" sz="2000" b="1" dirty="0">
                <a:solidFill>
                  <a:schemeClr val="tx1"/>
                </a:solidFill>
              </a:rPr>
              <a:t>2.</a:t>
            </a:r>
            <a:r>
              <a:rPr lang="en-US" sz="2000" dirty="0">
                <a:solidFill>
                  <a:schemeClr val="tx1"/>
                </a:solidFill>
              </a:rPr>
              <a:t> Phrase à l’imperfectum ? Pourquoi ?</a:t>
            </a:r>
            <a:endParaRPr lang="en-US" sz="2000" dirty="0"/>
          </a:p>
          <a:p>
            <a:pPr indent="0" marL="0">
              <a:spcAft>
                <a:spcPts val="1200"/>
              </a:spcAft>
              <a:buNone/>
            </a:pPr>
            <a:r>
              <a:rPr lang="en-US" sz="2000" b="1" dirty="0">
                <a:solidFill>
                  <a:schemeClr val="accent3"/>
                </a:solidFill>
              </a:rPr>
              <a:t>→ </a:t>
            </a:r>
            <a:r>
              <a:rPr lang="en-US" sz="2000" i="1" dirty="0">
                <a:solidFill>
                  <a:schemeClr val="accent3"/>
                </a:solidFill>
              </a:rPr>
              <a:t>Toen mijn man het gebouw beheerde, hadden we nooit problemen.</a:t>
            </a:r>
            <a:r>
              <a:rPr lang="en-US" sz="2000" dirty="0">
                <a:solidFill>
                  <a:schemeClr val="accent3"/>
                </a:solidFill>
              </a:rPr>
              <a:t> : situation </a:t>
            </a:r>
            <a:r>
              <a:rPr lang="en-US" sz="2000" b="1" dirty="0">
                <a:solidFill>
                  <a:schemeClr val="accent3"/>
                </a:solidFill>
              </a:rPr>
              <a:t>passée et habituelle</a:t>
            </a:r>
            <a:r>
              <a:rPr lang="en-US" sz="2000" dirty="0">
                <a:solidFill>
                  <a:schemeClr val="accent3"/>
                </a:solidFill>
              </a:rPr>
              <a:t> (le décor : règle 6.2)</a:t>
            </a:r>
            <a:endParaRPr lang="en-US" sz="2000" dirty="0"/>
          </a:p>
          <a:p>
            <a:pPr indent="0" marL="0">
              <a:spcAft>
                <a:spcPts val="400"/>
              </a:spcAft>
              <a:buNone/>
            </a:pPr>
            <a:r>
              <a:rPr lang="en-US" sz="2000" b="1" dirty="0">
                <a:solidFill>
                  <a:schemeClr val="tx1"/>
                </a:solidFill>
              </a:rPr>
              <a:t>3.</a:t>
            </a:r>
            <a:r>
              <a:rPr lang="en-US" sz="2000" dirty="0">
                <a:solidFill>
                  <a:schemeClr val="tx1"/>
                </a:solidFill>
              </a:rPr>
              <a:t> Discours indirect : que veut-elle savoir ?</a:t>
            </a:r>
            <a:endParaRPr lang="en-US" sz="2000" dirty="0"/>
          </a:p>
          <a:p>
            <a:pPr indent="0" marL="0">
              <a:spcAft>
                <a:spcPts val="1200"/>
              </a:spcAft>
              <a:buNone/>
            </a:pPr>
            <a:r>
              <a:rPr lang="en-US" sz="2000" b="1" dirty="0">
                <a:solidFill>
                  <a:schemeClr val="accent3"/>
                </a:solidFill>
              </a:rPr>
              <a:t>→ </a:t>
            </a:r>
            <a:r>
              <a:rPr lang="en-US" sz="2000" b="1" dirty="0">
                <a:solidFill>
                  <a:schemeClr val="accent3"/>
                </a:solidFill>
              </a:rPr>
              <a:t>hoeveel</a:t>
            </a:r>
            <a:r>
              <a:rPr lang="en-US" sz="2000" dirty="0">
                <a:solidFill>
                  <a:schemeClr val="accent3"/>
                </a:solidFill>
              </a:rPr>
              <a:t> de herstelling zou kosten · </a:t>
            </a:r>
            <a:r>
              <a:rPr lang="en-US" sz="2000" b="1" dirty="0">
                <a:solidFill>
                  <a:schemeClr val="accent3"/>
                </a:solidFill>
              </a:rPr>
              <a:t>of</a:t>
            </a:r>
            <a:r>
              <a:rPr lang="en-US" sz="2000" dirty="0">
                <a:solidFill>
                  <a:schemeClr val="accent3"/>
                </a:solidFill>
              </a:rPr>
              <a:t> haar verzekering de schade dekt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4: het adviesmail</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t>
            </a:r>
            <a:endParaRPr lang="en-US" sz="1200" dirty="0"/>
          </a:p>
        </p:txBody>
      </p:sp>
      <p:sp>
        <p:nvSpPr>
          <p:cNvPr id="6" name="Text 3"/>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Répondez à mevrouw Dubois : </a:t>
            </a:r>
            <a:r>
              <a:rPr lang="en-US" sz="1600" b="1" i="1" dirty="0">
                <a:solidFill>
                  <a:schemeClr val="accent5"/>
                </a:solidFill>
              </a:rPr>
              <a:t>10 à 12 phrases</a:t>
            </a:r>
            <a:r>
              <a:rPr lang="en-US" sz="1600" i="1" dirty="0">
                <a:solidFill>
                  <a:schemeClr val="accent5"/>
                </a:solidFill>
              </a:rPr>
              <a:t>, registre </a:t>
            </a:r>
            <a:r>
              <a:rPr lang="en-US" sz="1600" b="1" i="1" dirty="0">
                <a:solidFill>
                  <a:schemeClr val="accent5"/>
                </a:solidFill>
              </a:rPr>
              <a:t>formel</a:t>
            </a:r>
            <a:r>
              <a:rPr lang="en-US" sz="1600" i="1" dirty="0">
                <a:solidFill>
                  <a:schemeClr val="accent5"/>
                </a:solidFill>
              </a:rPr>
              <a:t>. Contenu imposé ci-dessous · seul · 15 min, puis relecture croisée.</a:t>
            </a:r>
            <a:endParaRPr lang="en-US" sz="1600" dirty="0"/>
          </a:p>
        </p:txBody>
      </p:sp>
      <p:sp>
        <p:nvSpPr>
          <p:cNvPr id="7"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600"/>
              </a:spcAft>
              <a:buNone/>
            </a:pPr>
            <a:r>
              <a:rPr lang="en-US" sz="2400" b="1" dirty="0">
                <a:solidFill>
                  <a:schemeClr val="tx2"/>
                </a:solidFill>
              </a:rPr>
              <a:t>Contenu imposé</a:t>
            </a:r>
            <a:endParaRPr lang="en-US" sz="2400" dirty="0"/>
          </a:p>
          <a:p>
            <a:pPr indent="0" marL="0">
              <a:spcAft>
                <a:spcPts val="800"/>
              </a:spcAft>
              <a:buNone/>
            </a:pPr>
            <a:r>
              <a:rPr lang="en-US" sz="2400" b="1" dirty="0">
                <a:solidFill>
                  <a:schemeClr val="tx1"/>
                </a:solidFill>
              </a:rPr>
              <a:t>Rassurez-la</a:t>
            </a:r>
            <a:r>
              <a:rPr lang="en-US" sz="2400" dirty="0">
                <a:solidFill>
                  <a:schemeClr val="tx1"/>
                </a:solidFill>
              </a:rPr>
              <a:t> et rapportez l’avis du plombier au discours indirect : </a:t>
            </a:r>
            <a:r>
              <a:rPr lang="en-US" sz="2400" i="1" dirty="0">
                <a:solidFill>
                  <a:schemeClr val="tx1"/>
                </a:solidFill>
              </a:rPr>
              <a:t>De loodgieter zei dat…</a:t>
            </a:r>
            <a:r>
              <a:rPr lang="en-US" sz="2400" dirty="0">
                <a:solidFill>
                  <a:schemeClr val="tx1"/>
                </a:solidFill>
              </a:rPr>
              <a:t> (inventez son diagnostic)</a:t>
            </a:r>
            <a:endParaRPr lang="en-US" sz="2400" dirty="0"/>
          </a:p>
          <a:p>
            <a:pPr indent="0" marL="0">
              <a:spcAft>
                <a:spcPts val="800"/>
              </a:spcAft>
              <a:buNone/>
            </a:pPr>
            <a:r>
              <a:rPr lang="en-US" sz="2400" b="1" dirty="0">
                <a:solidFill>
                  <a:schemeClr val="tx1"/>
                </a:solidFill>
              </a:rPr>
              <a:t>Deux conseils</a:t>
            </a:r>
            <a:r>
              <a:rPr lang="en-US" sz="2400" dirty="0">
                <a:solidFill>
                  <a:schemeClr val="tx1"/>
                </a:solidFill>
              </a:rPr>
              <a:t> avec zou : </a:t>
            </a:r>
            <a:r>
              <a:rPr lang="en-US" sz="2400" i="1" dirty="0">
                <a:solidFill>
                  <a:schemeClr val="tx1"/>
                </a:solidFill>
              </a:rPr>
              <a:t>Ik zou… · U zou beter…</a:t>
            </a:r>
            <a:endParaRPr lang="en-US" sz="2400" dirty="0"/>
          </a:p>
          <a:p>
            <a:pPr indent="0" marL="0">
              <a:spcAft>
                <a:spcPts val="800"/>
              </a:spcAft>
              <a:buNone/>
            </a:pPr>
            <a:r>
              <a:rPr lang="en-US" sz="2400" b="1" dirty="0">
                <a:solidFill>
                  <a:schemeClr val="tx1"/>
                </a:solidFill>
              </a:rPr>
              <a:t>Une hypothèse prudente</a:t>
            </a:r>
            <a:r>
              <a:rPr lang="en-US" sz="2400" dirty="0">
                <a:solidFill>
                  <a:schemeClr val="tx1"/>
                </a:solidFill>
              </a:rPr>
              <a:t> : </a:t>
            </a:r>
            <a:r>
              <a:rPr lang="en-US" sz="2400" i="1" dirty="0">
                <a:solidFill>
                  <a:schemeClr val="tx1"/>
                </a:solidFill>
              </a:rPr>
              <a:t>Dat zou … kunnen zijn</a:t>
            </a:r>
            <a:endParaRPr lang="en-US" sz="2400" dirty="0"/>
          </a:p>
          <a:p>
            <a:pPr indent="0" marL="0">
              <a:spcAft>
                <a:spcPts val="800"/>
              </a:spcAft>
              <a:buNone/>
            </a:pPr>
            <a:r>
              <a:rPr lang="en-US" sz="2400" b="1" dirty="0">
                <a:solidFill>
                  <a:schemeClr val="tx1"/>
                </a:solidFill>
              </a:rPr>
              <a:t>Une condition</a:t>
            </a:r>
            <a:r>
              <a:rPr lang="en-US" sz="2400" dirty="0">
                <a:solidFill>
                  <a:schemeClr val="tx1"/>
                </a:solidFill>
              </a:rPr>
              <a:t> : </a:t>
            </a:r>
            <a:r>
              <a:rPr lang="en-US" sz="2400" i="1" dirty="0">
                <a:solidFill>
                  <a:schemeClr val="tx1"/>
                </a:solidFill>
              </a:rPr>
              <a:t>als · tenzij</a:t>
            </a:r>
            <a:r>
              <a:rPr lang="en-US" sz="2400" dirty="0">
                <a:solidFill>
                  <a:schemeClr val="tx1"/>
                </a:solidFill>
              </a:rPr>
              <a:t> (palier 5)</a:t>
            </a:r>
            <a:endParaRPr lang="en-US" sz="2400" dirty="0"/>
          </a:p>
          <a:p>
            <a:pPr indent="0" marL="0">
              <a:spcAft>
                <a:spcPts val="800"/>
              </a:spcAft>
              <a:buNone/>
            </a:pPr>
            <a:r>
              <a:rPr lang="en-US" sz="2400" dirty="0">
                <a:solidFill>
                  <a:schemeClr val="tx1"/>
                </a:solidFill>
              </a:rPr>
              <a:t>Structure : </a:t>
            </a:r>
            <a:r>
              <a:rPr lang="en-US" sz="2400" i="1" dirty="0">
                <a:solidFill>
                  <a:schemeClr val="tx1"/>
                </a:solidFill>
              </a:rPr>
              <a:t>ten eerste · bovendien · kortom</a:t>
            </a:r>
            <a:endParaRPr lang="en-US" sz="2400" dirty="0"/>
          </a:p>
        </p:txBody>
      </p:sp>
      <p:sp>
        <p:nvSpPr>
          <p:cNvPr id="8"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10 à 12 phrases</a:t>
            </a:r>
            <a:endParaRPr lang="en-US" sz="1800" dirty="0"/>
          </a:p>
          <a:p>
            <a:pPr marL="177800" indent="-177800">
              <a:spcAft>
                <a:spcPts val="600"/>
              </a:spcAft>
              <a:buSzPct val="100000"/>
              <a:buChar char="•"/>
            </a:pPr>
            <a:r>
              <a:rPr lang="en-US" sz="1800" dirty="0">
                <a:solidFill>
                  <a:schemeClr val="tx1"/>
                </a:solidFill>
              </a:rPr>
              <a:t>Registre </a:t>
            </a:r>
            <a:r>
              <a:rPr lang="en-US" sz="1800" b="1" dirty="0">
                <a:solidFill>
                  <a:schemeClr val="tx1"/>
                </a:solidFill>
              </a:rPr>
              <a:t>formel</a:t>
            </a:r>
            <a:r>
              <a:rPr lang="en-US" sz="1800" dirty="0">
                <a:solidFill>
                  <a:schemeClr val="tx1"/>
                </a:solidFill>
              </a:rPr>
              <a:t> (</a:t>
            </a:r>
            <a:r>
              <a:rPr lang="en-US" sz="1800" i="1" dirty="0">
                <a:solidFill>
                  <a:schemeClr val="tx1"/>
                </a:solidFill>
              </a:rPr>
              <a:t>Geachte mevrouw… Met vriendelijke groeten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Chaque </a:t>
            </a:r>
            <a:r>
              <a:rPr lang="en-US" sz="1800" b="1" dirty="0">
                <a:solidFill>
                  <a:schemeClr val="tx1"/>
                </a:solidFill>
              </a:rPr>
              <a:t>zou</a:t>
            </a:r>
            <a:r>
              <a:rPr lang="en-US" sz="1800" dirty="0">
                <a:solidFill>
                  <a:schemeClr val="tx1"/>
                </a:solidFill>
              </a:rPr>
              <a:t> : infinitif à la fin ?</a:t>
            </a:r>
            <a:endParaRPr lang="en-US" sz="1800" dirty="0"/>
          </a:p>
          <a:p>
            <a:pPr marL="177800" indent="-177800">
              <a:spcAft>
                <a:spcPts val="600"/>
              </a:spcAft>
              <a:buSzPct val="100000"/>
              <a:buChar char="•"/>
            </a:pPr>
            <a:r>
              <a:rPr lang="en-US" sz="1800" dirty="0">
                <a:solidFill>
                  <a:schemeClr val="tx1"/>
                </a:solidFill>
              </a:rPr>
              <a:t>Discours indirect : verbe à la fin ?</a:t>
            </a:r>
            <a:endParaRPr lang="en-US" sz="1800" dirty="0"/>
          </a:p>
          <a:p>
            <a:pPr marL="177800" indent="-177800">
              <a:spcAft>
                <a:spcPts val="600"/>
              </a:spcAft>
              <a:buSzPct val="100000"/>
              <a:buChar char="•"/>
            </a:pPr>
            <a:r>
              <a:rPr lang="en-US" sz="1800" dirty="0">
                <a:solidFill>
                  <a:schemeClr val="tx1"/>
                </a:solidFill>
              </a:rPr>
              <a:t>Relecture croisée en binôme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4: exemple de mail</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935431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Antwoord aan mevrouw Dubois</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700"/>
              </a:spcAft>
              <a:buNone/>
            </a:pPr>
            <a:r>
              <a:rPr lang="en-US" sz="2100" dirty="0">
                <a:solidFill>
                  <a:schemeClr val="tx1"/>
                </a:solidFill>
              </a:rPr>
              <a:t>Geachte mevrouw Dubois,</a:t>
            </a:r>
            <a:endParaRPr lang="en-US" sz="2100" dirty="0"/>
          </a:p>
          <a:p>
            <a:pPr indent="0" marL="0">
              <a:spcAft>
                <a:spcPts val="700"/>
              </a:spcAft>
              <a:buNone/>
            </a:pPr>
            <a:r>
              <a:rPr lang="en-US" sz="2100" dirty="0">
                <a:solidFill>
                  <a:schemeClr val="tx1"/>
                </a:solidFill>
              </a:rPr>
              <a:t>Bedankt voor uw bericht. U kunt gerust zijn: de situatie is onder controle. </a:t>
            </a:r>
            <a:r>
              <a:rPr lang="en-US" sz="2100" b="1" dirty="0">
                <a:solidFill>
                  <a:schemeClr val="tx1"/>
                </a:solidFill>
              </a:rPr>
              <a:t>Ten eerste</a:t>
            </a:r>
            <a:r>
              <a:rPr lang="en-US" sz="2100" dirty="0">
                <a:solidFill>
                  <a:schemeClr val="tx1"/>
                </a:solidFill>
              </a:rPr>
              <a:t> zei de loodgieter dat het lek niet ernstig was. Hij zei ook dat een oude leiding de oorzaak was. Dat </a:t>
            </a:r>
            <a:r>
              <a:rPr lang="en-US" sz="2100" b="1" dirty="0">
                <a:solidFill>
                  <a:schemeClr val="tx1"/>
                </a:solidFill>
              </a:rPr>
              <a:t>zou</a:t>
            </a:r>
            <a:r>
              <a:rPr lang="en-US" sz="2100" dirty="0">
                <a:solidFill>
                  <a:schemeClr val="tx1"/>
                </a:solidFill>
              </a:rPr>
              <a:t> een gewone slijtage </a:t>
            </a:r>
            <a:r>
              <a:rPr lang="en-US" sz="2100" b="1" dirty="0">
                <a:solidFill>
                  <a:schemeClr val="tx1"/>
                </a:solidFill>
              </a:rPr>
              <a:t>kunnen zijn</a:t>
            </a:r>
            <a:r>
              <a:rPr lang="en-US" sz="2100" dirty="0">
                <a:solidFill>
                  <a:schemeClr val="tx1"/>
                </a:solidFill>
              </a:rPr>
              <a:t>, en niet de schuld van de huurder.</a:t>
            </a:r>
            <a:endParaRPr lang="en-US" sz="2100" dirty="0"/>
          </a:p>
          <a:p>
            <a:pPr indent="0" marL="0">
              <a:spcAft>
                <a:spcPts val="700"/>
              </a:spcAft>
              <a:buNone/>
            </a:pPr>
            <a:r>
              <a:rPr lang="en-US" sz="2100" b="1" dirty="0">
                <a:solidFill>
                  <a:schemeClr val="tx1"/>
                </a:solidFill>
              </a:rPr>
              <a:t>Bovendien zou</a:t>
            </a:r>
            <a:r>
              <a:rPr lang="en-US" sz="2100" dirty="0">
                <a:solidFill>
                  <a:schemeClr val="tx1"/>
                </a:solidFill>
              </a:rPr>
              <a:t> ik u </a:t>
            </a:r>
            <a:r>
              <a:rPr lang="en-US" sz="2100" b="1" dirty="0">
                <a:solidFill>
                  <a:schemeClr val="tx1"/>
                </a:solidFill>
              </a:rPr>
              <a:t>aanraden</a:t>
            </a:r>
            <a:r>
              <a:rPr lang="en-US" sz="2100" dirty="0">
                <a:solidFill>
                  <a:schemeClr val="tx1"/>
                </a:solidFill>
              </a:rPr>
              <a:t> om de verzekering vandaag nog te contacteren. Als u dat wenst, neem ik zelf contact op met de verzekering. Ik </a:t>
            </a:r>
            <a:r>
              <a:rPr lang="en-US" sz="2100" b="1" dirty="0">
                <a:solidFill>
                  <a:schemeClr val="tx1"/>
                </a:solidFill>
              </a:rPr>
              <a:t>zou</a:t>
            </a:r>
            <a:r>
              <a:rPr lang="en-US" sz="2100" dirty="0">
                <a:solidFill>
                  <a:schemeClr val="tx1"/>
                </a:solidFill>
              </a:rPr>
              <a:t> ook een tweede offerte </a:t>
            </a:r>
            <a:r>
              <a:rPr lang="en-US" sz="2100" b="1" dirty="0">
                <a:solidFill>
                  <a:schemeClr val="tx1"/>
                </a:solidFill>
              </a:rPr>
              <a:t>vragen</a:t>
            </a:r>
            <a:r>
              <a:rPr lang="en-US" sz="2100" dirty="0">
                <a:solidFill>
                  <a:schemeClr val="tx1"/>
                </a:solidFill>
              </a:rPr>
              <a:t>, </a:t>
            </a:r>
            <a:r>
              <a:rPr lang="en-US" sz="2100" b="1" dirty="0">
                <a:solidFill>
                  <a:schemeClr val="tx1"/>
                </a:solidFill>
              </a:rPr>
              <a:t>tenzij</a:t>
            </a:r>
            <a:r>
              <a:rPr lang="en-US" sz="2100" dirty="0">
                <a:solidFill>
                  <a:schemeClr val="tx1"/>
                </a:solidFill>
              </a:rPr>
              <a:t> de eerste prijs u redelijk lijkt. </a:t>
            </a:r>
            <a:r>
              <a:rPr lang="en-US" sz="2100" b="1" dirty="0">
                <a:solidFill>
                  <a:schemeClr val="tx1"/>
                </a:solidFill>
              </a:rPr>
              <a:t>Zou</a:t>
            </a:r>
            <a:r>
              <a:rPr lang="en-US" sz="2100" dirty="0">
                <a:solidFill>
                  <a:schemeClr val="tx1"/>
                </a:solidFill>
              </a:rPr>
              <a:t> u mij vóór vrijdag </a:t>
            </a:r>
            <a:r>
              <a:rPr lang="en-US" sz="2100" b="1" dirty="0">
                <a:solidFill>
                  <a:schemeClr val="tx1"/>
                </a:solidFill>
              </a:rPr>
              <a:t>kunnen laten weten</a:t>
            </a:r>
            <a:r>
              <a:rPr lang="en-US" sz="2100" dirty="0">
                <a:solidFill>
                  <a:schemeClr val="tx1"/>
                </a:solidFill>
              </a:rPr>
              <a:t> wat u beslist?</a:t>
            </a:r>
            <a:endParaRPr lang="en-US" sz="2100" dirty="0"/>
          </a:p>
          <a:p>
            <a:pPr indent="0" marL="0">
              <a:spcAft>
                <a:spcPts val="700"/>
              </a:spcAft>
              <a:buNone/>
            </a:pPr>
            <a:r>
              <a:rPr lang="en-US" sz="2100" b="1" dirty="0">
                <a:solidFill>
                  <a:schemeClr val="tx1"/>
                </a:solidFill>
              </a:rPr>
              <a:t>Kortom</a:t>
            </a:r>
            <a:r>
              <a:rPr lang="en-US" sz="2100" dirty="0">
                <a:solidFill>
                  <a:schemeClr val="tx1"/>
                </a:solidFill>
              </a:rPr>
              <a:t>: er is geen reden tot paniek. Wij houden u op de hoogte zodra de expert zijn verslag heeft gestuurd. Met vriendelijke groeten, Stef — Immo Van Damme</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Direct ou poli ? Avec zou</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6" name="Text 3"/>
          <p:cNvSpPr txBox="1"/>
          <p:nvPr/>
        </p:nvSpPr>
        <p:spPr>
          <a:xfrm>
            <a:off x="548640" y="1481328"/>
            <a:ext cx="11091672" cy="588264"/>
          </a:xfrm>
          <a:prstGeom prst="rect">
            <a:avLst/>
          </a:prstGeom>
          <a:noFill/>
          <a:ln/>
        </p:spPr>
        <p:txBody>
          <a:bodyPr wrap="square" lIns="0" tIns="0" rIns="0" bIns="0" rtlCol="0" anchor="t"/>
          <a:lstStyle/>
          <a:p>
            <a:pPr indent="0" marL="0">
              <a:buNone/>
            </a:pPr>
            <a:r>
              <a:rPr lang="en-US" sz="1600" i="1" dirty="0">
                <a:solidFill>
                  <a:schemeClr val="accent5"/>
                </a:solidFill>
              </a:rPr>
              <a:t>Dagelijks leven · Spreken. </a:t>
            </a:r>
            <a:r>
              <a:rPr lang="en-US" sz="1600" b="1" i="1" dirty="0">
                <a:solidFill>
                  <a:schemeClr val="accent5"/>
                </a:solidFill>
              </a:rPr>
              <a:t>Mercredi</a:t>
            </a:r>
            <a:r>
              <a:rPr lang="en-US" sz="1600" i="1" dirty="0">
                <a:solidFill>
                  <a:schemeClr val="accent5"/>
                </a:solidFill>
              </a:rPr>
              <a:t>, l’internet de Stef ne marche plus depuis trois jours : une demande </a:t>
            </a:r>
            <a:r>
              <a:rPr lang="en-US" sz="1600" b="1" i="1" dirty="0">
                <a:solidFill>
                  <a:schemeClr val="accent5"/>
                </a:solidFill>
              </a:rPr>
              <a:t>polie et précise</a:t>
            </a:r>
            <a:r>
              <a:rPr lang="en-US" sz="1600" i="1" dirty="0">
                <a:solidFill>
                  <a:schemeClr val="accent5"/>
                </a:solidFill>
              </a:rPr>
              <a:t> obtient plus vite une solution. Reformulez avec </a:t>
            </a:r>
            <a:r>
              <a:rPr lang="en-US" sz="1600" i="1" dirty="0">
                <a:solidFill>
                  <a:schemeClr val="accent5"/>
                </a:solidFill>
              </a:rPr>
              <a:t>zou</a:t>
            </a:r>
            <a:r>
              <a:rPr lang="en-US" sz="1600" i="1" dirty="0">
                <a:solidFill>
                  <a:schemeClr val="accent5"/>
                </a:solidFill>
              </a:rPr>
              <a:t>.</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61032"/>
          <a:ext cx="11091672" cy="914400"/>
        </p:xfrm>
        <a:graphic>
          <a:graphicData uri="http://schemas.openxmlformats.org/drawingml/2006/table">
            <a:tbl>
              <a:tblPr/>
              <a:tblGrid>
                <a:gridCol w="3840480"/>
                <a:gridCol w="7251192"/>
              </a:tblGrid>
              <a:tr h="596189">
                <a:tc>
                  <a:txBody>
                    <a:bodyPr/>
                    <a:lstStyle/>
                    <a:p>
                      <a:pPr algn="l" indent="0" marL="0">
                        <a:buNone/>
                      </a:pPr>
                      <a:r>
                        <a:rPr lang="en-US" sz="1600" b="1" dirty="0">
                          <a:solidFill>
                            <a:schemeClr val="bg1"/>
                          </a:solidFill>
                        </a:rPr>
                        <a:t>DIRECT (À ÉVITER)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POLI ET EFFICACE (AVEC ZOU)</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81228">
                <a:tc>
                  <a:txBody>
                    <a:bodyPr/>
                    <a:lstStyle/>
                    <a:p>
                      <a:pPr algn="l" indent="0" marL="0">
                        <a:buNone/>
                      </a:pPr>
                      <a:r>
                        <a:rPr lang="en-US" sz="1800" dirty="0">
                          <a:solidFill>
                            <a:schemeClr val="tx1"/>
                          </a:solidFill>
                        </a:rPr>
                        <a:t>Ik wil een technicus!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Geef mijn geld terug!</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81228">
                <a:tc>
                  <a:txBody>
                    <a:bodyPr/>
                    <a:lstStyle/>
                    <a:p>
                      <a:pPr algn="l" indent="0" marL="0">
                        <a:buNone/>
                      </a:pPr>
                      <a:r>
                        <a:rPr lang="en-US" sz="1800" dirty="0">
                          <a:solidFill>
                            <a:schemeClr val="tx1"/>
                          </a:solidFill>
                        </a:rPr>
                        <a:t>Dat is uw fout.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Doe iets!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8" name="Text 4"/>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Plusieurs formulations correctes : vérifiez surtout </a:t>
            </a:r>
            <a:r>
              <a:rPr lang="en-US" sz="1500" b="1" i="1" dirty="0">
                <a:solidFill>
                  <a:schemeClr val="accent5"/>
                </a:solidFill>
              </a:rPr>
              <a:t>zou</a:t>
            </a:r>
            <a:r>
              <a:rPr lang="en-US" sz="1500" i="1" dirty="0">
                <a:solidFill>
                  <a:schemeClr val="accent5"/>
                </a:solidFill>
              </a:rPr>
              <a:t> en 2e position (ou en tête) et l’</a:t>
            </a:r>
            <a:r>
              <a:rPr lang="en-US" sz="1500" b="1" i="1" dirty="0">
                <a:solidFill>
                  <a:schemeClr val="accent5"/>
                </a:solidFill>
              </a:rPr>
              <a:t>infinitif à la fin</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Direct ou poli ? Avec zou</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7" name="Text 4"/>
          <p:cNvSpPr txBox="1"/>
          <p:nvPr/>
        </p:nvSpPr>
        <p:spPr>
          <a:xfrm>
            <a:off x="548640" y="1481328"/>
            <a:ext cx="11091672" cy="588264"/>
          </a:xfrm>
          <a:prstGeom prst="rect">
            <a:avLst/>
          </a:prstGeom>
          <a:noFill/>
          <a:ln/>
        </p:spPr>
        <p:txBody>
          <a:bodyPr wrap="square" lIns="0" tIns="0" rIns="0" bIns="0" rtlCol="0" anchor="t"/>
          <a:lstStyle/>
          <a:p>
            <a:pPr indent="0" marL="0">
              <a:buNone/>
            </a:pPr>
            <a:r>
              <a:rPr lang="en-US" sz="1600" i="1" dirty="0">
                <a:solidFill>
                  <a:schemeClr val="accent5"/>
                </a:solidFill>
              </a:rPr>
              <a:t>Dagelijks leven · Spreken. </a:t>
            </a:r>
            <a:r>
              <a:rPr lang="en-US" sz="1600" b="1" i="1" dirty="0">
                <a:solidFill>
                  <a:schemeClr val="accent5"/>
                </a:solidFill>
              </a:rPr>
              <a:t>Mercredi</a:t>
            </a:r>
            <a:r>
              <a:rPr lang="en-US" sz="1600" i="1" dirty="0">
                <a:solidFill>
                  <a:schemeClr val="accent5"/>
                </a:solidFill>
              </a:rPr>
              <a:t>, l’internet de Stef ne marche plus depuis trois jours : une demande </a:t>
            </a:r>
            <a:r>
              <a:rPr lang="en-US" sz="1600" b="1" i="1" dirty="0">
                <a:solidFill>
                  <a:schemeClr val="accent5"/>
                </a:solidFill>
              </a:rPr>
              <a:t>polie et précise</a:t>
            </a:r>
            <a:r>
              <a:rPr lang="en-US" sz="1600" i="1" dirty="0">
                <a:solidFill>
                  <a:schemeClr val="accent5"/>
                </a:solidFill>
              </a:rPr>
              <a:t> obtient plus vite une solution. Reformulez avec </a:t>
            </a:r>
            <a:r>
              <a:rPr lang="en-US" sz="1600" i="1" dirty="0">
                <a:solidFill>
                  <a:schemeClr val="accent5"/>
                </a:solidFill>
              </a:rPr>
              <a:t>zou</a:t>
            </a:r>
            <a:r>
              <a:rPr lang="en-US" sz="1600" i="1" dirty="0">
                <a:solidFill>
                  <a:schemeClr val="accent5"/>
                </a:solidFill>
              </a:rPr>
              <a:t>.</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61032"/>
          <a:ext cx="11091672" cy="914400"/>
        </p:xfrm>
        <a:graphic>
          <a:graphicData uri="http://schemas.openxmlformats.org/drawingml/2006/table">
            <a:tbl>
              <a:tblPr/>
              <a:tblGrid>
                <a:gridCol w="3840480"/>
                <a:gridCol w="7251192"/>
              </a:tblGrid>
              <a:tr h="596189">
                <a:tc>
                  <a:txBody>
                    <a:bodyPr/>
                    <a:lstStyle/>
                    <a:p>
                      <a:pPr algn="l" indent="0" marL="0">
                        <a:buNone/>
                      </a:pPr>
                      <a:r>
                        <a:rPr lang="en-US" sz="1600" b="1" dirty="0">
                          <a:solidFill>
                            <a:schemeClr val="bg1"/>
                          </a:solidFill>
                        </a:rPr>
                        <a:t>DIRECT (À ÉVITER)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POLI ET EFFICACE (AVEC ZOU)</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81228">
                <a:tc>
                  <a:txBody>
                    <a:bodyPr/>
                    <a:lstStyle/>
                    <a:p>
                      <a:pPr algn="l" indent="0" marL="0">
                        <a:buNone/>
                      </a:pPr>
                      <a:r>
                        <a:rPr lang="en-US" sz="1800" dirty="0">
                          <a:solidFill>
                            <a:schemeClr val="tx1"/>
                          </a:solidFill>
                        </a:rPr>
                        <a:t>Ik wil een technicus!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b="1" dirty="0">
                          <a:solidFill>
                            <a:schemeClr val="accent3"/>
                          </a:solidFill>
                        </a:rPr>
                        <a:t>Zou er deze week een technicus kunnen langskomen?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Geef mijn geld terug!</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b="1" dirty="0">
                          <a:solidFill>
                            <a:schemeClr val="accent3"/>
                          </a:solidFill>
                        </a:rPr>
                        <a:t>Zou ik mijn geld kunnen terugkrijgen?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81228">
                <a:tc>
                  <a:txBody>
                    <a:bodyPr/>
                    <a:lstStyle/>
                    <a:p>
                      <a:pPr algn="l" indent="0" marL="0">
                        <a:buNone/>
                      </a:pPr>
                      <a:r>
                        <a:rPr lang="en-US" sz="1800" dirty="0">
                          <a:solidFill>
                            <a:schemeClr val="tx1"/>
                          </a:solidFill>
                        </a:rPr>
                        <a:t>Dat is uw fout.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b="1" dirty="0">
                          <a:solidFill>
                            <a:schemeClr val="accent3"/>
                          </a:solidFill>
                        </a:rPr>
                        <a:t>Zou het kunnen dat er een storing is in mijn buurt?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Doe iets!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b="1" dirty="0">
                          <a:solidFill>
                            <a:schemeClr val="accent3"/>
                          </a:solidFill>
                        </a:rPr>
                        <a:t>Wat zou u mij aanraden?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Plusieurs formulations correctes : vérifiez surtout </a:t>
            </a:r>
            <a:r>
              <a:rPr lang="en-US" sz="1500" b="1" i="1" dirty="0">
                <a:solidFill>
                  <a:schemeClr val="accent5"/>
                </a:solidFill>
              </a:rPr>
              <a:t>zou</a:t>
            </a:r>
            <a:r>
              <a:rPr lang="en-US" sz="1500" i="1" dirty="0">
                <a:solidFill>
                  <a:schemeClr val="accent5"/>
                </a:solidFill>
              </a:rPr>
              <a:t> en 2e position (ou en tête) et l’</a:t>
            </a:r>
            <a:r>
              <a:rPr lang="en-US" sz="1500" b="1" i="1" dirty="0">
                <a:solidFill>
                  <a:schemeClr val="accent5"/>
                </a:solidFill>
              </a:rPr>
              <a:t>infinitif à la fin</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Zo zeg je dat : service clientèle</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486400"/>
                <a:gridCol w="5605272"/>
              </a:tblGrid>
              <a:tr h="580644">
                <a:tc>
                  <a:txBody>
                    <a:bodyPr/>
                    <a:lstStyle/>
                    <a:p>
                      <a:pPr algn="l" indent="0" marL="0">
                        <a:buNone/>
                      </a:pPr>
                      <a:r>
                        <a:rPr lang="en-US" sz="1500" b="1" dirty="0">
                          <a:solidFill>
                            <a:schemeClr val="bg1"/>
                          </a:solidFill>
                        </a:rPr>
                        <a:t>ZO ZEG JE DAT</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FRANÇAIS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65683">
                <a:tc>
                  <a:txBody>
                    <a:bodyPr/>
                    <a:lstStyle/>
                    <a:p>
                      <a:pPr algn="l" indent="0" marL="0">
                        <a:buNone/>
                      </a:pPr>
                      <a:r>
                        <a:rPr lang="en-US" sz="1700" dirty="0">
                          <a:solidFill>
                            <a:schemeClr val="tx1"/>
                          </a:solidFill>
                        </a:rPr>
                        <a:t>Een ogenblikje, blijft u even aan de lijn.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Un instant, ne quittez pas.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dirty="0">
                          <a:solidFill>
                            <a:schemeClr val="tx1"/>
                          </a:solidFill>
                        </a:rPr>
                        <a:t>Zou u me kunnen doorverbinden met…?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Pourriez-vous me passer…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65683">
                <a:tc>
                  <a:txBody>
                    <a:bodyPr/>
                    <a:lstStyle/>
                    <a:p>
                      <a:pPr algn="l" indent="0" marL="0">
                        <a:buNone/>
                      </a:pPr>
                      <a:r>
                        <a:rPr lang="en-US" sz="1700" dirty="0">
                          <a:solidFill>
                            <a:schemeClr val="tx1"/>
                          </a:solidFill>
                        </a:rPr>
                        <a:t>Mijn internet valt steeds uit.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Ma connexion coupe sans arrêt.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dirty="0">
                          <a:solidFill>
                            <a:schemeClr val="tx1"/>
                          </a:solidFill>
                        </a:rPr>
                        <a:t>Dat werd twee keer aangerekend.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Cela a été facturé deux fois. (</a:t>
                      </a:r>
                      <a:r>
                        <a:rPr lang="en-US" sz="1700" i="1" dirty="0">
                          <a:solidFill>
                            <a:schemeClr val="tx1"/>
                          </a:solidFill>
                        </a:rPr>
                        <a:t>aanrekenen</a:t>
                      </a:r>
                      <a:r>
                        <a:rPr lang="en-US" sz="1700" dirty="0">
                          <a:solidFill>
                            <a:schemeClr val="tx1"/>
                          </a:solidFill>
                        </a:rPr>
                        <a:t> : belgicisme)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65683">
                <a:tc>
                  <a:txBody>
                    <a:bodyPr/>
                    <a:lstStyle/>
                    <a:p>
                      <a:pPr algn="l" indent="0" marL="0">
                        <a:buNone/>
                      </a:pPr>
                      <a:r>
                        <a:rPr lang="en-US" sz="1700" dirty="0">
                          <a:solidFill>
                            <a:schemeClr val="tx1"/>
                          </a:solidFill>
                        </a:rPr>
                        <a:t>een klacht indienen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déposer une plainte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dirty="0">
                          <a:solidFill>
                            <a:schemeClr val="tx1"/>
                          </a:solidFill>
                        </a:rPr>
                        <a:t>Zou het niet mogelijk zijn om…?</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Ne serait-il pas possible de…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Rollenspel: klant en medewerker</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Jeu de rôle · </a:t>
            </a:r>
            <a:r>
              <a:rPr lang="en-US" sz="1800" b="1" dirty="0">
                <a:solidFill>
                  <a:schemeClr val="tx1"/>
                </a:solidFill>
              </a:rPr>
              <a:t>2 rondes</a:t>
            </a:r>
            <a:r>
              <a:rPr lang="en-US" sz="1800" dirty="0">
                <a:solidFill>
                  <a:schemeClr val="tx1"/>
                </a:solidFill>
              </a:rPr>
              <a:t>, rôles inversés. Cartes : ① internet en panne depuis trois jours · ② colis commandé en ligne qui n’arrive jamais · ③ facture d’électricité payée deux fois… ou </a:t>
            </a:r>
            <a:r>
              <a:rPr lang="en-US" sz="1800" b="1" dirty="0">
                <a:solidFill>
                  <a:schemeClr val="tx1"/>
                </a:solidFill>
              </a:rPr>
              <a:t>votre propre problème réel</a:t>
            </a:r>
            <a:r>
              <a:rPr lang="en-US" sz="1800" dirty="0">
                <a:solidFill>
                  <a:schemeClr val="tx1"/>
                </a:solidFill>
              </a:rPr>
              <a:t> !</a:t>
            </a:r>
            <a:endParaRPr lang="en-US" sz="1800" dirty="0"/>
          </a:p>
        </p:txBody>
      </p:sp>
      <p:sp>
        <p:nvSpPr>
          <p:cNvPr id="7" name="Shape 4"/>
          <p:cNvSpPr/>
          <p:nvPr/>
        </p:nvSpPr>
        <p:spPr>
          <a:xfrm>
            <a:off x="548640" y="2221992"/>
            <a:ext cx="5225796" cy="4069080"/>
          </a:xfrm>
          <a:prstGeom prst="roundRect">
            <a:avLst>
              <a:gd name="adj" fmla="val 2247"/>
            </a:avLst>
          </a:prstGeom>
          <a:solidFill>
            <a:schemeClr val="accent2">
              <a:alpha val="8000"/>
            </a:schemeClr>
          </a:solidFill>
          <a:ln w="15875">
            <a:solidFill>
              <a:schemeClr val="accent2"/>
            </a:solidFill>
            <a:prstDash val="solid"/>
          </a:ln>
        </p:spPr>
      </p:sp>
      <p:pic>
        <p:nvPicPr>
          <p:cNvPr id="8" name="Image 0" descr="preencoded.png">    </p:cNvPr>
          <p:cNvPicPr>
            <a:picLocks noChangeAspect="1"/>
          </p:cNvPicPr>
          <p:nvPr/>
        </p:nvPicPr>
        <p:blipFill>
          <a:blip r:embed="rId1"/>
          <a:stretch>
            <a:fillRect/>
          </a:stretch>
        </p:blipFill>
        <p:spPr>
          <a:xfrm>
            <a:off x="777240" y="2423160"/>
            <a:ext cx="384048" cy="384048"/>
          </a:xfrm>
          <a:prstGeom prst="rect">
            <a:avLst/>
          </a:prstGeom>
        </p:spPr>
      </p:pic>
      <p:sp>
        <p:nvSpPr>
          <p:cNvPr id="9" name="Text 5"/>
          <p:cNvSpPr txBox="1"/>
          <p:nvPr/>
        </p:nvSpPr>
        <p:spPr>
          <a:xfrm>
            <a:off x="1280160" y="235915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A — De klant (u-vorm !)</a:t>
            </a:r>
            <a:endParaRPr lang="en-US" sz="2000" dirty="0"/>
          </a:p>
        </p:txBody>
      </p:sp>
      <p:sp>
        <p:nvSpPr>
          <p:cNvPr id="10" name="Text 6"/>
          <p:cNvSpPr txBox="1"/>
          <p:nvPr/>
        </p:nvSpPr>
        <p:spPr>
          <a:xfrm>
            <a:off x="777240" y="3044952"/>
            <a:ext cx="4768596" cy="31089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Début du problème à l’</a:t>
            </a:r>
            <a:r>
              <a:rPr lang="en-US" sz="1700" b="1" dirty="0">
                <a:solidFill>
                  <a:schemeClr val="tx1"/>
                </a:solidFill>
              </a:rPr>
              <a:t>imperfectum</a:t>
            </a:r>
            <a:r>
              <a:rPr lang="en-US" sz="1700" dirty="0">
                <a:solidFill>
                  <a:schemeClr val="tx1"/>
                </a:solidFill>
              </a:rPr>
              <a:t> : </a:t>
            </a:r>
            <a:r>
              <a:rPr lang="en-US" sz="1700" i="1" dirty="0">
                <a:solidFill>
                  <a:schemeClr val="tx1"/>
                </a:solidFill>
              </a:rPr>
              <a:t>Maandag werkte alles nog, maar…</a:t>
            </a:r>
            <a:endParaRPr lang="en-US" sz="1700" dirty="0"/>
          </a:p>
          <a:p>
            <a:pPr marL="203200" indent="-203200">
              <a:spcAft>
                <a:spcPts val="800"/>
              </a:spcAft>
              <a:buSzPct val="100000"/>
              <a:buChar char="•"/>
            </a:pPr>
            <a:r>
              <a:rPr lang="en-US" sz="1700" b="1" dirty="0">
                <a:solidFill>
                  <a:schemeClr val="tx1"/>
                </a:solidFill>
              </a:rPr>
              <a:t>3 demandes polies</a:t>
            </a:r>
            <a:r>
              <a:rPr lang="en-US" sz="1700" dirty="0">
                <a:solidFill>
                  <a:schemeClr val="tx1"/>
                </a:solidFill>
              </a:rPr>
              <a:t> avec zou</a:t>
            </a:r>
            <a:endParaRPr lang="en-US" sz="1700" dirty="0"/>
          </a:p>
          <a:p>
            <a:pPr marL="203200" indent="-203200">
              <a:spcAft>
                <a:spcPts val="800"/>
              </a:spcAft>
              <a:buSzPct val="100000"/>
              <a:buChar char="•"/>
            </a:pPr>
            <a:r>
              <a:rPr lang="en-US" sz="1700" dirty="0">
                <a:solidFill>
                  <a:schemeClr val="tx1"/>
                </a:solidFill>
              </a:rPr>
              <a:t>Rapportez le premier conseiller : </a:t>
            </a:r>
            <a:r>
              <a:rPr lang="en-US" sz="1700" i="1" dirty="0">
                <a:solidFill>
                  <a:schemeClr val="tx1"/>
                </a:solidFill>
              </a:rPr>
              <a:t>Uw collega zei dat…</a:t>
            </a:r>
            <a:endParaRPr lang="en-US" sz="1700" dirty="0"/>
          </a:p>
        </p:txBody>
      </p:sp>
      <p:sp>
        <p:nvSpPr>
          <p:cNvPr id="11" name="Shape 7"/>
          <p:cNvSpPr/>
          <p:nvPr/>
        </p:nvSpPr>
        <p:spPr>
          <a:xfrm>
            <a:off x="6414516" y="2221992"/>
            <a:ext cx="5225796" cy="4069080"/>
          </a:xfrm>
          <a:prstGeom prst="roundRect">
            <a:avLst>
              <a:gd name="adj" fmla="val 2247"/>
            </a:avLst>
          </a:prstGeom>
          <a:solidFill>
            <a:schemeClr val="accent1">
              <a:alpha val="8000"/>
            </a:schemeClr>
          </a:solidFill>
          <a:ln w="15875">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6643116" y="2423160"/>
            <a:ext cx="384048" cy="384048"/>
          </a:xfrm>
          <a:prstGeom prst="rect">
            <a:avLst/>
          </a:prstGeom>
        </p:spPr>
      </p:pic>
      <p:sp>
        <p:nvSpPr>
          <p:cNvPr id="13" name="Text 8"/>
          <p:cNvSpPr txBox="1"/>
          <p:nvPr/>
        </p:nvSpPr>
        <p:spPr>
          <a:xfrm>
            <a:off x="7146036" y="235915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B — De medewerker</a:t>
            </a:r>
            <a:endParaRPr lang="en-US" sz="2000" dirty="0"/>
          </a:p>
        </p:txBody>
      </p:sp>
      <p:sp>
        <p:nvSpPr>
          <p:cNvPr id="14" name="Text 9"/>
          <p:cNvSpPr txBox="1"/>
          <p:nvPr/>
        </p:nvSpPr>
        <p:spPr>
          <a:xfrm>
            <a:off x="6643116" y="3044952"/>
            <a:ext cx="4768596" cy="31089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Identifiez le client : </a:t>
            </a:r>
            <a:r>
              <a:rPr lang="en-US" sz="1700" i="1" dirty="0">
                <a:solidFill>
                  <a:schemeClr val="tx1"/>
                </a:solidFill>
              </a:rPr>
              <a:t>Zou u uw klantennummer kunnen geven?</a:t>
            </a:r>
            <a:endParaRPr lang="en-US" sz="1700" dirty="0"/>
          </a:p>
          <a:p>
            <a:pPr marL="203200" indent="-203200">
              <a:spcAft>
                <a:spcPts val="800"/>
              </a:spcAft>
              <a:buSzPct val="100000"/>
              <a:buChar char="•"/>
            </a:pPr>
            <a:r>
              <a:rPr lang="en-US" sz="1700" b="1" dirty="0">
                <a:solidFill>
                  <a:schemeClr val="tx1"/>
                </a:solidFill>
              </a:rPr>
              <a:t>2 questions</a:t>
            </a:r>
            <a:r>
              <a:rPr lang="en-US" sz="1700" dirty="0">
                <a:solidFill>
                  <a:schemeClr val="tx1"/>
                </a:solidFill>
              </a:rPr>
              <a:t> + un conseil : </a:t>
            </a:r>
            <a:r>
              <a:rPr lang="en-US" sz="1700" i="1" dirty="0">
                <a:solidFill>
                  <a:schemeClr val="tx1"/>
                </a:solidFill>
              </a:rPr>
              <a:t>Ik zou de modem eerst opnieuw opstarten.</a:t>
            </a:r>
            <a:endParaRPr lang="en-US" sz="1700" dirty="0"/>
          </a:p>
          <a:p>
            <a:pPr marL="203200" indent="-203200">
              <a:spcAft>
                <a:spcPts val="800"/>
              </a:spcAft>
              <a:buSzPct val="100000"/>
              <a:buChar char="•"/>
            </a:pPr>
            <a:r>
              <a:rPr lang="en-US" sz="1700" dirty="0">
                <a:solidFill>
                  <a:schemeClr val="tx1"/>
                </a:solidFill>
              </a:rPr>
              <a:t>Une solution sous </a:t>
            </a:r>
            <a:r>
              <a:rPr lang="en-US" sz="1700" b="1" dirty="0">
                <a:solidFill>
                  <a:schemeClr val="tx1"/>
                </a:solidFill>
              </a:rPr>
              <a:t>condition</a:t>
            </a:r>
            <a:r>
              <a:rPr lang="en-US" sz="1700" dirty="0">
                <a:solidFill>
                  <a:schemeClr val="tx1"/>
                </a:solidFill>
              </a:rPr>
              <a:t> (</a:t>
            </a:r>
            <a:r>
              <a:rPr lang="en-US" sz="1700" i="1" dirty="0">
                <a:solidFill>
                  <a:schemeClr val="tx1"/>
                </a:solidFill>
              </a:rPr>
              <a:t>als · tenzij</a:t>
            </a:r>
            <a:r>
              <a:rPr lang="en-US" sz="1700" dirty="0">
                <a:solidFill>
                  <a:schemeClr val="tx1"/>
                </a:solidFill>
              </a:rPr>
              <a:t>)</a:t>
            </a:r>
            <a:endParaRPr lang="en-US" sz="1700" dirty="0"/>
          </a:p>
          <a:p>
            <a:pPr marL="203200" indent="-203200">
              <a:spcAft>
                <a:spcPts val="800"/>
              </a:spcAft>
              <a:buSzPct val="100000"/>
              <a:buChar char="•"/>
            </a:pPr>
            <a:r>
              <a:rPr lang="en-US" sz="1700" dirty="0">
                <a:solidFill>
                  <a:schemeClr val="tx1"/>
                </a:solidFill>
              </a:rPr>
              <a:t>Imprévu : le client insiste (</a:t>
            </a:r>
            <a:r>
              <a:rPr lang="en-US" sz="1700" i="1" dirty="0">
                <a:solidFill>
                  <a:schemeClr val="tx1"/>
                </a:solidFill>
              </a:rPr>
              <a:t>Zou het niet mogelijk zijn om…?</a:t>
            </a:r>
            <a:r>
              <a:rPr lang="en-US" sz="1700" dirty="0">
                <a:solidFill>
                  <a:schemeClr val="tx1"/>
                </a:solidFill>
              </a:rPr>
              <a:t>) → compromis</a:t>
            </a:r>
            <a:endParaRPr lang="en-US" sz="1700" dirty="0"/>
          </a:p>
        </p:txBody>
      </p:sp>
      <p:sp>
        <p:nvSpPr>
          <p:cNvPr id="15" name="Shape 10"/>
          <p:cNvSpPr/>
          <p:nvPr/>
        </p:nvSpPr>
        <p:spPr>
          <a:xfrm>
            <a:off x="5838444" y="4000500"/>
            <a:ext cx="512064" cy="512064"/>
          </a:xfrm>
          <a:prstGeom prst="ellipse">
            <a:avLst/>
          </a:prstGeom>
          <a:solidFill>
            <a:schemeClr val="tx2"/>
          </a:solidFill>
          <a:ln/>
        </p:spPr>
      </p:sp>
      <p:sp>
        <p:nvSpPr>
          <p:cNvPr id="16" name="Text 11"/>
          <p:cNvSpPr txBox="1"/>
          <p:nvPr/>
        </p:nvSpPr>
        <p:spPr>
          <a:xfrm>
            <a:off x="5838444" y="4000500"/>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Modèle : un appel au service clientèle</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6" name="Text 3"/>
          <p:cNvSpPr txBox="1"/>
          <p:nvPr/>
        </p:nvSpPr>
        <p:spPr>
          <a:xfrm>
            <a:off x="548640" y="1508760"/>
            <a:ext cx="7315200"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2000" b="1" dirty="0">
                <a:solidFill>
                  <a:schemeClr val="accent2"/>
                </a:solidFill>
              </a:rPr>
              <a:t>Klant :  </a:t>
            </a:r>
            <a:r>
              <a:rPr lang="en-US" sz="2000" dirty="0">
                <a:solidFill>
                  <a:schemeClr val="tx1"/>
                </a:solidFill>
              </a:rPr>
              <a:t>«Goedemiddag, mijn internet valt steeds uit. Maandag werkte alles nog, maar sinds dinsdag heb ik geen verbinding meer.»</a:t>
            </a:r>
            <a:endParaRPr lang="en-US" sz="2000" dirty="0"/>
          </a:p>
          <a:p>
            <a:pPr indent="0" marL="0">
              <a:spcAft>
                <a:spcPts val="800"/>
              </a:spcAft>
              <a:buNone/>
            </a:pPr>
            <a:r>
              <a:rPr lang="en-US" sz="1200" dirty="0">
                <a:solidFill>
                  <a:schemeClr val="accent5"/>
                </a:solidFill>
              </a:rPr>
              <a:t>2  </a:t>
            </a:r>
            <a:r>
              <a:rPr lang="en-US" sz="2000" b="1" dirty="0">
                <a:solidFill>
                  <a:schemeClr val="accent1"/>
                </a:solidFill>
              </a:rPr>
              <a:t>Medewerker :  </a:t>
            </a:r>
            <a:r>
              <a:rPr lang="en-US" sz="2000" dirty="0">
                <a:solidFill>
                  <a:schemeClr val="tx1"/>
                </a:solidFill>
              </a:rPr>
              <a:t>«Zou u uw klantennummer kunnen geven?»</a:t>
            </a:r>
            <a:endParaRPr lang="en-US" sz="2000" dirty="0"/>
          </a:p>
          <a:p>
            <a:pPr indent="0" marL="0">
              <a:spcAft>
                <a:spcPts val="800"/>
              </a:spcAft>
              <a:buNone/>
            </a:pPr>
            <a:r>
              <a:rPr lang="en-US" sz="1200" dirty="0">
                <a:solidFill>
                  <a:schemeClr val="accent5"/>
                </a:solidFill>
              </a:rPr>
              <a:t>3  </a:t>
            </a:r>
            <a:r>
              <a:rPr lang="en-US" sz="2000" b="1" dirty="0">
                <a:solidFill>
                  <a:schemeClr val="accent2"/>
                </a:solidFill>
              </a:rPr>
              <a:t>Klant :  </a:t>
            </a:r>
            <a:r>
              <a:rPr lang="en-US" sz="2000" dirty="0">
                <a:solidFill>
                  <a:schemeClr val="tx1"/>
                </a:solidFill>
              </a:rPr>
              <a:t>«Natuurlijk, het is 4521. Uw collega zei dat een technicus zou langskomen, maar niemand is gekomen. Zou er deze week iemand kunnen komen?»</a:t>
            </a:r>
            <a:endParaRPr lang="en-US" sz="2000" dirty="0"/>
          </a:p>
          <a:p>
            <a:pPr indent="0" marL="0">
              <a:spcAft>
                <a:spcPts val="800"/>
              </a:spcAft>
              <a:buNone/>
            </a:pPr>
            <a:r>
              <a:rPr lang="en-US" sz="1200" dirty="0">
                <a:solidFill>
                  <a:schemeClr val="accent5"/>
                </a:solidFill>
              </a:rPr>
              <a:t>4  </a:t>
            </a:r>
            <a:r>
              <a:rPr lang="en-US" sz="2000" b="1" dirty="0">
                <a:solidFill>
                  <a:schemeClr val="accent1"/>
                </a:solidFill>
              </a:rPr>
              <a:t>Medewerker :  </a:t>
            </a:r>
            <a:r>
              <a:rPr lang="en-US" sz="2000" dirty="0">
                <a:solidFill>
                  <a:schemeClr val="tx1"/>
                </a:solidFill>
              </a:rPr>
              <a:t>«Ik zou eerst de modem opnieuw opstarten. Als dat niet helpt, plan ik een afspraak in.»</a:t>
            </a:r>
            <a:endParaRPr lang="en-US" sz="2000" dirty="0"/>
          </a:p>
          <a:p>
            <a:pPr indent="0" marL="0">
              <a:spcAft>
                <a:spcPts val="800"/>
              </a:spcAft>
              <a:buNone/>
            </a:pPr>
            <a:r>
              <a:rPr lang="en-US" sz="1200" dirty="0">
                <a:solidFill>
                  <a:schemeClr val="accent5"/>
                </a:solidFill>
              </a:rPr>
              <a:t>5  </a:t>
            </a:r>
            <a:r>
              <a:rPr lang="en-US" sz="2000" b="1" dirty="0">
                <a:solidFill>
                  <a:schemeClr val="accent2"/>
                </a:solidFill>
              </a:rPr>
              <a:t>Klant :  </a:t>
            </a:r>
            <a:r>
              <a:rPr lang="en-US" sz="2000" dirty="0">
                <a:solidFill>
                  <a:schemeClr val="tx1"/>
                </a:solidFill>
              </a:rPr>
              <a:t>«Zou het niet mogelijk zijn om vandaag nog iemand te sturen? Ik werk van thuis.»</a:t>
            </a:r>
            <a:endParaRPr lang="en-US" sz="2000" dirty="0"/>
          </a:p>
          <a:p>
            <a:pPr indent="0" marL="0">
              <a:spcAft>
                <a:spcPts val="800"/>
              </a:spcAft>
              <a:buNone/>
            </a:pPr>
            <a:r>
              <a:rPr lang="en-US" sz="1200" dirty="0">
                <a:solidFill>
                  <a:schemeClr val="accent5"/>
                </a:solidFill>
              </a:rPr>
              <a:t>6  </a:t>
            </a:r>
            <a:r>
              <a:rPr lang="en-US" sz="2000" b="1" dirty="0">
                <a:solidFill>
                  <a:schemeClr val="accent1"/>
                </a:solidFill>
              </a:rPr>
              <a:t>Medewerker :  </a:t>
            </a:r>
            <a:r>
              <a:rPr lang="en-US" sz="2000" dirty="0">
                <a:solidFill>
                  <a:schemeClr val="tx1"/>
                </a:solidFill>
              </a:rPr>
              <a:t>«Dat zou kunnen, tenzij alle technici bezet zijn. Een ogenblikje, blijft u even aan de lijn.»</a:t>
            </a:r>
            <a:endParaRPr lang="en-US" sz="2000" dirty="0"/>
          </a:p>
        </p:txBody>
      </p:sp>
      <p:sp>
        <p:nvSpPr>
          <p:cNvPr id="7" name="aside"/>
          <p:cNvSpPr/>
          <p:nvPr/>
        </p:nvSpPr>
        <p:spPr>
          <a:xfrm>
            <a:off x="8183880" y="1508760"/>
            <a:ext cx="3456432" cy="4782312"/>
          </a:xfrm>
          <a:prstGeom prst="roundRect">
            <a:avLst>
              <a:gd name="adj" fmla="val 2116"/>
            </a:avLst>
          </a:prstGeom>
          <a:solidFill>
            <a:schemeClr val="accent5">
              <a:alpha val="10000"/>
            </a:schemeClr>
          </a:solidFill>
          <a:ln w="12700">
            <a:solidFill>
              <a:schemeClr val="accent5">
                <a:alpha val="60000"/>
              </a:schemeClr>
            </a:solidFill>
            <a:prstDash val="solid"/>
          </a:ln>
        </p:spPr>
      </p:sp>
      <p:pic>
        <p:nvPicPr>
          <p:cNvPr id="8" name="Image 0" descr="preencoded.png">    </p:cNvPr>
          <p:cNvPicPr>
            <a:picLocks noChangeAspect="1"/>
          </p:cNvPicPr>
          <p:nvPr/>
        </p:nvPicPr>
        <p:blipFill>
          <a:blip r:embed="rId1"/>
          <a:stretch>
            <a:fillRect/>
          </a:stretch>
        </p:blipFill>
        <p:spPr>
          <a:xfrm>
            <a:off x="8366760" y="1691640"/>
            <a:ext cx="292608" cy="292608"/>
          </a:xfrm>
          <a:prstGeom prst="rect">
            <a:avLst/>
          </a:prstGeom>
        </p:spPr>
      </p:pic>
      <p:sp>
        <p:nvSpPr>
          <p:cNvPr id="9" name="Text 5"/>
          <p:cNvSpPr txBox="1"/>
          <p:nvPr/>
        </p:nvSpPr>
        <p:spPr>
          <a:xfrm>
            <a:off x="8750808" y="1664208"/>
            <a:ext cx="272491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À REPÉRER</a:t>
            </a:r>
            <a:endParaRPr lang="en-US" sz="1400" dirty="0"/>
          </a:p>
        </p:txBody>
      </p:sp>
      <p:sp>
        <p:nvSpPr>
          <p:cNvPr id="10" name="Text 6"/>
          <p:cNvSpPr txBox="1"/>
          <p:nvPr/>
        </p:nvSpPr>
        <p:spPr>
          <a:xfrm>
            <a:off x="8348472" y="2103120"/>
            <a:ext cx="3127248" cy="4050792"/>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Imperfectum</a:t>
            </a:r>
            <a:r>
              <a:rPr lang="en-US" sz="1800" dirty="0">
                <a:solidFill>
                  <a:schemeClr val="tx1"/>
                </a:solidFill>
              </a:rPr>
              <a:t> : werkte</a:t>
            </a:r>
            <a:endParaRPr lang="en-US" sz="1800" dirty="0"/>
          </a:p>
          <a:p>
            <a:pPr marL="177800" indent="-177800">
              <a:spcAft>
                <a:spcPts val="600"/>
              </a:spcAft>
              <a:buSzPct val="100000"/>
              <a:buChar char="•"/>
            </a:pPr>
            <a:r>
              <a:rPr lang="en-US" sz="1800" b="1" dirty="0">
                <a:solidFill>
                  <a:schemeClr val="tx1"/>
                </a:solidFill>
              </a:rPr>
              <a:t>Discours indirect</a:t>
            </a:r>
            <a:r>
              <a:rPr lang="en-US" sz="1800" dirty="0">
                <a:solidFill>
                  <a:schemeClr val="tx1"/>
                </a:solidFill>
              </a:rPr>
              <a:t> : zei dat…</a:t>
            </a:r>
            <a:endParaRPr lang="en-US" sz="1800" dirty="0"/>
          </a:p>
          <a:p>
            <a:pPr marL="177800" indent="-177800">
              <a:spcAft>
                <a:spcPts val="600"/>
              </a:spcAft>
              <a:buSzPct val="100000"/>
              <a:buChar char="•"/>
            </a:pPr>
            <a:r>
              <a:rPr lang="en-US" sz="1800" b="1" dirty="0">
                <a:solidFill>
                  <a:schemeClr val="tx1"/>
                </a:solidFill>
              </a:rPr>
              <a:t>Zou</a:t>
            </a:r>
            <a:r>
              <a:rPr lang="en-US" sz="1800" dirty="0">
                <a:solidFill>
                  <a:schemeClr val="tx1"/>
                </a:solidFill>
              </a:rPr>
              <a:t> : 6 fois (futur dans le passé inclus)</a:t>
            </a:r>
            <a:endParaRPr lang="en-US" sz="1800" dirty="0"/>
          </a:p>
          <a:p>
            <a:pPr marL="177800" indent="-177800">
              <a:spcAft>
                <a:spcPts val="600"/>
              </a:spcAft>
              <a:buSzPct val="100000"/>
              <a:buChar char="•"/>
            </a:pPr>
            <a:r>
              <a:rPr lang="en-US" sz="1800" b="1" dirty="0">
                <a:solidFill>
                  <a:schemeClr val="tx1"/>
                </a:solidFill>
              </a:rPr>
              <a:t>Condition</a:t>
            </a:r>
            <a:r>
              <a:rPr lang="en-US" sz="1800" dirty="0">
                <a:solidFill>
                  <a:schemeClr val="tx1"/>
                </a:solidFill>
              </a:rPr>
              <a:t> : als · tenzij</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Zou, zouden of was?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Complétez avec </a:t>
            </a:r>
            <a:r>
              <a:rPr lang="en-US" sz="1600" i="1" dirty="0">
                <a:solidFill>
                  <a:schemeClr val="accent5"/>
                </a:solidFill>
              </a:rPr>
              <a:t>zou · zouden · was · waren</a:t>
            </a:r>
            <a:r>
              <a:rPr lang="en-US" sz="1600" i="1" dirty="0">
                <a:solidFill>
                  <a:schemeClr val="accent5"/>
                </a:solidFill>
              </a:rPr>
              <a:t>. Seul · 4 min.</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Als ik u </a:t>
            </a:r>
            <a:r>
              <a:rPr lang="en-US" sz="2400" dirty="0">
                <a:solidFill>
                  <a:schemeClr val="accent5"/>
                </a:solidFill>
              </a:rPr>
              <a:t>……………</a:t>
            </a:r>
            <a:r>
              <a:rPr lang="en-US" sz="2400" dirty="0">
                <a:solidFill>
                  <a:schemeClr val="tx1"/>
                </a:solidFill>
              </a:rPr>
              <a:t>, </a:t>
            </a:r>
            <a:r>
              <a:rPr lang="en-US" sz="2400" dirty="0">
                <a:solidFill>
                  <a:schemeClr val="accent5"/>
                </a:solidFill>
              </a:rPr>
              <a:t>……………</a:t>
            </a:r>
            <a:r>
              <a:rPr lang="en-US" sz="2400" dirty="0">
                <a:solidFill>
                  <a:schemeClr val="tx1"/>
                </a:solidFill>
              </a:rPr>
              <a:t> ik meteen de verzekering bellen.</a:t>
            </a:r>
            <a:endParaRPr lang="en-US" sz="2400" dirty="0"/>
          </a:p>
          <a:p>
            <a:pPr indent="0" marL="0">
              <a:spcAft>
                <a:spcPts val="1000"/>
              </a:spcAft>
              <a:buNone/>
            </a:pPr>
            <a:r>
              <a:rPr lang="en-US" sz="2400" b="1" dirty="0">
                <a:solidFill>
                  <a:schemeClr val="tx2"/>
                </a:solidFill>
              </a:rPr>
              <a:t>2.  </a:t>
            </a:r>
            <a:r>
              <a:rPr lang="en-US" sz="2400" dirty="0">
                <a:solidFill>
                  <a:schemeClr val="accent5"/>
                </a:solidFill>
              </a:rPr>
              <a:t>……………</a:t>
            </a:r>
            <a:r>
              <a:rPr lang="en-US" sz="2400" dirty="0">
                <a:solidFill>
                  <a:schemeClr val="tx1"/>
                </a:solidFill>
              </a:rPr>
              <a:t> u de sleutels morgen kunnen terugbrengen?</a:t>
            </a:r>
            <a:endParaRPr lang="en-US" sz="2400" dirty="0"/>
          </a:p>
          <a:p>
            <a:pPr indent="0" marL="0">
              <a:spcAft>
                <a:spcPts val="1000"/>
              </a:spcAft>
              <a:buNone/>
            </a:pPr>
            <a:r>
              <a:rPr lang="en-US" sz="2400" b="1" dirty="0">
                <a:solidFill>
                  <a:schemeClr val="tx2"/>
                </a:solidFill>
              </a:rPr>
              <a:t>3.  </a:t>
            </a:r>
            <a:r>
              <a:rPr lang="en-US" sz="2400" dirty="0">
                <a:solidFill>
                  <a:schemeClr val="tx1"/>
                </a:solidFill>
              </a:rPr>
              <a:t>Wij </a:t>
            </a:r>
            <a:r>
              <a:rPr lang="en-US" sz="2400" dirty="0">
                <a:solidFill>
                  <a:schemeClr val="accent5"/>
                </a:solidFill>
              </a:rPr>
              <a:t>……………</a:t>
            </a:r>
            <a:r>
              <a:rPr lang="en-US" sz="2400" dirty="0">
                <a:solidFill>
                  <a:schemeClr val="tx1"/>
                </a:solidFill>
              </a:rPr>
              <a:t> graag een afspraak maken.</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huurders </a:t>
            </a:r>
            <a:r>
              <a:rPr lang="en-US" sz="2400" dirty="0">
                <a:solidFill>
                  <a:schemeClr val="accent5"/>
                </a:solidFill>
              </a:rPr>
              <a:t>……………</a:t>
            </a:r>
            <a:r>
              <a:rPr lang="en-US" sz="2400" dirty="0">
                <a:solidFill>
                  <a:schemeClr val="tx1"/>
                </a:solidFill>
              </a:rPr>
              <a:t> liever vandaag nog een technicus zien.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Als wij jou </a:t>
            </a:r>
            <a:r>
              <a:rPr lang="en-US" sz="2400" dirty="0">
                <a:solidFill>
                  <a:schemeClr val="accent5"/>
                </a:solidFill>
              </a:rPr>
              <a:t>……………</a:t>
            </a:r>
            <a:r>
              <a:rPr lang="en-US" sz="2400" dirty="0">
                <a:solidFill>
                  <a:schemeClr val="tx1"/>
                </a:solidFill>
              </a:rPr>
              <a:t>, </a:t>
            </a:r>
            <a:r>
              <a:rPr lang="en-US" sz="2400" dirty="0">
                <a:solidFill>
                  <a:schemeClr val="accent5"/>
                </a:solidFill>
              </a:rPr>
              <a:t>……………</a:t>
            </a:r>
            <a:r>
              <a:rPr lang="en-US" sz="2400" dirty="0">
                <a:solidFill>
                  <a:schemeClr val="tx1"/>
                </a:solidFill>
              </a:rPr>
              <a:t> we eerst een expert bellen.</a:t>
            </a:r>
            <a:endParaRPr lang="en-US" sz="2400" dirty="0"/>
          </a:p>
          <a:p>
            <a:pPr indent="0" marL="0">
              <a:spcAft>
                <a:spcPts val="1000"/>
              </a:spcAft>
              <a:buNone/>
            </a:pPr>
            <a:r>
              <a:rPr lang="en-US" sz="2400" b="1" dirty="0">
                <a:solidFill>
                  <a:schemeClr val="tx2"/>
                </a:solidFill>
              </a:rPr>
              <a:t>6.  </a:t>
            </a:r>
            <a:r>
              <a:rPr lang="en-US" sz="2400" dirty="0">
                <a:solidFill>
                  <a:schemeClr val="tx1"/>
                </a:solidFill>
              </a:rPr>
              <a:t>Het </a:t>
            </a:r>
            <a:r>
              <a:rPr lang="en-US" sz="2400" dirty="0">
                <a:solidFill>
                  <a:schemeClr val="accent5"/>
                </a:solidFill>
              </a:rPr>
              <a:t>……………</a:t>
            </a:r>
            <a:r>
              <a:rPr lang="en-US" sz="2400" dirty="0">
                <a:solidFill>
                  <a:schemeClr val="tx1"/>
                </a:solidFill>
              </a:rPr>
              <a:t> een probleem met de verwarming kunnen zijn.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Zou, zouden of was?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Complétez avec </a:t>
            </a:r>
            <a:r>
              <a:rPr lang="en-US" sz="1600" i="1" dirty="0">
                <a:solidFill>
                  <a:schemeClr val="accent5"/>
                </a:solidFill>
              </a:rPr>
              <a:t>zou · zouden · was · waren</a:t>
            </a:r>
            <a:r>
              <a:rPr lang="en-US" sz="1600" i="1" dirty="0">
                <a:solidFill>
                  <a:schemeClr val="accent5"/>
                </a:solidFill>
              </a:rPr>
              <a:t>. Seul · 4 min.</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Als ik u </a:t>
            </a:r>
            <a:r>
              <a:rPr lang="en-US" sz="2400" b="1" dirty="0">
                <a:solidFill>
                  <a:schemeClr val="accent3"/>
                </a:solidFill>
              </a:rPr>
              <a:t>was</a:t>
            </a:r>
            <a:r>
              <a:rPr lang="en-US" sz="2400" dirty="0">
                <a:solidFill>
                  <a:schemeClr val="tx1"/>
                </a:solidFill>
              </a:rPr>
              <a:t>, </a:t>
            </a:r>
            <a:r>
              <a:rPr lang="en-US" sz="2400" b="1" dirty="0">
                <a:solidFill>
                  <a:schemeClr val="accent3"/>
                </a:solidFill>
              </a:rPr>
              <a:t>zou</a:t>
            </a:r>
            <a:r>
              <a:rPr lang="en-US" sz="2400" dirty="0">
                <a:solidFill>
                  <a:schemeClr val="tx1"/>
                </a:solidFill>
              </a:rPr>
              <a:t> ik meteen de verzekering bellen.</a:t>
            </a:r>
            <a:endParaRPr lang="en-US" sz="2400" dirty="0"/>
          </a:p>
          <a:p>
            <a:pPr indent="0" marL="0">
              <a:spcAft>
                <a:spcPts val="1000"/>
              </a:spcAft>
              <a:buNone/>
            </a:pPr>
            <a:r>
              <a:rPr lang="en-US" sz="2400" b="1" dirty="0">
                <a:solidFill>
                  <a:schemeClr val="tx2"/>
                </a:solidFill>
              </a:rPr>
              <a:t>2.  </a:t>
            </a:r>
            <a:r>
              <a:rPr lang="en-US" sz="2400" b="1" dirty="0">
                <a:solidFill>
                  <a:schemeClr val="accent3"/>
                </a:solidFill>
              </a:rPr>
              <a:t>Zou</a:t>
            </a:r>
            <a:r>
              <a:rPr lang="en-US" sz="2400" dirty="0">
                <a:solidFill>
                  <a:schemeClr val="tx1"/>
                </a:solidFill>
              </a:rPr>
              <a:t> u de sleutels morgen kunnen terugbrengen?</a:t>
            </a:r>
            <a:endParaRPr lang="en-US" sz="2400" dirty="0"/>
          </a:p>
          <a:p>
            <a:pPr indent="0" marL="0">
              <a:spcAft>
                <a:spcPts val="1000"/>
              </a:spcAft>
              <a:buNone/>
            </a:pPr>
            <a:r>
              <a:rPr lang="en-US" sz="2400" b="1" dirty="0">
                <a:solidFill>
                  <a:schemeClr val="tx2"/>
                </a:solidFill>
              </a:rPr>
              <a:t>3.  </a:t>
            </a:r>
            <a:r>
              <a:rPr lang="en-US" sz="2400" dirty="0">
                <a:solidFill>
                  <a:schemeClr val="tx1"/>
                </a:solidFill>
              </a:rPr>
              <a:t>Wij </a:t>
            </a:r>
            <a:r>
              <a:rPr lang="en-US" sz="2400" b="1" dirty="0">
                <a:solidFill>
                  <a:schemeClr val="accent3"/>
                </a:solidFill>
              </a:rPr>
              <a:t>zouden</a:t>
            </a:r>
            <a:r>
              <a:rPr lang="en-US" sz="2400" dirty="0">
                <a:solidFill>
                  <a:schemeClr val="tx1"/>
                </a:solidFill>
              </a:rPr>
              <a:t> graag een afspraak maken.</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huurders </a:t>
            </a:r>
            <a:r>
              <a:rPr lang="en-US" sz="2400" b="1" dirty="0">
                <a:solidFill>
                  <a:schemeClr val="accent3"/>
                </a:solidFill>
              </a:rPr>
              <a:t>zouden</a:t>
            </a:r>
            <a:r>
              <a:rPr lang="en-US" sz="2400" dirty="0">
                <a:solidFill>
                  <a:schemeClr val="tx1"/>
                </a:solidFill>
              </a:rPr>
              <a:t> liever vandaag nog een technicus zien.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Als wij jou </a:t>
            </a:r>
            <a:r>
              <a:rPr lang="en-US" sz="2400" b="1" dirty="0">
                <a:solidFill>
                  <a:schemeClr val="accent3"/>
                </a:solidFill>
              </a:rPr>
              <a:t>waren</a:t>
            </a:r>
            <a:r>
              <a:rPr lang="en-US" sz="2400" dirty="0">
                <a:solidFill>
                  <a:schemeClr val="tx1"/>
                </a:solidFill>
              </a:rPr>
              <a:t>, </a:t>
            </a:r>
            <a:r>
              <a:rPr lang="en-US" sz="2400" b="1" dirty="0">
                <a:solidFill>
                  <a:schemeClr val="accent3"/>
                </a:solidFill>
              </a:rPr>
              <a:t>zouden</a:t>
            </a:r>
            <a:r>
              <a:rPr lang="en-US" sz="2400" dirty="0">
                <a:solidFill>
                  <a:schemeClr val="tx1"/>
                </a:solidFill>
              </a:rPr>
              <a:t> we eerst een expert bellen.</a:t>
            </a:r>
            <a:endParaRPr lang="en-US" sz="2400" dirty="0"/>
          </a:p>
          <a:p>
            <a:pPr indent="0" marL="0">
              <a:spcAft>
                <a:spcPts val="1000"/>
              </a:spcAft>
              <a:buNone/>
            </a:pPr>
            <a:r>
              <a:rPr lang="en-US" sz="2400" b="1" dirty="0">
                <a:solidFill>
                  <a:schemeClr val="tx2"/>
                </a:solidFill>
              </a:rPr>
              <a:t>6.  </a:t>
            </a:r>
            <a:r>
              <a:rPr lang="en-US" sz="2400" dirty="0">
                <a:solidFill>
                  <a:schemeClr val="tx1"/>
                </a:solidFill>
              </a:rPr>
              <a:t>Het </a:t>
            </a:r>
            <a:r>
              <a:rPr lang="en-US" sz="2400" b="1" dirty="0">
                <a:solidFill>
                  <a:schemeClr val="accent3"/>
                </a:solidFill>
              </a:rPr>
              <a:t>zou</a:t>
            </a:r>
            <a:r>
              <a:rPr lang="en-US" sz="2400" dirty="0">
                <a:solidFill>
                  <a:schemeClr val="tx1"/>
                </a:solidFill>
              </a:rPr>
              <a:t> een probleem met de verwarming kunnen zijn.</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zou</a:t>
            </a:r>
            <a:r>
              <a:rPr lang="en-US" sz="1800" dirty="0">
                <a:solidFill>
                  <a:schemeClr val="tx1"/>
                </a:solidFill>
              </a:rPr>
              <a:t> (singulier) · </a:t>
            </a:r>
            <a:r>
              <a:rPr lang="en-US" sz="1800" b="1" dirty="0">
                <a:solidFill>
                  <a:schemeClr val="tx1"/>
                </a:solidFill>
              </a:rPr>
              <a:t>zouden</a:t>
            </a:r>
            <a:r>
              <a:rPr lang="en-US" sz="1800" dirty="0">
                <a:solidFill>
                  <a:schemeClr val="tx1"/>
                </a:solidFill>
              </a:rPr>
              <a:t> (pluriel)</a:t>
            </a:r>
            <a:endParaRPr lang="en-US" sz="1800" dirty="0"/>
          </a:p>
          <a:p>
            <a:pPr marL="177800" indent="-177800">
              <a:spcAft>
                <a:spcPts val="600"/>
              </a:spcAft>
              <a:buSzPct val="100000"/>
              <a:buChar char="•"/>
            </a:pPr>
            <a:r>
              <a:rPr lang="en-US" sz="1800" dirty="0">
                <a:solidFill>
                  <a:schemeClr val="tx1"/>
                </a:solidFill>
              </a:rPr>
              <a:t>Après </a:t>
            </a:r>
            <a:r>
              <a:rPr lang="en-US" sz="1800" b="1" dirty="0">
                <a:solidFill>
                  <a:schemeClr val="tx1"/>
                </a:solidFill>
              </a:rPr>
              <a:t>als</a:t>
            </a:r>
            <a:r>
              <a:rPr lang="en-US" sz="1800" dirty="0">
                <a:solidFill>
                  <a:schemeClr val="tx1"/>
                </a:solidFill>
              </a:rPr>
              <a:t> : l’imperfectum (</a:t>
            </a:r>
            <a:r>
              <a:rPr lang="en-US" sz="1800" b="1" dirty="0">
                <a:solidFill>
                  <a:schemeClr val="tx1"/>
                </a:solidFill>
              </a:rPr>
              <a:t>was / waren</a:t>
            </a:r>
            <a:r>
              <a:rPr lang="en-US" sz="1800" dirty="0">
                <a:solidFill>
                  <a:schemeClr val="tx1"/>
                </a:solidFill>
              </a:rPr>
              <a:t>), pas </a:t>
            </a:r>
            <a:r>
              <a:rPr lang="en-US" sz="1800" i="1" dirty="0">
                <a:solidFill>
                  <a:schemeClr val="tx1"/>
                </a:solidFill>
              </a:rPr>
              <a:t>zou</a:t>
            </a:r>
            <a:endParaRPr lang="en-US" sz="1800" dirty="0"/>
          </a:p>
          <a:p>
            <a:pPr marL="177800" indent="-177800">
              <a:spcAft>
                <a:spcPts val="600"/>
              </a:spcAft>
              <a:buSzPct val="100000"/>
              <a:buChar char="•"/>
            </a:pPr>
            <a:r>
              <a:rPr lang="en-US" sz="1800" dirty="0">
                <a:solidFill>
                  <a:schemeClr val="tx1"/>
                </a:solidFill>
              </a:rPr>
              <a:t>Infinitif </a:t>
            </a:r>
            <a:r>
              <a:rPr lang="en-US" sz="1800" b="1" dirty="0">
                <a:solidFill>
                  <a:schemeClr val="tx1"/>
                </a:solidFill>
              </a:rPr>
              <a:t>à la fin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10 : </a:t>
            </a:r>
            <a:r>
              <a:rPr lang="en-US" sz="2400" b="1" i="1" dirty="0">
                <a:solidFill>
                  <a:schemeClr val="bg1"/>
                </a:solidFill>
                <a:latin typeface="+mj-lt" pitchFamily="34" charset="0"/>
                <a:ea typeface="+mj-lt" pitchFamily="34" charset="-122"/>
                <a:cs typeface="+mj-lt" pitchFamily="34" charset="-120"/>
              </a:rPr>
              <a:t>la solution</a:t>
            </a:r>
            <a:r>
              <a:rPr lang="en-US" sz="2400" i="1" dirty="0">
                <a:solidFill>
                  <a:schemeClr val="bg1"/>
                </a:solidFill>
                <a:latin typeface="+mj-lt" pitchFamily="34" charset="0"/>
                <a:ea typeface="+mj-lt" pitchFamily="34" charset="-122"/>
                <a:cs typeface="+mj-lt" pitchFamily="34" charset="-120"/>
              </a:rPr>
              <a:t>. Comment annoncer ce qui est fait et ce qui est en cours ? </a:t>
            </a:r>
            <a:r>
              <a:rPr lang="en-US" sz="2400" i="1" dirty="0">
                <a:solidFill>
                  <a:schemeClr val="bg1"/>
                </a:solidFill>
                <a:latin typeface="+mj-lt" pitchFamily="34" charset="0"/>
                <a:ea typeface="+mj-lt" pitchFamily="34" charset="-122"/>
                <a:cs typeface="+mj-lt" pitchFamily="34" charset="-120"/>
              </a:rPr>
              <a:t>De lekkage </a:t>
            </a:r>
            <a:r>
              <a:rPr lang="en-US" sz="2400" b="1" i="1" dirty="0">
                <a:solidFill>
                  <a:schemeClr val="bg1"/>
                </a:solidFill>
                <a:latin typeface="+mj-lt" pitchFamily="34" charset="0"/>
                <a:ea typeface="+mj-lt" pitchFamily="34" charset="-122"/>
                <a:cs typeface="+mj-lt" pitchFamily="34" charset="-120"/>
              </a:rPr>
              <a:t>wordt</a:t>
            </a:r>
            <a:r>
              <a:rPr lang="en-US" sz="2400" i="1" dirty="0">
                <a:solidFill>
                  <a:schemeClr val="bg1"/>
                </a:solidFill>
                <a:latin typeface="+mj-lt" pitchFamily="34" charset="0"/>
                <a:ea typeface="+mj-lt" pitchFamily="34" charset="-122"/>
                <a:cs typeface="+mj-lt" pitchFamily="34" charset="-120"/>
              </a:rPr>
              <a:t> hersteld</a:t>
            </a:r>
            <a:r>
              <a:rPr lang="en-US" sz="2400" i="1" dirty="0">
                <a:solidFill>
                  <a:schemeClr val="bg1"/>
                </a:solidFill>
                <a:latin typeface="+mj-lt" pitchFamily="34" charset="0"/>
                <a:ea typeface="+mj-lt" pitchFamily="34" charset="-122"/>
                <a:cs typeface="+mj-lt" pitchFamily="34" charset="-120"/>
              </a:rPr>
              <a:t> — le passif avec </a:t>
            </a:r>
            <a:r>
              <a:rPr lang="en-US" sz="2400" b="1" i="1" dirty="0">
                <a:solidFill>
                  <a:schemeClr val="bg1"/>
                </a:solidFill>
                <a:latin typeface="+mj-lt" pitchFamily="34" charset="0"/>
                <a:ea typeface="+mj-lt" pitchFamily="34" charset="-122"/>
                <a:cs typeface="+mj-lt" pitchFamily="34" charset="-120"/>
              </a:rPr>
              <a:t>worden</a:t>
            </a:r>
            <a:r>
              <a:rPr lang="en-US" sz="2400" i="1" dirty="0">
                <a:solidFill>
                  <a:schemeClr val="bg1"/>
                </a:solidFill>
                <a:latin typeface="+mj-lt" pitchFamily="34" charset="0"/>
                <a:ea typeface="+mj-lt" pitchFamily="34" charset="-122"/>
                <a:cs typeface="+mj-lt" pitchFamily="34" charset="-120"/>
              </a:rPr>
              <a:t>, puis votre </a:t>
            </a:r>
            <a:r>
              <a:rPr lang="en-US" sz="2400" b="1" i="1" dirty="0">
                <a:solidFill>
                  <a:schemeClr val="bg1"/>
                </a:solidFill>
                <a:latin typeface="+mj-lt" pitchFamily="34" charset="0"/>
                <a:ea typeface="+mj-lt" pitchFamily="34" charset="-122"/>
                <a:cs typeface="+mj-lt" pitchFamily="34" charset="-120"/>
              </a:rPr>
              <a:t>dossier final</a:t>
            </a:r>
            <a:r>
              <a:rPr lang="en-US" sz="2400" i="1" dirty="0">
                <a:solidFill>
                  <a:schemeClr val="bg1"/>
                </a:solidFill>
                <a:latin typeface="+mj-lt" pitchFamily="34" charset="0"/>
                <a:ea typeface="+mj-lt" pitchFamily="34" charset="-122"/>
                <a:cs typeface="+mj-lt" pitchFamily="34" charset="-120"/>
              </a:rPr>
              <a:t> (TAAK 6).</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Terminer le </a:t>
            </a:r>
            <a:r>
              <a:rPr lang="en-US" sz="1700" b="1" dirty="0">
                <a:solidFill>
                  <a:schemeClr val="tx1"/>
                </a:solidFill>
              </a:rPr>
              <a:t>adviesmail</a:t>
            </a:r>
            <a:r>
              <a:rPr lang="en-US" sz="1700" dirty="0">
                <a:solidFill>
                  <a:schemeClr val="tx1"/>
                </a:solidFill>
              </a:rPr>
              <a:t> (TAAK 4) : chaque zou + infinitif à la fin.</a:t>
            </a:r>
            <a:endParaRPr lang="en-US" sz="1700" dirty="0"/>
          </a:p>
          <a:p>
            <a:pPr marL="190500" indent="-190500">
              <a:spcAft>
                <a:spcPts val="800"/>
              </a:spcAft>
              <a:buSzPct val="100000"/>
              <a:buChar char="•"/>
            </a:pPr>
            <a:r>
              <a:rPr lang="en-US" sz="1700" dirty="0">
                <a:solidFill>
                  <a:schemeClr val="tx1"/>
                </a:solidFill>
              </a:rPr>
              <a:t>Apprendre les </a:t>
            </a:r>
            <a:r>
              <a:rPr lang="en-US" sz="1700" b="1" dirty="0">
                <a:solidFill>
                  <a:schemeClr val="tx1"/>
                </a:solidFill>
              </a:rPr>
              <a:t>quatre fonctions de zou</a:t>
            </a:r>
            <a:r>
              <a:rPr lang="en-US" sz="1700" dirty="0">
                <a:solidFill>
                  <a:schemeClr val="tx1"/>
                </a:solidFill>
              </a:rPr>
              <a:t> (p. 16), avec un exemple pour chacune.</a:t>
            </a:r>
            <a:endParaRPr lang="en-US" sz="1700" dirty="0"/>
          </a:p>
          <a:p>
            <a:pPr marL="190500" indent="-190500">
              <a:spcAft>
                <a:spcPts val="800"/>
              </a:spcAft>
              <a:buSzPct val="100000"/>
              <a:buChar char="•"/>
            </a:pPr>
            <a:r>
              <a:rPr lang="en-US" sz="1700" b="1" dirty="0">
                <a:solidFill>
                  <a:schemeClr val="tx1"/>
                </a:solidFill>
              </a:rPr>
              <a:t>D4</a:t>
            </a:r>
            <a:r>
              <a:rPr lang="en-US" sz="1700" dirty="0">
                <a:solidFill>
                  <a:schemeClr val="tx1"/>
                </a:solidFill>
              </a:rPr>
              <a:t> : écrire 3 demandes polies au service clientèle avec zou.</a:t>
            </a:r>
            <a:endParaRPr lang="en-US" sz="1700" dirty="0"/>
          </a:p>
          <a:p>
            <a:pPr marL="190500" indent="-190500">
              <a:spcAft>
                <a:spcPts val="800"/>
              </a:spcAft>
              <a:buSzPct val="100000"/>
              <a:buChar char="•"/>
            </a:pPr>
            <a:r>
              <a:rPr lang="en-US" sz="1700" dirty="0">
                <a:solidFill>
                  <a:schemeClr val="tx1"/>
                </a:solidFill>
              </a:rPr>
              <a:t>Repérer 3 phrases au </a:t>
            </a:r>
            <a:r>
              <a:rPr lang="en-US" sz="1700" b="1" dirty="0">
                <a:solidFill>
                  <a:schemeClr val="tx1"/>
                </a:solidFill>
              </a:rPr>
              <a:t>passif</a:t>
            </a:r>
            <a:r>
              <a:rPr lang="en-US" sz="1700" dirty="0">
                <a:solidFill>
                  <a:schemeClr val="tx1"/>
                </a:solidFill>
              </a:rPr>
              <a:t> dans l’état des lieux (p. 9) et dans le dialogue (p. 2).</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Transformez poliment « Geef me uw nummer! » (</a:t>
            </a:r>
            <a:r>
              <a:rPr lang="en-US" sz="1600" b="1" dirty="0">
                <a:solidFill>
                  <a:schemeClr val="bg1"/>
                </a:solidFill>
              </a:rPr>
              <a:t>Zou u…?</a:t>
            </a:r>
            <a:r>
              <a:rPr lang="en-US" sz="1600" dirty="0">
                <a:solidFill>
                  <a:schemeClr val="bg1"/>
                </a:solidFill>
              </a:rPr>
              <a:t>) et donnez un conseil (</a:t>
            </a:r>
            <a:r>
              <a:rPr lang="en-US" sz="1600" b="1" dirty="0">
                <a:solidFill>
                  <a:schemeClr val="bg1"/>
                </a:solidFill>
              </a:rPr>
              <a:t>Als ik u was, zou ik…</a:t>
            </a:r>
            <a:r>
              <a:rPr lang="en-US" sz="1600" dirty="0">
                <a:solidFill>
                  <a:schemeClr val="bg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09 — Het advies</dc:title>
  <dc:subject>Néerlandais B1 — immobilier et vie quotidienne (Yasmina &amp; Stef)</dc:subject>
  <dc:creator>A. Jouniaux</dc:creator>
  <cp:lastModifiedBy>A. Jouniaux</cp:lastModifiedBy>
  <cp:revision>1</cp:revision>
  <dcterms:created xsi:type="dcterms:W3CDTF">2026-10-03T21:59:51Z</dcterms:created>
  <dcterms:modified xsi:type="dcterms:W3CDTF">2026-10-03T21:59:51Z</dcterms:modified>
</cp:coreProperties>
</file>