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1e65c9e2-0f4b-e411-d39c-b021756b1f0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ôture" id="{a6bb504b-6515-a7fd-c9b3-ce33ecbb580f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centrée sur « le sommet du palier » : le relatif avec préposition (de klant met wie…, de woning waaraan…) et les adverbes pronominaux (ik wacht erop, daarover kom ik terug), y compris coupés en deux. Activités : exercice 6 (persoon of ding), écoute de la visite (exercice 7), TAAK 3 (la rondleiding) et D3 (verbes + prépositions fixes).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séance couvre les pages 11 à 14a du livret. C’est la séquence la plus difficile du palier : laisser du temps aux exemples et faire manipuler le tableau waar / er / daar. La page 12 du livret est une planche illustrée (valkuil / oplossing / fusieregel), reprise ici en trois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2. Faire dire l’article du mot de tête avant de choisir (het appartement, de klanten, de woning, het terras). Réponses : dat, die, die, 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2. Faire dire l’article du mot de tête avant de choisir (het appartement, de klanten, de woning, het terras). Réponses : dat, die, die, dat.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: met wie = personne (iemand, de klant) ; waarover / waaraan = chose (het dossier, de advertentie). « Erop » remplace « op + chose » (op de foto’s ; ici : wachten op de foto’s). Le français vous tend ses pièges les plus sournois : lequel / auquel n’existent pas en néerlandais.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12 du livret : planche illustrée « Relatieve voorzetsels bij dingen : de valkuil en de oplossing ». Valkuil (piège) : traduire « auquel » par « aan die » est impossible en néerlandais. Oplossing : pour une chose, waar + préposition se soudent (« de klinkerverbinding maakt er één woord van »). Fusieregel : waar + aan → waaraan ; waar + over → waarover ; waar + mee → waarmee. Attention : met devient mee, tot devient toe.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cas à distinguer : (1) personne → préposition + wie ; (2) chose dans une relative → waar + préposition (soudé ou coupé : waaraan u denkt / waar u aan denkt) ; (3) chose déjà nommée, remplacée par un pronom → er + préposition (ou daar + préposition en début de phrase). Pour les personnes, on ne dit jamais « erop » : « Ik wacht op hem ». Tout adverbe pronominal en « er » peut se couper : « ik heb er twintig minuten op gewacht » (attention : à lire deux fois dans le dialogue du soir).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synthèse à faire compléter oralement colonne par colonne. D’autres prépositions suivent la même logique : bij → erbij / waarbij ; uit → eruit / waaruit ; om → erom / waarom (attention : « waarom » = pourquoi) ; achter → erachter. À l’oral, la forme « daar + prép. » se place plutôt en tête de phrase pour insister : « Daarover kom ik zo terug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dernières lignes viennent du dialogue du soir (« ik heb er twintig minuten op gewacht » ; « Daar heb ik al aan gedacht! ») : c’est l’occasion de montrer que le pronom (er / daar) saute vers l’avant et que la préposition reste près du verbe final. Dans la phrase 5, « Daar » en tête → inversion (heb 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/ précision : la consigne parle d’« adverbe pronominal » mais les items 1 et 4 sont des personnes → « met wie » (préposition + wie, pas un adverbe pronominal). Item 2 : « geïnteresseerd zijn in » → waarin ; variante coupée : « waar u in geïnteresseerd bent ». Item 4 : « voorbereiden » est séparable (ik bereid voor) ; dans la subordonnée la particule se ressoude : « ik dit dossier voorbereid ». Item 3 : « wachten op » → waarop.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 / précision : la consigne parle d’« adverbe pronominal » mais les items 1 et 4 sont des personnes → « met wie » (préposition + wie, pas un adverbe pronominal). Item 2 : « geïnteresseerd zijn in » → waarin ; variante coupée : « waar u in geïnteresseerd bent ». Item 4 : « voorbereiden » est séparable (ik bereid voor) ; dans la subordonnée la particule se ressoude : « ik dit dossier voorbereid ». Item 3 : « wachten op » → waarop.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texte du dialogue de visite n’est pas reproduit dans le livret principal (annexe) : lire le texte du dossier du professeur. La solution (pièces visitées, questions, réponses, décision des clients) dépend de ce texte : ne pas la déduire. Repérer surtout les réponses de l’agent avec « er + préposition » (erover, erin, eraan, ervoor…).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projetée pour la mise en commun. Solution selon le texte lu par le professeur : ne pas improviser. Pour la mise en commun, demander aux étudiants de reformuler la réponse avec une phrase complète contenant l’adverbe pronominal (par exemple « Ik kom erop terug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Taak 3 (production orale, jeu de rôle). Trois rondes de 4 minutes ; l’observateur glisse l’imprévu à mi-visite : le client demande un détail que l’agent ignore, qui doit répondre « Daarop moet ik het antwoord opzoeken. Ik kom erop terug. » Préparer trois cartes de situation. Le rijhuis est celui de la TAAK 2 (Sint-Gillis, 150 m², 3 slpk.).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 utiles pour la TAAK 3. Faire repérer dans chaque phrase le verbe final de la relative (vernieuwd is, uitkijkt) et l’inversion après l’adverbe en tête. « Uitkijken op » (donner sur) : particule ressoudée dans la subordonnée : « die op de tuin uitkijkt ». Cette diapositive est un ajout hors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indicatif pour la TAAK 3 (ajout hors syllabus). Relatives : die op het zuiden ligt, die in 2025 vernieuwd is, die thuis werkt, waar u goed kunt wonen. Adverbes pronominaux : Daar… van, Daarop, erop, er… over. Comparaison : groter dan u denkt. Gestion de l’imprévu : ligne 7. « Ik denk er nog over na » : nadenken over → erover nadenken, coupé et particule séparée à la fin (denk … 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séquence 5.3 l’a montré : beaucoup de verbes néerlandais s’accrochent à une préposition fixe. Faire répéter les paires, puis faire construire une phrase avec trois verbes. Prononciation : « uitkijken naar » (la préposition porte l’accent secondaire).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premières lignes sont celles du livret (✗ Ik wacht de tram · ✗ Ik luister muziek) ; les quatre autres sont ajoutées pour compléter le tableau du D3. Faire corriger oralement, puis faire inventer une phrase vraie pour chaque verbe.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de la fiche : « Waar heb jij zin in dit weekend? — Ik heb zin in een etentje met vrienden. — Daar heb ik ook zin in! » Bilan collectif : chacun rapporte une réponse surprenante (« Sarah kijkt uit naar haar citytrip naar Gent. Daar kijk ik ook naar uit! »). Corriger au fil de l’eau : la préposition reste à la fin (« Waar ben je trots op ? »), jamais « Op wat ben je trots ? » à ce niveau.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transformation de groupes nominaux « chose » en adverbes pronominaux, avec trois difficultés : met → mee (ermee), le pronom coupé (er … in), et le verbe séparable (ernaar … uit). Phrases 4 et 6 : à faire lire deux fois. Rappel : on ne remplace par « er » que des choses ; pour une personne on garde préposition + pronom personnel (op hem, aan haar).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transformation de groupes nominaux « chose » en adverbes pronominaux, avec trois difficultés : met → mee (ermee), le pronom coupé (er … in), et le verbe séparable (ernaar … uit). Phrases 4 et 6 : à faire lire deux fois. Rappel : on ne remplace par « er » que des choses ; pour une personne on garde préposition + pronom personnel (op hem, aan haar).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: « erop ». Annoncer la séance 4 : le rituel d’ouverture sera de réciter de mémoire les huit conjonctions du palier 4 avec leur sens (2 minutes, sans notes) — à réviser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03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03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5.3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klant begrijpen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Met wie, waarover, eraan — relatifs avec préposition et adverbes pronominaux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5 · Van opdracht tot verkoop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11–14a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1267"/>
            <a:ext cx="5120640" cy="341546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11–14a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Parler d’</a:t>
            </a:r>
            <a:r>
              <a:rPr lang="en-US" sz="1800" b="1" dirty="0">
                <a:solidFill>
                  <a:schemeClr val="tx1"/>
                </a:solidFill>
              </a:rPr>
              <a:t>une personne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met wie</a:t>
            </a:r>
            <a:r>
              <a:rPr lang="en-US" sz="1800" dirty="0">
                <a:solidFill>
                  <a:schemeClr val="tx1"/>
                </a:solidFill>
              </a:rPr>
              <a:t>) ou d’</a:t>
            </a:r>
            <a:r>
              <a:rPr lang="en-US" sz="1800" b="1" dirty="0">
                <a:solidFill>
                  <a:schemeClr val="tx1"/>
                </a:solidFill>
              </a:rPr>
              <a:t>une chose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waaraan, waarover</a:t>
            </a:r>
            <a:r>
              <a:rPr lang="en-US" sz="1800" dirty="0">
                <a:solidFill>
                  <a:schemeClr val="tx1"/>
                </a:solidFill>
              </a:rPr>
              <a:t>) et remplacer un groupe par </a:t>
            </a:r>
            <a:r>
              <a:rPr lang="en-US" sz="1800" b="1" dirty="0">
                <a:solidFill>
                  <a:schemeClr val="tx1"/>
                </a:solidFill>
              </a:rPr>
              <a:t>er- / daar- + préposition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klant met wie… · de woning waarover… · Ik wacht erop · Daarover kom ik zo terug · Waar heb jij zin in?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Choisir wie ou waar- + préposition · repérer les adverbes pronominaux coupés · écouter une visite · mener une visite guidée · relier verbe et préposition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Rappel die / dat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5.3 · pourquoi ce point est décisif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Grammaire : wie, waar-, er-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 Persoon of ding ?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 Luisteren : de bezichtiging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3 · De rondleiding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D3 · Waar heb jij zin in ?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die ou dat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 · par deux · 3 min. Complétez avec </a:t>
            </a:r>
            <a:r>
              <a:rPr lang="en-US" sz="1600" b="1" i="1" dirty="0">
                <a:solidFill>
                  <a:schemeClr val="accent5"/>
                </a:solidFill>
              </a:rPr>
              <a:t>die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dat</a:t>
            </a:r>
            <a:r>
              <a:rPr lang="en-US" sz="1600" i="1" dirty="0">
                <a:solidFill>
                  <a:schemeClr val="accent5"/>
                </a:solidFill>
              </a:rPr>
              <a:t>, puis dites où se trouve le </a:t>
            </a:r>
            <a:r>
              <a:rPr lang="en-US" sz="1600" b="1" i="1" dirty="0">
                <a:solidFill>
                  <a:schemeClr val="accent5"/>
                </a:solidFill>
              </a:rPr>
              <a:t>verbe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Het appartement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te huur staat, ligt in Elsene.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klanten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morgen komen, willen een rijhuis.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zoek een woning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vlak bij het station ligt.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Dat is het terras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op het zuiden ligt.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die ou dat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 · par deux · 3 min. Complétez avec </a:t>
            </a:r>
            <a:r>
              <a:rPr lang="en-US" sz="1600" b="1" i="1" dirty="0">
                <a:solidFill>
                  <a:schemeClr val="accent5"/>
                </a:solidFill>
              </a:rPr>
              <a:t>die</a:t>
            </a:r>
            <a:r>
              <a:rPr lang="en-US" sz="1600" i="1" dirty="0">
                <a:solidFill>
                  <a:schemeClr val="accent5"/>
                </a:solidFill>
              </a:rPr>
              <a:t> ou </a:t>
            </a:r>
            <a:r>
              <a:rPr lang="en-US" sz="1600" b="1" i="1" dirty="0">
                <a:solidFill>
                  <a:schemeClr val="accent5"/>
                </a:solidFill>
              </a:rPr>
              <a:t>dat</a:t>
            </a:r>
            <a:r>
              <a:rPr lang="en-US" sz="1600" i="1" dirty="0">
                <a:solidFill>
                  <a:schemeClr val="accent5"/>
                </a:solidFill>
              </a:rPr>
              <a:t>, puis dites où se trouve le </a:t>
            </a:r>
            <a:r>
              <a:rPr lang="en-US" sz="1600" b="1" i="1" dirty="0">
                <a:solidFill>
                  <a:schemeClr val="accent5"/>
                </a:solidFill>
              </a:rPr>
              <a:t>verbe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Het appartement </a:t>
            </a:r>
            <a:r>
              <a:rPr lang="en-US" sz="2400" b="1" dirty="0">
                <a:solidFill>
                  <a:schemeClr val="accent3"/>
                </a:solidFill>
              </a:rPr>
              <a:t>dat</a:t>
            </a:r>
            <a:r>
              <a:rPr lang="en-US" sz="2400" dirty="0">
                <a:solidFill>
                  <a:schemeClr val="tx1"/>
                </a:solidFill>
              </a:rPr>
              <a:t> te huur staat, ligt in Elsene.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klanten </a:t>
            </a:r>
            <a:r>
              <a:rPr lang="en-US" sz="2400" b="1" dirty="0">
                <a:solidFill>
                  <a:schemeClr val="accent3"/>
                </a:solidFill>
              </a:rPr>
              <a:t>die</a:t>
            </a:r>
            <a:r>
              <a:rPr lang="en-US" sz="2400" dirty="0">
                <a:solidFill>
                  <a:schemeClr val="tx1"/>
                </a:solidFill>
              </a:rPr>
              <a:t> morgen komen, willen een rijhuis.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Ik zoek een woning </a:t>
            </a:r>
            <a:r>
              <a:rPr lang="en-US" sz="2400" b="1" dirty="0">
                <a:solidFill>
                  <a:schemeClr val="accent3"/>
                </a:solidFill>
              </a:rPr>
              <a:t>die</a:t>
            </a:r>
            <a:r>
              <a:rPr lang="en-US" sz="2400" dirty="0">
                <a:solidFill>
                  <a:schemeClr val="tx1"/>
                </a:solidFill>
              </a:rPr>
              <a:t> vlak bij het station ligt.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Dat is het terras </a:t>
            </a:r>
            <a:r>
              <a:rPr lang="en-US" sz="2400" b="1" dirty="0">
                <a:solidFill>
                  <a:schemeClr val="accent3"/>
                </a:solidFill>
              </a:rPr>
              <a:t>dat</a:t>
            </a:r>
            <a:r>
              <a:rPr lang="en-US" sz="2400" dirty="0">
                <a:solidFill>
                  <a:schemeClr val="tx1"/>
                </a:solidFill>
              </a:rPr>
              <a:t> op het zuiden ligt.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+ singulier → </a:t>
            </a:r>
            <a:r>
              <a:rPr lang="en-US" sz="1800" b="1" dirty="0">
                <a:solidFill>
                  <a:schemeClr val="tx1"/>
                </a:solidFill>
              </a:rPr>
              <a:t>dat</a:t>
            </a:r>
            <a:r>
              <a:rPr lang="en-US" sz="1800" dirty="0">
                <a:solidFill>
                  <a:schemeClr val="tx1"/>
                </a:solidFill>
              </a:rPr>
              <a:t> ; </a:t>
            </a:r>
            <a:r>
              <a:rPr lang="en-US" sz="1800" b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ou pluriel → </a:t>
            </a:r>
            <a:r>
              <a:rPr lang="en-US" sz="1800" b="1" dirty="0">
                <a:solidFill>
                  <a:schemeClr val="tx1"/>
                </a:solidFill>
              </a:rPr>
              <a:t>die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verbe conjugué est </a:t>
            </a:r>
            <a:r>
              <a:rPr lang="en-US" sz="1800" b="1" dirty="0">
                <a:solidFill>
                  <a:schemeClr val="tx1"/>
                </a:solidFill>
              </a:rPr>
              <a:t>en dernière position</a:t>
            </a:r>
            <a:r>
              <a:rPr lang="en-US" sz="1800" dirty="0">
                <a:solidFill>
                  <a:schemeClr val="tx1"/>
                </a:solidFill>
              </a:rPr>
              <a:t> : staat, komen, ligt, ligt.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5.3 : comprendre le client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5372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6995160" y="1508760"/>
            <a:ext cx="4645152" cy="3432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Le </a:t>
            </a:r>
            <a:r>
              <a:rPr lang="en-US" sz="1900" b="1" dirty="0">
                <a:solidFill>
                  <a:schemeClr val="tx1"/>
                </a:solidFill>
              </a:rPr>
              <a:t>sommet du palier</a:t>
            </a:r>
            <a:r>
              <a:rPr lang="en-US" sz="1900" dirty="0">
                <a:solidFill>
                  <a:schemeClr val="tx1"/>
                </a:solidFill>
              </a:rPr>
              <a:t> : « le client </a:t>
            </a:r>
            <a:r>
              <a:rPr lang="en-US" sz="1900" b="1" dirty="0">
                <a:solidFill>
                  <a:schemeClr val="tx1"/>
                </a:solidFill>
              </a:rPr>
              <a:t>avec qui</a:t>
            </a:r>
            <a:r>
              <a:rPr lang="en-US" sz="1900" dirty="0">
                <a:solidFill>
                  <a:schemeClr val="tx1"/>
                </a:solidFill>
              </a:rPr>
              <a:t> j’ai rendez-vous », « j’</a:t>
            </a:r>
            <a:r>
              <a:rPr lang="en-US" sz="1900" b="1" dirty="0">
                <a:solidFill>
                  <a:schemeClr val="tx1"/>
                </a:solidFill>
              </a:rPr>
              <a:t>y</a:t>
            </a:r>
            <a:r>
              <a:rPr lang="en-US" sz="1900" dirty="0">
                <a:solidFill>
                  <a:schemeClr val="tx1"/>
                </a:solidFill>
              </a:rPr>
              <a:t> reviendrai ».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Focus : lignes 2, 6, 7 et 9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«Waar</a:t>
            </a:r>
            <a:r>
              <a:rPr lang="en-US" sz="1900" b="1" dirty="0">
                <a:solidFill>
                  <a:schemeClr val="tx1"/>
                </a:solidFill>
              </a:rPr>
              <a:t>over</a:t>
            </a:r>
            <a:r>
              <a:rPr lang="en-US" sz="1900" dirty="0">
                <a:solidFill>
                  <a:schemeClr val="tx1"/>
                </a:solidFill>
              </a:rPr>
              <a:t> gaat het dossier </a:t>
            </a:r>
            <a:r>
              <a:rPr lang="en-US" sz="1900" b="1" dirty="0">
                <a:solidFill>
                  <a:schemeClr val="tx1"/>
                </a:solidFill>
              </a:rPr>
              <a:t>waaraan</a:t>
            </a:r>
            <a:r>
              <a:rPr lang="en-US" sz="1900" dirty="0">
                <a:solidFill>
                  <a:schemeClr val="tx1"/>
                </a:solidFill>
              </a:rPr>
              <a:t> we samen gaan werken?»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«…de advertentie </a:t>
            </a:r>
            <a:r>
              <a:rPr lang="en-US" sz="1900" b="1" dirty="0">
                <a:solidFill>
                  <a:schemeClr val="tx1"/>
                </a:solidFill>
              </a:rPr>
              <a:t>waarover</a:t>
            </a:r>
            <a:r>
              <a:rPr lang="en-US" sz="1900" dirty="0">
                <a:solidFill>
                  <a:schemeClr val="tx1"/>
                </a:solidFill>
              </a:rPr>
              <a:t> je een mail hebt gestuurd»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«Ik wacht </a:t>
            </a:r>
            <a:r>
              <a:rPr lang="en-US" sz="1900" b="1" dirty="0">
                <a:solidFill>
                  <a:schemeClr val="tx1"/>
                </a:solidFill>
              </a:rPr>
              <a:t>erop</a:t>
            </a:r>
            <a:r>
              <a:rPr lang="en-US" sz="1900" dirty="0">
                <a:solidFill>
                  <a:schemeClr val="tx1"/>
                </a:solidFill>
              </a:rPr>
              <a:t> sinds vrijdag.» · «…iemand </a:t>
            </a:r>
            <a:r>
              <a:rPr lang="en-US" sz="1900" b="1" dirty="0">
                <a:solidFill>
                  <a:schemeClr val="tx1"/>
                </a:solidFill>
              </a:rPr>
              <a:t>met wie</a:t>
            </a:r>
            <a:r>
              <a:rPr lang="en-US" sz="1900" dirty="0">
                <a:solidFill>
                  <a:schemeClr val="tx1"/>
                </a:solidFill>
              </a:rPr>
              <a:t> ik goed kan samenwerken.»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Quelle différence entre « avec qui » et « waarover » ? Personne ou chose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Relatieve voorzetsels bij dingen : de valkuil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432428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4301108" y="1481328"/>
            <a:ext cx="7339204" cy="4809744"/>
          </a:xfrm>
          <a:prstGeom prst="roundRect">
            <a:avLst>
              <a:gd name="adj" fmla="val 152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988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68036" y="1636776"/>
            <a:ext cx="66076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LA FUSION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4465700" y="2075688"/>
            <a:ext cx="701002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✗ de woning aan die u denkt</a:t>
            </a:r>
            <a:r>
              <a:rPr lang="en-US" sz="1800" dirty="0">
                <a:solidFill>
                  <a:schemeClr val="tx1"/>
                </a:solidFill>
              </a:rPr>
              <a:t> : calque de « auquel », </a:t>
            </a:r>
            <a:r>
              <a:rPr lang="en-US" sz="1800" b="1" dirty="0">
                <a:solidFill>
                  <a:schemeClr val="tx1"/>
                </a:solidFill>
              </a:rPr>
              <a:t>impossible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✓ de woning waaraan u denkt</a:t>
            </a:r>
            <a:r>
              <a:rPr lang="en-US" sz="1800" dirty="0">
                <a:solidFill>
                  <a:schemeClr val="tx1"/>
                </a:solidFill>
              </a:rPr>
              <a:t> : waar + aan = </a:t>
            </a:r>
            <a:r>
              <a:rPr lang="en-US" sz="1800" b="1" dirty="0">
                <a:solidFill>
                  <a:schemeClr val="tx1"/>
                </a:solidFill>
              </a:rPr>
              <a:t>waaraan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waar + over = </a:t>
            </a:r>
            <a:r>
              <a:rPr lang="en-US" sz="1800" b="1" dirty="0">
                <a:solidFill>
                  <a:schemeClr val="tx1"/>
                </a:solidFill>
              </a:rPr>
              <a:t>waarover</a:t>
            </a:r>
            <a:r>
              <a:rPr lang="en-US" sz="1800" dirty="0">
                <a:solidFill>
                  <a:schemeClr val="tx1"/>
                </a:solidFill>
              </a:rPr>
              <a:t> · waar + mee = </a:t>
            </a:r>
            <a:r>
              <a:rPr lang="en-US" sz="1800" b="1" dirty="0">
                <a:solidFill>
                  <a:schemeClr val="tx1"/>
                </a:solidFill>
              </a:rPr>
              <a:t>waarmee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⚠ </a:t>
            </a:r>
            <a:r>
              <a:rPr lang="en-US" sz="1800" b="1" dirty="0">
                <a:solidFill>
                  <a:schemeClr val="tx1"/>
                </a:solidFill>
              </a:rPr>
              <a:t>met → mee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tx1"/>
                </a:solidFill>
              </a:rPr>
              <a:t>tot → toe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Trois outils : wie, waar-, er-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3514344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① PERSONNE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prép. + wie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klant </a:t>
            </a:r>
            <a:r>
              <a:rPr lang="en-US" sz="2000" b="1" i="1" dirty="0">
                <a:solidFill>
                  <a:schemeClr val="tx1"/>
                </a:solidFill>
              </a:rPr>
              <a:t>met wie</a:t>
            </a:r>
            <a:r>
              <a:rPr lang="en-US" sz="2000" i="1" dirty="0">
                <a:solidFill>
                  <a:schemeClr val="tx1"/>
                </a:solidFill>
              </a:rPr>
              <a:t> ik een afspraak heb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iemand </a:t>
            </a:r>
            <a:r>
              <a:rPr lang="en-US" sz="2000" b="1" i="1" dirty="0">
                <a:solidFill>
                  <a:schemeClr val="tx1"/>
                </a:solidFill>
              </a:rPr>
              <a:t>met wie</a:t>
            </a:r>
            <a:r>
              <a:rPr lang="en-US" sz="2000" i="1" dirty="0">
                <a:solidFill>
                  <a:schemeClr val="tx1"/>
                </a:solidFill>
              </a:rPr>
              <a:t> ik goed kan samenwerken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collega </a:t>
            </a:r>
            <a:r>
              <a:rPr lang="en-US" sz="2000" b="1" i="1" dirty="0">
                <a:solidFill>
                  <a:schemeClr val="tx1"/>
                </a:solidFill>
              </a:rPr>
              <a:t>aan wie</a:t>
            </a:r>
            <a:r>
              <a:rPr lang="en-US" sz="2000" i="1" dirty="0">
                <a:solidFill>
                  <a:schemeClr val="tx1"/>
                </a:solidFill>
              </a:rPr>
              <a:t> ik de mail stuur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7304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37304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7304" y="1801368"/>
            <a:ext cx="3514344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0184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② CHOSE (relative)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20184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waar + prép.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520184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woning </a:t>
            </a:r>
            <a:r>
              <a:rPr lang="en-US" sz="2000" b="1" i="1" dirty="0">
                <a:solidFill>
                  <a:schemeClr val="tx1"/>
                </a:solidFill>
              </a:rPr>
              <a:t>waaraan</a:t>
            </a:r>
            <a:r>
              <a:rPr lang="en-US" sz="2000" i="1" dirty="0">
                <a:solidFill>
                  <a:schemeClr val="tx1"/>
                </a:solidFill>
              </a:rPr>
              <a:t> u denkt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het dossier </a:t>
            </a:r>
            <a:r>
              <a:rPr lang="en-US" sz="2000" b="1" i="1" dirty="0">
                <a:solidFill>
                  <a:schemeClr val="tx1"/>
                </a:solidFill>
              </a:rPr>
              <a:t>waarover</a:t>
            </a:r>
            <a:r>
              <a:rPr lang="en-US" sz="2000" i="1" dirty="0">
                <a:solidFill>
                  <a:schemeClr val="tx1"/>
                </a:solidFill>
              </a:rPr>
              <a:t> je een mail hebt gestuurd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het budget </a:t>
            </a:r>
            <a:r>
              <a:rPr lang="en-US" sz="2000" b="1" i="1" dirty="0">
                <a:solidFill>
                  <a:schemeClr val="tx1"/>
                </a:solidFill>
              </a:rPr>
              <a:t>waarmee</a:t>
            </a:r>
            <a:r>
              <a:rPr lang="en-US" sz="2000" i="1" dirty="0">
                <a:solidFill>
                  <a:schemeClr val="tx1"/>
                </a:solidFill>
              </a:rPr>
              <a:t> wij werken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25968" y="1481328"/>
            <a:ext cx="3514344" cy="3883152"/>
          </a:xfrm>
          <a:prstGeom prst="roundRect">
            <a:avLst>
              <a:gd name="adj" fmla="val 260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25968" y="1481328"/>
            <a:ext cx="3514344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25968" y="1801368"/>
            <a:ext cx="3514344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8848" y="1481328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③ CHOSE (pronom)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08848" y="2084832"/>
            <a:ext cx="3148584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er / daar + prép.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308848" y="2627376"/>
            <a:ext cx="3148584" cy="2627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wacht </a:t>
            </a:r>
            <a:r>
              <a:rPr lang="en-US" sz="2000" b="1" i="1" dirty="0">
                <a:solidFill>
                  <a:schemeClr val="tx1"/>
                </a:solidFill>
              </a:rPr>
              <a:t>erop</a:t>
            </a:r>
            <a:r>
              <a:rPr lang="en-US" sz="2000" i="1" dirty="0">
                <a:solidFill>
                  <a:schemeClr val="tx1"/>
                </a:solidFill>
              </a:rPr>
              <a:t> sinds vrijdag.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Daarover</a:t>
            </a:r>
            <a:r>
              <a:rPr lang="en-US" sz="2000" i="1" dirty="0">
                <a:solidFill>
                  <a:schemeClr val="tx1"/>
                </a:solidFill>
              </a:rPr>
              <a:t> kom ik zo terug.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Ik heb </a:t>
            </a:r>
            <a:r>
              <a:rPr lang="en-US" sz="2000" b="1" i="1" dirty="0">
                <a:solidFill>
                  <a:schemeClr val="tx1"/>
                </a:solidFill>
              </a:rPr>
              <a:t>er</a:t>
            </a:r>
            <a:r>
              <a:rPr lang="en-US" sz="2000" i="1" dirty="0">
                <a:solidFill>
                  <a:schemeClr val="tx1"/>
                </a:solidFill>
              </a:rPr>
              <a:t> twintig minuten </a:t>
            </a:r>
            <a:r>
              <a:rPr lang="en-US" sz="2000" b="1" i="1" dirty="0">
                <a:solidFill>
                  <a:schemeClr val="tx1"/>
                </a:solidFill>
              </a:rPr>
              <a:t>op</a:t>
            </a:r>
            <a:r>
              <a:rPr lang="en-US" sz="2000" i="1" dirty="0">
                <a:solidFill>
                  <a:schemeClr val="tx1"/>
                </a:solidFill>
              </a:rPr>
              <a:t> gewacht.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En français : </a:t>
            </a:r>
            <a:r>
              <a:rPr lang="en-US" sz="1700" i="1" dirty="0">
                <a:solidFill>
                  <a:schemeClr val="tx1"/>
                </a:solidFill>
              </a:rPr>
              <a:t>auquel, avec qui, j’y reviens</a:t>
            </a:r>
            <a:r>
              <a:rPr lang="en-US" sz="1700" dirty="0">
                <a:solidFill>
                  <a:schemeClr val="tx1"/>
                </a:solidFill>
              </a:rPr>
              <a:t>. En néerlandais, pour une </a:t>
            </a:r>
            <a:r>
              <a:rPr lang="en-US" sz="1700" b="1" dirty="0">
                <a:solidFill>
                  <a:schemeClr val="tx1"/>
                </a:solidFill>
              </a:rPr>
              <a:t>chose</a:t>
            </a:r>
            <a:r>
              <a:rPr lang="en-US" sz="1700" dirty="0">
                <a:solidFill>
                  <a:schemeClr val="tx1"/>
                </a:solidFill>
              </a:rPr>
              <a:t> : ✗ </a:t>
            </a:r>
            <a:r>
              <a:rPr lang="en-US" sz="1700" i="1" dirty="0">
                <a:solidFill>
                  <a:schemeClr val="tx1"/>
                </a:solidFill>
              </a:rPr>
              <a:t>aan die</a:t>
            </a:r>
            <a:r>
              <a:rPr lang="en-US" sz="1700" dirty="0">
                <a:solidFill>
                  <a:schemeClr val="tx1"/>
                </a:solidFill>
              </a:rPr>
              <a:t> · ✗ </a:t>
            </a:r>
            <a:r>
              <a:rPr lang="en-US" sz="1700" i="1" dirty="0">
                <a:solidFill>
                  <a:schemeClr val="tx1"/>
                </a:solidFill>
              </a:rPr>
              <a:t>op het</a:t>
            </a:r>
            <a:r>
              <a:rPr lang="en-US" sz="1700" dirty="0">
                <a:solidFill>
                  <a:schemeClr val="tx1"/>
                </a:solidFill>
              </a:rPr>
              <a:t>. Pour une </a:t>
            </a:r>
            <a:r>
              <a:rPr lang="en-US" sz="1700" b="1" dirty="0">
                <a:solidFill>
                  <a:schemeClr val="tx1"/>
                </a:solidFill>
              </a:rPr>
              <a:t>personne</a:t>
            </a:r>
            <a:r>
              <a:rPr lang="en-US" sz="1700" dirty="0">
                <a:solidFill>
                  <a:schemeClr val="tx1"/>
                </a:solidFill>
              </a:rPr>
              <a:t> : la préposition reste avec </a:t>
            </a:r>
            <a:r>
              <a:rPr lang="en-US" sz="1700" b="1" dirty="0">
                <a:solidFill>
                  <a:schemeClr val="tx1"/>
                </a:solidFill>
              </a:rPr>
              <a:t>wie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met wie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tableau de fusion : waar / er / daar + préposition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53512"/>
              </a:tblGrid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PRÉPOSITION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WAAR + … (relative)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ER + … (pronom)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DAAR + … (début de phrase)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waaraan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eraan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daaraan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over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waarover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erover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daarover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op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waarop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erop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daarop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waarvoor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ervoor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daarvoor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waarvan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ervan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daarvan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waarin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erin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daarin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naar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waarnaar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ernaar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daarnaar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met →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tot →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waar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daar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⚠ </a:t>
            </a:r>
            <a:r>
              <a:rPr lang="en-US" sz="1500" b="1" i="1" dirty="0">
                <a:solidFill>
                  <a:schemeClr val="accent5"/>
                </a:solidFill>
              </a:rPr>
              <a:t>met → mee</a:t>
            </a:r>
            <a:r>
              <a:rPr lang="en-US" sz="1500" i="1" dirty="0">
                <a:solidFill>
                  <a:schemeClr val="accent5"/>
                </a:solidFill>
              </a:rPr>
              <a:t> et </a:t>
            </a:r>
            <a:r>
              <a:rPr lang="en-US" sz="1500" b="1" i="1" dirty="0">
                <a:solidFill>
                  <a:schemeClr val="accent5"/>
                </a:solidFill>
              </a:rPr>
              <a:t>tot → toe</a:t>
            </a:r>
            <a:r>
              <a:rPr lang="en-US" sz="1500" i="1" dirty="0">
                <a:solidFill>
                  <a:schemeClr val="accent5"/>
                </a:solidFill>
              </a:rPr>
              <a:t> : ✗ </a:t>
            </a:r>
            <a:r>
              <a:rPr lang="en-US" sz="1500" i="1" dirty="0">
                <a:solidFill>
                  <a:schemeClr val="accent5"/>
                </a:solidFill>
              </a:rPr>
              <a:t>waarmet · ermet</a:t>
            </a:r>
            <a:r>
              <a:rPr lang="en-US" sz="1500" i="1" dirty="0">
                <a:solidFill>
                  <a:schemeClr val="accent5"/>
                </a:solidFill>
              </a:rPr>
              <a:t> → ✓ </a:t>
            </a:r>
            <a:r>
              <a:rPr lang="en-US" sz="1500" i="1" dirty="0">
                <a:solidFill>
                  <a:schemeClr val="accent5"/>
                </a:solidFill>
              </a:rPr>
              <a:t>waarmee · ermee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Soudés ou coupés : la place du verbe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L’adverbe pronominal peut être </a:t>
            </a:r>
            <a:r>
              <a:rPr lang="en-US" sz="1800" b="1" dirty="0">
                <a:solidFill>
                  <a:schemeClr val="tx1"/>
                </a:solidFill>
              </a:rPr>
              <a:t>soudé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b="1" dirty="0">
                <a:solidFill>
                  <a:schemeClr val="tx1"/>
                </a:solidFill>
              </a:rPr>
              <a:t>coupé en deux</a:t>
            </a:r>
            <a:r>
              <a:rPr lang="en-US" sz="1800" dirty="0">
                <a:solidFill>
                  <a:schemeClr val="tx1"/>
                </a:solidFill>
              </a:rPr>
              <a:t>. Dans la relative, le verbe reste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Soudé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woning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93008" y="194767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waar + aan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93008" y="2185416"/>
            <a:ext cx="1068832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9584" y="218541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waaraan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71568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71568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08144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67096" y="194767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→ FIN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67096" y="218541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03672" y="218541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denkt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bien auquel vous pensez.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540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Coupé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16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54096"/>
            <a:ext cx="128016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5409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woning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3493008" y="281635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93008" y="3054096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29584" y="305409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354576" y="28163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354576" y="305409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91152" y="305409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150104" y="28163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prép.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150104" y="305409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86680" y="305409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aan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945632" y="2816352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→ FIN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945632" y="3054096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82208" y="3054096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denkt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41071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Même sens : waar … aan.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922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Personne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3685032"/>
            <a:ext cx="117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3922776"/>
            <a:ext cx="1174496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3922776"/>
            <a:ext cx="110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 klant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387344" y="368503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387344" y="3922776"/>
            <a:ext cx="1068832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423920" y="392277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 wie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4565904" y="36850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565904" y="392277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602480" y="392277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361432" y="3685032"/>
            <a:ext cx="96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361432" y="3922776"/>
            <a:ext cx="963168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8008" y="3922776"/>
            <a:ext cx="89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morgen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6434328" y="3685032"/>
            <a:ext cx="1597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434328" y="3922776"/>
            <a:ext cx="1597152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470904" y="3922776"/>
            <a:ext cx="152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een afspraak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8141208" y="36850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8141208" y="392277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177784" y="392277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2103120" y="427939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client avec qui j’ai rendez-vous demain.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47914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Er coupé</a:t>
            </a:r>
            <a:endParaRPr lang="en-US" sz="1400" dirty="0"/>
          </a:p>
        </p:txBody>
      </p:sp>
      <p:sp>
        <p:nvSpPr>
          <p:cNvPr id="59" name="Text 56"/>
          <p:cNvSpPr txBox="1"/>
          <p:nvPr/>
        </p:nvSpPr>
        <p:spPr>
          <a:xfrm>
            <a:off x="2103120" y="4553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103120" y="479145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139696" y="479145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2898648" y="4553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898648" y="479145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935224" y="479145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3694176" y="4553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pronom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694176" y="479145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730752" y="479145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4489704" y="4553712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489704" y="4791456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526280" y="4791456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twintig minuten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6513576" y="45537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prép.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513576" y="479145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550152" y="479145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op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7309104" y="455371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309104" y="479145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345680" y="479145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gewacht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2103120" y="514807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Je l’ai attendu vingt minutes (le tram).</a:t>
            </a:r>
            <a:endParaRPr lang="en-US" sz="1400" dirty="0"/>
          </a:p>
        </p:txBody>
      </p:sp>
      <p:sp>
        <p:nvSpPr>
          <p:cNvPr id="78" name="Text 75"/>
          <p:cNvSpPr txBox="1"/>
          <p:nvPr/>
        </p:nvSpPr>
        <p:spPr>
          <a:xfrm>
            <a:off x="548640" y="5660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Daar coupé</a:t>
            </a:r>
            <a:endParaRPr lang="en-US" sz="1400" dirty="0"/>
          </a:p>
        </p:txBody>
      </p:sp>
      <p:sp>
        <p:nvSpPr>
          <p:cNvPr id="79" name="Text 76"/>
          <p:cNvSpPr txBox="1"/>
          <p:nvPr/>
        </p:nvSpPr>
        <p:spPr>
          <a:xfrm>
            <a:off x="2103120" y="542239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pronom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2103120" y="566013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2139696" y="566013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Daar</a:t>
            </a:r>
            <a:endParaRPr lang="en-US" sz="1600" dirty="0"/>
          </a:p>
        </p:txBody>
      </p:sp>
      <p:sp>
        <p:nvSpPr>
          <p:cNvPr id="82" name="Text 79"/>
          <p:cNvSpPr txBox="1"/>
          <p:nvPr/>
        </p:nvSpPr>
        <p:spPr>
          <a:xfrm>
            <a:off x="2964688" y="54223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2964688" y="56601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001264" y="56601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heb</a:t>
            </a:r>
            <a:endParaRPr lang="en-US" sz="1600" dirty="0"/>
          </a:p>
        </p:txBody>
      </p:sp>
      <p:sp>
        <p:nvSpPr>
          <p:cNvPr id="85" name="Text 82"/>
          <p:cNvSpPr txBox="1"/>
          <p:nvPr/>
        </p:nvSpPr>
        <p:spPr>
          <a:xfrm>
            <a:off x="3760216" y="54223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3760216" y="56601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3796792" y="56601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ik</a:t>
            </a:r>
            <a:endParaRPr lang="en-US" sz="1600" dirty="0"/>
          </a:p>
        </p:txBody>
      </p:sp>
      <p:sp>
        <p:nvSpPr>
          <p:cNvPr id="88" name="Text 85"/>
          <p:cNvSpPr txBox="1"/>
          <p:nvPr/>
        </p:nvSpPr>
        <p:spPr>
          <a:xfrm>
            <a:off x="4555744" y="54223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tijd · quand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4555744" y="56601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2">
              <a:alpha val="88000"/>
            </a:schemeClr>
          </a:solidFill>
          <a:ln w="12700">
            <a:solidFill>
              <a:srgbClr val="2A6FB0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4592320" y="56601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</a:t>
            </a:r>
            <a:endParaRPr lang="en-US" sz="1600" dirty="0"/>
          </a:p>
        </p:txBody>
      </p:sp>
      <p:sp>
        <p:nvSpPr>
          <p:cNvPr id="91" name="Text 88"/>
          <p:cNvSpPr txBox="1"/>
          <p:nvPr/>
        </p:nvSpPr>
        <p:spPr>
          <a:xfrm>
            <a:off x="5351272" y="54223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prép.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5351272" y="56601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5387848" y="56601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aan</a:t>
            </a:r>
            <a:endParaRPr lang="en-US" sz="1600" dirty="0"/>
          </a:p>
        </p:txBody>
      </p:sp>
      <p:sp>
        <p:nvSpPr>
          <p:cNvPr id="94" name="Text 91"/>
          <p:cNvSpPr txBox="1"/>
          <p:nvPr/>
        </p:nvSpPr>
        <p:spPr>
          <a:xfrm>
            <a:off x="6146800" y="5422392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6146800" y="5660136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6183376" y="5660136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gedacht</a:t>
            </a:r>
            <a:endParaRPr lang="en-US" sz="1600" dirty="0"/>
          </a:p>
        </p:txBody>
      </p:sp>
      <p:sp>
        <p:nvSpPr>
          <p:cNvPr id="97" name="Text 94"/>
          <p:cNvSpPr txBox="1"/>
          <p:nvPr/>
        </p:nvSpPr>
        <p:spPr>
          <a:xfrm>
            <a:off x="2103120" y="601675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J’y ai déjà pensé.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Persoon of ding ? De klantendienst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2054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seul·e · 8 min. Complétez : </a:t>
            </a:r>
            <a:r>
              <a:rPr lang="en-US" sz="1600" b="1" i="1" dirty="0">
                <a:solidFill>
                  <a:schemeClr val="accent5"/>
                </a:solidFill>
              </a:rPr>
              <a:t>prép. + wie</a:t>
            </a:r>
            <a:r>
              <a:rPr lang="en-US" sz="1600" i="1" dirty="0">
                <a:solidFill>
                  <a:schemeClr val="accent5"/>
                </a:solidFill>
              </a:rPr>
              <a:t> (personne) ou </a:t>
            </a:r>
            <a:r>
              <a:rPr lang="en-US" sz="1600" b="1" i="1" dirty="0">
                <a:solidFill>
                  <a:schemeClr val="accent5"/>
                </a:solidFill>
              </a:rPr>
              <a:t>waar- + préposition</a:t>
            </a:r>
            <a:r>
              <a:rPr lang="en-US" sz="1600" i="1" dirty="0">
                <a:solidFill>
                  <a:schemeClr val="accent5"/>
                </a:solidFill>
              </a:rPr>
              <a:t> (chose).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2054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De klant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 ik morgen een bezichtiging heb, heet Claes. (personne)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De woning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 u geïnteresseerd bent, is net verkocht. (geïnteresseerd zijn </a:t>
            </a:r>
            <a:r>
              <a:rPr lang="en-US" sz="2200" i="1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Het bod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 de eigenaar wacht, komt misschien vandaag. (wachten </a:t>
            </a:r>
            <a:r>
              <a:rPr lang="en-US" sz="2200" i="1" dirty="0">
                <a:solidFill>
                  <a:schemeClr val="tx1"/>
                </a:solidFill>
              </a:rPr>
              <a:t>op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De collega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 ik dit dossier voorbereid, is op vakantie. (voorbereiden </a:t>
            </a:r>
            <a:r>
              <a:rPr lang="en-US" sz="2200" i="1" dirty="0">
                <a:solidFill>
                  <a:schemeClr val="tx1"/>
                </a:solidFill>
              </a:rPr>
              <a:t>met</a:t>
            </a:r>
            <a:r>
              <a:rPr lang="en-US" sz="2200" dirty="0">
                <a:solidFill>
                  <a:schemeClr val="tx1"/>
                </a:solidFill>
              </a:rPr>
              <a:t> — personne)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Het budget </a:t>
            </a:r>
            <a:r>
              <a:rPr lang="en-US" sz="2200" dirty="0">
                <a:solidFill>
                  <a:schemeClr val="accent5"/>
                </a:solidFill>
              </a:rPr>
              <a:t>……………</a:t>
            </a:r>
            <a:r>
              <a:rPr lang="en-US" sz="2200" dirty="0">
                <a:solidFill>
                  <a:schemeClr val="tx1"/>
                </a:solidFill>
              </a:rPr>
              <a:t> wij praten, is realistisch. (praten </a:t>
            </a:r>
            <a:r>
              <a:rPr lang="en-US" sz="2200" i="1" dirty="0">
                <a:solidFill>
                  <a:schemeClr val="tx1"/>
                </a:solidFill>
              </a:rPr>
              <a:t>over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Persoon of ding ? De klantendienst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2054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Couche 2 · seul·e · 8 min. Complétez : </a:t>
            </a:r>
            <a:r>
              <a:rPr lang="en-US" sz="1600" b="1" i="1" dirty="0">
                <a:solidFill>
                  <a:schemeClr val="accent5"/>
                </a:solidFill>
              </a:rPr>
              <a:t>prép. + wie</a:t>
            </a:r>
            <a:r>
              <a:rPr lang="en-US" sz="1600" i="1" dirty="0">
                <a:solidFill>
                  <a:schemeClr val="accent5"/>
                </a:solidFill>
              </a:rPr>
              <a:t> (personne) ou </a:t>
            </a:r>
            <a:r>
              <a:rPr lang="en-US" sz="1600" b="1" i="1" dirty="0">
                <a:solidFill>
                  <a:schemeClr val="accent5"/>
                </a:solidFill>
              </a:rPr>
              <a:t>waar- + préposition</a:t>
            </a:r>
            <a:r>
              <a:rPr lang="en-US" sz="1600" i="1" dirty="0">
                <a:solidFill>
                  <a:schemeClr val="accent5"/>
                </a:solidFill>
              </a:rPr>
              <a:t> (chose).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2054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1.  </a:t>
            </a:r>
            <a:r>
              <a:rPr lang="en-US" sz="2200" dirty="0">
                <a:solidFill>
                  <a:schemeClr val="tx1"/>
                </a:solidFill>
              </a:rPr>
              <a:t>De klant </a:t>
            </a:r>
            <a:r>
              <a:rPr lang="en-US" sz="2200" b="1" dirty="0">
                <a:solidFill>
                  <a:schemeClr val="accent3"/>
                </a:solidFill>
              </a:rPr>
              <a:t>met wie</a:t>
            </a:r>
            <a:r>
              <a:rPr lang="en-US" sz="2200" dirty="0">
                <a:solidFill>
                  <a:schemeClr val="tx1"/>
                </a:solidFill>
              </a:rPr>
              <a:t> ik morgen een bezichtiging heb, heet Claes. (personne)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2.  </a:t>
            </a:r>
            <a:r>
              <a:rPr lang="en-US" sz="2200" dirty="0">
                <a:solidFill>
                  <a:schemeClr val="tx1"/>
                </a:solidFill>
              </a:rPr>
              <a:t>De woning </a:t>
            </a:r>
            <a:r>
              <a:rPr lang="en-US" sz="2200" b="1" dirty="0">
                <a:solidFill>
                  <a:schemeClr val="accent3"/>
                </a:solidFill>
              </a:rPr>
              <a:t>waarin</a:t>
            </a:r>
            <a:r>
              <a:rPr lang="en-US" sz="2200" dirty="0">
                <a:solidFill>
                  <a:schemeClr val="tx1"/>
                </a:solidFill>
              </a:rPr>
              <a:t> u geïnteresseerd bent, is net verkocht. (geïnteresseerd zijn </a:t>
            </a:r>
            <a:r>
              <a:rPr lang="en-US" sz="2200" i="1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3.  </a:t>
            </a:r>
            <a:r>
              <a:rPr lang="en-US" sz="2200" dirty="0">
                <a:solidFill>
                  <a:schemeClr val="tx1"/>
                </a:solidFill>
              </a:rPr>
              <a:t>Het bod </a:t>
            </a:r>
            <a:r>
              <a:rPr lang="en-US" sz="2200" b="1" dirty="0">
                <a:solidFill>
                  <a:schemeClr val="accent3"/>
                </a:solidFill>
              </a:rPr>
              <a:t>waarop</a:t>
            </a:r>
            <a:r>
              <a:rPr lang="en-US" sz="2200" dirty="0">
                <a:solidFill>
                  <a:schemeClr val="tx1"/>
                </a:solidFill>
              </a:rPr>
              <a:t> de eigenaar wacht, komt misschien vandaag. (wachten </a:t>
            </a:r>
            <a:r>
              <a:rPr lang="en-US" sz="2200" i="1" dirty="0">
                <a:solidFill>
                  <a:schemeClr val="tx1"/>
                </a:solidFill>
              </a:rPr>
              <a:t>op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4.  </a:t>
            </a:r>
            <a:r>
              <a:rPr lang="en-US" sz="2200" dirty="0">
                <a:solidFill>
                  <a:schemeClr val="tx1"/>
                </a:solidFill>
              </a:rPr>
              <a:t>De collega </a:t>
            </a:r>
            <a:r>
              <a:rPr lang="en-US" sz="2200" b="1" dirty="0">
                <a:solidFill>
                  <a:schemeClr val="accent3"/>
                </a:solidFill>
              </a:rPr>
              <a:t>met wie</a:t>
            </a:r>
            <a:r>
              <a:rPr lang="en-US" sz="2200" dirty="0">
                <a:solidFill>
                  <a:schemeClr val="tx1"/>
                </a:solidFill>
              </a:rPr>
              <a:t> ik dit dossier voorbereid, is op vakantie. (voorbereiden </a:t>
            </a:r>
            <a:r>
              <a:rPr lang="en-US" sz="2200" i="1" dirty="0">
                <a:solidFill>
                  <a:schemeClr val="tx1"/>
                </a:solidFill>
              </a:rPr>
              <a:t>met</a:t>
            </a:r>
            <a:r>
              <a:rPr lang="en-US" sz="2200" dirty="0">
                <a:solidFill>
                  <a:schemeClr val="tx1"/>
                </a:solidFill>
              </a:rPr>
              <a:t> — personne)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5.  </a:t>
            </a:r>
            <a:r>
              <a:rPr lang="en-US" sz="2200" dirty="0">
                <a:solidFill>
                  <a:schemeClr val="tx1"/>
                </a:solidFill>
              </a:rPr>
              <a:t>Het budget </a:t>
            </a:r>
            <a:r>
              <a:rPr lang="en-US" sz="2200" b="1" dirty="0">
                <a:solidFill>
                  <a:schemeClr val="accent3"/>
                </a:solidFill>
              </a:rPr>
              <a:t>waarover</a:t>
            </a:r>
            <a:r>
              <a:rPr lang="en-US" sz="2200" dirty="0">
                <a:solidFill>
                  <a:schemeClr val="tx1"/>
                </a:solidFill>
              </a:rPr>
              <a:t> wij praten, is realistisch. (praten </a:t>
            </a:r>
            <a:r>
              <a:rPr lang="en-US" sz="2200" i="1" dirty="0">
                <a:solidFill>
                  <a:schemeClr val="tx1"/>
                </a:solidFill>
              </a:rPr>
              <a:t>over</a:t>
            </a:r>
            <a:r>
              <a:rPr lang="en-US" sz="2200" dirty="0">
                <a:solidFill>
                  <a:schemeClr val="tx1"/>
                </a:solidFill>
              </a:rPr>
              <a:t> — chose)</a:t>
            </a:r>
            <a:endParaRPr lang="en-US" sz="2200" dirty="0"/>
          </a:p>
        </p:txBody>
      </p:sp>
      <p:sp>
        <p:nvSpPr>
          <p:cNvPr id="9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Personne</a:t>
            </a:r>
            <a:r>
              <a:rPr lang="en-US" sz="1800" dirty="0">
                <a:solidFill>
                  <a:schemeClr val="tx1"/>
                </a:solidFill>
              </a:rPr>
              <a:t> → préposition + </a:t>
            </a:r>
            <a:r>
              <a:rPr lang="en-US" sz="1800" b="1" dirty="0">
                <a:solidFill>
                  <a:schemeClr val="tx1"/>
                </a:solidFill>
              </a:rPr>
              <a:t>wie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Chose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dirty="0">
                <a:solidFill>
                  <a:schemeClr val="tx1"/>
                </a:solidFill>
              </a:rPr>
              <a:t>waar</a:t>
            </a:r>
            <a:r>
              <a:rPr lang="en-US" sz="1800" dirty="0">
                <a:solidFill>
                  <a:schemeClr val="tx1"/>
                </a:solidFill>
              </a:rPr>
              <a:t> + préposition (soudés ou coupés : </a:t>
            </a:r>
            <a:r>
              <a:rPr lang="en-US" sz="1800" i="1" dirty="0">
                <a:solidFill>
                  <a:schemeClr val="tx1"/>
                </a:solidFill>
              </a:rPr>
              <a:t>waar u in geïnteresseerd bent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verbe reste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r>
              <a:rPr lang="en-US" sz="1800" dirty="0">
                <a:solidFill>
                  <a:schemeClr val="tx1"/>
                </a:solidFill>
              </a:rPr>
              <a:t> : bent · wacht · voorbereid · praten.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Luisteren — De bezichtiging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6667"/>
            </a:avLst>
          </a:prstGeom>
          <a:solidFill>
            <a:schemeClr val="accent2">
              <a:alpha val="10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1168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Dialogue de visite — lu deux fois par le professeur</a:t>
            </a:r>
            <a:endParaRPr lang="en-US" sz="26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Couche 1 · réception · seul · 10 min — un agent et un couple de clients visitent un bien.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74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1re écoute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Cochez</a:t>
            </a:r>
            <a:r>
              <a:rPr lang="en-US" sz="1800" dirty="0">
                <a:solidFill>
                  <a:schemeClr val="tx1"/>
                </a:solidFill>
              </a:rPr>
              <a:t> les pièces visitées (a).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4337304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624" y="34747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205984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2e écoute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4611624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Notez</a:t>
            </a:r>
            <a:r>
              <a:rPr lang="en-US" sz="1800" dirty="0">
                <a:solidFill>
                  <a:schemeClr val="tx1"/>
                </a:solidFill>
              </a:rPr>
              <a:t> les 3 questions des clients et la réponse de l’agent avec </a:t>
            </a:r>
            <a:r>
              <a:rPr lang="en-US" sz="1800" b="1" dirty="0">
                <a:solidFill>
                  <a:schemeClr val="tx1"/>
                </a:solidFill>
              </a:rPr>
              <a:t>er + préposition</a:t>
            </a:r>
            <a:r>
              <a:rPr lang="en-US" sz="1800" dirty="0">
                <a:solidFill>
                  <a:schemeClr val="tx1"/>
                </a:solidFill>
              </a:rPr>
              <a:t> (b, c, d).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8125968" y="3246120"/>
            <a:ext cx="3514344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288" y="34747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94648" y="3429000"/>
            <a:ext cx="2508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Ensuite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8400288" y="4114800"/>
            <a:ext cx="2965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Les clients veulent-ils </a:t>
            </a:r>
            <a:r>
              <a:rPr lang="en-US" sz="1800" b="1" dirty="0">
                <a:solidFill>
                  <a:schemeClr val="tx1"/>
                </a:solidFill>
              </a:rPr>
              <a:t>un bod</a:t>
            </a:r>
            <a:r>
              <a:rPr lang="en-US" sz="1800" dirty="0">
                <a:solidFill>
                  <a:schemeClr val="tx1"/>
                </a:solidFill>
              </a:rPr>
              <a:t> (e) ? Comparez à deux.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Luisteren — De bezichtiging : la grille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Notez des </a:t>
            </a:r>
            <a:r>
              <a:rPr lang="en-US" sz="1600" b="1" i="1" dirty="0">
                <a:solidFill>
                  <a:schemeClr val="accent5"/>
                </a:solidFill>
              </a:rPr>
              <a:t>mots-clés</a:t>
            </a:r>
            <a:r>
              <a:rPr lang="en-US" sz="1600" i="1" dirty="0">
                <a:solidFill>
                  <a:schemeClr val="accent5"/>
                </a:solidFill>
              </a:rPr>
              <a:t> (pièces, questions, réponses).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20640"/>
                <a:gridCol w="533095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 BEZICHTIGING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MOTS-CLÉS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Wat zijn de bezochte ruimtes?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Vraag 1 van de klanten + antwoord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Vraag 2 van de klanten + antwoord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Vraag 3 van de klanten + antwoord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6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Willen de klanten een bod uitbrengen?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Pièces : </a:t>
            </a:r>
            <a:r>
              <a:rPr lang="en-US" sz="1500" i="1" dirty="0">
                <a:solidFill>
                  <a:schemeClr val="accent5"/>
                </a:solidFill>
              </a:rPr>
              <a:t>de woonkamer · de keuken · de slaapkamer · de badkamer · het terras · de kelder</a:t>
            </a:r>
            <a:r>
              <a:rPr lang="en-US" sz="1500" i="1" dirty="0">
                <a:solidFill>
                  <a:schemeClr val="accent5"/>
                </a:solidFill>
              </a:rPr>
              <a:t>. Réponse de l’agent : cherchez </a:t>
            </a:r>
            <a:r>
              <a:rPr lang="en-US" sz="1500" i="1" dirty="0">
                <a:solidFill>
                  <a:schemeClr val="accent5"/>
                </a:solidFill>
              </a:rPr>
              <a:t>erover · erin · eraan · ervoor…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3 — De rondleiding : les deux rôles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Trois rondes de </a:t>
            </a:r>
            <a:r>
              <a:rPr lang="en-US" sz="1800" b="1" dirty="0">
                <a:solidFill>
                  <a:schemeClr val="tx1"/>
                </a:solidFill>
              </a:rPr>
              <a:t>4 min</a:t>
            </a:r>
            <a:r>
              <a:rPr lang="en-US" sz="1800" dirty="0">
                <a:solidFill>
                  <a:schemeClr val="tx1"/>
                </a:solidFill>
              </a:rPr>
              <a:t> : après chaque ronde, </a:t>
            </a:r>
            <a:r>
              <a:rPr lang="en-US" sz="1800" b="1" dirty="0">
                <a:solidFill>
                  <a:schemeClr val="tx1"/>
                </a:solidFill>
              </a:rPr>
              <a:t>changez de carte et de rôle</a:t>
            </a:r>
            <a:r>
              <a:rPr lang="en-US" sz="1800" dirty="0">
                <a:solidFill>
                  <a:schemeClr val="tx1"/>
                </a:solidFill>
              </a:rPr>
              <a:t>. Le 3e étudiant observe.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3456432"/>
          </a:xfrm>
          <a:prstGeom prst="roundRect">
            <a:avLst>
              <a:gd name="adj" fmla="val 264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makelaar (u-vorm !)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70632"/>
            <a:ext cx="476859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Faites visiter le </a:t>
            </a:r>
            <a:r>
              <a:rPr lang="en-US" sz="1600" b="1" dirty="0">
                <a:solidFill>
                  <a:schemeClr val="tx1"/>
                </a:solidFill>
              </a:rPr>
              <a:t>rijhuis de la TAAK 2</a:t>
            </a:r>
            <a:r>
              <a:rPr lang="en-US" sz="1600" dirty="0">
                <a:solidFill>
                  <a:schemeClr val="tx1"/>
                </a:solidFill>
              </a:rPr>
              <a:t>, pièce par pièce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 relatives</a:t>
            </a:r>
            <a:r>
              <a:rPr lang="en-US" sz="1600" dirty="0">
                <a:solidFill>
                  <a:schemeClr val="tx1"/>
                </a:solidFill>
              </a:rPr>
              <a:t> : «Dit is de keuken die…»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 adverbes pronominaux</a:t>
            </a:r>
            <a:r>
              <a:rPr lang="en-US" sz="1600" dirty="0">
                <a:solidFill>
                  <a:schemeClr val="tx1"/>
                </a:solidFill>
              </a:rPr>
              <a:t> : «Daarover kom ik zo terug»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 comparaison</a:t>
            </a:r>
            <a:r>
              <a:rPr lang="en-US" sz="1600" dirty="0">
                <a:solidFill>
                  <a:schemeClr val="tx1"/>
                </a:solidFill>
              </a:rPr>
              <a:t> : groter dan · even duur als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Imprévu</a:t>
            </a:r>
            <a:r>
              <a:rPr lang="en-US" sz="1600" dirty="0">
                <a:solidFill>
                  <a:schemeClr val="tx1"/>
                </a:solidFill>
              </a:rPr>
              <a:t> : «Daarop moet ik het antwoord opzoeken. Ik kom erop terug.»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14516" y="1947672"/>
            <a:ext cx="5225796" cy="3456432"/>
          </a:xfrm>
          <a:prstGeom prst="roundRect">
            <a:avLst>
              <a:gd name="adj" fmla="val 2646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De klant(en)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2770632"/>
            <a:ext cx="476859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Visitez et posez </a:t>
            </a:r>
            <a:r>
              <a:rPr lang="en-US" sz="1600" b="1" dirty="0">
                <a:solidFill>
                  <a:schemeClr val="tx1"/>
                </a:solidFill>
              </a:rPr>
              <a:t>au moins 3 questions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Dont une avec </a:t>
            </a:r>
            <a:r>
              <a:rPr lang="en-US" sz="1600" b="1" dirty="0">
                <a:solidFill>
                  <a:schemeClr val="tx1"/>
                </a:solidFill>
              </a:rPr>
              <a:t>waar + préposition</a:t>
            </a:r>
            <a:r>
              <a:rPr lang="en-US" sz="1600" dirty="0">
                <a:solidFill>
                  <a:schemeClr val="tx1"/>
                </a:solidFill>
              </a:rPr>
              <a:t> : «Waarvoor dient deze ruimte? Waaraan moet ik denken?»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Cartes : ① couple pressé · ② client méfiant · ③ investisseur (de huurprijs)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838444" y="341985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A/B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Grille de l’observateur — </a:t>
            </a:r>
            <a:r>
              <a:rPr lang="en-US" sz="1700" dirty="0">
                <a:solidFill>
                  <a:schemeClr val="tx1"/>
                </a:solidFill>
              </a:rPr>
              <a:t>relatives entendues · adverbes pronominaux · gestion de l’imprévu (que l’observateur glisse à mi-visite).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Boîte à outils : la rondleiding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5056632"/>
              </a:tblGrid>
              <a:tr h="547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Dit is de keuken die in 2025 vernieuwd is.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Voici la cuisine qui a été rénovée en 2025.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Dit is de slaapkamer die op de tuin uitkijkt.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Voici la chambre qui donne sur le jardin.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Waarvoor dient deze ruimte?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À quoi sert cette pièce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Waaraan moet ik denken?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À quoi dois-je penser ?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89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Daarover kom ik zo terug.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J’y reviens dans un instant.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34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Daarop moet ik het antwoord opzoeken. Ik kom erop terug.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Je dois chercher la réponse. J’y reviendrai.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34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De keuken is groter dan u denkt.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La cuisine est plus grande que vous ne le pensez.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Piège : </a:t>
            </a:r>
            <a:r>
              <a:rPr lang="en-US" sz="1500" i="1" dirty="0">
                <a:solidFill>
                  <a:schemeClr val="accent5"/>
                </a:solidFill>
              </a:rPr>
              <a:t>Daarop </a:t>
            </a:r>
            <a:r>
              <a:rPr lang="en-US" sz="1500" b="1" i="1" dirty="0">
                <a:solidFill>
                  <a:schemeClr val="accent5"/>
                </a:solidFill>
              </a:rPr>
              <a:t>moet ik</a:t>
            </a:r>
            <a:r>
              <a:rPr lang="en-US" sz="1500" i="1" dirty="0">
                <a:solidFill>
                  <a:schemeClr val="accent5"/>
                </a:solidFill>
              </a:rPr>
              <a:t> het antwoord opzoeken</a:t>
            </a:r>
            <a:r>
              <a:rPr lang="en-US" sz="1500" i="1" dirty="0">
                <a:solidFill>
                  <a:schemeClr val="accent5"/>
                </a:solidFill>
              </a:rPr>
              <a:t> — l’adverbe en tête, donc </a:t>
            </a:r>
            <a:r>
              <a:rPr lang="en-US" sz="1500" b="1" i="1" dirty="0">
                <a:solidFill>
                  <a:schemeClr val="accent5"/>
                </a:solidFill>
              </a:rPr>
              <a:t>inversion</a:t>
            </a:r>
            <a:r>
              <a:rPr lang="en-US" sz="1500" i="1" dirty="0">
                <a:solidFill>
                  <a:schemeClr val="accent5"/>
                </a:solidFill>
              </a:rPr>
              <a:t> (verbe en 2e position). ✗ </a:t>
            </a:r>
            <a:r>
              <a:rPr lang="en-US" sz="1500" i="1" dirty="0">
                <a:solidFill>
                  <a:schemeClr val="accent5"/>
                </a:solidFill>
              </a:rPr>
              <a:t>Daarop ik moet…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3 — Une visite réussie (modèle)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DIALOOG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  </a:t>
            </a:r>
            <a:r>
              <a:rPr lang="en-US" sz="1700" b="1" dirty="0">
                <a:solidFill>
                  <a:schemeClr val="accent1"/>
                </a:solidFill>
              </a:rPr>
              <a:t>Makelaar :  </a:t>
            </a:r>
            <a:r>
              <a:rPr lang="en-US" sz="1700" dirty="0">
                <a:solidFill>
                  <a:schemeClr val="tx1"/>
                </a:solidFill>
              </a:rPr>
              <a:t>«Welkom! Dit is de woonkamer, die op het zuiden ligt.»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  </a:t>
            </a:r>
            <a:r>
              <a:rPr lang="en-US" sz="1700" b="1" dirty="0">
                <a:solidFill>
                  <a:schemeClr val="accent2"/>
                </a:solidFill>
              </a:rPr>
              <a:t>Klant :  </a:t>
            </a:r>
            <a:r>
              <a:rPr lang="en-US" sz="1700" dirty="0">
                <a:solidFill>
                  <a:schemeClr val="tx1"/>
                </a:solidFill>
              </a:rPr>
              <a:t>«Mooi licht! En de keuken?»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3  </a:t>
            </a:r>
            <a:r>
              <a:rPr lang="en-US" sz="1700" b="1" dirty="0">
                <a:solidFill>
                  <a:schemeClr val="accent1"/>
                </a:solidFill>
              </a:rPr>
              <a:t>Makelaar :  </a:t>
            </a:r>
            <a:r>
              <a:rPr lang="en-US" sz="1700" dirty="0">
                <a:solidFill>
                  <a:schemeClr val="tx1"/>
                </a:solidFill>
              </a:rPr>
              <a:t>«Dit is de open keuken die in 2025 vernieuwd is. Ze is groter dan u denkt.»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4  </a:t>
            </a:r>
            <a:r>
              <a:rPr lang="en-US" sz="1700" b="1" dirty="0">
                <a:solidFill>
                  <a:schemeClr val="accent2"/>
                </a:solidFill>
              </a:rPr>
              <a:t>Klant :  </a:t>
            </a:r>
            <a:r>
              <a:rPr lang="en-US" sz="1700" dirty="0">
                <a:solidFill>
                  <a:schemeClr val="tx1"/>
                </a:solidFill>
              </a:rPr>
              <a:t>«Waarvoor dient die kleine kamer?»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5  </a:t>
            </a:r>
            <a:r>
              <a:rPr lang="en-US" sz="1700" b="1" dirty="0">
                <a:solidFill>
                  <a:schemeClr val="accent1"/>
                </a:solidFill>
              </a:rPr>
              <a:t>Makelaar :  </a:t>
            </a:r>
            <a:r>
              <a:rPr lang="en-US" sz="1700" dirty="0">
                <a:solidFill>
                  <a:schemeClr val="tx1"/>
                </a:solidFill>
              </a:rPr>
              <a:t>«Dat is het bureau, ideaal voor een klant die thuis werkt. Daar kunt u ook een kinderkamer van maken.»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6  </a:t>
            </a:r>
            <a:r>
              <a:rPr lang="en-US" sz="1700" b="1" dirty="0">
                <a:solidFill>
                  <a:schemeClr val="accent2"/>
                </a:solidFill>
              </a:rPr>
              <a:t>Klant :  </a:t>
            </a:r>
            <a:r>
              <a:rPr lang="en-US" sz="1700" dirty="0">
                <a:solidFill>
                  <a:schemeClr val="tx1"/>
                </a:solidFill>
              </a:rPr>
              <a:t>«Waaraan moet ik denken als ik de badkamer wil vernieuwen?»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7  </a:t>
            </a:r>
            <a:r>
              <a:rPr lang="en-US" sz="1700" b="1" dirty="0">
                <a:solidFill>
                  <a:schemeClr val="accent1"/>
                </a:solidFill>
              </a:rPr>
              <a:t>Makelaar :  </a:t>
            </a:r>
            <a:r>
              <a:rPr lang="en-US" sz="1700" dirty="0">
                <a:solidFill>
                  <a:schemeClr val="tx1"/>
                </a:solidFill>
              </a:rPr>
              <a:t>«Daarop moet ik het antwoord opzoeken. Ik kom erop terug.»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8  </a:t>
            </a:r>
            <a:r>
              <a:rPr lang="en-US" sz="1700" b="1" dirty="0">
                <a:solidFill>
                  <a:schemeClr val="accent2"/>
                </a:solidFill>
              </a:rPr>
              <a:t>Klant :  </a:t>
            </a:r>
            <a:r>
              <a:rPr lang="en-US" sz="1700" dirty="0">
                <a:solidFill>
                  <a:schemeClr val="tx1"/>
                </a:solidFill>
              </a:rPr>
              <a:t>«Goed. Is de buurt rustig?»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9  </a:t>
            </a:r>
            <a:r>
              <a:rPr lang="en-US" sz="1700" b="1" dirty="0">
                <a:solidFill>
                  <a:schemeClr val="accent1"/>
                </a:solidFill>
              </a:rPr>
              <a:t>Makelaar :  </a:t>
            </a:r>
            <a:r>
              <a:rPr lang="en-US" sz="1700" dirty="0">
                <a:solidFill>
                  <a:schemeClr val="tx1"/>
                </a:solidFill>
              </a:rPr>
              <a:t>«Ja, het is een buurt waar u goed kunt wonen: de halte ligt om de hoek.»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10  </a:t>
            </a:r>
            <a:r>
              <a:rPr lang="en-US" sz="1700" b="1" dirty="0">
                <a:solidFill>
                  <a:schemeClr val="accent2"/>
                </a:solidFill>
              </a:rPr>
              <a:t>Klant :  </a:t>
            </a:r>
            <a:r>
              <a:rPr lang="en-US" sz="1700" dirty="0">
                <a:solidFill>
                  <a:schemeClr val="tx1"/>
                </a:solidFill>
              </a:rPr>
              <a:t>«Dank u wel. Ik denk er nog over na.»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— Zo zeg je dat : werkwoorden met een vast voorzetsel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743200"/>
                <a:gridCol w="277063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96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zin hebben in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avoir envie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genieten van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savourer, profiter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96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uitkijken naar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se réjouir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trots zijn op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être fier / fière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96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denken aan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penser à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bang zijn voor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avoir peur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96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wachten op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attendre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praten over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parler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967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zich ergeren aan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être agacé·e par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zorgen voor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s’occuper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Mémorisez par </a:t>
            </a:r>
            <a:r>
              <a:rPr lang="en-US" sz="1500" b="1" i="1" dirty="0">
                <a:solidFill>
                  <a:schemeClr val="accent5"/>
                </a:solidFill>
              </a:rPr>
              <a:t>paires</a:t>
            </a:r>
            <a:r>
              <a:rPr lang="en-US" sz="1500" i="1" dirty="0">
                <a:solidFill>
                  <a:schemeClr val="accent5"/>
                </a:solidFill>
              </a:rPr>
              <a:t> verbe + préposition, comme des collocations : la préposition fait partie du verbe.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— Le calque du français : la préposition manque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9167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En français, </a:t>
            </a:r>
            <a:r>
              <a:rPr lang="en-US" sz="1700" i="1" dirty="0">
                <a:solidFill>
                  <a:schemeClr val="accent5"/>
                </a:solidFill>
              </a:rPr>
              <a:t>attendre, aimer, écouter</a:t>
            </a:r>
            <a:r>
              <a:rPr lang="en-US" sz="1700" i="1" dirty="0">
                <a:solidFill>
                  <a:schemeClr val="accent5"/>
                </a:solidFill>
              </a:rPr>
              <a:t> se construisent </a:t>
            </a:r>
            <a:r>
              <a:rPr lang="en-US" sz="1700" b="1" i="1" dirty="0">
                <a:solidFill>
                  <a:schemeClr val="accent5"/>
                </a:solidFill>
              </a:rPr>
              <a:t>sans préposition</a:t>
            </a:r>
            <a:r>
              <a:rPr lang="en-US" sz="1700" i="1" dirty="0">
                <a:solidFill>
                  <a:schemeClr val="accent5"/>
                </a:solidFill>
              </a:rPr>
              <a:t>. En néerlandais, impossible !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932432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127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932432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wacht de tram.</a:t>
            </a:r>
            <a:endParaRPr lang="en-US" sz="2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127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37760" y="1932432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wacht </a:t>
            </a:r>
            <a:r>
              <a:rPr lang="en-US" sz="2000" b="1" dirty="0">
                <a:solidFill>
                  <a:schemeClr val="tx1"/>
                </a:solidFill>
              </a:rPr>
              <a:t>op</a:t>
            </a:r>
            <a:r>
              <a:rPr lang="en-US" sz="2000" dirty="0">
                <a:solidFill>
                  <a:schemeClr val="tx1"/>
                </a:solidFill>
              </a:rPr>
              <a:t> de tram.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8458200" y="1932432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wachten </a:t>
            </a:r>
            <a:r>
              <a:rPr lang="en-US" sz="1800" b="1" i="1" dirty="0">
                <a:solidFill>
                  <a:schemeClr val="accent5"/>
                </a:solidFill>
              </a:rPr>
              <a:t>op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2677160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75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2677160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luister muziek.</a:t>
            </a:r>
            <a:endParaRPr lang="en-US" sz="2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575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37760" y="2677160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luister </a:t>
            </a:r>
            <a:r>
              <a:rPr lang="en-US" sz="2000" b="1" dirty="0">
                <a:solidFill>
                  <a:schemeClr val="tx1"/>
                </a:solidFill>
              </a:rPr>
              <a:t>naar</a:t>
            </a:r>
            <a:r>
              <a:rPr lang="en-US" sz="2000" dirty="0">
                <a:solidFill>
                  <a:schemeClr val="tx1"/>
                </a:solidFill>
              </a:rPr>
              <a:t> muziek.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8458200" y="2677160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luisteren </a:t>
            </a:r>
            <a:r>
              <a:rPr lang="en-US" sz="1800" b="1" i="1" dirty="0">
                <a:solidFill>
                  <a:schemeClr val="accent5"/>
                </a:solidFill>
              </a:rPr>
              <a:t>naar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548640" y="3421888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0222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51560" y="3421888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hou chocolade.</a:t>
            </a:r>
            <a:endParaRPr lang="en-US" sz="2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02228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937760" y="3421888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hou </a:t>
            </a:r>
            <a:r>
              <a:rPr lang="en-US" sz="2000" b="1" dirty="0">
                <a:solidFill>
                  <a:schemeClr val="tx1"/>
                </a:solidFill>
              </a:rPr>
              <a:t>van</a:t>
            </a:r>
            <a:r>
              <a:rPr lang="en-US" sz="2000" dirty="0">
                <a:solidFill>
                  <a:schemeClr val="tx1"/>
                </a:solidFill>
              </a:rPr>
              <a:t> chocolade.</a:t>
            </a:r>
            <a:endParaRPr lang="en-US" sz="2000" dirty="0"/>
          </a:p>
        </p:txBody>
      </p:sp>
      <p:sp>
        <p:nvSpPr>
          <p:cNvPr id="24" name="Text 15"/>
          <p:cNvSpPr txBox="1"/>
          <p:nvPr/>
        </p:nvSpPr>
        <p:spPr>
          <a:xfrm>
            <a:off x="8458200" y="3421888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houden </a:t>
            </a:r>
            <a:r>
              <a:rPr lang="en-US" sz="1800" b="1" i="1" dirty="0">
                <a:solidFill>
                  <a:schemeClr val="accent5"/>
                </a:solidFill>
              </a:rPr>
              <a:t>van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48640" y="4166616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46956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51560" y="4166616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ben bang van honden.</a:t>
            </a:r>
            <a:endParaRPr lang="en-US" sz="2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346956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4937760" y="4166616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ben bang </a:t>
            </a:r>
            <a:r>
              <a:rPr lang="en-US" sz="2000" b="1" dirty="0">
                <a:solidFill>
                  <a:schemeClr val="tx1"/>
                </a:solidFill>
              </a:rPr>
              <a:t>voor</a:t>
            </a:r>
            <a:r>
              <a:rPr lang="en-US" sz="2000" dirty="0">
                <a:solidFill>
                  <a:schemeClr val="tx1"/>
                </a:solidFill>
              </a:rPr>
              <a:t> honden.</a:t>
            </a:r>
            <a:endParaRPr lang="en-US" sz="2000" dirty="0"/>
          </a:p>
        </p:txBody>
      </p:sp>
      <p:sp>
        <p:nvSpPr>
          <p:cNvPr id="30" name="Text 19"/>
          <p:cNvSpPr txBox="1"/>
          <p:nvPr/>
        </p:nvSpPr>
        <p:spPr>
          <a:xfrm>
            <a:off x="8458200" y="4166616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bang zijn </a:t>
            </a:r>
            <a:r>
              <a:rPr lang="en-US" sz="1800" b="1" i="1" dirty="0">
                <a:solidFill>
                  <a:schemeClr val="accent5"/>
                </a:solidFill>
              </a:rPr>
              <a:t>voor</a:t>
            </a:r>
            <a:endParaRPr lang="en-US" sz="1800" dirty="0"/>
          </a:p>
        </p:txBody>
      </p:sp>
      <p:sp>
        <p:nvSpPr>
          <p:cNvPr id="31" name="Shape 20"/>
          <p:cNvSpPr/>
          <p:nvPr/>
        </p:nvSpPr>
        <p:spPr>
          <a:xfrm>
            <a:off x="548640" y="4911344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091684"/>
            <a:ext cx="274320" cy="27432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051560" y="4911344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denk mijn zus.</a:t>
            </a:r>
            <a:endParaRPr lang="en-US" sz="20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091684"/>
            <a:ext cx="274320" cy="27432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937760" y="4911344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denk </a:t>
            </a:r>
            <a:r>
              <a:rPr lang="en-US" sz="2000" b="1" dirty="0">
                <a:solidFill>
                  <a:schemeClr val="tx1"/>
                </a:solidFill>
              </a:rPr>
              <a:t>aan</a:t>
            </a:r>
            <a:r>
              <a:rPr lang="en-US" sz="2000" dirty="0">
                <a:solidFill>
                  <a:schemeClr val="tx1"/>
                </a:solidFill>
              </a:rPr>
              <a:t> mijn zus.</a:t>
            </a:r>
            <a:endParaRPr lang="en-US" sz="2000" dirty="0"/>
          </a:p>
        </p:txBody>
      </p:sp>
      <p:sp>
        <p:nvSpPr>
          <p:cNvPr id="36" name="Text 23"/>
          <p:cNvSpPr txBox="1"/>
          <p:nvPr/>
        </p:nvSpPr>
        <p:spPr>
          <a:xfrm>
            <a:off x="8458200" y="4911344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denken </a:t>
            </a:r>
            <a:r>
              <a:rPr lang="en-US" sz="1800" b="1" i="1" dirty="0">
                <a:solidFill>
                  <a:schemeClr val="accent5"/>
                </a:solidFill>
              </a:rPr>
              <a:t>aan</a:t>
            </a:r>
            <a:endParaRPr lang="en-US" sz="1800" dirty="0"/>
          </a:p>
        </p:txBody>
      </p:sp>
      <p:sp>
        <p:nvSpPr>
          <p:cNvPr id="37" name="Shape 24"/>
          <p:cNvSpPr/>
          <p:nvPr/>
        </p:nvSpPr>
        <p:spPr>
          <a:xfrm>
            <a:off x="548640" y="5656072"/>
            <a:ext cx="11091672" cy="635000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836412"/>
            <a:ext cx="274320" cy="27432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1051560" y="5656072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trike="sngStrike" dirty="0">
                <a:solidFill>
                  <a:schemeClr val="accent6"/>
                </a:solidFill>
              </a:rPr>
              <a:t>Ik kijk uit de vakantie.</a:t>
            </a:r>
            <a:endParaRPr lang="en-US" sz="2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836412"/>
            <a:ext cx="274320" cy="27432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4937760" y="5656072"/>
            <a:ext cx="32918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Ik kijk </a:t>
            </a:r>
            <a:r>
              <a:rPr lang="en-US" sz="2000" b="1" dirty="0">
                <a:solidFill>
                  <a:schemeClr val="tx1"/>
                </a:solidFill>
              </a:rPr>
              <a:t>uit naar</a:t>
            </a:r>
            <a:r>
              <a:rPr lang="en-US" sz="2000" dirty="0">
                <a:solidFill>
                  <a:schemeClr val="tx1"/>
                </a:solidFill>
              </a:rPr>
              <a:t> de vakantie.</a:t>
            </a:r>
            <a:endParaRPr lang="en-US" sz="2000" dirty="0"/>
          </a:p>
        </p:txBody>
      </p:sp>
      <p:sp>
        <p:nvSpPr>
          <p:cNvPr id="42" name="Text 27"/>
          <p:cNvSpPr txBox="1"/>
          <p:nvPr/>
        </p:nvSpPr>
        <p:spPr>
          <a:xfrm>
            <a:off x="8458200" y="5656072"/>
            <a:ext cx="30906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uitkijken </a:t>
            </a:r>
            <a:r>
              <a:rPr lang="en-US" sz="1800" b="1" i="1" dirty="0">
                <a:solidFill>
                  <a:schemeClr val="accent5"/>
                </a:solidFill>
              </a:rPr>
              <a:t>naar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— Speed-dating : Waar heb jij zin in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 · par deux · 3 min par binôme, puis on tourne. Posez une question avec </a:t>
            </a:r>
            <a:r>
              <a:rPr lang="en-US" sz="1600" b="1" i="1" dirty="0">
                <a:solidFill>
                  <a:schemeClr val="accent5"/>
                </a:solidFill>
              </a:rPr>
              <a:t>waar + préposition</a:t>
            </a:r>
            <a:r>
              <a:rPr lang="en-US" sz="1600" i="1" dirty="0">
                <a:solidFill>
                  <a:schemeClr val="accent5"/>
                </a:solidFill>
              </a:rPr>
              <a:t>, répondez, puis réagissez avec </a:t>
            </a:r>
            <a:r>
              <a:rPr lang="en-US" sz="1600" b="1" i="1" dirty="0">
                <a:solidFill>
                  <a:schemeClr val="accent5"/>
                </a:solidFill>
              </a:rPr>
              <a:t>daar + préposition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①  </a:t>
            </a:r>
            <a:r>
              <a:rPr lang="en-US" sz="2400" dirty="0">
                <a:solidFill>
                  <a:schemeClr val="tx1"/>
                </a:solidFill>
              </a:rPr>
              <a:t>Waar kijk je deze maand naar uit?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②  </a:t>
            </a:r>
            <a:r>
              <a:rPr lang="en-US" sz="2400" dirty="0">
                <a:solidFill>
                  <a:schemeClr val="tx1"/>
                </a:solidFill>
              </a:rPr>
              <a:t>Waaraan erger je je op de tram of in de trein?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③  </a:t>
            </a:r>
            <a:r>
              <a:rPr lang="en-US" sz="2400" dirty="0">
                <a:solidFill>
                  <a:schemeClr val="tx1"/>
                </a:solidFill>
              </a:rPr>
              <a:t>Waar geniet je van op zondag?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④  </a:t>
            </a:r>
            <a:r>
              <a:rPr lang="en-US" sz="2400" dirty="0">
                <a:solidFill>
                  <a:schemeClr val="tx1"/>
                </a:solidFill>
              </a:rPr>
              <a:t>Waar ben je trots op?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⑤  </a:t>
            </a:r>
            <a:r>
              <a:rPr lang="en-US" sz="2400" dirty="0">
                <a:solidFill>
                  <a:schemeClr val="tx1"/>
                </a:solidFill>
              </a:rPr>
              <a:t>Waarover praat je graag met je vrienden?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⑥  </a:t>
            </a:r>
            <a:r>
              <a:rPr lang="en-US" sz="2400" dirty="0">
                <a:solidFill>
                  <a:schemeClr val="tx1"/>
                </a:solidFill>
              </a:rPr>
              <a:t>Waar ben je een beetje bang voor?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Vervang door er + voorzetsel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2054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Seul·e · 5 min. Remplacez le groupe en </a:t>
            </a:r>
            <a:r>
              <a:rPr lang="en-US" sz="1600" b="1" i="1" dirty="0">
                <a:solidFill>
                  <a:schemeClr val="accent5"/>
                </a:solidFill>
              </a:rPr>
              <a:t>gras</a:t>
            </a:r>
            <a:r>
              <a:rPr lang="en-US" sz="1600" i="1" dirty="0">
                <a:solidFill>
                  <a:schemeClr val="accent5"/>
                </a:solidFill>
              </a:rPr>
              <a:t> par un adverbe pronominal (</a:t>
            </a:r>
            <a:r>
              <a:rPr lang="en-US" sz="1600" b="1" i="1" dirty="0">
                <a:solidFill>
                  <a:schemeClr val="accent5"/>
                </a:solidFill>
              </a:rPr>
              <a:t>er + préposition</a:t>
            </a:r>
            <a:r>
              <a:rPr lang="en-US" sz="1600" i="1" dirty="0">
                <a:solidFill>
                  <a:schemeClr val="accent5"/>
                </a:solidFill>
              </a:rPr>
              <a:t>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2054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Ik wacht op </a:t>
            </a:r>
            <a:r>
              <a:rPr lang="en-US" sz="2600" b="1" dirty="0">
                <a:solidFill>
                  <a:schemeClr val="tx1"/>
                </a:solidFill>
              </a:rPr>
              <a:t>de tram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Wij praten over </a:t>
            </a:r>
            <a:r>
              <a:rPr lang="en-US" sz="2600" b="1" dirty="0">
                <a:solidFill>
                  <a:schemeClr val="tx1"/>
                </a:solidFill>
              </a:rPr>
              <a:t>het budget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Stef denkt aan </a:t>
            </a:r>
            <a:r>
              <a:rPr lang="en-US" sz="2600" b="1" dirty="0">
                <a:solidFill>
                  <a:schemeClr val="tx1"/>
                </a:solidFill>
              </a:rPr>
              <a:t>een fiets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Ik heb zin in </a:t>
            </a:r>
            <a:r>
              <a:rPr lang="en-US" sz="2600" b="1" dirty="0">
                <a:solidFill>
                  <a:schemeClr val="tx1"/>
                </a:solidFill>
              </a:rPr>
              <a:t>een etentje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Yasmina werkt met </a:t>
            </a:r>
            <a:r>
              <a:rPr lang="en-US" sz="2600" b="1" dirty="0">
                <a:solidFill>
                  <a:schemeClr val="tx1"/>
                </a:solidFill>
              </a:rPr>
              <a:t>de nieuwe software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Hij kijkt uit naar </a:t>
            </a:r>
            <a:r>
              <a:rPr lang="en-US" sz="2600" b="1" dirty="0">
                <a:solidFill>
                  <a:schemeClr val="tx1"/>
                </a:solidFill>
              </a:rPr>
              <a:t>het weekend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Vervang door er + voorzetsel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2054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Seul·e · 5 min. Remplacez le groupe en </a:t>
            </a:r>
            <a:r>
              <a:rPr lang="en-US" sz="1600" b="1" i="1" dirty="0">
                <a:solidFill>
                  <a:schemeClr val="accent5"/>
                </a:solidFill>
              </a:rPr>
              <a:t>gras</a:t>
            </a:r>
            <a:r>
              <a:rPr lang="en-US" sz="1600" i="1" dirty="0">
                <a:solidFill>
                  <a:schemeClr val="accent5"/>
                </a:solidFill>
              </a:rPr>
              <a:t> par un adverbe pronominal (</a:t>
            </a:r>
            <a:r>
              <a:rPr lang="en-US" sz="1600" b="1" i="1" dirty="0">
                <a:solidFill>
                  <a:schemeClr val="accent5"/>
                </a:solidFill>
              </a:rPr>
              <a:t>er + préposition</a:t>
            </a:r>
            <a:r>
              <a:rPr lang="en-US" sz="1600" i="1" dirty="0">
                <a:solidFill>
                  <a:schemeClr val="accent5"/>
                </a:solidFill>
              </a:rPr>
              <a:t>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205472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1.  </a:t>
            </a:r>
            <a:r>
              <a:rPr lang="en-US" sz="1500" dirty="0">
                <a:solidFill>
                  <a:schemeClr val="tx1"/>
                </a:solidFill>
              </a:rPr>
              <a:t>Ik wacht op </a:t>
            </a:r>
            <a:r>
              <a:rPr lang="en-US" sz="1500" b="1" dirty="0">
                <a:solidFill>
                  <a:schemeClr val="tx1"/>
                </a:solidFill>
              </a:rPr>
              <a:t>de tram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Ik wacht </a:t>
            </a:r>
            <a:r>
              <a:rPr lang="en-US" sz="1500" b="1" dirty="0">
                <a:solidFill>
                  <a:schemeClr val="accent3"/>
                </a:solidFill>
              </a:rPr>
              <a:t>erop</a:t>
            </a:r>
            <a:r>
              <a:rPr lang="en-US" sz="1500" dirty="0">
                <a:solidFill>
                  <a:schemeClr val="accent3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2.  </a:t>
            </a:r>
            <a:r>
              <a:rPr lang="en-US" sz="1500" dirty="0">
                <a:solidFill>
                  <a:schemeClr val="tx1"/>
                </a:solidFill>
              </a:rPr>
              <a:t>Wij praten over </a:t>
            </a:r>
            <a:r>
              <a:rPr lang="en-US" sz="1500" b="1" dirty="0">
                <a:solidFill>
                  <a:schemeClr val="tx1"/>
                </a:solidFill>
              </a:rPr>
              <a:t>het budget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Wij praten </a:t>
            </a:r>
            <a:r>
              <a:rPr lang="en-US" sz="1500" b="1" dirty="0">
                <a:solidFill>
                  <a:schemeClr val="accent3"/>
                </a:solidFill>
              </a:rPr>
              <a:t>erover</a:t>
            </a:r>
            <a:r>
              <a:rPr lang="en-US" sz="1500" dirty="0">
                <a:solidFill>
                  <a:schemeClr val="accent3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3.  </a:t>
            </a:r>
            <a:r>
              <a:rPr lang="en-US" sz="1500" dirty="0">
                <a:solidFill>
                  <a:schemeClr val="tx1"/>
                </a:solidFill>
              </a:rPr>
              <a:t>Stef denkt aan </a:t>
            </a:r>
            <a:r>
              <a:rPr lang="en-US" sz="1500" b="1" dirty="0">
                <a:solidFill>
                  <a:schemeClr val="tx1"/>
                </a:solidFill>
              </a:rPr>
              <a:t>een fiets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Stef denkt </a:t>
            </a:r>
            <a:r>
              <a:rPr lang="en-US" sz="1500" b="1" dirty="0">
                <a:solidFill>
                  <a:schemeClr val="accent3"/>
                </a:solidFill>
              </a:rPr>
              <a:t>eraan</a:t>
            </a:r>
            <a:r>
              <a:rPr lang="en-US" sz="1500" dirty="0">
                <a:solidFill>
                  <a:schemeClr val="accent3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4.  </a:t>
            </a:r>
            <a:r>
              <a:rPr lang="en-US" sz="1500" dirty="0">
                <a:solidFill>
                  <a:schemeClr val="tx1"/>
                </a:solidFill>
              </a:rPr>
              <a:t>Ik heb zin in </a:t>
            </a:r>
            <a:r>
              <a:rPr lang="en-US" sz="1500" b="1" dirty="0">
                <a:solidFill>
                  <a:schemeClr val="tx1"/>
                </a:solidFill>
              </a:rPr>
              <a:t>een etentje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Ik heb </a:t>
            </a:r>
            <a:r>
              <a:rPr lang="en-US" sz="1500" b="1" dirty="0">
                <a:solidFill>
                  <a:schemeClr val="accent3"/>
                </a:solidFill>
              </a:rPr>
              <a:t>er</a:t>
            </a:r>
            <a:r>
              <a:rPr lang="en-US" sz="1500" dirty="0">
                <a:solidFill>
                  <a:schemeClr val="accent3"/>
                </a:solidFill>
              </a:rPr>
              <a:t> zin </a:t>
            </a:r>
            <a:r>
              <a:rPr lang="en-US" sz="1500" b="1" dirty="0">
                <a:solidFill>
                  <a:schemeClr val="accent3"/>
                </a:solidFill>
              </a:rPr>
              <a:t>in</a:t>
            </a:r>
            <a:r>
              <a:rPr lang="en-US" sz="1500" dirty="0">
                <a:solidFill>
                  <a:schemeClr val="accent3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5.  </a:t>
            </a:r>
            <a:r>
              <a:rPr lang="en-US" sz="1500" dirty="0">
                <a:solidFill>
                  <a:schemeClr val="tx1"/>
                </a:solidFill>
              </a:rPr>
              <a:t>Yasmina werkt met </a:t>
            </a:r>
            <a:r>
              <a:rPr lang="en-US" sz="1500" b="1" dirty="0">
                <a:solidFill>
                  <a:schemeClr val="tx1"/>
                </a:solidFill>
              </a:rPr>
              <a:t>de nieuwe software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Yasmina werkt </a:t>
            </a:r>
            <a:r>
              <a:rPr lang="en-US" sz="1500" b="1" dirty="0">
                <a:solidFill>
                  <a:schemeClr val="accent3"/>
                </a:solidFill>
              </a:rPr>
              <a:t>ermee</a:t>
            </a:r>
            <a:r>
              <a:rPr lang="en-US" sz="1500" dirty="0">
                <a:solidFill>
                  <a:schemeClr val="accent3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6.  </a:t>
            </a:r>
            <a:r>
              <a:rPr lang="en-US" sz="1500" dirty="0">
                <a:solidFill>
                  <a:schemeClr val="tx1"/>
                </a:solidFill>
              </a:rPr>
              <a:t>Hij kijkt uit naar </a:t>
            </a:r>
            <a:r>
              <a:rPr lang="en-US" sz="1500" b="1" dirty="0">
                <a:solidFill>
                  <a:schemeClr val="tx1"/>
                </a:solidFill>
              </a:rPr>
              <a:t>het weekend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→ </a:t>
            </a:r>
            <a:r>
              <a:rPr lang="en-US" sz="1500" dirty="0">
                <a:solidFill>
                  <a:schemeClr val="accent3"/>
                </a:solidFill>
              </a:rPr>
              <a:t>Hij kijkt </a:t>
            </a:r>
            <a:r>
              <a:rPr lang="en-US" sz="1500" b="1" dirty="0">
                <a:solidFill>
                  <a:schemeClr val="accent3"/>
                </a:solidFill>
              </a:rPr>
              <a:t>ernaar</a:t>
            </a:r>
            <a:r>
              <a:rPr lang="en-US" sz="1500" dirty="0">
                <a:solidFill>
                  <a:schemeClr val="accent3"/>
                </a:solidFill>
              </a:rPr>
              <a:t> uit.</a:t>
            </a:r>
            <a:endParaRPr lang="en-US" sz="1500" dirty="0"/>
          </a:p>
        </p:txBody>
      </p:sp>
      <p:sp>
        <p:nvSpPr>
          <p:cNvPr id="9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met → mee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ermee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Coupé : </a:t>
            </a:r>
            <a:r>
              <a:rPr lang="en-US" sz="1800" i="1" dirty="0">
                <a:solidFill>
                  <a:schemeClr val="tx1"/>
                </a:solidFill>
              </a:rPr>
              <a:t>Ik heb </a:t>
            </a:r>
            <a:r>
              <a:rPr lang="en-US" sz="1800" b="1" i="1" dirty="0">
                <a:solidFill>
                  <a:schemeClr val="tx1"/>
                </a:solidFill>
              </a:rPr>
              <a:t>er</a:t>
            </a:r>
            <a:r>
              <a:rPr lang="en-US" sz="1800" i="1" dirty="0">
                <a:solidFill>
                  <a:schemeClr val="tx1"/>
                </a:solidFill>
              </a:rPr>
              <a:t> zin </a:t>
            </a:r>
            <a:r>
              <a:rPr lang="en-US" sz="1800" b="1" i="1" dirty="0">
                <a:solidFill>
                  <a:schemeClr val="tx1"/>
                </a:solidFill>
              </a:rPr>
              <a:t>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Séparable : </a:t>
            </a:r>
            <a:r>
              <a:rPr lang="en-US" sz="1800" i="1" dirty="0">
                <a:solidFill>
                  <a:schemeClr val="tx1"/>
                </a:solidFill>
              </a:rPr>
              <a:t>Hij kijkt </a:t>
            </a:r>
            <a:r>
              <a:rPr lang="en-US" sz="1800" b="1" i="1" dirty="0">
                <a:solidFill>
                  <a:schemeClr val="tx1"/>
                </a:solidFill>
              </a:rPr>
              <a:t>ernaar</a:t>
            </a:r>
            <a:r>
              <a:rPr lang="en-US" sz="1800" i="1" dirty="0">
                <a:solidFill>
                  <a:schemeClr val="tx1"/>
                </a:solidFill>
              </a:rPr>
              <a:t> uit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Personne</a:t>
            </a:r>
            <a:r>
              <a:rPr lang="en-US" sz="1800" dirty="0">
                <a:solidFill>
                  <a:schemeClr val="tx1"/>
                </a:solidFill>
              </a:rPr>
              <a:t> : pas de « er » : </a:t>
            </a:r>
            <a:r>
              <a:rPr lang="en-US" sz="1800" i="1" dirty="0">
                <a:solidFill>
                  <a:schemeClr val="tx1"/>
                </a:solidFill>
              </a:rPr>
              <a:t>Ik wacht </a:t>
            </a:r>
            <a:r>
              <a:rPr lang="en-US" sz="1800" b="1" i="1" dirty="0">
                <a:solidFill>
                  <a:schemeClr val="tx1"/>
                </a:solidFill>
              </a:rPr>
              <a:t>op hem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4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zodra, tenzij, aangezien…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six nouvelles conjonctions, la langue du contrat, et la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mail de meneer Peeters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 tableau </a:t>
            </a:r>
            <a:r>
              <a:rPr lang="en-US" sz="1700" b="1" dirty="0">
                <a:solidFill>
                  <a:schemeClr val="tx1"/>
                </a:solidFill>
              </a:rPr>
              <a:t>waar / er / daar + préposition</a:t>
            </a:r>
            <a:r>
              <a:rPr lang="en-US" sz="1700" dirty="0">
                <a:solidFill>
                  <a:schemeClr val="tx1"/>
                </a:solidFill>
              </a:rPr>
              <a:t> (met → mee, tot → toe).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vraies avec un adverbe pronominal (D3).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Préparer la </a:t>
            </a:r>
            <a:r>
              <a:rPr lang="en-US" sz="1700" b="1" dirty="0">
                <a:solidFill>
                  <a:schemeClr val="tx1"/>
                </a:solidFill>
              </a:rPr>
              <a:t>TAAK 3</a:t>
            </a:r>
            <a:r>
              <a:rPr lang="en-US" sz="1700" dirty="0">
                <a:solidFill>
                  <a:schemeClr val="tx1"/>
                </a:solidFill>
              </a:rPr>
              <a:t> avec une 2e carte de situation (rôles inversés).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les deux dialogues : repérer les adverbes pronominaux </a:t>
            </a:r>
            <a:r>
              <a:rPr lang="en-US" sz="1700" b="1" dirty="0">
                <a:solidFill>
                  <a:schemeClr val="tx1"/>
                </a:solidFill>
              </a:rPr>
              <a:t>coupés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Remplacez par un adverbe pronominal : </a:t>
            </a:r>
            <a:r>
              <a:rPr lang="en-US" sz="1600" i="1" dirty="0">
                <a:solidFill>
                  <a:schemeClr val="bg1"/>
                </a:solidFill>
              </a:rPr>
              <a:t>Ik wacht op de tram.</a:t>
            </a:r>
            <a:r>
              <a:rPr lang="en-US" sz="1600" dirty="0">
                <a:solidFill>
                  <a:schemeClr val="bg1"/>
                </a:solidFill>
              </a:rPr>
              <a:t> → </a:t>
            </a:r>
            <a:r>
              <a:rPr lang="en-US" sz="1600" i="1" dirty="0">
                <a:solidFill>
                  <a:schemeClr val="bg1"/>
                </a:solidFill>
              </a:rPr>
              <a:t>Ik wacht </a:t>
            </a:r>
            <a:r>
              <a:rPr lang="en-US" sz="1600" i="1" dirty="0">
                <a:solidFill>
                  <a:schemeClr val="accent5"/>
                </a:solidFill>
              </a:rPr>
              <a:t>……………</a:t>
            </a:r>
            <a:r>
              <a:rPr lang="en-US" sz="1600" i="1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03 — De klant begrijpen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2026-10-03T21:59:50Z</dcterms:created>
  <dcterms:modified xsi:type="dcterms:W3CDTF">2026-10-03T21:59:50Z</dcterms:modified>
</cp:coreProperties>
</file>