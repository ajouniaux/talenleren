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f168dc1-4950-8f3c-8329-a216e2b7a4f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ôture" id="{f219b80f-bc22-7491-0166-a5925a8f3dcc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Troisième séance du palier 8, qui réunit deux séquences courtes. Séquence 8.3 : parler du marché comme un journaliste économique (stijgen / dalen met x %, verdubbelen, stabiel blijven, gemiddeld, ten opzichte van) ; exercices 4 (le flash marché) et 5 (décrire le graphique), TAAK 3 (la marktupdate) et D3 (le bulletin météo). Séquence 8.4 : le rapport d’estimation (nominalisations, passif, comparaisons, zou) ; exercice 6, TAAK 4 (le besluit du dossier Forest) et D4 (les avis en ligne). Pages couvertes : p. 11 à 15a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 : séance chargée car elle réunit deux séquences courtes (pages 11 à 15a). Priorités si le temps manque : tableau des verbes, exercice 5, TAAK 3, exercice 6 et TAAK 4. D3 et D4 peuvent être raccourcies (lecture et une question) ; la TAAK 4 peut être commencée en classe et terminée à la maison. Le bonus met / tot / van … naar peut se faire à l’oral.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des outils de la séance 17. Question 2 : 30 m² est la moitié de 60 m², donc « half zo groot als ». Question 4 : le verbe vient en deuxième position après « In vergelijking met de buren » (inversion). Question 5 : « maar » ne change pas l’ordre des mots.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des outils de la séance 17. Question 2 : 30 m² est la moitié de 60 m², donc « half zo groot als ». Question 4 : le verbe vient en deuxième position après « In vergelijking met de buren » (inversion). Question 5 : « maar » ne change pas l’ordre des mots.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Séquence 8.3 : parler du marché comme un journaliste économique, avec le bon verbe, la bonne préposition (MET !) et le bon temps (perfectum ou imperfectum, paliers 4 et 6). Formes : stijgen — steeg (pluriel stegen) — is gestegen (verbe fort) ; dalen — daalde — is gedaald ; blijven — bleef — is gebleven ; verdubbelen — verdubbelde — is verdubbeld (pas de « ge- » car préfixe ver-) ; stagneren — stagneerde — heeft gestagneerd. Les verbes de mouvement stijgen et dalen forment leur perfectum avec « zijn ». Coquille du livret : « la langue de la langue de marché (marktrapport) » → « la langue du marché ». Faire dire pour chaque ligne une phrase vraie pour la vie des étudiants (loyer, tarif, température).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texte du flash (transcription n° 2, annexe) n’est pas reproduit dans le livret : le lire deux fois, à vitesse naturelle ; la solution dépend de ce texte et n’est donc pas projetée ici. Indication utile pour le professeur : les six rubriques de la fiche correspondent aux six données du graphique de l’exercice suivant (prix moyen d’un logement, évolution, appartements, durée de vente, ce qui a doublé, prévision) ; à confronter avec la transcription avant de valider ces chiffres comme corrigé. « t.o.v. » = ten opzichte van. Après la 2e écoute, les binômes comparent leurs chiffres ; toute divergence se discute et se règle par une 3e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données de l’exercice 5 sont celles du graphique du livret (p. 13) : prix moyen d’un logement 431.000 € (2024) → 449.000 € (2025), + 4,2 % ; appartements − 1,8 % ; durée de vente 81 → 74 jours (− 7 jours) ; demandes d’estimation 120 → 240 (× 2, verdubbeld) ; prévision 2026 : stable, ≈ + 2 %. Coquille du livret : la consigne de l’exercice 5 recopie par erreur une phrase de l’exercice 4 (« Vous entendez deux fois un flash… transcription n° 2 en ») : la vraie consigne est « Transformez ces données brutes en quatre phrases de marktrapport ». Laisser 5 minutes d’écriture, puis lecture à voix haute de quelques phrases.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premières phrases emploient exactement les structures du livret : verbe d’évolution + met, van … naar, gemiddeld, ten opzichte van. Accepter aussi : « De huizenprijs steeg met 4,2 % » (imperfectum), « Een verkoop duurt gemiddeld 74 dagen, zeven dagen korter dan vorig jaar » et « De vraag naar schattingen is verdubbeld ». La 5e phrase (prognose) est un bonus d’exhaustivité.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Trios : un présentateur (2 minutes chrono, mots-clés seulement), deux auditeurs qui vérifient chaque chiffre sur leur propre fiche. Rotation : 3 × 2 minutes + débriefing = 10 minutes. Modèle oral : « Dit kwartaal is de gemiddelde prijs van een huis met 4,2 % gestegen, van € 431.000 naar € 449.000. Appartementen zijn daarentegen met 1,8 % gedaald. Hoe langer een woning te koop staat, hoe minder interessant ze wordt. Een verkoop duurt gemiddeld 74 dagen. De vraag naar schattingen is verdubbeld. Kortom: het is een goed moment om te verkopen, omdat de vraag groot is. » (à adapter aux notes de chacun.)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Monter, baisser, doubler : la langue du marché est aussi celle de la météo. Lire le bulletin à voix haute (ou le faire lire), puis vérifier la compréhension : samedi 22° à la mer et 25° dans l’intérieur ; dimanche − 5° environ (22 → 17°, cohérent avec l’Avonddialoog) et le risque de pluie passe de 20 à 40 % ; lundi gris et frais, maxima autour de 16°. Lexique : het binnenland = l’intérieur du pays ; wisselvallig = variable ; de maxima = les températures maximales.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réemploi de la boîte « MET ou TOT ? » du livret (p. 13a). Phrase 2 : « stijgt tot tweeëntwintig graden » ; phrase 7 : « daalt tot / naar zeventien graden » : accepter aussi « naar ». Phrase 5 : « daalt van € 950 naar € 900 » (départ, arrivée). Le français dit « de » pour l’écart (augmenté de 4,2 %) : c’est la source de l’erreur « van » ; en néerlandais l’écart se dit « met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réemploi de la boîte « MET ou TOT ? » du livret (p. 13a). Phrase 2 : « stijgt tot tweeëntwintig graden » ; phrase 7 : « daalt tot / naar zeventien graden » : accepter aussi « naar ». Phrase 5 : « daalt van € 950 naar € 900 » (départ, arrivée). Le français dit « de » pour l’écart (augmenté de 4,2 %) : c’est la source de l’erreur « van » ; en néerlandais l’écart se dit « met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Lexique de la météo. Le livret écrit « een opklaring » ; le mot est de-woord (de opklaring). À vous : chaque étudiant présente en 30 secondes la météo du jour et du lendemain pour sa ville, d’après une vraie application ou une météo inventée : au moins trois verbes d’évolution (stijgen, dalen, verdubbelen, stabiel blijven) et une moyenne. Autonomie : présenter l’évolution d’une donnée personnelle (temps d’écran, dépenses de courses, nombre de pas, prix d’un produit). Pas de correction unique : vérifier met / tot / van … naar et l’auxiliaire is dans le perfectum.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rapport écrit assemble tout ce que la série a appris : nominalisations (palier 7) dans les titres, passif (palier 6) dans les constats, comparaisons (8.2) et évolutions (8.3) dans l’analyse, zou dans la recommandation. Piège pour francophones : le français écrit « nous estimons » ; le rapport néerlandais préfère le passif impersonnel. « Tussen … en … » ou « van … tot … » sont les deux seules façons de dire une fourchette : ✗ tussen … tot.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Compréhension de l’écrit : lecture silencieuse (3 minutes), puis questions sur la diapositive suivante. Lexique : het rijhuis = la maison de rangée ; de gevel = la façade ; qua ligging = quant à l’emplacement ; de vierkantemeterprijs = le prix au m² ; verouderd = vieilli, démodé.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attendues. Passifs : « werd … gerenoveerd » (imperfectum passif) et « wordt … geschat » (présent passif). Question 2, réponses acceptées : une fourchette est plus honnête, protège la crédibilité de l’agent, laisse une marge de négociation, reflète l’incertitude du marché ; tout avantage professionnel exprimé en une phrase correcte est valide. Question 3 : la rénovation de la cuisine, gain d’environ 20.000 € ; vérifier la formule « met ongeveer € 20.000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attendues. Passifs : « werd … gerenoveerd » (imperfectum passif) et « wordt … geschat » (présent passif). Question 2, réponses acceptées : une fourchette est plus honnête, protège la crédibilité de l’agent, laisse une marge de négociation, reflète l’incertitude du marché ; tout avantage professionnel exprimé en une phrase correcte est valide. Question 3 : la rénovation de la cuisine, gain d’environ 20.000 € ; vérifier la formule « met ongeveer € 20.000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TAAK 4 : un nouveau dossier, à rédiger seul (12 minutes en classe, puis finition à la maison). Moyenne : (285.000 + 302.000 + 279.000) ÷ 3 = 288.667 €. Les quatre mouvements du besluit à respecter (diapositive suivante) : base nominalisée, fourchette au passif, nuance concessive (palier 7), recommandation chiffrée avec zou, plus une évolution du marché (stijgen met) et une comparaison de la séquence 8.2. Lexique : de lift = l’ascenseur (en panne : defect, uitgevallen) ; het terras = la terrasse.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de besluit (8 phrases). Mouvements : (1) base nominalisée « Op basis van de vergelijking » + fourchette au passif « wordt … geschat tussen … en … » ; (2–3) moyenne et évolution « met 2,1 % gestegen » ; (4) concession « weliswaar … maar » ; (5) corrélation hoe … hoe … ; (6) comparaison avec dan ; (7–8) recommandation avec zou. La fourchette 280.000–295.000 est une proposition raisonnable autour de la moyenne (≈ 289.000) ; accepter toute fourchette cohérente avec les trois ventes et le défaut de l’ascenseur. Rappel : hoe vaker … is, hoe minder … wordt (verbe à la fin).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avis en ligne ressemble à un petit rapport : on décrit, on compare, on conclut. Lecture des trois avis avec « l’œil d’un professionnel de l’estimation » (restaurant choisi par Lotte dans l’Avonddialoog). Lexique : een aanrader = une valeur sûre ; voor herhaling vatbaar = à refaire ; de bediening = le service ; ontgoochelend = décevant ; het kader = le cadre ; de dijk = la digue.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attendues. Moyenne : 3,67 (que l’on dit « drie komma zeven » après arrondi, ou « drie komma zes zeven »). Trois avis ne forment pas un échantillon représentatif : le restaurant affiche 4,5 sur plus de mille avis (Avonddialoog) ; c’est l’occasion de rappeler pourquoi le rapport d’estimation s’appuie sur plusieurs comparables. Comparaisons possibles aussi : « hoe later op de avond, hoe trager de bediening » (corrélation) ; évolution : « gestegen ». Recommandation avec zou : celle de Youssef.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attendues. Moyenne : 3,67 (que l’on dit « drie komma zeven » après arrondi, ou « drie komma zes zeven »). Trois avis ne forment pas un échantillon représentatif : le restaurant affiche 4,5 sur plus de mille avis (Avonddialoog) ; c’est l’occasion de rappeler pourquoi le rapport d’estimation s’appuie sur plusieurs comparables. Comparaisons possibles aussi : « hoe later op de avond, hoe trager de bediening » (corrélation) ; évolution : « gestegen ». Recommandation avec zou : celle de Youssef.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libre : l’avis suit la structure du rapport d’estimation. Le modèle compte 7 phrases (6 à 8 attendues). À terminer à la maison si besoin. Vérifier : un chiffre, une comparaison (even … als, twee keer zo … als, hoe … hoe …), une évolution si possible, une note sur cinq et une recommandation avec zou (« Ik zou het aanraden »). Expressions d’avis du livret : een aanrader, prijs-kwaliteit, voor herhaling vatbaar, de bediening.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oral. Exemples : « Mijn huur is met 3 % gestegen. » ; « Mijn schermtijd is van vier naar drie uur gedaald. » Annoncer que la séance 19 réunit la séquence 8.5 et la tâche finale : prévoir de réviser les connecteurs de concession (weliswaar … maar) du palier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3 · B1 · Yasmina &amp; Stef · Séance 18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3 · B1 · Yasmina &amp; Stef · Séance 18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3 · B1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18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SÉQUENCES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8.3 · 8.4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 markt en het verslag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Décrire une évolution (stijgen, dalen…) et lire, écrire un rapport d’estimation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Palier 8 · Schatting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11–15a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843481"/>
            <a:ext cx="5120640" cy="3171039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11–15a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Décrire une </a:t>
            </a:r>
            <a:r>
              <a:rPr lang="en-US" sz="1400" b="1" dirty="0">
                <a:solidFill>
                  <a:schemeClr val="tx1"/>
                </a:solidFill>
              </a:rPr>
              <a:t>évolution chiffrée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en-US" sz="1400" i="1" dirty="0">
                <a:solidFill>
                  <a:schemeClr val="tx1"/>
                </a:solidFill>
              </a:rPr>
              <a:t>stijgen met 4,2 %</a:t>
            </a:r>
            <a:r>
              <a:rPr lang="en-US" sz="1400" dirty="0">
                <a:solidFill>
                  <a:schemeClr val="tx1"/>
                </a:solidFill>
              </a:rPr>
              <a:t>), puis </a:t>
            </a:r>
            <a:r>
              <a:rPr lang="en-US" sz="1400" b="1" dirty="0">
                <a:solidFill>
                  <a:schemeClr val="tx1"/>
                </a:solidFill>
              </a:rPr>
              <a:t>lire et rédiger</a:t>
            </a:r>
            <a:r>
              <a:rPr lang="en-US" sz="1400" dirty="0">
                <a:solidFill>
                  <a:schemeClr val="tx1"/>
                </a:solidFill>
              </a:rPr>
              <a:t> un rapport d’estimation : fourchette au passif, nuance, recommandation avec </a:t>
            </a:r>
            <a:r>
              <a:rPr lang="en-US" sz="1400" b="1" dirty="0">
                <a:solidFill>
                  <a:schemeClr val="tx1"/>
                </a:solidFill>
              </a:rPr>
              <a:t>zou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stijgen · dalen · verdubbelen · stabiel blijven · gemiddeld · ten opzichte van · wordt geschat tussen … en … · zou … kunnen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Écouter un flash marché (ex. 4) · décrire un graphique (ex. 5) · présenter la marktupdate (TAAK 3) · lire un rapport (ex. 6) · rédiger un besluit (TAAK 4) · analyser des avis (D4)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042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042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Échauffement : séance 17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34772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3477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18004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8.3 : les verbes de l’évolution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18004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79120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7912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761488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Ex. 4 · het marktflashje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761488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23469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234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204972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Ex. 5 · de grafiek in woorden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204972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6781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6781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648456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TAAK 3 · de marktupdate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648456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1216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1216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091940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D3 · het weerbericht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091940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56514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5651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535424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8.4 · het verslag · ex. 6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535424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00862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0086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4978908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TAAK 4 · uw besluit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4978908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45211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4521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422392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D4 · vier sterren of twee ?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422392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59" name="Shape 53"/>
          <p:cNvSpPr/>
          <p:nvPr/>
        </p:nvSpPr>
        <p:spPr>
          <a:xfrm>
            <a:off x="6263640" y="589559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6263640" y="58955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61" name="Text 55"/>
          <p:cNvSpPr txBox="1"/>
          <p:nvPr/>
        </p:nvSpPr>
        <p:spPr>
          <a:xfrm>
            <a:off x="6784848" y="5865876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Bilan</a:t>
            </a:r>
            <a:endParaRPr lang="en-US" sz="1500" dirty="0"/>
          </a:p>
        </p:txBody>
      </p:sp>
      <p:sp>
        <p:nvSpPr>
          <p:cNvPr id="62" name="Text 56"/>
          <p:cNvSpPr txBox="1"/>
          <p:nvPr/>
        </p:nvSpPr>
        <p:spPr>
          <a:xfrm>
            <a:off x="10972800" y="5865876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17 : comparer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4 min, puis correction orale.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Reliez avec hoe … hoe … : </a:t>
            </a:r>
            <a:r>
              <a:rPr lang="en-US" sz="2600" i="1" dirty="0">
                <a:solidFill>
                  <a:schemeClr val="tx1"/>
                </a:solidFill>
              </a:rPr>
              <a:t>De woning ligt dicht bij het park. De prijs is hoog.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Tuin A : 30 m² · tuin B : 60 m². </a:t>
            </a:r>
            <a:r>
              <a:rPr lang="en-US" sz="2600" i="1" dirty="0">
                <a:solidFill>
                  <a:schemeClr val="tx1"/>
                </a:solidFill>
              </a:rPr>
              <a:t>Tuin A is </a:t>
            </a:r>
            <a:r>
              <a:rPr lang="en-US" sz="2600" i="1" dirty="0">
                <a:solidFill>
                  <a:schemeClr val="accent5"/>
                </a:solidFill>
              </a:rPr>
              <a:t>……………</a:t>
            </a:r>
            <a:r>
              <a:rPr lang="en-US" sz="2600" i="1" dirty="0">
                <a:solidFill>
                  <a:schemeClr val="tx1"/>
                </a:solidFill>
              </a:rPr>
              <a:t> zo groot als tuin B.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De plus en plus cher : </a:t>
            </a:r>
            <a:r>
              <a:rPr lang="en-US" sz="2600" i="1" dirty="0">
                <a:solidFill>
                  <a:schemeClr val="tx1"/>
                </a:solidFill>
              </a:rPr>
              <a:t>De huizen worden </a:t>
            </a:r>
            <a:r>
              <a:rPr lang="en-US" sz="2600" i="1" dirty="0">
                <a:solidFill>
                  <a:schemeClr val="accent5"/>
                </a:solidFill>
              </a:rPr>
              <a:t>……………</a:t>
            </a:r>
            <a:r>
              <a:rPr lang="en-US" sz="2600" i="1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Traduisez : « En comparaison avec les voisins, la cuisine est vieille.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Concession : </a:t>
            </a:r>
            <a:r>
              <a:rPr lang="en-US" sz="2600" i="1" dirty="0">
                <a:solidFill>
                  <a:schemeClr val="tx1"/>
                </a:solidFill>
              </a:rPr>
              <a:t>Pand A is gerenoveerd. De ligging is minder goed.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17 : comparer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4 min, puis correction orale.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Reliez avec hoe … hoe … : </a:t>
            </a:r>
            <a:r>
              <a:rPr lang="en-US" sz="1800" i="1" dirty="0">
                <a:solidFill>
                  <a:schemeClr val="tx1"/>
                </a:solidFill>
              </a:rPr>
              <a:t>De woning ligt dicht bij het park. De prijs is hoog.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Hoe </a:t>
            </a:r>
            <a:r>
              <a:rPr lang="en-US" sz="1800" b="1" dirty="0">
                <a:solidFill>
                  <a:schemeClr val="accent3"/>
                </a:solidFill>
              </a:rPr>
              <a:t>dichter</a:t>
            </a:r>
            <a:r>
              <a:rPr lang="en-US" sz="1800" dirty="0">
                <a:solidFill>
                  <a:schemeClr val="accent3"/>
                </a:solidFill>
              </a:rPr>
              <a:t> de woning bij het park </a:t>
            </a:r>
            <a:r>
              <a:rPr lang="en-US" sz="1800" b="1" dirty="0">
                <a:solidFill>
                  <a:schemeClr val="accent3"/>
                </a:solidFill>
              </a:rPr>
              <a:t>ligt</a:t>
            </a:r>
            <a:r>
              <a:rPr lang="en-US" sz="1800" dirty="0">
                <a:solidFill>
                  <a:schemeClr val="accent3"/>
                </a:solidFill>
              </a:rPr>
              <a:t>, hoe </a:t>
            </a:r>
            <a:r>
              <a:rPr lang="en-US" sz="1800" b="1" dirty="0">
                <a:solidFill>
                  <a:schemeClr val="accent3"/>
                </a:solidFill>
              </a:rPr>
              <a:t>hoger</a:t>
            </a:r>
            <a:r>
              <a:rPr lang="en-US" sz="1800" dirty="0">
                <a:solidFill>
                  <a:schemeClr val="accent3"/>
                </a:solidFill>
              </a:rPr>
              <a:t> de prijs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Tuin A : 30 m² · tuin B : 60 m². </a:t>
            </a:r>
            <a:r>
              <a:rPr lang="en-US" sz="1800" i="1" dirty="0">
                <a:solidFill>
                  <a:schemeClr val="tx1"/>
                </a:solidFill>
              </a:rPr>
              <a:t>Tuin A is </a:t>
            </a:r>
            <a:r>
              <a:rPr lang="en-US" sz="1800" i="1" dirty="0">
                <a:solidFill>
                  <a:schemeClr val="accent5"/>
                </a:solidFill>
              </a:rPr>
              <a:t>……………</a:t>
            </a:r>
            <a:r>
              <a:rPr lang="en-US" sz="1800" i="1" dirty="0">
                <a:solidFill>
                  <a:schemeClr val="tx1"/>
                </a:solidFill>
              </a:rPr>
              <a:t> zo groot als tuin B.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half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De plus en plus cher : </a:t>
            </a:r>
            <a:r>
              <a:rPr lang="en-US" sz="1800" i="1" dirty="0">
                <a:solidFill>
                  <a:schemeClr val="tx1"/>
                </a:solidFill>
              </a:rPr>
              <a:t>De huizen worden </a:t>
            </a:r>
            <a:r>
              <a:rPr lang="en-US" sz="1800" i="1" dirty="0">
                <a:solidFill>
                  <a:schemeClr val="accent5"/>
                </a:solidFill>
              </a:rPr>
              <a:t>……………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steeds duurder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Traduisez : « En comparaison avec les voisins, la cuisine est vieille.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In vergelijking met</a:t>
            </a:r>
            <a:r>
              <a:rPr lang="en-US" sz="1800" dirty="0">
                <a:solidFill>
                  <a:schemeClr val="accent3"/>
                </a:solidFill>
              </a:rPr>
              <a:t> de buren is de keuken verouderd.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Concession : </a:t>
            </a:r>
            <a:r>
              <a:rPr lang="en-US" sz="1800" i="1" dirty="0">
                <a:solidFill>
                  <a:schemeClr val="tx1"/>
                </a:solidFill>
              </a:rPr>
              <a:t>Pand A is gerenoveerd. De ligging is minder goed.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Pand A is </a:t>
            </a:r>
            <a:r>
              <a:rPr lang="en-US" sz="1800" b="1" dirty="0">
                <a:solidFill>
                  <a:schemeClr val="accent3"/>
                </a:solidFill>
              </a:rPr>
              <a:t>weliswaar</a:t>
            </a:r>
            <a:r>
              <a:rPr lang="en-US" sz="1800" dirty="0">
                <a:solidFill>
                  <a:schemeClr val="accent3"/>
                </a:solidFill>
              </a:rPr>
              <a:t> gerenoveerd, </a:t>
            </a:r>
            <a:r>
              <a:rPr lang="en-US" sz="1800" b="1" dirty="0">
                <a:solidFill>
                  <a:schemeClr val="accent3"/>
                </a:solidFill>
              </a:rPr>
              <a:t>maar</a:t>
            </a:r>
            <a:r>
              <a:rPr lang="en-US" sz="1800" dirty="0">
                <a:solidFill>
                  <a:schemeClr val="accent3"/>
                </a:solidFill>
              </a:rPr>
              <a:t> de ligging is minder goed.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8.3 : les verbes de l’évolution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90872"/>
              </a:tblGrid>
              <a:tr h="6080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MOUVEMENT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1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monter ↗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stijgen (steeg, is gestegen)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met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x %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prijzen zijn met 4,2 % gestegen.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baisser ↘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dalen (daalde, is gedaald)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met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x %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verkoop daalde vorig jaar met 3 %.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stagner →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stabiel blijven / stagneren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huurprijzen blijven stabiel.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doubler ×2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verdubbelen (is verdubbeld)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vraag naar tuinen is verdubbeld.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 moyenne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gemiddeld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Gemiddeld duurt een verkoop 74 dagen.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18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 rapport à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ten opzichte van / in vergelijking met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Ten opzichte van 2024 is dat een stijging.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Piège</a:t>
            </a:r>
            <a:r>
              <a:rPr lang="en-US" sz="1500" i="1" dirty="0">
                <a:solidFill>
                  <a:schemeClr val="accent5"/>
                </a:solidFill>
              </a:rPr>
              <a:t> : français « augmenté </a:t>
            </a:r>
            <a:r>
              <a:rPr lang="en-US" sz="1500" b="1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4,2 % » → néerlandais « gestegen </a:t>
            </a:r>
            <a:r>
              <a:rPr lang="en-US" sz="1500" b="1" i="1" dirty="0">
                <a:solidFill>
                  <a:schemeClr val="accent5"/>
                </a:solidFill>
              </a:rPr>
              <a:t>met</a:t>
            </a:r>
            <a:r>
              <a:rPr lang="en-US" sz="1500" i="1" dirty="0">
                <a:solidFill>
                  <a:schemeClr val="accent5"/>
                </a:solidFill>
              </a:rPr>
              <a:t> 4,2 % » (✗ </a:t>
            </a:r>
            <a:r>
              <a:rPr lang="en-US" sz="1500" i="1" dirty="0">
                <a:solidFill>
                  <a:schemeClr val="accent5"/>
                </a:solidFill>
              </a:rPr>
              <a:t>van</a:t>
            </a:r>
            <a:r>
              <a:rPr lang="en-US" sz="1500" i="1" dirty="0">
                <a:solidFill>
                  <a:schemeClr val="accent5"/>
                </a:solidFill>
              </a:rPr>
              <a:t>). Départ → arrivée : </a:t>
            </a:r>
            <a:r>
              <a:rPr lang="en-US" sz="1500" b="1" i="1" dirty="0">
                <a:solidFill>
                  <a:schemeClr val="accent5"/>
                </a:solidFill>
              </a:rPr>
              <a:t>van</a:t>
            </a:r>
            <a:r>
              <a:rPr lang="en-US" sz="1500" i="1" dirty="0">
                <a:solidFill>
                  <a:schemeClr val="accent5"/>
                </a:solidFill>
              </a:rPr>
              <a:t> 20 </a:t>
            </a:r>
            <a:r>
              <a:rPr lang="en-US" sz="1500" b="1" i="1" dirty="0">
                <a:solidFill>
                  <a:schemeClr val="accent5"/>
                </a:solidFill>
              </a:rPr>
              <a:t>naar</a:t>
            </a:r>
            <a:r>
              <a:rPr lang="en-US" sz="1500" i="1" dirty="0">
                <a:solidFill>
                  <a:schemeClr val="accent5"/>
                </a:solidFill>
              </a:rPr>
              <a:t> 40 %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4 · Luisteren — Het marktflashje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1 · réception · seul puis binôme · 10 min. Vous entendez </a:t>
            </a:r>
            <a:r>
              <a:rPr lang="en-US" sz="1600" b="1" i="1" dirty="0">
                <a:solidFill>
                  <a:schemeClr val="accent5"/>
                </a:solidFill>
              </a:rPr>
              <a:t>deux fois</a:t>
            </a:r>
            <a:r>
              <a:rPr lang="en-US" sz="1600" i="1" dirty="0">
                <a:solidFill>
                  <a:schemeClr val="accent5"/>
                </a:solidFill>
              </a:rPr>
              <a:t> un flash « marché immobilier bruxellois » (transcription n° 2). Complétez la fiche, puis comparez </a:t>
            </a:r>
            <a:r>
              <a:rPr lang="en-US" sz="1600" b="1" i="1" dirty="0">
                <a:solidFill>
                  <a:schemeClr val="accent5"/>
                </a:solidFill>
              </a:rPr>
              <a:t>chiffre par chiffre</a:t>
            </a:r>
            <a:r>
              <a:rPr lang="en-US" sz="1600" i="1" dirty="0">
                <a:solidFill>
                  <a:schemeClr val="accent5"/>
                </a:solidFill>
              </a:rPr>
              <a:t> avec votre binôme (contrôle téléphonique de la séquence 8.1).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04872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48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MARKTFICHE — BRUSSEL, 1E SEMESTER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UW NOTITIES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Gemiddelde prijs van een huis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Evolutie huizenprijzen (t.o.v. vorig jaar)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Evolutie appartementen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Gemiddelde verkooptijd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Wat is verdubbeld?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Prognose voor volgend jaar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 · Beschrijf de grafiek in woorden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46210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CONSIGNE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Transformez ces </a:t>
            </a:r>
            <a:r>
              <a:rPr lang="en-US" sz="1800" b="1" dirty="0">
                <a:solidFill>
                  <a:schemeClr val="tx1"/>
                </a:solidFill>
              </a:rPr>
              <a:t>données brutes</a:t>
            </a:r>
            <a:r>
              <a:rPr lang="en-US" sz="1800" dirty="0">
                <a:solidFill>
                  <a:schemeClr val="tx1"/>
                </a:solidFill>
              </a:rPr>
              <a:t> en </a:t>
            </a:r>
            <a:r>
              <a:rPr lang="en-US" sz="1800" b="1" dirty="0">
                <a:solidFill>
                  <a:schemeClr val="tx1"/>
                </a:solidFill>
              </a:rPr>
              <a:t>quatre phrases</a:t>
            </a:r>
            <a:r>
              <a:rPr lang="en-US" sz="1800" dirty="0">
                <a:solidFill>
                  <a:schemeClr val="tx1"/>
                </a:solidFill>
              </a:rPr>
              <a:t> de marktrapport.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Employez : un </a:t>
            </a:r>
            <a:r>
              <a:rPr lang="en-US" sz="1800" b="1" dirty="0">
                <a:solidFill>
                  <a:schemeClr val="tx1"/>
                </a:solidFill>
              </a:rPr>
              <a:t>verbe d’évolution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met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van … naar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gemiddeld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ten opzichte van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Couche 2 · seul puis binôme · 8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 · Modèles de phrases de marktrapport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Phrases-modèles (plusieurs formulations correctes sont possibles).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De gemiddelde huizenprijs is </a:t>
            </a:r>
            <a:r>
              <a:rPr lang="en-US" sz="2400" b="1" dirty="0">
                <a:solidFill>
                  <a:schemeClr val="tx1"/>
                </a:solidFill>
              </a:rPr>
              <a:t>met 4,2 %</a:t>
            </a:r>
            <a:r>
              <a:rPr lang="en-US" sz="2400" dirty="0">
                <a:solidFill>
                  <a:schemeClr val="tx1"/>
                </a:solidFill>
              </a:rPr>
              <a:t> gestegen: </a:t>
            </a:r>
            <a:r>
              <a:rPr lang="en-US" sz="2400" b="1" dirty="0">
                <a:solidFill>
                  <a:schemeClr val="tx1"/>
                </a:solidFill>
              </a:rPr>
              <a:t>van</a:t>
            </a:r>
            <a:r>
              <a:rPr lang="en-US" sz="2400" dirty="0">
                <a:solidFill>
                  <a:schemeClr val="tx1"/>
                </a:solidFill>
              </a:rPr>
              <a:t> € 431.000 in 2024 </a:t>
            </a:r>
            <a:r>
              <a:rPr lang="en-US" sz="2400" b="1" dirty="0">
                <a:solidFill>
                  <a:schemeClr val="tx1"/>
                </a:solidFill>
              </a:rPr>
              <a:t>naar</a:t>
            </a:r>
            <a:r>
              <a:rPr lang="en-US" sz="2400" dirty="0">
                <a:solidFill>
                  <a:schemeClr val="tx1"/>
                </a:solidFill>
              </a:rPr>
              <a:t> € 449.000 in 2025.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De prijzen van appartementen zijn </a:t>
            </a:r>
            <a:r>
              <a:rPr lang="en-US" sz="2400" b="1" dirty="0">
                <a:solidFill>
                  <a:schemeClr val="tx1"/>
                </a:solidFill>
              </a:rPr>
              <a:t>met 1,8 %</a:t>
            </a:r>
            <a:r>
              <a:rPr lang="en-US" sz="2400" dirty="0">
                <a:solidFill>
                  <a:schemeClr val="tx1"/>
                </a:solidFill>
              </a:rPr>
              <a:t> gedaald.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Gemiddeld</a:t>
            </a:r>
            <a:r>
              <a:rPr lang="en-US" sz="2400" dirty="0">
                <a:solidFill>
                  <a:schemeClr val="tx1"/>
                </a:solidFill>
              </a:rPr>
              <a:t> duurde een verkoop in 2025 74 dagen, </a:t>
            </a:r>
            <a:r>
              <a:rPr lang="en-US" sz="2400" b="1" dirty="0">
                <a:solidFill>
                  <a:schemeClr val="tx1"/>
                </a:solidFill>
              </a:rPr>
              <a:t>ten opzichte van</a:t>
            </a:r>
            <a:r>
              <a:rPr lang="en-US" sz="2400" dirty="0">
                <a:solidFill>
                  <a:schemeClr val="tx1"/>
                </a:solidFill>
              </a:rPr>
              <a:t> 81 dagen in 2024: zeven dagen sneller.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Het aantal aanvragen voor een schatting is </a:t>
            </a:r>
            <a:r>
              <a:rPr lang="en-US" sz="2400" b="1" dirty="0">
                <a:solidFill>
                  <a:schemeClr val="tx1"/>
                </a:solidFill>
              </a:rPr>
              <a:t>verdubbeld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b="1" dirty="0">
                <a:solidFill>
                  <a:schemeClr val="tx1"/>
                </a:solidFill>
              </a:rPr>
              <a:t>van</a:t>
            </a:r>
            <a:r>
              <a:rPr lang="en-US" sz="2400" dirty="0">
                <a:solidFill>
                  <a:schemeClr val="tx1"/>
                </a:solidFill>
              </a:rPr>
              <a:t> 120 </a:t>
            </a:r>
            <a:r>
              <a:rPr lang="en-US" sz="2400" b="1" dirty="0">
                <a:solidFill>
                  <a:schemeClr val="tx1"/>
                </a:solidFill>
              </a:rPr>
              <a:t>naar</a:t>
            </a:r>
            <a:r>
              <a:rPr lang="en-US" sz="2400" dirty="0">
                <a:solidFill>
                  <a:schemeClr val="tx1"/>
                </a:solidFill>
              </a:rPr>
              <a:t> 240.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Voor 2026 wordt een </a:t>
            </a:r>
            <a:r>
              <a:rPr lang="en-US" sz="2400" b="1" dirty="0">
                <a:solidFill>
                  <a:schemeClr val="tx1"/>
                </a:solidFill>
              </a:rPr>
              <a:t>stabiele</a:t>
            </a:r>
            <a:r>
              <a:rPr lang="en-US" sz="2400" dirty="0">
                <a:solidFill>
                  <a:schemeClr val="tx1"/>
                </a:solidFill>
              </a:rPr>
              <a:t> markt verwacht, met een stijging van ongeveer 2 %.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4 phrases</a:t>
            </a:r>
            <a:r>
              <a:rPr lang="en-US" sz="1800" dirty="0">
                <a:solidFill>
                  <a:schemeClr val="tx1"/>
                </a:solidFill>
              </a:rPr>
              <a:t> correctes.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met</a:t>
            </a:r>
            <a:r>
              <a:rPr lang="en-US" sz="1800" dirty="0">
                <a:solidFill>
                  <a:schemeClr val="tx1"/>
                </a:solidFill>
              </a:rPr>
              <a:t> = l’écart (4,2 %) ; </a:t>
            </a:r>
            <a:r>
              <a:rPr lang="en-US" sz="1800" b="1" dirty="0">
                <a:solidFill>
                  <a:schemeClr val="tx1"/>
                </a:solidFill>
              </a:rPr>
              <a:t>van … naar</a:t>
            </a:r>
            <a:r>
              <a:rPr lang="en-US" sz="1800" dirty="0">
                <a:solidFill>
                  <a:schemeClr val="tx1"/>
                </a:solidFill>
              </a:rPr>
              <a:t> = départ → arrivée.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Participe passé avec </a:t>
            </a:r>
            <a:r>
              <a:rPr lang="en-US" sz="1800" b="1" dirty="0">
                <a:solidFill>
                  <a:schemeClr val="tx1"/>
                </a:solidFill>
              </a:rPr>
              <a:t>is</a:t>
            </a:r>
            <a:r>
              <a:rPr lang="en-US" sz="1800" dirty="0">
                <a:solidFill>
                  <a:schemeClr val="tx1"/>
                </a:solidFill>
              </a:rPr>
              <a:t> : is gestegen, is gedaald, is verdubbeld.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3 · De marktupdate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Couche 3 · trios · </a:t>
            </a:r>
            <a:r>
              <a:rPr lang="en-US" sz="1700" b="1" i="1" dirty="0">
                <a:solidFill>
                  <a:schemeClr val="accent5"/>
                </a:solidFill>
              </a:rPr>
              <a:t>2 minutes chrono</a:t>
            </a:r>
            <a:r>
              <a:rPr lang="en-US" sz="1700" i="1" dirty="0">
                <a:solidFill>
                  <a:schemeClr val="accent5"/>
                </a:solidFill>
              </a:rPr>
              <a:t> chacun, </a:t>
            </a:r>
            <a:r>
              <a:rPr lang="en-US" sz="1700" b="1" i="1" dirty="0">
                <a:solidFill>
                  <a:schemeClr val="accent5"/>
                </a:solidFill>
              </a:rPr>
              <a:t>mots-clés seulement</a:t>
            </a:r>
            <a:r>
              <a:rPr lang="en-US" sz="1700" i="1" dirty="0">
                <a:solidFill>
                  <a:schemeClr val="accent5"/>
                </a:solidFill>
              </a:rPr>
              <a:t>. Présentez la marktupdate du trimestre à l’équipe, à partir de votre marktfiche (exercice 4).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20065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972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220065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au moins </a:t>
            </a:r>
            <a:r>
              <a:rPr lang="en-US" sz="1900" b="1" dirty="0">
                <a:solidFill>
                  <a:schemeClr val="tx1"/>
                </a:solidFill>
              </a:rPr>
              <a:t>quatre verbes d’évolution</a:t>
            </a:r>
            <a:r>
              <a:rPr lang="en-US" sz="1900" dirty="0">
                <a:solidFill>
                  <a:schemeClr val="tx1"/>
                </a:solidFill>
              </a:rPr>
              <a:t> corrects (</a:t>
            </a:r>
            <a:r>
              <a:rPr lang="en-US" sz="1900" b="1" dirty="0">
                <a:solidFill>
                  <a:schemeClr val="tx1"/>
                </a:solidFill>
              </a:rPr>
              <a:t>met</a:t>
            </a:r>
            <a:r>
              <a:rPr lang="en-US" sz="1900" dirty="0">
                <a:solidFill>
                  <a:schemeClr val="tx1"/>
                </a:solidFill>
              </a:rPr>
              <a:t> !)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297789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7449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07008" y="297789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une comparaison </a:t>
            </a:r>
            <a:r>
              <a:rPr lang="en-US" sz="1900" b="1" dirty="0">
                <a:solidFill>
                  <a:schemeClr val="tx1"/>
                </a:solidFill>
              </a:rPr>
              <a:t>hoe … hoe …</a:t>
            </a:r>
            <a:r>
              <a:rPr lang="en-US" sz="1900" dirty="0">
                <a:solidFill>
                  <a:schemeClr val="tx1"/>
                </a:solidFill>
              </a:rPr>
              <a:t> ou </a:t>
            </a:r>
            <a:r>
              <a:rPr lang="en-US" sz="1900" b="1" dirty="0">
                <a:solidFill>
                  <a:schemeClr val="tx1"/>
                </a:solidFill>
              </a:rPr>
              <a:t>steeds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375513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5173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07008" y="375513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une </a:t>
            </a:r>
            <a:r>
              <a:rPr lang="en-US" sz="1900" b="1" dirty="0">
                <a:solidFill>
                  <a:schemeClr val="tx1"/>
                </a:solidFill>
              </a:rPr>
              <a:t>moyenne</a:t>
            </a:r>
            <a:r>
              <a:rPr lang="en-US" sz="1900" dirty="0">
                <a:solidFill>
                  <a:schemeClr val="tx1"/>
                </a:solidFill>
              </a:rPr>
              <a:t> (</a:t>
            </a:r>
            <a:r>
              <a:rPr lang="en-US" sz="1900" i="1" dirty="0">
                <a:solidFill>
                  <a:schemeClr val="tx1"/>
                </a:solidFill>
              </a:rPr>
              <a:t>gemiddeld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548640" y="453237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2897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07008" y="453237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une </a:t>
            </a:r>
            <a:r>
              <a:rPr lang="en-US" sz="1900" b="1" dirty="0">
                <a:solidFill>
                  <a:schemeClr val="tx1"/>
                </a:solidFill>
              </a:rPr>
              <a:t>conclusion</a:t>
            </a:r>
            <a:r>
              <a:rPr lang="en-US" sz="1900" dirty="0">
                <a:solidFill>
                  <a:schemeClr val="tx1"/>
                </a:solidFill>
              </a:rPr>
              <a:t> pour l’agence : </a:t>
            </a:r>
            <a:r>
              <a:rPr lang="en-US" sz="1900" i="1" dirty="0">
                <a:solidFill>
                  <a:schemeClr val="tx1"/>
                </a:solidFill>
              </a:rPr>
              <a:t>Kortom: het is een goed moment om te verkopen, omdat …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548640" y="5309616"/>
            <a:ext cx="11091672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50621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07008" y="5309616"/>
            <a:ext cx="10314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le trio d’écoute </a:t>
            </a:r>
            <a:r>
              <a:rPr lang="en-US" sz="1900" b="1" dirty="0">
                <a:solidFill>
                  <a:schemeClr val="tx1"/>
                </a:solidFill>
              </a:rPr>
              <a:t>vérifie chaque chiffre</a:t>
            </a:r>
            <a:r>
              <a:rPr lang="en-US" sz="1900" dirty="0">
                <a:solidFill>
                  <a:schemeClr val="tx1"/>
                </a:solidFill>
              </a:rPr>
              <a:t> sur sa fiche : toute divergence se discute !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· Het weerbericht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406640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16230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WEERBERICHT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628900" y="1609344"/>
            <a:ext cx="5234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weerbericht voor het weekend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Het weekend begint zonnig.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Zaterdag stijgen de temperaturen tot tweeëntwintig graden aan zee en tot vijfentwintig graden in het binnenland.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Zondag wordt het wisselvalliger: de temperaturen dalen met ongeveer vijf graden en de kans op regen verdubbelt, van twintig naar veertig procent.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Gemiddeld blijft het wel warmer dan vorig weekend.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Maandag blijft het grijs en fris, met maxima rond zestien graden.</a:t>
            </a:r>
            <a:endParaRPr lang="en-US" sz="2100" dirty="0"/>
          </a:p>
        </p:txBody>
      </p:sp>
      <p:sp>
        <p:nvSpPr>
          <p:cNvPr id="10" name="aside"/>
          <p:cNvSpPr/>
          <p:nvPr/>
        </p:nvSpPr>
        <p:spPr>
          <a:xfrm>
            <a:off x="8275320" y="1481328"/>
            <a:ext cx="3364992" cy="4809744"/>
          </a:xfrm>
          <a:prstGeom prst="roundRect">
            <a:avLst>
              <a:gd name="adj" fmla="val 217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42248" y="16367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À REPÉRER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439912" y="2075688"/>
            <a:ext cx="30358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stijgen tot</a:t>
            </a:r>
            <a:r>
              <a:rPr lang="en-US" sz="1800" dirty="0">
                <a:solidFill>
                  <a:schemeClr val="tx1"/>
                </a:solidFill>
              </a:rPr>
              <a:t> + valeur finale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dalen met</a:t>
            </a:r>
            <a:r>
              <a:rPr lang="en-US" sz="1800" dirty="0">
                <a:solidFill>
                  <a:schemeClr val="tx1"/>
                </a:solidFill>
              </a:rPr>
              <a:t> + écart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verdubbelen</a:t>
            </a:r>
            <a:r>
              <a:rPr lang="en-US" sz="1800" dirty="0">
                <a:solidFill>
                  <a:schemeClr val="tx1"/>
                </a:solidFill>
              </a:rPr>
              <a:t> : van 20 naar 40 %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gemiddeld</a:t>
            </a:r>
            <a:r>
              <a:rPr lang="en-US" sz="1800" dirty="0">
                <a:solidFill>
                  <a:schemeClr val="tx1"/>
                </a:solidFill>
              </a:rPr>
              <a:t> + comparatif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Met, tot ou van … naar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</a:t>
            </a:r>
            <a:r>
              <a:rPr lang="en-US" sz="1600" b="1" i="1" dirty="0">
                <a:solidFill>
                  <a:schemeClr val="accent5"/>
                </a:solidFill>
              </a:rPr>
              <a:t>met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tot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van … naar</a:t>
            </a:r>
            <a:r>
              <a:rPr lang="en-US" sz="1600" i="1" dirty="0">
                <a:solidFill>
                  <a:schemeClr val="accent5"/>
                </a:solidFill>
              </a:rPr>
              <a:t>. Seul, 4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De temperatuur stijgt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vijf graden. (l’écart)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temperatuur stijgt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tweeëntwintig graden. (la valeur atteinte)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De kans op regen verdubbelt,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twintig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veertig procent.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De prijzen zijn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4,2 % gestegen.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De huurprijs daalt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€ 950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€ 900.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De verkooptijd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zeven dagen gedaald.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De temperatuur daalt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zeventien graden.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Met, tot ou van … naar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</a:t>
            </a:r>
            <a:r>
              <a:rPr lang="en-US" sz="1600" b="1" i="1" dirty="0">
                <a:solidFill>
                  <a:schemeClr val="accent5"/>
                </a:solidFill>
              </a:rPr>
              <a:t>met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tot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van … naar</a:t>
            </a:r>
            <a:r>
              <a:rPr lang="en-US" sz="1600" i="1" dirty="0">
                <a:solidFill>
                  <a:schemeClr val="accent5"/>
                </a:solidFill>
              </a:rPr>
              <a:t>. Seul, 4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De temperatuur stijgt </a:t>
            </a:r>
            <a:r>
              <a:rPr lang="en-US" sz="2400" b="1" dirty="0">
                <a:solidFill>
                  <a:schemeClr val="accent3"/>
                </a:solidFill>
              </a:rPr>
              <a:t>met</a:t>
            </a:r>
            <a:r>
              <a:rPr lang="en-US" sz="2400" dirty="0">
                <a:solidFill>
                  <a:schemeClr val="tx1"/>
                </a:solidFill>
              </a:rPr>
              <a:t> vijf graden. (l’écart)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temperatuur stijgt </a:t>
            </a:r>
            <a:r>
              <a:rPr lang="en-US" sz="2400" b="1" dirty="0">
                <a:solidFill>
                  <a:schemeClr val="accent3"/>
                </a:solidFill>
              </a:rPr>
              <a:t>tot</a:t>
            </a:r>
            <a:r>
              <a:rPr lang="en-US" sz="2400" dirty="0">
                <a:solidFill>
                  <a:schemeClr val="tx1"/>
                </a:solidFill>
              </a:rPr>
              <a:t> tweeëntwintig graden. (la valeur atteinte)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De kans op regen verdubbelt, </a:t>
            </a:r>
            <a:r>
              <a:rPr lang="en-US" sz="2400" b="1" dirty="0">
                <a:solidFill>
                  <a:schemeClr val="accent3"/>
                </a:solidFill>
              </a:rPr>
              <a:t>van</a:t>
            </a:r>
            <a:r>
              <a:rPr lang="en-US" sz="2400" dirty="0">
                <a:solidFill>
                  <a:schemeClr val="tx1"/>
                </a:solidFill>
              </a:rPr>
              <a:t> twintig </a:t>
            </a:r>
            <a:r>
              <a:rPr lang="en-US" sz="2400" b="1" dirty="0">
                <a:solidFill>
                  <a:schemeClr val="accent3"/>
                </a:solidFill>
              </a:rPr>
              <a:t>naar</a:t>
            </a:r>
            <a:r>
              <a:rPr lang="en-US" sz="2400" dirty="0">
                <a:solidFill>
                  <a:schemeClr val="tx1"/>
                </a:solidFill>
              </a:rPr>
              <a:t> veertig procent.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De prijzen zijn </a:t>
            </a:r>
            <a:r>
              <a:rPr lang="en-US" sz="2400" b="1" dirty="0">
                <a:solidFill>
                  <a:schemeClr val="accent3"/>
                </a:solidFill>
              </a:rPr>
              <a:t>met</a:t>
            </a:r>
            <a:r>
              <a:rPr lang="en-US" sz="2400" dirty="0">
                <a:solidFill>
                  <a:schemeClr val="tx1"/>
                </a:solidFill>
              </a:rPr>
              <a:t> 4,2 % gestegen.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De huurprijs daalt </a:t>
            </a:r>
            <a:r>
              <a:rPr lang="en-US" sz="2400" b="1" dirty="0">
                <a:solidFill>
                  <a:schemeClr val="accent3"/>
                </a:solidFill>
              </a:rPr>
              <a:t>van</a:t>
            </a:r>
            <a:r>
              <a:rPr lang="en-US" sz="2400" dirty="0">
                <a:solidFill>
                  <a:schemeClr val="tx1"/>
                </a:solidFill>
              </a:rPr>
              <a:t> € 950 </a:t>
            </a:r>
            <a:r>
              <a:rPr lang="en-US" sz="2400" b="1" dirty="0">
                <a:solidFill>
                  <a:schemeClr val="accent3"/>
                </a:solidFill>
              </a:rPr>
              <a:t>naar</a:t>
            </a:r>
            <a:r>
              <a:rPr lang="en-US" sz="2400" dirty="0">
                <a:solidFill>
                  <a:schemeClr val="tx1"/>
                </a:solidFill>
              </a:rPr>
              <a:t> € 900.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De verkooptijd is </a:t>
            </a:r>
            <a:r>
              <a:rPr lang="en-US" sz="2400" b="1" dirty="0">
                <a:solidFill>
                  <a:schemeClr val="accent3"/>
                </a:solidFill>
              </a:rPr>
              <a:t>met</a:t>
            </a:r>
            <a:r>
              <a:rPr lang="en-US" sz="2400" dirty="0">
                <a:solidFill>
                  <a:schemeClr val="tx1"/>
                </a:solidFill>
              </a:rPr>
              <a:t> zeven dagen gedaald.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De temperatuur daalt </a:t>
            </a:r>
            <a:r>
              <a:rPr lang="en-US" sz="2400" b="1" dirty="0">
                <a:solidFill>
                  <a:schemeClr val="accent3"/>
                </a:solidFill>
              </a:rPr>
              <a:t>tot</a:t>
            </a:r>
            <a:r>
              <a:rPr lang="en-US" sz="2400" dirty="0">
                <a:solidFill>
                  <a:schemeClr val="tx1"/>
                </a:solidFill>
              </a:rPr>
              <a:t> zeventien graden.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met</a:t>
            </a:r>
            <a:r>
              <a:rPr lang="en-US" sz="1800" dirty="0">
                <a:solidFill>
                  <a:schemeClr val="tx1"/>
                </a:solidFill>
              </a:rPr>
              <a:t> = l’écart (de combien)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tot</a:t>
            </a:r>
            <a:r>
              <a:rPr lang="en-US" sz="1800" dirty="0">
                <a:solidFill>
                  <a:schemeClr val="tx1"/>
                </a:solidFill>
              </a:rPr>
              <a:t> = la valeur atteinte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van … naar</a:t>
            </a:r>
            <a:r>
              <a:rPr lang="en-US" sz="1800" dirty="0">
                <a:solidFill>
                  <a:schemeClr val="tx1"/>
                </a:solidFill>
              </a:rPr>
              <a:t> = départ → arrivée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Jamais « van » pour l’écart : ✗ </a:t>
            </a:r>
            <a:r>
              <a:rPr lang="en-US" sz="1800" i="1" dirty="0">
                <a:solidFill>
                  <a:schemeClr val="tx1"/>
                </a:solidFill>
              </a:rPr>
              <a:t>gestegen van 4,2 %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Zo zeg je dat : parler du temps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13a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Het wordt zonnig.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Il fera beau.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kans op regen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risque de pluie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Het is wisselvallig.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temps est variable.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opklaring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une éclaircie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Het giet!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Il pleut à verse 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Het is zwoel.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Il fait lourd.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À vous (30 s chrono)</a:t>
            </a:r>
            <a:r>
              <a:rPr lang="en-US" sz="1500" i="1" dirty="0">
                <a:solidFill>
                  <a:schemeClr val="accent5"/>
                </a:solidFill>
              </a:rPr>
              <a:t> : la météo d’aujourd’hui et de demain pour votre ville (3 verbes d’évolution + une moyenne). </a:t>
            </a:r>
            <a:r>
              <a:rPr lang="en-US" sz="1500" b="1" i="1" dirty="0">
                <a:solidFill>
                  <a:schemeClr val="accent5"/>
                </a:solidFill>
              </a:rPr>
              <a:t>Autonomie</a:t>
            </a:r>
            <a:r>
              <a:rPr lang="en-US" sz="1500" i="1" dirty="0">
                <a:solidFill>
                  <a:schemeClr val="accent5"/>
                </a:solidFill>
              </a:rPr>
              <a:t> : une donnée de votre vie : </a:t>
            </a:r>
            <a:r>
              <a:rPr lang="en-US" sz="1500" i="1" dirty="0">
                <a:solidFill>
                  <a:schemeClr val="accent5"/>
                </a:solidFill>
              </a:rPr>
              <a:t>Mijn schermtijd is in één maand met twintig procent gedaald.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8.4 : le schattingsverslag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Deux agents annoncent le même prix : l’un le </a:t>
            </a:r>
            <a:r>
              <a:rPr lang="en-US" sz="1800" b="1" dirty="0">
                <a:solidFill>
                  <a:schemeClr val="tx1"/>
                </a:solidFill>
              </a:rPr>
              <a:t>dit</a:t>
            </a:r>
            <a:r>
              <a:rPr lang="en-US" sz="1800" dirty="0">
                <a:solidFill>
                  <a:schemeClr val="tx1"/>
                </a:solidFill>
              </a:rPr>
              <a:t>, l’autre le </a:t>
            </a:r>
            <a:r>
              <a:rPr lang="en-US" sz="1800" b="1" dirty="0">
                <a:solidFill>
                  <a:schemeClr val="tx1"/>
                </a:solidFill>
              </a:rPr>
              <a:t>démontre</a:t>
            </a:r>
            <a:r>
              <a:rPr lang="en-US" sz="1800" dirty="0">
                <a:solidFill>
                  <a:schemeClr val="tx1"/>
                </a:solidFill>
              </a:rPr>
              <a:t> dans un rapport structuré. Qui obtient le mandat 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3514344" cy="3142488"/>
          </a:xfrm>
          <a:prstGeom prst="roundRect">
            <a:avLst>
              <a:gd name="adj" fmla="val 291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22199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42032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22199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① BESCHRIJVING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825496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nominalisations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68040"/>
            <a:ext cx="3148584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Titres : </a:t>
            </a:r>
            <a:r>
              <a:rPr lang="en-US" sz="2000" i="1" dirty="0">
                <a:solidFill>
                  <a:schemeClr val="tx1"/>
                </a:solidFill>
              </a:rPr>
              <a:t>Beschrijving van het pand</a:t>
            </a:r>
            <a:r>
              <a:rPr lang="en-US" sz="2000" dirty="0">
                <a:solidFill>
                  <a:schemeClr val="tx1"/>
                </a:solidFill>
              </a:rPr>
              <a:t> (palier 7)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Constats au </a:t>
            </a:r>
            <a:r>
              <a:rPr lang="en-US" sz="2000" b="1" dirty="0">
                <a:solidFill>
                  <a:schemeClr val="tx1"/>
                </a:solidFill>
              </a:rPr>
              <a:t>passif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werd gerenoveerd</a:t>
            </a:r>
            <a:r>
              <a:rPr lang="en-US" sz="2000" dirty="0">
                <a:solidFill>
                  <a:schemeClr val="tx1"/>
                </a:solidFill>
              </a:rPr>
              <a:t> (palier 6)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37304" y="2221992"/>
            <a:ext cx="3514344" cy="3142488"/>
          </a:xfrm>
          <a:prstGeom prst="roundRect">
            <a:avLst>
              <a:gd name="adj" fmla="val 291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7304" y="222199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5" name="Shape 12"/>
          <p:cNvSpPr/>
          <p:nvPr/>
        </p:nvSpPr>
        <p:spPr>
          <a:xfrm>
            <a:off x="4337304" y="2542032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0184" y="222199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② ANALYSE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825496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hoe … hoe · gemiddeld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20184" y="3368040"/>
            <a:ext cx="3148584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Comparaisons (8.2) et évolutions (8.3)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Connecteurs : </a:t>
            </a:r>
            <a:r>
              <a:rPr lang="en-US" sz="2000" i="1" dirty="0">
                <a:solidFill>
                  <a:schemeClr val="tx1"/>
                </a:solidFill>
              </a:rPr>
              <a:t>daarentegen · echter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125968" y="2221992"/>
            <a:ext cx="3514344" cy="3142488"/>
          </a:xfrm>
          <a:prstGeom prst="roundRect">
            <a:avLst>
              <a:gd name="adj" fmla="val 291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25968" y="222199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5968" y="2542032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08848" y="222199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③ BESLUIT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825496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wordt geschat tussen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8308848" y="3368040"/>
            <a:ext cx="3148584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 fourchette au </a:t>
            </a:r>
            <a:r>
              <a:rPr lang="en-US" sz="2000" b="1" dirty="0">
                <a:solidFill>
                  <a:schemeClr val="tx1"/>
                </a:solidFill>
              </a:rPr>
              <a:t>passif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zou … kunnen</a:t>
            </a:r>
            <a:r>
              <a:rPr lang="en-US" sz="2000" dirty="0">
                <a:solidFill>
                  <a:schemeClr val="tx1"/>
                </a:solidFill>
              </a:rPr>
              <a:t> : la recommandation (palier 6)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Un rapport ne dit pas « </a:t>
            </a:r>
            <a:r>
              <a:rPr lang="en-US" sz="1700" i="1" dirty="0">
                <a:solidFill>
                  <a:schemeClr val="tx1"/>
                </a:solidFill>
              </a:rPr>
              <a:t>wij schatten</a:t>
            </a:r>
            <a:r>
              <a:rPr lang="en-US" sz="1700" dirty="0">
                <a:solidFill>
                  <a:schemeClr val="tx1"/>
                </a:solidFill>
              </a:rPr>
              <a:t>… » : il écrit </a:t>
            </a:r>
            <a:r>
              <a:rPr lang="en-US" sz="1700" i="1" dirty="0">
                <a:solidFill>
                  <a:schemeClr val="tx1"/>
                </a:solidFill>
              </a:rPr>
              <a:t>de marktwaarde </a:t>
            </a:r>
            <a:r>
              <a:rPr lang="en-US" sz="1700" b="1" i="1" dirty="0">
                <a:solidFill>
                  <a:schemeClr val="tx1"/>
                </a:solidFill>
              </a:rPr>
              <a:t>wordt geschat</a:t>
            </a:r>
            <a:r>
              <a:rPr lang="en-US" sz="1700" i="1" dirty="0">
                <a:solidFill>
                  <a:schemeClr val="tx1"/>
                </a:solidFill>
              </a:rPr>
              <a:t> tussen € 445.000 </a:t>
            </a:r>
            <a:r>
              <a:rPr lang="en-US" sz="1700" b="1" i="1" dirty="0">
                <a:solidFill>
                  <a:schemeClr val="tx1"/>
                </a:solidFill>
              </a:rPr>
              <a:t>en</a:t>
            </a:r>
            <a:r>
              <a:rPr lang="en-US" sz="1700" i="1" dirty="0">
                <a:solidFill>
                  <a:schemeClr val="tx1"/>
                </a:solidFill>
              </a:rPr>
              <a:t> € 465.000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tot</a:t>
            </a:r>
            <a:r>
              <a:rPr lang="en-US" sz="1700" dirty="0">
                <a:solidFill>
                  <a:schemeClr val="tx1"/>
                </a:solidFill>
              </a:rPr>
              <a:t>) — et </a:t>
            </a:r>
            <a:r>
              <a:rPr lang="en-US" sz="1700" i="1" dirty="0">
                <a:solidFill>
                  <a:schemeClr val="tx1"/>
                </a:solidFill>
              </a:rPr>
              <a:t>duurder </a:t>
            </a:r>
            <a:r>
              <a:rPr lang="en-US" sz="1700" b="1" i="1" dirty="0">
                <a:solidFill>
                  <a:schemeClr val="tx1"/>
                </a:solidFill>
              </a:rPr>
              <a:t>dan</a:t>
            </a:r>
            <a:r>
              <a:rPr lang="en-US" sz="1700" dirty="0">
                <a:solidFill>
                  <a:schemeClr val="tx1"/>
                </a:solidFill>
              </a:rPr>
              <a:t>, jamais </a:t>
            </a:r>
            <a:r>
              <a:rPr lang="en-US" sz="1700" i="1" dirty="0">
                <a:solidFill>
                  <a:schemeClr val="tx1"/>
                </a:solidFill>
              </a:rPr>
              <a:t>duurder als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 · Het verslag onder de loep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UITTREKSEL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514600" y="1609344"/>
            <a:ext cx="903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Schattingsverslag — Vredestraat 24, Sint-Gillis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106344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Beschrijving van het pand   </a:t>
            </a:r>
            <a:r>
              <a:rPr lang="en-US" sz="2100" dirty="0">
                <a:solidFill>
                  <a:schemeClr val="tx1"/>
                </a:solidFill>
              </a:rPr>
              <a:t>Rijhuis van 140 m², drie slaapkamers, tuin van 60 m² die op het zuiden ligt. De gevel werd in 2019 gerenoveerd; de keuken daarentegen is verouderd (1998).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Analyse van de markt   </a:t>
            </a:r>
            <a:r>
              <a:rPr lang="en-US" sz="2100" dirty="0">
                <a:solidFill>
                  <a:schemeClr val="tx1"/>
                </a:solidFill>
              </a:rPr>
              <a:t>De prijzen in de wijk zijn het afgelopen jaar gemiddeld met 4,2 % gestegen. Hoe dichter bij het park, hoe hoger de vierkantemeterprijs. In vergelijking met de drie vergelijkingspunten scoort het pand goed qua ligging, maar minder qua staat.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Besluit   </a:t>
            </a:r>
            <a:r>
              <a:rPr lang="en-US" sz="2100" dirty="0">
                <a:solidFill>
                  <a:schemeClr val="tx1"/>
                </a:solidFill>
              </a:rPr>
              <a:t>Op basis van de vergelijking van de recente verkopen wordt de marktwaarde geschat tussen € 445.000 en € 465.000. Een vernieuwing van de keuken zou de waarde met ongeveer € 20.000 kunnen verhogen.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 · Het verslag onder de loep : vragen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14–15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binôme · 9 min. Soulignez dans le texte, puis répondez.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1a. Deux </a:t>
            </a:r>
            <a:r>
              <a:rPr lang="en-US" sz="2600" b="1" dirty="0">
                <a:solidFill>
                  <a:schemeClr val="tx1"/>
                </a:solidFill>
              </a:rPr>
              <a:t>passifs</a:t>
            </a:r>
            <a:r>
              <a:rPr lang="en-US" sz="2600" dirty="0">
                <a:solidFill>
                  <a:schemeClr val="tx1"/>
                </a:solidFill>
              </a:rPr>
              <a:t>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1b. Une corrélation </a:t>
            </a:r>
            <a:r>
              <a:rPr lang="en-US" sz="2600" b="1" dirty="0">
                <a:solidFill>
                  <a:schemeClr val="tx1"/>
                </a:solidFill>
              </a:rPr>
              <a:t>hoe … hoe …</a:t>
            </a:r>
            <a:r>
              <a:rPr lang="en-US" sz="2600" dirty="0">
                <a:solidFill>
                  <a:schemeClr val="tx1"/>
                </a:solidFill>
              </a:rPr>
              <a:t>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1c. Un connecteur du palier 7, et un </a:t>
            </a:r>
            <a:r>
              <a:rPr lang="en-US" sz="2600" b="1" dirty="0">
                <a:solidFill>
                  <a:schemeClr val="tx1"/>
                </a:solidFill>
              </a:rPr>
              <a:t>zou</a:t>
            </a:r>
            <a:r>
              <a:rPr lang="en-US" sz="2600" dirty="0">
                <a:solidFill>
                  <a:schemeClr val="tx1"/>
                </a:solidFill>
              </a:rPr>
              <a:t>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2. Pourquoi une fourchette plutôt qu’un chiffre unique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3. Quel investissement, pour quel gain estimé 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 · Het verslag onder de loep : vragen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14–15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binôme · 9 min. Soulignez dans le texte, puis répondez.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1a. Deux </a:t>
            </a:r>
            <a:r>
              <a:rPr lang="en-US" sz="1900" b="1" dirty="0">
                <a:solidFill>
                  <a:schemeClr val="tx1"/>
                </a:solidFill>
              </a:rPr>
              <a:t>passifs</a:t>
            </a:r>
            <a:r>
              <a:rPr lang="en-US" sz="1900" dirty="0">
                <a:solidFill>
                  <a:schemeClr val="tx1"/>
                </a:solidFill>
              </a:rPr>
              <a:t> 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b="1" dirty="0">
                <a:solidFill>
                  <a:schemeClr val="accent3"/>
                </a:solidFill>
              </a:rPr>
              <a:t>werd</a:t>
            </a:r>
            <a:r>
              <a:rPr lang="en-US" sz="1900" dirty="0">
                <a:solidFill>
                  <a:schemeClr val="accent3"/>
                </a:solidFill>
              </a:rPr>
              <a:t> in 2019 </a:t>
            </a:r>
            <a:r>
              <a:rPr lang="en-US" sz="1900" b="1" dirty="0">
                <a:solidFill>
                  <a:schemeClr val="accent3"/>
                </a:solidFill>
              </a:rPr>
              <a:t>gerenoveerd</a:t>
            </a:r>
            <a:r>
              <a:rPr lang="en-US" sz="1900" dirty="0">
                <a:solidFill>
                  <a:schemeClr val="accent3"/>
                </a:solidFill>
              </a:rPr>
              <a:t> · </a:t>
            </a:r>
            <a:r>
              <a:rPr lang="en-US" sz="1900" b="1" dirty="0">
                <a:solidFill>
                  <a:schemeClr val="accent3"/>
                </a:solidFill>
              </a:rPr>
              <a:t>wordt</a:t>
            </a:r>
            <a:r>
              <a:rPr lang="en-US" sz="1900" dirty="0">
                <a:solidFill>
                  <a:schemeClr val="accent3"/>
                </a:solidFill>
              </a:rPr>
              <a:t> de marktwaarde </a:t>
            </a:r>
            <a:r>
              <a:rPr lang="en-US" sz="1900" b="1" dirty="0">
                <a:solidFill>
                  <a:schemeClr val="accent3"/>
                </a:solidFill>
              </a:rPr>
              <a:t>geschat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1b. Une corrélation </a:t>
            </a:r>
            <a:r>
              <a:rPr lang="en-US" sz="1900" b="1" dirty="0">
                <a:solidFill>
                  <a:schemeClr val="tx1"/>
                </a:solidFill>
              </a:rPr>
              <a:t>hoe … hoe …</a:t>
            </a:r>
            <a:r>
              <a:rPr lang="en-US" sz="1900" dirty="0">
                <a:solidFill>
                  <a:schemeClr val="tx1"/>
                </a:solidFill>
              </a:rPr>
              <a:t> 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b="1" dirty="0">
                <a:solidFill>
                  <a:schemeClr val="accent3"/>
                </a:solidFill>
              </a:rPr>
              <a:t>Hoe dichter</a:t>
            </a:r>
            <a:r>
              <a:rPr lang="en-US" sz="1900" dirty="0">
                <a:solidFill>
                  <a:schemeClr val="accent3"/>
                </a:solidFill>
              </a:rPr>
              <a:t> bij het park, </a:t>
            </a:r>
            <a:r>
              <a:rPr lang="en-US" sz="1900" b="1" dirty="0">
                <a:solidFill>
                  <a:schemeClr val="accent3"/>
                </a:solidFill>
              </a:rPr>
              <a:t>hoe hoger</a:t>
            </a:r>
            <a:r>
              <a:rPr lang="en-US" sz="1900" dirty="0">
                <a:solidFill>
                  <a:schemeClr val="accent3"/>
                </a:solidFill>
              </a:rPr>
              <a:t> de vierkantemeterprijs.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1c. Un connecteur du palier 7, et un </a:t>
            </a:r>
            <a:r>
              <a:rPr lang="en-US" sz="1900" b="1" dirty="0">
                <a:solidFill>
                  <a:schemeClr val="tx1"/>
                </a:solidFill>
              </a:rPr>
              <a:t>zou</a:t>
            </a:r>
            <a:r>
              <a:rPr lang="en-US" sz="1900" dirty="0">
                <a:solidFill>
                  <a:schemeClr val="tx1"/>
                </a:solidFill>
              </a:rPr>
              <a:t> 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b="1" dirty="0">
                <a:solidFill>
                  <a:schemeClr val="accent3"/>
                </a:solidFill>
              </a:rPr>
              <a:t>daarentegen</a:t>
            </a:r>
            <a:r>
              <a:rPr lang="en-US" sz="1900" dirty="0">
                <a:solidFill>
                  <a:schemeClr val="accent3"/>
                </a:solidFill>
              </a:rPr>
              <a:t> · Een vernieuwing van de keuken </a:t>
            </a:r>
            <a:r>
              <a:rPr lang="en-US" sz="1900" b="1" dirty="0">
                <a:solidFill>
                  <a:schemeClr val="accent3"/>
                </a:solidFill>
              </a:rPr>
              <a:t>zou</a:t>
            </a:r>
            <a:r>
              <a:rPr lang="en-US" sz="1900" dirty="0">
                <a:solidFill>
                  <a:schemeClr val="accent3"/>
                </a:solidFill>
              </a:rPr>
              <a:t> de waarde … </a:t>
            </a:r>
            <a:r>
              <a:rPr lang="en-US" sz="1900" b="1" dirty="0">
                <a:solidFill>
                  <a:schemeClr val="accent3"/>
                </a:solidFill>
              </a:rPr>
              <a:t>kunnen</a:t>
            </a:r>
            <a:r>
              <a:rPr lang="en-US" sz="1900" dirty="0">
                <a:solidFill>
                  <a:schemeClr val="accent3"/>
                </a:solidFill>
              </a:rPr>
              <a:t> verhogen.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2. Pourquoi une fourchette plutôt qu’un chiffre unique 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Een </a:t>
            </a:r>
            <a:r>
              <a:rPr lang="en-US" sz="1900" b="1" dirty="0">
                <a:solidFill>
                  <a:schemeClr val="accent3"/>
                </a:solidFill>
              </a:rPr>
              <a:t>bandbreedte</a:t>
            </a:r>
            <a:r>
              <a:rPr lang="en-US" sz="1900" dirty="0">
                <a:solidFill>
                  <a:schemeClr val="accent3"/>
                </a:solidFill>
              </a:rPr>
              <a:t> is eerlijker: ze toont de onzekerheid van de markt en laat ruimte voor onderhandeling.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3. Quel investissement, pour quel gain estimé 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Een </a:t>
            </a:r>
            <a:r>
              <a:rPr lang="en-US" sz="1900" b="1" dirty="0">
                <a:solidFill>
                  <a:schemeClr val="accent3"/>
                </a:solidFill>
              </a:rPr>
              <a:t>vernieuwing van de keuken</a:t>
            </a:r>
            <a:r>
              <a:rPr lang="en-US" sz="1900" dirty="0">
                <a:solidFill>
                  <a:schemeClr val="accent3"/>
                </a:solidFill>
              </a:rPr>
              <a:t> → ongeveer </a:t>
            </a:r>
            <a:r>
              <a:rPr lang="en-US" sz="1900" b="1" dirty="0">
                <a:solidFill>
                  <a:schemeClr val="accent3"/>
                </a:solidFill>
              </a:rPr>
              <a:t>€ 20.000</a:t>
            </a:r>
            <a:r>
              <a:rPr lang="en-US" sz="1900" dirty="0">
                <a:solidFill>
                  <a:schemeClr val="accent3"/>
                </a:solidFill>
              </a:rPr>
              <a:t> meer waarde.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4 · Uw besluit : le dossier Forest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797853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LE DOSSIER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Appartement à Forest</a:t>
            </a:r>
            <a:r>
              <a:rPr lang="en-US" sz="1800" dirty="0">
                <a:solidFill>
                  <a:schemeClr val="tx1"/>
                </a:solidFill>
              </a:rPr>
              <a:t> : 85 m², 2 slpk., terras 6 m², instapklaar ; la </a:t>
            </a:r>
            <a:r>
              <a:rPr lang="en-US" sz="1800" b="1" dirty="0">
                <a:solidFill>
                  <a:schemeClr val="tx1"/>
                </a:solidFill>
              </a:rPr>
              <a:t>lift</a:t>
            </a:r>
            <a:r>
              <a:rPr lang="en-US" sz="1800" dirty="0">
                <a:solidFill>
                  <a:schemeClr val="tx1"/>
                </a:solidFill>
              </a:rPr>
              <a:t> est souvent en panne.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Comparables vendus : </a:t>
            </a:r>
            <a:r>
              <a:rPr lang="en-US" sz="1800" b="1" dirty="0">
                <a:solidFill>
                  <a:schemeClr val="tx1"/>
                </a:solidFill>
              </a:rPr>
              <a:t>€ 285.000 · € 302.000 · € 279.000</a:t>
            </a:r>
            <a:r>
              <a:rPr lang="en-US" sz="1800" dirty="0">
                <a:solidFill>
                  <a:schemeClr val="tx1"/>
                </a:solidFill>
              </a:rPr>
              <a:t> (moyenne ≈ € 288.700).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Marché du quartier : </a:t>
            </a:r>
            <a:r>
              <a:rPr lang="en-US" sz="1800" b="1" dirty="0">
                <a:solidFill>
                  <a:schemeClr val="tx1"/>
                </a:solidFill>
              </a:rPr>
              <a:t>+ 2,1 %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Besluit</a:t>
            </a:r>
            <a:r>
              <a:rPr lang="en-US" sz="1800" dirty="0">
                <a:solidFill>
                  <a:schemeClr val="tx1"/>
                </a:solidFill>
              </a:rPr>
              <a:t> complet : 8 à 10 phrases.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4 · Modèle de besluit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Quatre mouvements : base nominalisée → fourchette au passif → concession → recommandation avec zou (+ évolution + comparaison).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110916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Op basis van de vergelijking</a:t>
            </a:r>
            <a:r>
              <a:rPr lang="en-US" sz="2000" dirty="0">
                <a:solidFill>
                  <a:schemeClr val="tx1"/>
                </a:solidFill>
              </a:rPr>
              <a:t> van drie recente verkopen (€ 285.000, € 302.000 en € 279.000) </a:t>
            </a:r>
            <a:r>
              <a:rPr lang="en-US" sz="2000" b="1" dirty="0">
                <a:solidFill>
                  <a:schemeClr val="tx1"/>
                </a:solidFill>
              </a:rPr>
              <a:t>wordt</a:t>
            </a:r>
            <a:r>
              <a:rPr lang="en-US" sz="2000" dirty="0">
                <a:solidFill>
                  <a:schemeClr val="tx1"/>
                </a:solidFill>
              </a:rPr>
              <a:t> de marktwaarde van het appartement in Forest </a:t>
            </a:r>
            <a:r>
              <a:rPr lang="en-US" sz="2000" b="1" dirty="0">
                <a:solidFill>
                  <a:schemeClr val="tx1"/>
                </a:solidFill>
              </a:rPr>
              <a:t>geschat</a:t>
            </a:r>
            <a:r>
              <a:rPr lang="en-US" sz="2000" dirty="0">
                <a:solidFill>
                  <a:schemeClr val="tx1"/>
                </a:solidFill>
              </a:rPr>
              <a:t> tussen € 280.000 en € 295.000.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 gemiddelde verkoopprijs van de drie panden bedraagt ongeveer € 289.000.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 prijzen in de wijk zijn het afgelopen jaar </a:t>
            </a:r>
            <a:r>
              <a:rPr lang="en-US" sz="2000" b="1" dirty="0">
                <a:solidFill>
                  <a:schemeClr val="tx1"/>
                </a:solidFill>
              </a:rPr>
              <a:t>met 2,1 % gestegen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Het appartement is </a:t>
            </a:r>
            <a:r>
              <a:rPr lang="en-US" sz="2000" b="1" dirty="0">
                <a:solidFill>
                  <a:schemeClr val="tx1"/>
                </a:solidFill>
              </a:rPr>
              <a:t>weliswaar</a:t>
            </a:r>
            <a:r>
              <a:rPr lang="en-US" sz="2000" dirty="0">
                <a:solidFill>
                  <a:schemeClr val="tx1"/>
                </a:solidFill>
              </a:rPr>
              <a:t> instapklaar en heeft een terras van 6 m², </a:t>
            </a:r>
            <a:r>
              <a:rPr lang="en-US" sz="2000" b="1" dirty="0">
                <a:solidFill>
                  <a:schemeClr val="tx1"/>
                </a:solidFill>
              </a:rPr>
              <a:t>maar</a:t>
            </a:r>
            <a:r>
              <a:rPr lang="en-US" sz="2000" dirty="0">
                <a:solidFill>
                  <a:schemeClr val="tx1"/>
                </a:solidFill>
              </a:rPr>
              <a:t> de lift valt regelmatig uit.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Hoe vaker</a:t>
            </a:r>
            <a:r>
              <a:rPr lang="en-US" sz="2000" dirty="0">
                <a:solidFill>
                  <a:schemeClr val="tx1"/>
                </a:solidFill>
              </a:rPr>
              <a:t> de lift defect </a:t>
            </a:r>
            <a:r>
              <a:rPr lang="en-US" sz="2000" b="1" dirty="0">
                <a:solidFill>
                  <a:schemeClr val="tx1"/>
                </a:solidFill>
              </a:rPr>
              <a:t>is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hoe minder</a:t>
            </a:r>
            <a:r>
              <a:rPr lang="en-US" sz="2000" dirty="0">
                <a:solidFill>
                  <a:schemeClr val="tx1"/>
                </a:solidFill>
              </a:rPr>
              <a:t> aantrekkelijk het appartement voor kandidaten </a:t>
            </a:r>
            <a:r>
              <a:rPr lang="en-US" sz="2000" b="1" dirty="0">
                <a:solidFill>
                  <a:schemeClr val="tx1"/>
                </a:solidFill>
              </a:rPr>
              <a:t>wordt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Het duurste vergelijkingspunt is € 23.000 duurder </a:t>
            </a:r>
            <a:r>
              <a:rPr lang="en-US" sz="2000" b="1" dirty="0">
                <a:solidFill>
                  <a:schemeClr val="tx1"/>
                </a:solidFill>
              </a:rPr>
              <a:t>dan</a:t>
            </a:r>
            <a:r>
              <a:rPr lang="en-US" sz="2000" dirty="0">
                <a:solidFill>
                  <a:schemeClr val="tx1"/>
                </a:solidFill>
              </a:rPr>
              <a:t> het goedkoopste.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Wij </a:t>
            </a:r>
            <a:r>
              <a:rPr lang="en-US" sz="2000" b="1" dirty="0">
                <a:solidFill>
                  <a:schemeClr val="tx1"/>
                </a:solidFill>
              </a:rPr>
              <a:t>zouden</a:t>
            </a:r>
            <a:r>
              <a:rPr lang="en-US" sz="2000" dirty="0">
                <a:solidFill>
                  <a:schemeClr val="tx1"/>
                </a:solidFill>
              </a:rPr>
              <a:t> u aanraden om te starten op € 295.000, de bovenkant van de bandbreedte.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Een snelle herstelling van de lift </a:t>
            </a:r>
            <a:r>
              <a:rPr lang="en-US" sz="2000" b="1" dirty="0">
                <a:solidFill>
                  <a:schemeClr val="tx1"/>
                </a:solidFill>
              </a:rPr>
              <a:t>zou</a:t>
            </a:r>
            <a:r>
              <a:rPr lang="en-US" sz="2000" dirty="0">
                <a:solidFill>
                  <a:schemeClr val="tx1"/>
                </a:solidFill>
              </a:rPr>
              <a:t> de verkoop </a:t>
            </a:r>
            <a:r>
              <a:rPr lang="en-US" sz="2000" b="1" dirty="0">
                <a:solidFill>
                  <a:schemeClr val="tx1"/>
                </a:solidFill>
              </a:rPr>
              <a:t>kunnen</a:t>
            </a:r>
            <a:r>
              <a:rPr lang="en-US" sz="2000" dirty="0">
                <a:solidFill>
                  <a:schemeClr val="tx1"/>
                </a:solidFill>
              </a:rPr>
              <a:t> versnellen.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D4 · Vier sterren of twee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18516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AVIS EN LIGNE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857500" y="1609344"/>
            <a:ext cx="8691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Les trois derniers avis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106344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★★★★★  Marc · 3 dagen geleden   </a:t>
            </a:r>
            <a:r>
              <a:rPr lang="en-US" sz="2100" dirty="0">
                <a:solidFill>
                  <a:schemeClr val="tx1"/>
                </a:solidFill>
              </a:rPr>
              <a:t>Een echte aanrader! De mosselen waren vers en de porties waren twee keer zo groot als in de restaurants op de dijk. Prijs-kwaliteit: top. Voor herhaling vatbaar.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★★☆☆☆  Ingrid · 1 week geleden   </a:t>
            </a:r>
            <a:r>
              <a:rPr lang="en-US" sz="2100" dirty="0">
                <a:solidFill>
                  <a:schemeClr val="tx1"/>
                </a:solidFill>
              </a:rPr>
              <a:t>Eerlijk gezegd: ontgoochelend. We hebben 45 minuten op ons hoofdgerecht gewacht. Hoe later op de avond, hoe trager de bediening. De prijzen zijn in vergelijking met vorig jaar met bijna 20 % gestegen.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★★★★☆  Youssef · 2 weken geleden   </a:t>
            </a:r>
            <a:r>
              <a:rPr lang="en-US" sz="2100" dirty="0">
                <a:solidFill>
                  <a:schemeClr val="tx1"/>
                </a:solidFill>
              </a:rPr>
              <a:t>Lekker eten in een gezellig kader. De garnaalkroketten zijn even goed als bij mijn grootmoeder! De wachttijd was wel lang. Kortom: ik zou zeker teruggaan, maar ik zou reserveren.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D4 · Les avis : moyenne et analyse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binôme · 8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1a. Calculez la </a:t>
            </a:r>
            <a:r>
              <a:rPr lang="en-US" sz="2600" b="1" dirty="0">
                <a:solidFill>
                  <a:schemeClr val="tx1"/>
                </a:solidFill>
              </a:rPr>
              <a:t>note moyenne</a:t>
            </a:r>
            <a:r>
              <a:rPr lang="en-US" sz="2600" dirty="0">
                <a:solidFill>
                  <a:schemeClr val="tx1"/>
                </a:solidFill>
              </a:rPr>
              <a:t> (gemiddeld).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1b. Quel avis est le plus utile : des faits chiffrés ou de l’émotion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2a. Deux comparaisons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2b. Une évolution ?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2c. Une recommandation avec ZOU 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D4 · Les avis : moyenne et analyse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7327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puis binôme · 8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1a. Calculez la </a:t>
            </a:r>
            <a:r>
              <a:rPr lang="en-US" sz="1600" b="1" dirty="0">
                <a:solidFill>
                  <a:schemeClr val="tx1"/>
                </a:solidFill>
              </a:rPr>
              <a:t>note moyenne</a:t>
            </a:r>
            <a:r>
              <a:rPr lang="en-US" sz="1600" dirty="0">
                <a:solidFill>
                  <a:schemeClr val="tx1"/>
                </a:solidFill>
              </a:rPr>
              <a:t> (gemiddeld).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(5 + 2 + 4) ÷ 3 = 3,67 → </a:t>
            </a:r>
            <a:r>
              <a:rPr lang="en-US" sz="1600" b="1" dirty="0">
                <a:solidFill>
                  <a:schemeClr val="accent3"/>
                </a:solidFill>
              </a:rPr>
              <a:t>gemiddeld ongeveer drie komma zeven</a:t>
            </a:r>
            <a:r>
              <a:rPr lang="en-US" sz="1600" dirty="0">
                <a:solidFill>
                  <a:schemeClr val="accent3"/>
                </a:solidFill>
              </a:rPr>
              <a:t> sterren op vijf.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1b. Quel avis est le plus utile : des faits chiffrés ou de l’émotion ?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Les avis </a:t>
            </a:r>
            <a:r>
              <a:rPr lang="en-US" sz="1600" b="1" dirty="0">
                <a:solidFill>
                  <a:schemeClr val="accent3"/>
                </a:solidFill>
              </a:rPr>
              <a:t>chiffrés</a:t>
            </a:r>
            <a:r>
              <a:rPr lang="en-US" sz="1600" dirty="0">
                <a:solidFill>
                  <a:schemeClr val="accent3"/>
                </a:solidFill>
              </a:rPr>
              <a:t> (Ingrid : 45 minuten, bijna 20 %) : on peut les vérifier, comme un rapport. « Een echte aanrader! » n’apporte aucune donnée.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2a. Deux comparaisons ?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b="1" dirty="0">
                <a:solidFill>
                  <a:schemeClr val="accent3"/>
                </a:solidFill>
              </a:rPr>
              <a:t>twee keer zo groot als</a:t>
            </a:r>
            <a:r>
              <a:rPr lang="en-US" sz="1600" dirty="0">
                <a:solidFill>
                  <a:schemeClr val="accent3"/>
                </a:solidFill>
              </a:rPr>
              <a:t> in de restaurants op de dijk · </a:t>
            </a:r>
            <a:r>
              <a:rPr lang="en-US" sz="1600" b="1" dirty="0">
                <a:solidFill>
                  <a:schemeClr val="accent3"/>
                </a:solidFill>
              </a:rPr>
              <a:t>even goed als</a:t>
            </a:r>
            <a:r>
              <a:rPr lang="en-US" sz="1600" dirty="0">
                <a:solidFill>
                  <a:schemeClr val="accent3"/>
                </a:solidFill>
              </a:rPr>
              <a:t> bij mijn grootmoeder (+ </a:t>
            </a:r>
            <a:r>
              <a:rPr lang="en-US" sz="1600" b="1" dirty="0">
                <a:solidFill>
                  <a:schemeClr val="accent3"/>
                </a:solidFill>
              </a:rPr>
              <a:t>hoe later …, hoe trager …</a:t>
            </a:r>
            <a:r>
              <a:rPr lang="en-US" sz="1600" dirty="0">
                <a:solidFill>
                  <a:schemeClr val="accent3"/>
                </a:solidFill>
              </a:rPr>
              <a:t>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2b. Une évolution ?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De prijzen zijn in vergelijking met vorig jaar </a:t>
            </a:r>
            <a:r>
              <a:rPr lang="en-US" sz="1600" b="1" dirty="0">
                <a:solidFill>
                  <a:schemeClr val="accent3"/>
                </a:solidFill>
              </a:rPr>
              <a:t>met bijna 20 % gestegen</a:t>
            </a:r>
            <a:r>
              <a:rPr lang="en-US" sz="1600" dirty="0">
                <a:solidFill>
                  <a:schemeClr val="accent3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2c. Une recommandation avec ZOU ?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Ik </a:t>
            </a:r>
            <a:r>
              <a:rPr lang="en-US" sz="1600" b="1" dirty="0">
                <a:solidFill>
                  <a:schemeClr val="accent3"/>
                </a:solidFill>
              </a:rPr>
              <a:t>zou</a:t>
            </a:r>
            <a:r>
              <a:rPr lang="en-US" sz="1600" dirty="0">
                <a:solidFill>
                  <a:schemeClr val="accent3"/>
                </a:solidFill>
              </a:rPr>
              <a:t> zeker </a:t>
            </a:r>
            <a:r>
              <a:rPr lang="en-US" sz="1600" b="1" dirty="0">
                <a:solidFill>
                  <a:schemeClr val="accent3"/>
                </a:solidFill>
              </a:rPr>
              <a:t>teruggaan</a:t>
            </a:r>
            <a:r>
              <a:rPr lang="en-US" sz="1600" dirty="0">
                <a:solidFill>
                  <a:schemeClr val="accent3"/>
                </a:solidFill>
              </a:rPr>
              <a:t>, maar ik </a:t>
            </a:r>
            <a:r>
              <a:rPr lang="en-US" sz="1600" b="1" dirty="0">
                <a:solidFill>
                  <a:schemeClr val="accent3"/>
                </a:solidFill>
              </a:rPr>
              <a:t>zou</a:t>
            </a:r>
            <a:r>
              <a:rPr lang="en-US" sz="1600" dirty="0">
                <a:solidFill>
                  <a:schemeClr val="accent3"/>
                </a:solidFill>
              </a:rPr>
              <a:t> reserveren.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D4 · À vous : rédigez votre avis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2054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Un lieu que vous connaissez vraiment (restaurant, café, hôtel, magasin, appli…) : </a:t>
            </a:r>
            <a:r>
              <a:rPr lang="en-US" sz="1600" b="1" i="1" dirty="0">
                <a:solidFill>
                  <a:schemeClr val="accent5"/>
                </a:solidFill>
              </a:rPr>
              <a:t>6 à 8 phrases</a:t>
            </a:r>
            <a:r>
              <a:rPr lang="en-US" sz="1600" i="1" dirty="0">
                <a:solidFill>
                  <a:schemeClr val="accent5"/>
                </a:solidFill>
              </a:rPr>
              <a:t>, selon la structure du schattingsverslag.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2054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Modèle (à adapter : vrai pour vous !)</a:t>
            </a:r>
            <a:endParaRPr lang="en-US" sz="2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Café De Hoek ligt in het centrum van Gent; een koffie kost € 2,80.</a:t>
            </a:r>
            <a:endParaRPr lang="en-US" sz="2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 vergelijking met</a:t>
            </a:r>
            <a:r>
              <a:rPr lang="en-US" sz="2200" dirty="0">
                <a:solidFill>
                  <a:schemeClr val="tx1"/>
                </a:solidFill>
              </a:rPr>
              <a:t> de andere cafés in de straat is de bediening </a:t>
            </a:r>
            <a:r>
              <a:rPr lang="en-US" sz="2200" b="1" dirty="0">
                <a:solidFill>
                  <a:schemeClr val="tx1"/>
                </a:solidFill>
              </a:rPr>
              <a:t>twee keer zo snel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Hoe drukker</a:t>
            </a:r>
            <a:r>
              <a:rPr lang="en-US" sz="2200" dirty="0">
                <a:solidFill>
                  <a:schemeClr val="tx1"/>
                </a:solidFill>
              </a:rPr>
              <a:t> het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b="1" dirty="0">
                <a:solidFill>
                  <a:schemeClr val="tx1"/>
                </a:solidFill>
              </a:rPr>
              <a:t>hoe vriendelijker</a:t>
            </a:r>
            <a:r>
              <a:rPr lang="en-US" sz="2200" dirty="0">
                <a:solidFill>
                  <a:schemeClr val="tx1"/>
                </a:solidFill>
              </a:rPr>
              <a:t> het personeel </a:t>
            </a:r>
            <a:r>
              <a:rPr lang="en-US" sz="2200" b="1" dirty="0">
                <a:solidFill>
                  <a:schemeClr val="tx1"/>
                </a:solidFill>
              </a:rPr>
              <a:t>blijft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Het gebak is </a:t>
            </a:r>
            <a:r>
              <a:rPr lang="en-US" sz="2200" b="1" dirty="0">
                <a:solidFill>
                  <a:schemeClr val="tx1"/>
                </a:solidFill>
              </a:rPr>
              <a:t>even</a:t>
            </a:r>
            <a:r>
              <a:rPr lang="en-US" sz="2200" dirty="0">
                <a:solidFill>
                  <a:schemeClr val="tx1"/>
                </a:solidFill>
              </a:rPr>
              <a:t> lekker </a:t>
            </a:r>
            <a:r>
              <a:rPr lang="en-US" sz="2200" b="1" dirty="0">
                <a:solidFill>
                  <a:schemeClr val="tx1"/>
                </a:solidFill>
              </a:rPr>
              <a:t>als</a:t>
            </a:r>
            <a:r>
              <a:rPr lang="en-US" sz="2200" dirty="0">
                <a:solidFill>
                  <a:schemeClr val="tx1"/>
                </a:solidFill>
              </a:rPr>
              <a:t> bij de bakker, maar de prijzen zijn dit jaar </a:t>
            </a:r>
            <a:r>
              <a:rPr lang="en-US" sz="2200" b="1" dirty="0">
                <a:solidFill>
                  <a:schemeClr val="tx1"/>
                </a:solidFill>
              </a:rPr>
              <a:t>met ongeveer 10 % gestegen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Kortom: vier op vijf sterren. Ik </a:t>
            </a:r>
            <a:r>
              <a:rPr lang="en-US" sz="2200" b="1" dirty="0">
                <a:solidFill>
                  <a:schemeClr val="tx1"/>
                </a:solidFill>
              </a:rPr>
              <a:t>zou</a:t>
            </a:r>
            <a:r>
              <a:rPr lang="en-US" sz="2200" dirty="0">
                <a:solidFill>
                  <a:schemeClr val="tx1"/>
                </a:solidFill>
              </a:rPr>
              <a:t> het zeker aanraden, maar ik </a:t>
            </a:r>
            <a:r>
              <a:rPr lang="en-US" sz="2200" b="1" dirty="0">
                <a:solidFill>
                  <a:schemeClr val="tx1"/>
                </a:solidFill>
              </a:rPr>
              <a:t>zou</a:t>
            </a:r>
            <a:r>
              <a:rPr lang="en-US" sz="2200" dirty="0">
                <a:solidFill>
                  <a:schemeClr val="tx1"/>
                </a:solidFill>
              </a:rPr>
              <a:t> voor het weekend reserveren.</a:t>
            </a:r>
            <a:endParaRPr lang="en-US" sz="2200" dirty="0"/>
          </a:p>
        </p:txBody>
      </p:sp>
      <p:sp>
        <p:nvSpPr>
          <p:cNvPr id="8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1. Beschrijving</a:t>
            </a:r>
            <a:r>
              <a:rPr lang="en-US" sz="1800" dirty="0">
                <a:solidFill>
                  <a:schemeClr val="tx1"/>
                </a:solidFill>
              </a:rPr>
              <a:t> : quoi, où, combien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2. Analyse</a:t>
            </a:r>
            <a:r>
              <a:rPr lang="en-US" sz="1800" dirty="0">
                <a:solidFill>
                  <a:schemeClr val="tx1"/>
                </a:solidFill>
              </a:rPr>
              <a:t> : une comparaison et un chiffre au moins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3. Besluit</a:t>
            </a:r>
            <a:r>
              <a:rPr lang="en-US" sz="1800" dirty="0">
                <a:solidFill>
                  <a:schemeClr val="tx1"/>
                </a:solidFill>
              </a:rPr>
              <a:t> : note sur cinq + recommandation avec </a:t>
            </a:r>
            <a:r>
              <a:rPr lang="en-US" sz="1800" b="1" dirty="0">
                <a:solidFill>
                  <a:schemeClr val="tx1"/>
                </a:solidFill>
              </a:rPr>
              <a:t>zou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aanrader · prijs-kwaliteit · voor herhaling vatbaar · de bediening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19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défendre son estimation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face au propriétaire déçu (TAAK 5), puis la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tâche finale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de la série : le schattingsgesprek (TAAK 6).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Terminer la </a:t>
            </a:r>
            <a:r>
              <a:rPr lang="en-US" sz="1700" b="1" dirty="0">
                <a:solidFill>
                  <a:schemeClr val="tx1"/>
                </a:solidFill>
              </a:rPr>
              <a:t>TAAK 4</a:t>
            </a:r>
            <a:r>
              <a:rPr lang="en-US" sz="1700" dirty="0">
                <a:solidFill>
                  <a:schemeClr val="tx1"/>
                </a:solidFill>
              </a:rPr>
              <a:t> (besluit de 8 à 10 phrases) si besoin.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Rédiger l’</a:t>
            </a:r>
            <a:r>
              <a:rPr lang="en-US" sz="1700" b="1" dirty="0">
                <a:solidFill>
                  <a:schemeClr val="tx1"/>
                </a:solidFill>
              </a:rPr>
              <a:t>avis</a:t>
            </a:r>
            <a:r>
              <a:rPr lang="en-US" sz="1700" dirty="0">
                <a:solidFill>
                  <a:schemeClr val="tx1"/>
                </a:solidFill>
              </a:rPr>
              <a:t> de D4 (6 à 8 phrases).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Préparer votre </a:t>
            </a:r>
            <a:r>
              <a:rPr lang="en-US" sz="1700" b="1" dirty="0">
                <a:solidFill>
                  <a:schemeClr val="tx1"/>
                </a:solidFill>
              </a:rPr>
              <a:t>marktupdate</a:t>
            </a:r>
            <a:r>
              <a:rPr lang="en-US" sz="1700" dirty="0">
                <a:solidFill>
                  <a:schemeClr val="tx1"/>
                </a:solidFill>
              </a:rPr>
              <a:t> en mots-clés (TAAK 3) si vous n’êtes pas passé·e.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: stijgen / dalen </a:t>
            </a:r>
            <a:r>
              <a:rPr lang="en-US" sz="1700" b="1" dirty="0">
                <a:solidFill>
                  <a:schemeClr val="tx1"/>
                </a:solidFill>
              </a:rPr>
              <a:t>met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b="1" dirty="0">
                <a:solidFill>
                  <a:schemeClr val="tx1"/>
                </a:solidFill>
              </a:rPr>
              <a:t>van … naar</a:t>
            </a:r>
            <a:r>
              <a:rPr lang="en-US" sz="1700" dirty="0">
                <a:solidFill>
                  <a:schemeClr val="tx1"/>
                </a:solidFill>
              </a:rPr>
              <a:t> · verdubbelen · stabiel blijven.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Annoncez à voix haute une évolution </a:t>
            </a:r>
            <a:r>
              <a:rPr lang="en-US" sz="1600" b="1" dirty="0">
                <a:solidFill>
                  <a:schemeClr val="bg1"/>
                </a:solidFill>
              </a:rPr>
              <a:t>chiffrée</a:t>
            </a:r>
            <a:r>
              <a:rPr lang="en-US" sz="1600" dirty="0">
                <a:solidFill>
                  <a:schemeClr val="bg1"/>
                </a:solidFill>
              </a:rPr>
              <a:t> de votre vie : </a:t>
            </a:r>
            <a:r>
              <a:rPr lang="en-US" sz="1600" i="1" dirty="0">
                <a:solidFill>
                  <a:schemeClr val="bg1"/>
                </a:solidFill>
              </a:rPr>
              <a:t>… is met … % gestegen / gedaald.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B1 vastgoed">
  <a:themeElements>
    <a:clrScheme name="Nederlands B1 vastgoed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B1 vastgo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IRAM — Néerlandais 3 (B1)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18 — De markt en het verslag</dc:title>
  <dc:subject>Néerlandais B1 — immobilier et vie quotidienne (Yasmina &amp; Stef)</dc:subject>
  <dc:creator>A. Jouniaux</dc:creator>
  <cp:lastModifiedBy>A. Jouniaux</cp:lastModifiedBy>
  <cp:revision>1</cp:revision>
  <dcterms:created xsi:type="dcterms:W3CDTF">2026-10-03T21:59:52Z</dcterms:created>
  <dcterms:modified xsi:type="dcterms:W3CDTF">2026-10-03T21:59:52Z</dcterms:modified>
</cp:coreProperties>
</file>