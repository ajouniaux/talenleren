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verture" id="{eceab7c3-27da-33ec-8c87-9895dd183124}">
          <p14:sldIdLst>
            <p14:sldId id="256"/>
            <p14:sldId id="257"/>
            <p14:sldId id="258"/>
            <p14:sldId id="259"/>
            <p14:sldId id="260"/>
            <p14:sldId id="261"/>
            <p14:sldId id="262"/>
            <p14:sldId id="263"/>
            <p14:sldId id="264"/>
            <p14:sldId id="265"/>
            <p14:sldId id="266"/>
            <p14:sldId id="267"/>
            <p14:sldId id="268"/>
            <p14:sldId id="269"/>
            <p14:sldId id="270"/>
            <p14:sldId id="271"/>
            <p14:sldId id="272"/>
            <p14:sldId id="273"/>
            <p14:sldId id="274"/>
            <p14:sldId id="275"/>
            <p14:sldId id="276"/>
          </p14:sldIdLst>
        </p14:section>
        <p14:section name="Clôture" id="{00ed0fd4-1054-12c7-b753-eb13219b2909}">
          <p14:sldIdLst>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Séance consacrée à la séquence 7.2 : transformer un verbe en nom (-ing, -heid, -teit/-atie, het + infinitif) pour comprendre une convocation, rédiger un ordre du jour et écrire au syndic. Elle comprend l’exercice 3 (lire la convocation), l’exercice 4 (van werkwoord naar naamwoord), la TAAK 2 (lettre au syndic) et l’activité Dagelijks leven D2 (la langue de la commune).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Durées indicatives sur 90 minutes. La séance couvre les pages 7 à 10a du livret. La TAAK 2 (lettre de 8 à 10 phrases) peut être terminée à la maison ; en classe, consacrer le temps à la planification (objet, nominalisations, zou) et à la relecture. D2 est riche : si le temps manque, traiter deux messages sur quatre.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Rappel de la séance 11 (4 minutes). Si les articles posent problème, projeter la mindmap de la séance 11 (diapositives de vocabulaire). Réponses alternatives acceptées pour la phrase 2 : « …de plaatsen die alle bewoners gebruiken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Faire répéter en chœur. Relever les erreurs de place du verbe dans la relative : elles reviendront dans la lettre au syndic (TAAK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Réponse : goedkeuren (approuver). Montrer la différence de registre : « We beslissen morgen » (oral, verbal) / « De beslissing valt morgen » (écrit, nominal). Le Focus du livret cite : «De beslissing werd vorig jaar uitgesteld... nu moet er een stemming komen.» (le mot « echt » du dialogue est omis par l’ellipse). Faire repérer l’article de devant chaque nom en -ing.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Planche du livret : trois verbes du métier deviennent trois noms. Faire lire les paires à voix haute. La règle d’or : le complément du verbe (de kosten) devient un complément introduit par « van » (de verdeling van de kosten).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Tableau de la page 8 du livret (quatre procédés). Les noms en -ing, -heid, -teit et -atie prennent tous « de » (on peut ajouter -atie / -ie). « de renovatie » et « de renovering » sont deux formes possibles (le livret cite les deux). « het + infinitif » est toujours possible quand le verbe n’a pas de nom en -ing (uitstellen → het uitstellen ; on trouve aussi « het uitstel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9 du livret. Les deux verbes séparables (goedkeuren, uitstellen) montrent que la particule disparaît ou se soude dans le nom : goed + keuring = goedkeuring ; pour uitstellen on utilise « het uitstellen » (ou « het uitstel »). Dans la relative « de beslissing die genomen werd », le verbe passif est à la fin : participe + werd.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ajoutée (hors syllabus) pour fixer les quatre erreurs les plus fréquentes. Les étudiants francophones calquent « la rénovation de la façade » et oublient « van ». Le piège « het stemming » vient de l’influence de « het stemmen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Compréhension de l’écrit. Lecture silencieuse de 3 minutes, puis les trois questions de la diapositive suivante. Le 22 septembre tombe un mardi en 2026 : la date est donc cohérente.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 le livret annonce huit nominalisations dans l’agenda. Les sept noms les plus nets sont goedkeuring, vergadering, bespreking, renovatie, stemming, uitvoering, verhoging ; le huitième est « bijdrage » (bijdragen), nominalisation irrégulière ; on peut aussi ajouter « afwezigheid » (afwezig + -heid) de la phrase finale (hors agenda). Question 2 : accepter « de volmacht » ou « het geven van een volmacht ». Question 3 : « stemmen over + nom » est la construction à retenir.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Rappeler que le nom garde son sens verbal : « de uitvoering van de werken » = « het uitvoeren van de werken ». À l’inverse, le passage au verbe oblige à choisir un sujet (de mede-eigenaars).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Modèle de l’exercice : « We herstellen de lift → de herstelling van de lift ». Phrase 5 : pas de « van » car il n’y a pas de complément d’objet ; « in september » reste tel quel. Phrase 4 : « het uitstel van de werken » est aussi correct (uitstel = nom, het-woord).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Faire lire chaque groupe nominal complet. Pour la phrase 3, rappeler que la particule « goed » ne se détache plus : goedkeuring. Pour la phrase 1, accepter renovering.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Production écrite libre. Passer dans les rangs : vérifier l’objet nominal (Betreft: toevoeging van…), le verbe à la fin des subordonnées, la formule de politesse. Le livret fixe 8 à 10 phrases : lettre-modèle sur la diapositive suivante. Si le temps manque, finir à la maison.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modèle parmi d’autres : 9 phrases, 6 nominalisations (toevoeging, beveiliging, bespreking, stemming, vervanging, uitvoering), un discours indirect (zei dat… sloot), une demande polie avec zou, un cadre formel (Betreft, Geachte, Met vriendelijke groeten). « Zich voordoen » est séparable : « deden zich … voor ». Accepter « mede-eigenares » pour une femme, mais « mede-eigenaar » est la forme courante.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Quatre messages du livret. Question 1 (soulignement) : bord A parkeerverbod, verhuizing, overtreders (← overtreden) ; brief B ophaling, inschrijving, betaling, bevestiging, ophaaldatum ; bericht C verwijdering, contactname ; mail D bevestiging, vernieuwing, annulering. Question 2 : une phrase verbale par message (modèles ci-dessous à la correction). Remarques : « weggetakeld » (wegtakelen) est la forme belge pour « remorqué » ; « contactname » est la forme administrative belge (aussi « contactopname » ou « contact opnemen ») ; les jours de la semaine des affiches (14/10, 5 novembre) correspondent à l’année 2024 : si les étudiants le remarquent, peu importe, c’est un exemple.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Faire lire les phrases « traduites » à voix haute. Insister sur le registre : la phrase verbale parle à « je / jij » (informel), l’affiche parle en noms et au passif (formel). Plusieurs phrases verbales sont possibles : accepter toute reformulation correcte avec verbe conjugué.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Production libre. Le modèle contient les nominalisations onderhoud, controle, herstelling, begrip, contactname, le passif « worden uitgevoerd » et trois formules administratives (Wegens, Gelieve, Bij vragen). Les étudiants affichent leur production au mur ou la lisent à la classe, qui doit retrouver le verbe derrière chaque nom.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Exercice ajouté (4 minutes). Tous les noms prennent « de ». Variante orale : le professeur donne le verbe ou l’adjectif, la classe répond avec l’article et le nom, puis forme une phrase d’ordre du jour (« De uitnodiging voor de vergadering is verstuurd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Retenir : -heid se colle à un adjectif (afwezig, beschikbaar, tevreden), -ing à un verbe (verhogen, uitnodigen, vergaderen), -atie aux verbes en -iseren / -eren d’origine latine (organiseren → organisatie). « controle » n’a pas de suffixe : contrôler → de controle.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Ticket de sortie à l’oral : « de verdeling van de kosten » et « het uitstellen van de werken ». Vérifier « van » et l’article.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TLAS_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Néerlandais 3 · B1 · Yasmina &amp; Stef · Séance 12</a:t>
            </a:r>
            <a:endParaRPr lang="en-US" sz="1000" dirty="0"/>
          </a:p>
        </p:txBody>
      </p:sp>
      <p:sp>
        <p:nvSpPr>
          <p:cNvPr id="3" name="Text 1"/>
          <p:cNvSpPr/>
          <p:nvPr>
            <p:ph idx="101" type="title" hasCustomPrompt="1"/>
          </p:nvPr>
        </p:nvSpPr>
        <p:spPr>
          <a:xfrm>
            <a:off x="548640" y="621792"/>
            <a:ext cx="11091672" cy="713232"/>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TLAS_DARK">
    <p:bg>
      <p:bgPr>
        <a:solidFill>
          <a:srgbClr val="17375E"/>
        </a:solidFill>
      </p:bgPr>
    </p:bg>
    <p:spTree>
      <p:nvGrpSpPr>
        <p:cNvPr id="1" name=""/>
        <p:cNvGrpSpPr/>
        <p:nvPr/>
      </p:nvGrpSpPr>
      <p:grpSpPr>
        <a:xfrm>
          <a:off x="0" y="0"/>
          <a:ext cx="0" cy="0"/>
          <a:chOff x="0" y="0"/>
          <a:chExt cx="0" cy="0"/>
        </a:xfrm>
      </p:grpSpPr>
      <p:sp>
        <p:nvSpPr>
          <p:cNvPr id="2" name="Text 0"/>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chemeClr val="bg2"/>
                </a:solidFill>
              </a:rPr>
              <a:t>Néerlandais 3 · B1 · Yasmina &amp; Stef · Séance 12</a:t>
            </a:r>
            <a:endParaRPr lang="en-US" sz="1000" dirty="0"/>
          </a:p>
        </p:txBody>
      </p:sp>
      <p:sp>
        <p:nvSpPr>
          <p:cNvPr id="3" name="Text 1"/>
          <p:cNvSpPr/>
          <p:nvPr>
            <p:ph idx="101" type="title" hasCustomPrompt="1"/>
          </p:nvPr>
        </p:nvSpPr>
        <p:spPr>
          <a:xfrm>
            <a:off x="548640" y="621792"/>
            <a:ext cx="11091672" cy="713232"/>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EF3F8"/>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ATLAS_COVER">
    <p:bg>
      <p:bgPr>
        <a:solidFill>
          <a:srgbClr val="17375E"/>
        </a:solidFill>
      </p:bgPr>
    </p:bg>
    <p:spTree>
      <p:nvGrpSpPr>
        <p:cNvPr id="1" name=""/>
        <p:cNvGrpSpPr/>
        <p:nvPr/>
      </p:nvGrpSpPr>
      <p:grpSpPr>
        <a:xfrm>
          <a:off x="0" y="0"/>
          <a:ext cx="0" cy="0"/>
          <a:chOff x="0" y="0"/>
          <a:chExt cx="0" cy="0"/>
        </a:xfrm>
      </p:grpSpPr>
      <p:sp>
        <p:nvSpPr>
          <p:cNvPr id="2" name="Text 0"/>
          <p:cNvSpPr/>
          <p:nvPr/>
        </p:nvSpPr>
        <p:spPr>
          <a:xfrm>
            <a:off x="548640" y="6263640"/>
            <a:ext cx="7315200" cy="320040"/>
          </a:xfrm>
          <a:prstGeom prst="rect">
            <a:avLst/>
          </a:prstGeom>
          <a:noFill/>
          <a:ln/>
        </p:spPr>
        <p:txBody>
          <a:bodyPr wrap="square" lIns="0" tIns="0" rIns="0" bIns="0" rtlCol="0" anchor="ctr"/>
          <a:lstStyle/>
          <a:p>
            <a:pPr indent="0" marL="0">
              <a:buNone/>
            </a:pPr>
            <a:r>
              <a:rPr lang="en-US" sz="1200" dirty="0">
                <a:solidFill>
                  <a:schemeClr val="bg2"/>
                </a:solidFill>
              </a:rPr>
              <a:t>Néerlandais 3 · B1 · A. Jouniaux · IRAM — Enseignement pour adultes</a:t>
            </a:r>
            <a:endParaRPr lang="en-US" sz="1200" dirty="0"/>
          </a:p>
        </p:txBody>
      </p:sp>
      <p:sp>
        <p:nvSpPr>
          <p:cNvPr id="3" name="Text 1"/>
          <p:cNvSpPr/>
          <p:nvPr>
            <p:ph idx="101" type="title" hasCustomPrompt="1"/>
          </p:nvPr>
        </p:nvSpPr>
        <p:spPr>
          <a:xfrm>
            <a:off x="548640" y="1874520"/>
            <a:ext cx="5760720" cy="173736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4" name="Text 1"/>
          <p:cNvSpPr/>
          <p:nvPr>
            <p:ph idx="102" type="body" hasCustomPrompt="1"/>
          </p:nvPr>
        </p:nvSpPr>
        <p:spPr>
          <a:xfrm>
            <a:off x="548640" y="3794760"/>
            <a:ext cx="5760720" cy="1371600"/>
          </a:xfrm>
          <a:prstGeom prst="rect">
            <a:avLst/>
          </a:prstGeom>
          <a:noFill/>
          <a:ln/>
        </p:spPr>
        <p:txBody>
          <a:bodyPr wrap="square" rtlCol="0"/>
          <a:lstStyle>
            <a:lvl1pPr algn="l" indent="0" marL="0">
              <a:buNone/>
              <a:defRPr lang="en-US" sz="1800" dirty="0">
                <a:solidFill>
                  <a:schemeClr val="bg2"/>
                </a:solidFill>
              </a:defRPr>
            </a:lvl1pPr>
          </a:lstStyle>
          <a:p>
            <a:pPr algn="l" indent="0" marL="0">
              <a:buNone/>
            </a:pPr>
            <a:endParaRPr lang="en-US" sz="1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4.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image" Target="../media/image-6-2.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slideLayout" Target="../slideLayouts/slideLayout2.xml"/><Relationship Id="rId1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image" Target="../media/image-15-2.png"/><Relationship Id="rId3" Type="http://schemas.openxmlformats.org/officeDocument/2006/relationships/slideLayout" Target="../slideLayouts/slideLayout2.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2.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2.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3.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ag"/>
          <p:cNvSpPr/>
          <p:nvPr/>
        </p:nvSpPr>
        <p:spPr>
          <a:xfrm>
            <a:off x="548640" y="640080"/>
            <a:ext cx="2369820" cy="384048"/>
          </a:xfrm>
          <a:prstGeom prst="roundRect">
            <a:avLst>
              <a:gd name="adj" fmla="val 11905"/>
            </a:avLst>
          </a:prstGeom>
          <a:solidFill>
            <a:schemeClr val="accent1"/>
          </a:solidFill>
          <a:ln/>
        </p:spPr>
        <p:txBody>
          <a:bodyPr wrap="square" lIns="0" tIns="0" rIns="0" bIns="0" rtlCol="0" anchor="ctr"/>
          <a:lstStyle/>
          <a:p>
            <a:pPr algn="ctr" indent="0" marL="0">
              <a:buNone/>
            </a:pPr>
            <a:r>
              <a:rPr lang="en-US" sz="1400" b="1" spc="100" kern="0" dirty="0">
                <a:solidFill>
                  <a:schemeClr val="bg1"/>
                </a:solidFill>
              </a:rPr>
              <a:t>SÉANCE 12 / 19</a:t>
            </a:r>
            <a:endParaRPr lang="en-US" sz="1400" dirty="0"/>
          </a:p>
        </p:txBody>
      </p:sp>
      <p:sp>
        <p:nvSpPr>
          <p:cNvPr id="3" name="Text 1"/>
          <p:cNvSpPr txBox="1"/>
          <p:nvPr/>
        </p:nvSpPr>
        <p:spPr>
          <a:xfrm>
            <a:off x="548640" y="1188720"/>
            <a:ext cx="2377440" cy="777240"/>
          </a:xfrm>
          <a:prstGeom prst="rect">
            <a:avLst/>
          </a:prstGeom>
          <a:noFill/>
          <a:ln/>
        </p:spPr>
        <p:txBody>
          <a:bodyPr wrap="square" lIns="0" tIns="0" rIns="0" bIns="0" rtlCol="0" anchor="t"/>
          <a:lstStyle/>
          <a:p>
            <a:pPr indent="0" marL="0">
              <a:buNone/>
            </a:pPr>
            <a:r>
              <a:rPr lang="en-US" sz="1300" b="1" spc="200" kern="0" dirty="0">
                <a:solidFill>
                  <a:schemeClr val="bg2"/>
                </a:solidFill>
              </a:rPr>
              <a:t>SÉQUENCE</a:t>
            </a:r>
            <a:endParaRPr lang="en-US" sz="1300" dirty="0"/>
          </a:p>
          <a:p>
            <a:pPr indent="0" marL="0">
              <a:buNone/>
            </a:pPr>
            <a:r>
              <a:rPr lang="en-US" sz="3000" b="1" dirty="0">
                <a:solidFill>
                  <a:schemeClr val="bg1"/>
                </a:solidFill>
                <a:latin typeface="+mj-lt" pitchFamily="34" charset="0"/>
                <a:ea typeface="+mj-lt" pitchFamily="34" charset="-122"/>
                <a:cs typeface="+mj-lt" pitchFamily="34" charset="-120"/>
              </a:rPr>
              <a:t>7.2</a:t>
            </a:r>
            <a:endParaRPr lang="en-US" sz="1300" dirty="0"/>
          </a:p>
        </p:txBody>
      </p:sp>
      <p:sp>
        <p:nvSpPr>
          <p:cNvPr id="4" name="Text 1"/>
          <p:cNvSpPr/>
          <p:nvPr>
            <p:ph idx="101" type="title" hasCustomPrompt="1"/>
          </p:nvPr>
        </p:nvSpPr>
        <p:spPr>
          <a:xfrm>
            <a:off x="548640" y="1874520"/>
            <a:ext cx="5760720" cy="1737360"/>
          </a:xfrm>
          <a:prstGeom prst="rect">
            <a:avLst/>
          </a:prstGeom>
          <a:noFill/>
          <a:ln/>
        </p:spPr>
        <p:txBody>
          <a:bodyPr wrap="square" lIns="0" tIns="0" rIns="0" bIns="0" rtlCol="0" anchor="b"/>
          <a:lstStyle/>
          <a:p>
            <a:pPr algn="l" indent="0" marL="0">
              <a:buNone/>
            </a:pPr>
            <a:r>
              <a:rPr lang="en-US" sz="4000" b="1" dirty="0">
                <a:solidFill>
                  <a:schemeClr val="bg1"/>
                </a:solidFill>
              </a:rPr>
              <a:t>De officiële taal</a:t>
            </a:r>
            <a:endParaRPr lang="en-US" sz="4000" dirty="0"/>
          </a:p>
        </p:txBody>
      </p:sp>
      <p:sp>
        <p:nvSpPr>
          <p:cNvPr id="5" name="Text 1"/>
          <p:cNvSpPr/>
          <p:nvPr>
            <p:ph idx="102" type="body" hasCustomPrompt="1"/>
          </p:nvPr>
        </p:nvSpPr>
        <p:spPr>
          <a:xfrm>
            <a:off x="548640" y="3794760"/>
            <a:ext cx="5760720" cy="1371600"/>
          </a:xfrm>
          <a:prstGeom prst="rect">
            <a:avLst/>
          </a:prstGeom>
          <a:noFill/>
          <a:ln/>
        </p:spPr>
        <p:txBody>
          <a:bodyPr wrap="square" lIns="0" tIns="0" rIns="0" bIns="0" rtlCol="0" anchor="t"/>
          <a:lstStyle/>
          <a:p>
            <a:pPr algn="l" indent="0" marL="0">
              <a:spcAft>
                <a:spcPts val="1000"/>
              </a:spcAft>
              <a:buNone/>
            </a:pPr>
            <a:r>
              <a:rPr lang="en-US" sz="1800" i="1" dirty="0">
                <a:solidFill>
                  <a:schemeClr val="bg2"/>
                </a:solidFill>
              </a:rPr>
              <a:t>Les nominalisations — lire et écrire la langue administrative</a:t>
            </a:r>
            <a:endParaRPr lang="en-US" sz="1800" dirty="0"/>
          </a:p>
          <a:p>
            <a:pPr algn="l" indent="0" marL="0">
              <a:buNone/>
            </a:pPr>
            <a:r>
              <a:rPr lang="en-US" sz="1800" b="1" dirty="0">
                <a:solidFill>
                  <a:schemeClr val="bg2"/>
                </a:solidFill>
              </a:rPr>
              <a:t>Palier 7 · Mede-eigendom</a:t>
            </a:r>
            <a:endParaRPr lang="en-US" sz="1800" dirty="0"/>
          </a:p>
          <a:p>
            <a:pPr algn="l" indent="0" marL="0">
              <a:buNone/>
            </a:pPr>
            <a:r>
              <a:rPr lang="en-US" sz="1800" dirty="0">
                <a:solidFill>
                  <a:schemeClr val="bg2"/>
                </a:solidFill>
              </a:rPr>
              <a:t>Livret p. 7–10a</a:t>
            </a:r>
            <a:endParaRPr lang="en-US" sz="1800" dirty="0"/>
          </a:p>
        </p:txBody>
      </p:sp>
      <p:pic>
        <p:nvPicPr>
          <p:cNvPr id="6" name="illustration" descr="Illustration du syllabus">    </p:cNvPr>
          <p:cNvPicPr>
            <a:picLocks noChangeAspect="1"/>
          </p:cNvPicPr>
          <p:nvPr/>
        </p:nvPicPr>
        <p:blipFill>
          <a:blip r:embed="rId1"/>
          <a:stretch>
            <a:fillRect/>
          </a:stretch>
        </p:blipFill>
        <p:spPr>
          <a:xfrm>
            <a:off x="6583680" y="1721267"/>
            <a:ext cx="5120640" cy="3415467"/>
          </a:xfrm>
          <a:prstGeom prst="rect">
            <a:avLst/>
          </a:prstGeom>
          <a:effectLst>
            <a:outerShdw sx="100000" sy="100000" kx="0" ky="0" algn="bl" rotWithShape="0" blurRad="101600" dist="25400" dir="3600000">
              <a:srgbClr val="000000">
                <a:alpha val="18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Mission du jour</a:t>
            </a:r>
            <a:endParaRPr lang="en-US" sz="3200" dirty="0"/>
          </a:p>
        </p:txBody>
      </p:sp>
      <p:sp>
        <p:nvSpPr>
          <p:cNvPr id="3" name="tag"/>
          <p:cNvSpPr/>
          <p:nvPr/>
        </p:nvSpPr>
        <p:spPr>
          <a:xfrm>
            <a:off x="548640" y="237744"/>
            <a:ext cx="822960" cy="310896"/>
          </a:xfrm>
          <a:prstGeom prst="roundRect">
            <a:avLst>
              <a:gd name="adj" fmla="val 14706"/>
            </a:avLst>
          </a:prstGeom>
          <a:solidFill>
            <a:schemeClr val="accent5"/>
          </a:solidFill>
          <a:ln/>
        </p:spPr>
        <p:txBody>
          <a:bodyPr wrap="square" lIns="0" tIns="0" rIns="0" bIns="0" rtlCol="0" anchor="ctr"/>
          <a:lstStyle/>
          <a:p>
            <a:pPr algn="ctr" indent="0" marL="0">
              <a:buNone/>
            </a:pPr>
            <a:r>
              <a:rPr lang="en-US" sz="1200" b="1" spc="100" kern="0" dirty="0">
                <a:solidFill>
                  <a:schemeClr val="bg1"/>
                </a:solidFill>
              </a:rPr>
              <a:t>PLAN</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7–10a</a:t>
            </a:r>
            <a:endParaRPr lang="en-US" sz="1200" dirty="0"/>
          </a:p>
        </p:txBody>
      </p:sp>
      <p:sp>
        <p:nvSpPr>
          <p:cNvPr id="6" name="Shape 3"/>
          <p:cNvSpPr/>
          <p:nvPr/>
        </p:nvSpPr>
        <p:spPr>
          <a:xfrm>
            <a:off x="548640" y="1508760"/>
            <a:ext cx="5257800" cy="1463040"/>
          </a:xfrm>
          <a:prstGeom prst="roundRect">
            <a:avLst>
              <a:gd name="adj" fmla="val 5000"/>
            </a:avLst>
          </a:prstGeom>
          <a:solidFill>
            <a:schemeClr val="bg2"/>
          </a:solidFill>
          <a:ln w="9525">
            <a:solidFill>
              <a:srgbClr val="D5DCE6"/>
            </a:solidFill>
            <a:prstDash val="solid"/>
          </a:ln>
        </p:spPr>
      </p:sp>
      <p:sp>
        <p:nvSpPr>
          <p:cNvPr id="7" name="Shape 4"/>
          <p:cNvSpPr/>
          <p:nvPr/>
        </p:nvSpPr>
        <p:spPr>
          <a:xfrm>
            <a:off x="749808" y="1709928"/>
            <a:ext cx="566928" cy="566928"/>
          </a:xfrm>
          <a:prstGeom prst="ellipse">
            <a:avLst/>
          </a:prstGeom>
          <a:solidFill>
            <a:schemeClr val="accent1"/>
          </a:solidFill>
          <a:ln/>
        </p:spPr>
      </p:sp>
      <p:pic>
        <p:nvPicPr>
          <p:cNvPr id="8" name="Image 0" descr="preencoded.png">    </p:cNvPr>
          <p:cNvPicPr>
            <a:picLocks noChangeAspect="1"/>
          </p:cNvPicPr>
          <p:nvPr/>
        </p:nvPicPr>
        <p:blipFill>
          <a:blip r:embed="rId1"/>
          <a:stretch>
            <a:fillRect/>
          </a:stretch>
        </p:blipFill>
        <p:spPr>
          <a:xfrm>
            <a:off x="886968" y="1847088"/>
            <a:ext cx="292608" cy="292608"/>
          </a:xfrm>
          <a:prstGeom prst="rect">
            <a:avLst/>
          </a:prstGeom>
        </p:spPr>
      </p:pic>
      <p:sp>
        <p:nvSpPr>
          <p:cNvPr id="9" name="Text 5"/>
          <p:cNvSpPr txBox="1"/>
          <p:nvPr/>
        </p:nvSpPr>
        <p:spPr>
          <a:xfrm>
            <a:off x="1481328" y="1655064"/>
            <a:ext cx="4160520" cy="292608"/>
          </a:xfrm>
          <a:prstGeom prst="rect">
            <a:avLst/>
          </a:prstGeom>
          <a:noFill/>
          <a:ln/>
        </p:spPr>
        <p:txBody>
          <a:bodyPr wrap="square" lIns="0" tIns="0" rIns="0" bIns="0" rtlCol="0" anchor="ctr"/>
          <a:lstStyle/>
          <a:p>
            <a:pPr indent="0" marL="0">
              <a:buNone/>
            </a:pPr>
            <a:r>
              <a:rPr lang="en-US" sz="1200" b="1" spc="100" kern="0" dirty="0">
                <a:solidFill>
                  <a:schemeClr val="accent1"/>
                </a:solidFill>
              </a:rPr>
              <a:t>EN FIN DE SÉANCE, JE SAIS…</a:t>
            </a:r>
            <a:endParaRPr lang="en-US" sz="1200" dirty="0"/>
          </a:p>
        </p:txBody>
      </p:sp>
      <p:sp>
        <p:nvSpPr>
          <p:cNvPr id="10" name="Text 6"/>
          <p:cNvSpPr txBox="1"/>
          <p:nvPr/>
        </p:nvSpPr>
        <p:spPr>
          <a:xfrm>
            <a:off x="1481328" y="1947672"/>
            <a:ext cx="4160520" cy="932688"/>
          </a:xfrm>
          <a:prstGeom prst="rect">
            <a:avLst/>
          </a:prstGeom>
          <a:noFill/>
          <a:ln/>
        </p:spPr>
        <p:txBody>
          <a:bodyPr wrap="square" lIns="0" tIns="0" rIns="0" bIns="0" rtlCol="0" anchor="t"/>
          <a:lstStyle/>
          <a:p>
            <a:pPr indent="0" marL="0">
              <a:buNone/>
            </a:pPr>
            <a:r>
              <a:rPr lang="en-US" sz="1500" dirty="0">
                <a:solidFill>
                  <a:schemeClr val="tx1"/>
                </a:solidFill>
              </a:rPr>
              <a:t>Transformer un verbe en </a:t>
            </a:r>
            <a:r>
              <a:rPr lang="en-US" sz="1500" b="1" dirty="0">
                <a:solidFill>
                  <a:schemeClr val="tx1"/>
                </a:solidFill>
              </a:rPr>
              <a:t>nom</a:t>
            </a:r>
            <a:r>
              <a:rPr lang="en-US" sz="1500" dirty="0">
                <a:solidFill>
                  <a:schemeClr val="tx1"/>
                </a:solidFill>
              </a:rPr>
              <a:t> (-ing, -heid, -teit / -atie, het + infinitif) pour </a:t>
            </a:r>
            <a:r>
              <a:rPr lang="en-US" sz="1500" b="1" dirty="0">
                <a:solidFill>
                  <a:schemeClr val="tx1"/>
                </a:solidFill>
              </a:rPr>
              <a:t>lire et rédiger</a:t>
            </a:r>
            <a:r>
              <a:rPr lang="en-US" sz="1500" dirty="0">
                <a:solidFill>
                  <a:schemeClr val="tx1"/>
                </a:solidFill>
              </a:rPr>
              <a:t> une convocation, un ordre du jour ou une affiche.</a:t>
            </a:r>
            <a:endParaRPr lang="en-US" sz="1500" dirty="0"/>
          </a:p>
        </p:txBody>
      </p:sp>
      <p:sp>
        <p:nvSpPr>
          <p:cNvPr id="11" name="Shape 7"/>
          <p:cNvSpPr/>
          <p:nvPr/>
        </p:nvSpPr>
        <p:spPr>
          <a:xfrm>
            <a:off x="548640" y="3136392"/>
            <a:ext cx="5257800" cy="1463040"/>
          </a:xfrm>
          <a:prstGeom prst="roundRect">
            <a:avLst>
              <a:gd name="adj" fmla="val 5000"/>
            </a:avLst>
          </a:prstGeom>
          <a:solidFill>
            <a:schemeClr val="bg2"/>
          </a:solidFill>
          <a:ln w="9525">
            <a:solidFill>
              <a:srgbClr val="D5DCE6"/>
            </a:solidFill>
            <a:prstDash val="solid"/>
          </a:ln>
        </p:spPr>
      </p:sp>
      <p:sp>
        <p:nvSpPr>
          <p:cNvPr id="12" name="Shape 8"/>
          <p:cNvSpPr/>
          <p:nvPr/>
        </p:nvSpPr>
        <p:spPr>
          <a:xfrm>
            <a:off x="749808" y="3337560"/>
            <a:ext cx="566928" cy="566928"/>
          </a:xfrm>
          <a:prstGeom prst="ellipse">
            <a:avLst/>
          </a:prstGeom>
          <a:solidFill>
            <a:schemeClr val="accent2"/>
          </a:solidFill>
          <a:ln/>
        </p:spPr>
      </p:sp>
      <p:pic>
        <p:nvPicPr>
          <p:cNvPr id="13" name="Image 1" descr="preencoded.png">    </p:cNvPr>
          <p:cNvPicPr>
            <a:picLocks noChangeAspect="1"/>
          </p:cNvPicPr>
          <p:nvPr/>
        </p:nvPicPr>
        <p:blipFill>
          <a:blip r:embed="rId2"/>
          <a:stretch>
            <a:fillRect/>
          </a:stretch>
        </p:blipFill>
        <p:spPr>
          <a:xfrm>
            <a:off x="886968" y="3474720"/>
            <a:ext cx="292608" cy="292608"/>
          </a:xfrm>
          <a:prstGeom prst="rect">
            <a:avLst/>
          </a:prstGeom>
        </p:spPr>
      </p:pic>
      <p:sp>
        <p:nvSpPr>
          <p:cNvPr id="14" name="Text 9"/>
          <p:cNvSpPr txBox="1"/>
          <p:nvPr/>
        </p:nvSpPr>
        <p:spPr>
          <a:xfrm>
            <a:off x="1481328" y="3282696"/>
            <a:ext cx="4160520" cy="292608"/>
          </a:xfrm>
          <a:prstGeom prst="rect">
            <a:avLst/>
          </a:prstGeom>
          <a:noFill/>
          <a:ln/>
        </p:spPr>
        <p:txBody>
          <a:bodyPr wrap="square" lIns="0" tIns="0" rIns="0" bIns="0" rtlCol="0" anchor="ctr"/>
          <a:lstStyle/>
          <a:p>
            <a:pPr indent="0" marL="0">
              <a:buNone/>
            </a:pPr>
            <a:r>
              <a:rPr lang="en-US" sz="1200" b="1" spc="100" kern="0" dirty="0">
                <a:solidFill>
                  <a:schemeClr val="accent2"/>
                </a:solidFill>
              </a:rPr>
              <a:t>LANGUE CIBLE</a:t>
            </a:r>
            <a:endParaRPr lang="en-US" sz="1200" dirty="0"/>
          </a:p>
        </p:txBody>
      </p:sp>
      <p:sp>
        <p:nvSpPr>
          <p:cNvPr id="15" name="Text 10"/>
          <p:cNvSpPr txBox="1"/>
          <p:nvPr/>
        </p:nvSpPr>
        <p:spPr>
          <a:xfrm>
            <a:off x="1481328" y="3575304"/>
            <a:ext cx="4160520" cy="932688"/>
          </a:xfrm>
          <a:prstGeom prst="rect">
            <a:avLst/>
          </a:prstGeom>
          <a:noFill/>
          <a:ln/>
        </p:spPr>
        <p:txBody>
          <a:bodyPr wrap="square" lIns="0" tIns="0" rIns="0" bIns="0" rtlCol="0" anchor="t"/>
          <a:lstStyle/>
          <a:p>
            <a:pPr indent="0" marL="0">
              <a:buNone/>
            </a:pPr>
            <a:r>
              <a:rPr lang="en-US" sz="1800" i="1" dirty="0">
                <a:solidFill>
                  <a:schemeClr val="tx1"/>
                </a:solidFill>
              </a:rPr>
              <a:t>beslissen → de beslissing · verdelen → de verdeling · het uitstellen van de werken · de verdeling van de kosten</a:t>
            </a:r>
            <a:endParaRPr lang="en-US" sz="1800" dirty="0"/>
          </a:p>
        </p:txBody>
      </p:sp>
      <p:sp>
        <p:nvSpPr>
          <p:cNvPr id="16" name="Shape 11"/>
          <p:cNvSpPr/>
          <p:nvPr/>
        </p:nvSpPr>
        <p:spPr>
          <a:xfrm>
            <a:off x="548640" y="4764024"/>
            <a:ext cx="5257800" cy="1463040"/>
          </a:xfrm>
          <a:prstGeom prst="roundRect">
            <a:avLst>
              <a:gd name="adj" fmla="val 5000"/>
            </a:avLst>
          </a:prstGeom>
          <a:solidFill>
            <a:schemeClr val="bg2"/>
          </a:solidFill>
          <a:ln w="9525">
            <a:solidFill>
              <a:srgbClr val="D5DCE6"/>
            </a:solidFill>
            <a:prstDash val="solid"/>
          </a:ln>
        </p:spPr>
      </p:sp>
      <p:sp>
        <p:nvSpPr>
          <p:cNvPr id="17" name="Shape 12"/>
          <p:cNvSpPr/>
          <p:nvPr/>
        </p:nvSpPr>
        <p:spPr>
          <a:xfrm>
            <a:off x="749808" y="4965192"/>
            <a:ext cx="566928" cy="566928"/>
          </a:xfrm>
          <a:prstGeom prst="ellipse">
            <a:avLst/>
          </a:prstGeom>
          <a:solidFill>
            <a:schemeClr val="accent3"/>
          </a:solidFill>
          <a:ln/>
        </p:spPr>
      </p:sp>
      <p:pic>
        <p:nvPicPr>
          <p:cNvPr id="18" name="Image 2" descr="preencoded.png">    </p:cNvPr>
          <p:cNvPicPr>
            <a:picLocks noChangeAspect="1"/>
          </p:cNvPicPr>
          <p:nvPr/>
        </p:nvPicPr>
        <p:blipFill>
          <a:blip r:embed="rId3"/>
          <a:stretch>
            <a:fillRect/>
          </a:stretch>
        </p:blipFill>
        <p:spPr>
          <a:xfrm>
            <a:off x="886968" y="5102352"/>
            <a:ext cx="292608" cy="292608"/>
          </a:xfrm>
          <a:prstGeom prst="rect">
            <a:avLst/>
          </a:prstGeom>
        </p:spPr>
      </p:pic>
      <p:sp>
        <p:nvSpPr>
          <p:cNvPr id="19" name="Text 13"/>
          <p:cNvSpPr txBox="1"/>
          <p:nvPr/>
        </p:nvSpPr>
        <p:spPr>
          <a:xfrm>
            <a:off x="1481328" y="4910328"/>
            <a:ext cx="4160520" cy="292608"/>
          </a:xfrm>
          <a:prstGeom prst="rect">
            <a:avLst/>
          </a:prstGeom>
          <a:noFill/>
          <a:ln/>
        </p:spPr>
        <p:txBody>
          <a:bodyPr wrap="square" lIns="0" tIns="0" rIns="0" bIns="0" rtlCol="0" anchor="ctr"/>
          <a:lstStyle/>
          <a:p>
            <a:pPr indent="0" marL="0">
              <a:buNone/>
            </a:pPr>
            <a:r>
              <a:rPr lang="en-US" sz="1200" b="1" spc="100" kern="0" dirty="0">
                <a:solidFill>
                  <a:schemeClr val="accent3"/>
                </a:solidFill>
              </a:rPr>
              <a:t>COMPÉTENCES</a:t>
            </a:r>
            <a:endParaRPr lang="en-US" sz="1200" dirty="0"/>
          </a:p>
        </p:txBody>
      </p:sp>
      <p:sp>
        <p:nvSpPr>
          <p:cNvPr id="20" name="Text 14"/>
          <p:cNvSpPr txBox="1"/>
          <p:nvPr/>
        </p:nvSpPr>
        <p:spPr>
          <a:xfrm>
            <a:off x="1481328" y="5202936"/>
            <a:ext cx="4160520" cy="932688"/>
          </a:xfrm>
          <a:prstGeom prst="rect">
            <a:avLst/>
          </a:prstGeom>
          <a:noFill/>
          <a:ln/>
        </p:spPr>
        <p:txBody>
          <a:bodyPr wrap="square" lIns="0" tIns="0" rIns="0" bIns="0" rtlCol="0" anchor="t"/>
          <a:lstStyle/>
          <a:p>
            <a:pPr indent="0" marL="0">
              <a:buNone/>
            </a:pPr>
            <a:r>
              <a:rPr lang="en-US" sz="1600" dirty="0">
                <a:solidFill>
                  <a:schemeClr val="tx1"/>
                </a:solidFill>
              </a:rPr>
              <a:t>Lire une convocation officielle · nominaliser des phrases · écrire une lettre formelle au syndic · décoder les messages de la commune</a:t>
            </a:r>
            <a:endParaRPr lang="en-US" sz="1600" dirty="0"/>
          </a:p>
        </p:txBody>
      </p:sp>
      <p:sp>
        <p:nvSpPr>
          <p:cNvPr id="21" name="Text 15"/>
          <p:cNvSpPr txBox="1"/>
          <p:nvPr/>
        </p:nvSpPr>
        <p:spPr>
          <a:xfrm>
            <a:off x="6263640" y="1463040"/>
            <a:ext cx="3657600" cy="320040"/>
          </a:xfrm>
          <a:prstGeom prst="rect">
            <a:avLst/>
          </a:prstGeom>
          <a:noFill/>
          <a:ln/>
        </p:spPr>
        <p:txBody>
          <a:bodyPr wrap="square" lIns="0" tIns="0" rIns="0" bIns="0" rtlCol="0" anchor="ctr"/>
          <a:lstStyle/>
          <a:p>
            <a:pPr indent="0" marL="0">
              <a:buNone/>
            </a:pPr>
            <a:r>
              <a:rPr lang="en-US" sz="1300" b="1" spc="200" kern="0" dirty="0">
                <a:solidFill>
                  <a:schemeClr val="accent5"/>
                </a:solidFill>
              </a:rPr>
              <a:t>DÉROULÉ</a:t>
            </a:r>
            <a:endParaRPr lang="en-US" sz="1300" dirty="0"/>
          </a:p>
        </p:txBody>
      </p:sp>
      <p:sp>
        <p:nvSpPr>
          <p:cNvPr id="22" name="Text 16"/>
          <p:cNvSpPr txBox="1"/>
          <p:nvPr/>
        </p:nvSpPr>
        <p:spPr>
          <a:xfrm>
            <a:off x="8897112" y="1463040"/>
            <a:ext cx="2743200" cy="320040"/>
          </a:xfrm>
          <a:prstGeom prst="rect">
            <a:avLst/>
          </a:prstGeom>
          <a:noFill/>
          <a:ln/>
        </p:spPr>
        <p:txBody>
          <a:bodyPr wrap="square" lIns="0" tIns="0" rIns="0" bIns="0" rtlCol="0" anchor="ctr"/>
          <a:lstStyle/>
          <a:p>
            <a:pPr algn="r" indent="0" marL="0">
              <a:buNone/>
            </a:pPr>
            <a:r>
              <a:rPr lang="en-US" sz="1200" i="1" dirty="0">
                <a:solidFill>
                  <a:schemeClr val="accent5"/>
                </a:solidFill>
              </a:rPr>
              <a:t>≈ 90 min (indicatif)</a:t>
            </a:r>
            <a:endParaRPr lang="en-US" sz="1200" dirty="0"/>
          </a:p>
        </p:txBody>
      </p:sp>
      <p:sp>
        <p:nvSpPr>
          <p:cNvPr id="23" name="Shape 17"/>
          <p:cNvSpPr/>
          <p:nvPr/>
        </p:nvSpPr>
        <p:spPr>
          <a:xfrm>
            <a:off x="6263640" y="1959674"/>
            <a:ext cx="384048" cy="384048"/>
          </a:xfrm>
          <a:prstGeom prst="ellipse">
            <a:avLst/>
          </a:prstGeom>
          <a:solidFill>
            <a:schemeClr val="tx2"/>
          </a:solidFill>
          <a:ln/>
        </p:spPr>
      </p:sp>
      <p:sp>
        <p:nvSpPr>
          <p:cNvPr id="24" name="Text 18"/>
          <p:cNvSpPr txBox="1"/>
          <p:nvPr/>
        </p:nvSpPr>
        <p:spPr>
          <a:xfrm>
            <a:off x="6263640" y="1959674"/>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25" name="Text 19"/>
          <p:cNvSpPr txBox="1"/>
          <p:nvPr/>
        </p:nvSpPr>
        <p:spPr>
          <a:xfrm>
            <a:off x="6784848" y="1874520"/>
            <a:ext cx="4114800" cy="554355"/>
          </a:xfrm>
          <a:prstGeom prst="rect">
            <a:avLst/>
          </a:prstGeom>
          <a:noFill/>
          <a:ln/>
        </p:spPr>
        <p:txBody>
          <a:bodyPr wrap="square" lIns="0" tIns="0" rIns="0" bIns="0" rtlCol="0" anchor="ctr"/>
          <a:lstStyle/>
          <a:p>
            <a:pPr indent="0" marL="0">
              <a:buNone/>
            </a:pPr>
            <a:r>
              <a:rPr lang="en-US" sz="1600" dirty="0">
                <a:solidFill>
                  <a:schemeClr val="tx1"/>
                </a:solidFill>
              </a:rPr>
              <a:t>Rappel séance 11</a:t>
            </a:r>
            <a:endParaRPr lang="en-US" sz="1600" dirty="0"/>
          </a:p>
        </p:txBody>
      </p:sp>
      <p:sp>
        <p:nvSpPr>
          <p:cNvPr id="26" name="Text 20"/>
          <p:cNvSpPr txBox="1"/>
          <p:nvPr/>
        </p:nvSpPr>
        <p:spPr>
          <a:xfrm>
            <a:off x="10972800" y="1874520"/>
            <a:ext cx="667512" cy="554355"/>
          </a:xfrm>
          <a:prstGeom prst="rect">
            <a:avLst/>
          </a:prstGeom>
          <a:noFill/>
          <a:ln/>
        </p:spPr>
        <p:txBody>
          <a:bodyPr wrap="square" lIns="0" tIns="0" rIns="0" bIns="0" rtlCol="0" anchor="ctr"/>
          <a:lstStyle/>
          <a:p>
            <a:pPr algn="r" indent="0" marL="0">
              <a:buNone/>
            </a:pPr>
            <a:r>
              <a:rPr lang="en-US" sz="1500" b="1" dirty="0">
                <a:solidFill>
                  <a:schemeClr val="accent1"/>
                </a:solidFill>
              </a:rPr>
              <a:t>8'</a:t>
            </a:r>
            <a:endParaRPr lang="en-US" sz="1500" dirty="0"/>
          </a:p>
        </p:txBody>
      </p:sp>
      <p:sp>
        <p:nvSpPr>
          <p:cNvPr id="27" name="Shape 21"/>
          <p:cNvSpPr/>
          <p:nvPr/>
        </p:nvSpPr>
        <p:spPr>
          <a:xfrm>
            <a:off x="6263640" y="2514029"/>
            <a:ext cx="384048" cy="384048"/>
          </a:xfrm>
          <a:prstGeom prst="ellipse">
            <a:avLst/>
          </a:prstGeom>
          <a:solidFill>
            <a:schemeClr val="tx2"/>
          </a:solidFill>
          <a:ln/>
        </p:spPr>
      </p:sp>
      <p:sp>
        <p:nvSpPr>
          <p:cNvPr id="28" name="Text 22"/>
          <p:cNvSpPr txBox="1"/>
          <p:nvPr/>
        </p:nvSpPr>
        <p:spPr>
          <a:xfrm>
            <a:off x="6263640" y="2514029"/>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29" name="Text 23"/>
          <p:cNvSpPr txBox="1"/>
          <p:nvPr/>
        </p:nvSpPr>
        <p:spPr>
          <a:xfrm>
            <a:off x="6784848" y="2428875"/>
            <a:ext cx="4114800" cy="554355"/>
          </a:xfrm>
          <a:prstGeom prst="rect">
            <a:avLst/>
          </a:prstGeom>
          <a:noFill/>
          <a:ln/>
        </p:spPr>
        <p:txBody>
          <a:bodyPr wrap="square" lIns="0" tIns="0" rIns="0" bIns="0" rtlCol="0" anchor="ctr"/>
          <a:lstStyle/>
          <a:p>
            <a:pPr indent="0" marL="0">
              <a:buNone/>
            </a:pPr>
            <a:r>
              <a:rPr lang="en-US" sz="1600" dirty="0">
                <a:solidFill>
                  <a:schemeClr val="tx1"/>
                </a:solidFill>
              </a:rPr>
              <a:t>7.2 · pourquoi nominaliser (p. 7)</a:t>
            </a:r>
            <a:endParaRPr lang="en-US" sz="1600" dirty="0"/>
          </a:p>
        </p:txBody>
      </p:sp>
      <p:sp>
        <p:nvSpPr>
          <p:cNvPr id="30" name="Text 24"/>
          <p:cNvSpPr txBox="1"/>
          <p:nvPr/>
        </p:nvSpPr>
        <p:spPr>
          <a:xfrm>
            <a:off x="10972800" y="2428875"/>
            <a:ext cx="667512" cy="554355"/>
          </a:xfrm>
          <a:prstGeom prst="rect">
            <a:avLst/>
          </a:prstGeom>
          <a:noFill/>
          <a:ln/>
        </p:spPr>
        <p:txBody>
          <a:bodyPr wrap="square" lIns="0" tIns="0" rIns="0" bIns="0" rtlCol="0" anchor="ctr"/>
          <a:lstStyle/>
          <a:p>
            <a:pPr algn="r" indent="0" marL="0">
              <a:buNone/>
            </a:pPr>
            <a:r>
              <a:rPr lang="en-US" sz="1500" b="1" dirty="0">
                <a:solidFill>
                  <a:schemeClr val="accent1"/>
                </a:solidFill>
              </a:rPr>
              <a:t>7'</a:t>
            </a:r>
            <a:endParaRPr lang="en-US" sz="1500" dirty="0"/>
          </a:p>
        </p:txBody>
      </p:sp>
      <p:sp>
        <p:nvSpPr>
          <p:cNvPr id="31" name="Shape 25"/>
          <p:cNvSpPr/>
          <p:nvPr/>
        </p:nvSpPr>
        <p:spPr>
          <a:xfrm>
            <a:off x="6263640" y="3068384"/>
            <a:ext cx="384048" cy="384048"/>
          </a:xfrm>
          <a:prstGeom prst="ellipse">
            <a:avLst/>
          </a:prstGeom>
          <a:solidFill>
            <a:schemeClr val="tx2"/>
          </a:solidFill>
          <a:ln/>
        </p:spPr>
      </p:sp>
      <p:sp>
        <p:nvSpPr>
          <p:cNvPr id="32" name="Text 26"/>
          <p:cNvSpPr txBox="1"/>
          <p:nvPr/>
        </p:nvSpPr>
        <p:spPr>
          <a:xfrm>
            <a:off x="6263640" y="3068384"/>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33" name="Text 27"/>
          <p:cNvSpPr txBox="1"/>
          <p:nvPr/>
        </p:nvSpPr>
        <p:spPr>
          <a:xfrm>
            <a:off x="6784848" y="2983230"/>
            <a:ext cx="4114800" cy="554355"/>
          </a:xfrm>
          <a:prstGeom prst="rect">
            <a:avLst/>
          </a:prstGeom>
          <a:noFill/>
          <a:ln/>
        </p:spPr>
        <p:txBody>
          <a:bodyPr wrap="square" lIns="0" tIns="0" rIns="0" bIns="0" rtlCol="0" anchor="ctr"/>
          <a:lstStyle/>
          <a:p>
            <a:pPr indent="0" marL="0">
              <a:buNone/>
            </a:pPr>
            <a:r>
              <a:rPr lang="en-US" sz="1600" dirty="0">
                <a:solidFill>
                  <a:schemeClr val="tx1"/>
                </a:solidFill>
              </a:rPr>
              <a:t>Les quatre procédés (p. 8–9)</a:t>
            </a:r>
            <a:endParaRPr lang="en-US" sz="1600" dirty="0"/>
          </a:p>
        </p:txBody>
      </p:sp>
      <p:sp>
        <p:nvSpPr>
          <p:cNvPr id="34" name="Text 28"/>
          <p:cNvSpPr txBox="1"/>
          <p:nvPr/>
        </p:nvSpPr>
        <p:spPr>
          <a:xfrm>
            <a:off x="10972800" y="2983230"/>
            <a:ext cx="667512" cy="554355"/>
          </a:xfrm>
          <a:prstGeom prst="rect">
            <a:avLst/>
          </a:prstGeom>
          <a:noFill/>
          <a:ln/>
        </p:spPr>
        <p:txBody>
          <a:bodyPr wrap="square" lIns="0" tIns="0" rIns="0" bIns="0" rtlCol="0" anchor="ctr"/>
          <a:lstStyle/>
          <a:p>
            <a:pPr algn="r" indent="0" marL="0">
              <a:buNone/>
            </a:pPr>
            <a:r>
              <a:rPr lang="en-US" sz="1500" b="1" dirty="0">
                <a:solidFill>
                  <a:schemeClr val="accent1"/>
                </a:solidFill>
              </a:rPr>
              <a:t>12'</a:t>
            </a:r>
            <a:endParaRPr lang="en-US" sz="1500" dirty="0"/>
          </a:p>
        </p:txBody>
      </p:sp>
      <p:sp>
        <p:nvSpPr>
          <p:cNvPr id="35" name="Shape 29"/>
          <p:cNvSpPr/>
          <p:nvPr/>
        </p:nvSpPr>
        <p:spPr>
          <a:xfrm>
            <a:off x="6263640" y="3622738"/>
            <a:ext cx="384048" cy="384048"/>
          </a:xfrm>
          <a:prstGeom prst="ellipse">
            <a:avLst/>
          </a:prstGeom>
          <a:solidFill>
            <a:schemeClr val="tx2"/>
          </a:solidFill>
          <a:ln/>
        </p:spPr>
      </p:sp>
      <p:sp>
        <p:nvSpPr>
          <p:cNvPr id="36" name="Text 30"/>
          <p:cNvSpPr txBox="1"/>
          <p:nvPr/>
        </p:nvSpPr>
        <p:spPr>
          <a:xfrm>
            <a:off x="6263640" y="3622738"/>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37" name="Text 31"/>
          <p:cNvSpPr txBox="1"/>
          <p:nvPr/>
        </p:nvSpPr>
        <p:spPr>
          <a:xfrm>
            <a:off x="6784848" y="3537585"/>
            <a:ext cx="4114800" cy="554355"/>
          </a:xfrm>
          <a:prstGeom prst="rect">
            <a:avLst/>
          </a:prstGeom>
          <a:noFill/>
          <a:ln/>
        </p:spPr>
        <p:txBody>
          <a:bodyPr wrap="square" lIns="0" tIns="0" rIns="0" bIns="0" rtlCol="0" anchor="ctr"/>
          <a:lstStyle/>
          <a:p>
            <a:pPr indent="0" marL="0">
              <a:buNone/>
            </a:pPr>
            <a:r>
              <a:rPr lang="en-US" sz="1600" dirty="0">
                <a:solidFill>
                  <a:schemeClr val="tx1"/>
                </a:solidFill>
              </a:rPr>
              <a:t>Ex. 3 · la convocation</a:t>
            </a:r>
            <a:endParaRPr lang="en-US" sz="1600" dirty="0"/>
          </a:p>
        </p:txBody>
      </p:sp>
      <p:sp>
        <p:nvSpPr>
          <p:cNvPr id="38" name="Text 32"/>
          <p:cNvSpPr txBox="1"/>
          <p:nvPr/>
        </p:nvSpPr>
        <p:spPr>
          <a:xfrm>
            <a:off x="10972800" y="3537585"/>
            <a:ext cx="667512" cy="554355"/>
          </a:xfrm>
          <a:prstGeom prst="rect">
            <a:avLst/>
          </a:prstGeom>
          <a:noFill/>
          <a:ln/>
        </p:spPr>
        <p:txBody>
          <a:bodyPr wrap="square" lIns="0" tIns="0" rIns="0" bIns="0" rtlCol="0" anchor="ctr"/>
          <a:lstStyle/>
          <a:p>
            <a:pPr algn="r" indent="0" marL="0">
              <a:buNone/>
            </a:pPr>
            <a:r>
              <a:rPr lang="en-US" sz="1500" b="1" dirty="0">
                <a:solidFill>
                  <a:schemeClr val="accent1"/>
                </a:solidFill>
              </a:rPr>
              <a:t>15'</a:t>
            </a:r>
            <a:endParaRPr lang="en-US" sz="1500" dirty="0"/>
          </a:p>
        </p:txBody>
      </p:sp>
      <p:sp>
        <p:nvSpPr>
          <p:cNvPr id="39" name="Shape 33"/>
          <p:cNvSpPr/>
          <p:nvPr/>
        </p:nvSpPr>
        <p:spPr>
          <a:xfrm>
            <a:off x="6263640" y="4177093"/>
            <a:ext cx="384048" cy="384048"/>
          </a:xfrm>
          <a:prstGeom prst="ellipse">
            <a:avLst/>
          </a:prstGeom>
          <a:solidFill>
            <a:schemeClr val="tx2"/>
          </a:solidFill>
          <a:ln/>
        </p:spPr>
      </p:sp>
      <p:sp>
        <p:nvSpPr>
          <p:cNvPr id="40" name="Text 34"/>
          <p:cNvSpPr txBox="1"/>
          <p:nvPr/>
        </p:nvSpPr>
        <p:spPr>
          <a:xfrm>
            <a:off x="6263640" y="4177093"/>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41" name="Text 35"/>
          <p:cNvSpPr txBox="1"/>
          <p:nvPr/>
        </p:nvSpPr>
        <p:spPr>
          <a:xfrm>
            <a:off x="6784848" y="4091940"/>
            <a:ext cx="4114800" cy="554355"/>
          </a:xfrm>
          <a:prstGeom prst="rect">
            <a:avLst/>
          </a:prstGeom>
          <a:noFill/>
          <a:ln/>
        </p:spPr>
        <p:txBody>
          <a:bodyPr wrap="square" lIns="0" tIns="0" rIns="0" bIns="0" rtlCol="0" anchor="ctr"/>
          <a:lstStyle/>
          <a:p>
            <a:pPr indent="0" marL="0">
              <a:buNone/>
            </a:pPr>
            <a:r>
              <a:rPr lang="en-US" sz="1600" dirty="0">
                <a:solidFill>
                  <a:schemeClr val="tx1"/>
                </a:solidFill>
              </a:rPr>
              <a:t>Ex. 4 · van werkwoord naar naamwoord</a:t>
            </a:r>
            <a:endParaRPr lang="en-US" sz="1600" dirty="0"/>
          </a:p>
        </p:txBody>
      </p:sp>
      <p:sp>
        <p:nvSpPr>
          <p:cNvPr id="42" name="Text 36"/>
          <p:cNvSpPr txBox="1"/>
          <p:nvPr/>
        </p:nvSpPr>
        <p:spPr>
          <a:xfrm>
            <a:off x="10972800" y="4091940"/>
            <a:ext cx="667512" cy="554355"/>
          </a:xfrm>
          <a:prstGeom prst="rect">
            <a:avLst/>
          </a:prstGeom>
          <a:noFill/>
          <a:ln/>
        </p:spPr>
        <p:txBody>
          <a:bodyPr wrap="square" lIns="0" tIns="0" rIns="0" bIns="0" rtlCol="0" anchor="ctr"/>
          <a:lstStyle/>
          <a:p>
            <a:pPr algn="r" indent="0" marL="0">
              <a:buNone/>
            </a:pPr>
            <a:r>
              <a:rPr lang="en-US" sz="1500" b="1" dirty="0">
                <a:solidFill>
                  <a:schemeClr val="accent1"/>
                </a:solidFill>
              </a:rPr>
              <a:t>10'</a:t>
            </a:r>
            <a:endParaRPr lang="en-US" sz="1500" dirty="0"/>
          </a:p>
        </p:txBody>
      </p:sp>
      <p:sp>
        <p:nvSpPr>
          <p:cNvPr id="43" name="Shape 37"/>
          <p:cNvSpPr/>
          <p:nvPr/>
        </p:nvSpPr>
        <p:spPr>
          <a:xfrm>
            <a:off x="6263640" y="4731449"/>
            <a:ext cx="384048" cy="384048"/>
          </a:xfrm>
          <a:prstGeom prst="ellipse">
            <a:avLst/>
          </a:prstGeom>
          <a:solidFill>
            <a:schemeClr val="tx2"/>
          </a:solidFill>
          <a:ln/>
        </p:spPr>
      </p:sp>
      <p:sp>
        <p:nvSpPr>
          <p:cNvPr id="44" name="Text 38"/>
          <p:cNvSpPr txBox="1"/>
          <p:nvPr/>
        </p:nvSpPr>
        <p:spPr>
          <a:xfrm>
            <a:off x="6263640" y="4731449"/>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45" name="Text 39"/>
          <p:cNvSpPr txBox="1"/>
          <p:nvPr/>
        </p:nvSpPr>
        <p:spPr>
          <a:xfrm>
            <a:off x="6784848" y="4646295"/>
            <a:ext cx="4114800" cy="554355"/>
          </a:xfrm>
          <a:prstGeom prst="rect">
            <a:avLst/>
          </a:prstGeom>
          <a:noFill/>
          <a:ln/>
        </p:spPr>
        <p:txBody>
          <a:bodyPr wrap="square" lIns="0" tIns="0" rIns="0" bIns="0" rtlCol="0" anchor="ctr"/>
          <a:lstStyle/>
          <a:p>
            <a:pPr indent="0" marL="0">
              <a:buNone/>
            </a:pPr>
            <a:r>
              <a:rPr lang="en-US" sz="1600" dirty="0">
                <a:solidFill>
                  <a:schemeClr val="tx1"/>
                </a:solidFill>
              </a:rPr>
              <a:t>TAAK 2 · brief aan de syndicus</a:t>
            </a:r>
            <a:endParaRPr lang="en-US" sz="1600" dirty="0"/>
          </a:p>
        </p:txBody>
      </p:sp>
      <p:sp>
        <p:nvSpPr>
          <p:cNvPr id="46" name="Text 40"/>
          <p:cNvSpPr txBox="1"/>
          <p:nvPr/>
        </p:nvSpPr>
        <p:spPr>
          <a:xfrm>
            <a:off x="10972800" y="4646295"/>
            <a:ext cx="667512" cy="554355"/>
          </a:xfrm>
          <a:prstGeom prst="rect">
            <a:avLst/>
          </a:prstGeom>
          <a:noFill/>
          <a:ln/>
        </p:spPr>
        <p:txBody>
          <a:bodyPr wrap="square" lIns="0" tIns="0" rIns="0" bIns="0" rtlCol="0" anchor="ctr"/>
          <a:lstStyle/>
          <a:p>
            <a:pPr algn="r" indent="0" marL="0">
              <a:buNone/>
            </a:pPr>
            <a:r>
              <a:rPr lang="en-US" sz="1500" b="1" dirty="0">
                <a:solidFill>
                  <a:schemeClr val="accent1"/>
                </a:solidFill>
              </a:rPr>
              <a:t>15'</a:t>
            </a:r>
            <a:endParaRPr lang="en-US" sz="1500" dirty="0"/>
          </a:p>
        </p:txBody>
      </p:sp>
      <p:sp>
        <p:nvSpPr>
          <p:cNvPr id="47" name="Shape 41"/>
          <p:cNvSpPr/>
          <p:nvPr/>
        </p:nvSpPr>
        <p:spPr>
          <a:xfrm>
            <a:off x="6263640" y="5285804"/>
            <a:ext cx="384048" cy="384048"/>
          </a:xfrm>
          <a:prstGeom prst="ellipse">
            <a:avLst/>
          </a:prstGeom>
          <a:solidFill>
            <a:schemeClr val="tx2"/>
          </a:solidFill>
          <a:ln/>
        </p:spPr>
      </p:sp>
      <p:sp>
        <p:nvSpPr>
          <p:cNvPr id="48" name="Text 42"/>
          <p:cNvSpPr txBox="1"/>
          <p:nvPr/>
        </p:nvSpPr>
        <p:spPr>
          <a:xfrm>
            <a:off x="6263640" y="5285804"/>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7</a:t>
            </a:r>
            <a:endParaRPr lang="en-US" sz="1300" dirty="0"/>
          </a:p>
        </p:txBody>
      </p:sp>
      <p:sp>
        <p:nvSpPr>
          <p:cNvPr id="49" name="Text 43"/>
          <p:cNvSpPr txBox="1"/>
          <p:nvPr/>
        </p:nvSpPr>
        <p:spPr>
          <a:xfrm>
            <a:off x="6784848" y="5200650"/>
            <a:ext cx="4114800" cy="554355"/>
          </a:xfrm>
          <a:prstGeom prst="rect">
            <a:avLst/>
          </a:prstGeom>
          <a:noFill/>
          <a:ln/>
        </p:spPr>
        <p:txBody>
          <a:bodyPr wrap="square" lIns="0" tIns="0" rIns="0" bIns="0" rtlCol="0" anchor="ctr"/>
          <a:lstStyle/>
          <a:p>
            <a:pPr indent="0" marL="0">
              <a:buNone/>
            </a:pPr>
            <a:r>
              <a:rPr lang="en-US" sz="1600" dirty="0">
                <a:solidFill>
                  <a:schemeClr val="tx1"/>
                </a:solidFill>
              </a:rPr>
              <a:t>D2 · De taal van de gemeente</a:t>
            </a:r>
            <a:endParaRPr lang="en-US" sz="1600" dirty="0"/>
          </a:p>
        </p:txBody>
      </p:sp>
      <p:sp>
        <p:nvSpPr>
          <p:cNvPr id="50" name="Text 44"/>
          <p:cNvSpPr txBox="1"/>
          <p:nvPr/>
        </p:nvSpPr>
        <p:spPr>
          <a:xfrm>
            <a:off x="10972800" y="5200650"/>
            <a:ext cx="667512" cy="554355"/>
          </a:xfrm>
          <a:prstGeom prst="rect">
            <a:avLst/>
          </a:prstGeom>
          <a:noFill/>
          <a:ln/>
        </p:spPr>
        <p:txBody>
          <a:bodyPr wrap="square" lIns="0" tIns="0" rIns="0" bIns="0" rtlCol="0" anchor="ctr"/>
          <a:lstStyle/>
          <a:p>
            <a:pPr algn="r" indent="0" marL="0">
              <a:buNone/>
            </a:pPr>
            <a:r>
              <a:rPr lang="en-US" sz="1500" b="1" dirty="0">
                <a:solidFill>
                  <a:schemeClr val="accent1"/>
                </a:solidFill>
              </a:rPr>
              <a:t>20'</a:t>
            </a:r>
            <a:endParaRPr lang="en-US" sz="1500" dirty="0"/>
          </a:p>
        </p:txBody>
      </p:sp>
      <p:sp>
        <p:nvSpPr>
          <p:cNvPr id="51" name="Shape 45"/>
          <p:cNvSpPr/>
          <p:nvPr/>
        </p:nvSpPr>
        <p:spPr>
          <a:xfrm>
            <a:off x="6263640" y="5840158"/>
            <a:ext cx="384048" cy="384048"/>
          </a:xfrm>
          <a:prstGeom prst="ellipse">
            <a:avLst/>
          </a:prstGeom>
          <a:solidFill>
            <a:schemeClr val="tx2"/>
          </a:solidFill>
          <a:ln/>
        </p:spPr>
      </p:sp>
      <p:sp>
        <p:nvSpPr>
          <p:cNvPr id="52" name="Text 46"/>
          <p:cNvSpPr txBox="1"/>
          <p:nvPr/>
        </p:nvSpPr>
        <p:spPr>
          <a:xfrm>
            <a:off x="6263640" y="5840158"/>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8</a:t>
            </a:r>
            <a:endParaRPr lang="en-US" sz="1300" dirty="0"/>
          </a:p>
        </p:txBody>
      </p:sp>
      <p:sp>
        <p:nvSpPr>
          <p:cNvPr id="53" name="Text 47"/>
          <p:cNvSpPr txBox="1"/>
          <p:nvPr/>
        </p:nvSpPr>
        <p:spPr>
          <a:xfrm>
            <a:off x="6784848" y="5755005"/>
            <a:ext cx="4114800" cy="554355"/>
          </a:xfrm>
          <a:prstGeom prst="rect">
            <a:avLst/>
          </a:prstGeom>
          <a:noFill/>
          <a:ln/>
        </p:spPr>
        <p:txBody>
          <a:bodyPr wrap="square" lIns="0" tIns="0" rIns="0" bIns="0" rtlCol="0" anchor="ctr"/>
          <a:lstStyle/>
          <a:p>
            <a:pPr indent="0" marL="0">
              <a:buNone/>
            </a:pPr>
            <a:r>
              <a:rPr lang="en-US" sz="1600" dirty="0">
                <a:solidFill>
                  <a:schemeClr val="tx1"/>
                </a:solidFill>
              </a:rPr>
              <a:t>Bilan</a:t>
            </a:r>
            <a:endParaRPr lang="en-US" sz="1600" dirty="0"/>
          </a:p>
        </p:txBody>
      </p:sp>
      <p:sp>
        <p:nvSpPr>
          <p:cNvPr id="54" name="Text 48"/>
          <p:cNvSpPr txBox="1"/>
          <p:nvPr/>
        </p:nvSpPr>
        <p:spPr>
          <a:xfrm>
            <a:off x="10972800" y="5755005"/>
            <a:ext cx="667512" cy="554355"/>
          </a:xfrm>
          <a:prstGeom prst="rect">
            <a:avLst/>
          </a:prstGeom>
          <a:noFill/>
          <a:ln/>
        </p:spPr>
        <p:txBody>
          <a:bodyPr wrap="square" lIns="0" tIns="0" rIns="0" bIns="0" rtlCol="0" anchor="ctr"/>
          <a:lstStyle/>
          <a:p>
            <a:pPr algn="r" indent="0" marL="0">
              <a:buNone/>
            </a:pPr>
            <a:r>
              <a:rPr lang="en-US" sz="1500" b="1" dirty="0">
                <a:solidFill>
                  <a:schemeClr val="accent1"/>
                </a:solidFill>
              </a:rPr>
              <a:t>3'</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Rappel séance 11 : lexique et relatives</a:t>
            </a:r>
            <a:endParaRPr lang="en-US" sz="3200" dirty="0"/>
          </a:p>
        </p:txBody>
      </p:sp>
      <p:sp>
        <p:nvSpPr>
          <p:cNvPr id="3" name="tag"/>
          <p:cNvSpPr/>
          <p:nvPr/>
        </p:nvSpPr>
        <p:spPr>
          <a:xfrm>
            <a:off x="548640" y="237744"/>
            <a:ext cx="1874520" cy="310896"/>
          </a:xfrm>
          <a:prstGeom prst="roundRect">
            <a:avLst>
              <a:gd name="adj" fmla="val 14706"/>
            </a:avLst>
          </a:prstGeom>
          <a:solidFill>
            <a:schemeClr val="accent2"/>
          </a:solidFill>
          <a:ln/>
        </p:spPr>
        <p:txBody>
          <a:bodyPr wrap="square" lIns="0" tIns="0" rIns="0" bIns="0" rtlCol="0" anchor="ctr"/>
          <a:lstStyle/>
          <a:p>
            <a:pPr algn="ctr" indent="0" marL="0">
              <a:buNone/>
            </a:pPr>
            <a:r>
              <a:rPr lang="en-US" sz="1200" b="1" spc="100" kern="0" dirty="0">
                <a:solidFill>
                  <a:schemeClr val="bg1"/>
                </a:solidFill>
              </a:rPr>
              <a:t>ÉCHAUFFEMENT</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Rappel séance 11</a:t>
            </a:r>
            <a:endParaRPr lang="en-US" sz="1200" dirty="0"/>
          </a:p>
        </p:txBody>
      </p:sp>
      <p:sp>
        <p:nvSpPr>
          <p:cNvPr id="6" name="Text 3"/>
          <p:cNvSpPr txBox="1"/>
          <p:nvPr/>
        </p:nvSpPr>
        <p:spPr>
          <a:xfrm>
            <a:off x="548640" y="1481328"/>
            <a:ext cx="7178040" cy="371856"/>
          </a:xfrm>
          <a:prstGeom prst="rect">
            <a:avLst/>
          </a:prstGeom>
          <a:noFill/>
          <a:ln/>
        </p:spPr>
        <p:txBody>
          <a:bodyPr wrap="square" lIns="0" tIns="0" rIns="0" bIns="0" rtlCol="0" anchor="t"/>
          <a:lstStyle/>
          <a:p>
            <a:pPr indent="0" marL="0">
              <a:buNone/>
            </a:pPr>
            <a:r>
              <a:rPr lang="en-US" sz="1600" i="1" dirty="0">
                <a:solidFill>
                  <a:schemeClr val="accent5"/>
                </a:solidFill>
              </a:rPr>
              <a:t>Traduisez — seul · 4 min, puis correction orale.</a:t>
            </a:r>
            <a:endParaRPr lang="en-US" sz="1600" dirty="0"/>
          </a:p>
        </p:txBody>
      </p:sp>
      <p:sp>
        <p:nvSpPr>
          <p:cNvPr id="7" name="exercise"/>
          <p:cNvSpPr txBox="1"/>
          <p:nvPr/>
        </p:nvSpPr>
        <p:spPr>
          <a:xfrm>
            <a:off x="548640" y="1926336"/>
            <a:ext cx="7178040" cy="4364736"/>
          </a:xfrm>
          <a:prstGeom prst="rect">
            <a:avLst/>
          </a:prstGeom>
          <a:noFill/>
          <a:ln/>
        </p:spPr>
        <p:txBody>
          <a:bodyPr wrap="square" lIns="0" tIns="0" rIns="0" bIns="0" rtlCol="0" anchor="t"/>
          <a:lstStyle/>
          <a:p>
            <a:pPr indent="0" marL="0">
              <a:spcAft>
                <a:spcPts val="1400"/>
              </a:spcAft>
              <a:buNone/>
            </a:pPr>
            <a:r>
              <a:rPr lang="en-US" sz="2500" b="1" dirty="0">
                <a:solidFill>
                  <a:schemeClr val="tx2"/>
                </a:solidFill>
              </a:rPr>
              <a:t>1.  </a:t>
            </a:r>
            <a:r>
              <a:rPr lang="en-US" sz="2500" dirty="0">
                <a:solidFill>
                  <a:schemeClr val="tx1"/>
                </a:solidFill>
              </a:rPr>
              <a:t>« Le syndic est la personne qui gère l’immeuble. »</a:t>
            </a:r>
            <a:endParaRPr lang="en-US" sz="2500" dirty="0"/>
          </a:p>
          <a:p>
            <a:pPr indent="0" marL="0">
              <a:spcAft>
                <a:spcPts val="1400"/>
              </a:spcAft>
              <a:buNone/>
            </a:pPr>
            <a:r>
              <a:rPr lang="en-US" sz="2500" b="1" dirty="0">
                <a:solidFill>
                  <a:schemeClr val="tx2"/>
                </a:solidFill>
              </a:rPr>
              <a:t>2.  </a:t>
            </a:r>
            <a:r>
              <a:rPr lang="en-US" sz="2500" dirty="0">
                <a:solidFill>
                  <a:schemeClr val="tx1"/>
                </a:solidFill>
              </a:rPr>
              <a:t>« Les parties communes sont les espaces que tous les habitants utilisent. »</a:t>
            </a:r>
            <a:endParaRPr lang="en-US" sz="2500" dirty="0"/>
          </a:p>
          <a:p>
            <a:pPr indent="0" marL="0">
              <a:spcAft>
                <a:spcPts val="1400"/>
              </a:spcAft>
              <a:buNone/>
            </a:pPr>
            <a:r>
              <a:rPr lang="en-US" sz="2500" b="1" dirty="0">
                <a:solidFill>
                  <a:schemeClr val="tx2"/>
                </a:solidFill>
              </a:rPr>
              <a:t>3.  </a:t>
            </a:r>
            <a:r>
              <a:rPr lang="en-US" sz="2500" dirty="0">
                <a:solidFill>
                  <a:schemeClr val="tx1"/>
                </a:solidFill>
              </a:rPr>
              <a:t>Article + mot : la procuration · le fonds de réserve · la convocation</a:t>
            </a:r>
            <a:endParaRPr lang="en-US" sz="2500" dirty="0"/>
          </a:p>
          <a:p>
            <a:pPr indent="0" marL="0">
              <a:spcAft>
                <a:spcPts val="1400"/>
              </a:spcAft>
              <a:buNone/>
            </a:pPr>
            <a:r>
              <a:rPr lang="en-US" sz="2500" b="1" dirty="0">
                <a:solidFill>
                  <a:schemeClr val="tx2"/>
                </a:solidFill>
              </a:rPr>
              <a:t>4.  </a:t>
            </a:r>
            <a:r>
              <a:rPr lang="en-US" sz="2500" dirty="0">
                <a:solidFill>
                  <a:schemeClr val="tx1"/>
                </a:solidFill>
              </a:rPr>
              <a:t>« Les coûts sont répartis selon les quotités. »</a:t>
            </a:r>
            <a:endParaRPr lang="en-US" sz="2500" dirty="0"/>
          </a:p>
          <a:p>
            <a:pPr indent="0" marL="0">
              <a:spcAft>
                <a:spcPts val="1400"/>
              </a:spcAft>
              <a:buNone/>
            </a:pPr>
            <a:r>
              <a:rPr lang="en-US" sz="2500" b="1" dirty="0">
                <a:solidFill>
                  <a:schemeClr val="tx2"/>
                </a:solidFill>
              </a:rPr>
              <a:t>5.  </a:t>
            </a:r>
            <a:r>
              <a:rPr lang="en-US" sz="2500" dirty="0">
                <a:solidFill>
                  <a:schemeClr val="tx1"/>
                </a:solidFill>
              </a:rPr>
              <a:t>« Je ne m’en ferais pas de souci. »</a:t>
            </a:r>
            <a:endParaRPr lang="en-US" sz="2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Rappel séance 11 : lexique et relatives</a:t>
            </a:r>
            <a:endParaRPr lang="en-US" sz="3200" dirty="0"/>
          </a:p>
        </p:txBody>
      </p:sp>
      <p:sp>
        <p:nvSpPr>
          <p:cNvPr id="3" name="tag"/>
          <p:cNvSpPr/>
          <p:nvPr/>
        </p:nvSpPr>
        <p:spPr>
          <a:xfrm>
            <a:off x="548640" y="237744"/>
            <a:ext cx="1874520" cy="310896"/>
          </a:xfrm>
          <a:prstGeom prst="roundRect">
            <a:avLst>
              <a:gd name="adj" fmla="val 14706"/>
            </a:avLst>
          </a:prstGeom>
          <a:solidFill>
            <a:schemeClr val="accent2"/>
          </a:solidFill>
          <a:ln/>
        </p:spPr>
        <p:txBody>
          <a:bodyPr wrap="square" lIns="0" tIns="0" rIns="0" bIns="0" rtlCol="0" anchor="ctr"/>
          <a:lstStyle/>
          <a:p>
            <a:pPr algn="ctr" indent="0" marL="0">
              <a:buNone/>
            </a:pPr>
            <a:r>
              <a:rPr lang="en-US" sz="1200" b="1" spc="100" kern="0" dirty="0">
                <a:solidFill>
                  <a:schemeClr val="bg1"/>
                </a:solidFill>
              </a:rPr>
              <a:t>ÉCHAUFFEMENT</a:t>
            </a:r>
            <a:endParaRPr lang="en-US" sz="1200" dirty="0"/>
          </a:p>
        </p:txBody>
      </p:sp>
      <p:sp>
        <p:nvSpPr>
          <p:cNvPr id="4" name="tag"/>
          <p:cNvSpPr/>
          <p:nvPr/>
        </p:nvSpPr>
        <p:spPr>
          <a:xfrm>
            <a:off x="2532888" y="237744"/>
            <a:ext cx="1760220"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chemeClr val="bg1"/>
                </a:solidFill>
              </a:rPr>
              <a:t>✓ CORRECTIE</a:t>
            </a:r>
            <a:endParaRPr lang="en-US" sz="1200" dirty="0"/>
          </a:p>
        </p:txBody>
      </p:sp>
      <p:sp>
        <p:nvSpPr>
          <p:cNvPr id="5" name="Text 3"/>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Rappel séance 11</a:t>
            </a:r>
            <a:endParaRPr lang="en-US" sz="1200" dirty="0"/>
          </a:p>
        </p:txBody>
      </p:sp>
      <p:sp>
        <p:nvSpPr>
          <p:cNvPr id="7" name="Text 4"/>
          <p:cNvSpPr txBox="1"/>
          <p:nvPr/>
        </p:nvSpPr>
        <p:spPr>
          <a:xfrm>
            <a:off x="548640" y="1481328"/>
            <a:ext cx="7178040" cy="371856"/>
          </a:xfrm>
          <a:prstGeom prst="rect">
            <a:avLst/>
          </a:prstGeom>
          <a:noFill/>
          <a:ln/>
        </p:spPr>
        <p:txBody>
          <a:bodyPr wrap="square" lIns="0" tIns="0" rIns="0" bIns="0" rtlCol="0" anchor="t"/>
          <a:lstStyle/>
          <a:p>
            <a:pPr indent="0" marL="0">
              <a:buNone/>
            </a:pPr>
            <a:r>
              <a:rPr lang="en-US" sz="1600" i="1" dirty="0">
                <a:solidFill>
                  <a:schemeClr val="accent5"/>
                </a:solidFill>
              </a:rPr>
              <a:t>Traduisez — seul · 4 min, puis correction orale.</a:t>
            </a:r>
            <a:endParaRPr lang="en-US" sz="1600" dirty="0"/>
          </a:p>
        </p:txBody>
      </p:sp>
      <p:sp>
        <p:nvSpPr>
          <p:cNvPr id="8" name="exercise"/>
          <p:cNvSpPr txBox="1"/>
          <p:nvPr/>
        </p:nvSpPr>
        <p:spPr>
          <a:xfrm>
            <a:off x="548640" y="1926336"/>
            <a:ext cx="7178040" cy="4364736"/>
          </a:xfrm>
          <a:prstGeom prst="rect">
            <a:avLst/>
          </a:prstGeom>
          <a:noFill/>
          <a:ln/>
        </p:spPr>
        <p:txBody>
          <a:bodyPr wrap="square" lIns="0" tIns="0" rIns="0" bIns="0" rtlCol="0" anchor="t"/>
          <a:lstStyle/>
          <a:p>
            <a:pPr indent="0" marL="0">
              <a:spcAft>
                <a:spcPts val="400"/>
              </a:spcAft>
              <a:buNone/>
            </a:pPr>
            <a:r>
              <a:rPr lang="en-US" sz="1600" b="1" dirty="0">
                <a:solidFill>
                  <a:schemeClr val="tx2"/>
                </a:solidFill>
              </a:rPr>
              <a:t>1.  </a:t>
            </a:r>
            <a:r>
              <a:rPr lang="en-US" sz="1600" dirty="0">
                <a:solidFill>
                  <a:schemeClr val="tx1"/>
                </a:solidFill>
              </a:rPr>
              <a:t>« Le syndic est la personne qui gère l’immeuble. »</a:t>
            </a:r>
            <a:endParaRPr lang="en-US" sz="1600" dirty="0"/>
          </a:p>
          <a:p>
            <a:pPr indent="0" marL="0">
              <a:spcAft>
                <a:spcPts val="1200"/>
              </a:spcAft>
              <a:buNone/>
            </a:pPr>
            <a:r>
              <a:rPr lang="en-US" sz="1600" b="1" dirty="0">
                <a:solidFill>
                  <a:schemeClr val="accent3"/>
                </a:solidFill>
              </a:rPr>
              <a:t>→ </a:t>
            </a:r>
            <a:r>
              <a:rPr lang="en-US" sz="1600" dirty="0">
                <a:solidFill>
                  <a:schemeClr val="accent3"/>
                </a:solidFill>
              </a:rPr>
              <a:t>De syndicus is de persoon </a:t>
            </a:r>
            <a:r>
              <a:rPr lang="en-US" sz="1600" b="1" dirty="0">
                <a:solidFill>
                  <a:schemeClr val="accent3"/>
                </a:solidFill>
              </a:rPr>
              <a:t>die</a:t>
            </a:r>
            <a:r>
              <a:rPr lang="en-US" sz="1600" dirty="0">
                <a:solidFill>
                  <a:schemeClr val="accent3"/>
                </a:solidFill>
              </a:rPr>
              <a:t> het gebouw </a:t>
            </a:r>
            <a:r>
              <a:rPr lang="en-US" sz="1600" b="1" dirty="0">
                <a:solidFill>
                  <a:schemeClr val="accent3"/>
                </a:solidFill>
              </a:rPr>
              <a:t>beheert</a:t>
            </a:r>
            <a:r>
              <a:rPr lang="en-US" sz="1600" dirty="0">
                <a:solidFill>
                  <a:schemeClr val="accent3"/>
                </a:solidFill>
              </a:rPr>
              <a:t>.</a:t>
            </a:r>
            <a:endParaRPr lang="en-US" sz="1600" dirty="0"/>
          </a:p>
          <a:p>
            <a:pPr indent="0" marL="0">
              <a:spcAft>
                <a:spcPts val="400"/>
              </a:spcAft>
              <a:buNone/>
            </a:pPr>
            <a:r>
              <a:rPr lang="en-US" sz="1600" b="1" dirty="0">
                <a:solidFill>
                  <a:schemeClr val="tx2"/>
                </a:solidFill>
              </a:rPr>
              <a:t>2.  </a:t>
            </a:r>
            <a:r>
              <a:rPr lang="en-US" sz="1600" dirty="0">
                <a:solidFill>
                  <a:schemeClr val="tx1"/>
                </a:solidFill>
              </a:rPr>
              <a:t>« Les parties communes sont les espaces que tous les habitants utilisent. »</a:t>
            </a:r>
            <a:endParaRPr lang="en-US" sz="1600" dirty="0"/>
          </a:p>
          <a:p>
            <a:pPr indent="0" marL="0">
              <a:spcAft>
                <a:spcPts val="1200"/>
              </a:spcAft>
              <a:buNone/>
            </a:pPr>
            <a:r>
              <a:rPr lang="en-US" sz="1600" b="1" dirty="0">
                <a:solidFill>
                  <a:schemeClr val="accent3"/>
                </a:solidFill>
              </a:rPr>
              <a:t>→ </a:t>
            </a:r>
            <a:r>
              <a:rPr lang="en-US" sz="1600" dirty="0">
                <a:solidFill>
                  <a:schemeClr val="accent3"/>
                </a:solidFill>
              </a:rPr>
              <a:t>De gemene delen zijn de ruimtes </a:t>
            </a:r>
            <a:r>
              <a:rPr lang="en-US" sz="1600" b="1" dirty="0">
                <a:solidFill>
                  <a:schemeClr val="accent3"/>
                </a:solidFill>
              </a:rPr>
              <a:t>die</a:t>
            </a:r>
            <a:r>
              <a:rPr lang="en-US" sz="1600" dirty="0">
                <a:solidFill>
                  <a:schemeClr val="accent3"/>
                </a:solidFill>
              </a:rPr>
              <a:t> alle bewoners </a:t>
            </a:r>
            <a:r>
              <a:rPr lang="en-US" sz="1600" b="1" dirty="0">
                <a:solidFill>
                  <a:schemeClr val="accent3"/>
                </a:solidFill>
              </a:rPr>
              <a:t>gebruiken</a:t>
            </a:r>
            <a:r>
              <a:rPr lang="en-US" sz="1600" dirty="0">
                <a:solidFill>
                  <a:schemeClr val="accent3"/>
                </a:solidFill>
              </a:rPr>
              <a:t>.</a:t>
            </a:r>
            <a:endParaRPr lang="en-US" sz="1600" dirty="0"/>
          </a:p>
          <a:p>
            <a:pPr indent="0" marL="0">
              <a:spcAft>
                <a:spcPts val="400"/>
              </a:spcAft>
              <a:buNone/>
            </a:pPr>
            <a:r>
              <a:rPr lang="en-US" sz="1600" b="1" dirty="0">
                <a:solidFill>
                  <a:schemeClr val="tx2"/>
                </a:solidFill>
              </a:rPr>
              <a:t>3.  </a:t>
            </a:r>
            <a:r>
              <a:rPr lang="en-US" sz="1600" dirty="0">
                <a:solidFill>
                  <a:schemeClr val="tx1"/>
                </a:solidFill>
              </a:rPr>
              <a:t>Article + mot : la procuration · le fonds de réserve · la convocation</a:t>
            </a:r>
            <a:endParaRPr lang="en-US" sz="1600" dirty="0"/>
          </a:p>
          <a:p>
            <a:pPr indent="0" marL="0">
              <a:spcAft>
                <a:spcPts val="1200"/>
              </a:spcAft>
              <a:buNone/>
            </a:pPr>
            <a:r>
              <a:rPr lang="en-US" sz="1600" b="1" dirty="0">
                <a:solidFill>
                  <a:schemeClr val="accent3"/>
                </a:solidFill>
              </a:rPr>
              <a:t>→ </a:t>
            </a:r>
            <a:r>
              <a:rPr lang="en-US" sz="1600" b="1" dirty="0">
                <a:solidFill>
                  <a:schemeClr val="accent2"/>
                </a:solidFill>
              </a:rPr>
              <a:t>de</a:t>
            </a:r>
            <a:r>
              <a:rPr lang="en-US" sz="1600" dirty="0">
                <a:solidFill>
                  <a:schemeClr val="accent3"/>
                </a:solidFill>
              </a:rPr>
              <a:t> volmacht · </a:t>
            </a:r>
            <a:r>
              <a:rPr lang="en-US" sz="1600" b="1" dirty="0">
                <a:solidFill>
                  <a:schemeClr val="accent4"/>
                </a:solidFill>
              </a:rPr>
              <a:t>het</a:t>
            </a:r>
            <a:r>
              <a:rPr lang="en-US" sz="1600" dirty="0">
                <a:solidFill>
                  <a:schemeClr val="accent3"/>
                </a:solidFill>
              </a:rPr>
              <a:t> reservefonds · </a:t>
            </a:r>
            <a:r>
              <a:rPr lang="en-US" sz="1600" b="1" dirty="0">
                <a:solidFill>
                  <a:schemeClr val="accent2"/>
                </a:solidFill>
              </a:rPr>
              <a:t>de</a:t>
            </a:r>
            <a:r>
              <a:rPr lang="en-US" sz="1600" dirty="0">
                <a:solidFill>
                  <a:schemeClr val="accent3"/>
                </a:solidFill>
              </a:rPr>
              <a:t> uitnodiging</a:t>
            </a:r>
            <a:endParaRPr lang="en-US" sz="1600" dirty="0"/>
          </a:p>
          <a:p>
            <a:pPr indent="0" marL="0">
              <a:spcAft>
                <a:spcPts val="400"/>
              </a:spcAft>
              <a:buNone/>
            </a:pPr>
            <a:r>
              <a:rPr lang="en-US" sz="1600" b="1" dirty="0">
                <a:solidFill>
                  <a:schemeClr val="tx2"/>
                </a:solidFill>
              </a:rPr>
              <a:t>4.  </a:t>
            </a:r>
            <a:r>
              <a:rPr lang="en-US" sz="1600" dirty="0">
                <a:solidFill>
                  <a:schemeClr val="tx1"/>
                </a:solidFill>
              </a:rPr>
              <a:t>« Les coûts sont répartis selon les quotités. »</a:t>
            </a:r>
            <a:endParaRPr lang="en-US" sz="1600" dirty="0"/>
          </a:p>
          <a:p>
            <a:pPr indent="0" marL="0">
              <a:spcAft>
                <a:spcPts val="1200"/>
              </a:spcAft>
              <a:buNone/>
            </a:pPr>
            <a:r>
              <a:rPr lang="en-US" sz="1600" b="1" dirty="0">
                <a:solidFill>
                  <a:schemeClr val="accent3"/>
                </a:solidFill>
              </a:rPr>
              <a:t>→ </a:t>
            </a:r>
            <a:r>
              <a:rPr lang="en-US" sz="1600" dirty="0">
                <a:solidFill>
                  <a:schemeClr val="accent3"/>
                </a:solidFill>
              </a:rPr>
              <a:t>De kosten </a:t>
            </a:r>
            <a:r>
              <a:rPr lang="en-US" sz="1600" b="1" dirty="0">
                <a:solidFill>
                  <a:schemeClr val="accent3"/>
                </a:solidFill>
              </a:rPr>
              <a:t>worden</a:t>
            </a:r>
            <a:r>
              <a:rPr lang="en-US" sz="1600" dirty="0">
                <a:solidFill>
                  <a:schemeClr val="accent3"/>
                </a:solidFill>
              </a:rPr>
              <a:t> volgens de quotiteiten </a:t>
            </a:r>
            <a:r>
              <a:rPr lang="en-US" sz="1600" b="1" dirty="0">
                <a:solidFill>
                  <a:schemeClr val="accent3"/>
                </a:solidFill>
              </a:rPr>
              <a:t>verdeeld</a:t>
            </a:r>
            <a:r>
              <a:rPr lang="en-US" sz="1600" dirty="0">
                <a:solidFill>
                  <a:schemeClr val="accent3"/>
                </a:solidFill>
              </a:rPr>
              <a:t>.</a:t>
            </a:r>
            <a:endParaRPr lang="en-US" sz="1600" dirty="0"/>
          </a:p>
          <a:p>
            <a:pPr indent="0" marL="0">
              <a:spcAft>
                <a:spcPts val="400"/>
              </a:spcAft>
              <a:buNone/>
            </a:pPr>
            <a:r>
              <a:rPr lang="en-US" sz="1600" b="1" dirty="0">
                <a:solidFill>
                  <a:schemeClr val="tx2"/>
                </a:solidFill>
              </a:rPr>
              <a:t>5.  </a:t>
            </a:r>
            <a:r>
              <a:rPr lang="en-US" sz="1600" dirty="0">
                <a:solidFill>
                  <a:schemeClr val="tx1"/>
                </a:solidFill>
              </a:rPr>
              <a:t>« Je ne m’en ferais pas de souci. »</a:t>
            </a:r>
            <a:endParaRPr lang="en-US" sz="1600" dirty="0"/>
          </a:p>
          <a:p>
            <a:pPr indent="0" marL="0">
              <a:spcAft>
                <a:spcPts val="1200"/>
              </a:spcAft>
              <a:buNone/>
            </a:pPr>
            <a:r>
              <a:rPr lang="en-US" sz="1600" b="1" dirty="0">
                <a:solidFill>
                  <a:schemeClr val="accent3"/>
                </a:solidFill>
              </a:rPr>
              <a:t>→ </a:t>
            </a:r>
            <a:r>
              <a:rPr lang="en-US" sz="1600" dirty="0">
                <a:solidFill>
                  <a:schemeClr val="accent3"/>
                </a:solidFill>
              </a:rPr>
              <a:t>Ik </a:t>
            </a:r>
            <a:r>
              <a:rPr lang="en-US" sz="1600" b="1" dirty="0">
                <a:solidFill>
                  <a:schemeClr val="accent3"/>
                </a:solidFill>
              </a:rPr>
              <a:t>zou</a:t>
            </a:r>
            <a:r>
              <a:rPr lang="en-US" sz="1600" dirty="0">
                <a:solidFill>
                  <a:schemeClr val="accent3"/>
                </a:solidFill>
              </a:rPr>
              <a:t> me daar geen zorgen over </a:t>
            </a:r>
            <a:r>
              <a:rPr lang="en-US" sz="1600" b="1" dirty="0">
                <a:solidFill>
                  <a:schemeClr val="accent3"/>
                </a:solidFill>
              </a:rPr>
              <a:t>maken</a:t>
            </a:r>
            <a:r>
              <a:rPr lang="en-US" sz="1600" dirty="0">
                <a:solidFill>
                  <a:schemeClr val="accent3"/>
                </a:solidFill>
              </a:rPr>
              <a:t>.</a:t>
            </a:r>
            <a:endParaRPr lang="en-US" sz="1600" dirty="0"/>
          </a:p>
        </p:txBody>
      </p:sp>
      <p:sp>
        <p:nvSpPr>
          <p:cNvPr id="9" name="aside"/>
          <p:cNvSpPr/>
          <p:nvPr/>
        </p:nvSpPr>
        <p:spPr>
          <a:xfrm>
            <a:off x="8046720" y="1481328"/>
            <a:ext cx="3593592" cy="4809744"/>
          </a:xfrm>
          <a:prstGeom prst="roundRect">
            <a:avLst>
              <a:gd name="adj" fmla="val 2036"/>
            </a:avLst>
          </a:prstGeom>
          <a:solidFill>
            <a:schemeClr val="accent6">
              <a:alpha val="10000"/>
            </a:schemeClr>
          </a:solidFill>
          <a:ln w="12700">
            <a:solidFill>
              <a:schemeClr val="accent6">
                <a:alpha val="60000"/>
              </a:schemeClr>
            </a:solidFill>
            <a:prstDash val="solid"/>
          </a:ln>
        </p:spPr>
      </p:sp>
      <p:pic>
        <p:nvPicPr>
          <p:cNvPr id="10" name="Image 0" descr="preencoded.png">    </p:cNvPr>
          <p:cNvPicPr>
            <a:picLocks noChangeAspect="1"/>
          </p:cNvPicPr>
          <p:nvPr/>
        </p:nvPicPr>
        <p:blipFill>
          <a:blip r:embed="rId1"/>
          <a:stretch>
            <a:fillRect/>
          </a:stretch>
        </p:blipFill>
        <p:spPr>
          <a:xfrm>
            <a:off x="8229600" y="1664208"/>
            <a:ext cx="292608" cy="292608"/>
          </a:xfrm>
          <a:prstGeom prst="rect">
            <a:avLst/>
          </a:prstGeom>
        </p:spPr>
      </p:pic>
      <p:sp>
        <p:nvSpPr>
          <p:cNvPr id="11" name="Text 7"/>
          <p:cNvSpPr txBox="1"/>
          <p:nvPr/>
        </p:nvSpPr>
        <p:spPr>
          <a:xfrm>
            <a:off x="8613648" y="1636776"/>
            <a:ext cx="2862072" cy="347472"/>
          </a:xfrm>
          <a:prstGeom prst="rect">
            <a:avLst/>
          </a:prstGeom>
          <a:noFill/>
          <a:ln/>
        </p:spPr>
        <p:txBody>
          <a:bodyPr wrap="square" lIns="0" tIns="0" rIns="0" bIns="0" rtlCol="0" anchor="ctr"/>
          <a:lstStyle/>
          <a:p>
            <a:pPr indent="0" marL="0">
              <a:buNone/>
            </a:pPr>
            <a:r>
              <a:rPr lang="en-US" sz="1400" b="1" spc="100" kern="0" dirty="0">
                <a:solidFill>
                  <a:schemeClr val="accent6"/>
                </a:solidFill>
              </a:rPr>
              <a:t>ATTENTION</a:t>
            </a:r>
            <a:endParaRPr lang="en-US" sz="1400" dirty="0"/>
          </a:p>
        </p:txBody>
      </p:sp>
      <p:sp>
        <p:nvSpPr>
          <p:cNvPr id="12" name="Text 8"/>
          <p:cNvSpPr txBox="1"/>
          <p:nvPr/>
        </p:nvSpPr>
        <p:spPr>
          <a:xfrm>
            <a:off x="8211312" y="2075688"/>
            <a:ext cx="3264408" cy="4078224"/>
          </a:xfrm>
          <a:prstGeom prst="rect">
            <a:avLst/>
          </a:prstGeom>
          <a:noFill/>
          <a:ln/>
        </p:spPr>
        <p:txBody>
          <a:bodyPr wrap="square" lIns="0" tIns="0" rIns="0" bIns="0" rtlCol="0" anchor="t"/>
          <a:lstStyle/>
          <a:p>
            <a:pPr marL="177800" indent="-177800">
              <a:spcAft>
                <a:spcPts val="600"/>
              </a:spcAft>
              <a:buSzPct val="100000"/>
              <a:buChar char="•"/>
            </a:pPr>
            <a:r>
              <a:rPr lang="en-US" sz="1800" b="1" dirty="0">
                <a:solidFill>
                  <a:schemeClr val="tx1"/>
                </a:solidFill>
              </a:rPr>
              <a:t>Relative</a:t>
            </a:r>
            <a:r>
              <a:rPr lang="en-US" sz="1800" dirty="0">
                <a:solidFill>
                  <a:schemeClr val="tx1"/>
                </a:solidFill>
              </a:rPr>
              <a:t> : verbe conjugué à la </a:t>
            </a:r>
            <a:r>
              <a:rPr lang="en-US" sz="1800" b="1" dirty="0">
                <a:solidFill>
                  <a:schemeClr val="tx1"/>
                </a:solidFill>
              </a:rPr>
              <a:t>fin</a:t>
            </a:r>
            <a:r>
              <a:rPr lang="en-US" sz="1800" dirty="0">
                <a:solidFill>
                  <a:schemeClr val="tx1"/>
                </a:solidFill>
              </a:rPr>
              <a:t>.</a:t>
            </a:r>
            <a:endParaRPr lang="en-US" sz="1800" dirty="0"/>
          </a:p>
          <a:p>
            <a:pPr marL="177800" indent="-177800">
              <a:spcAft>
                <a:spcPts val="600"/>
              </a:spcAft>
              <a:buSzPct val="100000"/>
              <a:buChar char="•"/>
            </a:pPr>
            <a:r>
              <a:rPr lang="en-US" sz="1800" b="1" dirty="0">
                <a:solidFill>
                  <a:schemeClr val="tx1"/>
                </a:solidFill>
              </a:rPr>
              <a:t>de</a:t>
            </a:r>
            <a:r>
              <a:rPr lang="en-US" sz="1800" dirty="0">
                <a:solidFill>
                  <a:schemeClr val="tx1"/>
                </a:solidFill>
              </a:rPr>
              <a:t> (bleu) · </a:t>
            </a:r>
            <a:r>
              <a:rPr lang="en-US" sz="1800" b="1" dirty="0">
                <a:solidFill>
                  <a:schemeClr val="tx1"/>
                </a:solidFill>
              </a:rPr>
              <a:t>het</a:t>
            </a:r>
            <a:r>
              <a:rPr lang="en-US" sz="1800" dirty="0">
                <a:solidFill>
                  <a:schemeClr val="tx1"/>
                </a:solidFill>
              </a:rPr>
              <a:t> (magenta) : réviser les articles.</a:t>
            </a:r>
            <a:endParaRPr lang="en-US" sz="1800" dirty="0"/>
          </a:p>
          <a:p>
            <a:pPr marL="177800" indent="-177800">
              <a:spcAft>
                <a:spcPts val="600"/>
              </a:spcAft>
              <a:buSzPct val="100000"/>
              <a:buChar char="•"/>
            </a:pPr>
            <a:r>
              <a:rPr lang="en-US" sz="1800" b="1" dirty="0">
                <a:solidFill>
                  <a:schemeClr val="tx1"/>
                </a:solidFill>
              </a:rPr>
              <a:t>Passif</a:t>
            </a:r>
            <a:r>
              <a:rPr lang="en-US" sz="1800" dirty="0">
                <a:solidFill>
                  <a:schemeClr val="tx1"/>
                </a:solidFill>
              </a:rPr>
              <a:t> : worden + participe en fin de phrase.</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Séquence 7.2 : la langue officielle</a:t>
            </a:r>
            <a:endParaRPr lang="en-US" sz="3200" dirty="0"/>
          </a:p>
        </p:txBody>
      </p:sp>
      <p:sp>
        <p:nvSpPr>
          <p:cNvPr id="3" name="tag"/>
          <p:cNvSpPr/>
          <p:nvPr/>
        </p:nvSpPr>
        <p:spPr>
          <a:xfrm>
            <a:off x="548640" y="237744"/>
            <a:ext cx="937260" cy="310896"/>
          </a:xfrm>
          <a:prstGeom prst="roundRect">
            <a:avLst>
              <a:gd name="adj" fmla="val 14706"/>
            </a:avLst>
          </a:prstGeom>
          <a:solidFill>
            <a:schemeClr val="accent2"/>
          </a:solidFill>
          <a:ln/>
        </p:spPr>
        <p:txBody>
          <a:bodyPr wrap="square" lIns="0" tIns="0" rIns="0" bIns="0" rtlCol="0" anchor="ctr"/>
          <a:lstStyle/>
          <a:p>
            <a:pPr algn="ctr" indent="0" marL="0">
              <a:buNone/>
            </a:pPr>
            <a:r>
              <a:rPr lang="en-US" sz="1200" b="1" spc="100" kern="0" dirty="0">
                <a:solidFill>
                  <a:schemeClr val="bg1"/>
                </a:solidFill>
              </a:rPr>
              <a:t>FOCUS</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7</a:t>
            </a:r>
            <a:endParaRPr lang="en-US" sz="1200" dirty="0"/>
          </a:p>
        </p:txBody>
      </p:sp>
      <p:pic>
        <p:nvPicPr>
          <p:cNvPr id="6" name="illustration" descr="Illustration du syllabus">    </p:cNvPr>
          <p:cNvPicPr>
            <a:picLocks noChangeAspect="1"/>
          </p:cNvPicPr>
          <p:nvPr/>
        </p:nvPicPr>
        <p:blipFill>
          <a:blip r:embed="rId1"/>
          <a:stretch>
            <a:fillRect/>
          </a:stretch>
        </p:blipFill>
        <p:spPr>
          <a:xfrm>
            <a:off x="548640" y="1508760"/>
            <a:ext cx="6035040" cy="4025372"/>
          </a:xfrm>
          <a:prstGeom prst="rect">
            <a:avLst/>
          </a:prstGeom>
          <a:effectLst>
            <a:outerShdw sx="100000" sy="100000" kx="0" ky="0" algn="bl" rotWithShape="0" blurRad="101600" dist="25400" dir="3600000">
              <a:srgbClr val="000000">
                <a:alpha val="18000"/>
              </a:srgbClr>
            </a:outerShdw>
          </a:effectLst>
        </p:spPr>
      </p:pic>
      <p:sp>
        <p:nvSpPr>
          <p:cNvPr id="7" name="Shape 3"/>
          <p:cNvSpPr/>
          <p:nvPr/>
        </p:nvSpPr>
        <p:spPr>
          <a:xfrm>
            <a:off x="6995160" y="1508760"/>
            <a:ext cx="1600200" cy="868680"/>
          </a:xfrm>
          <a:prstGeom prst="roundRect">
            <a:avLst>
              <a:gd name="adj" fmla="val 8421"/>
            </a:avLst>
          </a:prstGeom>
          <a:solidFill>
            <a:schemeClr val="tx2"/>
          </a:solidFill>
          <a:ln/>
        </p:spPr>
      </p:sp>
      <p:sp>
        <p:nvSpPr>
          <p:cNvPr id="8" name="Text 4"/>
          <p:cNvSpPr txBox="1"/>
          <p:nvPr/>
        </p:nvSpPr>
        <p:spPr>
          <a:xfrm>
            <a:off x="6995160" y="1554480"/>
            <a:ext cx="1600200" cy="777240"/>
          </a:xfrm>
          <a:prstGeom prst="rect">
            <a:avLst/>
          </a:prstGeom>
          <a:noFill/>
          <a:ln/>
        </p:spPr>
        <p:txBody>
          <a:bodyPr wrap="square" lIns="0" tIns="0" rIns="0" bIns="0" rtlCol="0" anchor="ctr"/>
          <a:lstStyle/>
          <a:p>
            <a:pPr algn="ctr" indent="0" marL="0">
              <a:buNone/>
            </a:pPr>
            <a:r>
              <a:rPr lang="en-US" sz="1100" b="1" spc="200" kern="0" dirty="0">
                <a:solidFill>
                  <a:schemeClr val="bg2"/>
                </a:solidFill>
              </a:rPr>
              <a:t>SÉQUENCE</a:t>
            </a:r>
            <a:endParaRPr lang="en-US" sz="1100" dirty="0"/>
          </a:p>
          <a:p>
            <a:pPr algn="ctr" indent="0" marL="0">
              <a:buNone/>
            </a:pPr>
            <a:r>
              <a:rPr lang="en-US" sz="2400" b="1" dirty="0">
                <a:solidFill>
                  <a:schemeClr val="bg1"/>
                </a:solidFill>
                <a:latin typeface="+mj-lt" pitchFamily="34" charset="0"/>
                <a:ea typeface="+mj-lt" pitchFamily="34" charset="-122"/>
                <a:cs typeface="+mj-lt" pitchFamily="34" charset="-120"/>
              </a:rPr>
              <a:t>7.2</a:t>
            </a:r>
            <a:endParaRPr lang="en-US" sz="1100" dirty="0"/>
          </a:p>
        </p:txBody>
      </p:sp>
      <p:sp>
        <p:nvSpPr>
          <p:cNvPr id="9" name="Text 5"/>
          <p:cNvSpPr txBox="1"/>
          <p:nvPr/>
        </p:nvSpPr>
        <p:spPr>
          <a:xfrm>
            <a:off x="6995160" y="2560320"/>
            <a:ext cx="4645152" cy="2380488"/>
          </a:xfrm>
          <a:prstGeom prst="rect">
            <a:avLst/>
          </a:prstGeom>
          <a:noFill/>
          <a:ln/>
        </p:spPr>
        <p:txBody>
          <a:bodyPr wrap="square" lIns="0" tIns="0" rIns="0" bIns="0" rtlCol="0" anchor="t"/>
          <a:lstStyle/>
          <a:p>
            <a:pPr indent="0" marL="0">
              <a:spcAft>
                <a:spcPts val="1000"/>
              </a:spcAft>
              <a:buNone/>
            </a:pPr>
            <a:r>
              <a:rPr lang="en-US" sz="1500" i="1" dirty="0">
                <a:solidFill>
                  <a:schemeClr val="tx1"/>
                </a:solidFill>
              </a:rPr>
              <a:t>We beslissen morgen.</a:t>
            </a:r>
            <a:r>
              <a:rPr lang="en-US" sz="1500" dirty="0">
                <a:solidFill>
                  <a:schemeClr val="tx1"/>
                </a:solidFill>
              </a:rPr>
              <a:t> → </a:t>
            </a:r>
            <a:r>
              <a:rPr lang="en-US" sz="1500" i="1" dirty="0">
                <a:solidFill>
                  <a:schemeClr val="tx1"/>
                </a:solidFill>
              </a:rPr>
              <a:t>De </a:t>
            </a:r>
            <a:r>
              <a:rPr lang="en-US" sz="1500" b="1" i="1" dirty="0">
                <a:solidFill>
                  <a:schemeClr val="tx1"/>
                </a:solidFill>
              </a:rPr>
              <a:t>beslissing</a:t>
            </a:r>
            <a:r>
              <a:rPr lang="en-US" sz="1500" i="1" dirty="0">
                <a:solidFill>
                  <a:schemeClr val="tx1"/>
                </a:solidFill>
              </a:rPr>
              <a:t> valt morgen.</a:t>
            </a:r>
            <a:r>
              <a:rPr lang="en-US" sz="1500" dirty="0">
                <a:solidFill>
                  <a:schemeClr val="tx1"/>
                </a:solidFill>
              </a:rPr>
              <a:t> Les documents officiels parlent en </a:t>
            </a:r>
            <a:r>
              <a:rPr lang="en-US" sz="1500" b="1" dirty="0">
                <a:solidFill>
                  <a:schemeClr val="tx1"/>
                </a:solidFill>
              </a:rPr>
              <a:t>noms</a:t>
            </a:r>
            <a:r>
              <a:rPr lang="en-US" sz="1500" dirty="0">
                <a:solidFill>
                  <a:schemeClr val="tx1"/>
                </a:solidFill>
              </a:rPr>
              <a:t>.</a:t>
            </a:r>
            <a:endParaRPr lang="en-US" sz="1500" dirty="0"/>
          </a:p>
          <a:p>
            <a:pPr indent="0" marL="0">
              <a:spcAft>
                <a:spcPts val="1000"/>
              </a:spcAft>
              <a:buNone/>
            </a:pPr>
            <a:r>
              <a:rPr lang="en-US" sz="1500" b="1" dirty="0">
                <a:solidFill>
                  <a:schemeClr val="tx1"/>
                </a:solidFill>
              </a:rPr>
              <a:t>Focus : lignes 2, 4, 6 et 8</a:t>
            </a:r>
            <a:endParaRPr lang="en-US" sz="1500" dirty="0"/>
          </a:p>
          <a:p>
            <a:pPr indent="0" marL="0">
              <a:spcAft>
                <a:spcPts val="1000"/>
              </a:spcAft>
              <a:buNone/>
            </a:pPr>
            <a:r>
              <a:rPr lang="en-US" sz="1500" dirty="0">
                <a:solidFill>
                  <a:schemeClr val="tx1"/>
                </a:solidFill>
              </a:rPr>
              <a:t>«De </a:t>
            </a:r>
            <a:r>
              <a:rPr lang="en-US" sz="1500" b="1" dirty="0">
                <a:solidFill>
                  <a:schemeClr val="tx1"/>
                </a:solidFill>
              </a:rPr>
              <a:t>beslissing</a:t>
            </a:r>
            <a:r>
              <a:rPr lang="en-US" sz="1500" dirty="0">
                <a:solidFill>
                  <a:schemeClr val="tx1"/>
                </a:solidFill>
              </a:rPr>
              <a:t> werd uitgesteld… een </a:t>
            </a:r>
            <a:r>
              <a:rPr lang="en-US" sz="1500" b="1" dirty="0">
                <a:solidFill>
                  <a:schemeClr val="tx1"/>
                </a:solidFill>
              </a:rPr>
              <a:t>stemming</a:t>
            </a:r>
            <a:r>
              <a:rPr lang="en-US" sz="1500" dirty="0">
                <a:solidFill>
                  <a:schemeClr val="tx1"/>
                </a:solidFill>
              </a:rPr>
              <a:t> komen.»</a:t>
            </a:r>
            <a:endParaRPr lang="en-US" sz="1500" dirty="0"/>
          </a:p>
          <a:p>
            <a:pPr indent="0" marL="0">
              <a:spcAft>
                <a:spcPts val="1000"/>
              </a:spcAft>
              <a:buNone/>
            </a:pPr>
            <a:r>
              <a:rPr lang="en-US" sz="1500" dirty="0">
                <a:solidFill>
                  <a:schemeClr val="tx1"/>
                </a:solidFill>
              </a:rPr>
              <a:t>«De </a:t>
            </a:r>
            <a:r>
              <a:rPr lang="en-US" sz="1500" b="1" dirty="0">
                <a:solidFill>
                  <a:schemeClr val="tx1"/>
                </a:solidFill>
              </a:rPr>
              <a:t>verdeling</a:t>
            </a:r>
            <a:r>
              <a:rPr lang="en-US" sz="1500" dirty="0">
                <a:solidFill>
                  <a:schemeClr val="tx1"/>
                </a:solidFill>
              </a:rPr>
              <a:t> van de kosten…»</a:t>
            </a:r>
            <a:endParaRPr lang="en-US" sz="1500" dirty="0"/>
          </a:p>
          <a:p>
            <a:pPr indent="0" marL="0">
              <a:spcAft>
                <a:spcPts val="1000"/>
              </a:spcAft>
              <a:buNone/>
            </a:pPr>
            <a:r>
              <a:rPr lang="en-US" sz="1500" dirty="0">
                <a:solidFill>
                  <a:schemeClr val="tx1"/>
                </a:solidFill>
              </a:rPr>
              <a:t>«…voor </a:t>
            </a:r>
            <a:r>
              <a:rPr lang="en-US" sz="1500" b="1" dirty="0">
                <a:solidFill>
                  <a:schemeClr val="tx1"/>
                </a:solidFill>
              </a:rPr>
              <a:t>het uitstellen</a:t>
            </a:r>
            <a:r>
              <a:rPr lang="en-US" sz="1500" dirty="0">
                <a:solidFill>
                  <a:schemeClr val="tx1"/>
                </a:solidFill>
              </a:rPr>
              <a:t> van de werken.» · «</a:t>
            </a:r>
            <a:r>
              <a:rPr lang="en-US" sz="1500" b="1" dirty="0">
                <a:solidFill>
                  <a:schemeClr val="tx1"/>
                </a:solidFill>
              </a:rPr>
              <a:t>het vragen van</a:t>
            </a:r>
            <a:r>
              <a:rPr lang="en-US" sz="1500" dirty="0">
                <a:solidFill>
                  <a:schemeClr val="tx1"/>
                </a:solidFill>
              </a:rPr>
              <a:t> een offerte»</a:t>
            </a:r>
            <a:endParaRPr lang="en-US" sz="1500" dirty="0"/>
          </a:p>
        </p:txBody>
      </p:sp>
      <p:sp>
        <p:nvSpPr>
          <p:cNvPr id="10" name="Shape 6"/>
          <p:cNvSpPr/>
          <p:nvPr/>
        </p:nvSpPr>
        <p:spPr>
          <a:xfrm>
            <a:off x="6995160" y="5123688"/>
            <a:ext cx="4645152" cy="1167384"/>
          </a:xfrm>
          <a:prstGeom prst="roundRect">
            <a:avLst>
              <a:gd name="adj" fmla="val 6266"/>
            </a:avLst>
          </a:prstGeom>
          <a:solidFill>
            <a:schemeClr val="accent1">
              <a:alpha val="12000"/>
            </a:schemeClr>
          </a:solidFill>
          <a:ln w="12700">
            <a:solidFill>
              <a:srgbClr val="D9700F"/>
            </a:solidFill>
            <a:prstDash val="solid"/>
          </a:ln>
        </p:spPr>
      </p:sp>
      <p:sp>
        <p:nvSpPr>
          <p:cNvPr id="11" name="Text 7"/>
          <p:cNvSpPr txBox="1"/>
          <p:nvPr/>
        </p:nvSpPr>
        <p:spPr>
          <a:xfrm>
            <a:off x="7178040" y="5215128"/>
            <a:ext cx="4279392" cy="292608"/>
          </a:xfrm>
          <a:prstGeom prst="rect">
            <a:avLst/>
          </a:prstGeom>
          <a:noFill/>
          <a:ln/>
        </p:spPr>
        <p:txBody>
          <a:bodyPr wrap="square" lIns="0" tIns="0" rIns="0" bIns="0" rtlCol="0" anchor="ctr"/>
          <a:lstStyle/>
          <a:p>
            <a:pPr indent="0" marL="0">
              <a:buNone/>
            </a:pPr>
            <a:r>
              <a:rPr lang="en-US" sz="1200" b="1" spc="100" kern="0" dirty="0">
                <a:solidFill>
                  <a:schemeClr val="accent1"/>
                </a:solidFill>
              </a:rPr>
              <a:t>QUESTION À LA CLASSE</a:t>
            </a:r>
            <a:endParaRPr lang="en-US" sz="1200" dirty="0"/>
          </a:p>
        </p:txBody>
      </p:sp>
      <p:sp>
        <p:nvSpPr>
          <p:cNvPr id="12" name="Text 8"/>
          <p:cNvSpPr txBox="1"/>
          <p:nvPr/>
        </p:nvSpPr>
        <p:spPr>
          <a:xfrm>
            <a:off x="7178040" y="5507736"/>
            <a:ext cx="4279392" cy="710184"/>
          </a:xfrm>
          <a:prstGeom prst="rect">
            <a:avLst/>
          </a:prstGeom>
          <a:noFill/>
          <a:ln/>
        </p:spPr>
        <p:txBody>
          <a:bodyPr wrap="square" lIns="0" tIns="0" rIns="0" bIns="0" rtlCol="0" anchor="t"/>
          <a:lstStyle/>
          <a:p>
            <a:pPr indent="0" marL="0">
              <a:buNone/>
            </a:pPr>
            <a:r>
              <a:rPr lang="en-US" sz="1700" dirty="0">
                <a:solidFill>
                  <a:schemeClr val="tx1"/>
                </a:solidFill>
              </a:rPr>
              <a:t>Quel verbe se cache derrière « de goedkeuring » ?</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Werkwoord → naamwoord : +ing</a:t>
            </a:r>
            <a:endParaRPr lang="en-US" sz="3200" dirty="0"/>
          </a:p>
        </p:txBody>
      </p:sp>
      <p:sp>
        <p:nvSpPr>
          <p:cNvPr id="3" name="tag"/>
          <p:cNvSpPr/>
          <p:nvPr/>
        </p:nvSpPr>
        <p:spPr>
          <a:xfrm>
            <a:off x="548640" y="237744"/>
            <a:ext cx="1508760"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chemeClr val="bg1"/>
                </a:solidFill>
              </a:rPr>
              <a:t>GRAMMATICA</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8</a:t>
            </a:r>
            <a:endParaRPr lang="en-US" sz="1200" dirty="0"/>
          </a:p>
        </p:txBody>
      </p:sp>
      <p:pic>
        <p:nvPicPr>
          <p:cNvPr id="6" name="illustration" descr="Illustration du syllabus">    </p:cNvPr>
          <p:cNvPicPr>
            <a:picLocks noChangeAspect="1"/>
          </p:cNvPicPr>
          <p:nvPr/>
        </p:nvPicPr>
        <p:blipFill>
          <a:blip r:embed="rId1"/>
          <a:stretch>
            <a:fillRect/>
          </a:stretch>
        </p:blipFill>
        <p:spPr>
          <a:xfrm>
            <a:off x="548640" y="1481328"/>
            <a:ext cx="7205472" cy="4808461"/>
          </a:xfrm>
          <a:prstGeom prst="rect">
            <a:avLst/>
          </a:prstGeom>
          <a:effectLst>
            <a:outerShdw sx="100000" sy="100000" kx="0" ky="0" algn="bl" rotWithShape="0" blurRad="101600" dist="25400" dir="3600000">
              <a:srgbClr val="000000">
                <a:alpha val="18000"/>
              </a:srgbClr>
            </a:outerShdw>
          </a:effectLst>
        </p:spPr>
      </p:pic>
      <p:sp>
        <p:nvSpPr>
          <p:cNvPr id="7" name="aside"/>
          <p:cNvSpPr/>
          <p:nvPr/>
        </p:nvSpPr>
        <p:spPr>
          <a:xfrm>
            <a:off x="8074152" y="1481328"/>
            <a:ext cx="3566160" cy="4809744"/>
          </a:xfrm>
          <a:prstGeom prst="roundRect">
            <a:avLst>
              <a:gd name="adj" fmla="val 2051"/>
            </a:avLst>
          </a:prstGeom>
          <a:solidFill>
            <a:schemeClr val="accent2">
              <a:alpha val="10000"/>
            </a:schemeClr>
          </a:solidFill>
          <a:ln w="12700">
            <a:solidFill>
              <a:schemeClr val="accent2">
                <a:alpha val="60000"/>
              </a:schemeClr>
            </a:solidFill>
            <a:prstDash val="solid"/>
          </a:ln>
        </p:spPr>
      </p:sp>
      <p:pic>
        <p:nvPicPr>
          <p:cNvPr id="8" name="Image 1" descr="preencoded.png">    </p:cNvPr>
          <p:cNvPicPr>
            <a:picLocks noChangeAspect="1"/>
          </p:cNvPicPr>
          <p:nvPr/>
        </p:nvPicPr>
        <p:blipFill>
          <a:blip r:embed="rId2"/>
          <a:stretch>
            <a:fillRect/>
          </a:stretch>
        </p:blipFill>
        <p:spPr>
          <a:xfrm>
            <a:off x="8257032" y="1664208"/>
            <a:ext cx="292608" cy="292608"/>
          </a:xfrm>
          <a:prstGeom prst="rect">
            <a:avLst/>
          </a:prstGeom>
        </p:spPr>
      </p:pic>
      <p:sp>
        <p:nvSpPr>
          <p:cNvPr id="9" name="Text 4"/>
          <p:cNvSpPr txBox="1"/>
          <p:nvPr/>
        </p:nvSpPr>
        <p:spPr>
          <a:xfrm>
            <a:off x="8641080" y="1636776"/>
            <a:ext cx="2834640" cy="347472"/>
          </a:xfrm>
          <a:prstGeom prst="rect">
            <a:avLst/>
          </a:prstGeom>
          <a:noFill/>
          <a:ln/>
        </p:spPr>
        <p:txBody>
          <a:bodyPr wrap="square" lIns="0" tIns="0" rIns="0" bIns="0" rtlCol="0" anchor="ctr"/>
          <a:lstStyle/>
          <a:p>
            <a:pPr indent="0" marL="0">
              <a:buNone/>
            </a:pPr>
            <a:r>
              <a:rPr lang="en-US" sz="1400" b="1" spc="100" kern="0" dirty="0">
                <a:solidFill>
                  <a:schemeClr val="accent2"/>
                </a:solidFill>
              </a:rPr>
              <a:t>RÈGLE D’OR</a:t>
            </a:r>
            <a:endParaRPr lang="en-US" sz="1400" dirty="0"/>
          </a:p>
        </p:txBody>
      </p:sp>
      <p:sp>
        <p:nvSpPr>
          <p:cNvPr id="10" name="Text 5"/>
          <p:cNvSpPr txBox="1"/>
          <p:nvPr/>
        </p:nvSpPr>
        <p:spPr>
          <a:xfrm>
            <a:off x="8238744" y="2075688"/>
            <a:ext cx="3236976" cy="4078224"/>
          </a:xfrm>
          <a:prstGeom prst="rect">
            <a:avLst/>
          </a:prstGeom>
          <a:noFill/>
          <a:ln/>
        </p:spPr>
        <p:txBody>
          <a:bodyPr wrap="square" lIns="0" tIns="0" rIns="0" bIns="0" rtlCol="0" anchor="t"/>
          <a:lstStyle/>
          <a:p>
            <a:pPr marL="177800" indent="-177800">
              <a:spcAft>
                <a:spcPts val="600"/>
              </a:spcAft>
              <a:buSzPct val="100000"/>
              <a:buChar char="•"/>
            </a:pPr>
            <a:r>
              <a:rPr lang="en-US" sz="1800" b="1" dirty="0">
                <a:solidFill>
                  <a:schemeClr val="tx1"/>
                </a:solidFill>
              </a:rPr>
              <a:t>beslissen → de beslissing</a:t>
            </a:r>
            <a:r>
              <a:rPr lang="en-US" sz="1800" dirty="0">
                <a:solidFill>
                  <a:schemeClr val="tx1"/>
                </a:solidFill>
              </a:rPr>
              <a:t> · </a:t>
            </a:r>
            <a:r>
              <a:rPr lang="en-US" sz="1800" b="1" dirty="0">
                <a:solidFill>
                  <a:schemeClr val="tx1"/>
                </a:solidFill>
              </a:rPr>
              <a:t>stemmen → de stemming</a:t>
            </a:r>
            <a:r>
              <a:rPr lang="en-US" sz="1800" dirty="0">
                <a:solidFill>
                  <a:schemeClr val="tx1"/>
                </a:solidFill>
              </a:rPr>
              <a:t> · </a:t>
            </a:r>
            <a:r>
              <a:rPr lang="en-US" sz="1800" b="1" dirty="0">
                <a:solidFill>
                  <a:schemeClr val="tx1"/>
                </a:solidFill>
              </a:rPr>
              <a:t>verdelen → de verdeling</a:t>
            </a:r>
            <a:r>
              <a:rPr lang="en-US" sz="1800" dirty="0">
                <a:solidFill>
                  <a:schemeClr val="tx1"/>
                </a:solidFill>
              </a:rPr>
              <a:t> · </a:t>
            </a:r>
            <a:r>
              <a:rPr lang="en-US" sz="1800" b="1" dirty="0">
                <a:solidFill>
                  <a:schemeClr val="tx1"/>
                </a:solidFill>
              </a:rPr>
              <a:t>goedkeuren → de goedkeuring</a:t>
            </a:r>
            <a:endParaRPr lang="en-US" sz="1800" dirty="0"/>
          </a:p>
          <a:p>
            <a:pPr marL="177800" indent="-177800">
              <a:spcAft>
                <a:spcPts val="600"/>
              </a:spcAft>
              <a:buSzPct val="100000"/>
              <a:buChar char="•"/>
            </a:pPr>
            <a:r>
              <a:rPr lang="en-US" sz="1800" b="1" dirty="0">
                <a:solidFill>
                  <a:schemeClr val="tx1"/>
                </a:solidFill>
              </a:rPr>
              <a:t>nom + van + complément</a:t>
            </a:r>
            <a:r>
              <a:rPr lang="en-US" sz="1800" dirty="0">
                <a:solidFill>
                  <a:schemeClr val="tx1"/>
                </a:solidFill>
              </a:rPr>
              <a:t> : </a:t>
            </a:r>
            <a:r>
              <a:rPr lang="en-US" sz="1800" i="1" dirty="0">
                <a:solidFill>
                  <a:schemeClr val="tx1"/>
                </a:solidFill>
              </a:rPr>
              <a:t>de verdeling van de kosten</a:t>
            </a:r>
            <a:r>
              <a:rPr lang="en-US" sz="1800" dirty="0">
                <a:solidFill>
                  <a:schemeClr val="tx1"/>
                </a:solidFill>
              </a:rPr>
              <a:t>.</a:t>
            </a:r>
            <a:endParaRPr lang="en-US" sz="1800" dirty="0"/>
          </a:p>
          <a:p>
            <a:pPr marL="177800" indent="-177800">
              <a:spcAft>
                <a:spcPts val="600"/>
              </a:spcAft>
              <a:buSzPct val="100000"/>
              <a:buChar char="•"/>
            </a:pPr>
            <a:r>
              <a:rPr lang="en-US" sz="1800" dirty="0">
                <a:solidFill>
                  <a:schemeClr val="tx1"/>
                </a:solidFill>
              </a:rPr>
              <a:t>Tous les noms en </a:t>
            </a:r>
            <a:r>
              <a:rPr lang="en-US" sz="1800" b="1" dirty="0">
                <a:solidFill>
                  <a:schemeClr val="tx1"/>
                </a:solidFill>
              </a:rPr>
              <a:t>-ing</a:t>
            </a:r>
            <a:r>
              <a:rPr lang="en-US" sz="1800" dirty="0">
                <a:solidFill>
                  <a:schemeClr val="tx1"/>
                </a:solidFill>
              </a:rPr>
              <a:t> prennent l’article </a:t>
            </a:r>
            <a:r>
              <a:rPr lang="en-US" sz="1800" b="1" dirty="0">
                <a:solidFill>
                  <a:schemeClr val="tx1"/>
                </a:solidFill>
              </a:rPr>
              <a:t>de</a:t>
            </a:r>
            <a:r>
              <a:rPr lang="en-US" sz="1800" dirty="0">
                <a:solidFill>
                  <a:schemeClr val="tx1"/>
                </a:solidFill>
              </a:rPr>
              <a:t>.</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Quatre procédés de nominalisation</a:t>
            </a:r>
            <a:endParaRPr lang="en-US" sz="3200" dirty="0"/>
          </a:p>
        </p:txBody>
      </p:sp>
      <p:sp>
        <p:nvSpPr>
          <p:cNvPr id="3" name="tag"/>
          <p:cNvSpPr/>
          <p:nvPr/>
        </p:nvSpPr>
        <p:spPr>
          <a:xfrm>
            <a:off x="548640" y="237744"/>
            <a:ext cx="1531620"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chemeClr val="bg1"/>
                </a:solidFill>
              </a:rPr>
              <a:t>À RETENIR</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8</a:t>
            </a:r>
            <a:endParaRPr lang="en-US" sz="1200" dirty="0"/>
          </a:p>
        </p:txBody>
      </p:sp>
      <p:sp>
        <p:nvSpPr>
          <p:cNvPr id="6" name="Shape 3"/>
          <p:cNvSpPr/>
          <p:nvPr/>
        </p:nvSpPr>
        <p:spPr>
          <a:xfrm>
            <a:off x="548640" y="1481328"/>
            <a:ext cx="2567178" cy="3883152"/>
          </a:xfrm>
          <a:prstGeom prst="roundRect">
            <a:avLst>
              <a:gd name="adj" fmla="val 3562"/>
            </a:avLst>
          </a:prstGeom>
          <a:solidFill>
            <a:schemeClr val="bg1"/>
          </a:solidFill>
          <a:ln w="12700">
            <a:solidFill>
              <a:srgbClr val="D5DCE6"/>
            </a:solidFill>
            <a:prstDash val="solid"/>
          </a:ln>
          <a:effectLst>
            <a:outerShdw sx="100000" sy="100000" kx="0" ky="0" algn="bl" rotWithShape="0" blurRad="101600" dist="25400" dir="3600000">
              <a:srgbClr val="000000">
                <a:alpha val="18000"/>
              </a:srgbClr>
            </a:outerShdw>
          </a:effectLst>
        </p:spPr>
      </p:sp>
      <p:sp>
        <p:nvSpPr>
          <p:cNvPr id="7" name="Shape 4"/>
          <p:cNvSpPr/>
          <p:nvPr/>
        </p:nvSpPr>
        <p:spPr>
          <a:xfrm>
            <a:off x="548640" y="1481328"/>
            <a:ext cx="2567178" cy="502920"/>
          </a:xfrm>
          <a:prstGeom prst="roundRect">
            <a:avLst>
              <a:gd name="adj" fmla="val 18182"/>
            </a:avLst>
          </a:prstGeom>
          <a:solidFill>
            <a:schemeClr val="accent2"/>
          </a:solidFill>
          <a:ln/>
        </p:spPr>
      </p:sp>
      <p:sp>
        <p:nvSpPr>
          <p:cNvPr id="8" name="Shape 5"/>
          <p:cNvSpPr/>
          <p:nvPr/>
        </p:nvSpPr>
        <p:spPr>
          <a:xfrm>
            <a:off x="548640" y="1801368"/>
            <a:ext cx="2567178" cy="182880"/>
          </a:xfrm>
          <a:prstGeom prst="rect">
            <a:avLst/>
          </a:prstGeom>
          <a:solidFill>
            <a:schemeClr val="accent2"/>
          </a:solidFill>
          <a:ln w="12700">
            <a:solidFill>
              <a:schemeClr val="accent2"/>
            </a:solidFill>
            <a:prstDash val="solid"/>
          </a:ln>
        </p:spPr>
      </p:sp>
      <p:sp>
        <p:nvSpPr>
          <p:cNvPr id="9" name="Text 6"/>
          <p:cNvSpPr txBox="1"/>
          <p:nvPr/>
        </p:nvSpPr>
        <p:spPr>
          <a:xfrm>
            <a:off x="731520" y="1481328"/>
            <a:ext cx="2201418" cy="502920"/>
          </a:xfrm>
          <a:prstGeom prst="rect">
            <a:avLst/>
          </a:prstGeom>
          <a:noFill/>
          <a:ln/>
        </p:spPr>
        <p:txBody>
          <a:bodyPr wrap="square" lIns="0" tIns="0" rIns="0" bIns="0" rtlCol="0" anchor="ctr"/>
          <a:lstStyle/>
          <a:p>
            <a:pPr indent="0" marL="0">
              <a:buNone/>
            </a:pPr>
            <a:r>
              <a:rPr lang="en-US" sz="1500" b="1" spc="100" kern="0" dirty="0">
                <a:solidFill>
                  <a:schemeClr val="bg1"/>
                </a:solidFill>
              </a:rPr>
              <a:t>① -ING</a:t>
            </a:r>
            <a:endParaRPr lang="en-US" sz="1500" dirty="0"/>
          </a:p>
        </p:txBody>
      </p:sp>
      <p:sp>
        <p:nvSpPr>
          <p:cNvPr id="10" name="Text 7"/>
          <p:cNvSpPr txBox="1"/>
          <p:nvPr/>
        </p:nvSpPr>
        <p:spPr>
          <a:xfrm>
            <a:off x="731520" y="2084832"/>
            <a:ext cx="2201418" cy="405384"/>
          </a:xfrm>
          <a:prstGeom prst="rect">
            <a:avLst/>
          </a:prstGeom>
          <a:noFill/>
          <a:ln/>
        </p:spPr>
        <p:txBody>
          <a:bodyPr wrap="square" lIns="0" tIns="0" rIns="0" bIns="0" rtlCol="0" anchor="t"/>
          <a:lstStyle/>
          <a:p>
            <a:pPr indent="0" marL="0">
              <a:buNone/>
            </a:pPr>
            <a:r>
              <a:rPr lang="en-US" sz="2400" b="1" dirty="0">
                <a:solidFill>
                  <a:schemeClr val="accent2"/>
                </a:solidFill>
                <a:latin typeface="+mj-lt" pitchFamily="34" charset="0"/>
                <a:ea typeface="+mj-lt" pitchFamily="34" charset="-122"/>
                <a:cs typeface="+mj-lt" pitchFamily="34" charset="-120"/>
              </a:rPr>
              <a:t>de stemming</a:t>
            </a:r>
            <a:endParaRPr lang="en-US" sz="2400" dirty="0"/>
          </a:p>
        </p:txBody>
      </p:sp>
      <p:sp>
        <p:nvSpPr>
          <p:cNvPr id="11" name="Text 8"/>
          <p:cNvSpPr txBox="1"/>
          <p:nvPr/>
        </p:nvSpPr>
        <p:spPr>
          <a:xfrm>
            <a:off x="731520" y="2627376"/>
            <a:ext cx="2201418" cy="2627376"/>
          </a:xfrm>
          <a:prstGeom prst="rect">
            <a:avLst/>
          </a:prstGeom>
          <a:noFill/>
          <a:ln/>
        </p:spPr>
        <p:txBody>
          <a:bodyPr wrap="square" lIns="0" tIns="0" rIns="0" bIns="0" rtlCol="0" anchor="t"/>
          <a:lstStyle/>
          <a:p>
            <a:pPr marL="177800" indent="-177800">
              <a:spcAft>
                <a:spcPts val="600"/>
              </a:spcAft>
              <a:buSzPct val="100000"/>
              <a:buChar char="•"/>
            </a:pPr>
            <a:r>
              <a:rPr lang="en-US" sz="2000" dirty="0">
                <a:solidFill>
                  <a:schemeClr val="tx1"/>
                </a:solidFill>
              </a:rPr>
              <a:t>verbe (radical) + </a:t>
            </a:r>
            <a:r>
              <a:rPr lang="en-US" sz="2000" b="1" dirty="0">
                <a:solidFill>
                  <a:schemeClr val="tx1"/>
                </a:solidFill>
              </a:rPr>
              <a:t>-ing</a:t>
            </a:r>
            <a:endParaRPr lang="en-US" sz="2000" dirty="0"/>
          </a:p>
          <a:p>
            <a:pPr marL="177800" indent="-177800">
              <a:spcAft>
                <a:spcPts val="600"/>
              </a:spcAft>
              <a:buSzPct val="100000"/>
              <a:buChar char="•"/>
            </a:pPr>
            <a:r>
              <a:rPr lang="en-US" sz="2000" dirty="0">
                <a:solidFill>
                  <a:schemeClr val="tx1"/>
                </a:solidFill>
              </a:rPr>
              <a:t>nom </a:t>
            </a:r>
            <a:r>
              <a:rPr lang="en-US" sz="2000" b="1" dirty="0">
                <a:solidFill>
                  <a:schemeClr val="tx1"/>
                </a:solidFill>
              </a:rPr>
              <a:t>de</a:t>
            </a:r>
            <a:endParaRPr lang="en-US" sz="2000" dirty="0"/>
          </a:p>
          <a:p>
            <a:pPr marL="177800" indent="-177800">
              <a:spcAft>
                <a:spcPts val="600"/>
              </a:spcAft>
              <a:buSzPct val="100000"/>
              <a:buChar char="•"/>
            </a:pPr>
            <a:r>
              <a:rPr lang="en-US" sz="2000" i="1" dirty="0">
                <a:solidFill>
                  <a:schemeClr val="tx1"/>
                </a:solidFill>
              </a:rPr>
              <a:t>vergaderen → de vergadering</a:t>
            </a:r>
            <a:endParaRPr lang="en-US" sz="2000" dirty="0"/>
          </a:p>
          <a:p>
            <a:pPr marL="177800" indent="-177800">
              <a:spcAft>
                <a:spcPts val="600"/>
              </a:spcAft>
              <a:buSzPct val="100000"/>
              <a:buChar char="•"/>
            </a:pPr>
            <a:r>
              <a:rPr lang="en-US" sz="2000" i="1" dirty="0">
                <a:solidFill>
                  <a:schemeClr val="tx1"/>
                </a:solidFill>
              </a:rPr>
              <a:t>herstellen → de herstelling</a:t>
            </a:r>
            <a:endParaRPr lang="en-US" sz="2000" dirty="0"/>
          </a:p>
        </p:txBody>
      </p:sp>
      <p:sp>
        <p:nvSpPr>
          <p:cNvPr id="12" name="Shape 9"/>
          <p:cNvSpPr/>
          <p:nvPr/>
        </p:nvSpPr>
        <p:spPr>
          <a:xfrm>
            <a:off x="3390138" y="1481328"/>
            <a:ext cx="2567178" cy="3883152"/>
          </a:xfrm>
          <a:prstGeom prst="roundRect">
            <a:avLst>
              <a:gd name="adj" fmla="val 3562"/>
            </a:avLst>
          </a:prstGeom>
          <a:solidFill>
            <a:schemeClr val="bg1"/>
          </a:solidFill>
          <a:ln w="12700">
            <a:solidFill>
              <a:srgbClr val="D5DCE6"/>
            </a:solidFill>
            <a:prstDash val="solid"/>
          </a:ln>
          <a:effectLst>
            <a:outerShdw sx="100000" sy="100000" kx="0" ky="0" algn="bl" rotWithShape="0" blurRad="101600" dist="25400" dir="3600000">
              <a:srgbClr val="000000">
                <a:alpha val="18000"/>
              </a:srgbClr>
            </a:outerShdw>
          </a:effectLst>
        </p:spPr>
      </p:sp>
      <p:sp>
        <p:nvSpPr>
          <p:cNvPr id="13" name="Shape 10"/>
          <p:cNvSpPr/>
          <p:nvPr/>
        </p:nvSpPr>
        <p:spPr>
          <a:xfrm>
            <a:off x="3390138" y="1481328"/>
            <a:ext cx="2567178" cy="502920"/>
          </a:xfrm>
          <a:prstGeom prst="roundRect">
            <a:avLst>
              <a:gd name="adj" fmla="val 18182"/>
            </a:avLst>
          </a:prstGeom>
          <a:solidFill>
            <a:schemeClr val="accent3"/>
          </a:solidFill>
          <a:ln/>
        </p:spPr>
      </p:sp>
      <p:sp>
        <p:nvSpPr>
          <p:cNvPr id="14" name="Shape 11"/>
          <p:cNvSpPr/>
          <p:nvPr/>
        </p:nvSpPr>
        <p:spPr>
          <a:xfrm>
            <a:off x="3390138" y="1801368"/>
            <a:ext cx="2567178" cy="182880"/>
          </a:xfrm>
          <a:prstGeom prst="rect">
            <a:avLst/>
          </a:prstGeom>
          <a:solidFill>
            <a:schemeClr val="accent3"/>
          </a:solidFill>
          <a:ln w="12700">
            <a:solidFill>
              <a:schemeClr val="accent3"/>
            </a:solidFill>
            <a:prstDash val="solid"/>
          </a:ln>
        </p:spPr>
      </p:sp>
      <p:sp>
        <p:nvSpPr>
          <p:cNvPr id="15" name="Text 12"/>
          <p:cNvSpPr txBox="1"/>
          <p:nvPr/>
        </p:nvSpPr>
        <p:spPr>
          <a:xfrm>
            <a:off x="3573018" y="1481328"/>
            <a:ext cx="2201418" cy="502920"/>
          </a:xfrm>
          <a:prstGeom prst="rect">
            <a:avLst/>
          </a:prstGeom>
          <a:noFill/>
          <a:ln/>
        </p:spPr>
        <p:txBody>
          <a:bodyPr wrap="square" lIns="0" tIns="0" rIns="0" bIns="0" rtlCol="0" anchor="ctr"/>
          <a:lstStyle/>
          <a:p>
            <a:pPr indent="0" marL="0">
              <a:buNone/>
            </a:pPr>
            <a:r>
              <a:rPr lang="en-US" sz="1500" b="1" spc="100" kern="0" dirty="0">
                <a:solidFill>
                  <a:schemeClr val="bg1"/>
                </a:solidFill>
              </a:rPr>
              <a:t>② HET + INFINITIF</a:t>
            </a:r>
            <a:endParaRPr lang="en-US" sz="1500" dirty="0"/>
          </a:p>
        </p:txBody>
      </p:sp>
      <p:sp>
        <p:nvSpPr>
          <p:cNvPr id="16" name="Text 13"/>
          <p:cNvSpPr txBox="1"/>
          <p:nvPr/>
        </p:nvSpPr>
        <p:spPr>
          <a:xfrm>
            <a:off x="3573018" y="2084832"/>
            <a:ext cx="2201418" cy="405384"/>
          </a:xfrm>
          <a:prstGeom prst="rect">
            <a:avLst/>
          </a:prstGeom>
          <a:noFill/>
          <a:ln/>
        </p:spPr>
        <p:txBody>
          <a:bodyPr wrap="square" lIns="0" tIns="0" rIns="0" bIns="0" rtlCol="0" anchor="t"/>
          <a:lstStyle/>
          <a:p>
            <a:pPr indent="0" marL="0">
              <a:buNone/>
            </a:pPr>
            <a:r>
              <a:rPr lang="en-US" sz="2400" b="1" dirty="0">
                <a:solidFill>
                  <a:schemeClr val="accent3"/>
                </a:solidFill>
                <a:latin typeface="+mj-lt" pitchFamily="34" charset="0"/>
                <a:ea typeface="+mj-lt" pitchFamily="34" charset="-122"/>
                <a:cs typeface="+mj-lt" pitchFamily="34" charset="-120"/>
              </a:rPr>
              <a:t>het uitstellen</a:t>
            </a:r>
            <a:endParaRPr lang="en-US" sz="2400" dirty="0"/>
          </a:p>
        </p:txBody>
      </p:sp>
      <p:sp>
        <p:nvSpPr>
          <p:cNvPr id="17" name="Text 14"/>
          <p:cNvSpPr txBox="1"/>
          <p:nvPr/>
        </p:nvSpPr>
        <p:spPr>
          <a:xfrm>
            <a:off x="3573018" y="2627376"/>
            <a:ext cx="2201418" cy="2627376"/>
          </a:xfrm>
          <a:prstGeom prst="rect">
            <a:avLst/>
          </a:prstGeom>
          <a:noFill/>
          <a:ln/>
        </p:spPr>
        <p:txBody>
          <a:bodyPr wrap="square" lIns="0" tIns="0" rIns="0" bIns="0" rtlCol="0" anchor="t"/>
          <a:lstStyle/>
          <a:p>
            <a:pPr marL="177800" indent="-177800">
              <a:spcAft>
                <a:spcPts val="600"/>
              </a:spcAft>
              <a:buSzPct val="100000"/>
              <a:buChar char="•"/>
            </a:pPr>
            <a:r>
              <a:rPr lang="en-US" sz="2000" b="1" dirty="0">
                <a:solidFill>
                  <a:schemeClr val="tx1"/>
                </a:solidFill>
              </a:rPr>
              <a:t>toujours possible</a:t>
            </a:r>
            <a:endParaRPr lang="en-US" sz="2000" dirty="0"/>
          </a:p>
          <a:p>
            <a:pPr marL="177800" indent="-177800">
              <a:spcAft>
                <a:spcPts val="600"/>
              </a:spcAft>
              <a:buSzPct val="100000"/>
              <a:buChar char="•"/>
            </a:pPr>
            <a:r>
              <a:rPr lang="en-US" sz="2000" dirty="0">
                <a:solidFill>
                  <a:schemeClr val="tx1"/>
                </a:solidFill>
              </a:rPr>
              <a:t>ton neutre · nom </a:t>
            </a:r>
            <a:r>
              <a:rPr lang="en-US" sz="2000" b="1" dirty="0">
                <a:solidFill>
                  <a:schemeClr val="tx1"/>
                </a:solidFill>
              </a:rPr>
              <a:t>het</a:t>
            </a:r>
            <a:endParaRPr lang="en-US" sz="2000" dirty="0"/>
          </a:p>
          <a:p>
            <a:pPr marL="177800" indent="-177800">
              <a:spcAft>
                <a:spcPts val="600"/>
              </a:spcAft>
              <a:buSzPct val="100000"/>
              <a:buChar char="•"/>
            </a:pPr>
            <a:r>
              <a:rPr lang="en-US" sz="2000" i="1" dirty="0">
                <a:solidFill>
                  <a:schemeClr val="tx1"/>
                </a:solidFill>
              </a:rPr>
              <a:t>het uitstellen van de werken</a:t>
            </a:r>
            <a:endParaRPr lang="en-US" sz="2000" dirty="0"/>
          </a:p>
          <a:p>
            <a:pPr marL="177800" indent="-177800">
              <a:spcAft>
                <a:spcPts val="600"/>
              </a:spcAft>
              <a:buSzPct val="100000"/>
              <a:buChar char="•"/>
            </a:pPr>
            <a:r>
              <a:rPr lang="en-US" sz="2000" i="1" dirty="0">
                <a:solidFill>
                  <a:schemeClr val="tx1"/>
                </a:solidFill>
              </a:rPr>
              <a:t>het vragen van een offerte</a:t>
            </a:r>
            <a:endParaRPr lang="en-US" sz="2000" dirty="0"/>
          </a:p>
        </p:txBody>
      </p:sp>
      <p:sp>
        <p:nvSpPr>
          <p:cNvPr id="18" name="Shape 15"/>
          <p:cNvSpPr/>
          <p:nvPr/>
        </p:nvSpPr>
        <p:spPr>
          <a:xfrm>
            <a:off x="6231636" y="1481328"/>
            <a:ext cx="2567178" cy="3883152"/>
          </a:xfrm>
          <a:prstGeom prst="roundRect">
            <a:avLst>
              <a:gd name="adj" fmla="val 3562"/>
            </a:avLst>
          </a:prstGeom>
          <a:solidFill>
            <a:schemeClr val="bg1"/>
          </a:solidFill>
          <a:ln w="12700">
            <a:solidFill>
              <a:srgbClr val="D5DCE6"/>
            </a:solidFill>
            <a:prstDash val="solid"/>
          </a:ln>
          <a:effectLst>
            <a:outerShdw sx="100000" sy="100000" kx="0" ky="0" algn="bl" rotWithShape="0" blurRad="101600" dist="25400" dir="3600000">
              <a:srgbClr val="000000">
                <a:alpha val="18000"/>
              </a:srgbClr>
            </a:outerShdw>
          </a:effectLst>
        </p:spPr>
      </p:sp>
      <p:sp>
        <p:nvSpPr>
          <p:cNvPr id="19" name="Shape 16"/>
          <p:cNvSpPr/>
          <p:nvPr/>
        </p:nvSpPr>
        <p:spPr>
          <a:xfrm>
            <a:off x="6231636" y="1481328"/>
            <a:ext cx="2567178" cy="502920"/>
          </a:xfrm>
          <a:prstGeom prst="roundRect">
            <a:avLst>
              <a:gd name="adj" fmla="val 18182"/>
            </a:avLst>
          </a:prstGeom>
          <a:solidFill>
            <a:schemeClr val="accent1"/>
          </a:solidFill>
          <a:ln/>
        </p:spPr>
      </p:sp>
      <p:sp>
        <p:nvSpPr>
          <p:cNvPr id="20" name="Shape 17"/>
          <p:cNvSpPr/>
          <p:nvPr/>
        </p:nvSpPr>
        <p:spPr>
          <a:xfrm>
            <a:off x="6231636" y="1801368"/>
            <a:ext cx="2567178" cy="182880"/>
          </a:xfrm>
          <a:prstGeom prst="rect">
            <a:avLst/>
          </a:prstGeom>
          <a:solidFill>
            <a:schemeClr val="accent1"/>
          </a:solidFill>
          <a:ln w="12700">
            <a:solidFill>
              <a:schemeClr val="accent1"/>
            </a:solidFill>
            <a:prstDash val="solid"/>
          </a:ln>
        </p:spPr>
      </p:sp>
      <p:sp>
        <p:nvSpPr>
          <p:cNvPr id="21" name="Text 18"/>
          <p:cNvSpPr txBox="1"/>
          <p:nvPr/>
        </p:nvSpPr>
        <p:spPr>
          <a:xfrm>
            <a:off x="6414516" y="1481328"/>
            <a:ext cx="2201418" cy="502920"/>
          </a:xfrm>
          <a:prstGeom prst="rect">
            <a:avLst/>
          </a:prstGeom>
          <a:noFill/>
          <a:ln/>
        </p:spPr>
        <p:txBody>
          <a:bodyPr wrap="square" lIns="0" tIns="0" rIns="0" bIns="0" rtlCol="0" anchor="ctr"/>
          <a:lstStyle/>
          <a:p>
            <a:pPr indent="0" marL="0">
              <a:buNone/>
            </a:pPr>
            <a:r>
              <a:rPr lang="en-US" sz="1500" b="1" spc="100" kern="0" dirty="0">
                <a:solidFill>
                  <a:schemeClr val="bg1"/>
                </a:solidFill>
              </a:rPr>
              <a:t>③ -HEID</a:t>
            </a:r>
            <a:endParaRPr lang="en-US" sz="1500" dirty="0"/>
          </a:p>
        </p:txBody>
      </p:sp>
      <p:sp>
        <p:nvSpPr>
          <p:cNvPr id="22" name="Text 19"/>
          <p:cNvSpPr txBox="1"/>
          <p:nvPr/>
        </p:nvSpPr>
        <p:spPr>
          <a:xfrm>
            <a:off x="6414516" y="2084832"/>
            <a:ext cx="2201418" cy="405384"/>
          </a:xfrm>
          <a:prstGeom prst="rect">
            <a:avLst/>
          </a:prstGeom>
          <a:noFill/>
          <a:ln/>
        </p:spPr>
        <p:txBody>
          <a:bodyPr wrap="square" lIns="0" tIns="0" rIns="0" bIns="0" rtlCol="0" anchor="t"/>
          <a:lstStyle/>
          <a:p>
            <a:pPr indent="0" marL="0">
              <a:buNone/>
            </a:pPr>
            <a:r>
              <a:rPr lang="en-US" sz="2400" b="1" dirty="0">
                <a:solidFill>
                  <a:schemeClr val="accent1"/>
                </a:solidFill>
                <a:latin typeface="+mj-lt" pitchFamily="34" charset="0"/>
                <a:ea typeface="+mj-lt" pitchFamily="34" charset="-122"/>
                <a:cs typeface="+mj-lt" pitchFamily="34" charset="-120"/>
              </a:rPr>
              <a:t>de veiligheid</a:t>
            </a:r>
            <a:endParaRPr lang="en-US" sz="2400" dirty="0"/>
          </a:p>
        </p:txBody>
      </p:sp>
      <p:sp>
        <p:nvSpPr>
          <p:cNvPr id="23" name="Text 20"/>
          <p:cNvSpPr txBox="1"/>
          <p:nvPr/>
        </p:nvSpPr>
        <p:spPr>
          <a:xfrm>
            <a:off x="6414516" y="2627376"/>
            <a:ext cx="2201418" cy="2627376"/>
          </a:xfrm>
          <a:prstGeom prst="rect">
            <a:avLst/>
          </a:prstGeom>
          <a:noFill/>
          <a:ln/>
        </p:spPr>
        <p:txBody>
          <a:bodyPr wrap="square" lIns="0" tIns="0" rIns="0" bIns="0" rtlCol="0" anchor="t"/>
          <a:lstStyle/>
          <a:p>
            <a:pPr marL="177800" indent="-177800">
              <a:spcAft>
                <a:spcPts val="600"/>
              </a:spcAft>
              <a:buSzPct val="100000"/>
              <a:buChar char="•"/>
            </a:pPr>
            <a:r>
              <a:rPr lang="en-US" sz="2000" dirty="0">
                <a:solidFill>
                  <a:schemeClr val="tx1"/>
                </a:solidFill>
              </a:rPr>
              <a:t>adjectif + </a:t>
            </a:r>
            <a:r>
              <a:rPr lang="en-US" sz="2000" b="1" dirty="0">
                <a:solidFill>
                  <a:schemeClr val="tx1"/>
                </a:solidFill>
              </a:rPr>
              <a:t>-heid</a:t>
            </a:r>
            <a:endParaRPr lang="en-US" sz="2000" dirty="0"/>
          </a:p>
          <a:p>
            <a:pPr marL="177800" indent="-177800">
              <a:spcAft>
                <a:spcPts val="600"/>
              </a:spcAft>
              <a:buSzPct val="100000"/>
              <a:buChar char="•"/>
            </a:pPr>
            <a:r>
              <a:rPr lang="en-US" sz="2000" dirty="0">
                <a:solidFill>
                  <a:schemeClr val="tx1"/>
                </a:solidFill>
              </a:rPr>
              <a:t>nom </a:t>
            </a:r>
            <a:r>
              <a:rPr lang="en-US" sz="2000" b="1" dirty="0">
                <a:solidFill>
                  <a:schemeClr val="tx1"/>
                </a:solidFill>
              </a:rPr>
              <a:t>de</a:t>
            </a:r>
            <a:endParaRPr lang="en-US" sz="2000" dirty="0"/>
          </a:p>
          <a:p>
            <a:pPr marL="177800" indent="-177800">
              <a:spcAft>
                <a:spcPts val="600"/>
              </a:spcAft>
              <a:buSzPct val="100000"/>
              <a:buChar char="•"/>
            </a:pPr>
            <a:r>
              <a:rPr lang="en-US" sz="2000" i="1" dirty="0">
                <a:solidFill>
                  <a:schemeClr val="tx1"/>
                </a:solidFill>
              </a:rPr>
              <a:t>veilig → de veiligheid</a:t>
            </a:r>
            <a:endParaRPr lang="en-US" sz="2000" dirty="0"/>
          </a:p>
          <a:p>
            <a:pPr marL="177800" indent="-177800">
              <a:spcAft>
                <a:spcPts val="600"/>
              </a:spcAft>
              <a:buSzPct val="100000"/>
              <a:buChar char="•"/>
            </a:pPr>
            <a:r>
              <a:rPr lang="en-US" sz="2000" i="1" dirty="0">
                <a:solidFill>
                  <a:schemeClr val="tx1"/>
                </a:solidFill>
              </a:rPr>
              <a:t>aanwezig → de aanwezigheid</a:t>
            </a:r>
            <a:endParaRPr lang="en-US" sz="2000" dirty="0"/>
          </a:p>
        </p:txBody>
      </p:sp>
      <p:sp>
        <p:nvSpPr>
          <p:cNvPr id="24" name="Shape 21"/>
          <p:cNvSpPr/>
          <p:nvPr/>
        </p:nvSpPr>
        <p:spPr>
          <a:xfrm>
            <a:off x="9073134" y="1481328"/>
            <a:ext cx="2567178" cy="3883152"/>
          </a:xfrm>
          <a:prstGeom prst="roundRect">
            <a:avLst>
              <a:gd name="adj" fmla="val 3562"/>
            </a:avLst>
          </a:prstGeom>
          <a:solidFill>
            <a:schemeClr val="bg1"/>
          </a:solidFill>
          <a:ln w="12700">
            <a:solidFill>
              <a:srgbClr val="D5DCE6"/>
            </a:solidFill>
            <a:prstDash val="solid"/>
          </a:ln>
          <a:effectLst>
            <a:outerShdw sx="100000" sy="100000" kx="0" ky="0" algn="bl" rotWithShape="0" blurRad="101600" dist="25400" dir="3600000">
              <a:srgbClr val="000000">
                <a:alpha val="18000"/>
              </a:srgbClr>
            </a:outerShdw>
          </a:effectLst>
        </p:spPr>
      </p:sp>
      <p:sp>
        <p:nvSpPr>
          <p:cNvPr id="25" name="Shape 22"/>
          <p:cNvSpPr/>
          <p:nvPr/>
        </p:nvSpPr>
        <p:spPr>
          <a:xfrm>
            <a:off x="9073134" y="1481328"/>
            <a:ext cx="2567178" cy="502920"/>
          </a:xfrm>
          <a:prstGeom prst="roundRect">
            <a:avLst>
              <a:gd name="adj" fmla="val 18182"/>
            </a:avLst>
          </a:prstGeom>
          <a:solidFill>
            <a:schemeClr val="accent4"/>
          </a:solidFill>
          <a:ln/>
        </p:spPr>
      </p:sp>
      <p:sp>
        <p:nvSpPr>
          <p:cNvPr id="26" name="Shape 23"/>
          <p:cNvSpPr/>
          <p:nvPr/>
        </p:nvSpPr>
        <p:spPr>
          <a:xfrm>
            <a:off x="9073134" y="1801368"/>
            <a:ext cx="2567178" cy="182880"/>
          </a:xfrm>
          <a:prstGeom prst="rect">
            <a:avLst/>
          </a:prstGeom>
          <a:solidFill>
            <a:schemeClr val="accent4"/>
          </a:solidFill>
          <a:ln w="12700">
            <a:solidFill>
              <a:schemeClr val="accent4"/>
            </a:solidFill>
            <a:prstDash val="solid"/>
          </a:ln>
        </p:spPr>
      </p:sp>
      <p:sp>
        <p:nvSpPr>
          <p:cNvPr id="27" name="Text 24"/>
          <p:cNvSpPr txBox="1"/>
          <p:nvPr/>
        </p:nvSpPr>
        <p:spPr>
          <a:xfrm>
            <a:off x="9256014" y="1481328"/>
            <a:ext cx="2201418" cy="502920"/>
          </a:xfrm>
          <a:prstGeom prst="rect">
            <a:avLst/>
          </a:prstGeom>
          <a:noFill/>
          <a:ln/>
        </p:spPr>
        <p:txBody>
          <a:bodyPr wrap="square" lIns="0" tIns="0" rIns="0" bIns="0" rtlCol="0" anchor="ctr"/>
          <a:lstStyle/>
          <a:p>
            <a:pPr indent="0" marL="0">
              <a:buNone/>
            </a:pPr>
            <a:r>
              <a:rPr lang="en-US" sz="1500" b="1" spc="100" kern="0" dirty="0">
                <a:solidFill>
                  <a:schemeClr val="bg1"/>
                </a:solidFill>
              </a:rPr>
              <a:t>④ -TEIT / -ATIE</a:t>
            </a:r>
            <a:endParaRPr lang="en-US" sz="1500" dirty="0"/>
          </a:p>
        </p:txBody>
      </p:sp>
      <p:sp>
        <p:nvSpPr>
          <p:cNvPr id="28" name="Text 25"/>
          <p:cNvSpPr txBox="1"/>
          <p:nvPr/>
        </p:nvSpPr>
        <p:spPr>
          <a:xfrm>
            <a:off x="9256014" y="2084832"/>
            <a:ext cx="2201418" cy="405384"/>
          </a:xfrm>
          <a:prstGeom prst="rect">
            <a:avLst/>
          </a:prstGeom>
          <a:noFill/>
          <a:ln/>
        </p:spPr>
        <p:txBody>
          <a:bodyPr wrap="square" lIns="0" tIns="0" rIns="0" bIns="0" rtlCol="0" anchor="t"/>
          <a:lstStyle/>
          <a:p>
            <a:pPr indent="0" marL="0">
              <a:buNone/>
            </a:pPr>
            <a:r>
              <a:rPr lang="en-US" sz="2400" b="1" dirty="0">
                <a:solidFill>
                  <a:schemeClr val="accent4"/>
                </a:solidFill>
                <a:latin typeface="+mj-lt" pitchFamily="34" charset="0"/>
                <a:ea typeface="+mj-lt" pitchFamily="34" charset="-122"/>
                <a:cs typeface="+mj-lt" pitchFamily="34" charset="-120"/>
              </a:rPr>
              <a:t>de renovatie</a:t>
            </a:r>
            <a:endParaRPr lang="en-US" sz="2400" dirty="0"/>
          </a:p>
        </p:txBody>
      </p:sp>
      <p:sp>
        <p:nvSpPr>
          <p:cNvPr id="29" name="Text 26"/>
          <p:cNvSpPr txBox="1"/>
          <p:nvPr/>
        </p:nvSpPr>
        <p:spPr>
          <a:xfrm>
            <a:off x="9256014" y="2627376"/>
            <a:ext cx="2201418" cy="2627376"/>
          </a:xfrm>
          <a:prstGeom prst="rect">
            <a:avLst/>
          </a:prstGeom>
          <a:noFill/>
          <a:ln/>
        </p:spPr>
        <p:txBody>
          <a:bodyPr wrap="square" lIns="0" tIns="0" rIns="0" bIns="0" rtlCol="0" anchor="t"/>
          <a:lstStyle/>
          <a:p>
            <a:pPr marL="177800" indent="-177800">
              <a:spcAft>
                <a:spcPts val="600"/>
              </a:spcAft>
              <a:buSzPct val="100000"/>
              <a:buChar char="•"/>
            </a:pPr>
            <a:r>
              <a:rPr lang="en-US" sz="2000" dirty="0">
                <a:solidFill>
                  <a:schemeClr val="tx1"/>
                </a:solidFill>
              </a:rPr>
              <a:t>mots d’origine </a:t>
            </a:r>
            <a:r>
              <a:rPr lang="en-US" sz="2000" b="1" dirty="0">
                <a:solidFill>
                  <a:schemeClr val="tx1"/>
                </a:solidFill>
              </a:rPr>
              <a:t>latine</a:t>
            </a:r>
            <a:endParaRPr lang="en-US" sz="2000" dirty="0"/>
          </a:p>
          <a:p>
            <a:pPr marL="177800" indent="-177800">
              <a:spcAft>
                <a:spcPts val="600"/>
              </a:spcAft>
              <a:buSzPct val="100000"/>
              <a:buChar char="•"/>
            </a:pPr>
            <a:r>
              <a:rPr lang="en-US" sz="2000" dirty="0">
                <a:solidFill>
                  <a:schemeClr val="tx1"/>
                </a:solidFill>
              </a:rPr>
              <a:t>nom </a:t>
            </a:r>
            <a:r>
              <a:rPr lang="en-US" sz="2000" b="1" dirty="0">
                <a:solidFill>
                  <a:schemeClr val="tx1"/>
                </a:solidFill>
              </a:rPr>
              <a:t>de</a:t>
            </a:r>
            <a:endParaRPr lang="en-US" sz="2000" dirty="0"/>
          </a:p>
          <a:p>
            <a:pPr marL="177800" indent="-177800">
              <a:spcAft>
                <a:spcPts val="600"/>
              </a:spcAft>
              <a:buSzPct val="100000"/>
              <a:buChar char="•"/>
            </a:pPr>
            <a:r>
              <a:rPr lang="en-US" sz="2000" i="1" dirty="0">
                <a:solidFill>
                  <a:schemeClr val="tx1"/>
                </a:solidFill>
              </a:rPr>
              <a:t>de kwaliteit · de quotiteit</a:t>
            </a:r>
            <a:endParaRPr lang="en-US" sz="2000" dirty="0"/>
          </a:p>
          <a:p>
            <a:pPr marL="177800" indent="-177800">
              <a:spcAft>
                <a:spcPts val="600"/>
              </a:spcAft>
              <a:buSzPct val="100000"/>
              <a:buChar char="•"/>
            </a:pPr>
            <a:r>
              <a:rPr lang="en-US" sz="2000" i="1" dirty="0">
                <a:solidFill>
                  <a:schemeClr val="tx1"/>
                </a:solidFill>
              </a:rPr>
              <a:t>de organisatie · de renovatie</a:t>
            </a:r>
            <a:endParaRPr lang="en-US" sz="2000" dirty="0"/>
          </a:p>
        </p:txBody>
      </p:sp>
      <p:sp>
        <p:nvSpPr>
          <p:cNvPr id="30" name="Shape 27"/>
          <p:cNvSpPr/>
          <p:nvPr/>
        </p:nvSpPr>
        <p:spPr>
          <a:xfrm>
            <a:off x="548640" y="5565648"/>
            <a:ext cx="11091672" cy="725424"/>
          </a:xfrm>
          <a:prstGeom prst="roundRect">
            <a:avLst>
              <a:gd name="adj" fmla="val 10084"/>
            </a:avLst>
          </a:prstGeom>
          <a:solidFill>
            <a:schemeClr val="accent6">
              <a:alpha val="10000"/>
            </a:schemeClr>
          </a:solidFill>
          <a:ln w="9525">
            <a:solidFill>
              <a:schemeClr val="accent6">
                <a:alpha val="70000"/>
              </a:schemeClr>
            </a:solidFill>
            <a:prstDash val="solid"/>
          </a:ln>
        </p:spPr>
      </p:sp>
      <p:pic>
        <p:nvPicPr>
          <p:cNvPr id="31" name="Image 0" descr="preencoded.png">    </p:cNvPr>
          <p:cNvPicPr>
            <a:picLocks noChangeAspect="1"/>
          </p:cNvPicPr>
          <p:nvPr/>
        </p:nvPicPr>
        <p:blipFill>
          <a:blip r:embed="rId1"/>
          <a:stretch>
            <a:fillRect/>
          </a:stretch>
        </p:blipFill>
        <p:spPr>
          <a:xfrm>
            <a:off x="749808" y="5763768"/>
            <a:ext cx="329184" cy="329184"/>
          </a:xfrm>
          <a:prstGeom prst="rect">
            <a:avLst/>
          </a:prstGeom>
        </p:spPr>
      </p:pic>
      <p:sp>
        <p:nvSpPr>
          <p:cNvPr id="32" name="Text 28"/>
          <p:cNvSpPr txBox="1"/>
          <p:nvPr/>
        </p:nvSpPr>
        <p:spPr>
          <a:xfrm>
            <a:off x="1234440" y="5602224"/>
            <a:ext cx="10287000" cy="652272"/>
          </a:xfrm>
          <a:prstGeom prst="rect">
            <a:avLst/>
          </a:prstGeom>
          <a:noFill/>
          <a:ln/>
        </p:spPr>
        <p:txBody>
          <a:bodyPr wrap="square" lIns="0" tIns="0" rIns="0" bIns="0" rtlCol="0" anchor="ctr"/>
          <a:lstStyle/>
          <a:p>
            <a:pPr indent="0" marL="0">
              <a:buNone/>
            </a:pPr>
            <a:r>
              <a:rPr lang="en-US" sz="1700" b="1" dirty="0">
                <a:solidFill>
                  <a:schemeClr val="accent6"/>
                </a:solidFill>
              </a:rPr>
              <a:t>Piège pour francophones — </a:t>
            </a:r>
            <a:r>
              <a:rPr lang="en-US" sz="1700" dirty="0">
                <a:solidFill>
                  <a:schemeClr val="tx1"/>
                </a:solidFill>
              </a:rPr>
              <a:t>Le français nominalise avec </a:t>
            </a:r>
            <a:r>
              <a:rPr lang="en-US" sz="1700" i="1" dirty="0">
                <a:solidFill>
                  <a:schemeClr val="tx1"/>
                </a:solidFill>
              </a:rPr>
              <a:t>-tion, -ment</a:t>
            </a:r>
            <a:r>
              <a:rPr lang="en-US" sz="1700" dirty="0">
                <a:solidFill>
                  <a:schemeClr val="tx1"/>
                </a:solidFill>
              </a:rPr>
              <a:t> (décision, remplacement) ; le néerlandais ajoute </a:t>
            </a:r>
            <a:r>
              <a:rPr lang="en-US" sz="1700" b="1" dirty="0">
                <a:solidFill>
                  <a:schemeClr val="tx1"/>
                </a:solidFill>
              </a:rPr>
              <a:t>-ing</a:t>
            </a:r>
            <a:r>
              <a:rPr lang="en-US" sz="1700" dirty="0">
                <a:solidFill>
                  <a:schemeClr val="tx1"/>
                </a:solidFill>
              </a:rPr>
              <a:t> au radical : </a:t>
            </a:r>
            <a:r>
              <a:rPr lang="en-US" sz="1700" i="1" dirty="0">
                <a:solidFill>
                  <a:schemeClr val="tx1"/>
                </a:solidFill>
              </a:rPr>
              <a:t>vervangen → de vervang</a:t>
            </a:r>
            <a:r>
              <a:rPr lang="en-US" sz="1700" b="1" i="1" dirty="0">
                <a:solidFill>
                  <a:schemeClr val="tx1"/>
                </a:solidFill>
              </a:rPr>
              <a:t>ing</a:t>
            </a:r>
            <a:r>
              <a:rPr lang="en-US" sz="1700" dirty="0">
                <a:solidFill>
                  <a:schemeClr val="tx1"/>
                </a:solidFill>
              </a:rPr>
              <a:t>. Seul </a:t>
            </a:r>
            <a:r>
              <a:rPr lang="en-US" sz="1700" b="1" dirty="0">
                <a:solidFill>
                  <a:schemeClr val="tx1"/>
                </a:solidFill>
              </a:rPr>
              <a:t>het + infinitif</a:t>
            </a:r>
            <a:r>
              <a:rPr lang="en-US" sz="1700" dirty="0">
                <a:solidFill>
                  <a:schemeClr val="tx1"/>
                </a:solidFill>
              </a:rPr>
              <a:t> donne un nom en </a:t>
            </a:r>
            <a:r>
              <a:rPr lang="en-US" sz="1700" b="1" dirty="0">
                <a:solidFill>
                  <a:schemeClr val="tx1"/>
                </a:solidFill>
              </a:rPr>
              <a:t>het</a:t>
            </a:r>
            <a:r>
              <a:rPr lang="en-US" sz="1700" dirty="0">
                <a:solidFill>
                  <a:schemeClr val="tx1"/>
                </a:solidFill>
              </a:rPr>
              <a:t>.</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Du verbe au nom : le complément passe par « van »</a:t>
            </a:r>
            <a:endParaRPr lang="en-US" sz="3200" dirty="0"/>
          </a:p>
        </p:txBody>
      </p:sp>
      <p:sp>
        <p:nvSpPr>
          <p:cNvPr id="3" name="tag"/>
          <p:cNvSpPr/>
          <p:nvPr/>
        </p:nvSpPr>
        <p:spPr>
          <a:xfrm>
            <a:off x="548640" y="237744"/>
            <a:ext cx="1508760"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chemeClr val="bg1"/>
                </a:solidFill>
              </a:rPr>
              <a:t>GRAMMATICA</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9</a:t>
            </a:r>
            <a:endParaRPr lang="en-US" sz="1200" dirty="0"/>
          </a:p>
        </p:txBody>
      </p:sp>
      <p:sp>
        <p:nvSpPr>
          <p:cNvPr id="6" name="Text 3"/>
          <p:cNvSpPr txBox="1"/>
          <p:nvPr/>
        </p:nvSpPr>
        <p:spPr>
          <a:xfrm>
            <a:off x="548640" y="1481328"/>
            <a:ext cx="11091672" cy="329184"/>
          </a:xfrm>
          <a:prstGeom prst="rect">
            <a:avLst/>
          </a:prstGeom>
          <a:noFill/>
          <a:ln/>
        </p:spPr>
        <p:txBody>
          <a:bodyPr wrap="square" lIns="0" tIns="0" rIns="0" bIns="0" rtlCol="0" anchor="t"/>
          <a:lstStyle/>
          <a:p>
            <a:pPr indent="0" marL="0">
              <a:buNone/>
            </a:pPr>
            <a:r>
              <a:rPr lang="en-US" sz="1800" dirty="0">
                <a:solidFill>
                  <a:schemeClr val="tx1"/>
                </a:solidFill>
              </a:rPr>
              <a:t>Le complément du verbe devient un </a:t>
            </a:r>
            <a:r>
              <a:rPr lang="en-US" sz="1800" b="1" dirty="0">
                <a:solidFill>
                  <a:schemeClr val="tx1"/>
                </a:solidFill>
              </a:rPr>
              <a:t>complément en van</a:t>
            </a:r>
            <a:r>
              <a:rPr lang="en-US" sz="1800" dirty="0">
                <a:solidFill>
                  <a:schemeClr val="tx1"/>
                </a:solidFill>
              </a:rPr>
              <a:t> : l’objet reste identique, le verbe devient un </a:t>
            </a:r>
            <a:r>
              <a:rPr lang="en-US" sz="1800" b="1" dirty="0">
                <a:solidFill>
                  <a:schemeClr val="tx1"/>
                </a:solidFill>
              </a:rPr>
              <a:t>nom</a:t>
            </a:r>
            <a:r>
              <a:rPr lang="en-US" sz="1800" dirty="0">
                <a:solidFill>
                  <a:schemeClr val="tx1"/>
                </a:solidFill>
              </a:rPr>
              <a:t>.</a:t>
            </a:r>
            <a:endParaRPr lang="en-US" sz="1800" dirty="0"/>
          </a:p>
        </p:txBody>
      </p:sp>
      <p:sp>
        <p:nvSpPr>
          <p:cNvPr id="7" name="Text 4"/>
          <p:cNvSpPr txBox="1"/>
          <p:nvPr/>
        </p:nvSpPr>
        <p:spPr>
          <a:xfrm>
            <a:off x="548640" y="2185416"/>
            <a:ext cx="1463040" cy="329184"/>
          </a:xfrm>
          <a:prstGeom prst="rect">
            <a:avLst/>
          </a:prstGeom>
          <a:noFill/>
          <a:ln/>
        </p:spPr>
        <p:txBody>
          <a:bodyPr wrap="square" lIns="0" tIns="0" rIns="0" bIns="0" rtlCol="0" anchor="ctr"/>
          <a:lstStyle/>
          <a:p>
            <a:pPr indent="0" marL="0">
              <a:buNone/>
            </a:pPr>
            <a:r>
              <a:rPr lang="en-US" sz="1400" b="1" dirty="0">
                <a:solidFill>
                  <a:schemeClr val="accent5"/>
                </a:solidFill>
              </a:rPr>
              <a:t>Verbe</a:t>
            </a:r>
            <a:endParaRPr lang="en-US" sz="1400" dirty="0"/>
          </a:p>
        </p:txBody>
      </p:sp>
      <p:sp>
        <p:nvSpPr>
          <p:cNvPr id="8" name="Text 5"/>
          <p:cNvSpPr txBox="1"/>
          <p:nvPr/>
        </p:nvSpPr>
        <p:spPr>
          <a:xfrm>
            <a:off x="2103120" y="1947672"/>
            <a:ext cx="685800" cy="219456"/>
          </a:xfrm>
          <a:prstGeom prst="rect">
            <a:avLst/>
          </a:prstGeom>
          <a:noFill/>
          <a:ln/>
        </p:spPr>
        <p:txBody>
          <a:bodyPr wrap="square" lIns="0" tIns="0" rIns="0" bIns="0" rtlCol="0" anchor="b"/>
          <a:lstStyle/>
          <a:p>
            <a:pPr algn="ctr" indent="0" marL="0">
              <a:buNone/>
            </a:pPr>
            <a:r>
              <a:rPr lang="en-US" sz="1000" b="1" dirty="0">
                <a:solidFill>
                  <a:schemeClr val="tx2"/>
                </a:solidFill>
              </a:rPr>
              <a:t>sujet</a:t>
            </a:r>
            <a:endParaRPr lang="en-US" sz="1000" dirty="0"/>
          </a:p>
        </p:txBody>
      </p:sp>
      <p:sp>
        <p:nvSpPr>
          <p:cNvPr id="9" name="Shape 6"/>
          <p:cNvSpPr/>
          <p:nvPr/>
        </p:nvSpPr>
        <p:spPr>
          <a:xfrm>
            <a:off x="2103120" y="2185416"/>
            <a:ext cx="685800" cy="329184"/>
          </a:xfrm>
          <a:prstGeom prst="roundRect">
            <a:avLst>
              <a:gd name="adj" fmla="val 16667"/>
            </a:avLst>
          </a:prstGeom>
          <a:solidFill>
            <a:schemeClr val="tx2">
              <a:alpha val="88000"/>
            </a:schemeClr>
          </a:solidFill>
          <a:ln w="12700">
            <a:solidFill>
              <a:srgbClr val="17375E"/>
            </a:solidFill>
            <a:prstDash val="solid"/>
          </a:ln>
        </p:spPr>
      </p:sp>
      <p:sp>
        <p:nvSpPr>
          <p:cNvPr id="10" name="Text 7"/>
          <p:cNvSpPr txBox="1"/>
          <p:nvPr/>
        </p:nvSpPr>
        <p:spPr>
          <a:xfrm>
            <a:off x="2139696" y="2185416"/>
            <a:ext cx="612648" cy="329184"/>
          </a:xfrm>
          <a:prstGeom prst="rect">
            <a:avLst/>
          </a:prstGeom>
          <a:noFill/>
          <a:ln/>
        </p:spPr>
        <p:txBody>
          <a:bodyPr wrap="square" lIns="0" tIns="0" rIns="0" bIns="0" rtlCol="0" anchor="ctr"/>
          <a:lstStyle/>
          <a:p>
            <a:pPr algn="ctr" indent="0" marL="0">
              <a:buNone/>
            </a:pPr>
            <a:r>
              <a:rPr lang="en-US" sz="1600" b="1" dirty="0">
                <a:solidFill>
                  <a:schemeClr val="bg1"/>
                </a:solidFill>
              </a:rPr>
              <a:t>We</a:t>
            </a:r>
            <a:endParaRPr lang="en-US" sz="1600" dirty="0"/>
          </a:p>
        </p:txBody>
      </p:sp>
      <p:sp>
        <p:nvSpPr>
          <p:cNvPr id="11" name="Text 8"/>
          <p:cNvSpPr txBox="1"/>
          <p:nvPr/>
        </p:nvSpPr>
        <p:spPr>
          <a:xfrm>
            <a:off x="2898648" y="1947672"/>
            <a:ext cx="1174496" cy="219456"/>
          </a:xfrm>
          <a:prstGeom prst="rect">
            <a:avLst/>
          </a:prstGeom>
          <a:noFill/>
          <a:ln/>
        </p:spPr>
        <p:txBody>
          <a:bodyPr wrap="square" lIns="0" tIns="0" rIns="0" bIns="0" rtlCol="0" anchor="b"/>
          <a:lstStyle/>
          <a:p>
            <a:pPr algn="ctr" indent="0" marL="0">
              <a:buNone/>
            </a:pPr>
            <a:r>
              <a:rPr lang="en-US" sz="1000" b="1" dirty="0">
                <a:solidFill>
                  <a:schemeClr val="accent6"/>
                </a:solidFill>
              </a:rPr>
              <a:t>verbe</a:t>
            </a:r>
            <a:endParaRPr lang="en-US" sz="1000" dirty="0"/>
          </a:p>
        </p:txBody>
      </p:sp>
      <p:sp>
        <p:nvSpPr>
          <p:cNvPr id="12" name="Shape 9"/>
          <p:cNvSpPr/>
          <p:nvPr/>
        </p:nvSpPr>
        <p:spPr>
          <a:xfrm>
            <a:off x="2898648" y="2185416"/>
            <a:ext cx="1174496" cy="329184"/>
          </a:xfrm>
          <a:prstGeom prst="roundRect">
            <a:avLst>
              <a:gd name="adj" fmla="val 16667"/>
            </a:avLst>
          </a:prstGeom>
          <a:solidFill>
            <a:schemeClr val="accent6">
              <a:alpha val="88000"/>
            </a:schemeClr>
          </a:solidFill>
          <a:ln w="12700">
            <a:solidFill>
              <a:srgbClr val="B83227"/>
            </a:solidFill>
            <a:prstDash val="solid"/>
          </a:ln>
        </p:spPr>
      </p:sp>
      <p:sp>
        <p:nvSpPr>
          <p:cNvPr id="13" name="Text 10"/>
          <p:cNvSpPr txBox="1"/>
          <p:nvPr/>
        </p:nvSpPr>
        <p:spPr>
          <a:xfrm>
            <a:off x="2935224" y="2185416"/>
            <a:ext cx="1101344" cy="329184"/>
          </a:xfrm>
          <a:prstGeom prst="rect">
            <a:avLst/>
          </a:prstGeom>
          <a:noFill/>
          <a:ln/>
        </p:spPr>
        <p:txBody>
          <a:bodyPr wrap="square" lIns="0" tIns="0" rIns="0" bIns="0" rtlCol="0" anchor="ctr"/>
          <a:lstStyle/>
          <a:p>
            <a:pPr algn="ctr" indent="0" marL="0">
              <a:buNone/>
            </a:pPr>
            <a:r>
              <a:rPr lang="en-US" sz="1600" b="1" dirty="0">
                <a:solidFill>
                  <a:schemeClr val="bg1"/>
                </a:solidFill>
              </a:rPr>
              <a:t>verdelen</a:t>
            </a:r>
            <a:endParaRPr lang="en-US" sz="1600" dirty="0"/>
          </a:p>
        </p:txBody>
      </p:sp>
      <p:sp>
        <p:nvSpPr>
          <p:cNvPr id="14" name="Text 11"/>
          <p:cNvSpPr txBox="1"/>
          <p:nvPr/>
        </p:nvSpPr>
        <p:spPr>
          <a:xfrm>
            <a:off x="4182872" y="1947672"/>
            <a:ext cx="1280160" cy="219456"/>
          </a:xfrm>
          <a:prstGeom prst="rect">
            <a:avLst/>
          </a:prstGeom>
          <a:noFill/>
          <a:ln/>
        </p:spPr>
        <p:txBody>
          <a:bodyPr wrap="square" lIns="0" tIns="0" rIns="0" bIns="0" rtlCol="0" anchor="b"/>
          <a:lstStyle/>
          <a:p>
            <a:pPr algn="ctr" indent="0" marL="0">
              <a:buNone/>
            </a:pPr>
            <a:r>
              <a:rPr lang="en-US" sz="1000" b="1" dirty="0">
                <a:solidFill>
                  <a:schemeClr val="accent5"/>
                </a:solidFill>
              </a:rPr>
              <a:t>objet</a:t>
            </a:r>
            <a:endParaRPr lang="en-US" sz="1000" dirty="0"/>
          </a:p>
        </p:txBody>
      </p:sp>
      <p:sp>
        <p:nvSpPr>
          <p:cNvPr id="15" name="Shape 12"/>
          <p:cNvSpPr/>
          <p:nvPr/>
        </p:nvSpPr>
        <p:spPr>
          <a:xfrm>
            <a:off x="4182872" y="2185416"/>
            <a:ext cx="1280160" cy="329184"/>
          </a:xfrm>
          <a:prstGeom prst="roundRect">
            <a:avLst>
              <a:gd name="adj" fmla="val 16667"/>
            </a:avLst>
          </a:prstGeom>
          <a:solidFill>
            <a:schemeClr val="accent5">
              <a:alpha val="25000"/>
            </a:schemeClr>
          </a:solidFill>
          <a:ln w="12700">
            <a:solidFill>
              <a:srgbClr val="4A5A70"/>
            </a:solidFill>
            <a:prstDash val="solid"/>
          </a:ln>
        </p:spPr>
      </p:sp>
      <p:sp>
        <p:nvSpPr>
          <p:cNvPr id="16" name="Text 13"/>
          <p:cNvSpPr txBox="1"/>
          <p:nvPr/>
        </p:nvSpPr>
        <p:spPr>
          <a:xfrm>
            <a:off x="4219448" y="2185416"/>
            <a:ext cx="1207008" cy="329184"/>
          </a:xfrm>
          <a:prstGeom prst="rect">
            <a:avLst/>
          </a:prstGeom>
          <a:noFill/>
          <a:ln/>
        </p:spPr>
        <p:txBody>
          <a:bodyPr wrap="square" lIns="0" tIns="0" rIns="0" bIns="0" rtlCol="0" anchor="ctr"/>
          <a:lstStyle/>
          <a:p>
            <a:pPr algn="ctr" indent="0" marL="0">
              <a:buNone/>
            </a:pPr>
            <a:r>
              <a:rPr lang="en-US" sz="1600" b="1" dirty="0">
                <a:solidFill>
                  <a:schemeClr val="tx1"/>
                </a:solidFill>
              </a:rPr>
              <a:t>de kosten</a:t>
            </a:r>
            <a:endParaRPr lang="en-US" sz="1600" dirty="0"/>
          </a:p>
        </p:txBody>
      </p:sp>
      <p:sp>
        <p:nvSpPr>
          <p:cNvPr id="17" name="Text 14"/>
          <p:cNvSpPr txBox="1"/>
          <p:nvPr/>
        </p:nvSpPr>
        <p:spPr>
          <a:xfrm>
            <a:off x="2103120" y="2542032"/>
            <a:ext cx="9537192" cy="274320"/>
          </a:xfrm>
          <a:prstGeom prst="rect">
            <a:avLst/>
          </a:prstGeom>
          <a:noFill/>
          <a:ln/>
        </p:spPr>
        <p:txBody>
          <a:bodyPr wrap="square" lIns="0" tIns="0" rIns="0" bIns="0" rtlCol="0" anchor="ctr"/>
          <a:lstStyle/>
          <a:p>
            <a:pPr indent="0" marL="0">
              <a:buNone/>
            </a:pPr>
            <a:r>
              <a:rPr lang="en-US" sz="1400" i="1" dirty="0">
                <a:solidFill>
                  <a:schemeClr val="accent5"/>
                </a:solidFill>
              </a:rPr>
              <a:t>Nous répartissons les coûts.</a:t>
            </a:r>
            <a:endParaRPr lang="en-US" sz="1400" dirty="0"/>
          </a:p>
        </p:txBody>
      </p:sp>
      <p:sp>
        <p:nvSpPr>
          <p:cNvPr id="18" name="Text 15"/>
          <p:cNvSpPr txBox="1"/>
          <p:nvPr/>
        </p:nvSpPr>
        <p:spPr>
          <a:xfrm>
            <a:off x="548640" y="2754884"/>
            <a:ext cx="1463040" cy="329184"/>
          </a:xfrm>
          <a:prstGeom prst="rect">
            <a:avLst/>
          </a:prstGeom>
          <a:noFill/>
          <a:ln/>
        </p:spPr>
        <p:txBody>
          <a:bodyPr wrap="square" lIns="0" tIns="0" rIns="0" bIns="0" rtlCol="0" anchor="ctr"/>
          <a:lstStyle/>
          <a:p>
            <a:pPr indent="0" marL="0">
              <a:buNone/>
            </a:pPr>
            <a:r>
              <a:rPr lang="en-US" sz="1400" b="1" dirty="0">
                <a:solidFill>
                  <a:schemeClr val="accent5"/>
                </a:solidFill>
              </a:rPr>
              <a:t>Nom + van</a:t>
            </a:r>
            <a:endParaRPr lang="en-US" sz="1400" dirty="0"/>
          </a:p>
        </p:txBody>
      </p:sp>
      <p:sp>
        <p:nvSpPr>
          <p:cNvPr id="19" name="Text 16"/>
          <p:cNvSpPr txBox="1"/>
          <p:nvPr/>
        </p:nvSpPr>
        <p:spPr>
          <a:xfrm>
            <a:off x="2103120" y="2517140"/>
            <a:ext cx="1597152" cy="219456"/>
          </a:xfrm>
          <a:prstGeom prst="rect">
            <a:avLst/>
          </a:prstGeom>
          <a:noFill/>
          <a:ln/>
        </p:spPr>
        <p:txBody>
          <a:bodyPr wrap="square" lIns="0" tIns="0" rIns="0" bIns="0" rtlCol="0" anchor="b"/>
          <a:lstStyle/>
          <a:p>
            <a:pPr algn="ctr" indent="0" marL="0">
              <a:buNone/>
            </a:pPr>
            <a:r>
              <a:rPr lang="en-US" sz="1000" b="1" dirty="0">
                <a:solidFill>
                  <a:schemeClr val="accent3"/>
                </a:solidFill>
              </a:rPr>
              <a:t>nom (de)</a:t>
            </a:r>
            <a:endParaRPr lang="en-US" sz="1000" dirty="0"/>
          </a:p>
        </p:txBody>
      </p:sp>
      <p:sp>
        <p:nvSpPr>
          <p:cNvPr id="20" name="Shape 17"/>
          <p:cNvSpPr/>
          <p:nvPr/>
        </p:nvSpPr>
        <p:spPr>
          <a:xfrm>
            <a:off x="2103120" y="2754884"/>
            <a:ext cx="1597152" cy="329184"/>
          </a:xfrm>
          <a:prstGeom prst="roundRect">
            <a:avLst>
              <a:gd name="adj" fmla="val 16667"/>
            </a:avLst>
          </a:prstGeom>
          <a:solidFill>
            <a:schemeClr val="accent3">
              <a:alpha val="88000"/>
            </a:schemeClr>
          </a:solidFill>
          <a:ln w="12700">
            <a:solidFill>
              <a:srgbClr val="2E7D4F"/>
            </a:solidFill>
            <a:prstDash val="solid"/>
          </a:ln>
        </p:spPr>
      </p:sp>
      <p:sp>
        <p:nvSpPr>
          <p:cNvPr id="21" name="Text 18"/>
          <p:cNvSpPr txBox="1"/>
          <p:nvPr/>
        </p:nvSpPr>
        <p:spPr>
          <a:xfrm>
            <a:off x="2139696" y="2754884"/>
            <a:ext cx="1524000" cy="329184"/>
          </a:xfrm>
          <a:prstGeom prst="rect">
            <a:avLst/>
          </a:prstGeom>
          <a:noFill/>
          <a:ln/>
        </p:spPr>
        <p:txBody>
          <a:bodyPr wrap="square" lIns="0" tIns="0" rIns="0" bIns="0" rtlCol="0" anchor="ctr"/>
          <a:lstStyle/>
          <a:p>
            <a:pPr algn="ctr" indent="0" marL="0">
              <a:buNone/>
            </a:pPr>
            <a:r>
              <a:rPr lang="en-US" sz="1600" b="1" dirty="0">
                <a:solidFill>
                  <a:schemeClr val="bg1"/>
                </a:solidFill>
              </a:rPr>
              <a:t>de verdeling</a:t>
            </a:r>
            <a:endParaRPr lang="en-US" sz="1600" dirty="0"/>
          </a:p>
        </p:txBody>
      </p:sp>
      <p:sp>
        <p:nvSpPr>
          <p:cNvPr id="22" name="Text 19"/>
          <p:cNvSpPr txBox="1"/>
          <p:nvPr/>
        </p:nvSpPr>
        <p:spPr>
          <a:xfrm>
            <a:off x="3810000" y="2517140"/>
            <a:ext cx="685800" cy="219456"/>
          </a:xfrm>
          <a:prstGeom prst="rect">
            <a:avLst/>
          </a:prstGeom>
          <a:noFill/>
          <a:ln/>
        </p:spPr>
        <p:txBody>
          <a:bodyPr wrap="square" lIns="0" tIns="0" rIns="0" bIns="0" rtlCol="0" anchor="b"/>
          <a:lstStyle/>
          <a:p>
            <a:pPr algn="ctr" indent="0" marL="0">
              <a:buNone/>
            </a:pPr>
            <a:r>
              <a:rPr lang="en-US" sz="1000" b="1" dirty="0">
                <a:solidFill>
                  <a:srgbClr val="6E4A9E"/>
                </a:solidFill>
              </a:rPr>
              <a:t>liaison</a:t>
            </a:r>
            <a:endParaRPr lang="en-US" sz="1000" dirty="0"/>
          </a:p>
        </p:txBody>
      </p:sp>
      <p:sp>
        <p:nvSpPr>
          <p:cNvPr id="23" name="Shape 20"/>
          <p:cNvSpPr/>
          <p:nvPr/>
        </p:nvSpPr>
        <p:spPr>
          <a:xfrm>
            <a:off x="3810000" y="2754884"/>
            <a:ext cx="685800" cy="329184"/>
          </a:xfrm>
          <a:prstGeom prst="roundRect">
            <a:avLst>
              <a:gd name="adj" fmla="val 16667"/>
            </a:avLst>
          </a:prstGeom>
          <a:solidFill>
            <a:srgbClr val="6E4A9E">
              <a:alpha val="88000"/>
            </a:srgbClr>
          </a:solidFill>
          <a:ln w="12700">
            <a:solidFill>
              <a:srgbClr val="6E4A9E"/>
            </a:solidFill>
            <a:prstDash val="solid"/>
          </a:ln>
        </p:spPr>
      </p:sp>
      <p:sp>
        <p:nvSpPr>
          <p:cNvPr id="24" name="Text 21"/>
          <p:cNvSpPr txBox="1"/>
          <p:nvPr/>
        </p:nvSpPr>
        <p:spPr>
          <a:xfrm>
            <a:off x="3846576" y="2754884"/>
            <a:ext cx="612648" cy="329184"/>
          </a:xfrm>
          <a:prstGeom prst="rect">
            <a:avLst/>
          </a:prstGeom>
          <a:noFill/>
          <a:ln/>
        </p:spPr>
        <p:txBody>
          <a:bodyPr wrap="square" lIns="0" tIns="0" rIns="0" bIns="0" rtlCol="0" anchor="ctr"/>
          <a:lstStyle/>
          <a:p>
            <a:pPr algn="ctr" indent="0" marL="0">
              <a:buNone/>
            </a:pPr>
            <a:r>
              <a:rPr lang="en-US" sz="1600" b="1" dirty="0">
                <a:solidFill>
                  <a:schemeClr val="bg1"/>
                </a:solidFill>
              </a:rPr>
              <a:t>van</a:t>
            </a:r>
            <a:endParaRPr lang="en-US" sz="1600" dirty="0"/>
          </a:p>
        </p:txBody>
      </p:sp>
      <p:sp>
        <p:nvSpPr>
          <p:cNvPr id="25" name="Text 22"/>
          <p:cNvSpPr txBox="1"/>
          <p:nvPr/>
        </p:nvSpPr>
        <p:spPr>
          <a:xfrm>
            <a:off x="4605528" y="2517140"/>
            <a:ext cx="1280160" cy="219456"/>
          </a:xfrm>
          <a:prstGeom prst="rect">
            <a:avLst/>
          </a:prstGeom>
          <a:noFill/>
          <a:ln/>
        </p:spPr>
        <p:txBody>
          <a:bodyPr wrap="square" lIns="0" tIns="0" rIns="0" bIns="0" rtlCol="0" anchor="b"/>
          <a:lstStyle/>
          <a:p>
            <a:pPr algn="ctr" indent="0" marL="0">
              <a:buNone/>
            </a:pPr>
            <a:r>
              <a:rPr lang="en-US" sz="1000" b="1" dirty="0">
                <a:solidFill>
                  <a:schemeClr val="accent5"/>
                </a:solidFill>
              </a:rPr>
              <a:t>complément</a:t>
            </a:r>
            <a:endParaRPr lang="en-US" sz="1000" dirty="0"/>
          </a:p>
        </p:txBody>
      </p:sp>
      <p:sp>
        <p:nvSpPr>
          <p:cNvPr id="26" name="Shape 23"/>
          <p:cNvSpPr/>
          <p:nvPr/>
        </p:nvSpPr>
        <p:spPr>
          <a:xfrm>
            <a:off x="4605528" y="2754884"/>
            <a:ext cx="1280160" cy="329184"/>
          </a:xfrm>
          <a:prstGeom prst="roundRect">
            <a:avLst>
              <a:gd name="adj" fmla="val 16667"/>
            </a:avLst>
          </a:prstGeom>
          <a:solidFill>
            <a:schemeClr val="accent5">
              <a:alpha val="25000"/>
            </a:schemeClr>
          </a:solidFill>
          <a:ln w="12700">
            <a:solidFill>
              <a:srgbClr val="4A5A70"/>
            </a:solidFill>
            <a:prstDash val="solid"/>
          </a:ln>
        </p:spPr>
      </p:sp>
      <p:sp>
        <p:nvSpPr>
          <p:cNvPr id="27" name="Text 24"/>
          <p:cNvSpPr txBox="1"/>
          <p:nvPr/>
        </p:nvSpPr>
        <p:spPr>
          <a:xfrm>
            <a:off x="4642104" y="2754884"/>
            <a:ext cx="1207008" cy="329184"/>
          </a:xfrm>
          <a:prstGeom prst="rect">
            <a:avLst/>
          </a:prstGeom>
          <a:noFill/>
          <a:ln/>
        </p:spPr>
        <p:txBody>
          <a:bodyPr wrap="square" lIns="0" tIns="0" rIns="0" bIns="0" rtlCol="0" anchor="ctr"/>
          <a:lstStyle/>
          <a:p>
            <a:pPr algn="ctr" indent="0" marL="0">
              <a:buNone/>
            </a:pPr>
            <a:r>
              <a:rPr lang="en-US" sz="1600" b="1" dirty="0">
                <a:solidFill>
                  <a:schemeClr val="tx1"/>
                </a:solidFill>
              </a:rPr>
              <a:t>de kosten</a:t>
            </a:r>
            <a:endParaRPr lang="en-US" sz="1600" dirty="0"/>
          </a:p>
        </p:txBody>
      </p:sp>
      <p:sp>
        <p:nvSpPr>
          <p:cNvPr id="28" name="Text 25"/>
          <p:cNvSpPr txBox="1"/>
          <p:nvPr/>
        </p:nvSpPr>
        <p:spPr>
          <a:xfrm>
            <a:off x="2103120" y="3111500"/>
            <a:ext cx="9537192" cy="274320"/>
          </a:xfrm>
          <a:prstGeom prst="rect">
            <a:avLst/>
          </a:prstGeom>
          <a:noFill/>
          <a:ln/>
        </p:spPr>
        <p:txBody>
          <a:bodyPr wrap="square" lIns="0" tIns="0" rIns="0" bIns="0" rtlCol="0" anchor="ctr"/>
          <a:lstStyle/>
          <a:p>
            <a:pPr indent="0" marL="0">
              <a:buNone/>
            </a:pPr>
            <a:r>
              <a:rPr lang="en-US" sz="1400" i="1" dirty="0">
                <a:solidFill>
                  <a:schemeClr val="accent5"/>
                </a:solidFill>
              </a:rPr>
              <a:t>la répartition des coûts</a:t>
            </a:r>
            <a:endParaRPr lang="en-US" sz="1400" dirty="0"/>
          </a:p>
        </p:txBody>
      </p:sp>
      <p:sp>
        <p:nvSpPr>
          <p:cNvPr id="29" name="Text 26"/>
          <p:cNvSpPr txBox="1"/>
          <p:nvPr/>
        </p:nvSpPr>
        <p:spPr>
          <a:xfrm>
            <a:off x="548640" y="3324352"/>
            <a:ext cx="1463040" cy="329184"/>
          </a:xfrm>
          <a:prstGeom prst="rect">
            <a:avLst/>
          </a:prstGeom>
          <a:noFill/>
          <a:ln/>
        </p:spPr>
        <p:txBody>
          <a:bodyPr wrap="square" lIns="0" tIns="0" rIns="0" bIns="0" rtlCol="0" anchor="ctr"/>
          <a:lstStyle/>
          <a:p>
            <a:pPr indent="0" marL="0">
              <a:buNone/>
            </a:pPr>
            <a:r>
              <a:rPr lang="en-US" sz="1400" b="1" dirty="0">
                <a:solidFill>
                  <a:schemeClr val="accent5"/>
                </a:solidFill>
              </a:rPr>
              <a:t>Séparable</a:t>
            </a:r>
            <a:endParaRPr lang="en-US" sz="1400" dirty="0"/>
          </a:p>
        </p:txBody>
      </p:sp>
      <p:sp>
        <p:nvSpPr>
          <p:cNvPr id="30" name="Text 27"/>
          <p:cNvSpPr txBox="1"/>
          <p:nvPr/>
        </p:nvSpPr>
        <p:spPr>
          <a:xfrm>
            <a:off x="2103120" y="3086608"/>
            <a:ext cx="685800" cy="219456"/>
          </a:xfrm>
          <a:prstGeom prst="rect">
            <a:avLst/>
          </a:prstGeom>
          <a:noFill/>
          <a:ln/>
        </p:spPr>
        <p:txBody>
          <a:bodyPr wrap="square" lIns="0" tIns="0" rIns="0" bIns="0" rtlCol="0" anchor="b"/>
          <a:lstStyle/>
          <a:p>
            <a:pPr algn="ctr" indent="0" marL="0">
              <a:buNone/>
            </a:pPr>
            <a:r>
              <a:rPr lang="en-US" sz="1000" b="1" dirty="0">
                <a:solidFill>
                  <a:schemeClr val="tx2"/>
                </a:solidFill>
              </a:rPr>
              <a:t>sujet</a:t>
            </a:r>
            <a:endParaRPr lang="en-US" sz="1000" dirty="0"/>
          </a:p>
        </p:txBody>
      </p:sp>
      <p:sp>
        <p:nvSpPr>
          <p:cNvPr id="31" name="Shape 28"/>
          <p:cNvSpPr/>
          <p:nvPr/>
        </p:nvSpPr>
        <p:spPr>
          <a:xfrm>
            <a:off x="2103120" y="3324352"/>
            <a:ext cx="685800" cy="329184"/>
          </a:xfrm>
          <a:prstGeom prst="roundRect">
            <a:avLst>
              <a:gd name="adj" fmla="val 16667"/>
            </a:avLst>
          </a:prstGeom>
          <a:solidFill>
            <a:schemeClr val="tx2">
              <a:alpha val="88000"/>
            </a:schemeClr>
          </a:solidFill>
          <a:ln w="12700">
            <a:solidFill>
              <a:srgbClr val="17375E"/>
            </a:solidFill>
            <a:prstDash val="solid"/>
          </a:ln>
        </p:spPr>
      </p:sp>
      <p:sp>
        <p:nvSpPr>
          <p:cNvPr id="32" name="Text 29"/>
          <p:cNvSpPr txBox="1"/>
          <p:nvPr/>
        </p:nvSpPr>
        <p:spPr>
          <a:xfrm>
            <a:off x="2139696" y="3324352"/>
            <a:ext cx="612648" cy="329184"/>
          </a:xfrm>
          <a:prstGeom prst="rect">
            <a:avLst/>
          </a:prstGeom>
          <a:noFill/>
          <a:ln/>
        </p:spPr>
        <p:txBody>
          <a:bodyPr wrap="square" lIns="0" tIns="0" rIns="0" bIns="0" rtlCol="0" anchor="ctr"/>
          <a:lstStyle/>
          <a:p>
            <a:pPr algn="ctr" indent="0" marL="0">
              <a:buNone/>
            </a:pPr>
            <a:r>
              <a:rPr lang="en-US" sz="1600" b="1" dirty="0">
                <a:solidFill>
                  <a:schemeClr val="bg1"/>
                </a:solidFill>
              </a:rPr>
              <a:t>We</a:t>
            </a:r>
            <a:endParaRPr lang="en-US" sz="1600" dirty="0"/>
          </a:p>
        </p:txBody>
      </p:sp>
      <p:sp>
        <p:nvSpPr>
          <p:cNvPr id="33" name="Text 30"/>
          <p:cNvSpPr txBox="1"/>
          <p:nvPr/>
        </p:nvSpPr>
        <p:spPr>
          <a:xfrm>
            <a:off x="2898648" y="3086608"/>
            <a:ext cx="963168" cy="219456"/>
          </a:xfrm>
          <a:prstGeom prst="rect">
            <a:avLst/>
          </a:prstGeom>
          <a:noFill/>
          <a:ln/>
        </p:spPr>
        <p:txBody>
          <a:bodyPr wrap="square" lIns="0" tIns="0" rIns="0" bIns="0" rtlCol="0" anchor="b"/>
          <a:lstStyle/>
          <a:p>
            <a:pPr algn="ctr" indent="0" marL="0">
              <a:buNone/>
            </a:pPr>
            <a:r>
              <a:rPr lang="en-US" sz="1000" b="1" dirty="0">
                <a:solidFill>
                  <a:schemeClr val="accent6"/>
                </a:solidFill>
              </a:rPr>
              <a:t>verbe</a:t>
            </a:r>
            <a:endParaRPr lang="en-US" sz="1000" dirty="0"/>
          </a:p>
        </p:txBody>
      </p:sp>
      <p:sp>
        <p:nvSpPr>
          <p:cNvPr id="34" name="Shape 31"/>
          <p:cNvSpPr/>
          <p:nvPr/>
        </p:nvSpPr>
        <p:spPr>
          <a:xfrm>
            <a:off x="2898648" y="3324352"/>
            <a:ext cx="963168" cy="329184"/>
          </a:xfrm>
          <a:prstGeom prst="roundRect">
            <a:avLst>
              <a:gd name="adj" fmla="val 16667"/>
            </a:avLst>
          </a:prstGeom>
          <a:solidFill>
            <a:schemeClr val="accent6">
              <a:alpha val="88000"/>
            </a:schemeClr>
          </a:solidFill>
          <a:ln w="12700">
            <a:solidFill>
              <a:srgbClr val="B83227"/>
            </a:solidFill>
            <a:prstDash val="solid"/>
          </a:ln>
        </p:spPr>
      </p:sp>
      <p:sp>
        <p:nvSpPr>
          <p:cNvPr id="35" name="Text 32"/>
          <p:cNvSpPr txBox="1"/>
          <p:nvPr/>
        </p:nvSpPr>
        <p:spPr>
          <a:xfrm>
            <a:off x="2935224" y="3324352"/>
            <a:ext cx="890016" cy="329184"/>
          </a:xfrm>
          <a:prstGeom prst="rect">
            <a:avLst/>
          </a:prstGeom>
          <a:noFill/>
          <a:ln/>
        </p:spPr>
        <p:txBody>
          <a:bodyPr wrap="square" lIns="0" tIns="0" rIns="0" bIns="0" rtlCol="0" anchor="ctr"/>
          <a:lstStyle/>
          <a:p>
            <a:pPr algn="ctr" indent="0" marL="0">
              <a:buNone/>
            </a:pPr>
            <a:r>
              <a:rPr lang="en-US" sz="1600" b="1" dirty="0">
                <a:solidFill>
                  <a:schemeClr val="bg1"/>
                </a:solidFill>
              </a:rPr>
              <a:t>keuren</a:t>
            </a:r>
            <a:endParaRPr lang="en-US" sz="1600" dirty="0"/>
          </a:p>
        </p:txBody>
      </p:sp>
      <p:sp>
        <p:nvSpPr>
          <p:cNvPr id="36" name="Text 33"/>
          <p:cNvSpPr txBox="1"/>
          <p:nvPr/>
        </p:nvSpPr>
        <p:spPr>
          <a:xfrm>
            <a:off x="3971544" y="3086608"/>
            <a:ext cx="1385824" cy="219456"/>
          </a:xfrm>
          <a:prstGeom prst="rect">
            <a:avLst/>
          </a:prstGeom>
          <a:noFill/>
          <a:ln/>
        </p:spPr>
        <p:txBody>
          <a:bodyPr wrap="square" lIns="0" tIns="0" rIns="0" bIns="0" rtlCol="0" anchor="b"/>
          <a:lstStyle/>
          <a:p>
            <a:pPr algn="ctr" indent="0" marL="0">
              <a:buNone/>
            </a:pPr>
            <a:r>
              <a:rPr lang="en-US" sz="1000" b="1" dirty="0">
                <a:solidFill>
                  <a:schemeClr val="accent5"/>
                </a:solidFill>
              </a:rPr>
              <a:t>objet</a:t>
            </a:r>
            <a:endParaRPr lang="en-US" sz="1000" dirty="0"/>
          </a:p>
        </p:txBody>
      </p:sp>
      <p:sp>
        <p:nvSpPr>
          <p:cNvPr id="37" name="Shape 34"/>
          <p:cNvSpPr/>
          <p:nvPr/>
        </p:nvSpPr>
        <p:spPr>
          <a:xfrm>
            <a:off x="3971544" y="3324352"/>
            <a:ext cx="1385824" cy="329184"/>
          </a:xfrm>
          <a:prstGeom prst="roundRect">
            <a:avLst>
              <a:gd name="adj" fmla="val 16667"/>
            </a:avLst>
          </a:prstGeom>
          <a:solidFill>
            <a:schemeClr val="accent5">
              <a:alpha val="25000"/>
            </a:schemeClr>
          </a:solidFill>
          <a:ln w="12700">
            <a:solidFill>
              <a:srgbClr val="4A5A70"/>
            </a:solidFill>
            <a:prstDash val="solid"/>
          </a:ln>
        </p:spPr>
      </p:sp>
      <p:sp>
        <p:nvSpPr>
          <p:cNvPr id="38" name="Text 35"/>
          <p:cNvSpPr txBox="1"/>
          <p:nvPr/>
        </p:nvSpPr>
        <p:spPr>
          <a:xfrm>
            <a:off x="4008120" y="3324352"/>
            <a:ext cx="1312672" cy="329184"/>
          </a:xfrm>
          <a:prstGeom prst="rect">
            <a:avLst/>
          </a:prstGeom>
          <a:noFill/>
          <a:ln/>
        </p:spPr>
        <p:txBody>
          <a:bodyPr wrap="square" lIns="0" tIns="0" rIns="0" bIns="0" rtlCol="0" anchor="ctr"/>
          <a:lstStyle/>
          <a:p>
            <a:pPr algn="ctr" indent="0" marL="0">
              <a:buNone/>
            </a:pPr>
            <a:r>
              <a:rPr lang="en-US" sz="1600" b="1" dirty="0">
                <a:solidFill>
                  <a:schemeClr val="tx1"/>
                </a:solidFill>
              </a:rPr>
              <a:t>de notulen</a:t>
            </a:r>
            <a:endParaRPr lang="en-US" sz="1600" dirty="0"/>
          </a:p>
        </p:txBody>
      </p:sp>
      <p:sp>
        <p:nvSpPr>
          <p:cNvPr id="39" name="Text 36"/>
          <p:cNvSpPr txBox="1"/>
          <p:nvPr/>
        </p:nvSpPr>
        <p:spPr>
          <a:xfrm>
            <a:off x="5467096" y="3086608"/>
            <a:ext cx="751840" cy="219456"/>
          </a:xfrm>
          <a:prstGeom prst="rect">
            <a:avLst/>
          </a:prstGeom>
          <a:noFill/>
          <a:ln/>
        </p:spPr>
        <p:txBody>
          <a:bodyPr wrap="square" lIns="0" tIns="0" rIns="0" bIns="0" rtlCol="0" anchor="b"/>
          <a:lstStyle/>
          <a:p>
            <a:pPr algn="ctr" indent="0" marL="0">
              <a:buNone/>
            </a:pPr>
            <a:r>
              <a:rPr lang="en-US" sz="1000" b="1" dirty="0">
                <a:solidFill>
                  <a:schemeClr val="accent1"/>
                </a:solidFill>
              </a:rPr>
              <a:t>particule</a:t>
            </a:r>
            <a:endParaRPr lang="en-US" sz="1000" dirty="0"/>
          </a:p>
        </p:txBody>
      </p:sp>
      <p:sp>
        <p:nvSpPr>
          <p:cNvPr id="40" name="Shape 37"/>
          <p:cNvSpPr/>
          <p:nvPr/>
        </p:nvSpPr>
        <p:spPr>
          <a:xfrm>
            <a:off x="5467096" y="3324352"/>
            <a:ext cx="751840" cy="329184"/>
          </a:xfrm>
          <a:prstGeom prst="roundRect">
            <a:avLst>
              <a:gd name="adj" fmla="val 16667"/>
            </a:avLst>
          </a:prstGeom>
          <a:solidFill>
            <a:schemeClr val="accent1">
              <a:alpha val="88000"/>
            </a:schemeClr>
          </a:solidFill>
          <a:ln w="12700">
            <a:solidFill>
              <a:srgbClr val="D9700F"/>
            </a:solidFill>
            <a:prstDash val="solid"/>
          </a:ln>
        </p:spPr>
      </p:sp>
      <p:sp>
        <p:nvSpPr>
          <p:cNvPr id="41" name="Text 38"/>
          <p:cNvSpPr txBox="1"/>
          <p:nvPr/>
        </p:nvSpPr>
        <p:spPr>
          <a:xfrm>
            <a:off x="5503672" y="3324352"/>
            <a:ext cx="678688" cy="329184"/>
          </a:xfrm>
          <a:prstGeom prst="rect">
            <a:avLst/>
          </a:prstGeom>
          <a:noFill/>
          <a:ln/>
        </p:spPr>
        <p:txBody>
          <a:bodyPr wrap="square" lIns="0" tIns="0" rIns="0" bIns="0" rtlCol="0" anchor="ctr"/>
          <a:lstStyle/>
          <a:p>
            <a:pPr algn="ctr" indent="0" marL="0">
              <a:buNone/>
            </a:pPr>
            <a:r>
              <a:rPr lang="en-US" sz="1600" b="1" dirty="0">
                <a:solidFill>
                  <a:schemeClr val="bg1"/>
                </a:solidFill>
              </a:rPr>
              <a:t>goed</a:t>
            </a:r>
            <a:endParaRPr lang="en-US" sz="1600" dirty="0"/>
          </a:p>
        </p:txBody>
      </p:sp>
      <p:sp>
        <p:nvSpPr>
          <p:cNvPr id="42" name="Text 39"/>
          <p:cNvSpPr txBox="1"/>
          <p:nvPr/>
        </p:nvSpPr>
        <p:spPr>
          <a:xfrm>
            <a:off x="2103120" y="3680968"/>
            <a:ext cx="9537192" cy="274320"/>
          </a:xfrm>
          <a:prstGeom prst="rect">
            <a:avLst/>
          </a:prstGeom>
          <a:noFill/>
          <a:ln/>
        </p:spPr>
        <p:txBody>
          <a:bodyPr wrap="square" lIns="0" tIns="0" rIns="0" bIns="0" rtlCol="0" anchor="ctr"/>
          <a:lstStyle/>
          <a:p>
            <a:pPr indent="0" marL="0">
              <a:buNone/>
            </a:pPr>
            <a:r>
              <a:rPr lang="en-US" sz="1400" i="1" dirty="0">
                <a:solidFill>
                  <a:schemeClr val="accent5"/>
                </a:solidFill>
              </a:rPr>
              <a:t>Nous approuvons le procès-verbal.</a:t>
            </a:r>
            <a:endParaRPr lang="en-US" sz="1400" dirty="0"/>
          </a:p>
        </p:txBody>
      </p:sp>
      <p:sp>
        <p:nvSpPr>
          <p:cNvPr id="43" name="Text 40"/>
          <p:cNvSpPr txBox="1"/>
          <p:nvPr/>
        </p:nvSpPr>
        <p:spPr>
          <a:xfrm>
            <a:off x="548640" y="3893820"/>
            <a:ext cx="1463040" cy="329184"/>
          </a:xfrm>
          <a:prstGeom prst="rect">
            <a:avLst/>
          </a:prstGeom>
          <a:noFill/>
          <a:ln/>
        </p:spPr>
        <p:txBody>
          <a:bodyPr wrap="square" lIns="0" tIns="0" rIns="0" bIns="0" rtlCol="0" anchor="ctr"/>
          <a:lstStyle/>
          <a:p>
            <a:pPr indent="0" marL="0">
              <a:buNone/>
            </a:pPr>
            <a:r>
              <a:rPr lang="en-US" sz="1400" b="1" dirty="0">
                <a:solidFill>
                  <a:schemeClr val="accent5"/>
                </a:solidFill>
              </a:rPr>
              <a:t>Nom + van</a:t>
            </a:r>
            <a:endParaRPr lang="en-US" sz="1400" dirty="0"/>
          </a:p>
        </p:txBody>
      </p:sp>
      <p:sp>
        <p:nvSpPr>
          <p:cNvPr id="44" name="Text 41"/>
          <p:cNvSpPr txBox="1"/>
          <p:nvPr/>
        </p:nvSpPr>
        <p:spPr>
          <a:xfrm>
            <a:off x="2103120" y="3656076"/>
            <a:ext cx="1808480" cy="219456"/>
          </a:xfrm>
          <a:prstGeom prst="rect">
            <a:avLst/>
          </a:prstGeom>
          <a:noFill/>
          <a:ln/>
        </p:spPr>
        <p:txBody>
          <a:bodyPr wrap="square" lIns="0" tIns="0" rIns="0" bIns="0" rtlCol="0" anchor="b"/>
          <a:lstStyle/>
          <a:p>
            <a:pPr algn="ctr" indent="0" marL="0">
              <a:buNone/>
            </a:pPr>
            <a:r>
              <a:rPr lang="en-US" sz="1000" b="1" dirty="0">
                <a:solidFill>
                  <a:schemeClr val="accent3"/>
                </a:solidFill>
              </a:rPr>
              <a:t>goed + keuring</a:t>
            </a:r>
            <a:endParaRPr lang="en-US" sz="1000" dirty="0"/>
          </a:p>
        </p:txBody>
      </p:sp>
      <p:sp>
        <p:nvSpPr>
          <p:cNvPr id="45" name="Shape 42"/>
          <p:cNvSpPr/>
          <p:nvPr/>
        </p:nvSpPr>
        <p:spPr>
          <a:xfrm>
            <a:off x="2103120" y="3893820"/>
            <a:ext cx="1808480" cy="329184"/>
          </a:xfrm>
          <a:prstGeom prst="roundRect">
            <a:avLst>
              <a:gd name="adj" fmla="val 16667"/>
            </a:avLst>
          </a:prstGeom>
          <a:solidFill>
            <a:schemeClr val="accent3">
              <a:alpha val="88000"/>
            </a:schemeClr>
          </a:solidFill>
          <a:ln w="12700">
            <a:solidFill>
              <a:srgbClr val="2E7D4F"/>
            </a:solidFill>
            <a:prstDash val="solid"/>
          </a:ln>
        </p:spPr>
      </p:sp>
      <p:sp>
        <p:nvSpPr>
          <p:cNvPr id="46" name="Text 43"/>
          <p:cNvSpPr txBox="1"/>
          <p:nvPr/>
        </p:nvSpPr>
        <p:spPr>
          <a:xfrm>
            <a:off x="2139696" y="3893820"/>
            <a:ext cx="1735328" cy="329184"/>
          </a:xfrm>
          <a:prstGeom prst="rect">
            <a:avLst/>
          </a:prstGeom>
          <a:noFill/>
          <a:ln/>
        </p:spPr>
        <p:txBody>
          <a:bodyPr wrap="square" lIns="0" tIns="0" rIns="0" bIns="0" rtlCol="0" anchor="ctr"/>
          <a:lstStyle/>
          <a:p>
            <a:pPr algn="ctr" indent="0" marL="0">
              <a:buNone/>
            </a:pPr>
            <a:r>
              <a:rPr lang="en-US" sz="1600" b="1" dirty="0">
                <a:solidFill>
                  <a:schemeClr val="bg1"/>
                </a:solidFill>
              </a:rPr>
              <a:t>de goedkeuring</a:t>
            </a:r>
            <a:endParaRPr lang="en-US" sz="1600" dirty="0"/>
          </a:p>
        </p:txBody>
      </p:sp>
      <p:sp>
        <p:nvSpPr>
          <p:cNvPr id="47" name="Text 44"/>
          <p:cNvSpPr txBox="1"/>
          <p:nvPr/>
        </p:nvSpPr>
        <p:spPr>
          <a:xfrm>
            <a:off x="4021328" y="3656076"/>
            <a:ext cx="685800" cy="219456"/>
          </a:xfrm>
          <a:prstGeom prst="rect">
            <a:avLst/>
          </a:prstGeom>
          <a:noFill/>
          <a:ln/>
        </p:spPr>
        <p:txBody>
          <a:bodyPr wrap="square" lIns="0" tIns="0" rIns="0" bIns="0" rtlCol="0" anchor="b"/>
          <a:lstStyle/>
          <a:p>
            <a:pPr algn="ctr" indent="0" marL="0">
              <a:buNone/>
            </a:pPr>
            <a:r>
              <a:rPr lang="en-US" sz="1000" b="1" dirty="0">
                <a:solidFill>
                  <a:srgbClr val="6E4A9E"/>
                </a:solidFill>
              </a:rPr>
              <a:t>liaison</a:t>
            </a:r>
            <a:endParaRPr lang="en-US" sz="1000" dirty="0"/>
          </a:p>
        </p:txBody>
      </p:sp>
      <p:sp>
        <p:nvSpPr>
          <p:cNvPr id="48" name="Shape 45"/>
          <p:cNvSpPr/>
          <p:nvPr/>
        </p:nvSpPr>
        <p:spPr>
          <a:xfrm>
            <a:off x="4021328" y="3893820"/>
            <a:ext cx="685800" cy="329184"/>
          </a:xfrm>
          <a:prstGeom prst="roundRect">
            <a:avLst>
              <a:gd name="adj" fmla="val 16667"/>
            </a:avLst>
          </a:prstGeom>
          <a:solidFill>
            <a:srgbClr val="6E4A9E">
              <a:alpha val="88000"/>
            </a:srgbClr>
          </a:solidFill>
          <a:ln w="12700">
            <a:solidFill>
              <a:srgbClr val="6E4A9E"/>
            </a:solidFill>
            <a:prstDash val="solid"/>
          </a:ln>
        </p:spPr>
      </p:sp>
      <p:sp>
        <p:nvSpPr>
          <p:cNvPr id="49" name="Text 46"/>
          <p:cNvSpPr txBox="1"/>
          <p:nvPr/>
        </p:nvSpPr>
        <p:spPr>
          <a:xfrm>
            <a:off x="4057904" y="3893820"/>
            <a:ext cx="612648" cy="329184"/>
          </a:xfrm>
          <a:prstGeom prst="rect">
            <a:avLst/>
          </a:prstGeom>
          <a:noFill/>
          <a:ln/>
        </p:spPr>
        <p:txBody>
          <a:bodyPr wrap="square" lIns="0" tIns="0" rIns="0" bIns="0" rtlCol="0" anchor="ctr"/>
          <a:lstStyle/>
          <a:p>
            <a:pPr algn="ctr" indent="0" marL="0">
              <a:buNone/>
            </a:pPr>
            <a:r>
              <a:rPr lang="en-US" sz="1600" b="1" dirty="0">
                <a:solidFill>
                  <a:schemeClr val="bg1"/>
                </a:solidFill>
              </a:rPr>
              <a:t>van</a:t>
            </a:r>
            <a:endParaRPr lang="en-US" sz="1600" dirty="0"/>
          </a:p>
        </p:txBody>
      </p:sp>
      <p:sp>
        <p:nvSpPr>
          <p:cNvPr id="50" name="Text 47"/>
          <p:cNvSpPr txBox="1"/>
          <p:nvPr/>
        </p:nvSpPr>
        <p:spPr>
          <a:xfrm>
            <a:off x="4816856" y="3656076"/>
            <a:ext cx="1385824" cy="219456"/>
          </a:xfrm>
          <a:prstGeom prst="rect">
            <a:avLst/>
          </a:prstGeom>
          <a:noFill/>
          <a:ln/>
        </p:spPr>
        <p:txBody>
          <a:bodyPr wrap="square" lIns="0" tIns="0" rIns="0" bIns="0" rtlCol="0" anchor="b"/>
          <a:lstStyle/>
          <a:p>
            <a:pPr algn="ctr" indent="0" marL="0">
              <a:buNone/>
            </a:pPr>
            <a:r>
              <a:rPr lang="en-US" sz="1000" b="1" dirty="0">
                <a:solidFill>
                  <a:schemeClr val="accent5"/>
                </a:solidFill>
              </a:rPr>
              <a:t>objet</a:t>
            </a:r>
            <a:endParaRPr lang="en-US" sz="1000" dirty="0"/>
          </a:p>
        </p:txBody>
      </p:sp>
      <p:sp>
        <p:nvSpPr>
          <p:cNvPr id="51" name="Shape 48"/>
          <p:cNvSpPr/>
          <p:nvPr/>
        </p:nvSpPr>
        <p:spPr>
          <a:xfrm>
            <a:off x="4816856" y="3893820"/>
            <a:ext cx="1385824" cy="329184"/>
          </a:xfrm>
          <a:prstGeom prst="roundRect">
            <a:avLst>
              <a:gd name="adj" fmla="val 16667"/>
            </a:avLst>
          </a:prstGeom>
          <a:solidFill>
            <a:schemeClr val="accent5">
              <a:alpha val="25000"/>
            </a:schemeClr>
          </a:solidFill>
          <a:ln w="12700">
            <a:solidFill>
              <a:srgbClr val="4A5A70"/>
            </a:solidFill>
            <a:prstDash val="solid"/>
          </a:ln>
        </p:spPr>
      </p:sp>
      <p:sp>
        <p:nvSpPr>
          <p:cNvPr id="52" name="Text 49"/>
          <p:cNvSpPr txBox="1"/>
          <p:nvPr/>
        </p:nvSpPr>
        <p:spPr>
          <a:xfrm>
            <a:off x="4853432" y="3893820"/>
            <a:ext cx="1312672" cy="329184"/>
          </a:xfrm>
          <a:prstGeom prst="rect">
            <a:avLst/>
          </a:prstGeom>
          <a:noFill/>
          <a:ln/>
        </p:spPr>
        <p:txBody>
          <a:bodyPr wrap="square" lIns="0" tIns="0" rIns="0" bIns="0" rtlCol="0" anchor="ctr"/>
          <a:lstStyle/>
          <a:p>
            <a:pPr algn="ctr" indent="0" marL="0">
              <a:buNone/>
            </a:pPr>
            <a:r>
              <a:rPr lang="en-US" sz="1600" b="1" dirty="0">
                <a:solidFill>
                  <a:schemeClr val="tx1"/>
                </a:solidFill>
              </a:rPr>
              <a:t>de notulen</a:t>
            </a:r>
            <a:endParaRPr lang="en-US" sz="1600" dirty="0"/>
          </a:p>
        </p:txBody>
      </p:sp>
      <p:sp>
        <p:nvSpPr>
          <p:cNvPr id="53" name="Text 50"/>
          <p:cNvSpPr txBox="1"/>
          <p:nvPr/>
        </p:nvSpPr>
        <p:spPr>
          <a:xfrm>
            <a:off x="2103120" y="4250436"/>
            <a:ext cx="9537192" cy="274320"/>
          </a:xfrm>
          <a:prstGeom prst="rect">
            <a:avLst/>
          </a:prstGeom>
          <a:noFill/>
          <a:ln/>
        </p:spPr>
        <p:txBody>
          <a:bodyPr wrap="square" lIns="0" tIns="0" rIns="0" bIns="0" rtlCol="0" anchor="ctr"/>
          <a:lstStyle/>
          <a:p>
            <a:pPr indent="0" marL="0">
              <a:buNone/>
            </a:pPr>
            <a:r>
              <a:rPr lang="en-US" sz="1400" i="1" dirty="0">
                <a:solidFill>
                  <a:schemeClr val="accent5"/>
                </a:solidFill>
              </a:rPr>
              <a:t>l’approbation du procès-verbal</a:t>
            </a:r>
            <a:endParaRPr lang="en-US" sz="1400" dirty="0"/>
          </a:p>
        </p:txBody>
      </p:sp>
      <p:sp>
        <p:nvSpPr>
          <p:cNvPr id="54" name="Text 51"/>
          <p:cNvSpPr txBox="1"/>
          <p:nvPr/>
        </p:nvSpPr>
        <p:spPr>
          <a:xfrm>
            <a:off x="548640" y="4463288"/>
            <a:ext cx="1463040" cy="329184"/>
          </a:xfrm>
          <a:prstGeom prst="rect">
            <a:avLst/>
          </a:prstGeom>
          <a:noFill/>
          <a:ln/>
        </p:spPr>
        <p:txBody>
          <a:bodyPr wrap="square" lIns="0" tIns="0" rIns="0" bIns="0" rtlCol="0" anchor="ctr"/>
          <a:lstStyle/>
          <a:p>
            <a:pPr indent="0" marL="0">
              <a:buNone/>
            </a:pPr>
            <a:r>
              <a:rPr lang="en-US" sz="1400" b="1" dirty="0">
                <a:solidFill>
                  <a:schemeClr val="accent5"/>
                </a:solidFill>
              </a:rPr>
              <a:t>Séparable</a:t>
            </a:r>
            <a:endParaRPr lang="en-US" sz="1400" dirty="0"/>
          </a:p>
        </p:txBody>
      </p:sp>
      <p:sp>
        <p:nvSpPr>
          <p:cNvPr id="55" name="Text 52"/>
          <p:cNvSpPr txBox="1"/>
          <p:nvPr/>
        </p:nvSpPr>
        <p:spPr>
          <a:xfrm>
            <a:off x="2103120" y="4225544"/>
            <a:ext cx="685800" cy="219456"/>
          </a:xfrm>
          <a:prstGeom prst="rect">
            <a:avLst/>
          </a:prstGeom>
          <a:noFill/>
          <a:ln/>
        </p:spPr>
        <p:txBody>
          <a:bodyPr wrap="square" lIns="0" tIns="0" rIns="0" bIns="0" rtlCol="0" anchor="b"/>
          <a:lstStyle/>
          <a:p>
            <a:pPr algn="ctr" indent="0" marL="0">
              <a:buNone/>
            </a:pPr>
            <a:r>
              <a:rPr lang="en-US" sz="1000" b="1" dirty="0">
                <a:solidFill>
                  <a:schemeClr val="tx2"/>
                </a:solidFill>
              </a:rPr>
              <a:t>sujet</a:t>
            </a:r>
            <a:endParaRPr lang="en-US" sz="1000" dirty="0"/>
          </a:p>
        </p:txBody>
      </p:sp>
      <p:sp>
        <p:nvSpPr>
          <p:cNvPr id="56" name="Shape 53"/>
          <p:cNvSpPr/>
          <p:nvPr/>
        </p:nvSpPr>
        <p:spPr>
          <a:xfrm>
            <a:off x="2103120" y="4463288"/>
            <a:ext cx="685800" cy="329184"/>
          </a:xfrm>
          <a:prstGeom prst="roundRect">
            <a:avLst>
              <a:gd name="adj" fmla="val 16667"/>
            </a:avLst>
          </a:prstGeom>
          <a:solidFill>
            <a:schemeClr val="tx2">
              <a:alpha val="88000"/>
            </a:schemeClr>
          </a:solidFill>
          <a:ln w="12700">
            <a:solidFill>
              <a:srgbClr val="17375E"/>
            </a:solidFill>
            <a:prstDash val="solid"/>
          </a:ln>
        </p:spPr>
      </p:sp>
      <p:sp>
        <p:nvSpPr>
          <p:cNvPr id="57" name="Text 54"/>
          <p:cNvSpPr txBox="1"/>
          <p:nvPr/>
        </p:nvSpPr>
        <p:spPr>
          <a:xfrm>
            <a:off x="2139696" y="4463288"/>
            <a:ext cx="612648" cy="329184"/>
          </a:xfrm>
          <a:prstGeom prst="rect">
            <a:avLst/>
          </a:prstGeom>
          <a:noFill/>
          <a:ln/>
        </p:spPr>
        <p:txBody>
          <a:bodyPr wrap="square" lIns="0" tIns="0" rIns="0" bIns="0" rtlCol="0" anchor="ctr"/>
          <a:lstStyle/>
          <a:p>
            <a:pPr algn="ctr" indent="0" marL="0">
              <a:buNone/>
            </a:pPr>
            <a:r>
              <a:rPr lang="en-US" sz="1600" b="1" dirty="0">
                <a:solidFill>
                  <a:schemeClr val="bg1"/>
                </a:solidFill>
              </a:rPr>
              <a:t>We</a:t>
            </a:r>
            <a:endParaRPr lang="en-US" sz="1600" dirty="0"/>
          </a:p>
        </p:txBody>
      </p:sp>
      <p:sp>
        <p:nvSpPr>
          <p:cNvPr id="58" name="Text 55"/>
          <p:cNvSpPr txBox="1"/>
          <p:nvPr/>
        </p:nvSpPr>
        <p:spPr>
          <a:xfrm>
            <a:off x="2898648" y="4225544"/>
            <a:ext cx="1068832" cy="219456"/>
          </a:xfrm>
          <a:prstGeom prst="rect">
            <a:avLst/>
          </a:prstGeom>
          <a:noFill/>
          <a:ln/>
        </p:spPr>
        <p:txBody>
          <a:bodyPr wrap="square" lIns="0" tIns="0" rIns="0" bIns="0" rtlCol="0" anchor="b"/>
          <a:lstStyle/>
          <a:p>
            <a:pPr algn="ctr" indent="0" marL="0">
              <a:buNone/>
            </a:pPr>
            <a:r>
              <a:rPr lang="en-US" sz="1000" b="1" dirty="0">
                <a:solidFill>
                  <a:schemeClr val="accent6"/>
                </a:solidFill>
              </a:rPr>
              <a:t>verbe</a:t>
            </a:r>
            <a:endParaRPr lang="en-US" sz="1000" dirty="0"/>
          </a:p>
        </p:txBody>
      </p:sp>
      <p:sp>
        <p:nvSpPr>
          <p:cNvPr id="59" name="Shape 56"/>
          <p:cNvSpPr/>
          <p:nvPr/>
        </p:nvSpPr>
        <p:spPr>
          <a:xfrm>
            <a:off x="2898648" y="4463288"/>
            <a:ext cx="1068832" cy="329184"/>
          </a:xfrm>
          <a:prstGeom prst="roundRect">
            <a:avLst>
              <a:gd name="adj" fmla="val 16667"/>
            </a:avLst>
          </a:prstGeom>
          <a:solidFill>
            <a:schemeClr val="accent6">
              <a:alpha val="88000"/>
            </a:schemeClr>
          </a:solidFill>
          <a:ln w="12700">
            <a:solidFill>
              <a:srgbClr val="B83227"/>
            </a:solidFill>
            <a:prstDash val="solid"/>
          </a:ln>
        </p:spPr>
      </p:sp>
      <p:sp>
        <p:nvSpPr>
          <p:cNvPr id="60" name="Text 57"/>
          <p:cNvSpPr txBox="1"/>
          <p:nvPr/>
        </p:nvSpPr>
        <p:spPr>
          <a:xfrm>
            <a:off x="2935224" y="4463288"/>
            <a:ext cx="995680" cy="329184"/>
          </a:xfrm>
          <a:prstGeom prst="rect">
            <a:avLst/>
          </a:prstGeom>
          <a:noFill/>
          <a:ln/>
        </p:spPr>
        <p:txBody>
          <a:bodyPr wrap="square" lIns="0" tIns="0" rIns="0" bIns="0" rtlCol="0" anchor="ctr"/>
          <a:lstStyle/>
          <a:p>
            <a:pPr algn="ctr" indent="0" marL="0">
              <a:buNone/>
            </a:pPr>
            <a:r>
              <a:rPr lang="en-US" sz="1600" b="1" dirty="0">
                <a:solidFill>
                  <a:schemeClr val="bg1"/>
                </a:solidFill>
              </a:rPr>
              <a:t>stellen</a:t>
            </a:r>
            <a:endParaRPr lang="en-US" sz="1600" dirty="0"/>
          </a:p>
        </p:txBody>
      </p:sp>
      <p:sp>
        <p:nvSpPr>
          <p:cNvPr id="61" name="Text 58"/>
          <p:cNvSpPr txBox="1"/>
          <p:nvPr/>
        </p:nvSpPr>
        <p:spPr>
          <a:xfrm>
            <a:off x="4077208" y="4225544"/>
            <a:ext cx="1280160" cy="219456"/>
          </a:xfrm>
          <a:prstGeom prst="rect">
            <a:avLst/>
          </a:prstGeom>
          <a:noFill/>
          <a:ln/>
        </p:spPr>
        <p:txBody>
          <a:bodyPr wrap="square" lIns="0" tIns="0" rIns="0" bIns="0" rtlCol="0" anchor="b"/>
          <a:lstStyle/>
          <a:p>
            <a:pPr algn="ctr" indent="0" marL="0">
              <a:buNone/>
            </a:pPr>
            <a:r>
              <a:rPr lang="en-US" sz="1000" b="1" dirty="0">
                <a:solidFill>
                  <a:schemeClr val="accent5"/>
                </a:solidFill>
              </a:rPr>
              <a:t>objet</a:t>
            </a:r>
            <a:endParaRPr lang="en-US" sz="1000" dirty="0"/>
          </a:p>
        </p:txBody>
      </p:sp>
      <p:sp>
        <p:nvSpPr>
          <p:cNvPr id="62" name="Shape 59"/>
          <p:cNvSpPr/>
          <p:nvPr/>
        </p:nvSpPr>
        <p:spPr>
          <a:xfrm>
            <a:off x="4077208" y="4463288"/>
            <a:ext cx="1280160" cy="329184"/>
          </a:xfrm>
          <a:prstGeom prst="roundRect">
            <a:avLst>
              <a:gd name="adj" fmla="val 16667"/>
            </a:avLst>
          </a:prstGeom>
          <a:solidFill>
            <a:schemeClr val="accent5">
              <a:alpha val="25000"/>
            </a:schemeClr>
          </a:solidFill>
          <a:ln w="12700">
            <a:solidFill>
              <a:srgbClr val="4A5A70"/>
            </a:solidFill>
            <a:prstDash val="solid"/>
          </a:ln>
        </p:spPr>
      </p:sp>
      <p:sp>
        <p:nvSpPr>
          <p:cNvPr id="63" name="Text 60"/>
          <p:cNvSpPr txBox="1"/>
          <p:nvPr/>
        </p:nvSpPr>
        <p:spPr>
          <a:xfrm>
            <a:off x="4113784" y="4463288"/>
            <a:ext cx="1207008" cy="329184"/>
          </a:xfrm>
          <a:prstGeom prst="rect">
            <a:avLst/>
          </a:prstGeom>
          <a:noFill/>
          <a:ln/>
        </p:spPr>
        <p:txBody>
          <a:bodyPr wrap="square" lIns="0" tIns="0" rIns="0" bIns="0" rtlCol="0" anchor="ctr"/>
          <a:lstStyle/>
          <a:p>
            <a:pPr algn="ctr" indent="0" marL="0">
              <a:buNone/>
            </a:pPr>
            <a:r>
              <a:rPr lang="en-US" sz="1600" b="1" dirty="0">
                <a:solidFill>
                  <a:schemeClr val="tx1"/>
                </a:solidFill>
              </a:rPr>
              <a:t>de werken</a:t>
            </a:r>
            <a:endParaRPr lang="en-US" sz="1600" dirty="0"/>
          </a:p>
        </p:txBody>
      </p:sp>
      <p:sp>
        <p:nvSpPr>
          <p:cNvPr id="64" name="Text 61"/>
          <p:cNvSpPr txBox="1"/>
          <p:nvPr/>
        </p:nvSpPr>
        <p:spPr>
          <a:xfrm>
            <a:off x="5467096" y="4225544"/>
            <a:ext cx="685800" cy="219456"/>
          </a:xfrm>
          <a:prstGeom prst="rect">
            <a:avLst/>
          </a:prstGeom>
          <a:noFill/>
          <a:ln/>
        </p:spPr>
        <p:txBody>
          <a:bodyPr wrap="square" lIns="0" tIns="0" rIns="0" bIns="0" rtlCol="0" anchor="b"/>
          <a:lstStyle/>
          <a:p>
            <a:pPr algn="ctr" indent="0" marL="0">
              <a:buNone/>
            </a:pPr>
            <a:r>
              <a:rPr lang="en-US" sz="1000" b="1" dirty="0">
                <a:solidFill>
                  <a:schemeClr val="accent1"/>
                </a:solidFill>
              </a:rPr>
              <a:t>particule</a:t>
            </a:r>
            <a:endParaRPr lang="en-US" sz="1000" dirty="0"/>
          </a:p>
        </p:txBody>
      </p:sp>
      <p:sp>
        <p:nvSpPr>
          <p:cNvPr id="65" name="Shape 62"/>
          <p:cNvSpPr/>
          <p:nvPr/>
        </p:nvSpPr>
        <p:spPr>
          <a:xfrm>
            <a:off x="5467096" y="4463288"/>
            <a:ext cx="685800" cy="329184"/>
          </a:xfrm>
          <a:prstGeom prst="roundRect">
            <a:avLst>
              <a:gd name="adj" fmla="val 16667"/>
            </a:avLst>
          </a:prstGeom>
          <a:solidFill>
            <a:schemeClr val="accent1">
              <a:alpha val="88000"/>
            </a:schemeClr>
          </a:solidFill>
          <a:ln w="12700">
            <a:solidFill>
              <a:srgbClr val="D9700F"/>
            </a:solidFill>
            <a:prstDash val="solid"/>
          </a:ln>
        </p:spPr>
      </p:sp>
      <p:sp>
        <p:nvSpPr>
          <p:cNvPr id="66" name="Text 63"/>
          <p:cNvSpPr txBox="1"/>
          <p:nvPr/>
        </p:nvSpPr>
        <p:spPr>
          <a:xfrm>
            <a:off x="5503672" y="4463288"/>
            <a:ext cx="612648" cy="329184"/>
          </a:xfrm>
          <a:prstGeom prst="rect">
            <a:avLst/>
          </a:prstGeom>
          <a:noFill/>
          <a:ln/>
        </p:spPr>
        <p:txBody>
          <a:bodyPr wrap="square" lIns="0" tIns="0" rIns="0" bIns="0" rtlCol="0" anchor="ctr"/>
          <a:lstStyle/>
          <a:p>
            <a:pPr algn="ctr" indent="0" marL="0">
              <a:buNone/>
            </a:pPr>
            <a:r>
              <a:rPr lang="en-US" sz="1600" b="1" dirty="0">
                <a:solidFill>
                  <a:schemeClr val="bg1"/>
                </a:solidFill>
              </a:rPr>
              <a:t>uit</a:t>
            </a:r>
            <a:endParaRPr lang="en-US" sz="1600" dirty="0"/>
          </a:p>
        </p:txBody>
      </p:sp>
      <p:sp>
        <p:nvSpPr>
          <p:cNvPr id="67" name="Text 64"/>
          <p:cNvSpPr txBox="1"/>
          <p:nvPr/>
        </p:nvSpPr>
        <p:spPr>
          <a:xfrm>
            <a:off x="2103120" y="4819904"/>
            <a:ext cx="9537192" cy="274320"/>
          </a:xfrm>
          <a:prstGeom prst="rect">
            <a:avLst/>
          </a:prstGeom>
          <a:noFill/>
          <a:ln/>
        </p:spPr>
        <p:txBody>
          <a:bodyPr wrap="square" lIns="0" tIns="0" rIns="0" bIns="0" rtlCol="0" anchor="ctr"/>
          <a:lstStyle/>
          <a:p>
            <a:pPr indent="0" marL="0">
              <a:buNone/>
            </a:pPr>
            <a:r>
              <a:rPr lang="en-US" sz="1400" i="1" dirty="0">
                <a:solidFill>
                  <a:schemeClr val="accent5"/>
                </a:solidFill>
              </a:rPr>
              <a:t>Nous reportons les travaux.</a:t>
            </a:r>
            <a:endParaRPr lang="en-US" sz="1400" dirty="0"/>
          </a:p>
        </p:txBody>
      </p:sp>
      <p:sp>
        <p:nvSpPr>
          <p:cNvPr id="68" name="Text 65"/>
          <p:cNvSpPr txBox="1"/>
          <p:nvPr/>
        </p:nvSpPr>
        <p:spPr>
          <a:xfrm>
            <a:off x="548640" y="5032756"/>
            <a:ext cx="1463040" cy="329184"/>
          </a:xfrm>
          <a:prstGeom prst="rect">
            <a:avLst/>
          </a:prstGeom>
          <a:noFill/>
          <a:ln/>
        </p:spPr>
        <p:txBody>
          <a:bodyPr wrap="square" lIns="0" tIns="0" rIns="0" bIns="0" rtlCol="0" anchor="ctr"/>
          <a:lstStyle/>
          <a:p>
            <a:pPr indent="0" marL="0">
              <a:buNone/>
            </a:pPr>
            <a:r>
              <a:rPr lang="en-US" sz="1400" b="1" dirty="0">
                <a:solidFill>
                  <a:schemeClr val="accent5"/>
                </a:solidFill>
              </a:rPr>
              <a:t>Het + inf.</a:t>
            </a:r>
            <a:endParaRPr lang="en-US" sz="1400" dirty="0"/>
          </a:p>
        </p:txBody>
      </p:sp>
      <p:sp>
        <p:nvSpPr>
          <p:cNvPr id="69" name="Text 66"/>
          <p:cNvSpPr txBox="1"/>
          <p:nvPr/>
        </p:nvSpPr>
        <p:spPr>
          <a:xfrm>
            <a:off x="2103120" y="4795012"/>
            <a:ext cx="1808480" cy="219456"/>
          </a:xfrm>
          <a:prstGeom prst="rect">
            <a:avLst/>
          </a:prstGeom>
          <a:noFill/>
          <a:ln/>
        </p:spPr>
        <p:txBody>
          <a:bodyPr wrap="square" lIns="0" tIns="0" rIns="0" bIns="0" rtlCol="0" anchor="b"/>
          <a:lstStyle/>
          <a:p>
            <a:pPr algn="ctr" indent="0" marL="0">
              <a:buNone/>
            </a:pPr>
            <a:r>
              <a:rPr lang="en-US" sz="1000" b="1" dirty="0">
                <a:solidFill>
                  <a:schemeClr val="accent3"/>
                </a:solidFill>
              </a:rPr>
              <a:t>het + infinitif</a:t>
            </a:r>
            <a:endParaRPr lang="en-US" sz="1000" dirty="0"/>
          </a:p>
        </p:txBody>
      </p:sp>
      <p:sp>
        <p:nvSpPr>
          <p:cNvPr id="70" name="Shape 67"/>
          <p:cNvSpPr/>
          <p:nvPr/>
        </p:nvSpPr>
        <p:spPr>
          <a:xfrm>
            <a:off x="2103120" y="5032756"/>
            <a:ext cx="1808480" cy="329184"/>
          </a:xfrm>
          <a:prstGeom prst="roundRect">
            <a:avLst>
              <a:gd name="adj" fmla="val 16667"/>
            </a:avLst>
          </a:prstGeom>
          <a:solidFill>
            <a:schemeClr val="accent3">
              <a:alpha val="88000"/>
            </a:schemeClr>
          </a:solidFill>
          <a:ln w="12700">
            <a:solidFill>
              <a:srgbClr val="2E7D4F"/>
            </a:solidFill>
            <a:prstDash val="solid"/>
          </a:ln>
        </p:spPr>
      </p:sp>
      <p:sp>
        <p:nvSpPr>
          <p:cNvPr id="71" name="Text 68"/>
          <p:cNvSpPr txBox="1"/>
          <p:nvPr/>
        </p:nvSpPr>
        <p:spPr>
          <a:xfrm>
            <a:off x="2139696" y="5032756"/>
            <a:ext cx="1735328" cy="329184"/>
          </a:xfrm>
          <a:prstGeom prst="rect">
            <a:avLst/>
          </a:prstGeom>
          <a:noFill/>
          <a:ln/>
        </p:spPr>
        <p:txBody>
          <a:bodyPr wrap="square" lIns="0" tIns="0" rIns="0" bIns="0" rtlCol="0" anchor="ctr"/>
          <a:lstStyle/>
          <a:p>
            <a:pPr algn="ctr" indent="0" marL="0">
              <a:buNone/>
            </a:pPr>
            <a:r>
              <a:rPr lang="en-US" sz="1600" b="1" dirty="0">
                <a:solidFill>
                  <a:schemeClr val="bg1"/>
                </a:solidFill>
              </a:rPr>
              <a:t>het uitstellen</a:t>
            </a:r>
            <a:endParaRPr lang="en-US" sz="1600" dirty="0"/>
          </a:p>
        </p:txBody>
      </p:sp>
      <p:sp>
        <p:nvSpPr>
          <p:cNvPr id="72" name="Text 69"/>
          <p:cNvSpPr txBox="1"/>
          <p:nvPr/>
        </p:nvSpPr>
        <p:spPr>
          <a:xfrm>
            <a:off x="4021328" y="4795012"/>
            <a:ext cx="685800" cy="219456"/>
          </a:xfrm>
          <a:prstGeom prst="rect">
            <a:avLst/>
          </a:prstGeom>
          <a:noFill/>
          <a:ln/>
        </p:spPr>
        <p:txBody>
          <a:bodyPr wrap="square" lIns="0" tIns="0" rIns="0" bIns="0" rtlCol="0" anchor="b"/>
          <a:lstStyle/>
          <a:p>
            <a:pPr algn="ctr" indent="0" marL="0">
              <a:buNone/>
            </a:pPr>
            <a:r>
              <a:rPr lang="en-US" sz="1000" b="1" dirty="0">
                <a:solidFill>
                  <a:srgbClr val="6E4A9E"/>
                </a:solidFill>
              </a:rPr>
              <a:t>liaison</a:t>
            </a:r>
            <a:endParaRPr lang="en-US" sz="1000" dirty="0"/>
          </a:p>
        </p:txBody>
      </p:sp>
      <p:sp>
        <p:nvSpPr>
          <p:cNvPr id="73" name="Shape 70"/>
          <p:cNvSpPr/>
          <p:nvPr/>
        </p:nvSpPr>
        <p:spPr>
          <a:xfrm>
            <a:off x="4021328" y="5032756"/>
            <a:ext cx="685800" cy="329184"/>
          </a:xfrm>
          <a:prstGeom prst="roundRect">
            <a:avLst>
              <a:gd name="adj" fmla="val 16667"/>
            </a:avLst>
          </a:prstGeom>
          <a:solidFill>
            <a:srgbClr val="6E4A9E">
              <a:alpha val="88000"/>
            </a:srgbClr>
          </a:solidFill>
          <a:ln w="12700">
            <a:solidFill>
              <a:srgbClr val="6E4A9E"/>
            </a:solidFill>
            <a:prstDash val="solid"/>
          </a:ln>
        </p:spPr>
      </p:sp>
      <p:sp>
        <p:nvSpPr>
          <p:cNvPr id="74" name="Text 71"/>
          <p:cNvSpPr txBox="1"/>
          <p:nvPr/>
        </p:nvSpPr>
        <p:spPr>
          <a:xfrm>
            <a:off x="4057904" y="5032756"/>
            <a:ext cx="612648" cy="329184"/>
          </a:xfrm>
          <a:prstGeom prst="rect">
            <a:avLst/>
          </a:prstGeom>
          <a:noFill/>
          <a:ln/>
        </p:spPr>
        <p:txBody>
          <a:bodyPr wrap="square" lIns="0" tIns="0" rIns="0" bIns="0" rtlCol="0" anchor="ctr"/>
          <a:lstStyle/>
          <a:p>
            <a:pPr algn="ctr" indent="0" marL="0">
              <a:buNone/>
            </a:pPr>
            <a:r>
              <a:rPr lang="en-US" sz="1600" b="1" dirty="0">
                <a:solidFill>
                  <a:schemeClr val="bg1"/>
                </a:solidFill>
              </a:rPr>
              <a:t>van</a:t>
            </a:r>
            <a:endParaRPr lang="en-US" sz="1600" dirty="0"/>
          </a:p>
        </p:txBody>
      </p:sp>
      <p:sp>
        <p:nvSpPr>
          <p:cNvPr id="75" name="Text 72"/>
          <p:cNvSpPr txBox="1"/>
          <p:nvPr/>
        </p:nvSpPr>
        <p:spPr>
          <a:xfrm>
            <a:off x="4816856" y="4795012"/>
            <a:ext cx="1280160" cy="219456"/>
          </a:xfrm>
          <a:prstGeom prst="rect">
            <a:avLst/>
          </a:prstGeom>
          <a:noFill/>
          <a:ln/>
        </p:spPr>
        <p:txBody>
          <a:bodyPr wrap="square" lIns="0" tIns="0" rIns="0" bIns="0" rtlCol="0" anchor="b"/>
          <a:lstStyle/>
          <a:p>
            <a:pPr algn="ctr" indent="0" marL="0">
              <a:buNone/>
            </a:pPr>
            <a:r>
              <a:rPr lang="en-US" sz="1000" b="1" dirty="0">
                <a:solidFill>
                  <a:schemeClr val="accent5"/>
                </a:solidFill>
              </a:rPr>
              <a:t>objet</a:t>
            </a:r>
            <a:endParaRPr lang="en-US" sz="1000" dirty="0"/>
          </a:p>
        </p:txBody>
      </p:sp>
      <p:sp>
        <p:nvSpPr>
          <p:cNvPr id="76" name="Shape 73"/>
          <p:cNvSpPr/>
          <p:nvPr/>
        </p:nvSpPr>
        <p:spPr>
          <a:xfrm>
            <a:off x="4816856" y="5032756"/>
            <a:ext cx="1280160" cy="329184"/>
          </a:xfrm>
          <a:prstGeom prst="roundRect">
            <a:avLst>
              <a:gd name="adj" fmla="val 16667"/>
            </a:avLst>
          </a:prstGeom>
          <a:solidFill>
            <a:schemeClr val="accent5">
              <a:alpha val="25000"/>
            </a:schemeClr>
          </a:solidFill>
          <a:ln w="12700">
            <a:solidFill>
              <a:srgbClr val="4A5A70"/>
            </a:solidFill>
            <a:prstDash val="solid"/>
          </a:ln>
        </p:spPr>
      </p:sp>
      <p:sp>
        <p:nvSpPr>
          <p:cNvPr id="77" name="Text 74"/>
          <p:cNvSpPr txBox="1"/>
          <p:nvPr/>
        </p:nvSpPr>
        <p:spPr>
          <a:xfrm>
            <a:off x="4853432" y="5032756"/>
            <a:ext cx="1207008" cy="329184"/>
          </a:xfrm>
          <a:prstGeom prst="rect">
            <a:avLst/>
          </a:prstGeom>
          <a:noFill/>
          <a:ln/>
        </p:spPr>
        <p:txBody>
          <a:bodyPr wrap="square" lIns="0" tIns="0" rIns="0" bIns="0" rtlCol="0" anchor="ctr"/>
          <a:lstStyle/>
          <a:p>
            <a:pPr algn="ctr" indent="0" marL="0">
              <a:buNone/>
            </a:pPr>
            <a:r>
              <a:rPr lang="en-US" sz="1600" b="1" dirty="0">
                <a:solidFill>
                  <a:schemeClr val="tx1"/>
                </a:solidFill>
              </a:rPr>
              <a:t>de werken</a:t>
            </a:r>
            <a:endParaRPr lang="en-US" sz="1600" dirty="0"/>
          </a:p>
        </p:txBody>
      </p:sp>
      <p:sp>
        <p:nvSpPr>
          <p:cNvPr id="78" name="Text 75"/>
          <p:cNvSpPr txBox="1"/>
          <p:nvPr/>
        </p:nvSpPr>
        <p:spPr>
          <a:xfrm>
            <a:off x="2103120" y="5389372"/>
            <a:ext cx="9537192" cy="274320"/>
          </a:xfrm>
          <a:prstGeom prst="rect">
            <a:avLst/>
          </a:prstGeom>
          <a:noFill/>
          <a:ln/>
        </p:spPr>
        <p:txBody>
          <a:bodyPr wrap="square" lIns="0" tIns="0" rIns="0" bIns="0" rtlCol="0" anchor="ctr"/>
          <a:lstStyle/>
          <a:p>
            <a:pPr indent="0" marL="0">
              <a:buNone/>
            </a:pPr>
            <a:r>
              <a:rPr lang="en-US" sz="1400" i="1" dirty="0">
                <a:solidFill>
                  <a:schemeClr val="accent5"/>
                </a:solidFill>
              </a:rPr>
              <a:t>le report des travaux</a:t>
            </a:r>
            <a:endParaRPr lang="en-US" sz="1400" dirty="0"/>
          </a:p>
        </p:txBody>
      </p:sp>
      <p:sp>
        <p:nvSpPr>
          <p:cNvPr id="79" name="Shape 76"/>
          <p:cNvSpPr/>
          <p:nvPr/>
        </p:nvSpPr>
        <p:spPr>
          <a:xfrm>
            <a:off x="548640" y="5565648"/>
            <a:ext cx="11091672" cy="725424"/>
          </a:xfrm>
          <a:prstGeom prst="roundRect">
            <a:avLst>
              <a:gd name="adj" fmla="val 10084"/>
            </a:avLst>
          </a:prstGeom>
          <a:solidFill>
            <a:schemeClr val="accent2">
              <a:alpha val="10000"/>
            </a:schemeClr>
          </a:solidFill>
          <a:ln w="9525">
            <a:solidFill>
              <a:schemeClr val="accent2">
                <a:alpha val="70000"/>
              </a:schemeClr>
            </a:solidFill>
            <a:prstDash val="solid"/>
          </a:ln>
        </p:spPr>
      </p:sp>
      <p:pic>
        <p:nvPicPr>
          <p:cNvPr id="80" name="Image 0" descr="preencoded.png">    </p:cNvPr>
          <p:cNvPicPr>
            <a:picLocks noChangeAspect="1"/>
          </p:cNvPicPr>
          <p:nvPr/>
        </p:nvPicPr>
        <p:blipFill>
          <a:blip r:embed="rId1"/>
          <a:stretch>
            <a:fillRect/>
          </a:stretch>
        </p:blipFill>
        <p:spPr>
          <a:xfrm>
            <a:off x="749808" y="5763768"/>
            <a:ext cx="329184" cy="329184"/>
          </a:xfrm>
          <a:prstGeom prst="rect">
            <a:avLst/>
          </a:prstGeom>
        </p:spPr>
      </p:pic>
      <p:sp>
        <p:nvSpPr>
          <p:cNvPr id="81" name="Text 77"/>
          <p:cNvSpPr txBox="1"/>
          <p:nvPr/>
        </p:nvSpPr>
        <p:spPr>
          <a:xfrm>
            <a:off x="1234440" y="5602224"/>
            <a:ext cx="10287000" cy="652272"/>
          </a:xfrm>
          <a:prstGeom prst="rect">
            <a:avLst/>
          </a:prstGeom>
          <a:noFill/>
          <a:ln/>
        </p:spPr>
        <p:txBody>
          <a:bodyPr wrap="square" lIns="0" tIns="0" rIns="0" bIns="0" rtlCol="0" anchor="ctr"/>
          <a:lstStyle/>
          <a:p>
            <a:pPr indent="0" marL="0">
              <a:buNone/>
            </a:pPr>
            <a:r>
              <a:rPr lang="en-US" sz="1700" b="1" dirty="0">
                <a:solidFill>
                  <a:schemeClr val="accent2"/>
                </a:solidFill>
              </a:rPr>
              <a:t>Astuce — </a:t>
            </a:r>
            <a:r>
              <a:rPr lang="en-US" sz="1700" dirty="0">
                <a:solidFill>
                  <a:schemeClr val="tx1"/>
                </a:solidFill>
              </a:rPr>
              <a:t>Les noms en -ing, -heid, -teit prennent </a:t>
            </a:r>
            <a:r>
              <a:rPr lang="en-US" sz="1700" b="1" dirty="0">
                <a:solidFill>
                  <a:schemeClr val="tx1"/>
                </a:solidFill>
              </a:rPr>
              <a:t>de</a:t>
            </a:r>
            <a:r>
              <a:rPr lang="en-US" sz="1700" dirty="0">
                <a:solidFill>
                  <a:schemeClr val="tx1"/>
                </a:solidFill>
              </a:rPr>
              <a:t> : précieux dans une relative — </a:t>
            </a:r>
            <a:r>
              <a:rPr lang="en-US" sz="1700" i="1" dirty="0">
                <a:solidFill>
                  <a:schemeClr val="tx1"/>
                </a:solidFill>
              </a:rPr>
              <a:t>de beslissing </a:t>
            </a:r>
            <a:r>
              <a:rPr lang="en-US" sz="1700" b="1" i="1" dirty="0">
                <a:solidFill>
                  <a:schemeClr val="tx1"/>
                </a:solidFill>
              </a:rPr>
              <a:t>die</a:t>
            </a:r>
            <a:r>
              <a:rPr lang="en-US" sz="1700" i="1" dirty="0">
                <a:solidFill>
                  <a:schemeClr val="tx1"/>
                </a:solidFill>
              </a:rPr>
              <a:t> genomen </a:t>
            </a:r>
            <a:r>
              <a:rPr lang="en-US" sz="1700" b="1" i="1" dirty="0">
                <a:solidFill>
                  <a:schemeClr val="tx1"/>
                </a:solidFill>
              </a:rPr>
              <a:t>werd</a:t>
            </a:r>
            <a:r>
              <a:rPr lang="en-US" sz="1700" dirty="0">
                <a:solidFill>
                  <a:schemeClr val="tx1"/>
                </a:solidFill>
              </a:rPr>
              <a:t> (palier 5 + palier 6 dans une seule phrase).</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Erreurs fréquentes avec les nominalisations</a:t>
            </a:r>
            <a:endParaRPr lang="en-US" sz="3200" dirty="0"/>
          </a:p>
        </p:txBody>
      </p:sp>
      <p:sp>
        <p:nvSpPr>
          <p:cNvPr id="3" name="tag"/>
          <p:cNvSpPr/>
          <p:nvPr/>
        </p:nvSpPr>
        <p:spPr>
          <a:xfrm>
            <a:off x="548640" y="237744"/>
            <a:ext cx="1074420" cy="310896"/>
          </a:xfrm>
          <a:prstGeom prst="roundRect">
            <a:avLst>
              <a:gd name="adj" fmla="val 14706"/>
            </a:avLst>
          </a:prstGeom>
          <a:solidFill>
            <a:schemeClr val="accent6"/>
          </a:solidFill>
          <a:ln/>
        </p:spPr>
        <p:txBody>
          <a:bodyPr wrap="square" lIns="0" tIns="0" rIns="0" bIns="0" rtlCol="0" anchor="ctr"/>
          <a:lstStyle/>
          <a:p>
            <a:pPr algn="ctr" indent="0" marL="0">
              <a:buNone/>
            </a:pPr>
            <a:r>
              <a:rPr lang="en-US" sz="1200" b="1" spc="100" kern="0" dirty="0">
                <a:solidFill>
                  <a:schemeClr val="bg1"/>
                </a:solidFill>
              </a:rPr>
              <a:t>PIÈGE</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Hors syllabus</a:t>
            </a:r>
            <a:endParaRPr lang="en-US" sz="1200" dirty="0"/>
          </a:p>
        </p:txBody>
      </p:sp>
      <p:sp>
        <p:nvSpPr>
          <p:cNvPr id="6" name="Text 3"/>
          <p:cNvSpPr txBox="1"/>
          <p:nvPr/>
        </p:nvSpPr>
        <p:spPr>
          <a:xfrm>
            <a:off x="548640" y="1508760"/>
            <a:ext cx="11091672" cy="313944"/>
          </a:xfrm>
          <a:prstGeom prst="rect">
            <a:avLst/>
          </a:prstGeom>
          <a:noFill/>
          <a:ln/>
        </p:spPr>
        <p:txBody>
          <a:bodyPr wrap="square" lIns="0" tIns="0" rIns="0" bIns="0" rtlCol="0" anchor="t"/>
          <a:lstStyle/>
          <a:p>
            <a:pPr indent="0" marL="0">
              <a:buNone/>
            </a:pPr>
            <a:r>
              <a:rPr lang="en-US" sz="1700" i="1" dirty="0">
                <a:solidFill>
                  <a:schemeClr val="accent5"/>
                </a:solidFill>
              </a:rPr>
              <a:t>Quatre fautes typiques des francophones — lisez à voix haute et corrigez.</a:t>
            </a:r>
            <a:endParaRPr lang="en-US" sz="1700" dirty="0"/>
          </a:p>
        </p:txBody>
      </p:sp>
      <p:sp>
        <p:nvSpPr>
          <p:cNvPr id="7" name="Shape 4"/>
          <p:cNvSpPr/>
          <p:nvPr/>
        </p:nvSpPr>
        <p:spPr>
          <a:xfrm>
            <a:off x="548640" y="1932432"/>
            <a:ext cx="11091672" cy="1007364"/>
          </a:xfrm>
          <a:prstGeom prst="roundRect">
            <a:avLst>
              <a:gd name="adj" fmla="val 5446"/>
            </a:avLst>
          </a:prstGeom>
          <a:solidFill>
            <a:schemeClr val="bg2"/>
          </a:solidFill>
          <a:ln w="6350">
            <a:solidFill>
              <a:srgbClr val="D5DCE6"/>
            </a:solidFill>
            <a:prstDash val="solid"/>
          </a:ln>
        </p:spPr>
      </p:sp>
      <p:pic>
        <p:nvPicPr>
          <p:cNvPr id="8" name="Image 0" descr="preencoded.png">    </p:cNvPr>
          <p:cNvPicPr>
            <a:picLocks noChangeAspect="1"/>
          </p:cNvPicPr>
          <p:nvPr/>
        </p:nvPicPr>
        <p:blipFill>
          <a:blip r:embed="rId1"/>
          <a:stretch>
            <a:fillRect/>
          </a:stretch>
        </p:blipFill>
        <p:spPr>
          <a:xfrm>
            <a:off x="685800" y="2298954"/>
            <a:ext cx="274320" cy="274320"/>
          </a:xfrm>
          <a:prstGeom prst="rect">
            <a:avLst/>
          </a:prstGeom>
        </p:spPr>
      </p:pic>
      <p:sp>
        <p:nvSpPr>
          <p:cNvPr id="9" name="Text 5"/>
          <p:cNvSpPr txBox="1"/>
          <p:nvPr/>
        </p:nvSpPr>
        <p:spPr>
          <a:xfrm>
            <a:off x="1051560" y="1932432"/>
            <a:ext cx="3291840" cy="1007364"/>
          </a:xfrm>
          <a:prstGeom prst="rect">
            <a:avLst/>
          </a:prstGeom>
          <a:noFill/>
          <a:ln/>
        </p:spPr>
        <p:txBody>
          <a:bodyPr wrap="square" lIns="0" tIns="0" rIns="0" bIns="0" rtlCol="0" anchor="ctr"/>
          <a:lstStyle/>
          <a:p>
            <a:pPr indent="0" marL="0">
              <a:buNone/>
            </a:pPr>
            <a:r>
              <a:rPr lang="en-US" sz="2000" strike="sngStrike" dirty="0">
                <a:solidFill>
                  <a:schemeClr val="accent6"/>
                </a:solidFill>
              </a:rPr>
              <a:t>✗ de renovatie de gevel</a:t>
            </a:r>
            <a:endParaRPr lang="en-US" sz="2000" dirty="0"/>
          </a:p>
        </p:txBody>
      </p:sp>
      <p:pic>
        <p:nvPicPr>
          <p:cNvPr id="10" name="Image 1" descr="preencoded.png">    </p:cNvPr>
          <p:cNvPicPr>
            <a:picLocks noChangeAspect="1"/>
          </p:cNvPicPr>
          <p:nvPr/>
        </p:nvPicPr>
        <p:blipFill>
          <a:blip r:embed="rId2"/>
          <a:stretch>
            <a:fillRect/>
          </a:stretch>
        </p:blipFill>
        <p:spPr>
          <a:xfrm>
            <a:off x="4572000" y="2298954"/>
            <a:ext cx="274320" cy="274320"/>
          </a:xfrm>
          <a:prstGeom prst="rect">
            <a:avLst/>
          </a:prstGeom>
        </p:spPr>
      </p:pic>
      <p:sp>
        <p:nvSpPr>
          <p:cNvPr id="11" name="Text 6"/>
          <p:cNvSpPr txBox="1"/>
          <p:nvPr/>
        </p:nvSpPr>
        <p:spPr>
          <a:xfrm>
            <a:off x="4937760" y="1932432"/>
            <a:ext cx="3291840" cy="1007364"/>
          </a:xfrm>
          <a:prstGeom prst="rect">
            <a:avLst/>
          </a:prstGeom>
          <a:noFill/>
          <a:ln/>
        </p:spPr>
        <p:txBody>
          <a:bodyPr wrap="square" lIns="0" tIns="0" rIns="0" bIns="0" rtlCol="0" anchor="ctr"/>
          <a:lstStyle/>
          <a:p>
            <a:pPr indent="0" marL="0">
              <a:buNone/>
            </a:pPr>
            <a:r>
              <a:rPr lang="en-US" sz="2000" dirty="0">
                <a:solidFill>
                  <a:schemeClr val="tx1"/>
                </a:solidFill>
              </a:rPr>
              <a:t>✓ de renovatie </a:t>
            </a:r>
            <a:r>
              <a:rPr lang="en-US" sz="2000" b="1" dirty="0">
                <a:solidFill>
                  <a:schemeClr val="tx1"/>
                </a:solidFill>
              </a:rPr>
              <a:t>van</a:t>
            </a:r>
            <a:r>
              <a:rPr lang="en-US" sz="2000" dirty="0">
                <a:solidFill>
                  <a:schemeClr val="tx1"/>
                </a:solidFill>
              </a:rPr>
              <a:t> de gevel</a:t>
            </a:r>
            <a:endParaRPr lang="en-US" sz="2000" dirty="0"/>
          </a:p>
        </p:txBody>
      </p:sp>
      <p:sp>
        <p:nvSpPr>
          <p:cNvPr id="12" name="Text 7"/>
          <p:cNvSpPr txBox="1"/>
          <p:nvPr/>
        </p:nvSpPr>
        <p:spPr>
          <a:xfrm>
            <a:off x="8458200" y="1932432"/>
            <a:ext cx="3090672" cy="1007364"/>
          </a:xfrm>
          <a:prstGeom prst="rect">
            <a:avLst/>
          </a:prstGeom>
          <a:noFill/>
          <a:ln/>
        </p:spPr>
        <p:txBody>
          <a:bodyPr wrap="square" lIns="0" tIns="0" rIns="0" bIns="0" rtlCol="0" anchor="ctr"/>
          <a:lstStyle/>
          <a:p>
            <a:pPr indent="0" marL="0">
              <a:buNone/>
            </a:pPr>
            <a:r>
              <a:rPr lang="en-US" sz="1800" i="1" dirty="0">
                <a:solidFill>
                  <a:schemeClr val="accent5"/>
                </a:solidFill>
              </a:rPr>
              <a:t>Le complément du nom passe par </a:t>
            </a:r>
            <a:r>
              <a:rPr lang="en-US" sz="1800" b="1" i="1" dirty="0">
                <a:solidFill>
                  <a:schemeClr val="accent5"/>
                </a:solidFill>
              </a:rPr>
              <a:t>van</a:t>
            </a:r>
            <a:r>
              <a:rPr lang="en-US" sz="1800" i="1" dirty="0">
                <a:solidFill>
                  <a:schemeClr val="accent5"/>
                </a:solidFill>
              </a:rPr>
              <a:t>.</a:t>
            </a:r>
            <a:endParaRPr lang="en-US" sz="1800" dirty="0"/>
          </a:p>
        </p:txBody>
      </p:sp>
      <p:sp>
        <p:nvSpPr>
          <p:cNvPr id="13" name="Shape 8"/>
          <p:cNvSpPr/>
          <p:nvPr/>
        </p:nvSpPr>
        <p:spPr>
          <a:xfrm>
            <a:off x="548640" y="3049524"/>
            <a:ext cx="11091672" cy="1007364"/>
          </a:xfrm>
          <a:prstGeom prst="roundRect">
            <a:avLst>
              <a:gd name="adj" fmla="val 5446"/>
            </a:avLst>
          </a:prstGeom>
          <a:solidFill>
            <a:schemeClr val="bg1"/>
          </a:solidFill>
          <a:ln w="6350">
            <a:solidFill>
              <a:srgbClr val="D5DCE6"/>
            </a:solidFill>
            <a:prstDash val="solid"/>
          </a:ln>
        </p:spPr>
      </p:sp>
      <p:pic>
        <p:nvPicPr>
          <p:cNvPr id="14" name="Image 2" descr="preencoded.png">    </p:cNvPr>
          <p:cNvPicPr>
            <a:picLocks noChangeAspect="1"/>
          </p:cNvPicPr>
          <p:nvPr/>
        </p:nvPicPr>
        <p:blipFill>
          <a:blip r:embed="rId3"/>
          <a:stretch>
            <a:fillRect/>
          </a:stretch>
        </p:blipFill>
        <p:spPr>
          <a:xfrm>
            <a:off x="685800" y="3416046"/>
            <a:ext cx="274320" cy="274320"/>
          </a:xfrm>
          <a:prstGeom prst="rect">
            <a:avLst/>
          </a:prstGeom>
        </p:spPr>
      </p:pic>
      <p:sp>
        <p:nvSpPr>
          <p:cNvPr id="15" name="Text 9"/>
          <p:cNvSpPr txBox="1"/>
          <p:nvPr/>
        </p:nvSpPr>
        <p:spPr>
          <a:xfrm>
            <a:off x="1051560" y="3049524"/>
            <a:ext cx="3291840" cy="1007364"/>
          </a:xfrm>
          <a:prstGeom prst="rect">
            <a:avLst/>
          </a:prstGeom>
          <a:noFill/>
          <a:ln/>
        </p:spPr>
        <p:txBody>
          <a:bodyPr wrap="square" lIns="0" tIns="0" rIns="0" bIns="0" rtlCol="0" anchor="ctr"/>
          <a:lstStyle/>
          <a:p>
            <a:pPr indent="0" marL="0">
              <a:buNone/>
            </a:pPr>
            <a:r>
              <a:rPr lang="en-US" sz="2000" strike="sngStrike" dirty="0">
                <a:solidFill>
                  <a:schemeClr val="accent6"/>
                </a:solidFill>
              </a:rPr>
              <a:t>✗ het stemming</a:t>
            </a:r>
            <a:endParaRPr lang="en-US" sz="2000" dirty="0"/>
          </a:p>
        </p:txBody>
      </p:sp>
      <p:pic>
        <p:nvPicPr>
          <p:cNvPr id="16" name="Image 3" descr="preencoded.png">    </p:cNvPr>
          <p:cNvPicPr>
            <a:picLocks noChangeAspect="1"/>
          </p:cNvPicPr>
          <p:nvPr/>
        </p:nvPicPr>
        <p:blipFill>
          <a:blip r:embed="rId4"/>
          <a:stretch>
            <a:fillRect/>
          </a:stretch>
        </p:blipFill>
        <p:spPr>
          <a:xfrm>
            <a:off x="4572000" y="3416046"/>
            <a:ext cx="274320" cy="274320"/>
          </a:xfrm>
          <a:prstGeom prst="rect">
            <a:avLst/>
          </a:prstGeom>
        </p:spPr>
      </p:pic>
      <p:sp>
        <p:nvSpPr>
          <p:cNvPr id="17" name="Text 10"/>
          <p:cNvSpPr txBox="1"/>
          <p:nvPr/>
        </p:nvSpPr>
        <p:spPr>
          <a:xfrm>
            <a:off x="4937760" y="3049524"/>
            <a:ext cx="3291840" cy="1007364"/>
          </a:xfrm>
          <a:prstGeom prst="rect">
            <a:avLst/>
          </a:prstGeom>
          <a:noFill/>
          <a:ln/>
        </p:spPr>
        <p:txBody>
          <a:bodyPr wrap="square" lIns="0" tIns="0" rIns="0" bIns="0" rtlCol="0" anchor="ctr"/>
          <a:lstStyle/>
          <a:p>
            <a:pPr indent="0" marL="0">
              <a:buNone/>
            </a:pPr>
            <a:r>
              <a:rPr lang="en-US" sz="2000" dirty="0">
                <a:solidFill>
                  <a:schemeClr val="tx1"/>
                </a:solidFill>
              </a:rPr>
              <a:t>✓ </a:t>
            </a:r>
            <a:r>
              <a:rPr lang="en-US" sz="2000" b="1" dirty="0">
                <a:solidFill>
                  <a:schemeClr val="tx1"/>
                </a:solidFill>
              </a:rPr>
              <a:t>de</a:t>
            </a:r>
            <a:r>
              <a:rPr lang="en-US" sz="2000" dirty="0">
                <a:solidFill>
                  <a:schemeClr val="tx1"/>
                </a:solidFill>
              </a:rPr>
              <a:t> stemming</a:t>
            </a:r>
            <a:endParaRPr lang="en-US" sz="2000" dirty="0"/>
          </a:p>
        </p:txBody>
      </p:sp>
      <p:sp>
        <p:nvSpPr>
          <p:cNvPr id="18" name="Text 11"/>
          <p:cNvSpPr txBox="1"/>
          <p:nvPr/>
        </p:nvSpPr>
        <p:spPr>
          <a:xfrm>
            <a:off x="8458200" y="3049524"/>
            <a:ext cx="3090672" cy="1007364"/>
          </a:xfrm>
          <a:prstGeom prst="rect">
            <a:avLst/>
          </a:prstGeom>
          <a:noFill/>
          <a:ln/>
        </p:spPr>
        <p:txBody>
          <a:bodyPr wrap="square" lIns="0" tIns="0" rIns="0" bIns="0" rtlCol="0" anchor="ctr"/>
          <a:lstStyle/>
          <a:p>
            <a:pPr indent="0" marL="0">
              <a:buNone/>
            </a:pPr>
            <a:r>
              <a:rPr lang="en-US" sz="1800" i="1" dirty="0">
                <a:solidFill>
                  <a:schemeClr val="accent5"/>
                </a:solidFill>
              </a:rPr>
              <a:t>Tous les noms en -ing prennent </a:t>
            </a:r>
            <a:r>
              <a:rPr lang="en-US" sz="1800" b="1" i="1" dirty="0">
                <a:solidFill>
                  <a:schemeClr val="accent5"/>
                </a:solidFill>
              </a:rPr>
              <a:t>de</a:t>
            </a:r>
            <a:r>
              <a:rPr lang="en-US" sz="1800" i="1" dirty="0">
                <a:solidFill>
                  <a:schemeClr val="accent5"/>
                </a:solidFill>
              </a:rPr>
              <a:t>.</a:t>
            </a:r>
            <a:endParaRPr lang="en-US" sz="1800" dirty="0"/>
          </a:p>
        </p:txBody>
      </p:sp>
      <p:sp>
        <p:nvSpPr>
          <p:cNvPr id="19" name="Shape 12"/>
          <p:cNvSpPr/>
          <p:nvPr/>
        </p:nvSpPr>
        <p:spPr>
          <a:xfrm>
            <a:off x="548640" y="4166616"/>
            <a:ext cx="11091672" cy="1007364"/>
          </a:xfrm>
          <a:prstGeom prst="roundRect">
            <a:avLst>
              <a:gd name="adj" fmla="val 5446"/>
            </a:avLst>
          </a:prstGeom>
          <a:solidFill>
            <a:schemeClr val="bg2"/>
          </a:solidFill>
          <a:ln w="6350">
            <a:solidFill>
              <a:srgbClr val="D5DCE6"/>
            </a:solidFill>
            <a:prstDash val="solid"/>
          </a:ln>
        </p:spPr>
      </p:sp>
      <p:pic>
        <p:nvPicPr>
          <p:cNvPr id="20" name="Image 4" descr="preencoded.png">    </p:cNvPr>
          <p:cNvPicPr>
            <a:picLocks noChangeAspect="1"/>
          </p:cNvPicPr>
          <p:nvPr/>
        </p:nvPicPr>
        <p:blipFill>
          <a:blip r:embed="rId5"/>
          <a:stretch>
            <a:fillRect/>
          </a:stretch>
        </p:blipFill>
        <p:spPr>
          <a:xfrm>
            <a:off x="685800" y="4533138"/>
            <a:ext cx="274320" cy="274320"/>
          </a:xfrm>
          <a:prstGeom prst="rect">
            <a:avLst/>
          </a:prstGeom>
        </p:spPr>
      </p:pic>
      <p:sp>
        <p:nvSpPr>
          <p:cNvPr id="21" name="Text 13"/>
          <p:cNvSpPr txBox="1"/>
          <p:nvPr/>
        </p:nvSpPr>
        <p:spPr>
          <a:xfrm>
            <a:off x="1051560" y="4166616"/>
            <a:ext cx="3291840" cy="1007364"/>
          </a:xfrm>
          <a:prstGeom prst="rect">
            <a:avLst/>
          </a:prstGeom>
          <a:noFill/>
          <a:ln/>
        </p:spPr>
        <p:txBody>
          <a:bodyPr wrap="square" lIns="0" tIns="0" rIns="0" bIns="0" rtlCol="0" anchor="ctr"/>
          <a:lstStyle/>
          <a:p>
            <a:pPr indent="0" marL="0">
              <a:buNone/>
            </a:pPr>
            <a:r>
              <a:rPr lang="en-US" sz="2000" strike="sngStrike" dirty="0">
                <a:solidFill>
                  <a:schemeClr val="accent6"/>
                </a:solidFill>
              </a:rPr>
              <a:t>✗ de uitstelling van de werken</a:t>
            </a:r>
            <a:endParaRPr lang="en-US" sz="2000" dirty="0"/>
          </a:p>
        </p:txBody>
      </p:sp>
      <p:pic>
        <p:nvPicPr>
          <p:cNvPr id="22" name="Image 5" descr="preencoded.png">    </p:cNvPr>
          <p:cNvPicPr>
            <a:picLocks noChangeAspect="1"/>
          </p:cNvPicPr>
          <p:nvPr/>
        </p:nvPicPr>
        <p:blipFill>
          <a:blip r:embed="rId6"/>
          <a:stretch>
            <a:fillRect/>
          </a:stretch>
        </p:blipFill>
        <p:spPr>
          <a:xfrm>
            <a:off x="4572000" y="4533138"/>
            <a:ext cx="274320" cy="274320"/>
          </a:xfrm>
          <a:prstGeom prst="rect">
            <a:avLst/>
          </a:prstGeom>
        </p:spPr>
      </p:pic>
      <p:sp>
        <p:nvSpPr>
          <p:cNvPr id="23" name="Text 14"/>
          <p:cNvSpPr txBox="1"/>
          <p:nvPr/>
        </p:nvSpPr>
        <p:spPr>
          <a:xfrm>
            <a:off x="4937760" y="4166616"/>
            <a:ext cx="3291840" cy="1007364"/>
          </a:xfrm>
          <a:prstGeom prst="rect">
            <a:avLst/>
          </a:prstGeom>
          <a:noFill/>
          <a:ln/>
        </p:spPr>
        <p:txBody>
          <a:bodyPr wrap="square" lIns="0" tIns="0" rIns="0" bIns="0" rtlCol="0" anchor="ctr"/>
          <a:lstStyle/>
          <a:p>
            <a:pPr indent="0" marL="0">
              <a:buNone/>
            </a:pPr>
            <a:r>
              <a:rPr lang="en-US" sz="2000" dirty="0">
                <a:solidFill>
                  <a:schemeClr val="tx1"/>
                </a:solidFill>
              </a:rPr>
              <a:t>✓ </a:t>
            </a:r>
            <a:r>
              <a:rPr lang="en-US" sz="2000" b="1" dirty="0">
                <a:solidFill>
                  <a:schemeClr val="tx1"/>
                </a:solidFill>
              </a:rPr>
              <a:t>het uitstellen</a:t>
            </a:r>
            <a:r>
              <a:rPr lang="en-US" sz="2000" dirty="0">
                <a:solidFill>
                  <a:schemeClr val="tx1"/>
                </a:solidFill>
              </a:rPr>
              <a:t> van de werken</a:t>
            </a:r>
            <a:endParaRPr lang="en-US" sz="2000" dirty="0"/>
          </a:p>
        </p:txBody>
      </p:sp>
      <p:sp>
        <p:nvSpPr>
          <p:cNvPr id="24" name="Text 15"/>
          <p:cNvSpPr txBox="1"/>
          <p:nvPr/>
        </p:nvSpPr>
        <p:spPr>
          <a:xfrm>
            <a:off x="8458200" y="4166616"/>
            <a:ext cx="3090672" cy="1007364"/>
          </a:xfrm>
          <a:prstGeom prst="rect">
            <a:avLst/>
          </a:prstGeom>
          <a:noFill/>
          <a:ln/>
        </p:spPr>
        <p:txBody>
          <a:bodyPr wrap="square" lIns="0" tIns="0" rIns="0" bIns="0" rtlCol="0" anchor="ctr"/>
          <a:lstStyle/>
          <a:p>
            <a:pPr indent="0" marL="0">
              <a:buNone/>
            </a:pPr>
            <a:r>
              <a:rPr lang="en-US" sz="1800" i="1" dirty="0">
                <a:solidFill>
                  <a:schemeClr val="accent5"/>
                </a:solidFill>
              </a:rPr>
              <a:t>Pas de -ing ici : </a:t>
            </a:r>
            <a:r>
              <a:rPr lang="en-US" sz="1800" b="1" i="1" dirty="0">
                <a:solidFill>
                  <a:schemeClr val="accent5"/>
                </a:solidFill>
              </a:rPr>
              <a:t>het</a:t>
            </a:r>
            <a:r>
              <a:rPr lang="en-US" sz="1800" i="1" dirty="0">
                <a:solidFill>
                  <a:schemeClr val="accent5"/>
                </a:solidFill>
              </a:rPr>
              <a:t> + infinitif.</a:t>
            </a:r>
            <a:endParaRPr lang="en-US" sz="1800" dirty="0"/>
          </a:p>
        </p:txBody>
      </p:sp>
      <p:sp>
        <p:nvSpPr>
          <p:cNvPr id="25" name="Shape 16"/>
          <p:cNvSpPr/>
          <p:nvPr/>
        </p:nvSpPr>
        <p:spPr>
          <a:xfrm>
            <a:off x="548640" y="5283708"/>
            <a:ext cx="11091672" cy="1007364"/>
          </a:xfrm>
          <a:prstGeom prst="roundRect">
            <a:avLst>
              <a:gd name="adj" fmla="val 5446"/>
            </a:avLst>
          </a:prstGeom>
          <a:solidFill>
            <a:schemeClr val="bg1"/>
          </a:solidFill>
          <a:ln w="6350">
            <a:solidFill>
              <a:srgbClr val="D5DCE6"/>
            </a:solidFill>
            <a:prstDash val="solid"/>
          </a:ln>
        </p:spPr>
      </p:sp>
      <p:pic>
        <p:nvPicPr>
          <p:cNvPr id="26" name="Image 6" descr="preencoded.png">    </p:cNvPr>
          <p:cNvPicPr>
            <a:picLocks noChangeAspect="1"/>
          </p:cNvPicPr>
          <p:nvPr/>
        </p:nvPicPr>
        <p:blipFill>
          <a:blip r:embed="rId7"/>
          <a:stretch>
            <a:fillRect/>
          </a:stretch>
        </p:blipFill>
        <p:spPr>
          <a:xfrm>
            <a:off x="685800" y="5650230"/>
            <a:ext cx="274320" cy="274320"/>
          </a:xfrm>
          <a:prstGeom prst="rect">
            <a:avLst/>
          </a:prstGeom>
        </p:spPr>
      </p:pic>
      <p:sp>
        <p:nvSpPr>
          <p:cNvPr id="27" name="Text 17"/>
          <p:cNvSpPr txBox="1"/>
          <p:nvPr/>
        </p:nvSpPr>
        <p:spPr>
          <a:xfrm>
            <a:off x="1051560" y="5283708"/>
            <a:ext cx="3291840" cy="1007364"/>
          </a:xfrm>
          <a:prstGeom prst="rect">
            <a:avLst/>
          </a:prstGeom>
          <a:noFill/>
          <a:ln/>
        </p:spPr>
        <p:txBody>
          <a:bodyPr wrap="square" lIns="0" tIns="0" rIns="0" bIns="0" rtlCol="0" anchor="ctr"/>
          <a:lstStyle/>
          <a:p>
            <a:pPr indent="0" marL="0">
              <a:buNone/>
            </a:pPr>
            <a:r>
              <a:rPr lang="en-US" sz="2000" strike="sngStrike" dirty="0">
                <a:solidFill>
                  <a:schemeClr val="accent6"/>
                </a:solidFill>
              </a:rPr>
              <a:t>✗ de goedkeuren van de notulen</a:t>
            </a:r>
            <a:endParaRPr lang="en-US" sz="2000" dirty="0"/>
          </a:p>
        </p:txBody>
      </p:sp>
      <p:pic>
        <p:nvPicPr>
          <p:cNvPr id="28" name="Image 7" descr="preencoded.png">    </p:cNvPr>
          <p:cNvPicPr>
            <a:picLocks noChangeAspect="1"/>
          </p:cNvPicPr>
          <p:nvPr/>
        </p:nvPicPr>
        <p:blipFill>
          <a:blip r:embed="rId8"/>
          <a:stretch>
            <a:fillRect/>
          </a:stretch>
        </p:blipFill>
        <p:spPr>
          <a:xfrm>
            <a:off x="4572000" y="5650230"/>
            <a:ext cx="274320" cy="274320"/>
          </a:xfrm>
          <a:prstGeom prst="rect">
            <a:avLst/>
          </a:prstGeom>
        </p:spPr>
      </p:pic>
      <p:sp>
        <p:nvSpPr>
          <p:cNvPr id="29" name="Text 18"/>
          <p:cNvSpPr txBox="1"/>
          <p:nvPr/>
        </p:nvSpPr>
        <p:spPr>
          <a:xfrm>
            <a:off x="4937760" y="5283708"/>
            <a:ext cx="3291840" cy="1007364"/>
          </a:xfrm>
          <a:prstGeom prst="rect">
            <a:avLst/>
          </a:prstGeom>
          <a:noFill/>
          <a:ln/>
        </p:spPr>
        <p:txBody>
          <a:bodyPr wrap="square" lIns="0" tIns="0" rIns="0" bIns="0" rtlCol="0" anchor="ctr"/>
          <a:lstStyle/>
          <a:p>
            <a:pPr indent="0" marL="0">
              <a:buNone/>
            </a:pPr>
            <a:r>
              <a:rPr lang="en-US" sz="2000" dirty="0">
                <a:solidFill>
                  <a:schemeClr val="tx1"/>
                </a:solidFill>
              </a:rPr>
              <a:t>✓ de </a:t>
            </a:r>
            <a:r>
              <a:rPr lang="en-US" sz="2000" b="1" dirty="0">
                <a:solidFill>
                  <a:schemeClr val="tx1"/>
                </a:solidFill>
              </a:rPr>
              <a:t>goedkeuring</a:t>
            </a:r>
            <a:r>
              <a:rPr lang="en-US" sz="2000" dirty="0">
                <a:solidFill>
                  <a:schemeClr val="tx1"/>
                </a:solidFill>
              </a:rPr>
              <a:t> / het </a:t>
            </a:r>
            <a:r>
              <a:rPr lang="en-US" sz="2000" b="1" dirty="0">
                <a:solidFill>
                  <a:schemeClr val="tx1"/>
                </a:solidFill>
              </a:rPr>
              <a:t>goedkeuren</a:t>
            </a:r>
            <a:endParaRPr lang="en-US" sz="2000" dirty="0"/>
          </a:p>
        </p:txBody>
      </p:sp>
      <p:sp>
        <p:nvSpPr>
          <p:cNvPr id="30" name="Text 19"/>
          <p:cNvSpPr txBox="1"/>
          <p:nvPr/>
        </p:nvSpPr>
        <p:spPr>
          <a:xfrm>
            <a:off x="8458200" y="5283708"/>
            <a:ext cx="3090672" cy="1007364"/>
          </a:xfrm>
          <a:prstGeom prst="rect">
            <a:avLst/>
          </a:prstGeom>
          <a:noFill/>
          <a:ln/>
        </p:spPr>
        <p:txBody>
          <a:bodyPr wrap="square" lIns="0" tIns="0" rIns="0" bIns="0" rtlCol="0" anchor="ctr"/>
          <a:lstStyle/>
          <a:p>
            <a:pPr indent="0" marL="0">
              <a:buNone/>
            </a:pPr>
            <a:r>
              <a:rPr lang="en-US" sz="1800" i="1" dirty="0">
                <a:solidFill>
                  <a:schemeClr val="accent5"/>
                </a:solidFill>
              </a:rPr>
              <a:t>Infinitif nominal = </a:t>
            </a:r>
            <a:r>
              <a:rPr lang="en-US" sz="1800" b="1" i="1" dirty="0">
                <a:solidFill>
                  <a:schemeClr val="accent5"/>
                </a:solidFill>
              </a:rPr>
              <a:t>het</a:t>
            </a:r>
            <a:r>
              <a:rPr lang="en-US" sz="1800" i="1" dirty="0">
                <a:solidFill>
                  <a:schemeClr val="accent5"/>
                </a:solidFill>
              </a:rPr>
              <a:t> ; nom en -ing = </a:t>
            </a:r>
            <a:r>
              <a:rPr lang="en-US" sz="1800" b="1" i="1" dirty="0">
                <a:solidFill>
                  <a:schemeClr val="accent5"/>
                </a:solidFill>
              </a:rPr>
              <a:t>de</a:t>
            </a:r>
            <a:r>
              <a:rPr lang="en-US" sz="1800" i="1" dirty="0">
                <a:solidFill>
                  <a:schemeClr val="accent5"/>
                </a:solidFill>
              </a:rPr>
              <a:t>.</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3 Lezen : de uitnodiging van de syndicus</a:t>
            </a:r>
            <a:endParaRPr lang="en-US" sz="3200" dirty="0"/>
          </a:p>
        </p:txBody>
      </p:sp>
      <p:sp>
        <p:nvSpPr>
          <p:cNvPr id="3" name="tag"/>
          <p:cNvSpPr/>
          <p:nvPr/>
        </p:nvSpPr>
        <p:spPr>
          <a:xfrm>
            <a:off x="548640" y="237744"/>
            <a:ext cx="1280160"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chemeClr val="bg1"/>
                </a:solidFill>
              </a:rPr>
              <a:t>COUCHE 1</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9</a:t>
            </a:r>
            <a:endParaRPr lang="en-US" sz="1200" dirty="0"/>
          </a:p>
        </p:txBody>
      </p:sp>
      <p:sp>
        <p:nvSpPr>
          <p:cNvPr id="6" name="Shape 3"/>
          <p:cNvSpPr/>
          <p:nvPr/>
        </p:nvSpPr>
        <p:spPr>
          <a:xfrm>
            <a:off x="548640" y="1481328"/>
            <a:ext cx="11091672" cy="4809744"/>
          </a:xfrm>
          <a:prstGeom prst="rect">
            <a:avLst/>
          </a:prstGeom>
          <a:solidFill>
            <a:schemeClr val="bg1"/>
          </a:solidFill>
          <a:ln w="12700">
            <a:solidFill>
              <a:srgbClr val="4A5A70"/>
            </a:solidFill>
            <a:prstDash val="dash"/>
          </a:ln>
        </p:spPr>
      </p:sp>
      <p:sp>
        <p:nvSpPr>
          <p:cNvPr id="7" name="tag"/>
          <p:cNvSpPr/>
          <p:nvPr/>
        </p:nvSpPr>
        <p:spPr>
          <a:xfrm>
            <a:off x="777240" y="1645920"/>
            <a:ext cx="1280160" cy="310896"/>
          </a:xfrm>
          <a:prstGeom prst="roundRect">
            <a:avLst>
              <a:gd name="adj" fmla="val 14706"/>
            </a:avLst>
          </a:prstGeom>
          <a:solidFill>
            <a:schemeClr val="accent5"/>
          </a:solidFill>
          <a:ln/>
        </p:spPr>
        <p:txBody>
          <a:bodyPr wrap="square" lIns="0" tIns="0" rIns="0" bIns="0" rtlCol="0" anchor="ctr"/>
          <a:lstStyle/>
          <a:p>
            <a:pPr algn="ctr" indent="0" marL="0">
              <a:buNone/>
            </a:pPr>
            <a:r>
              <a:rPr lang="en-US" sz="1200" b="1" spc="100" kern="0" dirty="0">
                <a:solidFill>
                  <a:schemeClr val="bg1"/>
                </a:solidFill>
              </a:rPr>
              <a:t>DOCUMENT</a:t>
            </a:r>
            <a:endParaRPr lang="en-US" sz="1200" dirty="0"/>
          </a:p>
        </p:txBody>
      </p:sp>
      <p:sp>
        <p:nvSpPr>
          <p:cNvPr id="8" name="Text 5"/>
          <p:cNvSpPr txBox="1"/>
          <p:nvPr/>
        </p:nvSpPr>
        <p:spPr>
          <a:xfrm>
            <a:off x="2286000" y="1609344"/>
            <a:ext cx="9262872" cy="384048"/>
          </a:xfrm>
          <a:prstGeom prst="rect">
            <a:avLst/>
          </a:prstGeom>
          <a:noFill/>
          <a:ln/>
        </p:spPr>
        <p:txBody>
          <a:bodyPr wrap="square" lIns="0" tIns="0" rIns="0" bIns="0" rtlCol="0" anchor="ctr"/>
          <a:lstStyle/>
          <a:p>
            <a:pPr indent="0" marL="0">
              <a:buNone/>
            </a:pPr>
            <a:r>
              <a:rPr lang="en-US" sz="1800" b="1" dirty="0">
                <a:solidFill>
                  <a:schemeClr val="accent5"/>
                </a:solidFill>
                <a:latin typeface="+mj-lt" pitchFamily="34" charset="0"/>
                <a:ea typeface="+mj-lt" pitchFamily="34" charset="-122"/>
                <a:cs typeface="+mj-lt" pitchFamily="34" charset="-120"/>
              </a:rPr>
              <a:t>Uitnodiging — Algemene vergadering Résidence Zonneberg</a:t>
            </a:r>
            <a:endParaRPr lang="en-US" sz="1800" dirty="0"/>
          </a:p>
        </p:txBody>
      </p:sp>
      <p:sp>
        <p:nvSpPr>
          <p:cNvPr id="9" name="Text 6"/>
          <p:cNvSpPr txBox="1"/>
          <p:nvPr/>
        </p:nvSpPr>
        <p:spPr>
          <a:xfrm>
            <a:off x="777240" y="2148840"/>
            <a:ext cx="10634472" cy="4023360"/>
          </a:xfrm>
          <a:prstGeom prst="rect">
            <a:avLst/>
          </a:prstGeom>
          <a:noFill/>
          <a:ln/>
        </p:spPr>
        <p:txBody>
          <a:bodyPr wrap="square" lIns="0" tIns="0" rIns="0" bIns="0" rtlCol="0" anchor="t"/>
          <a:lstStyle/>
          <a:p>
            <a:pPr indent="0" marL="0">
              <a:spcAft>
                <a:spcPts val="800"/>
              </a:spcAft>
              <a:buNone/>
            </a:pPr>
            <a:r>
              <a:rPr lang="en-US" sz="1700" dirty="0">
                <a:solidFill>
                  <a:schemeClr val="tx1"/>
                </a:solidFill>
              </a:rPr>
              <a:t>Geachte mede-eigenaar,</a:t>
            </a:r>
            <a:endParaRPr lang="en-US" sz="1700" dirty="0"/>
          </a:p>
          <a:p>
            <a:pPr indent="0" marL="0">
              <a:spcAft>
                <a:spcPts val="800"/>
              </a:spcAft>
              <a:buNone/>
            </a:pPr>
            <a:r>
              <a:rPr lang="en-US" sz="1700" dirty="0">
                <a:solidFill>
                  <a:schemeClr val="tx1"/>
                </a:solidFill>
              </a:rPr>
              <a:t>Hierbij nodigen wij u uit voor de algemene vergadering van dinsdag 22 september om 19.00 uur in de inkomhal.</a:t>
            </a:r>
            <a:endParaRPr lang="en-US" sz="1700" dirty="0"/>
          </a:p>
          <a:p>
            <a:pPr indent="0" marL="0">
              <a:spcAft>
                <a:spcPts val="800"/>
              </a:spcAft>
              <a:buNone/>
            </a:pPr>
            <a:r>
              <a:rPr lang="en-US" sz="1700" dirty="0">
                <a:solidFill>
                  <a:schemeClr val="tx1"/>
                </a:solidFill>
              </a:rPr>
              <a:t>Agenda:</a:t>
            </a:r>
            <a:endParaRPr lang="en-US" sz="1700" dirty="0"/>
          </a:p>
          <a:p>
            <a:pPr indent="0" marL="0">
              <a:spcAft>
                <a:spcPts val="800"/>
              </a:spcAft>
              <a:buNone/>
            </a:pPr>
            <a:r>
              <a:rPr lang="en-US" sz="1700" b="1" dirty="0">
                <a:solidFill>
                  <a:schemeClr val="tx2"/>
                </a:solidFill>
              </a:rPr>
              <a:t>1   </a:t>
            </a:r>
            <a:r>
              <a:rPr lang="en-US" sz="1700" dirty="0">
                <a:solidFill>
                  <a:schemeClr val="tx1"/>
                </a:solidFill>
              </a:rPr>
              <a:t>Goedkeuring van de notulen van de vorige vergadering.</a:t>
            </a:r>
            <a:endParaRPr lang="en-US" sz="1700" dirty="0"/>
          </a:p>
          <a:p>
            <a:pPr indent="0" marL="0">
              <a:spcAft>
                <a:spcPts val="800"/>
              </a:spcAft>
              <a:buNone/>
            </a:pPr>
            <a:r>
              <a:rPr lang="en-US" sz="1700" b="1" dirty="0">
                <a:solidFill>
                  <a:schemeClr val="tx2"/>
                </a:solidFill>
              </a:rPr>
              <a:t>2   </a:t>
            </a:r>
            <a:r>
              <a:rPr lang="en-US" sz="1700" dirty="0">
                <a:solidFill>
                  <a:schemeClr val="tx1"/>
                </a:solidFill>
              </a:rPr>
              <a:t>Bespreking van de offerte voor de renovatie van de gevel (€ 86.500).</a:t>
            </a:r>
            <a:endParaRPr lang="en-US" sz="1700" dirty="0"/>
          </a:p>
          <a:p>
            <a:pPr indent="0" marL="0">
              <a:spcAft>
                <a:spcPts val="800"/>
              </a:spcAft>
              <a:buNone/>
            </a:pPr>
            <a:r>
              <a:rPr lang="en-US" sz="1700" b="1" dirty="0">
                <a:solidFill>
                  <a:schemeClr val="tx2"/>
                </a:solidFill>
              </a:rPr>
              <a:t>3   </a:t>
            </a:r>
            <a:r>
              <a:rPr lang="en-US" sz="1700" dirty="0">
                <a:solidFill>
                  <a:schemeClr val="tx1"/>
                </a:solidFill>
              </a:rPr>
              <a:t>Stemming over de uitvoering van de werken.</a:t>
            </a:r>
            <a:endParaRPr lang="en-US" sz="1700" dirty="0"/>
          </a:p>
          <a:p>
            <a:pPr indent="0" marL="0">
              <a:spcAft>
                <a:spcPts val="800"/>
              </a:spcAft>
              <a:buNone/>
            </a:pPr>
            <a:r>
              <a:rPr lang="en-US" sz="1700" b="1" dirty="0">
                <a:solidFill>
                  <a:schemeClr val="tx2"/>
                </a:solidFill>
              </a:rPr>
              <a:t>4   </a:t>
            </a:r>
            <a:r>
              <a:rPr lang="en-US" sz="1700" dirty="0">
                <a:solidFill>
                  <a:schemeClr val="tx1"/>
                </a:solidFill>
              </a:rPr>
              <a:t>Verhoging van de bijdrage aan het reservefonds.</a:t>
            </a:r>
            <a:endParaRPr lang="en-US" sz="1700" dirty="0"/>
          </a:p>
          <a:p>
            <a:pPr indent="0" marL="0">
              <a:spcAft>
                <a:spcPts val="800"/>
              </a:spcAft>
              <a:buNone/>
            </a:pPr>
            <a:r>
              <a:rPr lang="en-US" sz="1700" b="1" dirty="0">
                <a:solidFill>
                  <a:schemeClr val="tx2"/>
                </a:solidFill>
              </a:rPr>
              <a:t>5   </a:t>
            </a:r>
            <a:r>
              <a:rPr lang="en-US" sz="1700" dirty="0">
                <a:solidFill>
                  <a:schemeClr val="tx1"/>
                </a:solidFill>
              </a:rPr>
              <a:t>Varia.</a:t>
            </a:r>
            <a:endParaRPr lang="en-US" sz="1700" dirty="0"/>
          </a:p>
          <a:p>
            <a:pPr indent="0" marL="0">
              <a:spcAft>
                <a:spcPts val="800"/>
              </a:spcAft>
              <a:buNone/>
            </a:pPr>
            <a:r>
              <a:rPr lang="en-US" sz="1700" dirty="0">
                <a:solidFill>
                  <a:schemeClr val="tx1"/>
                </a:solidFill>
              </a:rPr>
              <a:t>Bij afwezigheid kunt u een volmacht geven aan een andere mede-eigenaar of aan uw vertegenwoordiger.</a:t>
            </a:r>
            <a:endParaRPr lang="en-US" sz="1700" dirty="0"/>
          </a:p>
          <a:p>
            <a:pPr indent="0" marL="0">
              <a:spcAft>
                <a:spcPts val="800"/>
              </a:spcAft>
              <a:buNone/>
            </a:pPr>
            <a:r>
              <a:rPr lang="en-US" sz="1700" dirty="0">
                <a:solidFill>
                  <a:schemeClr val="tx1"/>
                </a:solidFill>
              </a:rPr>
              <a:t>Met vriendelijke groeten, F. Vermeulen, syndicus</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3 Lezen : les trois questions</a:t>
            </a:r>
            <a:endParaRPr lang="en-US" sz="3200" dirty="0"/>
          </a:p>
        </p:txBody>
      </p:sp>
      <p:sp>
        <p:nvSpPr>
          <p:cNvPr id="3" name="tag"/>
          <p:cNvSpPr/>
          <p:nvPr/>
        </p:nvSpPr>
        <p:spPr>
          <a:xfrm>
            <a:off x="548640" y="237744"/>
            <a:ext cx="1280160"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chemeClr val="bg1"/>
                </a:solidFill>
              </a:rPr>
              <a:t>COUCHE 1</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9</a:t>
            </a:r>
            <a:endParaRPr lang="en-US" sz="1200" dirty="0"/>
          </a:p>
        </p:txBody>
      </p:sp>
      <p:sp>
        <p:nvSpPr>
          <p:cNvPr id="6" name="Text 3"/>
          <p:cNvSpPr txBox="1"/>
          <p:nvPr/>
        </p:nvSpPr>
        <p:spPr>
          <a:xfrm>
            <a:off x="548640" y="1481328"/>
            <a:ext cx="11091672" cy="371856"/>
          </a:xfrm>
          <a:prstGeom prst="rect">
            <a:avLst/>
          </a:prstGeom>
          <a:noFill/>
          <a:ln/>
        </p:spPr>
        <p:txBody>
          <a:bodyPr wrap="square" lIns="0" tIns="0" rIns="0" bIns="0" rtlCol="0" anchor="t"/>
          <a:lstStyle/>
          <a:p>
            <a:pPr indent="0" marL="0">
              <a:buNone/>
            </a:pPr>
            <a:r>
              <a:rPr lang="en-US" sz="1600" i="1" dirty="0">
                <a:solidFill>
                  <a:schemeClr val="accent5"/>
                </a:solidFill>
              </a:rPr>
              <a:t>Seul · 6 min, puis par deux.</a:t>
            </a:r>
            <a:endParaRPr lang="en-US" sz="1600" dirty="0"/>
          </a:p>
        </p:txBody>
      </p:sp>
      <p:sp>
        <p:nvSpPr>
          <p:cNvPr id="7" name="exercise"/>
          <p:cNvSpPr txBox="1"/>
          <p:nvPr/>
        </p:nvSpPr>
        <p:spPr>
          <a:xfrm>
            <a:off x="548640" y="1926336"/>
            <a:ext cx="11091672" cy="4364736"/>
          </a:xfrm>
          <a:prstGeom prst="rect">
            <a:avLst/>
          </a:prstGeom>
          <a:noFill/>
          <a:ln/>
        </p:spPr>
        <p:txBody>
          <a:bodyPr wrap="square" lIns="0" tIns="0" rIns="0" bIns="0" rtlCol="0" anchor="t"/>
          <a:lstStyle/>
          <a:p>
            <a:pPr indent="0" marL="0">
              <a:spcAft>
                <a:spcPts val="1000"/>
              </a:spcAft>
              <a:buNone/>
            </a:pPr>
            <a:r>
              <a:rPr lang="en-US" sz="2600" b="1" dirty="0">
                <a:solidFill>
                  <a:schemeClr val="tx1"/>
                </a:solidFill>
              </a:rPr>
              <a:t>1</a:t>
            </a:r>
            <a:r>
              <a:rPr lang="en-US" sz="2600" dirty="0">
                <a:solidFill>
                  <a:schemeClr val="tx1"/>
                </a:solidFill>
              </a:rPr>
              <a:t> Les nominalisations de l’agenda et leur verbe d’origine (le livret en annonce huit) ?</a:t>
            </a:r>
            <a:endParaRPr lang="en-US" sz="2600" dirty="0"/>
          </a:p>
          <a:p>
            <a:pPr indent="0" marL="0">
              <a:spcAft>
                <a:spcPts val="1000"/>
              </a:spcAft>
              <a:buNone/>
            </a:pPr>
            <a:r>
              <a:rPr lang="en-US" sz="2600" b="1" dirty="0">
                <a:solidFill>
                  <a:schemeClr val="tx1"/>
                </a:solidFill>
              </a:rPr>
              <a:t>2</a:t>
            </a:r>
            <a:r>
              <a:rPr lang="en-US" sz="2600" dirty="0">
                <a:solidFill>
                  <a:schemeClr val="tx1"/>
                </a:solidFill>
              </a:rPr>
              <a:t> Que peut faire mevrouw Dubois si elle ne peut pas venir ? (une nominalisation)</a:t>
            </a:r>
            <a:endParaRPr lang="en-US" sz="2600" dirty="0"/>
          </a:p>
          <a:p>
            <a:pPr indent="0" marL="0">
              <a:spcAft>
                <a:spcPts val="1000"/>
              </a:spcAft>
              <a:buNone/>
            </a:pPr>
            <a:r>
              <a:rPr lang="en-US" sz="2600" b="1" dirty="0">
                <a:solidFill>
                  <a:schemeClr val="tx1"/>
                </a:solidFill>
              </a:rPr>
              <a:t>3</a:t>
            </a:r>
            <a:r>
              <a:rPr lang="en-US" sz="2600" dirty="0">
                <a:solidFill>
                  <a:schemeClr val="tx1"/>
                </a:solidFill>
              </a:rPr>
              <a:t> Point 3 en phrase verbale : « De mede-eigenaars stemmen over… »</a:t>
            </a:r>
            <a:endParaRPr lang="en-US" sz="26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3 Lezen : les trois questions</a:t>
            </a:r>
            <a:endParaRPr lang="en-US" sz="3200" dirty="0"/>
          </a:p>
        </p:txBody>
      </p:sp>
      <p:sp>
        <p:nvSpPr>
          <p:cNvPr id="3" name="tag"/>
          <p:cNvSpPr/>
          <p:nvPr/>
        </p:nvSpPr>
        <p:spPr>
          <a:xfrm>
            <a:off x="548640" y="237744"/>
            <a:ext cx="1280160"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chemeClr val="bg1"/>
                </a:solidFill>
              </a:rPr>
              <a:t>COUCHE 1</a:t>
            </a:r>
            <a:endParaRPr lang="en-US" sz="1200" dirty="0"/>
          </a:p>
        </p:txBody>
      </p:sp>
      <p:sp>
        <p:nvSpPr>
          <p:cNvPr id="4" name="tag"/>
          <p:cNvSpPr/>
          <p:nvPr/>
        </p:nvSpPr>
        <p:spPr>
          <a:xfrm>
            <a:off x="1938528" y="237744"/>
            <a:ext cx="1760220"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chemeClr val="bg1"/>
                </a:solidFill>
              </a:rPr>
              <a:t>✓ CORRECTIE</a:t>
            </a:r>
            <a:endParaRPr lang="en-US" sz="1200" dirty="0"/>
          </a:p>
        </p:txBody>
      </p:sp>
      <p:sp>
        <p:nvSpPr>
          <p:cNvPr id="5" name="Text 3"/>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9</a:t>
            </a:r>
            <a:endParaRPr lang="en-US" sz="1200" dirty="0"/>
          </a:p>
        </p:txBody>
      </p:sp>
      <p:sp>
        <p:nvSpPr>
          <p:cNvPr id="7" name="Text 4"/>
          <p:cNvSpPr txBox="1"/>
          <p:nvPr/>
        </p:nvSpPr>
        <p:spPr>
          <a:xfrm>
            <a:off x="548640" y="1481328"/>
            <a:ext cx="11091672" cy="371856"/>
          </a:xfrm>
          <a:prstGeom prst="rect">
            <a:avLst/>
          </a:prstGeom>
          <a:noFill/>
          <a:ln/>
        </p:spPr>
        <p:txBody>
          <a:bodyPr wrap="square" lIns="0" tIns="0" rIns="0" bIns="0" rtlCol="0" anchor="t"/>
          <a:lstStyle/>
          <a:p>
            <a:pPr indent="0" marL="0">
              <a:buNone/>
            </a:pPr>
            <a:r>
              <a:rPr lang="en-US" sz="1600" i="1" dirty="0">
                <a:solidFill>
                  <a:schemeClr val="accent5"/>
                </a:solidFill>
              </a:rPr>
              <a:t>Seul · 6 min, puis par deux.</a:t>
            </a:r>
            <a:endParaRPr lang="en-US" sz="1600" dirty="0"/>
          </a:p>
        </p:txBody>
      </p:sp>
      <p:sp>
        <p:nvSpPr>
          <p:cNvPr id="8" name="exercise"/>
          <p:cNvSpPr txBox="1"/>
          <p:nvPr/>
        </p:nvSpPr>
        <p:spPr>
          <a:xfrm>
            <a:off x="548640" y="1926336"/>
            <a:ext cx="11091672" cy="4364736"/>
          </a:xfrm>
          <a:prstGeom prst="rect">
            <a:avLst/>
          </a:prstGeom>
          <a:noFill/>
          <a:ln/>
        </p:spPr>
        <p:txBody>
          <a:bodyPr wrap="square" lIns="0" tIns="0" rIns="0" bIns="0" rtlCol="0" anchor="t"/>
          <a:lstStyle/>
          <a:p>
            <a:pPr indent="0" marL="0">
              <a:spcAft>
                <a:spcPts val="400"/>
              </a:spcAft>
              <a:buNone/>
            </a:pPr>
            <a:r>
              <a:rPr lang="en-US" sz="2300" b="1" dirty="0">
                <a:solidFill>
                  <a:schemeClr val="tx1"/>
                </a:solidFill>
              </a:rPr>
              <a:t>1</a:t>
            </a:r>
            <a:r>
              <a:rPr lang="en-US" sz="2300" dirty="0">
                <a:solidFill>
                  <a:schemeClr val="tx1"/>
                </a:solidFill>
              </a:rPr>
              <a:t> Les nominalisations de l’agenda et leur verbe d’origine (le livret en annonce huit) ?</a:t>
            </a:r>
            <a:endParaRPr lang="en-US" sz="2300" dirty="0"/>
          </a:p>
          <a:p>
            <a:pPr indent="0" marL="0">
              <a:spcAft>
                <a:spcPts val="400"/>
              </a:spcAft>
              <a:buNone/>
            </a:pPr>
            <a:r>
              <a:rPr lang="en-US" sz="2300" b="1" dirty="0">
                <a:solidFill>
                  <a:schemeClr val="accent3"/>
                </a:solidFill>
              </a:rPr>
              <a:t>→ </a:t>
            </a:r>
            <a:r>
              <a:rPr lang="en-US" sz="2300" dirty="0">
                <a:solidFill>
                  <a:schemeClr val="accent3"/>
                </a:solidFill>
              </a:rPr>
              <a:t>goedkeuring ← goedkeuren · vergadering ← vergaderen · bespreking ← bespreken · renovatie ← renoveren · stemming ← stemmen · uitvoering ← uitvoeren · verhoging ← verhogen · bijdrage ← bijdragen</a:t>
            </a:r>
            <a:endParaRPr lang="en-US" sz="2300" dirty="0"/>
          </a:p>
          <a:p>
            <a:pPr indent="0" marL="0">
              <a:spcAft>
                <a:spcPts val="400"/>
              </a:spcAft>
              <a:buNone/>
            </a:pPr>
            <a:r>
              <a:rPr lang="en-US" sz="2300" b="1" dirty="0">
                <a:solidFill>
                  <a:schemeClr val="tx1"/>
                </a:solidFill>
              </a:rPr>
              <a:t>2</a:t>
            </a:r>
            <a:r>
              <a:rPr lang="en-US" sz="2300" dirty="0">
                <a:solidFill>
                  <a:schemeClr val="tx1"/>
                </a:solidFill>
              </a:rPr>
              <a:t> Que peut faire mevrouw Dubois si elle ne peut pas venir ? (une nominalisation)</a:t>
            </a:r>
            <a:endParaRPr lang="en-US" sz="2300" dirty="0"/>
          </a:p>
          <a:p>
            <a:pPr indent="0" marL="0">
              <a:spcAft>
                <a:spcPts val="400"/>
              </a:spcAft>
              <a:buNone/>
            </a:pPr>
            <a:r>
              <a:rPr lang="en-US" sz="2300" b="1" dirty="0">
                <a:solidFill>
                  <a:schemeClr val="accent3"/>
                </a:solidFill>
              </a:rPr>
              <a:t>→ </a:t>
            </a:r>
            <a:r>
              <a:rPr lang="en-US" sz="2300" b="1" dirty="0">
                <a:solidFill>
                  <a:schemeClr val="accent3"/>
                </a:solidFill>
              </a:rPr>
              <a:t>het geven van een volmacht</a:t>
            </a:r>
            <a:r>
              <a:rPr lang="en-US" sz="2300" dirty="0">
                <a:solidFill>
                  <a:schemeClr val="accent3"/>
                </a:solidFill>
              </a:rPr>
              <a:t> — aan een andere mede-eigenaar of aan haar vertegenwoordiger</a:t>
            </a:r>
            <a:endParaRPr lang="en-US" sz="2300" dirty="0"/>
          </a:p>
          <a:p>
            <a:pPr indent="0" marL="0">
              <a:spcAft>
                <a:spcPts val="400"/>
              </a:spcAft>
              <a:buNone/>
            </a:pPr>
            <a:r>
              <a:rPr lang="en-US" sz="2300" b="1" dirty="0">
                <a:solidFill>
                  <a:schemeClr val="tx1"/>
                </a:solidFill>
              </a:rPr>
              <a:t>3</a:t>
            </a:r>
            <a:r>
              <a:rPr lang="en-US" sz="2300" dirty="0">
                <a:solidFill>
                  <a:schemeClr val="tx1"/>
                </a:solidFill>
              </a:rPr>
              <a:t> Point 3 en phrase verbale : « De mede-eigenaars stemmen over… »</a:t>
            </a:r>
            <a:endParaRPr lang="en-US" sz="2300" dirty="0"/>
          </a:p>
          <a:p>
            <a:pPr indent="0" marL="0">
              <a:spcAft>
                <a:spcPts val="400"/>
              </a:spcAft>
              <a:buNone/>
            </a:pPr>
            <a:r>
              <a:rPr lang="en-US" sz="2300" b="1" dirty="0">
                <a:solidFill>
                  <a:schemeClr val="accent3"/>
                </a:solidFill>
              </a:rPr>
              <a:t>→ </a:t>
            </a:r>
            <a:r>
              <a:rPr lang="en-US" sz="2300" dirty="0">
                <a:solidFill>
                  <a:schemeClr val="accent3"/>
                </a:solidFill>
              </a:rPr>
              <a:t>De mede-eigenaars stemmen </a:t>
            </a:r>
            <a:r>
              <a:rPr lang="en-US" sz="2300" b="1" dirty="0">
                <a:solidFill>
                  <a:schemeClr val="accent3"/>
                </a:solidFill>
              </a:rPr>
              <a:t>over de uitvoering van de werken</a:t>
            </a:r>
            <a:r>
              <a:rPr lang="en-US" sz="2300" dirty="0">
                <a:solidFill>
                  <a:schemeClr val="accent3"/>
                </a:solidFill>
              </a:rPr>
              <a:t> (ou : …stemmen erover </a:t>
            </a:r>
            <a:r>
              <a:rPr lang="en-US" sz="2300" b="1" dirty="0">
                <a:solidFill>
                  <a:schemeClr val="accent3"/>
                </a:solidFill>
              </a:rPr>
              <a:t>of</a:t>
            </a:r>
            <a:r>
              <a:rPr lang="en-US" sz="2300" dirty="0">
                <a:solidFill>
                  <a:schemeClr val="accent3"/>
                </a:solidFill>
              </a:rPr>
              <a:t> de werken </a:t>
            </a:r>
            <a:r>
              <a:rPr lang="en-US" sz="2300" b="1" dirty="0">
                <a:solidFill>
                  <a:schemeClr val="accent3"/>
                </a:solidFill>
              </a:rPr>
              <a:t>worden uitgevoerd</a:t>
            </a:r>
            <a:r>
              <a:rPr lang="en-US" sz="2300" dirty="0">
                <a:solidFill>
                  <a:schemeClr val="accent3"/>
                </a:solidFill>
              </a:rPr>
              <a:t>).</a:t>
            </a:r>
            <a:endParaRPr lang="en-US" sz="23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4 Van werkwoord naar naamwoord</a:t>
            </a:r>
            <a:endParaRPr lang="en-US" sz="3200" dirty="0"/>
          </a:p>
        </p:txBody>
      </p:sp>
      <p:sp>
        <p:nvSpPr>
          <p:cNvPr id="3" name="tag"/>
          <p:cNvSpPr/>
          <p:nvPr/>
        </p:nvSpPr>
        <p:spPr>
          <a:xfrm>
            <a:off x="548640" y="237744"/>
            <a:ext cx="1280160" cy="310896"/>
          </a:xfrm>
          <a:prstGeom prst="roundRect">
            <a:avLst>
              <a:gd name="adj" fmla="val 14706"/>
            </a:avLst>
          </a:prstGeom>
          <a:solidFill>
            <a:schemeClr val="accent2"/>
          </a:solidFill>
          <a:ln/>
        </p:spPr>
        <p:txBody>
          <a:bodyPr wrap="square" lIns="0" tIns="0" rIns="0" bIns="0" rtlCol="0" anchor="ctr"/>
          <a:lstStyle/>
          <a:p>
            <a:pPr algn="ctr" indent="0" marL="0">
              <a:buNone/>
            </a:pPr>
            <a:r>
              <a:rPr lang="en-US" sz="1200" b="1" spc="100" kern="0" dirty="0">
                <a:solidFill>
                  <a:schemeClr val="bg1"/>
                </a:solidFill>
              </a:rPr>
              <a:t>COUCHE 2</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10</a:t>
            </a:r>
            <a:endParaRPr lang="en-US" sz="1200" dirty="0"/>
          </a:p>
        </p:txBody>
      </p:sp>
      <p:sp>
        <p:nvSpPr>
          <p:cNvPr id="6" name="Text 3"/>
          <p:cNvSpPr txBox="1"/>
          <p:nvPr/>
        </p:nvSpPr>
        <p:spPr>
          <a:xfrm>
            <a:off x="548640" y="1481328"/>
            <a:ext cx="7178040" cy="615696"/>
          </a:xfrm>
          <a:prstGeom prst="rect">
            <a:avLst/>
          </a:prstGeom>
          <a:noFill/>
          <a:ln/>
        </p:spPr>
        <p:txBody>
          <a:bodyPr wrap="square" lIns="0" tIns="0" rIns="0" bIns="0" rtlCol="0" anchor="t"/>
          <a:lstStyle/>
          <a:p>
            <a:pPr indent="0" marL="0">
              <a:buNone/>
            </a:pPr>
            <a:r>
              <a:rPr lang="en-US" sz="1600" i="1" dirty="0">
                <a:solidFill>
                  <a:schemeClr val="accent5"/>
                </a:solidFill>
              </a:rPr>
              <a:t>Nominalisez pour rendre ces phrases « dignes d’un ordre du jour ». Modèle : </a:t>
            </a:r>
            <a:r>
              <a:rPr lang="en-US" sz="1600" i="1" dirty="0">
                <a:solidFill>
                  <a:schemeClr val="accent5"/>
                </a:solidFill>
              </a:rPr>
              <a:t>We herstellen de lift → de herstelling van de lift.</a:t>
            </a:r>
            <a:r>
              <a:rPr lang="en-US" sz="1600" i="1" dirty="0">
                <a:solidFill>
                  <a:schemeClr val="accent5"/>
                </a:solidFill>
              </a:rPr>
              <a:t> Seul · 5 min.</a:t>
            </a:r>
            <a:endParaRPr lang="en-US" sz="1600" dirty="0"/>
          </a:p>
        </p:txBody>
      </p:sp>
      <p:sp>
        <p:nvSpPr>
          <p:cNvPr id="7" name="exercise"/>
          <p:cNvSpPr txBox="1"/>
          <p:nvPr/>
        </p:nvSpPr>
        <p:spPr>
          <a:xfrm>
            <a:off x="548640" y="2170176"/>
            <a:ext cx="7178040" cy="4120896"/>
          </a:xfrm>
          <a:prstGeom prst="rect">
            <a:avLst/>
          </a:prstGeom>
          <a:noFill/>
          <a:ln/>
        </p:spPr>
        <p:txBody>
          <a:bodyPr wrap="square" lIns="0" tIns="0" rIns="0" bIns="0" rtlCol="0" anchor="t"/>
          <a:lstStyle/>
          <a:p>
            <a:pPr indent="0" marL="0">
              <a:spcAft>
                <a:spcPts val="1400"/>
              </a:spcAft>
              <a:buNone/>
            </a:pPr>
            <a:r>
              <a:rPr lang="en-US" sz="2600" b="1" dirty="0">
                <a:solidFill>
                  <a:schemeClr val="tx2"/>
                </a:solidFill>
              </a:rPr>
              <a:t>1.  </a:t>
            </a:r>
            <a:r>
              <a:rPr lang="en-US" sz="2600" dirty="0">
                <a:solidFill>
                  <a:schemeClr val="tx1"/>
                </a:solidFill>
              </a:rPr>
              <a:t>We renoveren de gevel.</a:t>
            </a:r>
            <a:endParaRPr lang="en-US" sz="2600" dirty="0"/>
          </a:p>
          <a:p>
            <a:pPr indent="0" marL="0">
              <a:spcAft>
                <a:spcPts val="1400"/>
              </a:spcAft>
              <a:buNone/>
            </a:pPr>
            <a:r>
              <a:rPr lang="en-US" sz="2600" b="1" dirty="0">
                <a:solidFill>
                  <a:schemeClr val="tx2"/>
                </a:solidFill>
              </a:rPr>
              <a:t>2.  </a:t>
            </a:r>
            <a:r>
              <a:rPr lang="en-US" sz="2600" dirty="0">
                <a:solidFill>
                  <a:schemeClr val="tx1"/>
                </a:solidFill>
              </a:rPr>
              <a:t>We verhogen de bijdrage.</a:t>
            </a:r>
            <a:endParaRPr lang="en-US" sz="2600" dirty="0"/>
          </a:p>
          <a:p>
            <a:pPr indent="0" marL="0">
              <a:spcAft>
                <a:spcPts val="1400"/>
              </a:spcAft>
              <a:buNone/>
            </a:pPr>
            <a:r>
              <a:rPr lang="en-US" sz="2600" b="1" dirty="0">
                <a:solidFill>
                  <a:schemeClr val="tx2"/>
                </a:solidFill>
              </a:rPr>
              <a:t>3.  </a:t>
            </a:r>
            <a:r>
              <a:rPr lang="en-US" sz="2600" dirty="0">
                <a:solidFill>
                  <a:schemeClr val="tx1"/>
                </a:solidFill>
              </a:rPr>
              <a:t>We keuren de notulen goed. (séparable)</a:t>
            </a:r>
            <a:endParaRPr lang="en-US" sz="2600" dirty="0"/>
          </a:p>
          <a:p>
            <a:pPr indent="0" marL="0">
              <a:spcAft>
                <a:spcPts val="1400"/>
              </a:spcAft>
              <a:buNone/>
            </a:pPr>
            <a:r>
              <a:rPr lang="en-US" sz="2600" b="1" dirty="0">
                <a:solidFill>
                  <a:schemeClr val="tx2"/>
                </a:solidFill>
              </a:rPr>
              <a:t>4.  </a:t>
            </a:r>
            <a:r>
              <a:rPr lang="en-US" sz="2600" dirty="0">
                <a:solidFill>
                  <a:schemeClr val="tx1"/>
                </a:solidFill>
              </a:rPr>
              <a:t>We stellen de werken uit. (séparable : het + infinitif)</a:t>
            </a:r>
            <a:endParaRPr lang="en-US" sz="2600" dirty="0"/>
          </a:p>
          <a:p>
            <a:pPr indent="0" marL="0">
              <a:spcAft>
                <a:spcPts val="1400"/>
              </a:spcAft>
              <a:buNone/>
            </a:pPr>
            <a:r>
              <a:rPr lang="en-US" sz="2600" b="1" dirty="0">
                <a:solidFill>
                  <a:schemeClr val="tx2"/>
                </a:solidFill>
              </a:rPr>
              <a:t>5.  </a:t>
            </a:r>
            <a:r>
              <a:rPr lang="en-US" sz="2600" dirty="0">
                <a:solidFill>
                  <a:schemeClr val="tx1"/>
                </a:solidFill>
              </a:rPr>
              <a:t>We vergaderen in september.</a:t>
            </a:r>
            <a:endParaRPr lang="en-US" sz="26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4 Van werkwoord naar naamwoord</a:t>
            </a:r>
            <a:endParaRPr lang="en-US" sz="3200" dirty="0"/>
          </a:p>
        </p:txBody>
      </p:sp>
      <p:sp>
        <p:nvSpPr>
          <p:cNvPr id="3" name="tag"/>
          <p:cNvSpPr/>
          <p:nvPr/>
        </p:nvSpPr>
        <p:spPr>
          <a:xfrm>
            <a:off x="548640" y="237744"/>
            <a:ext cx="1280160" cy="310896"/>
          </a:xfrm>
          <a:prstGeom prst="roundRect">
            <a:avLst>
              <a:gd name="adj" fmla="val 14706"/>
            </a:avLst>
          </a:prstGeom>
          <a:solidFill>
            <a:schemeClr val="accent2"/>
          </a:solidFill>
          <a:ln/>
        </p:spPr>
        <p:txBody>
          <a:bodyPr wrap="square" lIns="0" tIns="0" rIns="0" bIns="0" rtlCol="0" anchor="ctr"/>
          <a:lstStyle/>
          <a:p>
            <a:pPr algn="ctr" indent="0" marL="0">
              <a:buNone/>
            </a:pPr>
            <a:r>
              <a:rPr lang="en-US" sz="1200" b="1" spc="100" kern="0" dirty="0">
                <a:solidFill>
                  <a:schemeClr val="bg1"/>
                </a:solidFill>
              </a:rPr>
              <a:t>COUCHE 2</a:t>
            </a:r>
            <a:endParaRPr lang="en-US" sz="1200" dirty="0"/>
          </a:p>
        </p:txBody>
      </p:sp>
      <p:sp>
        <p:nvSpPr>
          <p:cNvPr id="4" name="tag"/>
          <p:cNvSpPr/>
          <p:nvPr/>
        </p:nvSpPr>
        <p:spPr>
          <a:xfrm>
            <a:off x="1938528" y="237744"/>
            <a:ext cx="1760220"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chemeClr val="bg1"/>
                </a:solidFill>
              </a:rPr>
              <a:t>✓ CORRECTIE</a:t>
            </a:r>
            <a:endParaRPr lang="en-US" sz="1200" dirty="0"/>
          </a:p>
        </p:txBody>
      </p:sp>
      <p:sp>
        <p:nvSpPr>
          <p:cNvPr id="5" name="Text 3"/>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10</a:t>
            </a:r>
            <a:endParaRPr lang="en-US" sz="1200" dirty="0"/>
          </a:p>
        </p:txBody>
      </p:sp>
      <p:sp>
        <p:nvSpPr>
          <p:cNvPr id="7" name="Text 4"/>
          <p:cNvSpPr txBox="1"/>
          <p:nvPr/>
        </p:nvSpPr>
        <p:spPr>
          <a:xfrm>
            <a:off x="548640" y="1481328"/>
            <a:ext cx="7178040" cy="615696"/>
          </a:xfrm>
          <a:prstGeom prst="rect">
            <a:avLst/>
          </a:prstGeom>
          <a:noFill/>
          <a:ln/>
        </p:spPr>
        <p:txBody>
          <a:bodyPr wrap="square" lIns="0" tIns="0" rIns="0" bIns="0" rtlCol="0" anchor="t"/>
          <a:lstStyle/>
          <a:p>
            <a:pPr indent="0" marL="0">
              <a:buNone/>
            </a:pPr>
            <a:r>
              <a:rPr lang="en-US" sz="1600" i="1" dirty="0">
                <a:solidFill>
                  <a:schemeClr val="accent5"/>
                </a:solidFill>
              </a:rPr>
              <a:t>Nominalisez pour rendre ces phrases « dignes d’un ordre du jour ». Modèle : </a:t>
            </a:r>
            <a:r>
              <a:rPr lang="en-US" sz="1600" i="1" dirty="0">
                <a:solidFill>
                  <a:schemeClr val="accent5"/>
                </a:solidFill>
              </a:rPr>
              <a:t>We herstellen de lift → de herstelling van de lift.</a:t>
            </a:r>
            <a:r>
              <a:rPr lang="en-US" sz="1600" i="1" dirty="0">
                <a:solidFill>
                  <a:schemeClr val="accent5"/>
                </a:solidFill>
              </a:rPr>
              <a:t> Seul · 5 min.</a:t>
            </a:r>
            <a:endParaRPr lang="en-US" sz="1600" dirty="0"/>
          </a:p>
        </p:txBody>
      </p:sp>
      <p:sp>
        <p:nvSpPr>
          <p:cNvPr id="8" name="exercise"/>
          <p:cNvSpPr txBox="1"/>
          <p:nvPr/>
        </p:nvSpPr>
        <p:spPr>
          <a:xfrm>
            <a:off x="548640" y="2170176"/>
            <a:ext cx="7178040" cy="4120896"/>
          </a:xfrm>
          <a:prstGeom prst="rect">
            <a:avLst/>
          </a:prstGeom>
          <a:noFill/>
          <a:ln/>
        </p:spPr>
        <p:txBody>
          <a:bodyPr wrap="square" lIns="0" tIns="0" rIns="0" bIns="0" rtlCol="0" anchor="t"/>
          <a:lstStyle/>
          <a:p>
            <a:pPr indent="0" marL="0">
              <a:spcAft>
                <a:spcPts val="400"/>
              </a:spcAft>
              <a:buNone/>
            </a:pPr>
            <a:r>
              <a:rPr lang="en-US" sz="1600" b="1" dirty="0">
                <a:solidFill>
                  <a:schemeClr val="tx2"/>
                </a:solidFill>
              </a:rPr>
              <a:t>1.  </a:t>
            </a:r>
            <a:r>
              <a:rPr lang="en-US" sz="1600" dirty="0">
                <a:solidFill>
                  <a:schemeClr val="tx1"/>
                </a:solidFill>
              </a:rPr>
              <a:t>We renoveren de gevel.</a:t>
            </a:r>
            <a:endParaRPr lang="en-US" sz="1600" dirty="0"/>
          </a:p>
          <a:p>
            <a:pPr indent="0" marL="0">
              <a:spcAft>
                <a:spcPts val="1200"/>
              </a:spcAft>
              <a:buNone/>
            </a:pPr>
            <a:r>
              <a:rPr lang="en-US" sz="1600" b="1" dirty="0">
                <a:solidFill>
                  <a:schemeClr val="accent3"/>
                </a:solidFill>
              </a:rPr>
              <a:t>→ </a:t>
            </a:r>
            <a:r>
              <a:rPr lang="en-US" sz="1600" dirty="0">
                <a:solidFill>
                  <a:schemeClr val="accent3"/>
                </a:solidFill>
              </a:rPr>
              <a:t>de </a:t>
            </a:r>
            <a:r>
              <a:rPr lang="en-US" sz="1600" b="1" dirty="0">
                <a:solidFill>
                  <a:schemeClr val="accent3"/>
                </a:solidFill>
              </a:rPr>
              <a:t>renovatie</a:t>
            </a:r>
            <a:r>
              <a:rPr lang="en-US" sz="1600" dirty="0">
                <a:solidFill>
                  <a:schemeClr val="accent3"/>
                </a:solidFill>
              </a:rPr>
              <a:t> (ou de renovering) </a:t>
            </a:r>
            <a:r>
              <a:rPr lang="en-US" sz="1600" b="1" dirty="0">
                <a:solidFill>
                  <a:schemeClr val="accent3"/>
                </a:solidFill>
              </a:rPr>
              <a:t>van</a:t>
            </a:r>
            <a:r>
              <a:rPr lang="en-US" sz="1600" dirty="0">
                <a:solidFill>
                  <a:schemeClr val="accent3"/>
                </a:solidFill>
              </a:rPr>
              <a:t> de gevel</a:t>
            </a:r>
            <a:endParaRPr lang="en-US" sz="1600" dirty="0"/>
          </a:p>
          <a:p>
            <a:pPr indent="0" marL="0">
              <a:spcAft>
                <a:spcPts val="400"/>
              </a:spcAft>
              <a:buNone/>
            </a:pPr>
            <a:r>
              <a:rPr lang="en-US" sz="1600" b="1" dirty="0">
                <a:solidFill>
                  <a:schemeClr val="tx2"/>
                </a:solidFill>
              </a:rPr>
              <a:t>2.  </a:t>
            </a:r>
            <a:r>
              <a:rPr lang="en-US" sz="1600" dirty="0">
                <a:solidFill>
                  <a:schemeClr val="tx1"/>
                </a:solidFill>
              </a:rPr>
              <a:t>We verhogen de bijdrage.</a:t>
            </a:r>
            <a:endParaRPr lang="en-US" sz="1600" dirty="0"/>
          </a:p>
          <a:p>
            <a:pPr indent="0" marL="0">
              <a:spcAft>
                <a:spcPts val="1200"/>
              </a:spcAft>
              <a:buNone/>
            </a:pPr>
            <a:r>
              <a:rPr lang="en-US" sz="1600" b="1" dirty="0">
                <a:solidFill>
                  <a:schemeClr val="accent3"/>
                </a:solidFill>
              </a:rPr>
              <a:t>→ </a:t>
            </a:r>
            <a:r>
              <a:rPr lang="en-US" sz="1600" dirty="0">
                <a:solidFill>
                  <a:schemeClr val="accent3"/>
                </a:solidFill>
              </a:rPr>
              <a:t>de </a:t>
            </a:r>
            <a:r>
              <a:rPr lang="en-US" sz="1600" b="1" dirty="0">
                <a:solidFill>
                  <a:schemeClr val="accent3"/>
                </a:solidFill>
              </a:rPr>
              <a:t>verhoging</a:t>
            </a:r>
            <a:r>
              <a:rPr lang="en-US" sz="1600" dirty="0">
                <a:solidFill>
                  <a:schemeClr val="accent3"/>
                </a:solidFill>
              </a:rPr>
              <a:t> van de bijdrage</a:t>
            </a:r>
            <a:endParaRPr lang="en-US" sz="1600" dirty="0"/>
          </a:p>
          <a:p>
            <a:pPr indent="0" marL="0">
              <a:spcAft>
                <a:spcPts val="400"/>
              </a:spcAft>
              <a:buNone/>
            </a:pPr>
            <a:r>
              <a:rPr lang="en-US" sz="1600" b="1" dirty="0">
                <a:solidFill>
                  <a:schemeClr val="tx2"/>
                </a:solidFill>
              </a:rPr>
              <a:t>3.  </a:t>
            </a:r>
            <a:r>
              <a:rPr lang="en-US" sz="1600" dirty="0">
                <a:solidFill>
                  <a:schemeClr val="tx1"/>
                </a:solidFill>
              </a:rPr>
              <a:t>We keuren de notulen goed. (séparable)</a:t>
            </a:r>
            <a:endParaRPr lang="en-US" sz="1600" dirty="0"/>
          </a:p>
          <a:p>
            <a:pPr indent="0" marL="0">
              <a:spcAft>
                <a:spcPts val="1200"/>
              </a:spcAft>
              <a:buNone/>
            </a:pPr>
            <a:r>
              <a:rPr lang="en-US" sz="1600" b="1" dirty="0">
                <a:solidFill>
                  <a:schemeClr val="accent3"/>
                </a:solidFill>
              </a:rPr>
              <a:t>→ </a:t>
            </a:r>
            <a:r>
              <a:rPr lang="en-US" sz="1600" dirty="0">
                <a:solidFill>
                  <a:schemeClr val="accent3"/>
                </a:solidFill>
              </a:rPr>
              <a:t>de </a:t>
            </a:r>
            <a:r>
              <a:rPr lang="en-US" sz="1600" b="1" dirty="0">
                <a:solidFill>
                  <a:schemeClr val="accent3"/>
                </a:solidFill>
              </a:rPr>
              <a:t>goedkeuring</a:t>
            </a:r>
            <a:r>
              <a:rPr lang="en-US" sz="1600" dirty="0">
                <a:solidFill>
                  <a:schemeClr val="accent3"/>
                </a:solidFill>
              </a:rPr>
              <a:t> van de notulen</a:t>
            </a:r>
            <a:endParaRPr lang="en-US" sz="1600" dirty="0"/>
          </a:p>
          <a:p>
            <a:pPr indent="0" marL="0">
              <a:spcAft>
                <a:spcPts val="400"/>
              </a:spcAft>
              <a:buNone/>
            </a:pPr>
            <a:r>
              <a:rPr lang="en-US" sz="1600" b="1" dirty="0">
                <a:solidFill>
                  <a:schemeClr val="tx2"/>
                </a:solidFill>
              </a:rPr>
              <a:t>4.  </a:t>
            </a:r>
            <a:r>
              <a:rPr lang="en-US" sz="1600" dirty="0">
                <a:solidFill>
                  <a:schemeClr val="tx1"/>
                </a:solidFill>
              </a:rPr>
              <a:t>We stellen de werken uit. (séparable : het + infinitif)</a:t>
            </a:r>
            <a:endParaRPr lang="en-US" sz="1600" dirty="0"/>
          </a:p>
          <a:p>
            <a:pPr indent="0" marL="0">
              <a:spcAft>
                <a:spcPts val="1200"/>
              </a:spcAft>
              <a:buNone/>
            </a:pPr>
            <a:r>
              <a:rPr lang="en-US" sz="1600" b="1" dirty="0">
                <a:solidFill>
                  <a:schemeClr val="accent3"/>
                </a:solidFill>
              </a:rPr>
              <a:t>→ </a:t>
            </a:r>
            <a:r>
              <a:rPr lang="en-US" sz="1600" b="1" dirty="0">
                <a:solidFill>
                  <a:schemeClr val="accent3"/>
                </a:solidFill>
              </a:rPr>
              <a:t>het uitstellen</a:t>
            </a:r>
            <a:r>
              <a:rPr lang="en-US" sz="1600" dirty="0">
                <a:solidFill>
                  <a:schemeClr val="accent3"/>
                </a:solidFill>
              </a:rPr>
              <a:t> van de werken</a:t>
            </a:r>
            <a:endParaRPr lang="en-US" sz="1600" dirty="0"/>
          </a:p>
          <a:p>
            <a:pPr indent="0" marL="0">
              <a:spcAft>
                <a:spcPts val="400"/>
              </a:spcAft>
              <a:buNone/>
            </a:pPr>
            <a:r>
              <a:rPr lang="en-US" sz="1600" b="1" dirty="0">
                <a:solidFill>
                  <a:schemeClr val="tx2"/>
                </a:solidFill>
              </a:rPr>
              <a:t>5.  </a:t>
            </a:r>
            <a:r>
              <a:rPr lang="en-US" sz="1600" dirty="0">
                <a:solidFill>
                  <a:schemeClr val="tx1"/>
                </a:solidFill>
              </a:rPr>
              <a:t>We vergaderen in september.</a:t>
            </a:r>
            <a:endParaRPr lang="en-US" sz="1600" dirty="0"/>
          </a:p>
          <a:p>
            <a:pPr indent="0" marL="0">
              <a:spcAft>
                <a:spcPts val="1200"/>
              </a:spcAft>
              <a:buNone/>
            </a:pPr>
            <a:r>
              <a:rPr lang="en-US" sz="1600" b="1" dirty="0">
                <a:solidFill>
                  <a:schemeClr val="accent3"/>
                </a:solidFill>
              </a:rPr>
              <a:t>→ </a:t>
            </a:r>
            <a:r>
              <a:rPr lang="en-US" sz="1600" dirty="0">
                <a:solidFill>
                  <a:schemeClr val="accent3"/>
                </a:solidFill>
              </a:rPr>
              <a:t>de </a:t>
            </a:r>
            <a:r>
              <a:rPr lang="en-US" sz="1600" b="1" dirty="0">
                <a:solidFill>
                  <a:schemeClr val="accent3"/>
                </a:solidFill>
              </a:rPr>
              <a:t>vergadering</a:t>
            </a:r>
            <a:r>
              <a:rPr lang="en-US" sz="1600" dirty="0">
                <a:solidFill>
                  <a:schemeClr val="accent3"/>
                </a:solidFill>
              </a:rPr>
              <a:t> in september</a:t>
            </a:r>
            <a:endParaRPr lang="en-US" sz="1600" dirty="0"/>
          </a:p>
        </p:txBody>
      </p:sp>
      <p:sp>
        <p:nvSpPr>
          <p:cNvPr id="9" name="aside"/>
          <p:cNvSpPr/>
          <p:nvPr/>
        </p:nvSpPr>
        <p:spPr>
          <a:xfrm>
            <a:off x="8046720" y="1481328"/>
            <a:ext cx="3593592" cy="4809744"/>
          </a:xfrm>
          <a:prstGeom prst="roundRect">
            <a:avLst>
              <a:gd name="adj" fmla="val 2036"/>
            </a:avLst>
          </a:prstGeom>
          <a:solidFill>
            <a:schemeClr val="accent6">
              <a:alpha val="10000"/>
            </a:schemeClr>
          </a:solidFill>
          <a:ln w="12700">
            <a:solidFill>
              <a:schemeClr val="accent6">
                <a:alpha val="60000"/>
              </a:schemeClr>
            </a:solidFill>
            <a:prstDash val="solid"/>
          </a:ln>
        </p:spPr>
      </p:sp>
      <p:pic>
        <p:nvPicPr>
          <p:cNvPr id="10" name="Image 0" descr="preencoded.png">    </p:cNvPr>
          <p:cNvPicPr>
            <a:picLocks noChangeAspect="1"/>
          </p:cNvPicPr>
          <p:nvPr/>
        </p:nvPicPr>
        <p:blipFill>
          <a:blip r:embed="rId1"/>
          <a:stretch>
            <a:fillRect/>
          </a:stretch>
        </p:blipFill>
        <p:spPr>
          <a:xfrm>
            <a:off x="8229600" y="1664208"/>
            <a:ext cx="292608" cy="292608"/>
          </a:xfrm>
          <a:prstGeom prst="rect">
            <a:avLst/>
          </a:prstGeom>
        </p:spPr>
      </p:pic>
      <p:sp>
        <p:nvSpPr>
          <p:cNvPr id="11" name="Text 7"/>
          <p:cNvSpPr txBox="1"/>
          <p:nvPr/>
        </p:nvSpPr>
        <p:spPr>
          <a:xfrm>
            <a:off x="8613648" y="1636776"/>
            <a:ext cx="2862072" cy="347472"/>
          </a:xfrm>
          <a:prstGeom prst="rect">
            <a:avLst/>
          </a:prstGeom>
          <a:noFill/>
          <a:ln/>
        </p:spPr>
        <p:txBody>
          <a:bodyPr wrap="square" lIns="0" tIns="0" rIns="0" bIns="0" rtlCol="0" anchor="ctr"/>
          <a:lstStyle/>
          <a:p>
            <a:pPr indent="0" marL="0">
              <a:buNone/>
            </a:pPr>
            <a:r>
              <a:rPr lang="en-US" sz="1400" b="1" spc="100" kern="0" dirty="0">
                <a:solidFill>
                  <a:schemeClr val="accent6"/>
                </a:solidFill>
              </a:rPr>
              <a:t>ATTENTION</a:t>
            </a:r>
            <a:endParaRPr lang="en-US" sz="1400" dirty="0"/>
          </a:p>
        </p:txBody>
      </p:sp>
      <p:sp>
        <p:nvSpPr>
          <p:cNvPr id="12" name="Text 8"/>
          <p:cNvSpPr txBox="1"/>
          <p:nvPr/>
        </p:nvSpPr>
        <p:spPr>
          <a:xfrm>
            <a:off x="8211312" y="2075688"/>
            <a:ext cx="3264408" cy="4078224"/>
          </a:xfrm>
          <a:prstGeom prst="rect">
            <a:avLst/>
          </a:prstGeom>
          <a:noFill/>
          <a:ln/>
        </p:spPr>
        <p:txBody>
          <a:bodyPr wrap="square" lIns="0" tIns="0" rIns="0" bIns="0" rtlCol="0" anchor="t"/>
          <a:lstStyle/>
          <a:p>
            <a:pPr marL="177800" indent="-177800">
              <a:spcAft>
                <a:spcPts val="600"/>
              </a:spcAft>
              <a:buSzPct val="100000"/>
              <a:buChar char="•"/>
            </a:pPr>
            <a:r>
              <a:rPr lang="en-US" sz="1800" b="1" dirty="0">
                <a:solidFill>
                  <a:schemeClr val="tx1"/>
                </a:solidFill>
              </a:rPr>
              <a:t>goed|keuren</a:t>
            </a:r>
            <a:r>
              <a:rPr lang="en-US" sz="1800" dirty="0">
                <a:solidFill>
                  <a:schemeClr val="tx1"/>
                </a:solidFill>
              </a:rPr>
              <a:t> → </a:t>
            </a:r>
            <a:r>
              <a:rPr lang="en-US" sz="1800" i="1" dirty="0">
                <a:solidFill>
                  <a:schemeClr val="tx1"/>
                </a:solidFill>
              </a:rPr>
              <a:t>goedkeuring</a:t>
            </a:r>
            <a:r>
              <a:rPr lang="en-US" sz="1800" dirty="0">
                <a:solidFill>
                  <a:schemeClr val="tx1"/>
                </a:solidFill>
              </a:rPr>
              <a:t> : la particule se soude au nom.</a:t>
            </a:r>
            <a:endParaRPr lang="en-US" sz="1800" dirty="0"/>
          </a:p>
          <a:p>
            <a:pPr marL="177800" indent="-177800">
              <a:spcAft>
                <a:spcPts val="600"/>
              </a:spcAft>
              <a:buSzPct val="100000"/>
              <a:buChar char="•"/>
            </a:pPr>
            <a:r>
              <a:rPr lang="en-US" sz="1800" b="1" dirty="0">
                <a:solidFill>
                  <a:schemeClr val="tx1"/>
                </a:solidFill>
              </a:rPr>
              <a:t>uitstellen</a:t>
            </a:r>
            <a:r>
              <a:rPr lang="en-US" sz="1800" dirty="0">
                <a:solidFill>
                  <a:schemeClr val="tx1"/>
                </a:solidFill>
              </a:rPr>
              <a:t> : </a:t>
            </a:r>
            <a:r>
              <a:rPr lang="en-US" sz="1800" b="1" dirty="0">
                <a:solidFill>
                  <a:schemeClr val="tx1"/>
                </a:solidFill>
              </a:rPr>
              <a:t>het</a:t>
            </a:r>
            <a:r>
              <a:rPr lang="en-US" sz="1800" dirty="0">
                <a:solidFill>
                  <a:schemeClr val="tx1"/>
                </a:solidFill>
              </a:rPr>
              <a:t> + infinitif (ou </a:t>
            </a:r>
            <a:r>
              <a:rPr lang="en-US" sz="1800" i="1" dirty="0">
                <a:solidFill>
                  <a:schemeClr val="tx1"/>
                </a:solidFill>
              </a:rPr>
              <a:t>het uitstel</a:t>
            </a:r>
            <a:r>
              <a:rPr lang="en-US" sz="1800" dirty="0">
                <a:solidFill>
                  <a:schemeClr val="tx1"/>
                </a:solidFill>
              </a:rPr>
              <a:t>).</a:t>
            </a:r>
            <a:endParaRPr lang="en-US" sz="1800" dirty="0"/>
          </a:p>
          <a:p>
            <a:pPr marL="177800" indent="-177800">
              <a:spcAft>
                <a:spcPts val="600"/>
              </a:spcAft>
              <a:buSzPct val="100000"/>
              <a:buChar char="•"/>
            </a:pPr>
            <a:r>
              <a:rPr lang="en-US" sz="1800" dirty="0">
                <a:solidFill>
                  <a:schemeClr val="tx1"/>
                </a:solidFill>
              </a:rPr>
              <a:t>Nom en </a:t>
            </a:r>
            <a:r>
              <a:rPr lang="en-US" sz="1800" b="1" dirty="0">
                <a:solidFill>
                  <a:schemeClr val="tx1"/>
                </a:solidFill>
              </a:rPr>
              <a:t>-ing</a:t>
            </a:r>
            <a:r>
              <a:rPr lang="en-US" sz="1800" dirty="0">
                <a:solidFill>
                  <a:schemeClr val="tx1"/>
                </a:solidFill>
              </a:rPr>
              <a:t> : </a:t>
            </a:r>
            <a:r>
              <a:rPr lang="en-US" sz="1800" b="1" dirty="0">
                <a:solidFill>
                  <a:schemeClr val="tx1"/>
                </a:solidFill>
              </a:rPr>
              <a:t>de</a:t>
            </a:r>
            <a:r>
              <a:rPr lang="en-US" sz="1800" dirty="0">
                <a:solidFill>
                  <a:schemeClr val="tx1"/>
                </a:solidFill>
              </a:rPr>
              <a:t> · infinitif nominal : </a:t>
            </a:r>
            <a:r>
              <a:rPr lang="en-US" sz="1800" b="1" dirty="0">
                <a:solidFill>
                  <a:schemeClr val="tx1"/>
                </a:solidFill>
              </a:rPr>
              <a:t>het</a:t>
            </a:r>
            <a:r>
              <a:rPr lang="en-US" sz="1800" dirty="0">
                <a:solidFill>
                  <a:schemeClr val="tx1"/>
                </a:solidFill>
              </a:rPr>
              <a:t>.</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TAAK 2 : de brief aan de syndicus</a:t>
            </a:r>
            <a:endParaRPr lang="en-US" sz="3200" dirty="0"/>
          </a:p>
        </p:txBody>
      </p:sp>
      <p:sp>
        <p:nvSpPr>
          <p:cNvPr id="3" name="tag"/>
          <p:cNvSpPr/>
          <p:nvPr/>
        </p:nvSpPr>
        <p:spPr>
          <a:xfrm>
            <a:off x="548640" y="237744"/>
            <a:ext cx="1074420"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chemeClr val="bg1"/>
                </a:solidFill>
              </a:rPr>
              <a:t>ÉCRIT</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10</a:t>
            </a:r>
            <a:endParaRPr lang="en-US" sz="1200" dirty="0"/>
          </a:p>
        </p:txBody>
      </p:sp>
      <p:sp>
        <p:nvSpPr>
          <p:cNvPr id="6" name="Text 3"/>
          <p:cNvSpPr txBox="1"/>
          <p:nvPr/>
        </p:nvSpPr>
        <p:spPr>
          <a:xfrm>
            <a:off x="548640" y="1481328"/>
            <a:ext cx="7178040" cy="859536"/>
          </a:xfrm>
          <a:prstGeom prst="rect">
            <a:avLst/>
          </a:prstGeom>
          <a:noFill/>
          <a:ln/>
        </p:spPr>
        <p:txBody>
          <a:bodyPr wrap="square" lIns="0" tIns="0" rIns="0" bIns="0" rtlCol="0" anchor="t"/>
          <a:lstStyle/>
          <a:p>
            <a:pPr indent="0" marL="0">
              <a:buNone/>
            </a:pPr>
            <a:r>
              <a:rPr lang="en-US" sz="1600" i="1" dirty="0">
                <a:solidFill>
                  <a:schemeClr val="accent5"/>
                </a:solidFill>
              </a:rPr>
              <a:t>Écrit · seul · 15 min. </a:t>
            </a:r>
            <a:r>
              <a:rPr lang="en-US" sz="1600" b="1" i="1" dirty="0">
                <a:solidFill>
                  <a:schemeClr val="accent5"/>
                </a:solidFill>
              </a:rPr>
              <a:t>Mevrouw Dubois</a:t>
            </a:r>
            <a:r>
              <a:rPr lang="en-US" sz="1600" i="1" dirty="0">
                <a:solidFill>
                  <a:schemeClr val="accent5"/>
                </a:solidFill>
              </a:rPr>
              <a:t> veut ajouter un point à l’ordre du jour : </a:t>
            </a:r>
            <a:r>
              <a:rPr lang="en-US" sz="1600" b="1" i="1" dirty="0">
                <a:solidFill>
                  <a:schemeClr val="accent5"/>
                </a:solidFill>
              </a:rPr>
              <a:t>de beveiliging van de inkomdeur</a:t>
            </a:r>
            <a:r>
              <a:rPr lang="en-US" sz="1600" i="1" dirty="0">
                <a:solidFill>
                  <a:schemeClr val="accent5"/>
                </a:solidFill>
              </a:rPr>
              <a:t>, après deux incidents. Rédigez la demande officielle au syndic.</a:t>
            </a:r>
            <a:endParaRPr lang="en-US" sz="1600" dirty="0"/>
          </a:p>
        </p:txBody>
      </p:sp>
      <p:sp>
        <p:nvSpPr>
          <p:cNvPr id="7" name="exercise"/>
          <p:cNvSpPr txBox="1"/>
          <p:nvPr/>
        </p:nvSpPr>
        <p:spPr>
          <a:xfrm>
            <a:off x="548640" y="2414016"/>
            <a:ext cx="7178040" cy="3877056"/>
          </a:xfrm>
          <a:prstGeom prst="rect">
            <a:avLst/>
          </a:prstGeom>
          <a:noFill/>
          <a:ln/>
        </p:spPr>
        <p:txBody>
          <a:bodyPr wrap="square" lIns="0" tIns="0" rIns="0" bIns="0" rtlCol="0" anchor="t"/>
          <a:lstStyle/>
          <a:p>
            <a:pPr indent="0" marL="0">
              <a:spcAft>
                <a:spcPts val="800"/>
              </a:spcAft>
              <a:buNone/>
            </a:pPr>
            <a:r>
              <a:rPr lang="en-US" sz="2400" b="1" dirty="0">
                <a:solidFill>
                  <a:schemeClr val="tx1"/>
                </a:solidFill>
              </a:rPr>
              <a:t>Betreft</a:t>
            </a:r>
            <a:r>
              <a:rPr lang="en-US" sz="2400" dirty="0">
                <a:solidFill>
                  <a:schemeClr val="tx1"/>
                </a:solidFill>
              </a:rPr>
              <a:t> : objet nominal en titre — </a:t>
            </a:r>
            <a:r>
              <a:rPr lang="en-US" sz="2400" i="1" dirty="0">
                <a:solidFill>
                  <a:schemeClr val="tx1"/>
                </a:solidFill>
              </a:rPr>
              <a:t>toevoeging van een agendapunt</a:t>
            </a:r>
            <a:endParaRPr lang="en-US" sz="2400" dirty="0"/>
          </a:p>
          <a:p>
            <a:pPr indent="0" marL="0">
              <a:spcAft>
                <a:spcPts val="800"/>
              </a:spcAft>
              <a:buNone/>
            </a:pPr>
            <a:r>
              <a:rPr lang="en-US" sz="2400" b="1" dirty="0">
                <a:solidFill>
                  <a:schemeClr val="tx1"/>
                </a:solidFill>
              </a:rPr>
              <a:t>5 nominalisations</a:t>
            </a:r>
            <a:r>
              <a:rPr lang="en-US" sz="2400" dirty="0">
                <a:solidFill>
                  <a:schemeClr val="tx1"/>
                </a:solidFill>
              </a:rPr>
              <a:t> au moins</a:t>
            </a:r>
            <a:endParaRPr lang="en-US" sz="2400" dirty="0"/>
          </a:p>
          <a:p>
            <a:pPr indent="0" marL="0">
              <a:spcAft>
                <a:spcPts val="800"/>
              </a:spcAft>
              <a:buNone/>
            </a:pPr>
            <a:r>
              <a:rPr lang="en-US" sz="2400" dirty="0">
                <a:solidFill>
                  <a:schemeClr val="tx1"/>
                </a:solidFill>
              </a:rPr>
              <a:t>Un </a:t>
            </a:r>
            <a:r>
              <a:rPr lang="en-US" sz="2400" b="1" dirty="0">
                <a:solidFill>
                  <a:schemeClr val="tx1"/>
                </a:solidFill>
              </a:rPr>
              <a:t>discours indirect</a:t>
            </a:r>
            <a:r>
              <a:rPr lang="en-US" sz="2400" dirty="0">
                <a:solidFill>
                  <a:schemeClr val="tx1"/>
                </a:solidFill>
              </a:rPr>
              <a:t> : </a:t>
            </a:r>
            <a:r>
              <a:rPr lang="en-US" sz="2400" i="1" dirty="0">
                <a:solidFill>
                  <a:schemeClr val="tx1"/>
                </a:solidFill>
              </a:rPr>
              <a:t>Mevrouw Dubois zei dat…</a:t>
            </a:r>
            <a:endParaRPr lang="en-US" sz="2400" dirty="0"/>
          </a:p>
          <a:p>
            <a:pPr indent="0" marL="0">
              <a:spcAft>
                <a:spcPts val="800"/>
              </a:spcAft>
              <a:buNone/>
            </a:pPr>
            <a:r>
              <a:rPr lang="en-US" sz="2400" dirty="0">
                <a:solidFill>
                  <a:schemeClr val="tx1"/>
                </a:solidFill>
              </a:rPr>
              <a:t>Une demande polie avec </a:t>
            </a:r>
            <a:r>
              <a:rPr lang="en-US" sz="2400" b="1" dirty="0">
                <a:solidFill>
                  <a:schemeClr val="tx1"/>
                </a:solidFill>
              </a:rPr>
              <a:t>zou</a:t>
            </a:r>
            <a:endParaRPr lang="en-US" sz="2400" dirty="0"/>
          </a:p>
          <a:p>
            <a:pPr indent="0" marL="0">
              <a:spcAft>
                <a:spcPts val="800"/>
              </a:spcAft>
              <a:buNone/>
            </a:pPr>
            <a:r>
              <a:rPr lang="en-US" sz="2400" dirty="0">
                <a:solidFill>
                  <a:schemeClr val="tx1"/>
                </a:solidFill>
              </a:rPr>
              <a:t>Un </a:t>
            </a:r>
            <a:r>
              <a:rPr lang="en-US" sz="2400" b="1" dirty="0">
                <a:solidFill>
                  <a:schemeClr val="tx1"/>
                </a:solidFill>
              </a:rPr>
              <a:t>cadre formel</a:t>
            </a:r>
            <a:r>
              <a:rPr lang="en-US" sz="2400" dirty="0">
                <a:solidFill>
                  <a:schemeClr val="tx1"/>
                </a:solidFill>
              </a:rPr>
              <a:t> : </a:t>
            </a:r>
            <a:r>
              <a:rPr lang="en-US" sz="2400" i="1" dirty="0">
                <a:solidFill>
                  <a:schemeClr val="tx1"/>
                </a:solidFill>
              </a:rPr>
              <a:t>Geachte…, … Met vriendelijke groeten</a:t>
            </a:r>
            <a:endParaRPr lang="en-US" sz="2400" dirty="0"/>
          </a:p>
        </p:txBody>
      </p:sp>
      <p:pic>
        <p:nvPicPr>
          <p:cNvPr id="8" name="illustration" descr="Illustration du syllabus">    </p:cNvPr>
          <p:cNvPicPr>
            <a:picLocks noChangeAspect="1"/>
          </p:cNvPicPr>
          <p:nvPr/>
        </p:nvPicPr>
        <p:blipFill>
          <a:blip r:embed="rId1"/>
          <a:stretch>
            <a:fillRect/>
          </a:stretch>
        </p:blipFill>
        <p:spPr>
          <a:xfrm>
            <a:off x="8196431" y="1481328"/>
            <a:ext cx="3294170" cy="2194560"/>
          </a:xfrm>
          <a:prstGeom prst="rect">
            <a:avLst/>
          </a:prstGeom>
          <a:effectLst>
            <a:outerShdw sx="100000" sy="100000" kx="0" ky="0" algn="bl" rotWithShape="0" blurRad="101600" dist="25400" dir="3600000">
              <a:srgbClr val="000000">
                <a:alpha val="18000"/>
              </a:srgbClr>
            </a:outerShdw>
          </a:effectLst>
        </p:spPr>
      </p:pic>
      <p:sp>
        <p:nvSpPr>
          <p:cNvPr id="9" name="aside"/>
          <p:cNvSpPr/>
          <p:nvPr/>
        </p:nvSpPr>
        <p:spPr>
          <a:xfrm>
            <a:off x="8046720" y="3904488"/>
            <a:ext cx="3593592" cy="2386584"/>
          </a:xfrm>
          <a:prstGeom prst="roundRect">
            <a:avLst>
              <a:gd name="adj" fmla="val 3065"/>
            </a:avLst>
          </a:prstGeom>
          <a:solidFill>
            <a:schemeClr val="accent5">
              <a:alpha val="10000"/>
            </a:schemeClr>
          </a:solidFill>
          <a:ln w="12700">
            <a:solidFill>
              <a:schemeClr val="accent5">
                <a:alpha val="60000"/>
              </a:schemeClr>
            </a:solidFill>
            <a:prstDash val="solid"/>
          </a:ln>
        </p:spPr>
      </p:sp>
      <p:pic>
        <p:nvPicPr>
          <p:cNvPr id="10" name="Image 1" descr="preencoded.png">    </p:cNvPr>
          <p:cNvPicPr>
            <a:picLocks noChangeAspect="1"/>
          </p:cNvPicPr>
          <p:nvPr/>
        </p:nvPicPr>
        <p:blipFill>
          <a:blip r:embed="rId2"/>
          <a:stretch>
            <a:fillRect/>
          </a:stretch>
        </p:blipFill>
        <p:spPr>
          <a:xfrm>
            <a:off x="8229600" y="4087368"/>
            <a:ext cx="292608" cy="292608"/>
          </a:xfrm>
          <a:prstGeom prst="rect">
            <a:avLst/>
          </a:prstGeom>
        </p:spPr>
      </p:pic>
      <p:sp>
        <p:nvSpPr>
          <p:cNvPr id="11" name="Text 6"/>
          <p:cNvSpPr txBox="1"/>
          <p:nvPr/>
        </p:nvSpPr>
        <p:spPr>
          <a:xfrm>
            <a:off x="8613648" y="4059936"/>
            <a:ext cx="2862072" cy="347472"/>
          </a:xfrm>
          <a:prstGeom prst="rect">
            <a:avLst/>
          </a:prstGeom>
          <a:noFill/>
          <a:ln/>
        </p:spPr>
        <p:txBody>
          <a:bodyPr wrap="square" lIns="0" tIns="0" rIns="0" bIns="0" rtlCol="0" anchor="ctr"/>
          <a:lstStyle/>
          <a:p>
            <a:pPr indent="0" marL="0">
              <a:buNone/>
            </a:pPr>
            <a:r>
              <a:rPr lang="en-US" sz="1400" b="1" spc="100" kern="0" dirty="0">
                <a:solidFill>
                  <a:schemeClr val="accent5"/>
                </a:solidFill>
              </a:rPr>
              <a:t>ATTENDU</a:t>
            </a:r>
            <a:endParaRPr lang="en-US" sz="1400" dirty="0"/>
          </a:p>
        </p:txBody>
      </p:sp>
      <p:sp>
        <p:nvSpPr>
          <p:cNvPr id="12" name="Text 7"/>
          <p:cNvSpPr txBox="1"/>
          <p:nvPr/>
        </p:nvSpPr>
        <p:spPr>
          <a:xfrm>
            <a:off x="8211312" y="4498848"/>
            <a:ext cx="3264408" cy="1655064"/>
          </a:xfrm>
          <a:prstGeom prst="rect">
            <a:avLst/>
          </a:prstGeom>
          <a:noFill/>
          <a:ln/>
        </p:spPr>
        <p:txBody>
          <a:bodyPr wrap="square" lIns="0" tIns="0" rIns="0" bIns="0" rtlCol="0" anchor="t"/>
          <a:lstStyle/>
          <a:p>
            <a:pPr marL="177800" indent="-177800">
              <a:spcAft>
                <a:spcPts val="600"/>
              </a:spcAft>
              <a:buSzPct val="100000"/>
              <a:buChar char="•"/>
            </a:pPr>
            <a:r>
              <a:rPr lang="en-US" sz="1800" b="1" dirty="0">
                <a:solidFill>
                  <a:schemeClr val="tx1"/>
                </a:solidFill>
              </a:rPr>
              <a:t>8 à 10 phrases</a:t>
            </a:r>
            <a:endParaRPr lang="en-US" sz="1800" dirty="0"/>
          </a:p>
          <a:p>
            <a:pPr marL="177800" indent="-177800">
              <a:spcAft>
                <a:spcPts val="600"/>
              </a:spcAft>
              <a:buSzPct val="100000"/>
              <a:buChar char="•"/>
            </a:pPr>
            <a:r>
              <a:rPr lang="en-US" sz="1800" dirty="0">
                <a:solidFill>
                  <a:schemeClr val="tx1"/>
                </a:solidFill>
              </a:rPr>
              <a:t>Registre </a:t>
            </a:r>
            <a:r>
              <a:rPr lang="en-US" sz="1800" b="1" dirty="0">
                <a:solidFill>
                  <a:schemeClr val="tx1"/>
                </a:solidFill>
              </a:rPr>
              <a:t>formel</a:t>
            </a:r>
            <a:r>
              <a:rPr lang="en-US" sz="1800" dirty="0">
                <a:solidFill>
                  <a:schemeClr val="tx1"/>
                </a:solidFill>
              </a:rPr>
              <a:t> (u-vorm)</a:t>
            </a:r>
            <a:endParaRPr lang="en-US" sz="1800" dirty="0"/>
          </a:p>
          <a:p>
            <a:pPr marL="177800" indent="-177800">
              <a:spcAft>
                <a:spcPts val="600"/>
              </a:spcAft>
              <a:buSzPct val="100000"/>
              <a:buChar char="•"/>
            </a:pPr>
            <a:r>
              <a:rPr lang="en-US" sz="1800" dirty="0">
                <a:solidFill>
                  <a:schemeClr val="tx1"/>
                </a:solidFill>
              </a:rPr>
              <a:t>Écrit · seul · 15 min</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TAAK 2 : lettre-modèle</a:t>
            </a:r>
            <a:endParaRPr lang="en-US" sz="3200" dirty="0"/>
          </a:p>
        </p:txBody>
      </p:sp>
      <p:sp>
        <p:nvSpPr>
          <p:cNvPr id="3" name="tag"/>
          <p:cNvSpPr/>
          <p:nvPr/>
        </p:nvSpPr>
        <p:spPr>
          <a:xfrm>
            <a:off x="548640" y="237744"/>
            <a:ext cx="1074420"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chemeClr val="bg1"/>
                </a:solidFill>
              </a:rPr>
              <a:t>ÉCRIT</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10</a:t>
            </a:r>
            <a:endParaRPr lang="en-US" sz="1200" dirty="0"/>
          </a:p>
        </p:txBody>
      </p:sp>
      <p:sp>
        <p:nvSpPr>
          <p:cNvPr id="6" name="Shape 3"/>
          <p:cNvSpPr/>
          <p:nvPr/>
        </p:nvSpPr>
        <p:spPr>
          <a:xfrm>
            <a:off x="548640" y="1481328"/>
            <a:ext cx="7406640" cy="4809744"/>
          </a:xfrm>
          <a:prstGeom prst="rect">
            <a:avLst/>
          </a:prstGeom>
          <a:solidFill>
            <a:schemeClr val="bg1"/>
          </a:solidFill>
          <a:ln w="12700">
            <a:solidFill>
              <a:srgbClr val="4A5A70"/>
            </a:solidFill>
            <a:prstDash val="dash"/>
          </a:ln>
        </p:spPr>
      </p:sp>
      <p:sp>
        <p:nvSpPr>
          <p:cNvPr id="7" name="tag"/>
          <p:cNvSpPr/>
          <p:nvPr/>
        </p:nvSpPr>
        <p:spPr>
          <a:xfrm>
            <a:off x="777240" y="1645920"/>
            <a:ext cx="1188720" cy="310896"/>
          </a:xfrm>
          <a:prstGeom prst="roundRect">
            <a:avLst>
              <a:gd name="adj" fmla="val 14706"/>
            </a:avLst>
          </a:prstGeom>
          <a:solidFill>
            <a:schemeClr val="accent5"/>
          </a:solidFill>
          <a:ln/>
        </p:spPr>
        <p:txBody>
          <a:bodyPr wrap="square" lIns="0" tIns="0" rIns="0" bIns="0" rtlCol="0" anchor="ctr"/>
          <a:lstStyle/>
          <a:p>
            <a:pPr algn="ctr" indent="0" marL="0">
              <a:buNone/>
            </a:pPr>
            <a:r>
              <a:rPr lang="en-US" sz="1200" b="1" spc="100" kern="0" dirty="0">
                <a:solidFill>
                  <a:schemeClr val="bg1"/>
                </a:solidFill>
              </a:rPr>
              <a:t>MODÈLE</a:t>
            </a:r>
            <a:endParaRPr lang="en-US" sz="1200" dirty="0"/>
          </a:p>
        </p:txBody>
      </p:sp>
      <p:sp>
        <p:nvSpPr>
          <p:cNvPr id="8" name="Text 5"/>
          <p:cNvSpPr txBox="1"/>
          <p:nvPr/>
        </p:nvSpPr>
        <p:spPr>
          <a:xfrm>
            <a:off x="2194560" y="1609344"/>
            <a:ext cx="5669280" cy="384048"/>
          </a:xfrm>
          <a:prstGeom prst="rect">
            <a:avLst/>
          </a:prstGeom>
          <a:noFill/>
          <a:ln/>
        </p:spPr>
        <p:txBody>
          <a:bodyPr wrap="square" lIns="0" tIns="0" rIns="0" bIns="0" rtlCol="0" anchor="ctr"/>
          <a:lstStyle/>
          <a:p>
            <a:pPr indent="0" marL="0">
              <a:buNone/>
            </a:pPr>
            <a:r>
              <a:rPr lang="en-US" sz="1800" b="1" dirty="0">
                <a:solidFill>
                  <a:schemeClr val="accent5"/>
                </a:solidFill>
                <a:latin typeface="+mj-lt" pitchFamily="34" charset="0"/>
                <a:ea typeface="+mj-lt" pitchFamily="34" charset="-122"/>
                <a:cs typeface="+mj-lt" pitchFamily="34" charset="-120"/>
              </a:rPr>
              <a:t>Betreft: toevoeging van een agendapunt</a:t>
            </a:r>
            <a:endParaRPr lang="en-US" sz="1800" dirty="0"/>
          </a:p>
        </p:txBody>
      </p:sp>
      <p:sp>
        <p:nvSpPr>
          <p:cNvPr id="9" name="Text 6"/>
          <p:cNvSpPr txBox="1"/>
          <p:nvPr/>
        </p:nvSpPr>
        <p:spPr>
          <a:xfrm>
            <a:off x="777240" y="2148840"/>
            <a:ext cx="6949440" cy="4023360"/>
          </a:xfrm>
          <a:prstGeom prst="rect">
            <a:avLst/>
          </a:prstGeom>
          <a:noFill/>
          <a:ln/>
        </p:spPr>
        <p:txBody>
          <a:bodyPr wrap="square" lIns="0" tIns="0" rIns="0" bIns="0" rtlCol="0" anchor="t"/>
          <a:lstStyle/>
          <a:p>
            <a:pPr indent="0" marL="0">
              <a:spcAft>
                <a:spcPts val="800"/>
              </a:spcAft>
              <a:buNone/>
            </a:pPr>
            <a:r>
              <a:rPr lang="en-US" sz="1800" dirty="0">
                <a:solidFill>
                  <a:schemeClr val="tx1"/>
                </a:solidFill>
              </a:rPr>
              <a:t>Geachte heer Vermeulen,</a:t>
            </a:r>
            <a:endParaRPr lang="en-US" sz="1800" dirty="0"/>
          </a:p>
          <a:p>
            <a:pPr indent="0" marL="0">
              <a:spcAft>
                <a:spcPts val="800"/>
              </a:spcAft>
              <a:buNone/>
            </a:pPr>
            <a:r>
              <a:rPr lang="en-US" sz="1800" dirty="0">
                <a:solidFill>
                  <a:schemeClr val="tx1"/>
                </a:solidFill>
              </a:rPr>
              <a:t>Wij vertegenwoordigen mevrouw Dubois, mede-eigenaar in de Résidence Zonneberg. Namens haar vragen wij de toevoeging van een agendapunt aan de algemene vergadering van 22 september. Het gaat om de beveiliging van de inkomdeur.</a:t>
            </a:r>
            <a:endParaRPr lang="en-US" sz="1800" dirty="0"/>
          </a:p>
          <a:p>
            <a:pPr indent="0" marL="0">
              <a:spcAft>
                <a:spcPts val="800"/>
              </a:spcAft>
              <a:buNone/>
            </a:pPr>
            <a:r>
              <a:rPr lang="en-US" sz="1800" dirty="0">
                <a:solidFill>
                  <a:schemeClr val="tx1"/>
                </a:solidFill>
              </a:rPr>
              <a:t>De voorbije weken deden zich twee incidenten voor. Mevrouw Dubois zei dat de deur ’s nachts niet altijd goed sloot. Zij wenst daarom een bespreking en een stemming over de vervanging van het slot.</a:t>
            </a:r>
            <a:endParaRPr lang="en-US" sz="1800" dirty="0"/>
          </a:p>
          <a:p>
            <a:pPr indent="0" marL="0">
              <a:spcAft>
                <a:spcPts val="800"/>
              </a:spcAft>
              <a:buNone/>
            </a:pPr>
            <a:r>
              <a:rPr lang="en-US" sz="1800" dirty="0">
                <a:solidFill>
                  <a:schemeClr val="tx1"/>
                </a:solidFill>
              </a:rPr>
              <a:t>Een offerte voor de uitvoering van de werken kunnen wij vóór de vergadering bezorgen. Zou u dit punt aan de agenda kunnen toevoegen? Alvast bedankt voor uw medewerking.</a:t>
            </a:r>
            <a:endParaRPr lang="en-US" sz="1800" dirty="0"/>
          </a:p>
          <a:p>
            <a:pPr indent="0" marL="0">
              <a:spcAft>
                <a:spcPts val="800"/>
              </a:spcAft>
              <a:buNone/>
            </a:pPr>
            <a:r>
              <a:rPr lang="en-US" sz="1800" dirty="0">
                <a:solidFill>
                  <a:schemeClr val="tx1"/>
                </a:solidFill>
              </a:rPr>
              <a:t>Met vriendelijke groeten, Stef · Immo Van Damme</a:t>
            </a:r>
            <a:endParaRPr lang="en-US" sz="1800" dirty="0"/>
          </a:p>
        </p:txBody>
      </p:sp>
      <p:sp>
        <p:nvSpPr>
          <p:cNvPr id="10" name="aside"/>
          <p:cNvSpPr/>
          <p:nvPr/>
        </p:nvSpPr>
        <p:spPr>
          <a:xfrm>
            <a:off x="8275320" y="1481328"/>
            <a:ext cx="3364992" cy="4809744"/>
          </a:xfrm>
          <a:prstGeom prst="roundRect">
            <a:avLst>
              <a:gd name="adj" fmla="val 2174"/>
            </a:avLst>
          </a:prstGeom>
          <a:solidFill>
            <a:schemeClr val="accent3">
              <a:alpha val="10000"/>
            </a:schemeClr>
          </a:solidFill>
          <a:ln w="12700">
            <a:solidFill>
              <a:schemeClr val="accent3">
                <a:alpha val="60000"/>
              </a:schemeClr>
            </a:solidFill>
            <a:prstDash val="solid"/>
          </a:ln>
        </p:spPr>
      </p:sp>
      <p:pic>
        <p:nvPicPr>
          <p:cNvPr id="11" name="Image 0" descr="preencoded.png">    </p:cNvPr>
          <p:cNvPicPr>
            <a:picLocks noChangeAspect="1"/>
          </p:cNvPicPr>
          <p:nvPr/>
        </p:nvPicPr>
        <p:blipFill>
          <a:blip r:embed="rId1"/>
          <a:stretch>
            <a:fillRect/>
          </a:stretch>
        </p:blipFill>
        <p:spPr>
          <a:xfrm>
            <a:off x="8458200" y="1664208"/>
            <a:ext cx="292608" cy="292608"/>
          </a:xfrm>
          <a:prstGeom prst="rect">
            <a:avLst/>
          </a:prstGeom>
        </p:spPr>
      </p:pic>
      <p:sp>
        <p:nvSpPr>
          <p:cNvPr id="12" name="Text 8"/>
          <p:cNvSpPr txBox="1"/>
          <p:nvPr/>
        </p:nvSpPr>
        <p:spPr>
          <a:xfrm>
            <a:off x="8842248" y="1636776"/>
            <a:ext cx="2633472" cy="347472"/>
          </a:xfrm>
          <a:prstGeom prst="rect">
            <a:avLst/>
          </a:prstGeom>
          <a:noFill/>
          <a:ln/>
        </p:spPr>
        <p:txBody>
          <a:bodyPr wrap="square" lIns="0" tIns="0" rIns="0" bIns="0" rtlCol="0" anchor="ctr"/>
          <a:lstStyle/>
          <a:p>
            <a:pPr indent="0" marL="0">
              <a:buNone/>
            </a:pPr>
            <a:r>
              <a:rPr lang="en-US" sz="1400" b="1" spc="100" kern="0" dirty="0">
                <a:solidFill>
                  <a:schemeClr val="accent3"/>
                </a:solidFill>
              </a:rPr>
              <a:t>À REPÉRER</a:t>
            </a:r>
            <a:endParaRPr lang="en-US" sz="1400" dirty="0"/>
          </a:p>
        </p:txBody>
      </p:sp>
      <p:sp>
        <p:nvSpPr>
          <p:cNvPr id="13" name="Text 9"/>
          <p:cNvSpPr txBox="1"/>
          <p:nvPr/>
        </p:nvSpPr>
        <p:spPr>
          <a:xfrm>
            <a:off x="8439912" y="2075688"/>
            <a:ext cx="3035808" cy="4078224"/>
          </a:xfrm>
          <a:prstGeom prst="rect">
            <a:avLst/>
          </a:prstGeom>
          <a:noFill/>
          <a:ln/>
        </p:spPr>
        <p:txBody>
          <a:bodyPr wrap="square" lIns="0" tIns="0" rIns="0" bIns="0" rtlCol="0" anchor="t"/>
          <a:lstStyle/>
          <a:p>
            <a:pPr marL="177800" indent="-177800">
              <a:spcAft>
                <a:spcPts val="600"/>
              </a:spcAft>
              <a:buSzPct val="100000"/>
              <a:buChar char="•"/>
            </a:pPr>
            <a:r>
              <a:rPr lang="en-US" sz="1800" b="1" dirty="0">
                <a:solidFill>
                  <a:schemeClr val="tx1"/>
                </a:solidFill>
              </a:rPr>
              <a:t>Nominalisations</a:t>
            </a:r>
            <a:r>
              <a:rPr lang="en-US" sz="1800" dirty="0">
                <a:solidFill>
                  <a:schemeClr val="tx1"/>
                </a:solidFill>
              </a:rPr>
              <a:t> : toevoeging · beveiliging · bespreking · stemming · vervanging · uitvoering</a:t>
            </a:r>
            <a:endParaRPr lang="en-US" sz="1800" dirty="0"/>
          </a:p>
          <a:p>
            <a:pPr marL="177800" indent="-177800">
              <a:spcAft>
                <a:spcPts val="600"/>
              </a:spcAft>
              <a:buSzPct val="100000"/>
              <a:buChar char="•"/>
            </a:pPr>
            <a:r>
              <a:rPr lang="en-US" sz="1800" b="1" dirty="0">
                <a:solidFill>
                  <a:schemeClr val="tx1"/>
                </a:solidFill>
              </a:rPr>
              <a:t>Discours indirect</a:t>
            </a:r>
            <a:r>
              <a:rPr lang="en-US" sz="1800" dirty="0">
                <a:solidFill>
                  <a:schemeClr val="tx1"/>
                </a:solidFill>
              </a:rPr>
              <a:t> : </a:t>
            </a:r>
            <a:r>
              <a:rPr lang="en-US" sz="1800" i="1" dirty="0">
                <a:solidFill>
                  <a:schemeClr val="tx1"/>
                </a:solidFill>
              </a:rPr>
              <a:t>zei dat…</a:t>
            </a:r>
            <a:endParaRPr lang="en-US" sz="1800" dirty="0"/>
          </a:p>
          <a:p>
            <a:pPr marL="177800" indent="-177800">
              <a:spcAft>
                <a:spcPts val="600"/>
              </a:spcAft>
              <a:buSzPct val="100000"/>
              <a:buChar char="•"/>
            </a:pPr>
            <a:r>
              <a:rPr lang="en-US" sz="1800" b="1" dirty="0">
                <a:solidFill>
                  <a:schemeClr val="tx1"/>
                </a:solidFill>
              </a:rPr>
              <a:t>Zou</a:t>
            </a:r>
            <a:r>
              <a:rPr lang="en-US" sz="1800" dirty="0">
                <a:solidFill>
                  <a:schemeClr val="tx1"/>
                </a:solidFill>
              </a:rPr>
              <a:t> : </a:t>
            </a:r>
            <a:r>
              <a:rPr lang="en-US" sz="1800" i="1" dirty="0">
                <a:solidFill>
                  <a:schemeClr val="tx1"/>
                </a:solidFill>
              </a:rPr>
              <a:t>Zou u … kunnen toevoegen?</a:t>
            </a:r>
            <a:endParaRPr lang="en-US" sz="1800" dirty="0"/>
          </a:p>
          <a:p>
            <a:pPr marL="177800" indent="-177800">
              <a:spcAft>
                <a:spcPts val="600"/>
              </a:spcAft>
              <a:buSzPct val="100000"/>
              <a:buChar char="•"/>
            </a:pPr>
            <a:r>
              <a:rPr lang="en-US" sz="1800" b="1" dirty="0">
                <a:solidFill>
                  <a:schemeClr val="tx1"/>
                </a:solidFill>
              </a:rPr>
              <a:t>Cadre formel</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D2 Dagelijks leven : de taal van de gemeente</a:t>
            </a:r>
            <a:endParaRPr lang="en-US" sz="3200" dirty="0"/>
          </a:p>
        </p:txBody>
      </p:sp>
      <p:sp>
        <p:nvSpPr>
          <p:cNvPr id="3" name="tag"/>
          <p:cNvSpPr/>
          <p:nvPr/>
        </p:nvSpPr>
        <p:spPr>
          <a:xfrm>
            <a:off x="548640" y="237744"/>
            <a:ext cx="1074420"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chemeClr val="bg1"/>
                </a:solidFill>
              </a:rPr>
              <a:t>ÉCRIT</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10a</a:t>
            </a:r>
            <a:endParaRPr lang="en-US" sz="1200" dirty="0"/>
          </a:p>
        </p:txBody>
      </p:sp>
      <p:sp>
        <p:nvSpPr>
          <p:cNvPr id="6" name="Text 3"/>
          <p:cNvSpPr txBox="1"/>
          <p:nvPr/>
        </p:nvSpPr>
        <p:spPr>
          <a:xfrm>
            <a:off x="548640" y="1481328"/>
            <a:ext cx="11091672" cy="542544"/>
          </a:xfrm>
          <a:prstGeom prst="rect">
            <a:avLst/>
          </a:prstGeom>
          <a:noFill/>
          <a:ln/>
        </p:spPr>
        <p:txBody>
          <a:bodyPr wrap="square" lIns="0" tIns="0" rIns="0" bIns="0" rtlCol="0" anchor="t"/>
          <a:lstStyle/>
          <a:p>
            <a:pPr indent="0" marL="0">
              <a:buNone/>
            </a:pPr>
            <a:r>
              <a:rPr lang="en-US" sz="1600" i="1" dirty="0">
                <a:solidFill>
                  <a:schemeClr val="accent5"/>
                </a:solidFill>
              </a:rPr>
              <a:t>Lisez comme un habitant pressé : que faut-il </a:t>
            </a:r>
            <a:r>
              <a:rPr lang="en-US" sz="1600" b="1" i="1" dirty="0">
                <a:solidFill>
                  <a:schemeClr val="accent5"/>
                </a:solidFill>
              </a:rPr>
              <a:t>faire</a:t>
            </a:r>
            <a:r>
              <a:rPr lang="en-US" sz="1600" i="1" dirty="0">
                <a:solidFill>
                  <a:schemeClr val="accent5"/>
                </a:solidFill>
              </a:rPr>
              <a:t> ? Soulignez les nominalisations, puis « traduisez » en une phrase verbale. Seul · 8 min.</a:t>
            </a:r>
            <a:endParaRPr lang="en-US" sz="1600" dirty="0"/>
          </a:p>
        </p:txBody>
      </p:sp>
      <p:sp>
        <p:nvSpPr>
          <p:cNvPr id="7" name="Shape 4"/>
          <p:cNvSpPr/>
          <p:nvPr/>
        </p:nvSpPr>
        <p:spPr>
          <a:xfrm>
            <a:off x="548640" y="2133600"/>
            <a:ext cx="5431536" cy="1964436"/>
          </a:xfrm>
          <a:prstGeom prst="roundRect">
            <a:avLst>
              <a:gd name="adj" fmla="val 3724"/>
            </a:avLst>
          </a:prstGeom>
          <a:solidFill>
            <a:schemeClr val="bg2"/>
          </a:solidFill>
          <a:ln w="9525">
            <a:solidFill>
              <a:srgbClr val="D5DCE6"/>
            </a:solidFill>
            <a:prstDash val="solid"/>
          </a:ln>
        </p:spPr>
      </p:sp>
      <p:sp>
        <p:nvSpPr>
          <p:cNvPr id="8" name="Shape 5"/>
          <p:cNvSpPr/>
          <p:nvPr/>
        </p:nvSpPr>
        <p:spPr>
          <a:xfrm>
            <a:off x="685800" y="2270760"/>
            <a:ext cx="868680" cy="868680"/>
          </a:xfrm>
          <a:prstGeom prst="roundRect">
            <a:avLst>
              <a:gd name="adj" fmla="val 8421"/>
            </a:avLst>
          </a:prstGeom>
          <a:solidFill>
            <a:srgbClr val="2A6FB0"/>
          </a:solidFill>
          <a:ln/>
        </p:spPr>
      </p:sp>
      <p:pic>
        <p:nvPicPr>
          <p:cNvPr id="9" name="Image 0" descr="preencoded.png">    </p:cNvPr>
          <p:cNvPicPr>
            <a:picLocks noChangeAspect="1"/>
          </p:cNvPicPr>
          <p:nvPr/>
        </p:nvPicPr>
        <p:blipFill>
          <a:blip r:embed="rId1"/>
          <a:stretch>
            <a:fillRect/>
          </a:stretch>
        </p:blipFill>
        <p:spPr>
          <a:xfrm>
            <a:off x="950976" y="2343912"/>
            <a:ext cx="347472" cy="347472"/>
          </a:xfrm>
          <a:prstGeom prst="rect">
            <a:avLst/>
          </a:prstGeom>
        </p:spPr>
      </p:pic>
      <p:sp>
        <p:nvSpPr>
          <p:cNvPr id="10" name="Text 6"/>
          <p:cNvSpPr txBox="1"/>
          <p:nvPr/>
        </p:nvSpPr>
        <p:spPr>
          <a:xfrm>
            <a:off x="685800" y="2737104"/>
            <a:ext cx="868680" cy="329184"/>
          </a:xfrm>
          <a:prstGeom prst="rect">
            <a:avLst/>
          </a:prstGeom>
          <a:noFill/>
          <a:ln/>
        </p:spPr>
        <p:txBody>
          <a:bodyPr wrap="square" lIns="0" tIns="0" rIns="0" bIns="0" rtlCol="0" anchor="ctr"/>
          <a:lstStyle/>
          <a:p>
            <a:pPr algn="ctr" indent="0" marL="0">
              <a:buNone/>
            </a:pPr>
            <a:r>
              <a:rPr lang="en-US" sz="1300" b="1" dirty="0">
                <a:solidFill>
                  <a:schemeClr val="bg1"/>
                </a:solidFill>
              </a:rPr>
              <a:t>BORD A</a:t>
            </a:r>
            <a:endParaRPr lang="en-US" sz="1300" dirty="0"/>
          </a:p>
        </p:txBody>
      </p:sp>
      <p:sp>
        <p:nvSpPr>
          <p:cNvPr id="11" name="Text 7"/>
          <p:cNvSpPr txBox="1"/>
          <p:nvPr/>
        </p:nvSpPr>
        <p:spPr>
          <a:xfrm>
            <a:off x="1691640" y="2243328"/>
            <a:ext cx="4151376" cy="1744980"/>
          </a:xfrm>
          <a:prstGeom prst="rect">
            <a:avLst/>
          </a:prstGeom>
          <a:noFill/>
          <a:ln/>
        </p:spPr>
        <p:txBody>
          <a:bodyPr wrap="square" lIns="0" tIns="0" rIns="0" bIns="0" rtlCol="0" anchor="t"/>
          <a:lstStyle/>
          <a:p>
            <a:pPr indent="0" marL="0">
              <a:spcAft>
                <a:spcPts val="600"/>
              </a:spcAft>
              <a:buNone/>
            </a:pPr>
            <a:r>
              <a:rPr lang="en-US" sz="1800" dirty="0">
                <a:solidFill>
                  <a:schemeClr val="tx1"/>
                </a:solidFill>
              </a:rPr>
              <a:t>PARKEERVERBOD — maandag 14/10, van 7 tot 18 uur. Reden: verhuizing. Overtreders worden weggetakeld.</a:t>
            </a:r>
            <a:endParaRPr lang="en-US" sz="1800" dirty="0"/>
          </a:p>
        </p:txBody>
      </p:sp>
      <p:sp>
        <p:nvSpPr>
          <p:cNvPr id="12" name="Shape 8"/>
          <p:cNvSpPr/>
          <p:nvPr/>
        </p:nvSpPr>
        <p:spPr>
          <a:xfrm>
            <a:off x="6208776" y="2133600"/>
            <a:ext cx="5431536" cy="1964436"/>
          </a:xfrm>
          <a:prstGeom prst="roundRect">
            <a:avLst>
              <a:gd name="adj" fmla="val 3724"/>
            </a:avLst>
          </a:prstGeom>
          <a:solidFill>
            <a:schemeClr val="bg2"/>
          </a:solidFill>
          <a:ln w="9525">
            <a:solidFill>
              <a:srgbClr val="D5DCE6"/>
            </a:solidFill>
            <a:prstDash val="solid"/>
          </a:ln>
        </p:spPr>
      </p:sp>
      <p:sp>
        <p:nvSpPr>
          <p:cNvPr id="13" name="Shape 9"/>
          <p:cNvSpPr/>
          <p:nvPr/>
        </p:nvSpPr>
        <p:spPr>
          <a:xfrm>
            <a:off x="6345936" y="2270760"/>
            <a:ext cx="868680" cy="868680"/>
          </a:xfrm>
          <a:prstGeom prst="roundRect">
            <a:avLst>
              <a:gd name="adj" fmla="val 8421"/>
            </a:avLst>
          </a:prstGeom>
          <a:solidFill>
            <a:srgbClr val="D9700F"/>
          </a:solidFill>
          <a:ln/>
        </p:spPr>
      </p:sp>
      <p:pic>
        <p:nvPicPr>
          <p:cNvPr id="14" name="Image 1" descr="preencoded.png">    </p:cNvPr>
          <p:cNvPicPr>
            <a:picLocks noChangeAspect="1"/>
          </p:cNvPicPr>
          <p:nvPr/>
        </p:nvPicPr>
        <p:blipFill>
          <a:blip r:embed="rId2"/>
          <a:stretch>
            <a:fillRect/>
          </a:stretch>
        </p:blipFill>
        <p:spPr>
          <a:xfrm>
            <a:off x="6611112" y="2343912"/>
            <a:ext cx="347472" cy="347472"/>
          </a:xfrm>
          <a:prstGeom prst="rect">
            <a:avLst/>
          </a:prstGeom>
        </p:spPr>
      </p:pic>
      <p:sp>
        <p:nvSpPr>
          <p:cNvPr id="15" name="Text 10"/>
          <p:cNvSpPr txBox="1"/>
          <p:nvPr/>
        </p:nvSpPr>
        <p:spPr>
          <a:xfrm>
            <a:off x="6345936" y="2737104"/>
            <a:ext cx="868680" cy="329184"/>
          </a:xfrm>
          <a:prstGeom prst="rect">
            <a:avLst/>
          </a:prstGeom>
          <a:noFill/>
          <a:ln/>
        </p:spPr>
        <p:txBody>
          <a:bodyPr wrap="square" lIns="0" tIns="0" rIns="0" bIns="0" rtlCol="0" anchor="ctr"/>
          <a:lstStyle/>
          <a:p>
            <a:pPr algn="ctr" indent="0" marL="0">
              <a:buNone/>
            </a:pPr>
            <a:r>
              <a:rPr lang="en-US" sz="1000" b="1" dirty="0">
                <a:solidFill>
                  <a:schemeClr val="bg1"/>
                </a:solidFill>
              </a:rPr>
              <a:t>BRIEF B</a:t>
            </a:r>
            <a:endParaRPr lang="en-US" sz="1000" dirty="0"/>
          </a:p>
        </p:txBody>
      </p:sp>
      <p:sp>
        <p:nvSpPr>
          <p:cNvPr id="16" name="Text 11"/>
          <p:cNvSpPr txBox="1"/>
          <p:nvPr/>
        </p:nvSpPr>
        <p:spPr>
          <a:xfrm>
            <a:off x="7351776" y="2243328"/>
            <a:ext cx="4151376" cy="1744980"/>
          </a:xfrm>
          <a:prstGeom prst="rect">
            <a:avLst/>
          </a:prstGeom>
          <a:noFill/>
          <a:ln/>
        </p:spPr>
        <p:txBody>
          <a:bodyPr wrap="square" lIns="0" tIns="0" rIns="0" bIns="0" rtlCol="0" anchor="t"/>
          <a:lstStyle/>
          <a:p>
            <a:pPr indent="0" marL="0">
              <a:spcAft>
                <a:spcPts val="600"/>
              </a:spcAft>
              <a:buNone/>
            </a:pPr>
            <a:r>
              <a:rPr lang="en-US" sz="1800" dirty="0">
                <a:solidFill>
                  <a:schemeClr val="tx1"/>
                </a:solidFill>
              </a:rPr>
              <a:t>Ophaling van grofvuil aan huis: inschrijving verplicht vóór 30 oktober via het e-loket. Na betaling volgt een bevestiging van de ophaaldatum.</a:t>
            </a:r>
            <a:endParaRPr lang="en-US" sz="1800" dirty="0"/>
          </a:p>
        </p:txBody>
      </p:sp>
      <p:sp>
        <p:nvSpPr>
          <p:cNvPr id="17" name="Shape 12"/>
          <p:cNvSpPr/>
          <p:nvPr/>
        </p:nvSpPr>
        <p:spPr>
          <a:xfrm>
            <a:off x="548640" y="4326636"/>
            <a:ext cx="5431536" cy="1964436"/>
          </a:xfrm>
          <a:prstGeom prst="roundRect">
            <a:avLst>
              <a:gd name="adj" fmla="val 3724"/>
            </a:avLst>
          </a:prstGeom>
          <a:solidFill>
            <a:schemeClr val="bg2"/>
          </a:solidFill>
          <a:ln w="9525">
            <a:solidFill>
              <a:srgbClr val="D5DCE6"/>
            </a:solidFill>
            <a:prstDash val="solid"/>
          </a:ln>
        </p:spPr>
      </p:sp>
      <p:sp>
        <p:nvSpPr>
          <p:cNvPr id="18" name="Shape 13"/>
          <p:cNvSpPr/>
          <p:nvPr/>
        </p:nvSpPr>
        <p:spPr>
          <a:xfrm>
            <a:off x="685800" y="4463796"/>
            <a:ext cx="868680" cy="868680"/>
          </a:xfrm>
          <a:prstGeom prst="roundRect">
            <a:avLst>
              <a:gd name="adj" fmla="val 8421"/>
            </a:avLst>
          </a:prstGeom>
          <a:solidFill>
            <a:srgbClr val="2E7D4F"/>
          </a:solidFill>
          <a:ln/>
        </p:spPr>
      </p:sp>
      <p:pic>
        <p:nvPicPr>
          <p:cNvPr id="19" name="Image 2" descr="preencoded.png">    </p:cNvPr>
          <p:cNvPicPr>
            <a:picLocks noChangeAspect="1"/>
          </p:cNvPicPr>
          <p:nvPr/>
        </p:nvPicPr>
        <p:blipFill>
          <a:blip r:embed="rId3"/>
          <a:stretch>
            <a:fillRect/>
          </a:stretch>
        </p:blipFill>
        <p:spPr>
          <a:xfrm>
            <a:off x="950976" y="4536948"/>
            <a:ext cx="347472" cy="347472"/>
          </a:xfrm>
          <a:prstGeom prst="rect">
            <a:avLst/>
          </a:prstGeom>
        </p:spPr>
      </p:pic>
      <p:sp>
        <p:nvSpPr>
          <p:cNvPr id="20" name="Text 14"/>
          <p:cNvSpPr txBox="1"/>
          <p:nvPr/>
        </p:nvSpPr>
        <p:spPr>
          <a:xfrm>
            <a:off x="685800" y="4930140"/>
            <a:ext cx="868680" cy="329184"/>
          </a:xfrm>
          <a:prstGeom prst="rect">
            <a:avLst/>
          </a:prstGeom>
          <a:noFill/>
          <a:ln/>
        </p:spPr>
        <p:txBody>
          <a:bodyPr wrap="square" lIns="0" tIns="0" rIns="0" bIns="0" rtlCol="0" anchor="ctr"/>
          <a:lstStyle/>
          <a:p>
            <a:pPr algn="ctr" indent="0" marL="0">
              <a:buNone/>
            </a:pPr>
            <a:r>
              <a:rPr lang="en-US" sz="1000" b="1" dirty="0">
                <a:solidFill>
                  <a:schemeClr val="bg1"/>
                </a:solidFill>
              </a:rPr>
              <a:t>BERICHT C</a:t>
            </a:r>
            <a:endParaRPr lang="en-US" sz="1000" dirty="0"/>
          </a:p>
        </p:txBody>
      </p:sp>
      <p:sp>
        <p:nvSpPr>
          <p:cNvPr id="21" name="Text 15"/>
          <p:cNvSpPr txBox="1"/>
          <p:nvPr/>
        </p:nvSpPr>
        <p:spPr>
          <a:xfrm>
            <a:off x="1691640" y="4436364"/>
            <a:ext cx="4151376" cy="1744980"/>
          </a:xfrm>
          <a:prstGeom prst="rect">
            <a:avLst/>
          </a:prstGeom>
          <a:noFill/>
          <a:ln/>
        </p:spPr>
        <p:txBody>
          <a:bodyPr wrap="square" lIns="0" tIns="0" rIns="0" bIns="0" rtlCol="0" anchor="t"/>
          <a:lstStyle/>
          <a:p>
            <a:pPr indent="0" marL="0">
              <a:spcAft>
                <a:spcPts val="600"/>
              </a:spcAft>
              <a:buNone/>
            </a:pPr>
            <a:r>
              <a:rPr lang="en-US" sz="1800" dirty="0">
                <a:solidFill>
                  <a:schemeClr val="tx1"/>
                </a:solidFill>
              </a:rPr>
              <a:t>Verwijdering van achtergelaten fietsen: alle fietsen zonder naamkaartje worden op 1 november verwijderd. Bij vragen: contactname met de syndicus.</a:t>
            </a:r>
            <a:endParaRPr lang="en-US" sz="1800" dirty="0"/>
          </a:p>
        </p:txBody>
      </p:sp>
      <p:sp>
        <p:nvSpPr>
          <p:cNvPr id="22" name="Shape 16"/>
          <p:cNvSpPr/>
          <p:nvPr/>
        </p:nvSpPr>
        <p:spPr>
          <a:xfrm>
            <a:off x="6208776" y="4326636"/>
            <a:ext cx="5431536" cy="1964436"/>
          </a:xfrm>
          <a:prstGeom prst="roundRect">
            <a:avLst>
              <a:gd name="adj" fmla="val 3724"/>
            </a:avLst>
          </a:prstGeom>
          <a:solidFill>
            <a:schemeClr val="bg2"/>
          </a:solidFill>
          <a:ln w="9525">
            <a:solidFill>
              <a:srgbClr val="D5DCE6"/>
            </a:solidFill>
            <a:prstDash val="solid"/>
          </a:ln>
        </p:spPr>
      </p:sp>
      <p:sp>
        <p:nvSpPr>
          <p:cNvPr id="23" name="Shape 17"/>
          <p:cNvSpPr/>
          <p:nvPr/>
        </p:nvSpPr>
        <p:spPr>
          <a:xfrm>
            <a:off x="6345936" y="4463796"/>
            <a:ext cx="868680" cy="868680"/>
          </a:xfrm>
          <a:prstGeom prst="roundRect">
            <a:avLst>
              <a:gd name="adj" fmla="val 8421"/>
            </a:avLst>
          </a:prstGeom>
          <a:solidFill>
            <a:srgbClr val="6E4A9E"/>
          </a:solidFill>
          <a:ln/>
        </p:spPr>
      </p:sp>
      <p:pic>
        <p:nvPicPr>
          <p:cNvPr id="24" name="Image 3" descr="preencoded.png">    </p:cNvPr>
          <p:cNvPicPr>
            <a:picLocks noChangeAspect="1"/>
          </p:cNvPicPr>
          <p:nvPr/>
        </p:nvPicPr>
        <p:blipFill>
          <a:blip r:embed="rId4"/>
          <a:stretch>
            <a:fillRect/>
          </a:stretch>
        </p:blipFill>
        <p:spPr>
          <a:xfrm>
            <a:off x="6611112" y="4536948"/>
            <a:ext cx="347472" cy="347472"/>
          </a:xfrm>
          <a:prstGeom prst="rect">
            <a:avLst/>
          </a:prstGeom>
        </p:spPr>
      </p:pic>
      <p:sp>
        <p:nvSpPr>
          <p:cNvPr id="25" name="Text 18"/>
          <p:cNvSpPr txBox="1"/>
          <p:nvPr/>
        </p:nvSpPr>
        <p:spPr>
          <a:xfrm>
            <a:off x="6345936" y="4930140"/>
            <a:ext cx="868680" cy="329184"/>
          </a:xfrm>
          <a:prstGeom prst="rect">
            <a:avLst/>
          </a:prstGeom>
          <a:noFill/>
          <a:ln/>
        </p:spPr>
        <p:txBody>
          <a:bodyPr wrap="square" lIns="0" tIns="0" rIns="0" bIns="0" rtlCol="0" anchor="ctr"/>
          <a:lstStyle/>
          <a:p>
            <a:pPr algn="ctr" indent="0" marL="0">
              <a:buNone/>
            </a:pPr>
            <a:r>
              <a:rPr lang="en-US" sz="1300" b="1" dirty="0">
                <a:solidFill>
                  <a:schemeClr val="bg1"/>
                </a:solidFill>
              </a:rPr>
              <a:t>MAIL D</a:t>
            </a:r>
            <a:endParaRPr lang="en-US" sz="1300" dirty="0"/>
          </a:p>
        </p:txBody>
      </p:sp>
      <p:sp>
        <p:nvSpPr>
          <p:cNvPr id="26" name="Text 19"/>
          <p:cNvSpPr txBox="1"/>
          <p:nvPr/>
        </p:nvSpPr>
        <p:spPr>
          <a:xfrm>
            <a:off x="7351776" y="4436364"/>
            <a:ext cx="4151376" cy="1744980"/>
          </a:xfrm>
          <a:prstGeom prst="rect">
            <a:avLst/>
          </a:prstGeom>
          <a:noFill/>
          <a:ln/>
        </p:spPr>
        <p:txBody>
          <a:bodyPr wrap="square" lIns="0" tIns="0" rIns="0" bIns="0" rtlCol="0" anchor="t"/>
          <a:lstStyle/>
          <a:p>
            <a:pPr indent="0" marL="0">
              <a:spcAft>
                <a:spcPts val="600"/>
              </a:spcAft>
              <a:buNone/>
            </a:pPr>
            <a:r>
              <a:rPr lang="en-US" sz="1800" dirty="0">
                <a:solidFill>
                  <a:schemeClr val="tx1"/>
                </a:solidFill>
              </a:rPr>
              <a:t>Bevestiging van uw afspraak voor de vernieuwing van uw identiteitskaart: dinsdag 5 november om 10.20 uur, loket 4. Gelieve uw oude kaart mee te brengen. Annulering is mogelijk tot 24 uur vooraf.</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D2 Dagelijks leven : de taal van de gemeente</a:t>
            </a:r>
            <a:endParaRPr lang="en-US" sz="3200" dirty="0"/>
          </a:p>
        </p:txBody>
      </p:sp>
      <p:sp>
        <p:nvSpPr>
          <p:cNvPr id="3" name="tag"/>
          <p:cNvSpPr/>
          <p:nvPr/>
        </p:nvSpPr>
        <p:spPr>
          <a:xfrm>
            <a:off x="548640" y="237744"/>
            <a:ext cx="1074420"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chemeClr val="bg1"/>
                </a:solidFill>
              </a:rPr>
              <a:t>ÉCRIT</a:t>
            </a:r>
            <a:endParaRPr lang="en-US" sz="1200" dirty="0"/>
          </a:p>
        </p:txBody>
      </p:sp>
      <p:sp>
        <p:nvSpPr>
          <p:cNvPr id="4" name="tag"/>
          <p:cNvSpPr/>
          <p:nvPr/>
        </p:nvSpPr>
        <p:spPr>
          <a:xfrm>
            <a:off x="1732788" y="237744"/>
            <a:ext cx="1760220"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chemeClr val="bg1"/>
                </a:solidFill>
              </a:rPr>
              <a:t>✓ CORRECTIE</a:t>
            </a:r>
            <a:endParaRPr lang="en-US" sz="1200" dirty="0"/>
          </a:p>
        </p:txBody>
      </p:sp>
      <p:sp>
        <p:nvSpPr>
          <p:cNvPr id="5" name="Text 3"/>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10a</a:t>
            </a:r>
            <a:endParaRPr lang="en-US" sz="1200" dirty="0"/>
          </a:p>
        </p:txBody>
      </p:sp>
      <p:sp>
        <p:nvSpPr>
          <p:cNvPr id="7" name="Text 4"/>
          <p:cNvSpPr txBox="1"/>
          <p:nvPr/>
        </p:nvSpPr>
        <p:spPr>
          <a:xfrm>
            <a:off x="548640" y="1481328"/>
            <a:ext cx="11091672" cy="542544"/>
          </a:xfrm>
          <a:prstGeom prst="rect">
            <a:avLst/>
          </a:prstGeom>
          <a:noFill/>
          <a:ln/>
        </p:spPr>
        <p:txBody>
          <a:bodyPr wrap="square" lIns="0" tIns="0" rIns="0" bIns="0" rtlCol="0" anchor="t"/>
          <a:lstStyle/>
          <a:p>
            <a:pPr indent="0" marL="0">
              <a:buNone/>
            </a:pPr>
            <a:r>
              <a:rPr lang="en-US" sz="1600" i="1" dirty="0">
                <a:solidFill>
                  <a:schemeClr val="accent5"/>
                </a:solidFill>
              </a:rPr>
              <a:t>Lisez comme un habitant pressé : que faut-il </a:t>
            </a:r>
            <a:r>
              <a:rPr lang="en-US" sz="1600" b="1" i="1" dirty="0">
                <a:solidFill>
                  <a:schemeClr val="accent5"/>
                </a:solidFill>
              </a:rPr>
              <a:t>faire</a:t>
            </a:r>
            <a:r>
              <a:rPr lang="en-US" sz="1600" i="1" dirty="0">
                <a:solidFill>
                  <a:schemeClr val="accent5"/>
                </a:solidFill>
              </a:rPr>
              <a:t> ? Soulignez les nominalisations, puis « traduisez » en une phrase verbale. Seul · 8 min.</a:t>
            </a:r>
            <a:endParaRPr lang="en-US" sz="1600" dirty="0"/>
          </a:p>
        </p:txBody>
      </p:sp>
      <p:sp>
        <p:nvSpPr>
          <p:cNvPr id="8" name="Shape 5"/>
          <p:cNvSpPr/>
          <p:nvPr/>
        </p:nvSpPr>
        <p:spPr>
          <a:xfrm>
            <a:off x="548640" y="2133600"/>
            <a:ext cx="5431536" cy="1964436"/>
          </a:xfrm>
          <a:prstGeom prst="roundRect">
            <a:avLst>
              <a:gd name="adj" fmla="val 3724"/>
            </a:avLst>
          </a:prstGeom>
          <a:solidFill>
            <a:schemeClr val="bg2"/>
          </a:solidFill>
          <a:ln w="9525">
            <a:solidFill>
              <a:srgbClr val="D5DCE6"/>
            </a:solidFill>
            <a:prstDash val="solid"/>
          </a:ln>
        </p:spPr>
      </p:sp>
      <p:sp>
        <p:nvSpPr>
          <p:cNvPr id="9" name="Shape 6"/>
          <p:cNvSpPr/>
          <p:nvPr/>
        </p:nvSpPr>
        <p:spPr>
          <a:xfrm>
            <a:off x="685800" y="2270760"/>
            <a:ext cx="868680" cy="868680"/>
          </a:xfrm>
          <a:prstGeom prst="roundRect">
            <a:avLst>
              <a:gd name="adj" fmla="val 8421"/>
            </a:avLst>
          </a:prstGeom>
          <a:solidFill>
            <a:srgbClr val="2A6FB0"/>
          </a:solidFill>
          <a:ln/>
        </p:spPr>
      </p:sp>
      <p:pic>
        <p:nvPicPr>
          <p:cNvPr id="10" name="Image 0" descr="preencoded.png">    </p:cNvPr>
          <p:cNvPicPr>
            <a:picLocks noChangeAspect="1"/>
          </p:cNvPicPr>
          <p:nvPr/>
        </p:nvPicPr>
        <p:blipFill>
          <a:blip r:embed="rId1"/>
          <a:stretch>
            <a:fillRect/>
          </a:stretch>
        </p:blipFill>
        <p:spPr>
          <a:xfrm>
            <a:off x="950976" y="2343912"/>
            <a:ext cx="347472" cy="347472"/>
          </a:xfrm>
          <a:prstGeom prst="rect">
            <a:avLst/>
          </a:prstGeom>
        </p:spPr>
      </p:pic>
      <p:sp>
        <p:nvSpPr>
          <p:cNvPr id="11" name="Text 7"/>
          <p:cNvSpPr txBox="1"/>
          <p:nvPr/>
        </p:nvSpPr>
        <p:spPr>
          <a:xfrm>
            <a:off x="685800" y="2737104"/>
            <a:ext cx="868680" cy="329184"/>
          </a:xfrm>
          <a:prstGeom prst="rect">
            <a:avLst/>
          </a:prstGeom>
          <a:noFill/>
          <a:ln/>
        </p:spPr>
        <p:txBody>
          <a:bodyPr wrap="square" lIns="0" tIns="0" rIns="0" bIns="0" rtlCol="0" anchor="ctr"/>
          <a:lstStyle/>
          <a:p>
            <a:pPr algn="ctr" indent="0" marL="0">
              <a:buNone/>
            </a:pPr>
            <a:r>
              <a:rPr lang="en-US" sz="1300" b="1" dirty="0">
                <a:solidFill>
                  <a:schemeClr val="bg1"/>
                </a:solidFill>
              </a:rPr>
              <a:t>BORD A</a:t>
            </a:r>
            <a:endParaRPr lang="en-US" sz="1300" dirty="0"/>
          </a:p>
        </p:txBody>
      </p:sp>
      <p:sp>
        <p:nvSpPr>
          <p:cNvPr id="12" name="Text 8"/>
          <p:cNvSpPr txBox="1"/>
          <p:nvPr/>
        </p:nvSpPr>
        <p:spPr>
          <a:xfrm>
            <a:off x="1691640" y="2243328"/>
            <a:ext cx="4151376" cy="1744980"/>
          </a:xfrm>
          <a:prstGeom prst="rect">
            <a:avLst/>
          </a:prstGeom>
          <a:noFill/>
          <a:ln/>
        </p:spPr>
        <p:txBody>
          <a:bodyPr wrap="square" lIns="0" tIns="0" rIns="0" bIns="0" rtlCol="0" anchor="t"/>
          <a:lstStyle/>
          <a:p>
            <a:pPr indent="0" marL="0">
              <a:spcAft>
                <a:spcPts val="600"/>
              </a:spcAft>
              <a:buNone/>
            </a:pPr>
            <a:r>
              <a:rPr lang="en-US" sz="1400" dirty="0">
                <a:solidFill>
                  <a:schemeClr val="tx1"/>
                </a:solidFill>
              </a:rPr>
              <a:t>PARKEERVERBOD — maandag 14/10, van 7 tot 18 uur. Reden: verhuizing. Overtreders worden weggetakeld.</a:t>
            </a:r>
            <a:endParaRPr lang="en-US" sz="1400" dirty="0"/>
          </a:p>
          <a:p>
            <a:pPr indent="0" marL="0">
              <a:buNone/>
            </a:pPr>
            <a:r>
              <a:rPr lang="en-US" sz="1400" b="1" dirty="0">
                <a:solidFill>
                  <a:schemeClr val="accent3"/>
                </a:solidFill>
              </a:rPr>
              <a:t>→ </a:t>
            </a:r>
            <a:r>
              <a:rPr lang="en-US" sz="1400" dirty="0">
                <a:solidFill>
                  <a:schemeClr val="accent3"/>
                </a:solidFill>
              </a:rPr>
              <a:t>verhuizing ← verhuizen · overtreders ← overtreden → </a:t>
            </a:r>
            <a:r>
              <a:rPr lang="en-US" sz="1400" i="1" dirty="0">
                <a:solidFill>
                  <a:schemeClr val="accent3"/>
                </a:solidFill>
              </a:rPr>
              <a:t>Maandag mag je hier niet parkeren, want iemand verhuist.</a:t>
            </a:r>
            <a:endParaRPr lang="en-US" sz="1400" dirty="0"/>
          </a:p>
        </p:txBody>
      </p:sp>
      <p:sp>
        <p:nvSpPr>
          <p:cNvPr id="13" name="Shape 9"/>
          <p:cNvSpPr/>
          <p:nvPr/>
        </p:nvSpPr>
        <p:spPr>
          <a:xfrm>
            <a:off x="6208776" y="2133600"/>
            <a:ext cx="5431536" cy="1964436"/>
          </a:xfrm>
          <a:prstGeom prst="roundRect">
            <a:avLst>
              <a:gd name="adj" fmla="val 3724"/>
            </a:avLst>
          </a:prstGeom>
          <a:solidFill>
            <a:schemeClr val="bg2"/>
          </a:solidFill>
          <a:ln w="9525">
            <a:solidFill>
              <a:srgbClr val="D5DCE6"/>
            </a:solidFill>
            <a:prstDash val="solid"/>
          </a:ln>
        </p:spPr>
      </p:sp>
      <p:sp>
        <p:nvSpPr>
          <p:cNvPr id="14" name="Shape 10"/>
          <p:cNvSpPr/>
          <p:nvPr/>
        </p:nvSpPr>
        <p:spPr>
          <a:xfrm>
            <a:off x="6345936" y="2270760"/>
            <a:ext cx="868680" cy="868680"/>
          </a:xfrm>
          <a:prstGeom prst="roundRect">
            <a:avLst>
              <a:gd name="adj" fmla="val 8421"/>
            </a:avLst>
          </a:prstGeom>
          <a:solidFill>
            <a:srgbClr val="D9700F"/>
          </a:solidFill>
          <a:ln/>
        </p:spPr>
      </p:sp>
      <p:pic>
        <p:nvPicPr>
          <p:cNvPr id="15" name="Image 1" descr="preencoded.png">    </p:cNvPr>
          <p:cNvPicPr>
            <a:picLocks noChangeAspect="1"/>
          </p:cNvPicPr>
          <p:nvPr/>
        </p:nvPicPr>
        <p:blipFill>
          <a:blip r:embed="rId2"/>
          <a:stretch>
            <a:fillRect/>
          </a:stretch>
        </p:blipFill>
        <p:spPr>
          <a:xfrm>
            <a:off x="6611112" y="2343912"/>
            <a:ext cx="347472" cy="347472"/>
          </a:xfrm>
          <a:prstGeom prst="rect">
            <a:avLst/>
          </a:prstGeom>
        </p:spPr>
      </p:pic>
      <p:sp>
        <p:nvSpPr>
          <p:cNvPr id="16" name="Text 11"/>
          <p:cNvSpPr txBox="1"/>
          <p:nvPr/>
        </p:nvSpPr>
        <p:spPr>
          <a:xfrm>
            <a:off x="6345936" y="2737104"/>
            <a:ext cx="868680" cy="329184"/>
          </a:xfrm>
          <a:prstGeom prst="rect">
            <a:avLst/>
          </a:prstGeom>
          <a:noFill/>
          <a:ln/>
        </p:spPr>
        <p:txBody>
          <a:bodyPr wrap="square" lIns="0" tIns="0" rIns="0" bIns="0" rtlCol="0" anchor="ctr"/>
          <a:lstStyle/>
          <a:p>
            <a:pPr algn="ctr" indent="0" marL="0">
              <a:buNone/>
            </a:pPr>
            <a:r>
              <a:rPr lang="en-US" sz="1000" b="1" dirty="0">
                <a:solidFill>
                  <a:schemeClr val="bg1"/>
                </a:solidFill>
              </a:rPr>
              <a:t>BRIEF B</a:t>
            </a:r>
            <a:endParaRPr lang="en-US" sz="1000" dirty="0"/>
          </a:p>
        </p:txBody>
      </p:sp>
      <p:sp>
        <p:nvSpPr>
          <p:cNvPr id="17" name="Text 12"/>
          <p:cNvSpPr txBox="1"/>
          <p:nvPr/>
        </p:nvSpPr>
        <p:spPr>
          <a:xfrm>
            <a:off x="7351776" y="2243328"/>
            <a:ext cx="4151376" cy="1744980"/>
          </a:xfrm>
          <a:prstGeom prst="rect">
            <a:avLst/>
          </a:prstGeom>
          <a:noFill/>
          <a:ln/>
        </p:spPr>
        <p:txBody>
          <a:bodyPr wrap="square" lIns="0" tIns="0" rIns="0" bIns="0" rtlCol="0" anchor="t"/>
          <a:lstStyle/>
          <a:p>
            <a:pPr indent="0" marL="0">
              <a:spcAft>
                <a:spcPts val="600"/>
              </a:spcAft>
              <a:buNone/>
            </a:pPr>
            <a:r>
              <a:rPr lang="en-US" sz="1400" dirty="0">
                <a:solidFill>
                  <a:schemeClr val="tx1"/>
                </a:solidFill>
              </a:rPr>
              <a:t>Ophaling van grofvuil aan huis: inschrijving verplicht vóór 30 oktober via het e-loket. Na betaling volgt een bevestiging van de ophaaldatum.</a:t>
            </a:r>
            <a:endParaRPr lang="en-US" sz="1400" dirty="0"/>
          </a:p>
          <a:p>
            <a:pPr indent="0" marL="0">
              <a:buNone/>
            </a:pPr>
            <a:r>
              <a:rPr lang="en-US" sz="1400" b="1" dirty="0">
                <a:solidFill>
                  <a:schemeClr val="accent3"/>
                </a:solidFill>
              </a:rPr>
              <a:t>→ </a:t>
            </a:r>
            <a:r>
              <a:rPr lang="en-US" sz="1400" dirty="0">
                <a:solidFill>
                  <a:schemeClr val="accent3"/>
                </a:solidFill>
              </a:rPr>
              <a:t>ophaling · inschrijving · betaling · bevestiging → </a:t>
            </a:r>
            <a:r>
              <a:rPr lang="en-US" sz="1400" i="1" dirty="0">
                <a:solidFill>
                  <a:schemeClr val="accent3"/>
                </a:solidFill>
              </a:rPr>
              <a:t>Schrijf je vóór 30 oktober in via het e-loket. Nadat je betaald hebt, bevestigen we de datum.</a:t>
            </a:r>
            <a:endParaRPr lang="en-US" sz="1400" dirty="0"/>
          </a:p>
        </p:txBody>
      </p:sp>
      <p:sp>
        <p:nvSpPr>
          <p:cNvPr id="18" name="Shape 13"/>
          <p:cNvSpPr/>
          <p:nvPr/>
        </p:nvSpPr>
        <p:spPr>
          <a:xfrm>
            <a:off x="548640" y="4326636"/>
            <a:ext cx="5431536" cy="1964436"/>
          </a:xfrm>
          <a:prstGeom prst="roundRect">
            <a:avLst>
              <a:gd name="adj" fmla="val 3724"/>
            </a:avLst>
          </a:prstGeom>
          <a:solidFill>
            <a:schemeClr val="bg2"/>
          </a:solidFill>
          <a:ln w="9525">
            <a:solidFill>
              <a:srgbClr val="D5DCE6"/>
            </a:solidFill>
            <a:prstDash val="solid"/>
          </a:ln>
        </p:spPr>
      </p:sp>
      <p:sp>
        <p:nvSpPr>
          <p:cNvPr id="19" name="Shape 14"/>
          <p:cNvSpPr/>
          <p:nvPr/>
        </p:nvSpPr>
        <p:spPr>
          <a:xfrm>
            <a:off x="685800" y="4463796"/>
            <a:ext cx="868680" cy="868680"/>
          </a:xfrm>
          <a:prstGeom prst="roundRect">
            <a:avLst>
              <a:gd name="adj" fmla="val 8421"/>
            </a:avLst>
          </a:prstGeom>
          <a:solidFill>
            <a:srgbClr val="2E7D4F"/>
          </a:solidFill>
          <a:ln/>
        </p:spPr>
      </p:sp>
      <p:pic>
        <p:nvPicPr>
          <p:cNvPr id="20" name="Image 2" descr="preencoded.png">    </p:cNvPr>
          <p:cNvPicPr>
            <a:picLocks noChangeAspect="1"/>
          </p:cNvPicPr>
          <p:nvPr/>
        </p:nvPicPr>
        <p:blipFill>
          <a:blip r:embed="rId3"/>
          <a:stretch>
            <a:fillRect/>
          </a:stretch>
        </p:blipFill>
        <p:spPr>
          <a:xfrm>
            <a:off x="950976" y="4536948"/>
            <a:ext cx="347472" cy="347472"/>
          </a:xfrm>
          <a:prstGeom prst="rect">
            <a:avLst/>
          </a:prstGeom>
        </p:spPr>
      </p:pic>
      <p:sp>
        <p:nvSpPr>
          <p:cNvPr id="21" name="Text 15"/>
          <p:cNvSpPr txBox="1"/>
          <p:nvPr/>
        </p:nvSpPr>
        <p:spPr>
          <a:xfrm>
            <a:off x="685800" y="4930140"/>
            <a:ext cx="868680" cy="329184"/>
          </a:xfrm>
          <a:prstGeom prst="rect">
            <a:avLst/>
          </a:prstGeom>
          <a:noFill/>
          <a:ln/>
        </p:spPr>
        <p:txBody>
          <a:bodyPr wrap="square" lIns="0" tIns="0" rIns="0" bIns="0" rtlCol="0" anchor="ctr"/>
          <a:lstStyle/>
          <a:p>
            <a:pPr algn="ctr" indent="0" marL="0">
              <a:buNone/>
            </a:pPr>
            <a:r>
              <a:rPr lang="en-US" sz="1000" b="1" dirty="0">
                <a:solidFill>
                  <a:schemeClr val="bg1"/>
                </a:solidFill>
              </a:rPr>
              <a:t>BERICHT C</a:t>
            </a:r>
            <a:endParaRPr lang="en-US" sz="1000" dirty="0"/>
          </a:p>
        </p:txBody>
      </p:sp>
      <p:sp>
        <p:nvSpPr>
          <p:cNvPr id="22" name="Text 16"/>
          <p:cNvSpPr txBox="1"/>
          <p:nvPr/>
        </p:nvSpPr>
        <p:spPr>
          <a:xfrm>
            <a:off x="1691640" y="4436364"/>
            <a:ext cx="4151376" cy="1744980"/>
          </a:xfrm>
          <a:prstGeom prst="rect">
            <a:avLst/>
          </a:prstGeom>
          <a:noFill/>
          <a:ln/>
        </p:spPr>
        <p:txBody>
          <a:bodyPr wrap="square" lIns="0" tIns="0" rIns="0" bIns="0" rtlCol="0" anchor="t"/>
          <a:lstStyle/>
          <a:p>
            <a:pPr indent="0" marL="0">
              <a:spcAft>
                <a:spcPts val="600"/>
              </a:spcAft>
              <a:buNone/>
            </a:pPr>
            <a:r>
              <a:rPr lang="en-US" sz="1400" dirty="0">
                <a:solidFill>
                  <a:schemeClr val="tx1"/>
                </a:solidFill>
              </a:rPr>
              <a:t>Verwijdering van achtergelaten fietsen: alle fietsen zonder naamkaartje worden op 1 november verwijderd. Bij vragen: contactname met de syndicus.</a:t>
            </a:r>
            <a:endParaRPr lang="en-US" sz="1400" dirty="0"/>
          </a:p>
          <a:p>
            <a:pPr indent="0" marL="0">
              <a:buNone/>
            </a:pPr>
            <a:r>
              <a:rPr lang="en-US" sz="1400" b="1" dirty="0">
                <a:solidFill>
                  <a:schemeClr val="accent3"/>
                </a:solidFill>
              </a:rPr>
              <a:t>→ </a:t>
            </a:r>
            <a:r>
              <a:rPr lang="en-US" sz="1400" dirty="0">
                <a:solidFill>
                  <a:schemeClr val="accent3"/>
                </a:solidFill>
              </a:rPr>
              <a:t>verwijdering · contactname → </a:t>
            </a:r>
            <a:r>
              <a:rPr lang="en-US" sz="1400" i="1" dirty="0">
                <a:solidFill>
                  <a:schemeClr val="accent3"/>
                </a:solidFill>
              </a:rPr>
              <a:t>Staat je fiets zonder naamkaartje in de inkomhal? Dan verwijderen we hem op 1 november. Neem bij vragen contact op met de syndicus.</a:t>
            </a:r>
            <a:endParaRPr lang="en-US" sz="1400" dirty="0"/>
          </a:p>
        </p:txBody>
      </p:sp>
      <p:sp>
        <p:nvSpPr>
          <p:cNvPr id="23" name="Shape 17"/>
          <p:cNvSpPr/>
          <p:nvPr/>
        </p:nvSpPr>
        <p:spPr>
          <a:xfrm>
            <a:off x="6208776" y="4326636"/>
            <a:ext cx="5431536" cy="1964436"/>
          </a:xfrm>
          <a:prstGeom prst="roundRect">
            <a:avLst>
              <a:gd name="adj" fmla="val 3724"/>
            </a:avLst>
          </a:prstGeom>
          <a:solidFill>
            <a:schemeClr val="bg2"/>
          </a:solidFill>
          <a:ln w="9525">
            <a:solidFill>
              <a:srgbClr val="D5DCE6"/>
            </a:solidFill>
            <a:prstDash val="solid"/>
          </a:ln>
        </p:spPr>
      </p:sp>
      <p:sp>
        <p:nvSpPr>
          <p:cNvPr id="24" name="Shape 18"/>
          <p:cNvSpPr/>
          <p:nvPr/>
        </p:nvSpPr>
        <p:spPr>
          <a:xfrm>
            <a:off x="6345936" y="4463796"/>
            <a:ext cx="868680" cy="868680"/>
          </a:xfrm>
          <a:prstGeom prst="roundRect">
            <a:avLst>
              <a:gd name="adj" fmla="val 8421"/>
            </a:avLst>
          </a:prstGeom>
          <a:solidFill>
            <a:srgbClr val="6E4A9E"/>
          </a:solidFill>
          <a:ln/>
        </p:spPr>
      </p:sp>
      <p:pic>
        <p:nvPicPr>
          <p:cNvPr id="25" name="Image 3" descr="preencoded.png">    </p:cNvPr>
          <p:cNvPicPr>
            <a:picLocks noChangeAspect="1"/>
          </p:cNvPicPr>
          <p:nvPr/>
        </p:nvPicPr>
        <p:blipFill>
          <a:blip r:embed="rId4"/>
          <a:stretch>
            <a:fillRect/>
          </a:stretch>
        </p:blipFill>
        <p:spPr>
          <a:xfrm>
            <a:off x="6611112" y="4536948"/>
            <a:ext cx="347472" cy="347472"/>
          </a:xfrm>
          <a:prstGeom prst="rect">
            <a:avLst/>
          </a:prstGeom>
        </p:spPr>
      </p:pic>
      <p:sp>
        <p:nvSpPr>
          <p:cNvPr id="26" name="Text 19"/>
          <p:cNvSpPr txBox="1"/>
          <p:nvPr/>
        </p:nvSpPr>
        <p:spPr>
          <a:xfrm>
            <a:off x="6345936" y="4930140"/>
            <a:ext cx="868680" cy="329184"/>
          </a:xfrm>
          <a:prstGeom prst="rect">
            <a:avLst/>
          </a:prstGeom>
          <a:noFill/>
          <a:ln/>
        </p:spPr>
        <p:txBody>
          <a:bodyPr wrap="square" lIns="0" tIns="0" rIns="0" bIns="0" rtlCol="0" anchor="ctr"/>
          <a:lstStyle/>
          <a:p>
            <a:pPr algn="ctr" indent="0" marL="0">
              <a:buNone/>
            </a:pPr>
            <a:r>
              <a:rPr lang="en-US" sz="1300" b="1" dirty="0">
                <a:solidFill>
                  <a:schemeClr val="bg1"/>
                </a:solidFill>
              </a:rPr>
              <a:t>MAIL D</a:t>
            </a:r>
            <a:endParaRPr lang="en-US" sz="1300" dirty="0"/>
          </a:p>
        </p:txBody>
      </p:sp>
      <p:sp>
        <p:nvSpPr>
          <p:cNvPr id="27" name="Text 20"/>
          <p:cNvSpPr txBox="1"/>
          <p:nvPr/>
        </p:nvSpPr>
        <p:spPr>
          <a:xfrm>
            <a:off x="7351776" y="4436364"/>
            <a:ext cx="4151376" cy="1744980"/>
          </a:xfrm>
          <a:prstGeom prst="rect">
            <a:avLst/>
          </a:prstGeom>
          <a:noFill/>
          <a:ln/>
        </p:spPr>
        <p:txBody>
          <a:bodyPr wrap="square" lIns="0" tIns="0" rIns="0" bIns="0" rtlCol="0" anchor="t"/>
          <a:lstStyle/>
          <a:p>
            <a:pPr indent="0" marL="0">
              <a:spcAft>
                <a:spcPts val="600"/>
              </a:spcAft>
              <a:buNone/>
            </a:pPr>
            <a:r>
              <a:rPr lang="en-US" sz="1400" dirty="0">
                <a:solidFill>
                  <a:schemeClr val="tx1"/>
                </a:solidFill>
              </a:rPr>
              <a:t>Bevestiging van uw afspraak voor de vernieuwing van uw identiteitskaart: dinsdag 5 november om 10.20 uur, loket 4. Gelieve uw oude kaart mee te brengen. Annulering is mogelijk tot 24 uur vooraf.</a:t>
            </a:r>
            <a:endParaRPr lang="en-US" sz="1400" dirty="0"/>
          </a:p>
          <a:p>
            <a:pPr indent="0" marL="0">
              <a:buNone/>
            </a:pPr>
            <a:r>
              <a:rPr lang="en-US" sz="1400" b="1" dirty="0">
                <a:solidFill>
                  <a:schemeClr val="accent3"/>
                </a:solidFill>
              </a:rPr>
              <a:t>→ </a:t>
            </a:r>
            <a:r>
              <a:rPr lang="en-US" sz="1400" dirty="0">
                <a:solidFill>
                  <a:schemeClr val="accent3"/>
                </a:solidFill>
              </a:rPr>
              <a:t>bevestiging · vernieuwing · annulering → </a:t>
            </a:r>
            <a:r>
              <a:rPr lang="en-US" sz="1400" i="1" dirty="0">
                <a:solidFill>
                  <a:schemeClr val="accent3"/>
                </a:solidFill>
              </a:rPr>
              <a:t>Je afspraak is bevestigd. Breng je oude kaart mee. Je kunt tot 24 uur vooraf annuleren.</a:t>
            </a:r>
            <a:endParaRPr lang="en-US" sz="1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D2 À vous : l’affiche pour le hall</a:t>
            </a:r>
            <a:endParaRPr lang="en-US" sz="3200" dirty="0"/>
          </a:p>
        </p:txBody>
      </p:sp>
      <p:sp>
        <p:nvSpPr>
          <p:cNvPr id="3" name="tag"/>
          <p:cNvSpPr/>
          <p:nvPr/>
        </p:nvSpPr>
        <p:spPr>
          <a:xfrm>
            <a:off x="548640" y="237744"/>
            <a:ext cx="1074420"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chemeClr val="bg1"/>
                </a:solidFill>
              </a:rPr>
              <a:t>ÉCRIT</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10a</a:t>
            </a:r>
            <a:endParaRPr lang="en-US" sz="1200" dirty="0"/>
          </a:p>
        </p:txBody>
      </p:sp>
      <p:sp>
        <p:nvSpPr>
          <p:cNvPr id="6" name="Text 3"/>
          <p:cNvSpPr txBox="1"/>
          <p:nvPr/>
        </p:nvSpPr>
        <p:spPr>
          <a:xfrm>
            <a:off x="548640" y="1481328"/>
            <a:ext cx="7178040" cy="859536"/>
          </a:xfrm>
          <a:prstGeom prst="rect">
            <a:avLst/>
          </a:prstGeom>
          <a:noFill/>
          <a:ln/>
        </p:spPr>
        <p:txBody>
          <a:bodyPr wrap="square" lIns="0" tIns="0" rIns="0" bIns="0" rtlCol="0" anchor="t"/>
          <a:lstStyle/>
          <a:p>
            <a:pPr indent="0" marL="0">
              <a:buNone/>
            </a:pPr>
            <a:r>
              <a:rPr lang="en-US" sz="1600" i="1" dirty="0">
                <a:solidFill>
                  <a:schemeClr val="accent5"/>
                </a:solidFill>
              </a:rPr>
              <a:t>Écrit · seul · 8 min. Rédigez l’affiche du hall (4 à 5 lignes, style nominal) : onderhoud van de lift, opruiming van de kelder, afsluiting van het water, buurtfeest…</a:t>
            </a:r>
            <a:endParaRPr lang="en-US" sz="1600" dirty="0"/>
          </a:p>
        </p:txBody>
      </p:sp>
      <p:sp>
        <p:nvSpPr>
          <p:cNvPr id="7" name="exercise"/>
          <p:cNvSpPr txBox="1"/>
          <p:nvPr/>
        </p:nvSpPr>
        <p:spPr>
          <a:xfrm>
            <a:off x="548640" y="2414016"/>
            <a:ext cx="7178040" cy="3877056"/>
          </a:xfrm>
          <a:prstGeom prst="rect">
            <a:avLst/>
          </a:prstGeom>
          <a:noFill/>
          <a:ln/>
        </p:spPr>
        <p:txBody>
          <a:bodyPr wrap="square" lIns="0" tIns="0" rIns="0" bIns="0" rtlCol="0" anchor="t"/>
          <a:lstStyle/>
          <a:p>
            <a:pPr indent="0" marL="0">
              <a:spcAft>
                <a:spcPts val="600"/>
              </a:spcAft>
              <a:buNone/>
            </a:pPr>
            <a:r>
              <a:rPr lang="en-US" sz="2400" b="1" dirty="0">
                <a:solidFill>
                  <a:schemeClr val="tx2"/>
                </a:solidFill>
              </a:rPr>
              <a:t>Modèle : Onderhoud van de lift</a:t>
            </a:r>
            <a:endParaRPr lang="en-US" sz="2400" dirty="0"/>
          </a:p>
          <a:p>
            <a:pPr indent="0" marL="0">
              <a:spcAft>
                <a:spcPts val="800"/>
              </a:spcAft>
              <a:buNone/>
            </a:pPr>
            <a:r>
              <a:rPr lang="en-US" sz="2400" b="1" dirty="0">
                <a:solidFill>
                  <a:schemeClr val="tx1"/>
                </a:solidFill>
              </a:rPr>
              <a:t>Wegens onderhoud</a:t>
            </a:r>
            <a:r>
              <a:rPr lang="en-US" sz="2400" dirty="0">
                <a:solidFill>
                  <a:schemeClr val="tx1"/>
                </a:solidFill>
              </a:rPr>
              <a:t> is de lift op woensdag 12 maart van 8 tot 12 uur niet beschikbaar.</a:t>
            </a:r>
            <a:endParaRPr lang="en-US" sz="2400" dirty="0"/>
          </a:p>
          <a:p>
            <a:pPr indent="0" marL="0">
              <a:spcAft>
                <a:spcPts val="800"/>
              </a:spcAft>
              <a:buNone/>
            </a:pPr>
            <a:r>
              <a:rPr lang="en-US" sz="2400" dirty="0">
                <a:solidFill>
                  <a:schemeClr val="tx1"/>
                </a:solidFill>
              </a:rPr>
              <a:t>De </a:t>
            </a:r>
            <a:r>
              <a:rPr lang="en-US" sz="2400" b="1" dirty="0">
                <a:solidFill>
                  <a:schemeClr val="tx1"/>
                </a:solidFill>
              </a:rPr>
              <a:t>controle</a:t>
            </a:r>
            <a:r>
              <a:rPr lang="en-US" sz="2400" dirty="0">
                <a:solidFill>
                  <a:schemeClr val="tx1"/>
                </a:solidFill>
              </a:rPr>
              <a:t> en de </a:t>
            </a:r>
            <a:r>
              <a:rPr lang="en-US" sz="2400" b="1" dirty="0">
                <a:solidFill>
                  <a:schemeClr val="tx1"/>
                </a:solidFill>
              </a:rPr>
              <a:t>herstelling</a:t>
            </a:r>
            <a:r>
              <a:rPr lang="en-US" sz="2400" dirty="0">
                <a:solidFill>
                  <a:schemeClr val="tx1"/>
                </a:solidFill>
              </a:rPr>
              <a:t> worden uitgevoerd door de firma Liftservice.</a:t>
            </a:r>
            <a:endParaRPr lang="en-US" sz="2400" dirty="0"/>
          </a:p>
          <a:p>
            <a:pPr indent="0" marL="0">
              <a:spcAft>
                <a:spcPts val="800"/>
              </a:spcAft>
              <a:buNone/>
            </a:pPr>
            <a:r>
              <a:rPr lang="en-US" sz="2400" b="1" dirty="0">
                <a:solidFill>
                  <a:schemeClr val="tx1"/>
                </a:solidFill>
              </a:rPr>
              <a:t>Gelieve</a:t>
            </a:r>
            <a:r>
              <a:rPr lang="en-US" sz="2400" dirty="0">
                <a:solidFill>
                  <a:schemeClr val="tx1"/>
                </a:solidFill>
              </a:rPr>
              <a:t> de trap te nemen.</a:t>
            </a:r>
            <a:endParaRPr lang="en-US" sz="2400" dirty="0"/>
          </a:p>
          <a:p>
            <a:pPr indent="0" marL="0">
              <a:spcAft>
                <a:spcPts val="800"/>
              </a:spcAft>
              <a:buNone/>
            </a:pPr>
            <a:r>
              <a:rPr lang="en-US" sz="2400" b="1" dirty="0">
                <a:solidFill>
                  <a:schemeClr val="tx1"/>
                </a:solidFill>
              </a:rPr>
              <a:t>Bij vragen</a:t>
            </a:r>
            <a:r>
              <a:rPr lang="en-US" sz="2400" dirty="0">
                <a:solidFill>
                  <a:schemeClr val="tx1"/>
                </a:solidFill>
              </a:rPr>
              <a:t>: contactname met de syndicus. Dank voor uw begrip.</a:t>
            </a:r>
            <a:endParaRPr lang="en-US" sz="2400" dirty="0"/>
          </a:p>
        </p:txBody>
      </p:sp>
      <p:sp>
        <p:nvSpPr>
          <p:cNvPr id="8" name="aside"/>
          <p:cNvSpPr/>
          <p:nvPr/>
        </p:nvSpPr>
        <p:spPr>
          <a:xfrm>
            <a:off x="8046720" y="1481328"/>
            <a:ext cx="3593592" cy="4809744"/>
          </a:xfrm>
          <a:prstGeom prst="roundRect">
            <a:avLst>
              <a:gd name="adj" fmla="val 2036"/>
            </a:avLst>
          </a:prstGeom>
          <a:solidFill>
            <a:schemeClr val="accent5">
              <a:alpha val="10000"/>
            </a:schemeClr>
          </a:solidFill>
          <a:ln w="12700">
            <a:solidFill>
              <a:schemeClr val="accent5">
                <a:alpha val="60000"/>
              </a:schemeClr>
            </a:solidFill>
            <a:prstDash val="solid"/>
          </a:ln>
        </p:spPr>
      </p:sp>
      <p:pic>
        <p:nvPicPr>
          <p:cNvPr id="9" name="Image 0" descr="preencoded.png">    </p:cNvPr>
          <p:cNvPicPr>
            <a:picLocks noChangeAspect="1"/>
          </p:cNvPicPr>
          <p:nvPr/>
        </p:nvPicPr>
        <p:blipFill>
          <a:blip r:embed="rId1"/>
          <a:stretch>
            <a:fillRect/>
          </a:stretch>
        </p:blipFill>
        <p:spPr>
          <a:xfrm>
            <a:off x="8229600" y="1664208"/>
            <a:ext cx="292608" cy="292608"/>
          </a:xfrm>
          <a:prstGeom prst="rect">
            <a:avLst/>
          </a:prstGeom>
        </p:spPr>
      </p:pic>
      <p:sp>
        <p:nvSpPr>
          <p:cNvPr id="10" name="Text 6"/>
          <p:cNvSpPr txBox="1"/>
          <p:nvPr/>
        </p:nvSpPr>
        <p:spPr>
          <a:xfrm>
            <a:off x="8613648" y="1636776"/>
            <a:ext cx="2862072" cy="347472"/>
          </a:xfrm>
          <a:prstGeom prst="rect">
            <a:avLst/>
          </a:prstGeom>
          <a:noFill/>
          <a:ln/>
        </p:spPr>
        <p:txBody>
          <a:bodyPr wrap="square" lIns="0" tIns="0" rIns="0" bIns="0" rtlCol="0" anchor="ctr"/>
          <a:lstStyle/>
          <a:p>
            <a:pPr indent="0" marL="0">
              <a:buNone/>
            </a:pPr>
            <a:r>
              <a:rPr lang="en-US" sz="1400" b="1" spc="100" kern="0" dirty="0">
                <a:solidFill>
                  <a:schemeClr val="accent5"/>
                </a:solidFill>
              </a:rPr>
              <a:t>ATTENDU</a:t>
            </a:r>
            <a:endParaRPr lang="en-US" sz="1400" dirty="0"/>
          </a:p>
        </p:txBody>
      </p:sp>
      <p:sp>
        <p:nvSpPr>
          <p:cNvPr id="11" name="Text 7"/>
          <p:cNvSpPr txBox="1"/>
          <p:nvPr/>
        </p:nvSpPr>
        <p:spPr>
          <a:xfrm>
            <a:off x="8211312" y="2075688"/>
            <a:ext cx="3264408" cy="4078224"/>
          </a:xfrm>
          <a:prstGeom prst="rect">
            <a:avLst/>
          </a:prstGeom>
          <a:noFill/>
          <a:ln/>
        </p:spPr>
        <p:txBody>
          <a:bodyPr wrap="square" lIns="0" tIns="0" rIns="0" bIns="0" rtlCol="0" anchor="t"/>
          <a:lstStyle/>
          <a:p>
            <a:pPr marL="177800" indent="-177800">
              <a:spcAft>
                <a:spcPts val="600"/>
              </a:spcAft>
              <a:buSzPct val="100000"/>
              <a:buChar char="•"/>
            </a:pPr>
            <a:r>
              <a:rPr lang="en-US" sz="1800" b="1" dirty="0">
                <a:solidFill>
                  <a:schemeClr val="tx1"/>
                </a:solidFill>
              </a:rPr>
              <a:t>4 nominalisations</a:t>
            </a:r>
            <a:r>
              <a:rPr lang="en-US" sz="1800" dirty="0">
                <a:solidFill>
                  <a:schemeClr val="tx1"/>
                </a:solidFill>
              </a:rPr>
              <a:t> minimum</a:t>
            </a:r>
            <a:endParaRPr lang="en-US" sz="1800" dirty="0"/>
          </a:p>
          <a:p>
            <a:pPr marL="177800" indent="-177800">
              <a:spcAft>
                <a:spcPts val="600"/>
              </a:spcAft>
              <a:buSzPct val="100000"/>
              <a:buChar char="•"/>
            </a:pPr>
            <a:r>
              <a:rPr lang="en-US" sz="1800" b="1" dirty="0">
                <a:solidFill>
                  <a:schemeClr val="tx1"/>
                </a:solidFill>
              </a:rPr>
              <a:t>1 passif</a:t>
            </a:r>
            <a:endParaRPr lang="en-US" sz="1800" dirty="0"/>
          </a:p>
          <a:p>
            <a:pPr marL="177800" indent="-177800">
              <a:spcAft>
                <a:spcPts val="600"/>
              </a:spcAft>
              <a:buSzPct val="100000"/>
              <a:buChar char="•"/>
            </a:pPr>
            <a:r>
              <a:rPr lang="en-US" sz="1800" b="1" dirty="0">
                <a:solidFill>
                  <a:schemeClr val="tx1"/>
                </a:solidFill>
              </a:rPr>
              <a:t>1 formule</a:t>
            </a:r>
            <a:r>
              <a:rPr lang="en-US" sz="1800" dirty="0">
                <a:solidFill>
                  <a:schemeClr val="tx1"/>
                </a:solidFill>
              </a:rPr>
              <a:t> : Gelieve… · Wegens… · Bij vragen…</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Quel nom ? Quel suffixe ?</a:t>
            </a:r>
            <a:endParaRPr lang="en-US" sz="3200" dirty="0"/>
          </a:p>
        </p:txBody>
      </p:sp>
      <p:sp>
        <p:nvSpPr>
          <p:cNvPr id="3" name="tag"/>
          <p:cNvSpPr/>
          <p:nvPr/>
        </p:nvSpPr>
        <p:spPr>
          <a:xfrm>
            <a:off x="548640" y="237744"/>
            <a:ext cx="1165860"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chemeClr val="bg1"/>
                </a:solidFill>
              </a:rPr>
              <a:t>+ BONUS</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Hors syllabus</a:t>
            </a:r>
            <a:endParaRPr lang="en-US" sz="1200" dirty="0"/>
          </a:p>
        </p:txBody>
      </p:sp>
      <p:sp>
        <p:nvSpPr>
          <p:cNvPr id="6" name="Text 3"/>
          <p:cNvSpPr txBox="1"/>
          <p:nvPr/>
        </p:nvSpPr>
        <p:spPr>
          <a:xfrm>
            <a:off x="548640" y="1481328"/>
            <a:ext cx="7178040" cy="371856"/>
          </a:xfrm>
          <a:prstGeom prst="rect">
            <a:avLst/>
          </a:prstGeom>
          <a:noFill/>
          <a:ln/>
        </p:spPr>
        <p:txBody>
          <a:bodyPr wrap="square" lIns="0" tIns="0" rIns="0" bIns="0" rtlCol="0" anchor="t"/>
          <a:lstStyle/>
          <a:p>
            <a:pPr indent="0" marL="0">
              <a:buNone/>
            </a:pPr>
            <a:r>
              <a:rPr lang="en-US" sz="1600" i="1" dirty="0">
                <a:solidFill>
                  <a:schemeClr val="accent5"/>
                </a:solidFill>
              </a:rPr>
              <a:t>Écrivez le nom avec son article </a:t>
            </a:r>
            <a:r>
              <a:rPr lang="en-US" sz="1600" b="1" i="1" dirty="0">
                <a:solidFill>
                  <a:schemeClr val="accent5"/>
                </a:solidFill>
              </a:rPr>
              <a:t>de</a:t>
            </a:r>
            <a:r>
              <a:rPr lang="en-US" sz="1600" i="1" dirty="0">
                <a:solidFill>
                  <a:schemeClr val="accent5"/>
                </a:solidFill>
              </a:rPr>
              <a:t>. Seul · 4 min.</a:t>
            </a:r>
            <a:endParaRPr lang="en-US" sz="1600" dirty="0"/>
          </a:p>
        </p:txBody>
      </p:sp>
      <p:sp>
        <p:nvSpPr>
          <p:cNvPr id="7" name="exercise"/>
          <p:cNvSpPr txBox="1"/>
          <p:nvPr/>
        </p:nvSpPr>
        <p:spPr>
          <a:xfrm>
            <a:off x="548640" y="1926336"/>
            <a:ext cx="3406140" cy="4364736"/>
          </a:xfrm>
          <a:prstGeom prst="rect">
            <a:avLst/>
          </a:prstGeom>
          <a:noFill/>
          <a:ln/>
        </p:spPr>
        <p:txBody>
          <a:bodyPr wrap="square" lIns="0" tIns="0" rIns="0" bIns="0" rtlCol="0" anchor="t"/>
          <a:lstStyle/>
          <a:p>
            <a:pPr indent="0" marL="0">
              <a:spcAft>
                <a:spcPts val="1000"/>
              </a:spcAft>
              <a:buNone/>
            </a:pPr>
            <a:r>
              <a:rPr lang="en-US" sz="2400" b="1" dirty="0">
                <a:solidFill>
                  <a:schemeClr val="tx2"/>
                </a:solidFill>
              </a:rPr>
              <a:t>1.  </a:t>
            </a:r>
            <a:r>
              <a:rPr lang="en-US" sz="2400" dirty="0">
                <a:solidFill>
                  <a:schemeClr val="tx1"/>
                </a:solidFill>
              </a:rPr>
              <a:t>afwezig → de </a:t>
            </a:r>
            <a:r>
              <a:rPr lang="en-US" sz="2400" dirty="0">
                <a:solidFill>
                  <a:schemeClr val="accent5"/>
                </a:solidFill>
              </a:rPr>
              <a:t>………………</a:t>
            </a:r>
            <a:endParaRPr lang="en-US" sz="2400" dirty="0"/>
          </a:p>
          <a:p>
            <a:pPr indent="0" marL="0">
              <a:spcAft>
                <a:spcPts val="1000"/>
              </a:spcAft>
              <a:buNone/>
            </a:pPr>
            <a:r>
              <a:rPr lang="en-US" sz="2400" b="1" dirty="0">
                <a:solidFill>
                  <a:schemeClr val="tx2"/>
                </a:solidFill>
              </a:rPr>
              <a:t>2.  </a:t>
            </a:r>
            <a:r>
              <a:rPr lang="en-US" sz="2400" dirty="0">
                <a:solidFill>
                  <a:schemeClr val="tx1"/>
                </a:solidFill>
              </a:rPr>
              <a:t>verhogen → de </a:t>
            </a:r>
            <a:r>
              <a:rPr lang="en-US" sz="2400" dirty="0">
                <a:solidFill>
                  <a:schemeClr val="accent5"/>
                </a:solidFill>
              </a:rPr>
              <a:t>……………</a:t>
            </a:r>
            <a:endParaRPr lang="en-US" sz="2400" dirty="0"/>
          </a:p>
          <a:p>
            <a:pPr indent="0" marL="0">
              <a:spcAft>
                <a:spcPts val="1000"/>
              </a:spcAft>
              <a:buNone/>
            </a:pPr>
            <a:r>
              <a:rPr lang="en-US" sz="2400" b="1" dirty="0">
                <a:solidFill>
                  <a:schemeClr val="tx2"/>
                </a:solidFill>
              </a:rPr>
              <a:t>3.  </a:t>
            </a:r>
            <a:r>
              <a:rPr lang="en-US" sz="2400" dirty="0">
                <a:solidFill>
                  <a:schemeClr val="tx1"/>
                </a:solidFill>
              </a:rPr>
              <a:t>beschikbaar → de </a:t>
            </a:r>
            <a:r>
              <a:rPr lang="en-US" sz="2400" dirty="0">
                <a:solidFill>
                  <a:schemeClr val="accent5"/>
                </a:solidFill>
              </a:rPr>
              <a:t>……………………</a:t>
            </a:r>
            <a:endParaRPr lang="en-US" sz="2400" dirty="0"/>
          </a:p>
          <a:p>
            <a:pPr indent="0" marL="0">
              <a:spcAft>
                <a:spcPts val="1000"/>
              </a:spcAft>
              <a:buNone/>
            </a:pPr>
            <a:r>
              <a:rPr lang="en-US" sz="2400" b="1" dirty="0">
                <a:solidFill>
                  <a:schemeClr val="tx2"/>
                </a:solidFill>
              </a:rPr>
              <a:t>4.  </a:t>
            </a:r>
            <a:r>
              <a:rPr lang="en-US" sz="2400" dirty="0">
                <a:solidFill>
                  <a:schemeClr val="tx1"/>
                </a:solidFill>
              </a:rPr>
              <a:t>controleren → de </a:t>
            </a:r>
            <a:r>
              <a:rPr lang="en-US" sz="2400" dirty="0">
                <a:solidFill>
                  <a:schemeClr val="accent5"/>
                </a:solidFill>
              </a:rPr>
              <a:t>……………</a:t>
            </a:r>
            <a:endParaRPr lang="en-US" sz="2400" dirty="0"/>
          </a:p>
        </p:txBody>
      </p:sp>
      <p:sp>
        <p:nvSpPr>
          <p:cNvPr id="8" name="exercise"/>
          <p:cNvSpPr txBox="1"/>
          <p:nvPr/>
        </p:nvSpPr>
        <p:spPr>
          <a:xfrm>
            <a:off x="4320540" y="1926336"/>
            <a:ext cx="3406140" cy="4364736"/>
          </a:xfrm>
          <a:prstGeom prst="rect">
            <a:avLst/>
          </a:prstGeom>
          <a:noFill/>
          <a:ln/>
        </p:spPr>
        <p:txBody>
          <a:bodyPr wrap="square" lIns="0" tIns="0" rIns="0" bIns="0" rtlCol="0" anchor="t"/>
          <a:lstStyle/>
          <a:p>
            <a:pPr indent="0" marL="0">
              <a:spcAft>
                <a:spcPts val="1000"/>
              </a:spcAft>
              <a:buNone/>
            </a:pPr>
            <a:r>
              <a:rPr lang="en-US" sz="2400" b="1" dirty="0">
                <a:solidFill>
                  <a:schemeClr val="tx2"/>
                </a:solidFill>
              </a:rPr>
              <a:t>5.  </a:t>
            </a:r>
            <a:r>
              <a:rPr lang="en-US" sz="2400" dirty="0">
                <a:solidFill>
                  <a:schemeClr val="tx1"/>
                </a:solidFill>
              </a:rPr>
              <a:t>uitnodigen → de </a:t>
            </a:r>
            <a:r>
              <a:rPr lang="en-US" sz="2400" dirty="0">
                <a:solidFill>
                  <a:schemeClr val="accent5"/>
                </a:solidFill>
              </a:rPr>
              <a:t>………………</a:t>
            </a:r>
            <a:endParaRPr lang="en-US" sz="2400" dirty="0"/>
          </a:p>
          <a:p>
            <a:pPr indent="0" marL="0">
              <a:spcAft>
                <a:spcPts val="1000"/>
              </a:spcAft>
              <a:buNone/>
            </a:pPr>
            <a:r>
              <a:rPr lang="en-US" sz="2400" b="1" dirty="0">
                <a:solidFill>
                  <a:schemeClr val="tx2"/>
                </a:solidFill>
              </a:rPr>
              <a:t>6.  </a:t>
            </a:r>
            <a:r>
              <a:rPr lang="en-US" sz="2400" dirty="0">
                <a:solidFill>
                  <a:schemeClr val="tx1"/>
                </a:solidFill>
              </a:rPr>
              <a:t>tevreden → de </a:t>
            </a:r>
            <a:r>
              <a:rPr lang="en-US" sz="2400" dirty="0">
                <a:solidFill>
                  <a:schemeClr val="accent5"/>
                </a:solidFill>
              </a:rPr>
              <a:t>…………………</a:t>
            </a:r>
            <a:endParaRPr lang="en-US" sz="2400" dirty="0"/>
          </a:p>
          <a:p>
            <a:pPr indent="0" marL="0">
              <a:spcAft>
                <a:spcPts val="1000"/>
              </a:spcAft>
              <a:buNone/>
            </a:pPr>
            <a:r>
              <a:rPr lang="en-US" sz="2400" b="1" dirty="0">
                <a:solidFill>
                  <a:schemeClr val="tx2"/>
                </a:solidFill>
              </a:rPr>
              <a:t>7.  </a:t>
            </a:r>
            <a:r>
              <a:rPr lang="en-US" sz="2400" dirty="0">
                <a:solidFill>
                  <a:schemeClr val="tx1"/>
                </a:solidFill>
              </a:rPr>
              <a:t>organiseren → de </a:t>
            </a:r>
            <a:r>
              <a:rPr lang="en-US" sz="2400" dirty="0">
                <a:solidFill>
                  <a:schemeClr val="accent5"/>
                </a:solidFill>
              </a:rPr>
              <a:t>………………</a:t>
            </a:r>
            <a:endParaRPr lang="en-US" sz="2400" dirty="0"/>
          </a:p>
          <a:p>
            <a:pPr indent="0" marL="0">
              <a:spcAft>
                <a:spcPts val="1000"/>
              </a:spcAft>
              <a:buNone/>
            </a:pPr>
            <a:r>
              <a:rPr lang="en-US" sz="2400" b="1" dirty="0">
                <a:solidFill>
                  <a:schemeClr val="tx2"/>
                </a:solidFill>
              </a:rPr>
              <a:t>8.  </a:t>
            </a:r>
            <a:r>
              <a:rPr lang="en-US" sz="2400" dirty="0">
                <a:solidFill>
                  <a:schemeClr val="tx1"/>
                </a:solidFill>
              </a:rPr>
              <a:t>vergaderen → de </a:t>
            </a:r>
            <a:r>
              <a:rPr lang="en-US" sz="2400" dirty="0">
                <a:solidFill>
                  <a:schemeClr val="accent5"/>
                </a:solidFill>
              </a:rPr>
              <a:t>………………</a:t>
            </a:r>
            <a:endParaRPr lang="en-US" sz="2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Quel nom ? Quel suffixe ?</a:t>
            </a:r>
            <a:endParaRPr lang="en-US" sz="3200" dirty="0"/>
          </a:p>
        </p:txBody>
      </p:sp>
      <p:sp>
        <p:nvSpPr>
          <p:cNvPr id="3" name="tag"/>
          <p:cNvSpPr/>
          <p:nvPr/>
        </p:nvSpPr>
        <p:spPr>
          <a:xfrm>
            <a:off x="548640" y="237744"/>
            <a:ext cx="1165860"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chemeClr val="bg1"/>
                </a:solidFill>
              </a:rPr>
              <a:t>+ BONUS</a:t>
            </a:r>
            <a:endParaRPr lang="en-US" sz="1200" dirty="0"/>
          </a:p>
        </p:txBody>
      </p:sp>
      <p:sp>
        <p:nvSpPr>
          <p:cNvPr id="4" name="tag"/>
          <p:cNvSpPr/>
          <p:nvPr/>
        </p:nvSpPr>
        <p:spPr>
          <a:xfrm>
            <a:off x="1824228" y="237744"/>
            <a:ext cx="1760220"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chemeClr val="bg1"/>
                </a:solidFill>
              </a:rPr>
              <a:t>✓ CORRECTIE</a:t>
            </a:r>
            <a:endParaRPr lang="en-US" sz="1200" dirty="0"/>
          </a:p>
        </p:txBody>
      </p:sp>
      <p:sp>
        <p:nvSpPr>
          <p:cNvPr id="5" name="Text 3"/>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Hors syllabus</a:t>
            </a:r>
            <a:endParaRPr lang="en-US" sz="1200" dirty="0"/>
          </a:p>
        </p:txBody>
      </p:sp>
      <p:sp>
        <p:nvSpPr>
          <p:cNvPr id="7" name="Text 4"/>
          <p:cNvSpPr txBox="1"/>
          <p:nvPr/>
        </p:nvSpPr>
        <p:spPr>
          <a:xfrm>
            <a:off x="548640" y="1481328"/>
            <a:ext cx="7178040" cy="371856"/>
          </a:xfrm>
          <a:prstGeom prst="rect">
            <a:avLst/>
          </a:prstGeom>
          <a:noFill/>
          <a:ln/>
        </p:spPr>
        <p:txBody>
          <a:bodyPr wrap="square" lIns="0" tIns="0" rIns="0" bIns="0" rtlCol="0" anchor="t"/>
          <a:lstStyle/>
          <a:p>
            <a:pPr indent="0" marL="0">
              <a:buNone/>
            </a:pPr>
            <a:r>
              <a:rPr lang="en-US" sz="1600" i="1" dirty="0">
                <a:solidFill>
                  <a:schemeClr val="accent5"/>
                </a:solidFill>
              </a:rPr>
              <a:t>Écrivez le nom avec son article </a:t>
            </a:r>
            <a:r>
              <a:rPr lang="en-US" sz="1600" b="1" i="1" dirty="0">
                <a:solidFill>
                  <a:schemeClr val="accent5"/>
                </a:solidFill>
              </a:rPr>
              <a:t>de</a:t>
            </a:r>
            <a:r>
              <a:rPr lang="en-US" sz="1600" i="1" dirty="0">
                <a:solidFill>
                  <a:schemeClr val="accent5"/>
                </a:solidFill>
              </a:rPr>
              <a:t>. Seul · 4 min.</a:t>
            </a:r>
            <a:endParaRPr lang="en-US" sz="1600" dirty="0"/>
          </a:p>
        </p:txBody>
      </p:sp>
      <p:sp>
        <p:nvSpPr>
          <p:cNvPr id="8" name="exercise"/>
          <p:cNvSpPr txBox="1"/>
          <p:nvPr/>
        </p:nvSpPr>
        <p:spPr>
          <a:xfrm>
            <a:off x="548640" y="1926336"/>
            <a:ext cx="3406140" cy="4364736"/>
          </a:xfrm>
          <a:prstGeom prst="rect">
            <a:avLst/>
          </a:prstGeom>
          <a:noFill/>
          <a:ln/>
        </p:spPr>
        <p:txBody>
          <a:bodyPr wrap="square" lIns="0" tIns="0" rIns="0" bIns="0" rtlCol="0" anchor="t"/>
          <a:lstStyle/>
          <a:p>
            <a:pPr indent="0" marL="0">
              <a:spcAft>
                <a:spcPts val="1000"/>
              </a:spcAft>
              <a:buNone/>
            </a:pPr>
            <a:r>
              <a:rPr lang="en-US" sz="2400" b="1" dirty="0">
                <a:solidFill>
                  <a:schemeClr val="tx2"/>
                </a:solidFill>
              </a:rPr>
              <a:t>1.  </a:t>
            </a:r>
            <a:r>
              <a:rPr lang="en-US" sz="2400" dirty="0">
                <a:solidFill>
                  <a:schemeClr val="tx1"/>
                </a:solidFill>
              </a:rPr>
              <a:t>afwezig → de </a:t>
            </a:r>
            <a:r>
              <a:rPr lang="en-US" sz="2400" b="1" dirty="0">
                <a:solidFill>
                  <a:schemeClr val="accent3"/>
                </a:solidFill>
              </a:rPr>
              <a:t>afwezigheid</a:t>
            </a:r>
            <a:endParaRPr lang="en-US" sz="2400" dirty="0"/>
          </a:p>
          <a:p>
            <a:pPr indent="0" marL="0">
              <a:spcAft>
                <a:spcPts val="1000"/>
              </a:spcAft>
              <a:buNone/>
            </a:pPr>
            <a:r>
              <a:rPr lang="en-US" sz="2400" b="1" dirty="0">
                <a:solidFill>
                  <a:schemeClr val="tx2"/>
                </a:solidFill>
              </a:rPr>
              <a:t>2.  </a:t>
            </a:r>
            <a:r>
              <a:rPr lang="en-US" sz="2400" dirty="0">
                <a:solidFill>
                  <a:schemeClr val="tx1"/>
                </a:solidFill>
              </a:rPr>
              <a:t>verhogen → de </a:t>
            </a:r>
            <a:r>
              <a:rPr lang="en-US" sz="2400" b="1" dirty="0">
                <a:solidFill>
                  <a:schemeClr val="accent3"/>
                </a:solidFill>
              </a:rPr>
              <a:t>verhoging</a:t>
            </a:r>
            <a:endParaRPr lang="en-US" sz="2400" dirty="0"/>
          </a:p>
          <a:p>
            <a:pPr indent="0" marL="0">
              <a:spcAft>
                <a:spcPts val="1000"/>
              </a:spcAft>
              <a:buNone/>
            </a:pPr>
            <a:r>
              <a:rPr lang="en-US" sz="2400" b="1" dirty="0">
                <a:solidFill>
                  <a:schemeClr val="tx2"/>
                </a:solidFill>
              </a:rPr>
              <a:t>3.  </a:t>
            </a:r>
            <a:r>
              <a:rPr lang="en-US" sz="2400" dirty="0">
                <a:solidFill>
                  <a:schemeClr val="tx1"/>
                </a:solidFill>
              </a:rPr>
              <a:t>beschikbaar → de </a:t>
            </a:r>
            <a:r>
              <a:rPr lang="en-US" sz="2400" b="1" dirty="0">
                <a:solidFill>
                  <a:schemeClr val="accent3"/>
                </a:solidFill>
              </a:rPr>
              <a:t>beschikbaarheid</a:t>
            </a:r>
            <a:endParaRPr lang="en-US" sz="2400" dirty="0"/>
          </a:p>
          <a:p>
            <a:pPr indent="0" marL="0">
              <a:spcAft>
                <a:spcPts val="1000"/>
              </a:spcAft>
              <a:buNone/>
            </a:pPr>
            <a:r>
              <a:rPr lang="en-US" sz="2400" b="1" dirty="0">
                <a:solidFill>
                  <a:schemeClr val="tx2"/>
                </a:solidFill>
              </a:rPr>
              <a:t>4.  </a:t>
            </a:r>
            <a:r>
              <a:rPr lang="en-US" sz="2400" dirty="0">
                <a:solidFill>
                  <a:schemeClr val="tx1"/>
                </a:solidFill>
              </a:rPr>
              <a:t>controleren → de </a:t>
            </a:r>
            <a:r>
              <a:rPr lang="en-US" sz="2400" b="1" dirty="0">
                <a:solidFill>
                  <a:schemeClr val="accent3"/>
                </a:solidFill>
              </a:rPr>
              <a:t>controle</a:t>
            </a:r>
            <a:endParaRPr lang="en-US" sz="2400" dirty="0"/>
          </a:p>
        </p:txBody>
      </p:sp>
      <p:sp>
        <p:nvSpPr>
          <p:cNvPr id="9" name="exercise"/>
          <p:cNvSpPr txBox="1"/>
          <p:nvPr/>
        </p:nvSpPr>
        <p:spPr>
          <a:xfrm>
            <a:off x="4320540" y="1926336"/>
            <a:ext cx="3406140" cy="4364736"/>
          </a:xfrm>
          <a:prstGeom prst="rect">
            <a:avLst/>
          </a:prstGeom>
          <a:noFill/>
          <a:ln/>
        </p:spPr>
        <p:txBody>
          <a:bodyPr wrap="square" lIns="0" tIns="0" rIns="0" bIns="0" rtlCol="0" anchor="t"/>
          <a:lstStyle/>
          <a:p>
            <a:pPr indent="0" marL="0">
              <a:spcAft>
                <a:spcPts val="1000"/>
              </a:spcAft>
              <a:buNone/>
            </a:pPr>
            <a:r>
              <a:rPr lang="en-US" sz="2400" b="1" dirty="0">
                <a:solidFill>
                  <a:schemeClr val="tx2"/>
                </a:solidFill>
              </a:rPr>
              <a:t>5.  </a:t>
            </a:r>
            <a:r>
              <a:rPr lang="en-US" sz="2400" dirty="0">
                <a:solidFill>
                  <a:schemeClr val="tx1"/>
                </a:solidFill>
              </a:rPr>
              <a:t>uitnodigen → de </a:t>
            </a:r>
            <a:r>
              <a:rPr lang="en-US" sz="2400" b="1" dirty="0">
                <a:solidFill>
                  <a:schemeClr val="accent3"/>
                </a:solidFill>
              </a:rPr>
              <a:t>uitnodiging</a:t>
            </a:r>
            <a:endParaRPr lang="en-US" sz="2400" dirty="0"/>
          </a:p>
          <a:p>
            <a:pPr indent="0" marL="0">
              <a:spcAft>
                <a:spcPts val="1000"/>
              </a:spcAft>
              <a:buNone/>
            </a:pPr>
            <a:r>
              <a:rPr lang="en-US" sz="2400" b="1" dirty="0">
                <a:solidFill>
                  <a:schemeClr val="tx2"/>
                </a:solidFill>
              </a:rPr>
              <a:t>6.  </a:t>
            </a:r>
            <a:r>
              <a:rPr lang="en-US" sz="2400" dirty="0">
                <a:solidFill>
                  <a:schemeClr val="tx1"/>
                </a:solidFill>
              </a:rPr>
              <a:t>tevreden → de </a:t>
            </a:r>
            <a:r>
              <a:rPr lang="en-US" sz="2400" b="1" dirty="0">
                <a:solidFill>
                  <a:schemeClr val="accent3"/>
                </a:solidFill>
              </a:rPr>
              <a:t>tevredenheid</a:t>
            </a:r>
            <a:endParaRPr lang="en-US" sz="2400" dirty="0"/>
          </a:p>
          <a:p>
            <a:pPr indent="0" marL="0">
              <a:spcAft>
                <a:spcPts val="1000"/>
              </a:spcAft>
              <a:buNone/>
            </a:pPr>
            <a:r>
              <a:rPr lang="en-US" sz="2400" b="1" dirty="0">
                <a:solidFill>
                  <a:schemeClr val="tx2"/>
                </a:solidFill>
              </a:rPr>
              <a:t>7.  </a:t>
            </a:r>
            <a:r>
              <a:rPr lang="en-US" sz="2400" dirty="0">
                <a:solidFill>
                  <a:schemeClr val="tx1"/>
                </a:solidFill>
              </a:rPr>
              <a:t>organiseren → de </a:t>
            </a:r>
            <a:r>
              <a:rPr lang="en-US" sz="2400" b="1" dirty="0">
                <a:solidFill>
                  <a:schemeClr val="accent3"/>
                </a:solidFill>
              </a:rPr>
              <a:t>organisatie</a:t>
            </a:r>
            <a:endParaRPr lang="en-US" sz="2400" dirty="0"/>
          </a:p>
          <a:p>
            <a:pPr indent="0" marL="0">
              <a:spcAft>
                <a:spcPts val="1000"/>
              </a:spcAft>
              <a:buNone/>
            </a:pPr>
            <a:r>
              <a:rPr lang="en-US" sz="2400" b="1" dirty="0">
                <a:solidFill>
                  <a:schemeClr val="tx2"/>
                </a:solidFill>
              </a:rPr>
              <a:t>8.  </a:t>
            </a:r>
            <a:r>
              <a:rPr lang="en-US" sz="2400" dirty="0">
                <a:solidFill>
                  <a:schemeClr val="tx1"/>
                </a:solidFill>
              </a:rPr>
              <a:t>vergaderen → de </a:t>
            </a:r>
            <a:r>
              <a:rPr lang="en-US" sz="2400" b="1" dirty="0">
                <a:solidFill>
                  <a:schemeClr val="accent3"/>
                </a:solidFill>
              </a:rPr>
              <a:t>vergadering</a:t>
            </a:r>
            <a:endParaRPr lang="en-US" sz="2400" dirty="0"/>
          </a:p>
        </p:txBody>
      </p:sp>
      <p:sp>
        <p:nvSpPr>
          <p:cNvPr id="10" name="aside"/>
          <p:cNvSpPr/>
          <p:nvPr/>
        </p:nvSpPr>
        <p:spPr>
          <a:xfrm>
            <a:off x="8046720" y="1481328"/>
            <a:ext cx="3593592" cy="4809744"/>
          </a:xfrm>
          <a:prstGeom prst="roundRect">
            <a:avLst>
              <a:gd name="adj" fmla="val 2036"/>
            </a:avLst>
          </a:prstGeom>
          <a:solidFill>
            <a:schemeClr val="accent6">
              <a:alpha val="10000"/>
            </a:schemeClr>
          </a:solidFill>
          <a:ln w="12700">
            <a:solidFill>
              <a:schemeClr val="accent6">
                <a:alpha val="60000"/>
              </a:schemeClr>
            </a:solidFill>
            <a:prstDash val="solid"/>
          </a:ln>
        </p:spPr>
      </p:sp>
      <p:pic>
        <p:nvPicPr>
          <p:cNvPr id="11" name="Image 0" descr="preencoded.png">    </p:cNvPr>
          <p:cNvPicPr>
            <a:picLocks noChangeAspect="1"/>
          </p:cNvPicPr>
          <p:nvPr/>
        </p:nvPicPr>
        <p:blipFill>
          <a:blip r:embed="rId1"/>
          <a:stretch>
            <a:fillRect/>
          </a:stretch>
        </p:blipFill>
        <p:spPr>
          <a:xfrm>
            <a:off x="8229600" y="1664208"/>
            <a:ext cx="292608" cy="292608"/>
          </a:xfrm>
          <a:prstGeom prst="rect">
            <a:avLst/>
          </a:prstGeom>
        </p:spPr>
      </p:pic>
      <p:sp>
        <p:nvSpPr>
          <p:cNvPr id="12" name="Text 8"/>
          <p:cNvSpPr txBox="1"/>
          <p:nvPr/>
        </p:nvSpPr>
        <p:spPr>
          <a:xfrm>
            <a:off x="8613648" y="1636776"/>
            <a:ext cx="2862072" cy="347472"/>
          </a:xfrm>
          <a:prstGeom prst="rect">
            <a:avLst/>
          </a:prstGeom>
          <a:noFill/>
          <a:ln/>
        </p:spPr>
        <p:txBody>
          <a:bodyPr wrap="square" lIns="0" tIns="0" rIns="0" bIns="0" rtlCol="0" anchor="ctr"/>
          <a:lstStyle/>
          <a:p>
            <a:pPr indent="0" marL="0">
              <a:buNone/>
            </a:pPr>
            <a:r>
              <a:rPr lang="en-US" sz="1400" b="1" spc="100" kern="0" dirty="0">
                <a:solidFill>
                  <a:schemeClr val="accent6"/>
                </a:solidFill>
              </a:rPr>
              <a:t>ATTENTION</a:t>
            </a:r>
            <a:endParaRPr lang="en-US" sz="1400" dirty="0"/>
          </a:p>
        </p:txBody>
      </p:sp>
      <p:sp>
        <p:nvSpPr>
          <p:cNvPr id="13" name="Text 9"/>
          <p:cNvSpPr txBox="1"/>
          <p:nvPr/>
        </p:nvSpPr>
        <p:spPr>
          <a:xfrm>
            <a:off x="8211312" y="2075688"/>
            <a:ext cx="3264408" cy="4078224"/>
          </a:xfrm>
          <a:prstGeom prst="rect">
            <a:avLst/>
          </a:prstGeom>
          <a:noFill/>
          <a:ln/>
        </p:spPr>
        <p:txBody>
          <a:bodyPr wrap="square" lIns="0" tIns="0" rIns="0" bIns="0" rtlCol="0" anchor="t"/>
          <a:lstStyle/>
          <a:p>
            <a:pPr marL="177800" indent="-177800">
              <a:spcAft>
                <a:spcPts val="600"/>
              </a:spcAft>
              <a:buSzPct val="100000"/>
              <a:buChar char="•"/>
            </a:pPr>
            <a:r>
              <a:rPr lang="en-US" sz="1800" b="1" dirty="0">
                <a:solidFill>
                  <a:schemeClr val="tx1"/>
                </a:solidFill>
              </a:rPr>
              <a:t>adjectif</a:t>
            </a:r>
            <a:r>
              <a:rPr lang="en-US" sz="1800" dirty="0">
                <a:solidFill>
                  <a:schemeClr val="tx1"/>
                </a:solidFill>
              </a:rPr>
              <a:t> + -heid : </a:t>
            </a:r>
            <a:r>
              <a:rPr lang="en-US" sz="1800" i="1" dirty="0">
                <a:solidFill>
                  <a:schemeClr val="tx1"/>
                </a:solidFill>
              </a:rPr>
              <a:t>afwezig → afwezigheid</a:t>
            </a:r>
            <a:endParaRPr lang="en-US" sz="1800" dirty="0"/>
          </a:p>
          <a:p>
            <a:pPr marL="177800" indent="-177800">
              <a:spcAft>
                <a:spcPts val="600"/>
              </a:spcAft>
              <a:buSzPct val="100000"/>
              <a:buChar char="•"/>
            </a:pPr>
            <a:r>
              <a:rPr lang="en-US" sz="1800" b="1" dirty="0">
                <a:solidFill>
                  <a:schemeClr val="tx1"/>
                </a:solidFill>
              </a:rPr>
              <a:t>verbe</a:t>
            </a:r>
            <a:r>
              <a:rPr lang="en-US" sz="1800" dirty="0">
                <a:solidFill>
                  <a:schemeClr val="tx1"/>
                </a:solidFill>
              </a:rPr>
              <a:t> + -ing : </a:t>
            </a:r>
            <a:r>
              <a:rPr lang="en-US" sz="1800" i="1" dirty="0">
                <a:solidFill>
                  <a:schemeClr val="tx1"/>
                </a:solidFill>
              </a:rPr>
              <a:t>verhogen → verhoging</a:t>
            </a:r>
            <a:endParaRPr lang="en-US" sz="1800" dirty="0"/>
          </a:p>
          <a:p>
            <a:pPr marL="177800" indent="-177800">
              <a:spcAft>
                <a:spcPts val="600"/>
              </a:spcAft>
              <a:buSzPct val="100000"/>
              <a:buChar char="•"/>
            </a:pPr>
            <a:r>
              <a:rPr lang="en-US" sz="1800" b="1" dirty="0">
                <a:solidFill>
                  <a:schemeClr val="tx1"/>
                </a:solidFill>
              </a:rPr>
              <a:t>mots latins</a:t>
            </a:r>
            <a:r>
              <a:rPr lang="en-US" sz="1800" dirty="0">
                <a:solidFill>
                  <a:schemeClr val="tx1"/>
                </a:solidFill>
              </a:rPr>
              <a:t> : </a:t>
            </a:r>
            <a:r>
              <a:rPr lang="en-US" sz="1800" i="1" dirty="0">
                <a:solidFill>
                  <a:schemeClr val="tx1"/>
                </a:solidFill>
              </a:rPr>
              <a:t>-atie, -ie</a:t>
            </a:r>
            <a:r>
              <a:rPr lang="en-US" sz="1800" dirty="0">
                <a:solidFill>
                  <a:schemeClr val="tx1"/>
                </a:solidFill>
              </a:rPr>
              <a:t> (organisatie, controle)</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bg1"/>
                </a:solidFill>
              </a:rPr>
              <a:t>Tot de volgende keer!</a:t>
            </a:r>
            <a:endParaRPr lang="en-US" sz="3200" dirty="0"/>
          </a:p>
        </p:txBody>
      </p:sp>
      <p:sp>
        <p:nvSpPr>
          <p:cNvPr id="3" name="tag"/>
          <p:cNvSpPr/>
          <p:nvPr/>
        </p:nvSpPr>
        <p:spPr>
          <a:xfrm>
            <a:off x="548640" y="237744"/>
            <a:ext cx="1988820"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chemeClr val="bg1"/>
                </a:solidFill>
              </a:rPr>
              <a:t>FIN DE SÉANCE</a:t>
            </a:r>
            <a:endParaRPr lang="en-US" sz="1200" dirty="0"/>
          </a:p>
        </p:txBody>
      </p:sp>
      <p:sp>
        <p:nvSpPr>
          <p:cNvPr id="4" name="Shape 2"/>
          <p:cNvSpPr/>
          <p:nvPr/>
        </p:nvSpPr>
        <p:spPr>
          <a:xfrm>
            <a:off x="548640" y="1554480"/>
            <a:ext cx="6035040" cy="3108960"/>
          </a:xfrm>
          <a:prstGeom prst="roundRect">
            <a:avLst>
              <a:gd name="adj" fmla="val 2941"/>
            </a:avLst>
          </a:prstGeom>
          <a:solidFill>
            <a:schemeClr val="bg1">
              <a:alpha val="10000"/>
            </a:schemeClr>
          </a:solidFill>
          <a:ln w="12700">
            <a:solidFill>
              <a:srgbClr val="EEF3F8"/>
            </a:solidFill>
            <a:prstDash val="solid"/>
          </a:ln>
        </p:spPr>
      </p:sp>
      <p:sp>
        <p:nvSpPr>
          <p:cNvPr id="5" name="Text 3"/>
          <p:cNvSpPr txBox="1"/>
          <p:nvPr/>
        </p:nvSpPr>
        <p:spPr>
          <a:xfrm>
            <a:off x="822960" y="1737360"/>
            <a:ext cx="5486400" cy="320040"/>
          </a:xfrm>
          <a:prstGeom prst="rect">
            <a:avLst/>
          </a:prstGeom>
          <a:noFill/>
          <a:ln/>
        </p:spPr>
        <p:txBody>
          <a:bodyPr wrap="square" lIns="0" tIns="0" rIns="0" bIns="0" rtlCol="0" anchor="ctr"/>
          <a:lstStyle/>
          <a:p>
            <a:pPr indent="0" marL="0">
              <a:buNone/>
            </a:pPr>
            <a:r>
              <a:rPr lang="en-US" sz="1300" b="1" spc="200" kern="0" dirty="0">
                <a:solidFill>
                  <a:schemeClr val="accent1"/>
                </a:solidFill>
              </a:rPr>
              <a:t>LA PROCHAINE FOIS</a:t>
            </a:r>
            <a:endParaRPr lang="en-US" sz="1300" dirty="0"/>
          </a:p>
        </p:txBody>
      </p:sp>
      <p:sp>
        <p:nvSpPr>
          <p:cNvPr id="6" name="Text 4"/>
          <p:cNvSpPr txBox="1"/>
          <p:nvPr/>
        </p:nvSpPr>
        <p:spPr>
          <a:xfrm>
            <a:off x="822960" y="2148840"/>
            <a:ext cx="5486400" cy="2377440"/>
          </a:xfrm>
          <a:prstGeom prst="rect">
            <a:avLst/>
          </a:prstGeom>
          <a:noFill/>
          <a:ln/>
        </p:spPr>
        <p:txBody>
          <a:bodyPr wrap="square" lIns="0" tIns="0" rIns="0" bIns="0" rtlCol="0" anchor="t"/>
          <a:lstStyle/>
          <a:p>
            <a:pPr indent="0" marL="0">
              <a:buNone/>
            </a:pPr>
            <a:r>
              <a:rPr lang="en-US" sz="2400" i="1" dirty="0">
                <a:solidFill>
                  <a:schemeClr val="bg1"/>
                </a:solidFill>
                <a:latin typeface="+mj-lt" pitchFamily="34" charset="0"/>
                <a:ea typeface="+mj-lt" pitchFamily="34" charset="-122"/>
                <a:cs typeface="+mj-lt" pitchFamily="34" charset="-120"/>
              </a:rPr>
              <a:t>Séance 13 : </a:t>
            </a:r>
            <a:r>
              <a:rPr lang="en-US" sz="2400" b="1" i="1" dirty="0">
                <a:solidFill>
                  <a:schemeClr val="bg1"/>
                </a:solidFill>
                <a:latin typeface="+mj-lt" pitchFamily="34" charset="0"/>
                <a:ea typeface="+mj-lt" pitchFamily="34" charset="-122"/>
                <a:cs typeface="+mj-lt" pitchFamily="34" charset="-120"/>
              </a:rPr>
              <a:t>argumenter</a:t>
            </a:r>
            <a:r>
              <a:rPr lang="en-US" sz="2400" i="1" dirty="0">
                <a:solidFill>
                  <a:schemeClr val="bg1"/>
                </a:solidFill>
                <a:latin typeface="+mj-lt" pitchFamily="34" charset="0"/>
                <a:ea typeface="+mj-lt" pitchFamily="34" charset="-122"/>
                <a:cs typeface="+mj-lt" pitchFamily="34" charset="-120"/>
              </a:rPr>
              <a:t>. </a:t>
            </a:r>
            <a:r>
              <a:rPr lang="en-US" sz="2400" i="1" dirty="0">
                <a:solidFill>
                  <a:schemeClr val="bg1"/>
                </a:solidFill>
                <a:latin typeface="+mj-lt" pitchFamily="34" charset="0"/>
                <a:ea typeface="+mj-lt" pitchFamily="34" charset="-122"/>
                <a:cs typeface="+mj-lt" pitchFamily="34" charset="-120"/>
              </a:rPr>
              <a:t>Enerzijds… anderzijds, echter, daarentegen, ten slotte</a:t>
            </a:r>
            <a:r>
              <a:rPr lang="en-US" sz="2400" i="1" dirty="0">
                <a:solidFill>
                  <a:schemeClr val="bg1"/>
                </a:solidFill>
                <a:latin typeface="+mj-lt" pitchFamily="34" charset="0"/>
                <a:ea typeface="+mj-lt" pitchFamily="34" charset="-122"/>
                <a:cs typeface="+mj-lt" pitchFamily="34" charset="-120"/>
              </a:rPr>
              <a:t> : les connecteurs qui transforment une opinion en </a:t>
            </a:r>
            <a:r>
              <a:rPr lang="en-US" sz="2400" b="1" i="1" dirty="0">
                <a:solidFill>
                  <a:schemeClr val="bg1"/>
                </a:solidFill>
                <a:latin typeface="+mj-lt" pitchFamily="34" charset="0"/>
                <a:ea typeface="+mj-lt" pitchFamily="34" charset="-122"/>
                <a:cs typeface="+mj-lt" pitchFamily="34" charset="-120"/>
              </a:rPr>
              <a:t>position</a:t>
            </a:r>
            <a:r>
              <a:rPr lang="en-US" sz="2400" i="1" dirty="0">
                <a:solidFill>
                  <a:schemeClr val="bg1"/>
                </a:solidFill>
                <a:latin typeface="+mj-lt" pitchFamily="34" charset="0"/>
                <a:ea typeface="+mj-lt" pitchFamily="34" charset="-122"/>
                <a:cs typeface="+mj-lt" pitchFamily="34" charset="-120"/>
              </a:rPr>
              <a:t>.</a:t>
            </a:r>
            <a:endParaRPr lang="en-US" sz="2400" dirty="0"/>
          </a:p>
        </p:txBody>
      </p:sp>
      <p:sp>
        <p:nvSpPr>
          <p:cNvPr id="7" name="Shape 5"/>
          <p:cNvSpPr/>
          <p:nvPr/>
        </p:nvSpPr>
        <p:spPr>
          <a:xfrm>
            <a:off x="6903720" y="1554480"/>
            <a:ext cx="4736592" cy="4709160"/>
          </a:xfrm>
          <a:prstGeom prst="roundRect">
            <a:avLst>
              <a:gd name="adj" fmla="val 1942"/>
            </a:avLst>
          </a:prstGeom>
          <a:solidFill>
            <a:schemeClr val="bg1"/>
          </a:solidFill>
          <a:ln/>
        </p:spPr>
      </p:sp>
      <p:pic>
        <p:nvPicPr>
          <p:cNvPr id="8" name="Image 0" descr="preencoded.png">    </p:cNvPr>
          <p:cNvPicPr>
            <a:picLocks noChangeAspect="1"/>
          </p:cNvPicPr>
          <p:nvPr/>
        </p:nvPicPr>
        <p:blipFill>
          <a:blip r:embed="rId1"/>
          <a:stretch>
            <a:fillRect/>
          </a:stretch>
        </p:blipFill>
        <p:spPr>
          <a:xfrm>
            <a:off x="7132320" y="1755648"/>
            <a:ext cx="365760" cy="365760"/>
          </a:xfrm>
          <a:prstGeom prst="rect">
            <a:avLst/>
          </a:prstGeom>
        </p:spPr>
      </p:pic>
      <p:sp>
        <p:nvSpPr>
          <p:cNvPr id="9" name="Text 6"/>
          <p:cNvSpPr txBox="1"/>
          <p:nvPr/>
        </p:nvSpPr>
        <p:spPr>
          <a:xfrm>
            <a:off x="7635240" y="1737360"/>
            <a:ext cx="3840480" cy="384048"/>
          </a:xfrm>
          <a:prstGeom prst="rect">
            <a:avLst/>
          </a:prstGeom>
          <a:noFill/>
          <a:ln/>
        </p:spPr>
        <p:txBody>
          <a:bodyPr wrap="square" lIns="0" tIns="0" rIns="0" bIns="0" rtlCol="0" anchor="ctr"/>
          <a:lstStyle/>
          <a:p>
            <a:pPr indent="0" marL="0">
              <a:buNone/>
            </a:pPr>
            <a:r>
              <a:rPr lang="en-US" sz="1400" b="1" spc="100" kern="0" dirty="0">
                <a:solidFill>
                  <a:schemeClr val="tx2"/>
                </a:solidFill>
              </a:rPr>
              <a:t>POUR LA PROCHAINE SÉANCE</a:t>
            </a:r>
            <a:endParaRPr lang="en-US" sz="1400" dirty="0"/>
          </a:p>
        </p:txBody>
      </p:sp>
      <p:sp>
        <p:nvSpPr>
          <p:cNvPr id="10" name="Text 7"/>
          <p:cNvSpPr txBox="1"/>
          <p:nvPr/>
        </p:nvSpPr>
        <p:spPr>
          <a:xfrm>
            <a:off x="7132320" y="2286000"/>
            <a:ext cx="4297680" cy="3840480"/>
          </a:xfrm>
          <a:prstGeom prst="rect">
            <a:avLst/>
          </a:prstGeom>
          <a:noFill/>
          <a:ln/>
        </p:spPr>
        <p:txBody>
          <a:bodyPr wrap="square" lIns="0" tIns="0" rIns="0" bIns="0" rtlCol="0" anchor="t"/>
          <a:lstStyle/>
          <a:p>
            <a:pPr marL="190500" indent="-190500">
              <a:spcAft>
                <a:spcPts val="800"/>
              </a:spcAft>
              <a:buSzPct val="100000"/>
              <a:buChar char="•"/>
            </a:pPr>
            <a:r>
              <a:rPr lang="en-US" sz="1700" dirty="0">
                <a:solidFill>
                  <a:schemeClr val="tx1"/>
                </a:solidFill>
              </a:rPr>
              <a:t>Apprendre les </a:t>
            </a:r>
            <a:r>
              <a:rPr lang="en-US" sz="1700" b="1" dirty="0">
                <a:solidFill>
                  <a:schemeClr val="tx1"/>
                </a:solidFill>
              </a:rPr>
              <a:t>quatre procédés</a:t>
            </a:r>
            <a:r>
              <a:rPr lang="en-US" sz="1700" dirty="0">
                <a:solidFill>
                  <a:schemeClr val="tx1"/>
                </a:solidFill>
              </a:rPr>
              <a:t> de nominalisation (p. 8) avec deux exemples chacun.</a:t>
            </a:r>
            <a:endParaRPr lang="en-US" sz="1700" dirty="0"/>
          </a:p>
          <a:p>
            <a:pPr marL="190500" indent="-190500">
              <a:spcAft>
                <a:spcPts val="800"/>
              </a:spcAft>
              <a:buSzPct val="100000"/>
              <a:buChar char="•"/>
            </a:pPr>
            <a:r>
              <a:rPr lang="en-US" sz="1700" dirty="0">
                <a:solidFill>
                  <a:schemeClr val="tx1"/>
                </a:solidFill>
              </a:rPr>
              <a:t>Terminer la </a:t>
            </a:r>
            <a:r>
              <a:rPr lang="en-US" sz="1700" b="1" dirty="0">
                <a:solidFill>
                  <a:schemeClr val="tx1"/>
                </a:solidFill>
              </a:rPr>
              <a:t>lettre au syndic</a:t>
            </a:r>
            <a:r>
              <a:rPr lang="en-US" sz="1700" dirty="0">
                <a:solidFill>
                  <a:schemeClr val="tx1"/>
                </a:solidFill>
              </a:rPr>
              <a:t> (TAAK 2) : 8 à 10 phrases, registre formel.</a:t>
            </a:r>
            <a:endParaRPr lang="en-US" sz="1700" dirty="0"/>
          </a:p>
          <a:p>
            <a:pPr marL="190500" indent="-190500">
              <a:spcAft>
                <a:spcPts val="800"/>
              </a:spcAft>
              <a:buSzPct val="100000"/>
              <a:buChar char="•"/>
            </a:pPr>
            <a:r>
              <a:rPr lang="en-US" sz="1700" dirty="0">
                <a:solidFill>
                  <a:schemeClr val="tx1"/>
                </a:solidFill>
              </a:rPr>
              <a:t>Rédiger l’</a:t>
            </a:r>
            <a:r>
              <a:rPr lang="en-US" sz="1700" b="1" dirty="0">
                <a:solidFill>
                  <a:schemeClr val="tx1"/>
                </a:solidFill>
              </a:rPr>
              <a:t>affiche</a:t>
            </a:r>
            <a:r>
              <a:rPr lang="en-US" sz="1700" dirty="0">
                <a:solidFill>
                  <a:schemeClr val="tx1"/>
                </a:solidFill>
              </a:rPr>
              <a:t> du hall (D2) et la relire à voix haute.</a:t>
            </a:r>
            <a:endParaRPr lang="en-US" sz="1700" dirty="0"/>
          </a:p>
        </p:txBody>
      </p:sp>
      <p:sp>
        <p:nvSpPr>
          <p:cNvPr id="11" name="Shape 8"/>
          <p:cNvSpPr/>
          <p:nvPr/>
        </p:nvSpPr>
        <p:spPr>
          <a:xfrm>
            <a:off x="548640" y="4892040"/>
            <a:ext cx="6035040" cy="1371600"/>
          </a:xfrm>
          <a:prstGeom prst="roundRect">
            <a:avLst>
              <a:gd name="adj" fmla="val 6667"/>
            </a:avLst>
          </a:prstGeom>
          <a:solidFill>
            <a:schemeClr val="accent1"/>
          </a:solidFill>
          <a:ln/>
        </p:spPr>
      </p:sp>
      <p:sp>
        <p:nvSpPr>
          <p:cNvPr id="12" name="Text 9"/>
          <p:cNvSpPr txBox="1"/>
          <p:nvPr/>
        </p:nvSpPr>
        <p:spPr>
          <a:xfrm>
            <a:off x="777240" y="4983480"/>
            <a:ext cx="5623560" cy="1188720"/>
          </a:xfrm>
          <a:prstGeom prst="rect">
            <a:avLst/>
          </a:prstGeom>
          <a:noFill/>
          <a:ln/>
        </p:spPr>
        <p:txBody>
          <a:bodyPr wrap="square" lIns="0" tIns="0" rIns="0" bIns="0" rtlCol="0" anchor="ctr"/>
          <a:lstStyle/>
          <a:p>
            <a:pPr indent="0" marL="0">
              <a:buNone/>
            </a:pPr>
            <a:r>
              <a:rPr lang="en-US" sz="1300" b="1" spc="100" kern="0" dirty="0">
                <a:solidFill>
                  <a:schemeClr val="bg1"/>
                </a:solidFill>
              </a:rPr>
              <a:t>TICKET DE SORTIE  </a:t>
            </a:r>
            <a:endParaRPr lang="en-US" sz="1300" dirty="0"/>
          </a:p>
          <a:p>
            <a:pPr indent="0" marL="0">
              <a:buNone/>
            </a:pPr>
            <a:r>
              <a:rPr lang="en-US" sz="1600" dirty="0">
                <a:solidFill>
                  <a:schemeClr val="bg1"/>
                </a:solidFill>
              </a:rPr>
              <a:t>Nominalisez : </a:t>
            </a:r>
            <a:r>
              <a:rPr lang="en-US" sz="1600" b="1" dirty="0">
                <a:solidFill>
                  <a:schemeClr val="bg1"/>
                </a:solidFill>
              </a:rPr>
              <a:t>We verdelen de kosten.</a:t>
            </a:r>
            <a:r>
              <a:rPr lang="en-US" sz="1600" dirty="0">
                <a:solidFill>
                  <a:schemeClr val="bg1"/>
                </a:solidFill>
              </a:rPr>
              <a:t> et </a:t>
            </a:r>
            <a:r>
              <a:rPr lang="en-US" sz="1600" b="1" dirty="0">
                <a:solidFill>
                  <a:schemeClr val="bg1"/>
                </a:solidFill>
              </a:rPr>
              <a:t>We stellen de werken uit.</a:t>
            </a:r>
            <a:endParaRPr lang="en-US" sz="13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EF3F8"/>
                </a:solidFill>
              </a:defRPr>
            </a:lvl1pPr>
          </a:lstStyle>
          <a:p>
            <a:pPr algn="r"/>
            <a:fld id="{F7021451-1387-4CA6-816F-3879F97B5CBC}" type="slidenum">
              <a:rPr b="0" lang="en-US"/>
              <a:t>22</a:t>
            </a:fld>
            <a:endParaRPr lang="en-US"/>
          </a:p>
        </p:txBody>
      </p:sp>
    </p:spTree>
  </p:cSld>
  <p:clrMapOvr>
    <a:masterClrMapping/>
  </p:clrMapOvr>
</p:sld>
</file>

<file path=ppt/theme/theme1.xml><?xml version="1.0" encoding="utf-8"?>
<a:theme xmlns:a="http://schemas.openxmlformats.org/drawingml/2006/main" name="Nederlands B1 vastgoed">
  <a:themeElements>
    <a:clrScheme name="Nederlands B1 vastgoed">
      <a:dk1>
        <a:srgbClr val="1B2333"/>
      </a:dk1>
      <a:lt1>
        <a:srgbClr val="FFFFFF"/>
      </a:lt1>
      <a:dk2>
        <a:srgbClr val="17375E"/>
      </a:dk2>
      <a:lt2>
        <a:srgbClr val="EEF3F8"/>
      </a:lt2>
      <a:accent1>
        <a:srgbClr val="D9700F"/>
      </a:accent1>
      <a:accent2>
        <a:srgbClr val="2A6FB0"/>
      </a:accent2>
      <a:accent3>
        <a:srgbClr val="2E7D4F"/>
      </a:accent3>
      <a:accent4>
        <a:srgbClr val="B4236A"/>
      </a:accent4>
      <a:accent5>
        <a:srgbClr val="4A5A70"/>
      </a:accent5>
      <a:accent6>
        <a:srgbClr val="B83227"/>
      </a:accent6>
      <a:hlink>
        <a:srgbClr val="2A6FB0"/>
      </a:hlink>
      <a:folHlink>
        <a:srgbClr val="B4236A"/>
      </a:folHlink>
    </a:clrScheme>
    <a:fontScheme name="Nederlands B1 vastgoed">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IRAM — Néerlandais 3 (B1)</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Séance 12 — De officiële taal</dc:title>
  <dc:subject>Néerlandais B1 — immobilier et vie quotidienne (Yasmina &amp; Stef)</dc:subject>
  <dc:creator>A. Jouniaux</dc:creator>
  <cp:lastModifiedBy>A. Jouniaux</cp:lastModifiedBy>
  <cp:revision>1</cp:revision>
  <dcterms:created xsi:type="dcterms:W3CDTF">2026-10-03T21:59:51Z</dcterms:created>
  <dcterms:modified xsi:type="dcterms:W3CDTF">2026-10-03T21:59:51Z</dcterms:modified>
</cp:coreProperties>
</file>