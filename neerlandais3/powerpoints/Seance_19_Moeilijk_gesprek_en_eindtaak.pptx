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e8e4edd6-a7f0-b6aa-a105-814e4bebf6a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Clôture" id="{8a48c4a5-2888-4c5d-06d8-6b82f2fbc104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Dernière séance du palier 8 et de toute la série. Séquence 8.5 : le moment le plus délicat du métier, face à un propriétaire déçu (meneer Janssens attendait € 500.000, le rapport dit € 445.000–465.000) : concéder, objectiver, conseiller. Exercice 7, TAAK 5 (le moeilijke gesprek) et D5 (la note de restaurant qui ne tombe pas juste). Séquence 8.6 : la tâche finale TAAK 6, le schattingsgesprek complet — préparation (étape 1), entretien devant un autre binôme (étape 2), courriel de suivi (étape 3, à la maison) — et sa variante vie quotidienne. Pages couvertes : p. 16 à 20a du livret.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 : séance très chargée car elle réunit la séquence 8.5 et la tâche finale. Pages 16 à 20a du livret. Priorités si le temps manque : exercice 7, TAAK 5 (une seule ronde), l’étape 1 et l’étape 2 de la TAAK 6. D5 peut se limiter à la vérification de l’addition et à un jeu de rôle court ; l’étape 3 (le courriel de 10 à 12 phrases) se fait à la maison. L’étape 2 peut être jouée en deux temps : rôles A puis B, un binôme à la fois devant l’autre.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18 : met pour l’écart, van … naar pour départ → arrivée, passif du rapport avec tussen … en …, zou + infinitif en fin de phrase, gemiddeld. Ces outils servent directement dans le gesprek difficile et dans la TAAK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18 : met pour l’écart, van … naar pour départ → arrivée, passif du rapport avec tussen … en …, zou + infinitif en fin de phrase, gemiddeld. Ces outils servent directement dans le gesprek difficile et dans la TAAK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moment décide du mandat… et de la réputation de l’agent. Rappeler la ligne 7 du dialogue 8 (séance 16) : « Hij verwacht vijfhonderdduizend euro, terwijl de vergelijkbare verkopen rond de vierhonderdvijftigduizend liggen. » La boîte à phrases de la diapositive suivante donne cinq fonctions : accueillir l’émotion, concéder et objectiver, corréler, évoquer le risque, proposer.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chaque phrase avec le bon ton (calme, posé), puis la faire répéter. De vraagprijs = le prix demandé ; afschrikken = dissuader, effrayer. Coquille possible du livret : « Wat zou u ervan denken om te starten op € 469.000? » est calqué sur le français ; plus idiomatique : « Wat zou u ervan vinden om te starten op € 469.000? » ou « Wat zou u ervan vinden als we starten op € 469.000? ». Les trois formulations sont comprises ; la phrase du livret est conservée sur la diapositive. Dans la 3e phrase, le verbe est omis (« Hoe realistischer de vraagprijs is, hoe sneller de verkoop verloopt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l’ordre des mots. Concession : weliswaar (V2 normal : « Uw verwachting is weliswaar begrijpelijk »), puis « maar » + proposition principale (ordre normal sujet–verbe). Corrélation : le livret élide les verbes (« Hoe realistischer de vraagprijs, hoe sneller de verkoop ») ; la version complète figure sur la diapositive. Conditionnel : zou + objet + deux infinitifs groupés en fin de phrase (kunnen afschrikken). Le piège pour francophones est de croire que « maar » (comme « omdat ») envoie le verbe à la fin : seules les conjonctions de subordination le font.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Coquille du livret : le titre « Reageer professionnel » est un mélange de français et de néerlandais ; en néerlandais : « Reageer professioneel ». Réponses libres, ces modèles sont indicatifs : exiger toujours une concession (« Ik begrijp … », « weliswaar … maar ») et un chiffre ou une corrélation hoe … hoe …, puis faire dire à voix haute. Item 2 : pand B (142 m², quatre chambres, instapklaar) est en fait légèrement plus grand que la maison Janssens (140 m²) : l’affirmation « voor een kleiner huis » est inexacte, argument à exploiter. Item 3 : la prévision de la marktfiche (stabiel, ≈ + 2 %) montre que le gain d’attente est faible. Item 4 : ne pas dénigrer l’autre agence ; demander ses preuves. L’accent sur « méér » est le ton du propriétaire (insistance).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Coquille du livret : le titre « Reageer professionnel » est un mélange de français et de néerlandais ; en néerlandais : « Reageer professioneel ». Réponses libres, ces modèles sont indicatifs : exiger toujours une concession (« Ik begrijp … », « weliswaar … maar ») et un chiffre ou une corrélation hoe … hoe …, puis faire dire à voix haute. Item 2 : pand B (142 m², quatre chambres, instapklaar) est en fait légèrement plus grand que la maison Janssens (140 m²) : l’affirmation « voor een kleiner huis » est inexacte, argument à exploiter. Item 3 : la prévision de la marktfiche (stabiel, ≈ + 2 %) montre que le gain d’attente est faible. Item 4 : ne pas dénigrer l’autre agence ; demander ses preuves. L’accent sur « méér » est le ton du propriétaire (insistance).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Couche 3 · binômes ou trios (un observateur), deux rondes de 6 minutes avec inversion des rôles : prévoir 14 minutes en tout, observateur compris. Le makelaar vouvoie (u-vorm). Distribuer au propriétaire une carte de situation que l’agent ne voit pas. Passer dans les groupes : relever les chiffres inexacts, les concessions absentes, les « maar » suivis de verbe final, puis reprendre en grand groupe.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 : modèle de défense d’estimation, à projeter après la TAAK 5 (ou avant, pour les groupes qui hésitent). À repérer : accueil de l’émotion (ligne 1), objectivation chiffrée (ligne 3), concession weliswaar … maar (ligne 3), corrélation (lignes 5 et 7), risque au conditionnel (ligne 7), proposition qui laisse le choix (ligne 9). Remarquer que Yasmina ne gonfle jamais ses chiffres et ne promet pas € 500.000. Ruimte om te onderhandelen = marge de négociation.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Activité de vérification, 3 minutes. L’addition imprimée est arithmétiquement juste (59,00 + 33,60 + 11,40 + 6,50 + 9,50 = 120,00) mais elle contient deux lignes de trop : deux portions de kroketten au lieu d’une (16,80 × 2) et trois pintjes au lieu de deux (3,80 × 3). Bon total : 59,00 + 16,80 + 7,60 + 6,50 + 9,50 = 99,40 € ; à dire : « negenennegentig euro veertig ». Si seule l’erreur des kroketten est réelle (carte ② : Lotte a commandé un troisième pintje au bar), le total est 103,20 €. Le livret regroupe « 1 × fles bruisend water, 1 × dame blanche » sur une seule ligne ; ici deux lignes pour la lisibilité.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Activité de vérification, 3 minutes. L’addition imprimée est arithmétiquement juste (59,00 + 33,60 + 11,40 + 6,50 + 9,50 = 120,00) mais elle contient deux lignes de trop : deux portions de kroketten au lieu d’une (16,80 × 2) et trois pintjes au lieu de deux (3,80 × 3). Bon total : 59,00 + 16,80 + 7,60 + 6,50 + 9,50 = 99,40 € ; à dire : « negenennegentig euro veertig ». Si seule l’erreur des kroketten est réelle (carte ② : Lotte a commandé un troisième pintje au bar), le total est 103,20 €. Le livret regroupe « 1 × fles bruisend water, 1 × dame blanche » sur une seule ligne ; ici deux lignes pour la lisibilité.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Lexique de l’addition. « Ik denk dat er een fout in de rekening staat » : après « dat », le verbe est à la fin (staat). « Maar één portie » = seulement une portion (maar = slechts). « Houd het wisselgeld maar » : l’impératif de politesse avec « maar » = gardez, ce n’est pas nécessaire.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Jeu de rôle en binômes, 2 × 4 minutes. Cartes de situation pour le serveur : ① les deux erreurs sont réelles ; ② une seule l’est (le troisième pintje a bien été pris au bar : le serveur le défend avec les faits) ; ③ le serveur est nouveau et stressé, le client doit rester patient. Phrases utiles : « Ik denk dat er een fout in de rekening staat. », « We hebben maar één portie gehad. », « Dat klopt, mijn excuses. » Autonomie : rejouer la scène avec un ticket ou une facture que l’étudiant a réellement reçu.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Séquence 8.6 : la tâche finale de la série des paliers 5 à 8 ; tout le néerlandais professionnel en une visite. Les trois étapes : préparation en binôme (étape 1), entretien complet devant un autre binôme (étape 2), courriel de suivi à la maison (étape 3). L’illustration montre l’agent et le couple propriétaire autour des documents du rapport.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Étape 1 : les binômes choisissent un dossier et préparent leurs mots-clés (pas de texte rédigé). La checklist du livret fixe les minimums : 8 chiffres, 4 structures comparatives, 3 verbes d’évolution, 3 concessions ou connecteurs, 10 mots du lexique de l’estimation. Pitch de l’agence avec une relative de crédibilité (palier 5) : « Wij zijn het kantoor dat … » (le verbe conjugué part à la fin). Exemples du lexique : de schatting, de marktwaarde, de vergelijkingspunten, de fourchette (bandbreedte), de vraagprijs, de opdracht, het mandaat.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Étape 2 : 20 minutes au total, soit environ 8 minutes par entretien et 2 minutes de retour pour chaque observation, avec inversion des rôles. Le couple propriétaire formule au moins trois objections, dont une chiffrée (« Een andere makelaar schatte € 490.000. », « Dat is € 50.000 minder dan ik verwachtte! »). Évaluer avec la checklist de l’étape 1 : chiffres, structures comparatives, verbes d’évolution, concessions, lexique. Le but : du bonjour au mandat signé, sans lire.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Étape 3 : à rédiger à la maison ou à finir en classe s’il reste du temps (10 à 12 phrases). Registre formel : « Geachte meneer … », « Met vriendelijke groeten ». La phrase conditionnée emploie « zodra » (subordonnée : verbe à la fin) et le passif : « Zodra u de opdracht tekent, wordt de advertentie gepubliceerd. » Cette lettre est la dernière pièce du dossier de la série. Un modèle est projeté sur la diapositive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 : modèle de courriel de suivi (10 phrases). À repérer : remerciement, synthèse chiffrée au passif (wordt geschat tussen … en …), évolution (met 4,2 % gestegen), concession (weliswaar … maar), corrélation (hoe … hoe …), conditionnel (zouden … aanraden, zou … kunnen verhogen), étape conditionnée (zodra … wordt … gepubliceerd). Les étudiants adaptent le modèle à leur dossier et à SON objection principale.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pour les étudiants qui préfèrent un dossier de la vie courante : un projet de sortie ou de week-end plutôt qu’une estimation, avec de vraies données. Même déroulé en trois étapes (préparation, entretien avec un couple d’amis, message au groupe). L’évolution à citer : « De prijzen zijn sinds vorig jaar met … gestegen. » La conclusion : « Zouden jullie akkoord gaan met …? » Même checklist, avec le lexique des activités D1 à D5 (train, trajet, météo, avis, addition).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Auto-évaluation de fin de palier (et de fin de série). Chaque étudiant coche individuellement, puis choisit deux points à retravailler seul. Les points non cochés renvoient à la séance correspondante : 16 (chiffres, heure, TAAK 1), 17 (comparer, TAAK 2), 18 (évolution, rapport, TAAK 3 et 4), 19 (défendre, TAAK 5 et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oral : « Uw verwachting is weliswaar begrijpelijk, maar de marktwaarde ligt tussen € 445.000 en € 465.000. » Féliciter la classe : c’est le dernier palier de la série. Récupérer les opvolgingsmails à la prochaine rencontre pour une correction individuelle.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3 · B1 · Yasmina &amp; Stef · Séance 19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3 · B1 · Yasmina &amp; Stef · Séance 19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3 · B1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19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SÉQUENCES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8.5 · 8.6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Het moeilijke gesprek — eindtaak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Défendre son estimation, puis tout jouer d’une traite : TAAK 5 et TAAK 6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Palier 8 · Schatting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16–20a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2120"/>
            <a:ext cx="5120640" cy="341376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16–20a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Répondre à un propriétaire déçu (</a:t>
            </a:r>
            <a:r>
              <a:rPr lang="en-US" sz="1500" b="1" dirty="0">
                <a:solidFill>
                  <a:schemeClr val="tx1"/>
                </a:solidFill>
              </a:rPr>
              <a:t>concéder + objectiver + conseiller</a:t>
            </a:r>
            <a:r>
              <a:rPr lang="en-US" sz="1500" dirty="0">
                <a:solidFill>
                  <a:schemeClr val="tx1"/>
                </a:solidFill>
              </a:rPr>
              <a:t>), puis </a:t>
            </a:r>
            <a:r>
              <a:rPr lang="en-US" sz="1500" b="1" dirty="0">
                <a:solidFill>
                  <a:schemeClr val="tx1"/>
                </a:solidFill>
              </a:rPr>
              <a:t>jouer l’entretien complet</a:t>
            </a:r>
            <a:r>
              <a:rPr lang="en-US" sz="1500" dirty="0">
                <a:solidFill>
                  <a:schemeClr val="tx1"/>
                </a:solidFill>
              </a:rPr>
              <a:t> d’estimation, du bonjour au mandat.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begrijp uw teleurstelling · weliswaar … maar · hoe realistischer, hoe sneller · zou … kunnen · Zou u ons de opdracht willen toevertrouwen?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Réagir à des objections (ex. 7) · jouer la TAAK 5 · corriger une addition (D5) · préparer et jouer la TAAK 6 · planifier l’opvolgingsmail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596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596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Échauffement : séance 18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51402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5140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42887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8.5 : la boîte à phrases · la concession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42887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30683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306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98323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Ex. 7 · reageer professioneel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98323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6227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622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53758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TAAK 5 · het moeilijke gesprek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53758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14'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417709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4177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409194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D5 · de rekening klopt niet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409194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73144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7314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64629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TAAK 6 : consignes · étape 1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64629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52858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5285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520065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TAAK 6 : étape 2 (l’entretien)</a:t>
            </a:r>
            <a:endParaRPr lang="en-US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520065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8401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8401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75500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Étape 3 · bilan de la série</a:t>
            </a:r>
            <a:endParaRPr lang="en-US" sz="16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75500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Rappel séance 18 : marché et rapport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Seul, 4 min, puis correction orale.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De prijzen zijn </a:t>
            </a:r>
            <a:r>
              <a:rPr lang="en-US" sz="2600" dirty="0">
                <a:solidFill>
                  <a:schemeClr val="accent5"/>
                </a:solidFill>
              </a:rPr>
              <a:t>……………</a:t>
            </a:r>
            <a:r>
              <a:rPr lang="en-US" sz="2600" dirty="0">
                <a:solidFill>
                  <a:schemeClr val="tx1"/>
                </a:solidFill>
              </a:rPr>
              <a:t> 4,2 % gestegen.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De kans op regen verdubbelt: </a:t>
            </a:r>
            <a:r>
              <a:rPr lang="en-US" sz="2600" dirty="0">
                <a:solidFill>
                  <a:schemeClr val="accent5"/>
                </a:solidFill>
              </a:rPr>
              <a:t>……………</a:t>
            </a:r>
            <a:r>
              <a:rPr lang="en-US" sz="2600" dirty="0">
                <a:solidFill>
                  <a:schemeClr val="tx1"/>
                </a:solidFill>
              </a:rPr>
              <a:t> twintig </a:t>
            </a:r>
            <a:r>
              <a:rPr lang="en-US" sz="2600" dirty="0">
                <a:solidFill>
                  <a:schemeClr val="accent5"/>
                </a:solidFill>
              </a:rPr>
              <a:t>……………</a:t>
            </a:r>
            <a:r>
              <a:rPr lang="en-US" sz="2600" dirty="0">
                <a:solidFill>
                  <a:schemeClr val="tx1"/>
                </a:solidFill>
              </a:rPr>
              <a:t> veertig procent.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Rapport, au passif : « On estime la valeur entre 445.000 et 465.000 €. »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Avec </a:t>
            </a:r>
            <a:r>
              <a:rPr lang="en-US" sz="2600" b="1" dirty="0">
                <a:solidFill>
                  <a:schemeClr val="tx1"/>
                </a:solidFill>
              </a:rPr>
              <a:t>zou</a:t>
            </a:r>
            <a:r>
              <a:rPr lang="en-US" sz="2600" dirty="0">
                <a:solidFill>
                  <a:schemeClr val="tx1"/>
                </a:solidFill>
              </a:rPr>
              <a:t> : « Rénover la cuisine pourrait augmenter la valeur de 20.000 €. »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5.  </a:t>
            </a:r>
            <a:r>
              <a:rPr lang="en-US" sz="2600" dirty="0">
                <a:solidFill>
                  <a:schemeClr val="tx1"/>
                </a:solidFill>
              </a:rPr>
              <a:t>Une moyenne : « En moyenne, une vente dure 74 jours. »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Rappel séance 18 : marché et rapport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53288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18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Seul, 4 min, puis correction orale.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1.  </a:t>
            </a:r>
            <a:r>
              <a:rPr lang="en-US" sz="1800" dirty="0">
                <a:solidFill>
                  <a:schemeClr val="tx1"/>
                </a:solidFill>
              </a:rPr>
              <a:t>De prijzen zijn </a:t>
            </a:r>
            <a:r>
              <a:rPr lang="en-US" sz="1800" dirty="0">
                <a:solidFill>
                  <a:schemeClr val="accent5"/>
                </a:solidFill>
              </a:rPr>
              <a:t>……………</a:t>
            </a:r>
            <a:r>
              <a:rPr lang="en-US" sz="1800" dirty="0">
                <a:solidFill>
                  <a:schemeClr val="tx1"/>
                </a:solidFill>
              </a:rPr>
              <a:t> 4,2 % gestegen.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b="1" dirty="0">
                <a:solidFill>
                  <a:schemeClr val="accent3"/>
                </a:solidFill>
              </a:rPr>
              <a:t>met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2.  </a:t>
            </a:r>
            <a:r>
              <a:rPr lang="en-US" sz="1800" dirty="0">
                <a:solidFill>
                  <a:schemeClr val="tx1"/>
                </a:solidFill>
              </a:rPr>
              <a:t>De kans op regen verdubbelt: </a:t>
            </a:r>
            <a:r>
              <a:rPr lang="en-US" sz="1800" dirty="0">
                <a:solidFill>
                  <a:schemeClr val="accent5"/>
                </a:solidFill>
              </a:rPr>
              <a:t>……………</a:t>
            </a:r>
            <a:r>
              <a:rPr lang="en-US" sz="1800" dirty="0">
                <a:solidFill>
                  <a:schemeClr val="tx1"/>
                </a:solidFill>
              </a:rPr>
              <a:t> twintig </a:t>
            </a:r>
            <a:r>
              <a:rPr lang="en-US" sz="1800" dirty="0">
                <a:solidFill>
                  <a:schemeClr val="accent5"/>
                </a:solidFill>
              </a:rPr>
              <a:t>……………</a:t>
            </a:r>
            <a:r>
              <a:rPr lang="en-US" sz="1800" dirty="0">
                <a:solidFill>
                  <a:schemeClr val="tx1"/>
                </a:solidFill>
              </a:rPr>
              <a:t> veertig procent.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b="1" dirty="0">
                <a:solidFill>
                  <a:schemeClr val="accent3"/>
                </a:solidFill>
              </a:rPr>
              <a:t>van</a:t>
            </a:r>
            <a:r>
              <a:rPr lang="en-US" sz="1800" dirty="0">
                <a:solidFill>
                  <a:schemeClr val="accent3"/>
                </a:solidFill>
              </a:rPr>
              <a:t> twintig </a:t>
            </a:r>
            <a:r>
              <a:rPr lang="en-US" sz="1800" b="1" dirty="0">
                <a:solidFill>
                  <a:schemeClr val="accent3"/>
                </a:solidFill>
              </a:rPr>
              <a:t>naar</a:t>
            </a:r>
            <a:r>
              <a:rPr lang="en-US" sz="1800" dirty="0">
                <a:solidFill>
                  <a:schemeClr val="accent3"/>
                </a:solidFill>
              </a:rPr>
              <a:t> veertig procent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3.  </a:t>
            </a:r>
            <a:r>
              <a:rPr lang="en-US" sz="1800" dirty="0">
                <a:solidFill>
                  <a:schemeClr val="tx1"/>
                </a:solidFill>
              </a:rPr>
              <a:t>Rapport, au passif : « On estime la valeur entre 445.000 et 465.000 €. »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De marktwaarde </a:t>
            </a:r>
            <a:r>
              <a:rPr lang="en-US" sz="1800" b="1" dirty="0">
                <a:solidFill>
                  <a:schemeClr val="accent3"/>
                </a:solidFill>
              </a:rPr>
              <a:t>wordt geschat</a:t>
            </a:r>
            <a:r>
              <a:rPr lang="en-US" sz="1800" dirty="0">
                <a:solidFill>
                  <a:schemeClr val="accent3"/>
                </a:solidFill>
              </a:rPr>
              <a:t> tussen € 445.000 </a:t>
            </a:r>
            <a:r>
              <a:rPr lang="en-US" sz="1800" b="1" dirty="0">
                <a:solidFill>
                  <a:schemeClr val="accent3"/>
                </a:solidFill>
              </a:rPr>
              <a:t>en</a:t>
            </a:r>
            <a:r>
              <a:rPr lang="en-US" sz="1800" dirty="0">
                <a:solidFill>
                  <a:schemeClr val="accent3"/>
                </a:solidFill>
              </a:rPr>
              <a:t> € 465.000.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4.  </a:t>
            </a:r>
            <a:r>
              <a:rPr lang="en-US" sz="1800" dirty="0">
                <a:solidFill>
                  <a:schemeClr val="tx1"/>
                </a:solidFill>
              </a:rPr>
              <a:t>Avec </a:t>
            </a:r>
            <a:r>
              <a:rPr lang="en-US" sz="1800" b="1" dirty="0">
                <a:solidFill>
                  <a:schemeClr val="tx1"/>
                </a:solidFill>
              </a:rPr>
              <a:t>zou</a:t>
            </a:r>
            <a:r>
              <a:rPr lang="en-US" sz="1800" dirty="0">
                <a:solidFill>
                  <a:schemeClr val="tx1"/>
                </a:solidFill>
              </a:rPr>
              <a:t> : « Rénover la cuisine pourrait augmenter la valeur de 20.000 €. »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dirty="0">
                <a:solidFill>
                  <a:schemeClr val="accent3"/>
                </a:solidFill>
              </a:rPr>
              <a:t>Een vernieuwing van de keuken </a:t>
            </a:r>
            <a:r>
              <a:rPr lang="en-US" sz="1800" b="1" dirty="0">
                <a:solidFill>
                  <a:schemeClr val="accent3"/>
                </a:solidFill>
              </a:rPr>
              <a:t>zou</a:t>
            </a:r>
            <a:r>
              <a:rPr lang="en-US" sz="1800" dirty="0">
                <a:solidFill>
                  <a:schemeClr val="accent3"/>
                </a:solidFill>
              </a:rPr>
              <a:t> de waarde met € 20.000 </a:t>
            </a:r>
            <a:r>
              <a:rPr lang="en-US" sz="1800" b="1" dirty="0">
                <a:solidFill>
                  <a:schemeClr val="accent3"/>
                </a:solidFill>
              </a:rPr>
              <a:t>kunnen</a:t>
            </a:r>
            <a:r>
              <a:rPr lang="en-US" sz="1800" dirty="0">
                <a:solidFill>
                  <a:schemeClr val="accent3"/>
                </a:solidFill>
              </a:rPr>
              <a:t> verhogen.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5.  </a:t>
            </a:r>
            <a:r>
              <a:rPr lang="en-US" sz="1800" dirty="0">
                <a:solidFill>
                  <a:schemeClr val="tx1"/>
                </a:solidFill>
              </a:rPr>
              <a:t>Une moyenne : « En moyenne, une vente dure 74 jours. »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b="1" dirty="0">
                <a:solidFill>
                  <a:schemeClr val="accent3"/>
                </a:solidFill>
              </a:rPr>
              <a:t>Gemiddeld</a:t>
            </a:r>
            <a:r>
              <a:rPr lang="en-US" sz="1800" dirty="0">
                <a:solidFill>
                  <a:schemeClr val="accent3"/>
                </a:solidFill>
              </a:rPr>
              <a:t> duurt een verkoop 74 dagen.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Séquence 8.5 : le moment le plus délicat du métier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FOCUS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Livret p. 16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91640"/>
            <a:ext cx="1004011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 céder, ni braquer : concéder, objectiver, conseiller.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3346704"/>
            <a:ext cx="10040112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Meneer Janssens attendait </a:t>
            </a:r>
            <a:r>
              <a:rPr lang="en-US" sz="2000" b="1" dirty="0">
                <a:solidFill>
                  <a:schemeClr val="bg2"/>
                </a:solidFill>
              </a:rPr>
              <a:t>€ 500.000</a:t>
            </a:r>
            <a:r>
              <a:rPr lang="en-US" sz="2000" dirty="0">
                <a:solidFill>
                  <a:schemeClr val="bg2"/>
                </a:solidFill>
              </a:rPr>
              <a:t> ; votre rapport dit </a:t>
            </a:r>
            <a:r>
              <a:rPr lang="en-US" sz="2000" b="1" dirty="0">
                <a:solidFill>
                  <a:schemeClr val="bg2"/>
                </a:solidFill>
              </a:rPr>
              <a:t>€ 445.000 – 465.000</a:t>
            </a:r>
            <a:r>
              <a:rPr lang="en-US" sz="2000" dirty="0">
                <a:solidFill>
                  <a:schemeClr val="bg2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Sa déception est légitime — votre estimation aussi.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Concéder (palier 7) · objectiver (chiffres, séquences 8.1 à 8.3) · conseiller (zou, palier 6).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 boîte à phrases du gesprek difficile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16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770839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FONCTION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934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accueillir l’émotion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Ik begrijp uw teleurstelling.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034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concéder + objectiver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Uw verwachting is weliswaar begrijpelijk, maar de recente verkopen liggen rond de € 450.000.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934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la corrélation qui convainc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Hoe realistischer de vraagprijs, hoe sneller de verkoop.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34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le risque, au conditionnel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Een te hoge prijs zou kandidaten kunnen afschrikken.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9034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la proposition qui laisse le choix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Wat zou u ervan denken om te starten op € 469.000?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Accueillez l’émotion — </a:t>
            </a:r>
            <a:r>
              <a:rPr lang="en-US" sz="1500" b="1" i="1" dirty="0">
                <a:solidFill>
                  <a:schemeClr val="accent5"/>
                </a:solidFill>
              </a:rPr>
              <a:t>jamais la nier</a:t>
            </a:r>
            <a:r>
              <a:rPr lang="en-US" sz="1500" i="1" dirty="0">
                <a:solidFill>
                  <a:schemeClr val="accent5"/>
                </a:solidFill>
              </a:rPr>
              <a:t>. Le ton compte autant que la phrase.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Concession, corrélation, conditionnel : l’ordre des mots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Trois structures-clés du gesprek difficile : </a:t>
            </a:r>
            <a:r>
              <a:rPr lang="en-US" sz="1800" b="1" dirty="0">
                <a:solidFill>
                  <a:schemeClr val="tx1"/>
                </a:solidFill>
              </a:rPr>
              <a:t>weliswaar … maar</a:t>
            </a:r>
            <a:r>
              <a:rPr lang="en-US" sz="1800" dirty="0">
                <a:solidFill>
                  <a:schemeClr val="tx1"/>
                </a:solidFill>
              </a:rPr>
              <a:t> (palier 7), </a:t>
            </a:r>
            <a:r>
              <a:rPr lang="en-US" sz="1800" b="1" dirty="0">
                <a:solidFill>
                  <a:schemeClr val="tx1"/>
                </a:solidFill>
              </a:rPr>
              <a:t>hoe … hoe …</a:t>
            </a:r>
            <a:r>
              <a:rPr lang="en-US" sz="1800" dirty="0">
                <a:solidFill>
                  <a:schemeClr val="tx1"/>
                </a:solidFill>
              </a:rPr>
              <a:t> (8.2) et </a:t>
            </a:r>
            <a:r>
              <a:rPr lang="en-US" sz="1800" b="1" dirty="0">
                <a:solidFill>
                  <a:schemeClr val="tx1"/>
                </a:solidFill>
              </a:rPr>
              <a:t>zou + infinitif en fin de phrase</a:t>
            </a:r>
            <a:r>
              <a:rPr lang="en-US" sz="1800" dirty="0">
                <a:solidFill>
                  <a:schemeClr val="tx1"/>
                </a:solidFill>
              </a:rPr>
              <a:t> (palier 6).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21992"/>
            <a:ext cx="18920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459736"/>
            <a:ext cx="1892003" cy="498856"/>
          </a:xfrm>
          <a:prstGeom prst="roundRect">
            <a:avLst>
              <a:gd name="adj" fmla="val 10998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" y="2459736"/>
            <a:ext cx="1818851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Uw verwachting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2540174" y="2221992"/>
            <a:ext cx="6220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40174" y="2459736"/>
            <a:ext cx="622066" cy="498856"/>
          </a:xfrm>
          <a:prstGeom prst="roundRect">
            <a:avLst>
              <a:gd name="adj" fmla="val 10998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76750" y="2459736"/>
            <a:ext cx="548914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3261771" y="2221992"/>
            <a:ext cx="2802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concession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61771" y="2459736"/>
            <a:ext cx="2802524" cy="498856"/>
          </a:xfrm>
          <a:prstGeom prst="roundRect">
            <a:avLst>
              <a:gd name="adj" fmla="val 10998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98347" y="2459736"/>
            <a:ext cx="2729372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weliswaar begrijpelijk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163825" y="2221992"/>
            <a:ext cx="7538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63825" y="2459736"/>
            <a:ext cx="753852" cy="498856"/>
          </a:xfrm>
          <a:prstGeom prst="roundRect">
            <a:avLst>
              <a:gd name="adj" fmla="val 10998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00401" y="2459736"/>
            <a:ext cx="680700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maar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7017208" y="2221992"/>
            <a:ext cx="1550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017208" y="2459736"/>
            <a:ext cx="1550558" cy="498856"/>
          </a:xfrm>
          <a:prstGeom prst="roundRect">
            <a:avLst>
              <a:gd name="adj" fmla="val 10998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053784" y="2459736"/>
            <a:ext cx="1477406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de verkopen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8667296" y="2221992"/>
            <a:ext cx="9814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667296" y="2459736"/>
            <a:ext cx="981482" cy="498856"/>
          </a:xfrm>
          <a:prstGeom prst="roundRect">
            <a:avLst>
              <a:gd name="adj" fmla="val 10998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703872" y="2459736"/>
            <a:ext cx="908330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liggen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9748309" y="2221992"/>
            <a:ext cx="18920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objectif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748309" y="2459736"/>
            <a:ext cx="1892003" cy="498856"/>
          </a:xfrm>
          <a:prstGeom prst="roundRect">
            <a:avLst>
              <a:gd name="adj" fmla="val 10998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784885" y="2459736"/>
            <a:ext cx="1818851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rond € 450.000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298602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Votre attente est certes compréhensible, mais les ventes tournent autour de 450.000 €.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3269488"/>
            <a:ext cx="2462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48640" y="3507232"/>
            <a:ext cx="2462276" cy="498856"/>
          </a:xfrm>
          <a:prstGeom prst="roundRect">
            <a:avLst>
              <a:gd name="adj" fmla="val 10998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85216" y="3507232"/>
            <a:ext cx="2389124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Hoe realistischer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3120644" y="3269488"/>
            <a:ext cx="1960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120644" y="3507232"/>
            <a:ext cx="1960372" cy="498856"/>
          </a:xfrm>
          <a:prstGeom prst="roundRect">
            <a:avLst>
              <a:gd name="adj" fmla="val 10998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157220" y="3507232"/>
            <a:ext cx="1887220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de vraagprijs</a:t>
            </a:r>
            <a:endParaRPr lang="en-US" sz="1900" dirty="0"/>
          </a:p>
        </p:txBody>
      </p:sp>
      <p:sp>
        <p:nvSpPr>
          <p:cNvPr id="35" name="Text 32"/>
          <p:cNvSpPr txBox="1"/>
          <p:nvPr/>
        </p:nvSpPr>
        <p:spPr>
          <a:xfrm>
            <a:off x="5190744" y="32694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190744" y="3507232"/>
            <a:ext cx="685800" cy="498856"/>
          </a:xfrm>
          <a:prstGeom prst="roundRect">
            <a:avLst>
              <a:gd name="adj" fmla="val 10998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227320" y="3507232"/>
            <a:ext cx="612648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is</a:t>
            </a:r>
            <a:endParaRPr lang="en-US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5986272" y="3269488"/>
            <a:ext cx="1709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986272" y="3507232"/>
            <a:ext cx="1709420" cy="498856"/>
          </a:xfrm>
          <a:prstGeom prst="roundRect">
            <a:avLst>
              <a:gd name="adj" fmla="val 10998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022848" y="3507232"/>
            <a:ext cx="1636268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hoe sneller</a:t>
            </a:r>
            <a:endParaRPr lang="en-US" sz="1900" dirty="0"/>
          </a:p>
        </p:txBody>
      </p:sp>
      <p:sp>
        <p:nvSpPr>
          <p:cNvPr id="41" name="Text 38"/>
          <p:cNvSpPr txBox="1"/>
          <p:nvPr/>
        </p:nvSpPr>
        <p:spPr>
          <a:xfrm>
            <a:off x="7805420" y="3269488"/>
            <a:ext cx="1583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805420" y="3507232"/>
            <a:ext cx="1583944" cy="498856"/>
          </a:xfrm>
          <a:prstGeom prst="roundRect">
            <a:avLst>
              <a:gd name="adj" fmla="val 10998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841996" y="3507232"/>
            <a:ext cx="1510792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de verkoop</a:t>
            </a:r>
            <a:endParaRPr lang="en-US" sz="1900" dirty="0"/>
          </a:p>
        </p:txBody>
      </p:sp>
      <p:sp>
        <p:nvSpPr>
          <p:cNvPr id="44" name="Text 41"/>
          <p:cNvSpPr txBox="1"/>
          <p:nvPr/>
        </p:nvSpPr>
        <p:spPr>
          <a:xfrm>
            <a:off x="9499092" y="3269488"/>
            <a:ext cx="1332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499092" y="3507232"/>
            <a:ext cx="1332992" cy="498856"/>
          </a:xfrm>
          <a:prstGeom prst="roundRect">
            <a:avLst>
              <a:gd name="adj" fmla="val 10998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535668" y="3507232"/>
            <a:ext cx="1259840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verloopt</a:t>
            </a:r>
            <a:endParaRPr lang="en-US" sz="1900" dirty="0"/>
          </a:p>
        </p:txBody>
      </p:sp>
      <p:sp>
        <p:nvSpPr>
          <p:cNvPr id="47" name="Text 44"/>
          <p:cNvSpPr txBox="1"/>
          <p:nvPr/>
        </p:nvSpPr>
        <p:spPr>
          <a:xfrm>
            <a:off x="548640" y="4033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Plus le prix demandé est réaliste, plus la vente est rapide.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548640" y="4316984"/>
            <a:ext cx="2462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48640" y="4554728"/>
            <a:ext cx="2462276" cy="498856"/>
          </a:xfrm>
          <a:prstGeom prst="roundRect">
            <a:avLst>
              <a:gd name="adj" fmla="val 10998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85216" y="4554728"/>
            <a:ext cx="2389124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Een te hoge prijs</a:t>
            </a:r>
            <a:endParaRPr lang="en-US" sz="1900" dirty="0"/>
          </a:p>
        </p:txBody>
      </p:sp>
      <p:sp>
        <p:nvSpPr>
          <p:cNvPr id="51" name="Text 48"/>
          <p:cNvSpPr txBox="1"/>
          <p:nvPr/>
        </p:nvSpPr>
        <p:spPr>
          <a:xfrm>
            <a:off x="3120644" y="4316984"/>
            <a:ext cx="705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120644" y="4554728"/>
            <a:ext cx="705612" cy="498856"/>
          </a:xfrm>
          <a:prstGeom prst="roundRect">
            <a:avLst>
              <a:gd name="adj" fmla="val 10998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3157220" y="4554728"/>
            <a:ext cx="632460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zou</a:t>
            </a:r>
            <a:endParaRPr lang="en-US" sz="1900" dirty="0"/>
          </a:p>
        </p:txBody>
      </p:sp>
      <p:sp>
        <p:nvSpPr>
          <p:cNvPr id="54" name="Text 51"/>
          <p:cNvSpPr txBox="1"/>
          <p:nvPr/>
        </p:nvSpPr>
        <p:spPr>
          <a:xfrm>
            <a:off x="3935984" y="4316984"/>
            <a:ext cx="1583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3935984" y="4554728"/>
            <a:ext cx="1583944" cy="498856"/>
          </a:xfrm>
          <a:prstGeom prst="roundRect">
            <a:avLst>
              <a:gd name="adj" fmla="val 10998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3972560" y="4554728"/>
            <a:ext cx="1510792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kandidaten</a:t>
            </a:r>
            <a:endParaRPr lang="en-US" sz="1900" dirty="0"/>
          </a:p>
        </p:txBody>
      </p:sp>
      <p:sp>
        <p:nvSpPr>
          <p:cNvPr id="57" name="Text 54"/>
          <p:cNvSpPr txBox="1"/>
          <p:nvPr/>
        </p:nvSpPr>
        <p:spPr>
          <a:xfrm>
            <a:off x="5629656" y="431698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infinitifs en fin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5629656" y="4554728"/>
            <a:ext cx="2587752" cy="498856"/>
          </a:xfrm>
          <a:prstGeom prst="roundRect">
            <a:avLst>
              <a:gd name="adj" fmla="val 10998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666232" y="4554728"/>
            <a:ext cx="2514600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kunnen afschrikken</a:t>
            </a:r>
            <a:endParaRPr lang="en-US" sz="1900" dirty="0"/>
          </a:p>
        </p:txBody>
      </p:sp>
      <p:sp>
        <p:nvSpPr>
          <p:cNvPr id="60" name="Text 57"/>
          <p:cNvSpPr txBox="1"/>
          <p:nvPr/>
        </p:nvSpPr>
        <p:spPr>
          <a:xfrm>
            <a:off x="548640" y="5081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Un prix trop élevé pourrait décourager des candidats.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63" name="Text 59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b="1" dirty="0">
                <a:solidFill>
                  <a:schemeClr val="tx1"/>
                </a:solidFill>
              </a:rPr>
              <a:t>maar</a:t>
            </a:r>
            <a:r>
              <a:rPr lang="en-US" sz="1700" dirty="0">
                <a:solidFill>
                  <a:schemeClr val="tx1"/>
                </a:solidFill>
              </a:rPr>
              <a:t> est une conjonction de coordination : l’ordre reste sujet puis verbe (✗ </a:t>
            </a:r>
            <a:r>
              <a:rPr lang="en-US" sz="1700" i="1" dirty="0">
                <a:solidFill>
                  <a:schemeClr val="tx1"/>
                </a:solidFill>
              </a:rPr>
              <a:t>maar de verkopen rond € 450.000 liggen</a:t>
            </a:r>
            <a:r>
              <a:rPr lang="en-US" sz="1700" dirty="0">
                <a:solidFill>
                  <a:schemeClr val="tx1"/>
                </a:solidFill>
              </a:rPr>
              <a:t>). Avec </a:t>
            </a:r>
            <a:r>
              <a:rPr lang="en-US" sz="1700" b="1" dirty="0">
                <a:solidFill>
                  <a:schemeClr val="tx1"/>
                </a:solidFill>
              </a:rPr>
              <a:t>zou</a:t>
            </a:r>
            <a:r>
              <a:rPr lang="en-US" sz="1700" dirty="0">
                <a:solidFill>
                  <a:schemeClr val="tx1"/>
                </a:solidFill>
              </a:rPr>
              <a:t>, l’infinitif part </a:t>
            </a:r>
            <a:r>
              <a:rPr lang="en-US" sz="1700" b="1" dirty="0">
                <a:solidFill>
                  <a:schemeClr val="tx1"/>
                </a:solidFill>
              </a:rPr>
              <a:t>à la fin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7 · Reageer professioneel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16–17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Répondez à chaque phrase du propriétaire déçu : une </a:t>
            </a:r>
            <a:r>
              <a:rPr lang="en-US" sz="1600" b="1" i="1" dirty="0">
                <a:solidFill>
                  <a:schemeClr val="accent5"/>
                </a:solidFill>
              </a:rPr>
              <a:t>concession</a:t>
            </a:r>
            <a:r>
              <a:rPr lang="en-US" sz="1600" i="1" dirty="0">
                <a:solidFill>
                  <a:schemeClr val="accent5"/>
                </a:solidFill>
              </a:rPr>
              <a:t> + un </a:t>
            </a:r>
            <a:r>
              <a:rPr lang="en-US" sz="1600" b="1" i="1" dirty="0">
                <a:solidFill>
                  <a:schemeClr val="accent5"/>
                </a:solidFill>
              </a:rPr>
              <a:t>argument chiffré</a:t>
            </a:r>
            <a:r>
              <a:rPr lang="en-US" sz="1600" i="1" dirty="0">
                <a:solidFill>
                  <a:schemeClr val="accent5"/>
                </a:solidFill>
              </a:rPr>
              <a:t> ou une </a:t>
            </a:r>
            <a:r>
              <a:rPr lang="en-US" sz="1600" b="1" i="1" dirty="0">
                <a:solidFill>
                  <a:schemeClr val="accent5"/>
                </a:solidFill>
              </a:rPr>
              <a:t>corrélation</a:t>
            </a:r>
            <a:r>
              <a:rPr lang="en-US" sz="1600" i="1" dirty="0">
                <a:solidFill>
                  <a:schemeClr val="accent5"/>
                </a:solidFill>
              </a:rPr>
              <a:t>. Écrivez (8 min), puis dites vos réponses </a:t>
            </a:r>
            <a:r>
              <a:rPr lang="en-US" sz="1600" b="1" i="1" dirty="0">
                <a:solidFill>
                  <a:schemeClr val="accent5"/>
                </a:solidFill>
              </a:rPr>
              <a:t>à voix haute</a:t>
            </a:r>
            <a:r>
              <a:rPr lang="en-US" sz="1600" i="1" dirty="0">
                <a:solidFill>
                  <a:schemeClr val="accent5"/>
                </a:solidFill>
              </a:rPr>
              <a:t> en binôme.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11091672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« Vijfhonderdduizend, geen euro minder! »</a:t>
            </a:r>
            <a:endParaRPr lang="en-US" sz="2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« De buren hebben méér gekregen voor een kleiner huis! » (pand B : vlak bij het park…)</a:t>
            </a:r>
            <a:endParaRPr lang="en-US" sz="2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« Dan wacht ik gewoon een jaar. »</a:t>
            </a:r>
            <a:endParaRPr lang="en-US" sz="2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« Een andere makelaar schatte € 490.000. »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7 · Reageer professioneel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16–17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Répondez à chaque phrase du propriétaire déçu : une </a:t>
            </a:r>
            <a:r>
              <a:rPr lang="en-US" sz="1600" b="1" i="1" dirty="0">
                <a:solidFill>
                  <a:schemeClr val="accent5"/>
                </a:solidFill>
              </a:rPr>
              <a:t>concession</a:t>
            </a:r>
            <a:r>
              <a:rPr lang="en-US" sz="1600" i="1" dirty="0">
                <a:solidFill>
                  <a:schemeClr val="accent5"/>
                </a:solidFill>
              </a:rPr>
              <a:t> + un </a:t>
            </a:r>
            <a:r>
              <a:rPr lang="en-US" sz="1600" b="1" i="1" dirty="0">
                <a:solidFill>
                  <a:schemeClr val="accent5"/>
                </a:solidFill>
              </a:rPr>
              <a:t>argument chiffré</a:t>
            </a:r>
            <a:r>
              <a:rPr lang="en-US" sz="1600" i="1" dirty="0">
                <a:solidFill>
                  <a:schemeClr val="accent5"/>
                </a:solidFill>
              </a:rPr>
              <a:t> ou une </a:t>
            </a:r>
            <a:r>
              <a:rPr lang="en-US" sz="1600" b="1" i="1" dirty="0">
                <a:solidFill>
                  <a:schemeClr val="accent5"/>
                </a:solidFill>
              </a:rPr>
              <a:t>corrélation</a:t>
            </a:r>
            <a:r>
              <a:rPr lang="en-US" sz="1600" i="1" dirty="0">
                <a:solidFill>
                  <a:schemeClr val="accent5"/>
                </a:solidFill>
              </a:rPr>
              <a:t>. Écrivez (8 min), puis dites vos réponses </a:t>
            </a:r>
            <a:r>
              <a:rPr lang="en-US" sz="1600" b="1" i="1" dirty="0">
                <a:solidFill>
                  <a:schemeClr val="accent5"/>
                </a:solidFill>
              </a:rPr>
              <a:t>à voix haute</a:t>
            </a:r>
            <a:r>
              <a:rPr lang="en-US" sz="1600" i="1" dirty="0">
                <a:solidFill>
                  <a:schemeClr val="accent5"/>
                </a:solidFill>
              </a:rPr>
              <a:t> en binôme.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11091672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1.  </a:t>
            </a:r>
            <a:r>
              <a:rPr lang="en-US" sz="1700" dirty="0">
                <a:solidFill>
                  <a:schemeClr val="tx1"/>
                </a:solidFill>
              </a:rPr>
              <a:t>« Vijfhonderdduizend, geen euro minder! »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→ </a:t>
            </a:r>
            <a:r>
              <a:rPr lang="en-US" sz="1700" dirty="0">
                <a:solidFill>
                  <a:schemeClr val="accent3"/>
                </a:solidFill>
              </a:rPr>
              <a:t>Ik begrijp uw teleurstelling, </a:t>
            </a:r>
            <a:r>
              <a:rPr lang="en-US" sz="1700" b="1" dirty="0">
                <a:solidFill>
                  <a:schemeClr val="accent3"/>
                </a:solidFill>
              </a:rPr>
              <a:t>maar</a:t>
            </a:r>
            <a:r>
              <a:rPr lang="en-US" sz="1700" dirty="0">
                <a:solidFill>
                  <a:schemeClr val="accent3"/>
                </a:solidFill>
              </a:rPr>
              <a:t> de vergelijkbare verkopen liggen rond de € 450.000. </a:t>
            </a:r>
            <a:r>
              <a:rPr lang="en-US" sz="1700" b="1" dirty="0">
                <a:solidFill>
                  <a:schemeClr val="accent3"/>
                </a:solidFill>
              </a:rPr>
              <a:t>Hoe realistischer</a:t>
            </a:r>
            <a:r>
              <a:rPr lang="en-US" sz="1700" dirty="0">
                <a:solidFill>
                  <a:schemeClr val="accent3"/>
                </a:solidFill>
              </a:rPr>
              <a:t> de vraagprijs is, </a:t>
            </a:r>
            <a:r>
              <a:rPr lang="en-US" sz="1700" b="1" dirty="0">
                <a:solidFill>
                  <a:schemeClr val="accent3"/>
                </a:solidFill>
              </a:rPr>
              <a:t>hoe sneller</a:t>
            </a:r>
            <a:r>
              <a:rPr lang="en-US" sz="1700" dirty="0">
                <a:solidFill>
                  <a:schemeClr val="accent3"/>
                </a:solidFill>
              </a:rPr>
              <a:t> de verkoop verloopt.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2.  </a:t>
            </a:r>
            <a:r>
              <a:rPr lang="en-US" sz="1700" dirty="0">
                <a:solidFill>
                  <a:schemeClr val="tx1"/>
                </a:solidFill>
              </a:rPr>
              <a:t>« De buren hebben méér gekregen voor een kleiner huis! » (pand B : vlak bij het park…)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→ </a:t>
            </a:r>
            <a:r>
              <a:rPr lang="en-US" sz="1700" dirty="0">
                <a:solidFill>
                  <a:schemeClr val="accent3"/>
                </a:solidFill>
              </a:rPr>
              <a:t>Pand B is </a:t>
            </a:r>
            <a:r>
              <a:rPr lang="en-US" sz="1700" b="1" dirty="0">
                <a:solidFill>
                  <a:schemeClr val="accent3"/>
                </a:solidFill>
              </a:rPr>
              <a:t>weliswaar</a:t>
            </a:r>
            <a:r>
              <a:rPr lang="en-US" sz="1700" dirty="0">
                <a:solidFill>
                  <a:schemeClr val="accent3"/>
                </a:solidFill>
              </a:rPr>
              <a:t> duurder verkocht (€ 495.000), </a:t>
            </a:r>
            <a:r>
              <a:rPr lang="en-US" sz="1700" b="1" dirty="0">
                <a:solidFill>
                  <a:schemeClr val="accent3"/>
                </a:solidFill>
              </a:rPr>
              <a:t>maar</a:t>
            </a:r>
            <a:r>
              <a:rPr lang="en-US" sz="1700" dirty="0">
                <a:solidFill>
                  <a:schemeClr val="accent3"/>
                </a:solidFill>
              </a:rPr>
              <a:t> het ligt vlak bij het park, het is instapklaar en het heeft vier slaapkamers. </a:t>
            </a:r>
            <a:r>
              <a:rPr lang="en-US" sz="1700" b="1" dirty="0">
                <a:solidFill>
                  <a:schemeClr val="accent3"/>
                </a:solidFill>
              </a:rPr>
              <a:t>Hoe dichter bij het park, hoe hoger</a:t>
            </a:r>
            <a:r>
              <a:rPr lang="en-US" sz="1700" dirty="0">
                <a:solidFill>
                  <a:schemeClr val="accent3"/>
                </a:solidFill>
              </a:rPr>
              <a:t> de prijs. Uw keuken is </a:t>
            </a:r>
            <a:r>
              <a:rPr lang="en-US" sz="1700" b="1" dirty="0">
                <a:solidFill>
                  <a:schemeClr val="accent3"/>
                </a:solidFill>
              </a:rPr>
              <a:t>daarentegen</a:t>
            </a:r>
            <a:r>
              <a:rPr lang="en-US" sz="1700" dirty="0">
                <a:solidFill>
                  <a:schemeClr val="accent3"/>
                </a:solidFill>
              </a:rPr>
              <a:t> verouderd.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3.  </a:t>
            </a:r>
            <a:r>
              <a:rPr lang="en-US" sz="1700" dirty="0">
                <a:solidFill>
                  <a:schemeClr val="tx1"/>
                </a:solidFill>
              </a:rPr>
              <a:t>« Dan wacht ik gewoon een jaar. »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→ </a:t>
            </a:r>
            <a:r>
              <a:rPr lang="en-US" sz="1700" dirty="0">
                <a:solidFill>
                  <a:schemeClr val="accent3"/>
                </a:solidFill>
              </a:rPr>
              <a:t>Dat is uw goed recht, </a:t>
            </a:r>
            <a:r>
              <a:rPr lang="en-US" sz="1700" b="1" dirty="0">
                <a:solidFill>
                  <a:schemeClr val="accent3"/>
                </a:solidFill>
              </a:rPr>
              <a:t>maar</a:t>
            </a:r>
            <a:r>
              <a:rPr lang="en-US" sz="1700" dirty="0">
                <a:solidFill>
                  <a:schemeClr val="accent3"/>
                </a:solidFill>
              </a:rPr>
              <a:t> de prognose is stabiel, ongeveer + 2 %. </a:t>
            </a:r>
            <a:r>
              <a:rPr lang="en-US" sz="1700" b="1" dirty="0">
                <a:solidFill>
                  <a:schemeClr val="accent3"/>
                </a:solidFill>
              </a:rPr>
              <a:t>Hoe langer</a:t>
            </a:r>
            <a:r>
              <a:rPr lang="en-US" sz="1700" dirty="0">
                <a:solidFill>
                  <a:schemeClr val="accent3"/>
                </a:solidFill>
              </a:rPr>
              <a:t> een woning te koop staat, </a:t>
            </a:r>
            <a:r>
              <a:rPr lang="en-US" sz="1700" b="1" dirty="0">
                <a:solidFill>
                  <a:schemeClr val="accent3"/>
                </a:solidFill>
              </a:rPr>
              <a:t>hoe minder</a:t>
            </a:r>
            <a:r>
              <a:rPr lang="en-US" sz="1700" dirty="0">
                <a:solidFill>
                  <a:schemeClr val="accent3"/>
                </a:solidFill>
              </a:rPr>
              <a:t> interessant ze wordt voor kandidaten.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4.  </a:t>
            </a:r>
            <a:r>
              <a:rPr lang="en-US" sz="1700" dirty="0">
                <a:solidFill>
                  <a:schemeClr val="tx1"/>
                </a:solidFill>
              </a:rPr>
              <a:t>« Een andere makelaar schatte € 490.000. »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→ </a:t>
            </a:r>
            <a:r>
              <a:rPr lang="en-US" sz="1700" dirty="0">
                <a:solidFill>
                  <a:schemeClr val="accent3"/>
                </a:solidFill>
              </a:rPr>
              <a:t>Dat kan, </a:t>
            </a:r>
            <a:r>
              <a:rPr lang="en-US" sz="1700" b="1" dirty="0">
                <a:solidFill>
                  <a:schemeClr val="accent3"/>
                </a:solidFill>
              </a:rPr>
              <a:t>maar</a:t>
            </a:r>
            <a:r>
              <a:rPr lang="en-US" sz="1700" dirty="0">
                <a:solidFill>
                  <a:schemeClr val="accent3"/>
                </a:solidFill>
              </a:rPr>
              <a:t> waarop baseert die schatting zich? Wij baseren ons op drie recente verkopen tussen € 405.000 en € 495.000. Een te hoge prijs </a:t>
            </a:r>
            <a:r>
              <a:rPr lang="en-US" sz="1700" b="1" dirty="0">
                <a:solidFill>
                  <a:schemeClr val="accent3"/>
                </a:solidFill>
              </a:rPr>
              <a:t>zou</a:t>
            </a:r>
            <a:r>
              <a:rPr lang="en-US" sz="1700" dirty="0">
                <a:solidFill>
                  <a:schemeClr val="accent3"/>
                </a:solidFill>
              </a:rPr>
              <a:t> kandidaten </a:t>
            </a:r>
            <a:r>
              <a:rPr lang="en-US" sz="1700" b="1" dirty="0">
                <a:solidFill>
                  <a:schemeClr val="accent3"/>
                </a:solidFill>
              </a:rPr>
              <a:t>kunnen</a:t>
            </a:r>
            <a:r>
              <a:rPr lang="en-US" sz="1700" dirty="0">
                <a:solidFill>
                  <a:schemeClr val="accent3"/>
                </a:solidFill>
              </a:rPr>
              <a:t> afschrikken.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TAAK 5 · Het moeilijke gesprek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Deux rondes de </a:t>
            </a:r>
            <a:r>
              <a:rPr lang="en-US" sz="1800" b="1" dirty="0">
                <a:solidFill>
                  <a:schemeClr val="tx1"/>
                </a:solidFill>
              </a:rPr>
              <a:t>6 minutes</a:t>
            </a:r>
            <a:r>
              <a:rPr lang="en-US" sz="1800" dirty="0">
                <a:solidFill>
                  <a:schemeClr val="tx1"/>
                </a:solidFill>
              </a:rPr>
              <a:t>, rôles inversés. L’observateur coche ce qui est réussi.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5225796" cy="3416808"/>
          </a:xfrm>
          <a:prstGeom prst="roundRect">
            <a:avLst>
              <a:gd name="adj" fmla="val 2676"/>
            </a:avLst>
          </a:prstGeom>
          <a:solidFill>
            <a:schemeClr val="accent1">
              <a:alpha val="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08483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Rol A — De makelaar (u-vorm !)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770632"/>
            <a:ext cx="4768596" cy="245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Présentez la </a:t>
            </a:r>
            <a:r>
              <a:rPr lang="en-US" sz="1600" b="1" dirty="0">
                <a:solidFill>
                  <a:schemeClr val="tx1"/>
                </a:solidFill>
              </a:rPr>
              <a:t>fourchette</a:t>
            </a:r>
            <a:r>
              <a:rPr lang="en-US" sz="1600" dirty="0">
                <a:solidFill>
                  <a:schemeClr val="tx1"/>
                </a:solidFill>
              </a:rPr>
              <a:t> du rapport (TAAK 4 ou dossier Janssens)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Accueillez la déception, défendez vos chiffres </a:t>
            </a:r>
            <a:r>
              <a:rPr lang="en-US" sz="1600" b="1" dirty="0">
                <a:solidFill>
                  <a:schemeClr val="tx1"/>
                </a:solidFill>
              </a:rPr>
              <a:t>sans les gonfler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Cherchez l’accord : un </a:t>
            </a:r>
            <a:r>
              <a:rPr lang="en-US" sz="1600" b="1" dirty="0">
                <a:solidFill>
                  <a:schemeClr val="tx1"/>
                </a:solidFill>
              </a:rPr>
              <a:t>prix de départ réaliste</a:t>
            </a:r>
            <a:r>
              <a:rPr lang="en-US" sz="1600" dirty="0">
                <a:solidFill>
                  <a:schemeClr val="tx1"/>
                </a:solidFill>
              </a:rPr>
              <a:t> + le mandat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Ligne rouge : jamais de prix auquel vous ne croyez pas — </a:t>
            </a:r>
            <a:r>
              <a:rPr lang="en-US" sz="1600" i="1" dirty="0">
                <a:solidFill>
                  <a:schemeClr val="tx1"/>
                </a:solidFill>
              </a:rPr>
              <a:t>Dat zou ik u niet aanraden, omdat …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14516" y="1947672"/>
            <a:ext cx="5225796" cy="3416808"/>
          </a:xfrm>
          <a:prstGeom prst="roundRect">
            <a:avLst>
              <a:gd name="adj" fmla="val 2676"/>
            </a:avLst>
          </a:prstGeom>
          <a:solidFill>
            <a:schemeClr val="accent2">
              <a:alpha val="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214884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46036" y="208483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Rol B — Meneer Janssens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643116" y="2770632"/>
            <a:ext cx="4768596" cy="245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Vous attendiez </a:t>
            </a:r>
            <a:r>
              <a:rPr lang="en-US" sz="1600" b="1" dirty="0">
                <a:solidFill>
                  <a:schemeClr val="tx1"/>
                </a:solidFill>
              </a:rPr>
              <a:t>€ 500.000</a:t>
            </a:r>
            <a:r>
              <a:rPr lang="en-US" sz="1600" dirty="0">
                <a:solidFill>
                  <a:schemeClr val="tx1"/>
                </a:solidFill>
              </a:rPr>
              <a:t> : jouez la déception, utilisez les </a:t>
            </a:r>
            <a:r>
              <a:rPr lang="en-US" sz="1600" b="1" dirty="0">
                <a:solidFill>
                  <a:schemeClr val="tx1"/>
                </a:solidFill>
              </a:rPr>
              <a:t>quatre objections</a:t>
            </a:r>
            <a:r>
              <a:rPr lang="en-US" sz="1600" dirty="0">
                <a:solidFill>
                  <a:schemeClr val="tx1"/>
                </a:solidFill>
              </a:rPr>
              <a:t> de l’exercice 7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Exigez des preuves : </a:t>
            </a:r>
            <a:r>
              <a:rPr lang="en-US" sz="1600" i="1" dirty="0">
                <a:solidFill>
                  <a:schemeClr val="tx1"/>
                </a:solidFill>
              </a:rPr>
              <a:t>Waarop baseert u zich?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Cartes : ① l’affectif (il a grandi ici) ② le calculateur (il a « fait ses recherches ») ③ le pressé (mutation dans deux mois : </a:t>
            </a:r>
            <a:r>
              <a:rPr lang="en-US" sz="1600" i="1" dirty="0">
                <a:solidFill>
                  <a:schemeClr val="tx1"/>
                </a:solidFill>
              </a:rPr>
              <a:t>hoe sneller, hoe beter</a:t>
            </a:r>
            <a:r>
              <a:rPr lang="en-US" sz="1600" dirty="0">
                <a:solidFill>
                  <a:schemeClr val="tx1"/>
                </a:solidFill>
              </a:rPr>
              <a:t> joue pour vous… ou contre vous ?)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838444" y="3400044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838444" y="34000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/ B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L’observateur coche — </a:t>
            </a:r>
            <a:r>
              <a:rPr lang="en-US" sz="1700" dirty="0">
                <a:solidFill>
                  <a:schemeClr val="tx1"/>
                </a:solidFill>
              </a:rPr>
              <a:t>émotion accueillie · concession-réfutation · </a:t>
            </a:r>
            <a:r>
              <a:rPr lang="en-US" sz="1700" b="1" dirty="0">
                <a:solidFill>
                  <a:schemeClr val="tx1"/>
                </a:solidFill>
              </a:rPr>
              <a:t>≥ 3 chiffres exacts</a:t>
            </a:r>
            <a:r>
              <a:rPr lang="en-US" sz="1700" dirty="0">
                <a:solidFill>
                  <a:schemeClr val="tx1"/>
                </a:solidFill>
              </a:rPr>
              <a:t> · corrélation </a:t>
            </a:r>
            <a:r>
              <a:rPr lang="en-US" sz="1700" b="1" dirty="0">
                <a:solidFill>
                  <a:schemeClr val="tx1"/>
                </a:solidFill>
              </a:rPr>
              <a:t>hoe … hoe …</a:t>
            </a:r>
            <a:r>
              <a:rPr lang="en-US" sz="1700" dirty="0">
                <a:solidFill>
                  <a:schemeClr val="tx1"/>
                </a:solidFill>
              </a:rPr>
              <a:t> · proposition finale avec </a:t>
            </a:r>
            <a:r>
              <a:rPr lang="en-US" sz="1700" b="1" dirty="0">
                <a:solidFill>
                  <a:schemeClr val="tx1"/>
                </a:solidFill>
              </a:rPr>
              <a:t>zou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Modèle : défendre son estimation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1  </a:t>
            </a:r>
            <a:r>
              <a:rPr lang="en-US" sz="1900" b="1" dirty="0">
                <a:solidFill>
                  <a:srgbClr val="D9700F"/>
                </a:solidFill>
              </a:rPr>
              <a:t>Yasmina :  </a:t>
            </a:r>
            <a:r>
              <a:rPr lang="en-US" sz="1900" dirty="0">
                <a:solidFill>
                  <a:schemeClr val="tx1"/>
                </a:solidFill>
              </a:rPr>
              <a:t>«Meneer Janssens, ik begrijp uw teleurstelling. U verwachtte € 500.000.»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2  </a:t>
            </a:r>
            <a:r>
              <a:rPr lang="en-US" sz="1900" b="1" dirty="0">
                <a:solidFill>
                  <a:schemeClr val="tx2"/>
                </a:solidFill>
              </a:rPr>
              <a:t>Janssens :  </a:t>
            </a:r>
            <a:r>
              <a:rPr lang="en-US" sz="1900" dirty="0">
                <a:solidFill>
                  <a:schemeClr val="tx1"/>
                </a:solidFill>
              </a:rPr>
              <a:t>«Ja, en nu hoor ik 450.000! Waarop baseert u zich?»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3  </a:t>
            </a:r>
            <a:r>
              <a:rPr lang="en-US" sz="1900" b="1" dirty="0">
                <a:solidFill>
                  <a:srgbClr val="D9700F"/>
                </a:solidFill>
              </a:rPr>
              <a:t>Yasmina :  </a:t>
            </a:r>
            <a:r>
              <a:rPr lang="en-US" sz="1900" dirty="0">
                <a:solidFill>
                  <a:schemeClr val="tx1"/>
                </a:solidFill>
              </a:rPr>
              <a:t>«Op drie recente verkopen in uw wijk: € 405.000, € 448.000 en € 495.000. Uw verwachting is weliswaar begrijpelijk, maar de vergelijkbare woningen liggen rond de € 450.000.»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4  </a:t>
            </a:r>
            <a:r>
              <a:rPr lang="en-US" sz="1900" b="1" dirty="0">
                <a:solidFill>
                  <a:schemeClr val="tx2"/>
                </a:solidFill>
              </a:rPr>
              <a:t>Janssens :  </a:t>
            </a:r>
            <a:r>
              <a:rPr lang="en-US" sz="1900" dirty="0">
                <a:solidFill>
                  <a:schemeClr val="tx1"/>
                </a:solidFill>
              </a:rPr>
              <a:t>«De buren hebben meer gekregen voor een kleiner huis!»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5  </a:t>
            </a:r>
            <a:r>
              <a:rPr lang="en-US" sz="1900" b="1" dirty="0">
                <a:solidFill>
                  <a:srgbClr val="D9700F"/>
                </a:solidFill>
              </a:rPr>
              <a:t>Yasmina :  </a:t>
            </a:r>
            <a:r>
              <a:rPr lang="en-US" sz="1900" dirty="0">
                <a:solidFill>
                  <a:schemeClr val="tx1"/>
                </a:solidFill>
              </a:rPr>
              <a:t>«Pand B ligt vlak bij het park en is instapklaar. Hoe dichter bij het park, hoe hoger de prijs. Uw keuken is daarentegen verouderd.»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6  </a:t>
            </a:r>
            <a:r>
              <a:rPr lang="en-US" sz="1900" b="1" dirty="0">
                <a:solidFill>
                  <a:schemeClr val="tx2"/>
                </a:solidFill>
              </a:rPr>
              <a:t>Janssens :  </a:t>
            </a:r>
            <a:r>
              <a:rPr lang="en-US" sz="1900" dirty="0">
                <a:solidFill>
                  <a:schemeClr val="tx1"/>
                </a:solidFill>
              </a:rPr>
              <a:t>«Dan wacht ik gewoon een jaar.»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7  </a:t>
            </a:r>
            <a:r>
              <a:rPr lang="en-US" sz="1900" b="1" dirty="0">
                <a:solidFill>
                  <a:srgbClr val="D9700F"/>
                </a:solidFill>
              </a:rPr>
              <a:t>Yasmina :  </a:t>
            </a:r>
            <a:r>
              <a:rPr lang="en-US" sz="1900" dirty="0">
                <a:solidFill>
                  <a:schemeClr val="tx1"/>
                </a:solidFill>
              </a:rPr>
              <a:t>«Dat kan, maar hoe realistischer de vraagprijs, hoe sneller de verkoop. Een te hoge prijs zou kandidaten kunnen afschrikken.»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8  </a:t>
            </a:r>
            <a:r>
              <a:rPr lang="en-US" sz="1900" b="1" dirty="0">
                <a:solidFill>
                  <a:schemeClr val="tx2"/>
                </a:solidFill>
              </a:rPr>
              <a:t>Janssens :  </a:t>
            </a:r>
            <a:r>
              <a:rPr lang="en-US" sz="1900" dirty="0">
                <a:solidFill>
                  <a:schemeClr val="tx1"/>
                </a:solidFill>
              </a:rPr>
              <a:t>«En wat stelt u voor?»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9  </a:t>
            </a:r>
            <a:r>
              <a:rPr lang="en-US" sz="1900" b="1" dirty="0">
                <a:solidFill>
                  <a:srgbClr val="D9700F"/>
                </a:solidFill>
              </a:rPr>
              <a:t>Yasmina :  </a:t>
            </a:r>
            <a:r>
              <a:rPr lang="en-US" sz="1900" dirty="0">
                <a:solidFill>
                  <a:schemeClr val="tx1"/>
                </a:solidFill>
              </a:rPr>
              <a:t>«Wat zou u ervan denken om te starten op € 469.000? Dan blijft er ruimte om te onderhandelen.»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D5 · De rekening klopt niet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17a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Dimanche soir, au restaurant De Zeemeeuw. L’addition ne correspond pas à ce que Stef et Lotte ont mangé. </a:t>
            </a:r>
            <a:r>
              <a:rPr lang="en-US" sz="1600" b="1" i="1" dirty="0">
                <a:solidFill>
                  <a:schemeClr val="accent5"/>
                </a:solidFill>
              </a:rPr>
              <a:t>Trouvez les deux erreurs</a:t>
            </a:r>
            <a:r>
              <a:rPr lang="en-US" sz="1600" i="1" dirty="0">
                <a:solidFill>
                  <a:schemeClr val="accent5"/>
                </a:solidFill>
              </a:rPr>
              <a:t>, calculez le bon total et dites-le à voix haute.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114800"/>
                <a:gridCol w="341071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WAT ZE BESTELDEN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DE REKENING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KLOPT HET ?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12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 × mosselen met friet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 × mosselen met friet · € 59,00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 × garnaalkroketten (om te delen)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 × garnaalkroketten · € 33,60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12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 × pintje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 × pintje · € 11,40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12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 × fles bruisend water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 × fles bruisend water · € 6,50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12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 × dame blanche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 × dame blanche · € 9,50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12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TOTAAL · € 120,00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D5 · De rekening klopt niet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4813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17a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Dimanche soir, au restaurant De Zeemeeuw. L’addition ne correspond pas à ce que Stef et Lotte ont mangé. </a:t>
            </a:r>
            <a:r>
              <a:rPr lang="en-US" sz="1600" b="1" i="1" dirty="0">
                <a:solidFill>
                  <a:schemeClr val="accent5"/>
                </a:solidFill>
              </a:rPr>
              <a:t>Trouvez les deux erreurs</a:t>
            </a:r>
            <a:r>
              <a:rPr lang="en-US" sz="1600" i="1" dirty="0">
                <a:solidFill>
                  <a:schemeClr val="accent5"/>
                </a:solidFill>
              </a:rPr>
              <a:t>, calculez le bon total et dites-le à voix haute.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114800"/>
                <a:gridCol w="341071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WAT ZE BESTELDEN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DE REKENING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KLOPT HET ?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12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 × mosselen met friet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 × mosselen met friet · € 59,00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ja ✓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 × garnaalkroketten (om te delen)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 × garnaalkroketten · € 33,60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nee : 1 × € 16,80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12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2 × pintje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 × pintje · € 11,40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nee : 2 × € 7,60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12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 × fles bruisend water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 × fles bruisend water · € 6,50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ja ✓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12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 × dame blanche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 × dame blanche · € 9,50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ja ✓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12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TOTAAL · € 120,00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€ 99,40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Zo zeg je dat : op het moment van betalen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17a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523951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9921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rekening · </a:t>
                      </a:r>
                      <a:r>
                        <a:rPr lang="en-US" sz="20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wisselgeld · </a:t>
                      </a: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ober · </a:t>
                      </a: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serveerster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l’addition · la monnaie · le serveur · la serveuse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921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Ik denk dat er een fout in de rekening staat.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Je crois qu’il y a une erreur dans l’addition.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We hebben maar één portie gehad.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Nous n’avons eu qu’une portion.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Mogen we apart betalen? Kan het met de kaart?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Pouvons-nous payer séparément ? Par carte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Houd het wisselgeld maar.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Gardez la monnaie.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D5 · Rollenspel : de klant en de ober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17a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Même mécanique que face au propriétaire déçu : garder son calme, </a:t>
            </a:r>
            <a:r>
              <a:rPr lang="en-US" sz="1800" b="1" dirty="0">
                <a:solidFill>
                  <a:schemeClr val="tx1"/>
                </a:solidFill>
              </a:rPr>
              <a:t>objectiver avec des chiffres exacts</a:t>
            </a:r>
            <a:r>
              <a:rPr lang="en-US" sz="1800" dirty="0">
                <a:solidFill>
                  <a:schemeClr val="tx1"/>
                </a:solidFill>
              </a:rPr>
              <a:t>, proposer.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5225796" cy="4343400"/>
          </a:xfrm>
          <a:prstGeom prst="roundRect">
            <a:avLst>
              <a:gd name="adj" fmla="val 2105"/>
            </a:avLst>
          </a:prstGeom>
          <a:solidFill>
            <a:schemeClr val="accent1">
              <a:alpha val="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08483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Rol A — De klant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770632"/>
            <a:ext cx="476859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Signalez les erreurs avec les </a:t>
            </a:r>
            <a:r>
              <a:rPr lang="en-US" sz="1900" b="1" dirty="0">
                <a:solidFill>
                  <a:schemeClr val="tx1"/>
                </a:solidFill>
              </a:rPr>
              <a:t>chiffres exacts</a:t>
            </a:r>
            <a:r>
              <a:rPr lang="en-US" sz="1900" dirty="0">
                <a:solidFill>
                  <a:schemeClr val="tx1"/>
                </a:solidFill>
              </a:rPr>
              <a:t>, sans vous énerver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Concédez : </a:t>
            </a:r>
            <a:r>
              <a:rPr lang="en-US" sz="1900" i="1" dirty="0">
                <a:solidFill>
                  <a:schemeClr val="tx1"/>
                </a:solidFill>
              </a:rPr>
              <a:t>U hebt het weliswaar druk, maar …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Proposez : </a:t>
            </a:r>
            <a:r>
              <a:rPr lang="en-US" sz="1900" i="1" dirty="0">
                <a:solidFill>
                  <a:schemeClr val="tx1"/>
                </a:solidFill>
              </a:rPr>
              <a:t>Zou u de rekening kunnen aanpassen?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Autonomie : rejouez la scène avec </a:t>
            </a:r>
            <a:r>
              <a:rPr lang="en-US" sz="1900" b="1" dirty="0">
                <a:solidFill>
                  <a:schemeClr val="tx1"/>
                </a:solidFill>
              </a:rPr>
              <a:t>une situation vécue</a:t>
            </a:r>
            <a:r>
              <a:rPr lang="en-US" sz="1900" dirty="0">
                <a:solidFill>
                  <a:schemeClr val="tx1"/>
                </a:solidFill>
              </a:rPr>
              <a:t> (ticket de supermarché, facture de téléphone…)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6414516" y="1947672"/>
            <a:ext cx="5225796" cy="4343400"/>
          </a:xfrm>
          <a:prstGeom prst="roundRect">
            <a:avLst>
              <a:gd name="adj" fmla="val 2105"/>
            </a:avLst>
          </a:prstGeom>
          <a:solidFill>
            <a:schemeClr val="accent2">
              <a:alpha val="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214884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46036" y="208483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Rol B — De ober, de serveerster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643116" y="2770632"/>
            <a:ext cx="476859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Accueillez l’émotion : </a:t>
            </a:r>
            <a:r>
              <a:rPr lang="en-US" sz="1900" i="1" dirty="0">
                <a:solidFill>
                  <a:schemeClr val="tx1"/>
                </a:solidFill>
              </a:rPr>
              <a:t>Ik begrijp uw ergernis.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Vérifiez, corrigez, puis proposez un geste avec </a:t>
            </a:r>
            <a:r>
              <a:rPr lang="en-US" sz="1900" b="1" dirty="0">
                <a:solidFill>
                  <a:schemeClr val="tx1"/>
                </a:solidFill>
              </a:rPr>
              <a:t>zou</a:t>
            </a:r>
            <a:r>
              <a:rPr lang="en-US" sz="1900" dirty="0">
                <a:solidFill>
                  <a:schemeClr val="tx1"/>
                </a:solidFill>
              </a:rPr>
              <a:t> : </a:t>
            </a:r>
            <a:r>
              <a:rPr lang="en-US" sz="1900" i="1" dirty="0">
                <a:solidFill>
                  <a:schemeClr val="tx1"/>
                </a:solidFill>
              </a:rPr>
              <a:t>Zou ik u een koffie mogen aanbieden?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Cartes : ① les deux erreurs sont réelles ② une seule l’est : Lotte a commandé un </a:t>
            </a:r>
            <a:r>
              <a:rPr lang="en-US" sz="1900" b="1" dirty="0">
                <a:solidFill>
                  <a:schemeClr val="tx1"/>
                </a:solidFill>
              </a:rPr>
              <a:t>troisième pintje au bar</a:t>
            </a:r>
            <a:r>
              <a:rPr lang="en-US" sz="1900" dirty="0">
                <a:solidFill>
                  <a:schemeClr val="tx1"/>
                </a:solidFill>
              </a:rPr>
              <a:t> ! Défendez ce point avec les faits ③ vous êtes nouveau·elle et stressé·e, le client doit rester patient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5838444" y="3863340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838444" y="38633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/ B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TAAK 6 · Het schattingsgesprek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FOCUS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18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205472" cy="4803648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aside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205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1664208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641080" y="1636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VOTRE MISSION FINALE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8238744" y="2075688"/>
            <a:ext cx="323697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Tout jouer </a:t>
            </a:r>
            <a:r>
              <a:rPr lang="en-US" sz="1800" b="1" dirty="0">
                <a:solidFill>
                  <a:schemeClr val="tx1"/>
                </a:solidFill>
              </a:rPr>
              <a:t>d’une traite</a:t>
            </a:r>
            <a:r>
              <a:rPr lang="en-US" sz="1800" dirty="0">
                <a:solidFill>
                  <a:schemeClr val="tx1"/>
                </a:solidFill>
              </a:rPr>
              <a:t> : l’entretien d’évaluation complet chez le propriétaire, du bonjour au </a:t>
            </a:r>
            <a:r>
              <a:rPr lang="en-US" sz="1800" b="1" dirty="0">
                <a:solidFill>
                  <a:schemeClr val="tx1"/>
                </a:solidFill>
              </a:rPr>
              <a:t>mandat signé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TAAK 1 prospecter · 2 comparer · 3 marché · 4 rapport · 5 défendre.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① De voorbereiding · ② Het gesprek · ③ De opvolgingsmail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TAAK 6 · Étape 1 : de voorbereiding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0302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MÉTHODE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18–19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Binôme · 12 min. Choisissez un dossier (</a:t>
            </a:r>
            <a:r>
              <a:rPr lang="en-US" sz="1600" b="1" i="1" dirty="0">
                <a:solidFill>
                  <a:schemeClr val="accent5"/>
                </a:solidFill>
              </a:rPr>
              <a:t>Janssens</a:t>
            </a:r>
            <a:r>
              <a:rPr lang="en-US" sz="1600" i="1" dirty="0">
                <a:solidFill>
                  <a:schemeClr val="accent5"/>
                </a:solidFill>
              </a:rPr>
              <a:t>, </a:t>
            </a:r>
            <a:r>
              <a:rPr lang="en-US" sz="1600" b="1" i="1" dirty="0">
                <a:solidFill>
                  <a:schemeClr val="accent5"/>
                </a:solidFill>
              </a:rPr>
              <a:t>Forest</a:t>
            </a:r>
            <a:r>
              <a:rPr lang="en-US" sz="1600" i="1" dirty="0">
                <a:solidFill>
                  <a:schemeClr val="accent5"/>
                </a:solidFill>
              </a:rPr>
              <a:t> ou un bien inventé) et préparez, </a:t>
            </a:r>
            <a:r>
              <a:rPr lang="en-US" sz="1600" b="1" i="1" dirty="0">
                <a:solidFill>
                  <a:schemeClr val="accent5"/>
                </a:solidFill>
              </a:rPr>
              <a:t>en mots-clés uniquement</a:t>
            </a:r>
            <a:r>
              <a:rPr lang="en-US" sz="1600" i="1" dirty="0">
                <a:solidFill>
                  <a:schemeClr val="accent5"/>
                </a:solidFill>
              </a:rPr>
              <a:t> : grille de comparaison (3 comparables), statistiques, fourchette, </a:t>
            </a:r>
            <a:r>
              <a:rPr lang="en-US" sz="1600" b="1" i="1" dirty="0">
                <a:solidFill>
                  <a:schemeClr val="accent5"/>
                </a:solidFill>
              </a:rPr>
              <a:t>pitch de l’agence</a:t>
            </a:r>
            <a:r>
              <a:rPr lang="en-US" sz="1600" i="1" dirty="0">
                <a:solidFill>
                  <a:schemeClr val="accent5"/>
                </a:solidFill>
              </a:rPr>
              <a:t>. Cochez la checklist.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61032"/>
          <a:ext cx="11091672" cy="914400"/>
        </p:xfrm>
        <a:graphic>
          <a:graphicData uri="http://schemas.openxmlformats.org/drawingml/2006/table">
            <a:tbl>
              <a:tblPr/>
              <a:tblGrid>
                <a:gridCol w="8412480"/>
                <a:gridCol w="1280160"/>
                <a:gridCol w="1399032"/>
              </a:tblGrid>
              <a:tr h="5788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CHECKLIST DE RÉEMPLOI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MIN.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Chiffres à l’oral (prix, m², %, moyennes) : fluides et exacts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900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Structures comparatives (hoe … hoe, twee keer zo … als, in vergelijking met, steeds)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Verbes d’évolution (stijgen / dalen met, verdubbelen, stabiel blijven)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Concessions-réfutations et connecteurs (weliswaar, echter, daarentegen)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900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Lexique de l’estimation (de schatting, de marktwaarde, de vergelijkingspunten…)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Relative de crédibilité : </a:t>
            </a:r>
            <a:r>
              <a:rPr lang="en-US" sz="1500" i="1" dirty="0">
                <a:solidFill>
                  <a:schemeClr val="accent5"/>
                </a:solidFill>
              </a:rPr>
              <a:t>Wij zijn het kantoor </a:t>
            </a:r>
            <a:r>
              <a:rPr lang="en-US" sz="1500" b="1" i="1" dirty="0">
                <a:solidFill>
                  <a:schemeClr val="accent5"/>
                </a:solidFill>
              </a:rPr>
              <a:t>dat</a:t>
            </a:r>
            <a:r>
              <a:rPr lang="en-US" sz="1500" i="1" dirty="0">
                <a:solidFill>
                  <a:schemeClr val="accent5"/>
                </a:solidFill>
              </a:rPr>
              <a:t> al twintig jaar woningen in uw wijk verkoopt.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TAAK 6 · Étape 2 : het gesprek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 binôme joue l’entretien </a:t>
            </a:r>
            <a:r>
              <a:rPr lang="en-US" sz="1800" b="1" dirty="0">
                <a:solidFill>
                  <a:schemeClr val="tx1"/>
                </a:solidFill>
              </a:rPr>
              <a:t>complet</a:t>
            </a:r>
            <a:r>
              <a:rPr lang="en-US" sz="1800" dirty="0">
                <a:solidFill>
                  <a:schemeClr val="tx1"/>
                </a:solidFill>
              </a:rPr>
              <a:t> devant un autre binôme (le propriétaire et son/sa partenaire). Puis </a:t>
            </a:r>
            <a:r>
              <a:rPr lang="en-US" sz="1800" b="1" dirty="0">
                <a:solidFill>
                  <a:schemeClr val="tx1"/>
                </a:solidFill>
              </a:rPr>
              <a:t>inversion</a:t>
            </a:r>
            <a:r>
              <a:rPr lang="en-US" sz="1800" dirty="0">
                <a:solidFill>
                  <a:schemeClr val="tx1"/>
                </a:solidFill>
              </a:rPr>
              <a:t> des rôles.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67712"/>
            <a:ext cx="1984248" cy="402336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11580" y="245059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11580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18211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Accueil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959352"/>
            <a:ext cx="170992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visite éclair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Dank u voor uw ontvangst. Mag ik even rondkijken?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9464" y="2670048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25496" y="2267712"/>
            <a:ext cx="1984248" cy="402336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88436" y="245059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488436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2935224" y="318211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Rapport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2962656" y="3959352"/>
            <a:ext cx="170992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comparables, marché, fourchette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De marktwaarde wordt geschat tussen … en …</a:t>
            </a:r>
            <a:endParaRPr lang="en-US" sz="1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670048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102352" y="2267712"/>
            <a:ext cx="1984248" cy="402336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765292" y="2450592"/>
            <a:ext cx="658368" cy="65836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765292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5212080" y="318211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Objections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5239512" y="3959352"/>
            <a:ext cx="170992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≥ 3 objections</a:t>
            </a:r>
            <a:r>
              <a:rPr lang="en-US" sz="1700" dirty="0">
                <a:solidFill>
                  <a:schemeClr val="tx1"/>
                </a:solidFill>
              </a:rPr>
              <a:t> du couple, dont une chiffrée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Waarop baseert u zich?</a:t>
            </a:r>
            <a:endParaRPr lang="en-US" sz="17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2670048"/>
            <a:ext cx="219456" cy="21945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379208" y="2267712"/>
            <a:ext cx="1984248" cy="402336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042148" y="2450592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042148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7488936" y="318211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Négociation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7516368" y="3959352"/>
            <a:ext cx="170992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prix de départ réaliste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Wat zou u ervan denken om te starten op € …?</a:t>
            </a:r>
            <a:endParaRPr lang="en-US" sz="17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2670048"/>
            <a:ext cx="219456" cy="21945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656064" y="2267712"/>
            <a:ext cx="1984248" cy="402336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10319004" y="2450592"/>
            <a:ext cx="658368" cy="6583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10319004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4" name="Text 27"/>
          <p:cNvSpPr txBox="1"/>
          <p:nvPr/>
        </p:nvSpPr>
        <p:spPr>
          <a:xfrm>
            <a:off x="9765792" y="318211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Pitch et mandat</a:t>
            </a:r>
            <a:endParaRPr lang="en-US" sz="1700" dirty="0"/>
          </a:p>
        </p:txBody>
      </p:sp>
      <p:sp>
        <p:nvSpPr>
          <p:cNvPr id="35" name="Text 28"/>
          <p:cNvSpPr txBox="1"/>
          <p:nvPr/>
        </p:nvSpPr>
        <p:spPr>
          <a:xfrm>
            <a:off x="9793224" y="3959352"/>
            <a:ext cx="170992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Wij zijn het kantoor dat …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Zou u ons de opdracht willen toevertrouwen?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TAAK 6 · Étape 3 : de opvolgingsmail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ÉCRIT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À la maison : le </a:t>
            </a:r>
            <a:r>
              <a:rPr lang="en-US" sz="1800" b="1" dirty="0">
                <a:solidFill>
                  <a:schemeClr val="tx1"/>
                </a:solidFill>
              </a:rPr>
              <a:t>courriel de suivi</a:t>
            </a:r>
            <a:r>
              <a:rPr lang="en-US" sz="1800" dirty="0">
                <a:solidFill>
                  <a:schemeClr val="tx1"/>
                </a:solidFill>
              </a:rPr>
              <a:t> au propriétaire, </a:t>
            </a:r>
            <a:r>
              <a:rPr lang="en-US" sz="1800" b="1" dirty="0">
                <a:solidFill>
                  <a:schemeClr val="tx1"/>
                </a:solidFill>
              </a:rPr>
              <a:t>10 à 12 phrases</a:t>
            </a:r>
            <a:r>
              <a:rPr lang="en-US" sz="1800" dirty="0">
                <a:solidFill>
                  <a:schemeClr val="tx1"/>
                </a:solidFill>
              </a:rPr>
              <a:t>, registre </a:t>
            </a:r>
            <a:r>
              <a:rPr lang="en-US" sz="1800" b="1" dirty="0">
                <a:solidFill>
                  <a:schemeClr val="tx1"/>
                </a:solidFill>
              </a:rPr>
              <a:t>formel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93392"/>
            <a:ext cx="2553462" cy="3343656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96187" y="217627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9618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Merci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685032"/>
            <a:ext cx="2279142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remerciement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Hartelijk dank voor het gesprek van donderdag.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8678" y="2395728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94710" y="1993392"/>
            <a:ext cx="2553462" cy="3343656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42257" y="217627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34225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350443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Synthèse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3531870" y="3685032"/>
            <a:ext cx="2279142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synthèse chiffrée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De marktwaarde wordt geschat tussen … en …</a:t>
            </a:r>
            <a:endParaRPr lang="en-US" sz="14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748" y="2395728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40780" y="1993392"/>
            <a:ext cx="2553462" cy="3343656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88327" y="2176272"/>
            <a:ext cx="658368" cy="65836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18832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635050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Objection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6377940" y="3685032"/>
            <a:ext cx="2279142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réponse à </a:t>
            </a:r>
            <a:r>
              <a:rPr lang="en-US" sz="1400" b="1" dirty="0">
                <a:solidFill>
                  <a:schemeClr val="tx1"/>
                </a:solidFill>
              </a:rPr>
              <a:t>son</a:t>
            </a:r>
            <a:r>
              <a:rPr lang="en-US" sz="1400" dirty="0">
                <a:solidFill>
                  <a:schemeClr val="tx1"/>
                </a:solidFill>
              </a:rPr>
              <a:t> objection principale : concession + chiffre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Uw verwachting is weliswaar begrijpelijk, maar …</a:t>
            </a:r>
            <a:endParaRPr lang="en-US" sz="14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818" y="2395728"/>
            <a:ext cx="219456" cy="21945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086850" y="1993392"/>
            <a:ext cx="2553462" cy="3343656"/>
          </a:xfrm>
          <a:prstGeom prst="roundRect">
            <a:avLst>
              <a:gd name="adj" fmla="val 3581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034397" y="2176272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10034397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9196578" y="2907792"/>
            <a:ext cx="23340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Suite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9224010" y="3685032"/>
            <a:ext cx="2279142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prochaine étape conditionnée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Zodra u de opdracht tekent, wordt de advertentie …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70000"/>
              </a:scheme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Dernière pièce du dossier — </a:t>
            </a:r>
            <a:r>
              <a:rPr lang="en-US" sz="1700" dirty="0">
                <a:solidFill>
                  <a:schemeClr val="tx1"/>
                </a:solidFill>
              </a:rPr>
              <a:t>La boucle complète des paliers 5 à 8 dans un seul texte : relative, zou, passif, concession, comparaison, évolution.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Modèle : de opvolgingsmail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4809744"/>
          </a:xfrm>
          <a:prstGeom prst="rect">
            <a:avLst/>
          </a:prstGeom>
          <a:solidFill>
            <a:schemeClr val="bg1"/>
          </a:solidFill>
          <a:ln w="12700">
            <a:solidFill>
              <a:srgbClr val="4A5A70"/>
            </a:solidFill>
            <a:prstDash val="dash"/>
          </a:ln>
        </p:spPr>
      </p:sp>
      <p:sp>
        <p:nvSpPr>
          <p:cNvPr id="7" name="tag"/>
          <p:cNvSpPr/>
          <p:nvPr/>
        </p:nvSpPr>
        <p:spPr>
          <a:xfrm>
            <a:off x="777240" y="1645920"/>
            <a:ext cx="10515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E-MAIL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1609344"/>
            <a:ext cx="9491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Onderwerp: schatting Vredestraat 24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48840"/>
            <a:ext cx="1063447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Geachte meneer Janssens,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Hartelijk dank voor het gesprek van donderdag en voor de rondleiding in uw woning.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Zoals besproken wordt de marktwaarde van uw huis geschat tussen € 445.000 en € 465.000. Deze schatting is gebaseerd op drie recente verkopen in uw wijk. De prijzen zijn er het afgelopen jaar gemiddeld met 4,2 % gestegen.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Uw verwachting van € 500.000 is weliswaar begrijpelijk, maar de vergelijkbare woningen liggen rond de € 450.000. Hoe realistischer de vraagprijs, hoe sneller de verkoop.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Wij zouden u daarom aanraden om te starten op € 469.000. Een vernieuwing van de keuken zou de waarde met ongeveer € 20.000 kunnen verhogen.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Zodra u de opdracht tekent, wordt de advertentie binnen een week gepubliceerd. Mag ik u volgende week opbellen om uw beslissing te bespreken?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Met vriendelijke groeten, Yasmina — Immo Van Damme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Variante Dagelijks leven : het weekendvoorstel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20a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Pour ceux qui préfèrent un dossier de la vie courante : même déroulé, mêmes exigences, </a:t>
            </a:r>
            <a:r>
              <a:rPr lang="en-US" sz="1800" b="1" dirty="0">
                <a:solidFill>
                  <a:schemeClr val="tx1"/>
                </a:solidFill>
              </a:rPr>
              <a:t>autonomie complète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93392"/>
            <a:ext cx="3502152" cy="3343656"/>
          </a:xfrm>
          <a:prstGeom prst="roundRect">
            <a:avLst>
              <a:gd name="adj" fmla="val 273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70532" y="217627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970532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907792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De voorbereiding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685032"/>
            <a:ext cx="3227832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Destination </a:t>
            </a:r>
            <a:r>
              <a:rPr lang="en-US" sz="1300" b="1" dirty="0">
                <a:solidFill>
                  <a:schemeClr val="tx1"/>
                </a:solidFill>
              </a:rPr>
              <a:t>réelle</a:t>
            </a:r>
            <a:r>
              <a:rPr lang="en-US" sz="1300" dirty="0">
                <a:solidFill>
                  <a:schemeClr val="tx1"/>
                </a:solidFill>
              </a:rPr>
              <a:t>, vraies données (horaires, prix, météo, avis)</a:t>
            </a:r>
            <a:endParaRPr lang="en-US" sz="1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3 options comparées · budget chiffré · une évolution</a:t>
            </a:r>
            <a:endParaRPr lang="en-US" sz="1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chemeClr val="tx1"/>
                </a:solidFill>
              </a:rPr>
              <a:t>Het is een weekend dat …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7368" y="2395728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43400" y="1993392"/>
            <a:ext cx="3502152" cy="3343656"/>
          </a:xfrm>
          <a:prstGeom prst="roundRect">
            <a:avLst>
              <a:gd name="adj" fmla="val 273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65292" y="217627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765292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4453128" y="2907792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Het gesprek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480560" y="3685032"/>
            <a:ext cx="3227832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Vous présentez le projet à un couple d’amis aux attentes différentes</a:t>
            </a:r>
            <a:endParaRPr lang="en-US" sz="1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≥ 3 objections</a:t>
            </a:r>
            <a:r>
              <a:rPr lang="en-US" sz="1300" dirty="0">
                <a:solidFill>
                  <a:schemeClr val="tx1"/>
                </a:solidFill>
              </a:rPr>
              <a:t>, dont une chiffrée : </a:t>
            </a:r>
            <a:r>
              <a:rPr lang="en-US" sz="1300" i="1" dirty="0">
                <a:solidFill>
                  <a:schemeClr val="tx1"/>
                </a:solidFill>
              </a:rPr>
              <a:t>Dat is twee keer zo duur als vorig jaar!</a:t>
            </a:r>
            <a:endParaRPr lang="en-US" sz="1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chemeClr val="tx1"/>
                </a:solidFill>
              </a:rPr>
              <a:t>Zouden jullie akkoord gaan met …?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2395728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138160" y="1993392"/>
            <a:ext cx="3502152" cy="3343656"/>
          </a:xfrm>
          <a:prstGeom prst="roundRect">
            <a:avLst>
              <a:gd name="adj" fmla="val 273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560052" y="2176272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560052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8247888" y="2907792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De opvolgingsmail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275320" y="3685032"/>
            <a:ext cx="3227832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10 à 12 phrases, registre libre</a:t>
            </a:r>
            <a:endParaRPr lang="en-US" sz="1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remerciement · synthèse chiffrée · réponse à l’objection · étape conditionnée</a:t>
            </a:r>
            <a:endParaRPr lang="en-US" sz="1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chemeClr val="tx1"/>
                </a:solidFill>
              </a:rPr>
              <a:t>Zodra iedereen betaald heeft, wordt het appartement gereserveerd.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Checklist — </a:t>
            </a:r>
            <a:r>
              <a:rPr lang="en-US" sz="1700" dirty="0">
                <a:solidFill>
                  <a:schemeClr val="tx1"/>
                </a:solidFill>
              </a:rPr>
              <a:t>identique à l’étape 1, sauf « Lexique de l’estimation » qui devient « </a:t>
            </a:r>
            <a:r>
              <a:rPr lang="en-US" sz="1700" b="1" dirty="0">
                <a:solidFill>
                  <a:schemeClr val="tx1"/>
                </a:solidFill>
              </a:rPr>
              <a:t>Lexique du quotidien</a:t>
            </a:r>
            <a:r>
              <a:rPr lang="en-US" sz="1700" dirty="0">
                <a:solidFill>
                  <a:schemeClr val="tx1"/>
                </a:solidFill>
              </a:rPr>
              <a:t> (activités D1 à D5) » : minimum 10.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Bilan du palier 8 : je peux…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1742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AUTO-ÉVALUATION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Palier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Cochez ce que vous savez faire </a:t>
            </a:r>
            <a:r>
              <a:rPr lang="en-US" sz="1700" b="1" i="1" dirty="0">
                <a:solidFill>
                  <a:schemeClr val="accent5"/>
                </a:solidFill>
              </a:rPr>
              <a:t>aujourd’hui</a:t>
            </a:r>
            <a:r>
              <a:rPr lang="en-US" sz="1700" i="1" dirty="0">
                <a:solidFill>
                  <a:schemeClr val="accent5"/>
                </a:solidFill>
              </a:rPr>
              <a:t> en néerlandais, sans note.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1941576"/>
            <a:ext cx="5408676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38172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07008" y="1941576"/>
            <a:ext cx="46314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Lire et dire à voix haute </a:t>
            </a:r>
            <a:r>
              <a:rPr lang="en-US" sz="1900" b="1" dirty="0">
                <a:solidFill>
                  <a:schemeClr val="tx1"/>
                </a:solidFill>
              </a:rPr>
              <a:t>prix, surfaces, pourcentages</a:t>
            </a:r>
            <a:r>
              <a:rPr lang="en-US" sz="1900" dirty="0">
                <a:solidFill>
                  <a:schemeClr val="tx1"/>
                </a:solidFill>
              </a:rPr>
              <a:t> et </a:t>
            </a:r>
            <a:r>
              <a:rPr lang="en-US" sz="1900" b="1" dirty="0">
                <a:solidFill>
                  <a:schemeClr val="tx1"/>
                </a:solidFill>
              </a:rPr>
              <a:t>l’heure</a:t>
            </a:r>
            <a:r>
              <a:rPr lang="en-US" sz="1900" dirty="0">
                <a:solidFill>
                  <a:schemeClr val="tx1"/>
                </a:solidFill>
              </a:rPr>
              <a:t> (half negen !)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548640" y="2718816"/>
            <a:ext cx="5408676" cy="704088"/>
          </a:xfrm>
          <a:prstGeom prst="roundRect">
            <a:avLst>
              <a:gd name="adj" fmla="val 779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15412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07008" y="2718816"/>
            <a:ext cx="46314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Mener un </a:t>
            </a:r>
            <a:r>
              <a:rPr lang="en-US" sz="1900" b="1" dirty="0">
                <a:solidFill>
                  <a:schemeClr val="tx1"/>
                </a:solidFill>
              </a:rPr>
              <a:t>appel de prospection</a:t>
            </a:r>
            <a:r>
              <a:rPr lang="en-US" sz="1900" dirty="0">
                <a:solidFill>
                  <a:schemeClr val="tx1"/>
                </a:solidFill>
              </a:rPr>
              <a:t> avec des chiffres et une demande polie (</a:t>
            </a:r>
            <a:r>
              <a:rPr lang="en-US" sz="1900" b="1" dirty="0">
                <a:solidFill>
                  <a:schemeClr val="tx1"/>
                </a:solidFill>
              </a:rPr>
              <a:t>zou</a:t>
            </a:r>
            <a:r>
              <a:rPr lang="en-US" sz="1900" dirty="0">
                <a:solidFill>
                  <a:schemeClr val="tx1"/>
                </a:solidFill>
              </a:rPr>
              <a:t>)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548640" y="3496056"/>
            <a:ext cx="5408676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92652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07008" y="3496056"/>
            <a:ext cx="46314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Comparer</a:t>
            </a:r>
            <a:r>
              <a:rPr lang="en-US" sz="1900" dirty="0">
                <a:solidFill>
                  <a:schemeClr val="tx1"/>
                </a:solidFill>
              </a:rPr>
              <a:t> : hoe … hoe …, steeds, twee keer zo … als, in vergelijking met</a:t>
            </a:r>
            <a:endParaRPr lang="en-US" sz="1900" dirty="0"/>
          </a:p>
        </p:txBody>
      </p:sp>
      <p:sp>
        <p:nvSpPr>
          <p:cNvPr id="16" name="Shape 10"/>
          <p:cNvSpPr/>
          <p:nvPr/>
        </p:nvSpPr>
        <p:spPr>
          <a:xfrm>
            <a:off x="548640" y="4273296"/>
            <a:ext cx="5408676" cy="704088"/>
          </a:xfrm>
          <a:prstGeom prst="roundRect">
            <a:avLst>
              <a:gd name="adj" fmla="val 779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69892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07008" y="4273296"/>
            <a:ext cx="46314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Décrire une </a:t>
            </a:r>
            <a:r>
              <a:rPr lang="en-US" sz="1900" b="1" dirty="0">
                <a:solidFill>
                  <a:schemeClr val="tx1"/>
                </a:solidFill>
              </a:rPr>
              <a:t>évolution</a:t>
            </a:r>
            <a:r>
              <a:rPr lang="en-US" sz="1900" dirty="0">
                <a:solidFill>
                  <a:schemeClr val="tx1"/>
                </a:solidFill>
              </a:rPr>
              <a:t> : stijgen / dalen </a:t>
            </a:r>
            <a:r>
              <a:rPr lang="en-US" sz="1900" b="1" dirty="0">
                <a:solidFill>
                  <a:schemeClr val="tx1"/>
                </a:solidFill>
              </a:rPr>
              <a:t>met</a:t>
            </a:r>
            <a:r>
              <a:rPr lang="en-US" sz="1900" dirty="0">
                <a:solidFill>
                  <a:schemeClr val="tx1"/>
                </a:solidFill>
              </a:rPr>
              <a:t>, van … naar, verdubbelen, gemiddeld</a:t>
            </a:r>
            <a:endParaRPr lang="en-US" sz="1900" dirty="0"/>
          </a:p>
        </p:txBody>
      </p:sp>
      <p:sp>
        <p:nvSpPr>
          <p:cNvPr id="19" name="Shape 12"/>
          <p:cNvSpPr/>
          <p:nvPr/>
        </p:nvSpPr>
        <p:spPr>
          <a:xfrm>
            <a:off x="6231636" y="1941576"/>
            <a:ext cx="5408676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516" y="2138172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890004" y="1941576"/>
            <a:ext cx="46314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Lire et structurer un </a:t>
            </a:r>
            <a:r>
              <a:rPr lang="en-US" sz="1900" b="1" dirty="0">
                <a:solidFill>
                  <a:schemeClr val="tx1"/>
                </a:solidFill>
              </a:rPr>
              <a:t>schattingsverslag</a:t>
            </a:r>
            <a:r>
              <a:rPr lang="en-US" sz="1900" dirty="0">
                <a:solidFill>
                  <a:schemeClr val="tx1"/>
                </a:solidFill>
              </a:rPr>
              <a:t> : passif, fourchette, </a:t>
            </a:r>
            <a:r>
              <a:rPr lang="en-US" sz="1900" b="1" dirty="0">
                <a:solidFill>
                  <a:schemeClr val="tx1"/>
                </a:solidFill>
              </a:rPr>
              <a:t>zou</a:t>
            </a:r>
            <a:endParaRPr lang="en-US" sz="1900" dirty="0"/>
          </a:p>
        </p:txBody>
      </p:sp>
      <p:sp>
        <p:nvSpPr>
          <p:cNvPr id="22" name="Shape 14"/>
          <p:cNvSpPr/>
          <p:nvPr/>
        </p:nvSpPr>
        <p:spPr>
          <a:xfrm>
            <a:off x="6231636" y="2718816"/>
            <a:ext cx="5408676" cy="704088"/>
          </a:xfrm>
          <a:prstGeom prst="roundRect">
            <a:avLst>
              <a:gd name="adj" fmla="val 779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4516" y="2915412"/>
            <a:ext cx="310896" cy="31089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890004" y="2718816"/>
            <a:ext cx="46314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Écrire un </a:t>
            </a:r>
            <a:r>
              <a:rPr lang="en-US" sz="1900" b="1" dirty="0">
                <a:solidFill>
                  <a:schemeClr val="tx1"/>
                </a:solidFill>
              </a:rPr>
              <a:t>besluit</a:t>
            </a:r>
            <a:r>
              <a:rPr lang="en-US" sz="1900" dirty="0">
                <a:solidFill>
                  <a:schemeClr val="tx1"/>
                </a:solidFill>
              </a:rPr>
              <a:t> chiffré de 8 à 10 phrases</a:t>
            </a:r>
            <a:endParaRPr lang="en-US" sz="1900" dirty="0"/>
          </a:p>
        </p:txBody>
      </p:sp>
      <p:sp>
        <p:nvSpPr>
          <p:cNvPr id="25" name="Shape 16"/>
          <p:cNvSpPr/>
          <p:nvPr/>
        </p:nvSpPr>
        <p:spPr>
          <a:xfrm>
            <a:off x="6231636" y="3496056"/>
            <a:ext cx="5408676" cy="704088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4516" y="3692652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890004" y="3496056"/>
            <a:ext cx="46314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Défendre</a:t>
            </a:r>
            <a:r>
              <a:rPr lang="en-US" sz="1900" dirty="0">
                <a:solidFill>
                  <a:schemeClr val="tx1"/>
                </a:solidFill>
              </a:rPr>
              <a:t> une estimation : concéder, objectiver, conseiller</a:t>
            </a:r>
            <a:endParaRPr lang="en-US" sz="1900" dirty="0"/>
          </a:p>
        </p:txBody>
      </p:sp>
      <p:sp>
        <p:nvSpPr>
          <p:cNvPr id="28" name="Shape 18"/>
          <p:cNvSpPr/>
          <p:nvPr/>
        </p:nvSpPr>
        <p:spPr>
          <a:xfrm>
            <a:off x="6231636" y="4273296"/>
            <a:ext cx="5408676" cy="704088"/>
          </a:xfrm>
          <a:prstGeom prst="roundRect">
            <a:avLst>
              <a:gd name="adj" fmla="val 779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4516" y="4469892"/>
            <a:ext cx="310896" cy="310896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6890004" y="4273296"/>
            <a:ext cx="46314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Jouer un </a:t>
            </a:r>
            <a:r>
              <a:rPr lang="en-US" sz="1900" b="1" dirty="0">
                <a:solidFill>
                  <a:schemeClr val="tx1"/>
                </a:solidFill>
              </a:rPr>
              <a:t>entretien d’estimation</a:t>
            </a:r>
            <a:r>
              <a:rPr lang="en-US" sz="1900" dirty="0">
                <a:solidFill>
                  <a:schemeClr val="tx1"/>
                </a:solidFill>
              </a:rPr>
              <a:t> complet jusqu’au mandat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Gefeliciteerd!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ET MAINTENANT 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Fin de la série des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paliers 5 à 8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: vous savez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prospecter, comparer, chiffrer, rédiger et défendre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— en néerlandais.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FINIR LA SÉRIE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Étape 3 de la TAAK 6</a:t>
            </a:r>
            <a:r>
              <a:rPr lang="en-US" sz="1700" dirty="0">
                <a:solidFill>
                  <a:schemeClr val="tx1"/>
                </a:solidFill>
              </a:rPr>
              <a:t> : l’opvolgingsmail (10 à 12 phrases, registre formel).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Terminer l’</a:t>
            </a:r>
            <a:r>
              <a:rPr lang="en-US" sz="1700" b="1" dirty="0">
                <a:solidFill>
                  <a:schemeClr val="tx1"/>
                </a:solidFill>
              </a:rPr>
              <a:t>étape 2</a:t>
            </a:r>
            <a:r>
              <a:rPr lang="en-US" sz="1700" dirty="0">
                <a:solidFill>
                  <a:schemeClr val="tx1"/>
                </a:solidFill>
              </a:rPr>
              <a:t> si votre binôme n’a pas encore joué les deux rôles.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Variante : le </a:t>
            </a:r>
            <a:r>
              <a:rPr lang="en-US" sz="1700" b="1" dirty="0">
                <a:solidFill>
                  <a:schemeClr val="tx1"/>
                </a:solidFill>
              </a:rPr>
              <a:t>weekendvoorstel</a:t>
            </a:r>
            <a:r>
              <a:rPr lang="en-US" sz="1700" dirty="0">
                <a:solidFill>
                  <a:schemeClr val="tx1"/>
                </a:solidFill>
              </a:rPr>
              <a:t> (dossier vie quotidienne).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Rejouer </a:t>
            </a:r>
            <a:r>
              <a:rPr lang="en-US" sz="1700" b="1" dirty="0">
                <a:solidFill>
                  <a:schemeClr val="tx1"/>
                </a:solidFill>
              </a:rPr>
              <a:t>D5</a:t>
            </a:r>
            <a:r>
              <a:rPr lang="en-US" sz="1700" dirty="0">
                <a:solidFill>
                  <a:schemeClr val="tx1"/>
                </a:solidFill>
              </a:rPr>
              <a:t> avec une situation que vous avez vécue.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Une phrase pour la route : concédez et chiffrez — </a:t>
            </a:r>
            <a:r>
              <a:rPr lang="en-US" sz="1600" i="1" dirty="0">
                <a:solidFill>
                  <a:schemeClr val="bg1"/>
                </a:solidFill>
              </a:rPr>
              <a:t>… is weliswaar …, maar … € …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B1 vastgoed">
  <a:themeElements>
    <a:clrScheme name="Nederlands B1 vastgoed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B1 vastgoe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IRAM — Néerlandais 3 (B1)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19 — Het moeilijke gesprek — eindtaak</dc:title>
  <dc:subject>Néerlandais B1 — immobilier et vie quotidienne (Yasmina &amp; Stef)</dc:subject>
  <dc:creator>A. Jouniaux</dc:creator>
  <cp:lastModifiedBy>A. Jouniaux</cp:lastModifiedBy>
  <cp:revision>1</cp:revision>
  <dcterms:created xsi:type="dcterms:W3CDTF">2026-10-03T21:59:52Z</dcterms:created>
  <dcterms:modified xsi:type="dcterms:W3CDTF">2026-10-03T21:59:52Z</dcterms:modified>
</cp:coreProperties>
</file>