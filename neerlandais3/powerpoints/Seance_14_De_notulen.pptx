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4fa9b35d-e136-a407-c9e2-df44c694480a}">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 name="Clôture" id="{97e29312-35d0-dcb5-94ec-d59725c6a556}">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consacrée à la séquence 7.4 : lire un procès-verbal (notulen) et rapporter la réunion à une cliente. On marie le discours indirect du palier 6 (zei dat, vroeg of), le passif impersonnel (Er werd beslist dat…) et les nominalisations de 7.2. Elle comprend l’exercice 7 (lire les notulen), la TAAK 4 (rapport à mevrouw Dubois) et l’activité Dagelijks leven D4 (Wat heb je gemist ? : même information, deux registres).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Pages 16 à 18a du livret. La TAAK 4 (10 à 12 phrases) se prépare en classe (planification et premières phrases) et se termine à la maison. D4 : traiter d’abord la comparaison des registres, puis la rédaction.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séance 13 (4 minutes). Phrase 5 : n’importe quelle reformulation correcte est acceptée (« Met andere woorden: we hebben meer informatie nodig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connecteurs servent à argumenter ; les notulen les reprennent sous forme de verbes de rapport (zei dat, vroeg echter of…). Faire remarquer le « echter » dans « De heer Yilmaz vroeg echter of… » de l’exercice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livret ne propose pas de Focus de lignes pour 7.4 : les trois exemples de la page 16 en tiennent lieu. L’illustration décompose « Er werd beslist dat… » : Er (sujet formel) + werd (auxiliaire du passif) + beslist (participe) + dat (début de la subordonnée). Cette séquence assemble le discours indirect du palier 6 (zei dat, vroeg of), les nominalisations (7.2) et le passif.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Résumé de la séquence en cinq lignes. Le passif impersonnel (Er werd + participe) cache l’agent : on ne dit pas qui a décidé. « Er » n’est pas obligatoire dès qu’un autre élément ouvre la phrase (In maart werd beslist…, Daarna werd… ). Pluriel : « Er werden twee voorstellen goedgekeurd ». Le discours indirect suit les règles du palier 6 : dat / of + verbe à la fin, imperfectum après zei / vroeg.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 ajoutée à partir des verbes du livret (exercice 7 et page 16) pour fournir un répertoire de verbes de PV. Les participes des verbes séparables s’écrivent en un mot (goedgekeurd, afgesloten, toegelicht, voorgesteld). « verwerpen » (rejeter) est un verbe fort : verworpen. Faire dire chaque verbe dans la phrase « De vergadering werd om … uur geopend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ajoutée (hors syllabus) pour fixer les quatre erreurs les plus fréquentes des francophones dans un procès-verbal : oubli de « er », verbe mal placé, temps du discours indirect, « of » / « dat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Compréhension de l’écrit : lecture silencieuse (3 minutes), puis les quatre questions. Le contrôle des chiffres montre la cohérence du document : 8 + 2 + 1 = 11 mede-eigenaars. « zodat een tweede offerte kan worden gevraagd » = passif avec modal (kan + worden + participe en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on peut aussi citer « De nieuwe bijdrage wordt vanaf januari geïnd » (conséquence). Question 2 : « Mevrouw Peeters zei dat… » est une déclaration, « De heer Yilmaz vroeg echter of… » est une question indirecte avec « of ». Question 3 : « zich onthouden » = s’abstenir ; le total des voix (8 + 2 + 1) égale les 11 présents. Question 4 : le texte ne cite pas mevrouw Dubois ; la déduction repose sur « bij volmacht » et sur le dialogue (Yasmina règle sa volmacht, Stef la représente) : dire qu’on suppose que sa procuration fait partie des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repérer dans le texte « Er werd beslist om… » (infinitif avec om … te) et « werd goedgekeurd met 8 stemmen voor, 2 tegen en 1 onthouding ». Mettre en évidence le lien avec la TAAK 4 : ces phrases seront réutilisées.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écrite libre. Passer dans les rangs : vérifier que les verbes sont bien à la fin dans les subordonnées, que « er » est présent en tête de phrase, que les résultats de vote sont corrects (8 voix pour, 2 contre, 1 abstention). Le rapport doit se lire sans le PV sous les yeux : mevrouw Dubois n’était pas là. Modèle sur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de 11 phrases (sans compter la formule d’appel et de clôture). Passifs impersonnels : Er werd… beslist ; passifs personnels : de verhoging werd goedgekeurd ; discours indirect : zei dat… waren, vroeg of… was ; connecteurs : wat … betreft, enerzijds… anderzijds, echter ; zou : Wij zouden u aanraden… ; structure : Ten eerste → Daarna → Kortom. Particularités : « lichtte … toe » (toelichten, séparable) ; « Blijft u vragen hebben, dan… » = si vous avez encore des questions (inversion conditionnelle).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Jeudi soir, le comité de quartier s’est réuni ; Sofie travaillait et n’a rien vu. Stef a pris des notes. Même information, deux registres : le PV officiel (Er werd beslist dat…) et le message entre voisins (We hebben beslist dat…). Cohérence des chiffres : 14 + 3 + 1 = 18 bewoners.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du livret (p. 18a). Dans les notes de Stef, le voorstel est de Sofie (via Nadia) : l’exemple « Karim stelde voor om… » est seulement un modèle de tournure ; dans le message, écrire « Nadia stelde namens jou voor om… » ou « Jouw voorstel… ». « 14 tegen 3 » se lit « 14 voor, 3 tegen ». Faire remarquer que le registre informel emploie le perfectum (we hebben beslist) ou l’imperfectum, pas le passif impersonnel.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libre : pas de corrigé unique. Passer dans les rangs. Ne pas oublier de faire changer la personne : dans le message, « jij » (Sofie), « we » (le comité). Modèles sur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modèles corrects. Dans le PV : passifs (Er werd beslist, werd goedgekeurd) et vote chiffré ; dans le message : « we hebben beslist », discours indirect (Meneer Willems zei dat hij bezorgd was), question directe à Sofie. « Een aanvraag indienen » est séparable (in te dienen). Accepter d’autres formulations tant que le registre est cohérent.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(5 minutes) : récapitulatif de la séquence. Phrase 3 et 4 : « om … te + infinitif », les séparables prennent « te » entre la particule et le verbe (in te dienen, voor te stellen). Phrase 6 : le sujet de la phrase active (de syndicus) disparaît dans le passif.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lire chaque phrase en insistant sur le participe placé à la fin. Rappeler : zei dat + imperfectum (waren), vroeg of + imperfectum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attendue : « De heer Yilmaz vroeg of een tweede offerte mogelijk was. » Vérifier « of » et le verbe en fin de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14</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14</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14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7.4</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De notulen van de vergadering</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Rapporter une réunion — passif impersonnel, discours indirect et procès-verbal</a:t>
            </a:r>
            <a:endParaRPr lang="en-US" sz="1800" dirty="0"/>
          </a:p>
          <a:p>
            <a:pPr algn="l" indent="0" marL="0">
              <a:buNone/>
            </a:pPr>
            <a:r>
              <a:rPr lang="en-US" sz="1800" b="1" dirty="0">
                <a:solidFill>
                  <a:schemeClr val="bg2"/>
                </a:solidFill>
              </a:rPr>
              <a:t>Palier 7 · Mede-eigendom</a:t>
            </a:r>
            <a:endParaRPr lang="en-US" sz="1800" dirty="0"/>
          </a:p>
          <a:p>
            <a:pPr algn="l" indent="0" marL="0">
              <a:buNone/>
            </a:pPr>
            <a:r>
              <a:rPr lang="en-US" sz="1800" dirty="0">
                <a:solidFill>
                  <a:schemeClr val="bg2"/>
                </a:solidFill>
              </a:rPr>
              <a:t>Livret p. 16–18a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2120733"/>
            <a:ext cx="5120640" cy="2616535"/>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16–18a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400" b="1" dirty="0">
                <a:solidFill>
                  <a:schemeClr val="tx1"/>
                </a:solidFill>
              </a:rPr>
              <a:t>Lire un procès-verbal</a:t>
            </a:r>
            <a:r>
              <a:rPr lang="en-US" sz="1400" dirty="0">
                <a:solidFill>
                  <a:schemeClr val="tx1"/>
                </a:solidFill>
              </a:rPr>
              <a:t> et le </a:t>
            </a:r>
            <a:r>
              <a:rPr lang="en-US" sz="1400" b="1" dirty="0">
                <a:solidFill>
                  <a:schemeClr val="tx1"/>
                </a:solidFill>
              </a:rPr>
              <a:t>rapporter fidèlement</a:t>
            </a:r>
            <a:r>
              <a:rPr lang="en-US" sz="1400" dirty="0">
                <a:solidFill>
                  <a:schemeClr val="tx1"/>
                </a:solidFill>
              </a:rPr>
              <a:t> : décisions au passif impersonnel (</a:t>
            </a:r>
            <a:r>
              <a:rPr lang="en-US" sz="1400" i="1" dirty="0">
                <a:solidFill>
                  <a:schemeClr val="tx1"/>
                </a:solidFill>
              </a:rPr>
              <a:t>Er werd beslist dat…</a:t>
            </a:r>
            <a:r>
              <a:rPr lang="en-US" sz="1400" dirty="0">
                <a:solidFill>
                  <a:schemeClr val="tx1"/>
                </a:solidFill>
              </a:rPr>
              <a:t>), positions au discours indirect, résultats de vote chiffrés.</a:t>
            </a:r>
            <a:endParaRPr lang="en-US" sz="14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700" i="1" dirty="0">
                <a:solidFill>
                  <a:schemeClr val="tx1"/>
                </a:solidFill>
              </a:rPr>
              <a:t>Er werd beslist dat… · Er werd voorgesteld om… · De verhoging werd goedgekeurd met 8 stemmen tegen 3 · zei dat · vroeg of</a:t>
            </a:r>
            <a:endParaRPr lang="en-US" sz="17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400" dirty="0">
                <a:solidFill>
                  <a:schemeClr val="tx1"/>
                </a:solidFill>
              </a:rPr>
              <a:t>Lire des notulen · employer le passif impersonnel et le discours indirect · rédiger un rapport formel · transposer le même contenu en registre informel</a:t>
            </a:r>
            <a:endParaRPr lang="en-US" sz="14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65960"/>
            <a:ext cx="384048" cy="384048"/>
          </a:xfrm>
          <a:prstGeom prst="ellipse">
            <a:avLst/>
          </a:prstGeom>
          <a:solidFill>
            <a:schemeClr val="tx2"/>
          </a:solidFill>
          <a:ln/>
        </p:spPr>
      </p:sp>
      <p:sp>
        <p:nvSpPr>
          <p:cNvPr id="24" name="Text 18"/>
          <p:cNvSpPr txBox="1"/>
          <p:nvPr/>
        </p:nvSpPr>
        <p:spPr>
          <a:xfrm>
            <a:off x="6263640" y="19659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66928"/>
          </a:xfrm>
          <a:prstGeom prst="rect">
            <a:avLst/>
          </a:prstGeom>
          <a:noFill/>
          <a:ln/>
        </p:spPr>
        <p:txBody>
          <a:bodyPr wrap="square" lIns="0" tIns="0" rIns="0" bIns="0" rtlCol="0" anchor="ctr"/>
          <a:lstStyle/>
          <a:p>
            <a:pPr indent="0" marL="0">
              <a:buNone/>
            </a:pPr>
            <a:r>
              <a:rPr lang="en-US" sz="1600" dirty="0">
                <a:solidFill>
                  <a:schemeClr val="tx1"/>
                </a:solidFill>
              </a:rPr>
              <a:t>Rappel séance 13</a:t>
            </a:r>
            <a:endParaRPr lang="en-US" sz="1600" dirty="0"/>
          </a:p>
        </p:txBody>
      </p:sp>
      <p:sp>
        <p:nvSpPr>
          <p:cNvPr id="26" name="Text 20"/>
          <p:cNvSpPr txBox="1"/>
          <p:nvPr/>
        </p:nvSpPr>
        <p:spPr>
          <a:xfrm>
            <a:off x="10972800" y="1874520"/>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8'</a:t>
            </a:r>
            <a:endParaRPr lang="en-US" sz="1500" dirty="0"/>
          </a:p>
        </p:txBody>
      </p:sp>
      <p:sp>
        <p:nvSpPr>
          <p:cNvPr id="27" name="Shape 21"/>
          <p:cNvSpPr/>
          <p:nvPr/>
        </p:nvSpPr>
        <p:spPr>
          <a:xfrm>
            <a:off x="6263640" y="2532888"/>
            <a:ext cx="384048" cy="384048"/>
          </a:xfrm>
          <a:prstGeom prst="ellipse">
            <a:avLst/>
          </a:prstGeom>
          <a:solidFill>
            <a:schemeClr val="tx2"/>
          </a:solidFill>
          <a:ln/>
        </p:spPr>
      </p:sp>
      <p:sp>
        <p:nvSpPr>
          <p:cNvPr id="28" name="Text 22"/>
          <p:cNvSpPr txBox="1"/>
          <p:nvPr/>
        </p:nvSpPr>
        <p:spPr>
          <a:xfrm>
            <a:off x="6263640" y="25328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41448"/>
            <a:ext cx="4114800" cy="566928"/>
          </a:xfrm>
          <a:prstGeom prst="rect">
            <a:avLst/>
          </a:prstGeom>
          <a:noFill/>
          <a:ln/>
        </p:spPr>
        <p:txBody>
          <a:bodyPr wrap="square" lIns="0" tIns="0" rIns="0" bIns="0" rtlCol="0" anchor="ctr"/>
          <a:lstStyle/>
          <a:p>
            <a:pPr indent="0" marL="0">
              <a:buNone/>
            </a:pPr>
            <a:r>
              <a:rPr lang="en-US" sz="1600" dirty="0">
                <a:solidFill>
                  <a:schemeClr val="tx1"/>
                </a:solidFill>
              </a:rPr>
              <a:t>7.4 · pourquoi le PV (p. 16)</a:t>
            </a:r>
            <a:endParaRPr lang="en-US" sz="1600" dirty="0"/>
          </a:p>
        </p:txBody>
      </p:sp>
      <p:sp>
        <p:nvSpPr>
          <p:cNvPr id="30" name="Text 24"/>
          <p:cNvSpPr txBox="1"/>
          <p:nvPr/>
        </p:nvSpPr>
        <p:spPr>
          <a:xfrm>
            <a:off x="10972800" y="2441448"/>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1" name="Shape 25"/>
          <p:cNvSpPr/>
          <p:nvPr/>
        </p:nvSpPr>
        <p:spPr>
          <a:xfrm>
            <a:off x="6263640" y="3099816"/>
            <a:ext cx="384048" cy="384048"/>
          </a:xfrm>
          <a:prstGeom prst="ellipse">
            <a:avLst/>
          </a:prstGeom>
          <a:solidFill>
            <a:schemeClr val="tx2"/>
          </a:solidFill>
          <a:ln/>
        </p:spPr>
      </p:sp>
      <p:sp>
        <p:nvSpPr>
          <p:cNvPr id="32" name="Text 26"/>
          <p:cNvSpPr txBox="1"/>
          <p:nvPr/>
        </p:nvSpPr>
        <p:spPr>
          <a:xfrm>
            <a:off x="6263640" y="30998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3008376"/>
            <a:ext cx="4114800" cy="566928"/>
          </a:xfrm>
          <a:prstGeom prst="rect">
            <a:avLst/>
          </a:prstGeom>
          <a:noFill/>
          <a:ln/>
        </p:spPr>
        <p:txBody>
          <a:bodyPr wrap="square" lIns="0" tIns="0" rIns="0" bIns="0" rtlCol="0" anchor="ctr"/>
          <a:lstStyle/>
          <a:p>
            <a:pPr indent="0" marL="0">
              <a:buNone/>
            </a:pPr>
            <a:r>
              <a:rPr lang="en-US" sz="1600" dirty="0">
                <a:solidFill>
                  <a:schemeClr val="tx1"/>
                </a:solidFill>
              </a:rPr>
              <a:t>Grammaire : passif impersonnel + discours indirect</a:t>
            </a:r>
            <a:endParaRPr lang="en-US" sz="1600" dirty="0"/>
          </a:p>
        </p:txBody>
      </p:sp>
      <p:sp>
        <p:nvSpPr>
          <p:cNvPr id="34" name="Text 28"/>
          <p:cNvSpPr txBox="1"/>
          <p:nvPr/>
        </p:nvSpPr>
        <p:spPr>
          <a:xfrm>
            <a:off x="10972800" y="3008376"/>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35" name="Shape 29"/>
          <p:cNvSpPr/>
          <p:nvPr/>
        </p:nvSpPr>
        <p:spPr>
          <a:xfrm>
            <a:off x="6263640" y="3666744"/>
            <a:ext cx="384048" cy="384048"/>
          </a:xfrm>
          <a:prstGeom prst="ellipse">
            <a:avLst/>
          </a:prstGeom>
          <a:solidFill>
            <a:schemeClr val="tx2"/>
          </a:solidFill>
          <a:ln/>
        </p:spPr>
      </p:sp>
      <p:sp>
        <p:nvSpPr>
          <p:cNvPr id="36" name="Text 30"/>
          <p:cNvSpPr txBox="1"/>
          <p:nvPr/>
        </p:nvSpPr>
        <p:spPr>
          <a:xfrm>
            <a:off x="6263640" y="36667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75304"/>
            <a:ext cx="4114800" cy="566928"/>
          </a:xfrm>
          <a:prstGeom prst="rect">
            <a:avLst/>
          </a:prstGeom>
          <a:noFill/>
          <a:ln/>
        </p:spPr>
        <p:txBody>
          <a:bodyPr wrap="square" lIns="0" tIns="0" rIns="0" bIns="0" rtlCol="0" anchor="ctr"/>
          <a:lstStyle/>
          <a:p>
            <a:pPr indent="0" marL="0">
              <a:buNone/>
            </a:pPr>
            <a:r>
              <a:rPr lang="en-US" sz="1600" dirty="0">
                <a:solidFill>
                  <a:schemeClr val="tx1"/>
                </a:solidFill>
              </a:rPr>
              <a:t>Ex. 7 · lire les notulen</a:t>
            </a:r>
            <a:endParaRPr lang="en-US" sz="1600" dirty="0"/>
          </a:p>
        </p:txBody>
      </p:sp>
      <p:sp>
        <p:nvSpPr>
          <p:cNvPr id="38" name="Text 32"/>
          <p:cNvSpPr txBox="1"/>
          <p:nvPr/>
        </p:nvSpPr>
        <p:spPr>
          <a:xfrm>
            <a:off x="10972800" y="3575304"/>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17'</a:t>
            </a:r>
            <a:endParaRPr lang="en-US" sz="1500" dirty="0"/>
          </a:p>
        </p:txBody>
      </p:sp>
      <p:sp>
        <p:nvSpPr>
          <p:cNvPr id="39" name="Shape 33"/>
          <p:cNvSpPr/>
          <p:nvPr/>
        </p:nvSpPr>
        <p:spPr>
          <a:xfrm>
            <a:off x="6263640" y="4233672"/>
            <a:ext cx="384048" cy="384048"/>
          </a:xfrm>
          <a:prstGeom prst="ellipse">
            <a:avLst/>
          </a:prstGeom>
          <a:solidFill>
            <a:schemeClr val="tx2"/>
          </a:solidFill>
          <a:ln/>
        </p:spPr>
      </p:sp>
      <p:sp>
        <p:nvSpPr>
          <p:cNvPr id="40" name="Text 34"/>
          <p:cNvSpPr txBox="1"/>
          <p:nvPr/>
        </p:nvSpPr>
        <p:spPr>
          <a:xfrm>
            <a:off x="6263640" y="42336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142232"/>
            <a:ext cx="4114800" cy="566928"/>
          </a:xfrm>
          <a:prstGeom prst="rect">
            <a:avLst/>
          </a:prstGeom>
          <a:noFill/>
          <a:ln/>
        </p:spPr>
        <p:txBody>
          <a:bodyPr wrap="square" lIns="0" tIns="0" rIns="0" bIns="0" rtlCol="0" anchor="ctr"/>
          <a:lstStyle/>
          <a:p>
            <a:pPr indent="0" marL="0">
              <a:buNone/>
            </a:pPr>
            <a:r>
              <a:rPr lang="en-US" sz="1600" dirty="0">
                <a:solidFill>
                  <a:schemeClr val="tx1"/>
                </a:solidFill>
              </a:rPr>
              <a:t>TAAK 4 · het verslag</a:t>
            </a:r>
            <a:endParaRPr lang="en-US" sz="1600" dirty="0"/>
          </a:p>
        </p:txBody>
      </p:sp>
      <p:sp>
        <p:nvSpPr>
          <p:cNvPr id="42" name="Text 36"/>
          <p:cNvSpPr txBox="1"/>
          <p:nvPr/>
        </p:nvSpPr>
        <p:spPr>
          <a:xfrm>
            <a:off x="10972800" y="4142232"/>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17'</a:t>
            </a:r>
            <a:endParaRPr lang="en-US" sz="1500" dirty="0"/>
          </a:p>
        </p:txBody>
      </p:sp>
      <p:sp>
        <p:nvSpPr>
          <p:cNvPr id="43" name="Shape 37"/>
          <p:cNvSpPr/>
          <p:nvPr/>
        </p:nvSpPr>
        <p:spPr>
          <a:xfrm>
            <a:off x="6263640" y="4800600"/>
            <a:ext cx="384048" cy="384048"/>
          </a:xfrm>
          <a:prstGeom prst="ellipse">
            <a:avLst/>
          </a:prstGeom>
          <a:solidFill>
            <a:schemeClr val="tx2"/>
          </a:solidFill>
          <a:ln/>
        </p:spPr>
      </p:sp>
      <p:sp>
        <p:nvSpPr>
          <p:cNvPr id="44" name="Text 38"/>
          <p:cNvSpPr txBox="1"/>
          <p:nvPr/>
        </p:nvSpPr>
        <p:spPr>
          <a:xfrm>
            <a:off x="6263640" y="48006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709160"/>
            <a:ext cx="4114800" cy="566928"/>
          </a:xfrm>
          <a:prstGeom prst="rect">
            <a:avLst/>
          </a:prstGeom>
          <a:noFill/>
          <a:ln/>
        </p:spPr>
        <p:txBody>
          <a:bodyPr wrap="square" lIns="0" tIns="0" rIns="0" bIns="0" rtlCol="0" anchor="ctr"/>
          <a:lstStyle/>
          <a:p>
            <a:pPr indent="0" marL="0">
              <a:buNone/>
            </a:pPr>
            <a:r>
              <a:rPr lang="en-US" sz="1600" dirty="0">
                <a:solidFill>
                  <a:schemeClr val="tx1"/>
                </a:solidFill>
              </a:rPr>
              <a:t>D4 · Wat heb je gemist?</a:t>
            </a:r>
            <a:endParaRPr lang="en-US" sz="1600" dirty="0"/>
          </a:p>
        </p:txBody>
      </p:sp>
      <p:sp>
        <p:nvSpPr>
          <p:cNvPr id="46" name="Text 40"/>
          <p:cNvSpPr txBox="1"/>
          <p:nvPr/>
        </p:nvSpPr>
        <p:spPr>
          <a:xfrm>
            <a:off x="10972800" y="4709160"/>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20'</a:t>
            </a:r>
            <a:endParaRPr lang="en-US" sz="1500" dirty="0"/>
          </a:p>
        </p:txBody>
      </p:sp>
      <p:sp>
        <p:nvSpPr>
          <p:cNvPr id="47" name="Shape 41"/>
          <p:cNvSpPr/>
          <p:nvPr/>
        </p:nvSpPr>
        <p:spPr>
          <a:xfrm>
            <a:off x="6263640" y="5367528"/>
            <a:ext cx="384048" cy="384048"/>
          </a:xfrm>
          <a:prstGeom prst="ellipse">
            <a:avLst/>
          </a:prstGeom>
          <a:solidFill>
            <a:schemeClr val="tx2"/>
          </a:solidFill>
          <a:ln/>
        </p:spPr>
      </p:sp>
      <p:sp>
        <p:nvSpPr>
          <p:cNvPr id="48" name="Text 42"/>
          <p:cNvSpPr txBox="1"/>
          <p:nvPr/>
        </p:nvSpPr>
        <p:spPr>
          <a:xfrm>
            <a:off x="6263640" y="53675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76088"/>
            <a:ext cx="4114800" cy="566928"/>
          </a:xfrm>
          <a:prstGeom prst="rect">
            <a:avLst/>
          </a:prstGeom>
          <a:noFill/>
          <a:ln/>
        </p:spPr>
        <p:txBody>
          <a:bodyPr wrap="square" lIns="0" tIns="0" rIns="0" bIns="0" rtlCol="0" anchor="ctr"/>
          <a:lstStyle/>
          <a:p>
            <a:pPr indent="0" marL="0">
              <a:buNone/>
            </a:pPr>
            <a:r>
              <a:rPr lang="en-US" sz="1600" dirty="0">
                <a:solidFill>
                  <a:schemeClr val="tx1"/>
                </a:solidFill>
              </a:rPr>
              <a:t>Bilan</a:t>
            </a:r>
            <a:endParaRPr lang="en-US" sz="1600" dirty="0"/>
          </a:p>
        </p:txBody>
      </p:sp>
      <p:sp>
        <p:nvSpPr>
          <p:cNvPr id="50" name="Text 44"/>
          <p:cNvSpPr txBox="1"/>
          <p:nvPr/>
        </p:nvSpPr>
        <p:spPr>
          <a:xfrm>
            <a:off x="10972800" y="5276088"/>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3'</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13 : les connecteurs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13</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4 min, puis correction orale.</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Remettez dans l’ordre : </a:t>
            </a:r>
            <a:r>
              <a:rPr lang="en-US" sz="2600" i="1" dirty="0">
                <a:solidFill>
                  <a:schemeClr val="tx1"/>
                </a:solidFill>
              </a:rPr>
              <a:t>Ten slotte · ik · schrijf · het verslag</a:t>
            </a:r>
            <a:endParaRPr lang="en-US" sz="2600" dirty="0"/>
          </a:p>
          <a:p>
            <a:pPr indent="0" marL="0">
              <a:spcAft>
                <a:spcPts val="1400"/>
              </a:spcAft>
              <a:buNone/>
            </a:pPr>
            <a:r>
              <a:rPr lang="en-US" sz="2600" b="1" dirty="0">
                <a:solidFill>
                  <a:schemeClr val="tx2"/>
                </a:solidFill>
              </a:rPr>
              <a:t>2.  </a:t>
            </a:r>
            <a:r>
              <a:rPr lang="en-US" sz="2600" dirty="0">
                <a:solidFill>
                  <a:schemeClr val="tx1"/>
                </a:solidFill>
              </a:rPr>
              <a:t>Nadia is voor. Meneer Willems </a:t>
            </a:r>
            <a:r>
              <a:rPr lang="en-US" sz="2600" dirty="0">
                <a:solidFill>
                  <a:schemeClr val="accent5"/>
                </a:solidFill>
              </a:rPr>
              <a:t>……………</a:t>
            </a:r>
            <a:r>
              <a:rPr lang="en-US" sz="2600" dirty="0">
                <a:solidFill>
                  <a:schemeClr val="tx1"/>
                </a:solidFill>
              </a:rPr>
              <a:t> is tegen. (en revanche)</a:t>
            </a:r>
            <a:endParaRPr lang="en-US" sz="2600" dirty="0"/>
          </a:p>
          <a:p>
            <a:pPr indent="0" marL="0">
              <a:spcAft>
                <a:spcPts val="1400"/>
              </a:spcAft>
              <a:buNone/>
            </a:pPr>
            <a:r>
              <a:rPr lang="en-US" sz="2600" b="1" dirty="0">
                <a:solidFill>
                  <a:schemeClr val="tx2"/>
                </a:solidFill>
              </a:rPr>
              <a:t>3.  </a:t>
            </a:r>
            <a:r>
              <a:rPr lang="en-US" sz="2600" dirty="0">
                <a:solidFill>
                  <a:schemeClr val="tx1"/>
                </a:solidFill>
              </a:rPr>
              <a:t>« D’une part… d’autre part… »</a:t>
            </a:r>
            <a:endParaRPr lang="en-US" sz="2600" dirty="0"/>
          </a:p>
          <a:p>
            <a:pPr indent="0" marL="0">
              <a:spcAft>
                <a:spcPts val="1400"/>
              </a:spcAft>
              <a:buNone/>
            </a:pPr>
            <a:r>
              <a:rPr lang="en-US" sz="2600" b="1" dirty="0">
                <a:solidFill>
                  <a:schemeClr val="tx2"/>
                </a:solidFill>
              </a:rPr>
              <a:t>4.  </a:t>
            </a:r>
            <a:r>
              <a:rPr lang="en-US" sz="2600" dirty="0">
                <a:solidFill>
                  <a:schemeClr val="tx1"/>
                </a:solidFill>
              </a:rPr>
              <a:t>Wat de kosten </a:t>
            </a:r>
            <a:r>
              <a:rPr lang="en-US" sz="2600" dirty="0">
                <a:solidFill>
                  <a:schemeClr val="accent5"/>
                </a:solidFill>
              </a:rPr>
              <a:t>……………</a:t>
            </a:r>
            <a:r>
              <a:rPr lang="en-US" sz="2600" dirty="0">
                <a:solidFill>
                  <a:schemeClr val="tx1"/>
                </a:solidFill>
              </a:rPr>
              <a:t>, stel ik een spreiding voor.</a:t>
            </a:r>
            <a:endParaRPr lang="en-US" sz="2600" dirty="0"/>
          </a:p>
          <a:p>
            <a:pPr indent="0" marL="0">
              <a:spcAft>
                <a:spcPts val="1400"/>
              </a:spcAft>
              <a:buNone/>
            </a:pPr>
            <a:r>
              <a:rPr lang="en-US" sz="2600" b="1" dirty="0">
                <a:solidFill>
                  <a:schemeClr val="tx2"/>
                </a:solidFill>
              </a:rPr>
              <a:t>5.  </a:t>
            </a:r>
            <a:r>
              <a:rPr lang="en-US" sz="2600" dirty="0">
                <a:solidFill>
                  <a:schemeClr val="tx1"/>
                </a:solidFill>
              </a:rPr>
              <a:t>Reformulez avec </a:t>
            </a:r>
            <a:r>
              <a:rPr lang="en-US" sz="2600" b="1" dirty="0">
                <a:solidFill>
                  <a:schemeClr val="tx1"/>
                </a:solidFill>
              </a:rPr>
              <a:t>met andere woorden</a:t>
            </a:r>
            <a:r>
              <a:rPr lang="en-US" sz="2600" dirty="0">
                <a:solidFill>
                  <a:schemeClr val="tx1"/>
                </a:solidFill>
              </a:rPr>
              <a:t> : </a:t>
            </a:r>
            <a:r>
              <a:rPr lang="en-US" sz="2600" i="1" dirty="0">
                <a:solidFill>
                  <a:schemeClr val="tx1"/>
                </a:solidFill>
              </a:rPr>
              <a:t>De offerte is onvolledig.</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13 : les connecteurs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13</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4 min, puis correction orale.</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1.  </a:t>
            </a:r>
            <a:r>
              <a:rPr lang="en-US" sz="1600" dirty="0">
                <a:solidFill>
                  <a:schemeClr val="tx1"/>
                </a:solidFill>
              </a:rPr>
              <a:t>Remettez dans l’ordre : </a:t>
            </a:r>
            <a:r>
              <a:rPr lang="en-US" sz="1600" i="1" dirty="0">
                <a:solidFill>
                  <a:schemeClr val="tx1"/>
                </a:solidFill>
              </a:rPr>
              <a:t>Ten slotte · ik · schrijf · het verslag</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Ten slotte </a:t>
            </a:r>
            <a:r>
              <a:rPr lang="en-US" sz="1600" b="1" dirty="0">
                <a:solidFill>
                  <a:schemeClr val="accent3"/>
                </a:solidFill>
              </a:rPr>
              <a:t>schrijf ik</a:t>
            </a:r>
            <a:r>
              <a:rPr lang="en-US" sz="1600" dirty="0">
                <a:solidFill>
                  <a:schemeClr val="accent3"/>
                </a:solidFill>
              </a:rPr>
              <a:t> het verslag.</a:t>
            </a:r>
            <a:endParaRPr lang="en-US" sz="1600" dirty="0"/>
          </a:p>
          <a:p>
            <a:pPr indent="0" marL="0">
              <a:spcAft>
                <a:spcPts val="400"/>
              </a:spcAft>
              <a:buNone/>
            </a:pPr>
            <a:r>
              <a:rPr lang="en-US" sz="1600" b="1" dirty="0">
                <a:solidFill>
                  <a:schemeClr val="tx2"/>
                </a:solidFill>
              </a:rPr>
              <a:t>2.  </a:t>
            </a:r>
            <a:r>
              <a:rPr lang="en-US" sz="1600" dirty="0">
                <a:solidFill>
                  <a:schemeClr val="tx1"/>
                </a:solidFill>
              </a:rPr>
              <a:t>Nadia is voor. Meneer Willems </a:t>
            </a:r>
            <a:r>
              <a:rPr lang="en-US" sz="1600" dirty="0">
                <a:solidFill>
                  <a:schemeClr val="accent5"/>
                </a:solidFill>
              </a:rPr>
              <a:t>……………</a:t>
            </a:r>
            <a:r>
              <a:rPr lang="en-US" sz="1600" dirty="0">
                <a:solidFill>
                  <a:schemeClr val="tx1"/>
                </a:solidFill>
              </a:rPr>
              <a:t> is tegen. (en revanche)</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Meneer Willems </a:t>
            </a:r>
            <a:r>
              <a:rPr lang="en-US" sz="1600" b="1" dirty="0">
                <a:solidFill>
                  <a:schemeClr val="accent3"/>
                </a:solidFill>
              </a:rPr>
              <a:t>daarentegen</a:t>
            </a:r>
            <a:r>
              <a:rPr lang="en-US" sz="1600" dirty="0">
                <a:solidFill>
                  <a:schemeClr val="accent3"/>
                </a:solidFill>
              </a:rPr>
              <a:t> is tegen.</a:t>
            </a:r>
            <a:endParaRPr lang="en-US" sz="1600" dirty="0"/>
          </a:p>
          <a:p>
            <a:pPr indent="0" marL="0">
              <a:spcAft>
                <a:spcPts val="400"/>
              </a:spcAft>
              <a:buNone/>
            </a:pPr>
            <a:r>
              <a:rPr lang="en-US" sz="1600" b="1" dirty="0">
                <a:solidFill>
                  <a:schemeClr val="tx2"/>
                </a:solidFill>
              </a:rPr>
              <a:t>3.  </a:t>
            </a:r>
            <a:r>
              <a:rPr lang="en-US" sz="1600" dirty="0">
                <a:solidFill>
                  <a:schemeClr val="tx1"/>
                </a:solidFill>
              </a:rPr>
              <a:t>« D’une part… d’autre part… »</a:t>
            </a:r>
            <a:endParaRPr lang="en-US" sz="1600" dirty="0"/>
          </a:p>
          <a:p>
            <a:pPr indent="0" marL="0">
              <a:spcAft>
                <a:spcPts val="1200"/>
              </a:spcAft>
              <a:buNone/>
            </a:pPr>
            <a:r>
              <a:rPr lang="en-US" sz="1600" b="1" dirty="0">
                <a:solidFill>
                  <a:schemeClr val="accent3"/>
                </a:solidFill>
              </a:rPr>
              <a:t>→ </a:t>
            </a:r>
            <a:r>
              <a:rPr lang="en-US" sz="1600" b="1" dirty="0">
                <a:solidFill>
                  <a:schemeClr val="accent3"/>
                </a:solidFill>
              </a:rPr>
              <a:t>Enerzijds</a:t>
            </a:r>
            <a:r>
              <a:rPr lang="en-US" sz="1600" dirty="0">
                <a:solidFill>
                  <a:schemeClr val="accent3"/>
                </a:solidFill>
              </a:rPr>
              <a:t> … </a:t>
            </a:r>
            <a:r>
              <a:rPr lang="en-US" sz="1600" b="1" dirty="0">
                <a:solidFill>
                  <a:schemeClr val="accent3"/>
                </a:solidFill>
              </a:rPr>
              <a:t>anderzijds</a:t>
            </a:r>
            <a:r>
              <a:rPr lang="en-US" sz="1600" dirty="0">
                <a:solidFill>
                  <a:schemeClr val="accent3"/>
                </a:solidFill>
              </a:rPr>
              <a:t> …</a:t>
            </a:r>
            <a:endParaRPr lang="en-US" sz="1600" dirty="0"/>
          </a:p>
          <a:p>
            <a:pPr indent="0" marL="0">
              <a:spcAft>
                <a:spcPts val="400"/>
              </a:spcAft>
              <a:buNone/>
            </a:pPr>
            <a:r>
              <a:rPr lang="en-US" sz="1600" b="1" dirty="0">
                <a:solidFill>
                  <a:schemeClr val="tx2"/>
                </a:solidFill>
              </a:rPr>
              <a:t>4.  </a:t>
            </a:r>
            <a:r>
              <a:rPr lang="en-US" sz="1600" dirty="0">
                <a:solidFill>
                  <a:schemeClr val="tx1"/>
                </a:solidFill>
              </a:rPr>
              <a:t>Wat de kosten </a:t>
            </a:r>
            <a:r>
              <a:rPr lang="en-US" sz="1600" dirty="0">
                <a:solidFill>
                  <a:schemeClr val="accent5"/>
                </a:solidFill>
              </a:rPr>
              <a:t>……………</a:t>
            </a:r>
            <a:r>
              <a:rPr lang="en-US" sz="1600" dirty="0">
                <a:solidFill>
                  <a:schemeClr val="tx1"/>
                </a:solidFill>
              </a:rPr>
              <a:t>, stel ik een spreiding voor.</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Wat de kosten </a:t>
            </a:r>
            <a:r>
              <a:rPr lang="en-US" sz="1600" b="1" dirty="0">
                <a:solidFill>
                  <a:schemeClr val="accent3"/>
                </a:solidFill>
              </a:rPr>
              <a:t>betreft</a:t>
            </a:r>
            <a:r>
              <a:rPr lang="en-US" sz="1600" dirty="0">
                <a:solidFill>
                  <a:schemeClr val="accent3"/>
                </a:solidFill>
              </a:rPr>
              <a:t>, stel ik een spreiding voor.</a:t>
            </a:r>
            <a:endParaRPr lang="en-US" sz="1600" dirty="0"/>
          </a:p>
          <a:p>
            <a:pPr indent="0" marL="0">
              <a:spcAft>
                <a:spcPts val="400"/>
              </a:spcAft>
              <a:buNone/>
            </a:pPr>
            <a:r>
              <a:rPr lang="en-US" sz="1600" b="1" dirty="0">
                <a:solidFill>
                  <a:schemeClr val="tx2"/>
                </a:solidFill>
              </a:rPr>
              <a:t>5.  </a:t>
            </a:r>
            <a:r>
              <a:rPr lang="en-US" sz="1600" dirty="0">
                <a:solidFill>
                  <a:schemeClr val="tx1"/>
                </a:solidFill>
              </a:rPr>
              <a:t>Reformulez avec </a:t>
            </a:r>
            <a:r>
              <a:rPr lang="en-US" sz="1600" b="1" dirty="0">
                <a:solidFill>
                  <a:schemeClr val="tx1"/>
                </a:solidFill>
              </a:rPr>
              <a:t>met andere woorden</a:t>
            </a:r>
            <a:r>
              <a:rPr lang="en-US" sz="1600" dirty="0">
                <a:solidFill>
                  <a:schemeClr val="tx1"/>
                </a:solidFill>
              </a:rPr>
              <a:t> : </a:t>
            </a:r>
            <a:r>
              <a:rPr lang="en-US" sz="1600" i="1" dirty="0">
                <a:solidFill>
                  <a:schemeClr val="tx1"/>
                </a:solidFill>
              </a:rPr>
              <a:t>De offerte is onvolledig.</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De offerte is onvolledig. </a:t>
            </a:r>
            <a:r>
              <a:rPr lang="en-US" sz="1600" b="1" dirty="0">
                <a:solidFill>
                  <a:schemeClr val="accent3"/>
                </a:solidFill>
              </a:rPr>
              <a:t>Met andere woorden</a:t>
            </a:r>
            <a:r>
              <a:rPr lang="en-US" sz="1600" dirty="0">
                <a:solidFill>
                  <a:schemeClr val="accent3"/>
                </a:solidFill>
              </a:rPr>
              <a:t>: we kunnen nog niet beslissen.</a:t>
            </a:r>
            <a:endParaRPr lang="en-US" sz="16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Connecteur en tête : </a:t>
            </a:r>
            <a:r>
              <a:rPr lang="en-US" sz="1800" b="1" dirty="0">
                <a:solidFill>
                  <a:schemeClr val="tx1"/>
                </a:solidFill>
              </a:rPr>
              <a:t>verbe avant le sujet</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echter / daarentegen</a:t>
            </a:r>
            <a:r>
              <a:rPr lang="en-US" sz="1800" dirty="0">
                <a:solidFill>
                  <a:schemeClr val="tx1"/>
                </a:solidFill>
              </a:rPr>
              <a:t> : aussi après le sujet.</a:t>
            </a:r>
            <a:endParaRPr lang="en-US" sz="1800" dirty="0"/>
          </a:p>
          <a:p>
            <a:pPr marL="177800" indent="-177800">
              <a:spcAft>
                <a:spcPts val="600"/>
              </a:spcAft>
              <a:buSzPct val="100000"/>
              <a:buChar char="•"/>
            </a:pPr>
            <a:r>
              <a:rPr lang="en-US" sz="1800" b="1" dirty="0">
                <a:solidFill>
                  <a:schemeClr val="tx1"/>
                </a:solidFill>
              </a:rPr>
              <a:t>wat … betreft</a:t>
            </a:r>
            <a:r>
              <a:rPr lang="en-US" sz="1800" dirty="0">
                <a:solidFill>
                  <a:schemeClr val="tx1"/>
                </a:solidFill>
              </a:rPr>
              <a:t> encadre le thème.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7.4 : le PV fait foi</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481328"/>
            <a:ext cx="7205472" cy="3681838"/>
          </a:xfrm>
          <a:prstGeom prst="rect">
            <a:avLst/>
          </a:prstGeom>
          <a:effectLst>
            <a:outerShdw sx="100000" sy="100000" kx="0" ky="0" algn="bl" rotWithShape="0" blurRad="101600" dist="25400" dir="3600000">
              <a:srgbClr val="000000">
                <a:alpha val="18000"/>
              </a:srgbClr>
            </a:outerShdw>
          </a:effectLst>
        </p:spPr>
      </p:pic>
      <p:sp>
        <p:nvSpPr>
          <p:cNvPr id="7" name="aside"/>
          <p:cNvSpPr/>
          <p:nvPr/>
        </p:nvSpPr>
        <p:spPr>
          <a:xfrm>
            <a:off x="8074152" y="1481328"/>
            <a:ext cx="3566160" cy="4809744"/>
          </a:xfrm>
          <a:prstGeom prst="roundRect">
            <a:avLst>
              <a:gd name="adj" fmla="val 2051"/>
            </a:avLst>
          </a:prstGeom>
          <a:solidFill>
            <a:schemeClr val="accent2">
              <a:alpha val="10000"/>
            </a:schemeClr>
          </a:solidFill>
          <a:ln w="12700">
            <a:solidFill>
              <a:schemeClr val="accent2">
                <a:alpha val="60000"/>
              </a:schemeClr>
            </a:solidFill>
            <a:prstDash val="solid"/>
          </a:ln>
        </p:spPr>
      </p:sp>
      <p:pic>
        <p:nvPicPr>
          <p:cNvPr id="8" name="Image 1" descr="preencoded.png">    </p:cNvPr>
          <p:cNvPicPr>
            <a:picLocks noChangeAspect="1"/>
          </p:cNvPicPr>
          <p:nvPr/>
        </p:nvPicPr>
        <p:blipFill>
          <a:blip r:embed="rId2"/>
          <a:stretch>
            <a:fillRect/>
          </a:stretch>
        </p:blipFill>
        <p:spPr>
          <a:xfrm>
            <a:off x="8257032" y="1664208"/>
            <a:ext cx="292608" cy="292608"/>
          </a:xfrm>
          <a:prstGeom prst="rect">
            <a:avLst/>
          </a:prstGeom>
        </p:spPr>
      </p:pic>
      <p:sp>
        <p:nvSpPr>
          <p:cNvPr id="9" name="Text 4"/>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EXEMPLES DU LIVRET</a:t>
            </a:r>
            <a:endParaRPr lang="en-US" sz="1400" dirty="0"/>
          </a:p>
        </p:txBody>
      </p:sp>
      <p:sp>
        <p:nvSpPr>
          <p:cNvPr id="10" name="Text 5"/>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Ce qui n’est pas dans les notulen n’existe pas.</a:t>
            </a:r>
            <a:endParaRPr lang="en-US" sz="1800" dirty="0"/>
          </a:p>
          <a:p>
            <a:pPr marL="177800" indent="-177800">
              <a:spcAft>
                <a:spcPts val="600"/>
              </a:spcAft>
              <a:buSzPct val="100000"/>
              <a:buChar char="•"/>
            </a:pPr>
            <a:r>
              <a:rPr lang="en-US" sz="1800" i="1" dirty="0">
                <a:solidFill>
                  <a:schemeClr val="tx1"/>
                </a:solidFill>
              </a:rPr>
              <a:t>Er werd beslist dat de werken in maart starten.</a:t>
            </a:r>
            <a:r>
              <a:rPr lang="en-US" sz="1800" dirty="0">
                <a:solidFill>
                  <a:schemeClr val="tx1"/>
                </a:solidFill>
              </a:rPr>
              <a:t> — Il a été décidé que…</a:t>
            </a:r>
            <a:endParaRPr lang="en-US" sz="1800" dirty="0"/>
          </a:p>
          <a:p>
            <a:pPr marL="177800" indent="-177800">
              <a:spcAft>
                <a:spcPts val="600"/>
              </a:spcAft>
              <a:buSzPct val="100000"/>
              <a:buChar char="•"/>
            </a:pPr>
            <a:r>
              <a:rPr lang="en-US" sz="1800" i="1" dirty="0">
                <a:solidFill>
                  <a:schemeClr val="tx1"/>
                </a:solidFill>
              </a:rPr>
              <a:t>Er werd voorgesteld om een tweede offerte te vragen.</a:t>
            </a:r>
            <a:r>
              <a:rPr lang="en-US" sz="1800" dirty="0">
                <a:solidFill>
                  <a:schemeClr val="tx1"/>
                </a:solidFill>
              </a:rPr>
              <a:t> — Il a été proposé de…</a:t>
            </a:r>
            <a:endParaRPr lang="en-US" sz="1800" dirty="0"/>
          </a:p>
          <a:p>
            <a:pPr marL="177800" indent="-177800">
              <a:spcAft>
                <a:spcPts val="600"/>
              </a:spcAft>
              <a:buSzPct val="100000"/>
              <a:buChar char="•"/>
            </a:pPr>
            <a:r>
              <a:rPr lang="en-US" sz="1800" i="1" dirty="0">
                <a:solidFill>
                  <a:schemeClr val="tx1"/>
                </a:solidFill>
              </a:rPr>
              <a:t>De verhoging werd goedgekeurd met 8 stemmen tegen 3.</a:t>
            </a:r>
            <a:r>
              <a:rPr lang="en-US" sz="1800" dirty="0">
                <a:solidFill>
                  <a:schemeClr val="tx1"/>
                </a:solidFill>
              </a:rPr>
              <a:t> — …approuvée par 8 voix contre 3.</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 PV : passif impersonnel et discours indirect</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Cinq tournures de procès-verbal. Dans les subordonnées, le </a:t>
            </a:r>
            <a:r>
              <a:rPr lang="en-US" sz="1800" b="1" dirty="0">
                <a:solidFill>
                  <a:schemeClr val="tx1"/>
                </a:solidFill>
              </a:rPr>
              <a:t>verbe conjugué</a:t>
            </a:r>
            <a:r>
              <a:rPr lang="en-US" sz="1800" dirty="0">
                <a:solidFill>
                  <a:schemeClr val="tx1"/>
                </a:solidFill>
              </a:rPr>
              <a:t> part </a:t>
            </a:r>
            <a:r>
              <a:rPr lang="en-US" sz="1800" b="1" dirty="0">
                <a:solidFill>
                  <a:schemeClr val="tx1"/>
                </a:solidFill>
              </a:rPr>
              <a:t>à la fin</a:t>
            </a:r>
            <a:r>
              <a:rPr lang="en-US" sz="1800" dirty="0">
                <a:solidFill>
                  <a:schemeClr val="tx1"/>
                </a:solidFill>
              </a:rPr>
              <a:t>.</a:t>
            </a:r>
            <a:endParaRPr lang="en-US" sz="1800" dirty="0"/>
          </a:p>
        </p:txBody>
      </p:sp>
      <p:sp>
        <p:nvSpPr>
          <p:cNvPr id="7" name="Text 4"/>
          <p:cNvSpPr txBox="1"/>
          <p:nvPr/>
        </p:nvSpPr>
        <p:spPr>
          <a:xfrm>
            <a:off x="548640" y="2185416"/>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Décision</a:t>
            </a:r>
            <a:endParaRPr lang="en-US" sz="1400" dirty="0"/>
          </a:p>
        </p:txBody>
      </p:sp>
      <p:sp>
        <p:nvSpPr>
          <p:cNvPr id="8" name="Text 5"/>
          <p:cNvSpPr txBox="1"/>
          <p:nvPr/>
        </p:nvSpPr>
        <p:spPr>
          <a:xfrm>
            <a:off x="2103120" y="1947672"/>
            <a:ext cx="685800" cy="219456"/>
          </a:xfrm>
          <a:prstGeom prst="rect">
            <a:avLst/>
          </a:prstGeom>
          <a:noFill/>
          <a:ln/>
        </p:spPr>
        <p:txBody>
          <a:bodyPr wrap="square" lIns="0" tIns="0" rIns="0" bIns="0" rtlCol="0" anchor="b"/>
          <a:lstStyle/>
          <a:p>
            <a:pPr algn="ctr" indent="0" marL="0">
              <a:buNone/>
            </a:pPr>
            <a:r>
              <a:rPr lang="en-US" sz="1000" b="1" dirty="0">
                <a:solidFill>
                  <a:schemeClr val="accent5"/>
                </a:solidFill>
              </a:rPr>
              <a:t>sujet formel</a:t>
            </a:r>
            <a:endParaRPr lang="en-US" sz="1000" dirty="0"/>
          </a:p>
        </p:txBody>
      </p:sp>
      <p:sp>
        <p:nvSpPr>
          <p:cNvPr id="9" name="Shape 6"/>
          <p:cNvSpPr/>
          <p:nvPr/>
        </p:nvSpPr>
        <p:spPr>
          <a:xfrm>
            <a:off x="2103120" y="2185416"/>
            <a:ext cx="685800" cy="329184"/>
          </a:xfrm>
          <a:prstGeom prst="roundRect">
            <a:avLst>
              <a:gd name="adj" fmla="val 16667"/>
            </a:avLst>
          </a:prstGeom>
          <a:solidFill>
            <a:schemeClr val="accent5">
              <a:alpha val="25000"/>
            </a:schemeClr>
          </a:solidFill>
          <a:ln w="12700">
            <a:solidFill>
              <a:srgbClr val="4A5A70"/>
            </a:solidFill>
            <a:prstDash val="solid"/>
          </a:ln>
        </p:spPr>
      </p:sp>
      <p:sp>
        <p:nvSpPr>
          <p:cNvPr id="10" name="Text 7"/>
          <p:cNvSpPr txBox="1"/>
          <p:nvPr/>
        </p:nvSpPr>
        <p:spPr>
          <a:xfrm>
            <a:off x="2139696" y="2185416"/>
            <a:ext cx="612648" cy="329184"/>
          </a:xfrm>
          <a:prstGeom prst="rect">
            <a:avLst/>
          </a:prstGeom>
          <a:noFill/>
          <a:ln/>
        </p:spPr>
        <p:txBody>
          <a:bodyPr wrap="square" lIns="0" tIns="0" rIns="0" bIns="0" rtlCol="0" anchor="ctr"/>
          <a:lstStyle/>
          <a:p>
            <a:pPr algn="ctr" indent="0" marL="0">
              <a:buNone/>
            </a:pPr>
            <a:r>
              <a:rPr lang="en-US" sz="1600" b="1" dirty="0">
                <a:solidFill>
                  <a:schemeClr val="tx1"/>
                </a:solidFill>
              </a:rPr>
              <a:t>Er</a:t>
            </a:r>
            <a:endParaRPr lang="en-US" sz="1600" dirty="0"/>
          </a:p>
        </p:txBody>
      </p:sp>
      <p:sp>
        <p:nvSpPr>
          <p:cNvPr id="11" name="Text 8"/>
          <p:cNvSpPr txBox="1"/>
          <p:nvPr/>
        </p:nvSpPr>
        <p:spPr>
          <a:xfrm>
            <a:off x="2898648" y="1947672"/>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12" name="Shape 9"/>
          <p:cNvSpPr/>
          <p:nvPr/>
        </p:nvSpPr>
        <p:spPr>
          <a:xfrm>
            <a:off x="2898648" y="2185416"/>
            <a:ext cx="751840" cy="329184"/>
          </a:xfrm>
          <a:prstGeom prst="roundRect">
            <a:avLst>
              <a:gd name="adj" fmla="val 16667"/>
            </a:avLst>
          </a:prstGeom>
          <a:solidFill>
            <a:schemeClr val="accent6">
              <a:alpha val="88000"/>
            </a:schemeClr>
          </a:solidFill>
          <a:ln w="12700">
            <a:solidFill>
              <a:srgbClr val="B83227"/>
            </a:solidFill>
            <a:prstDash val="solid"/>
          </a:ln>
        </p:spPr>
      </p:sp>
      <p:sp>
        <p:nvSpPr>
          <p:cNvPr id="13" name="Text 10"/>
          <p:cNvSpPr txBox="1"/>
          <p:nvPr/>
        </p:nvSpPr>
        <p:spPr>
          <a:xfrm>
            <a:off x="2935224" y="2185416"/>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werd</a:t>
            </a:r>
            <a:endParaRPr lang="en-US" sz="1600" dirty="0"/>
          </a:p>
        </p:txBody>
      </p:sp>
      <p:sp>
        <p:nvSpPr>
          <p:cNvPr id="14" name="Text 11"/>
          <p:cNvSpPr txBox="1"/>
          <p:nvPr/>
        </p:nvSpPr>
        <p:spPr>
          <a:xfrm>
            <a:off x="3760216" y="1947672"/>
            <a:ext cx="1068832" cy="219456"/>
          </a:xfrm>
          <a:prstGeom prst="rect">
            <a:avLst/>
          </a:prstGeom>
          <a:noFill/>
          <a:ln/>
        </p:spPr>
        <p:txBody>
          <a:bodyPr wrap="square" lIns="0" tIns="0" rIns="0" bIns="0" rtlCol="0" anchor="b"/>
          <a:lstStyle/>
          <a:p>
            <a:pPr algn="ctr" indent="0" marL="0">
              <a:buNone/>
            </a:pPr>
            <a:r>
              <a:rPr lang="en-US" sz="1000" b="1" dirty="0">
                <a:solidFill>
                  <a:schemeClr val="accent1"/>
                </a:solidFill>
              </a:rPr>
              <a:t>participe</a:t>
            </a:r>
            <a:endParaRPr lang="en-US" sz="1000" dirty="0"/>
          </a:p>
        </p:txBody>
      </p:sp>
      <p:sp>
        <p:nvSpPr>
          <p:cNvPr id="15" name="Shape 12"/>
          <p:cNvSpPr/>
          <p:nvPr/>
        </p:nvSpPr>
        <p:spPr>
          <a:xfrm>
            <a:off x="3760216" y="2185416"/>
            <a:ext cx="1068832" cy="329184"/>
          </a:xfrm>
          <a:prstGeom prst="roundRect">
            <a:avLst>
              <a:gd name="adj" fmla="val 16667"/>
            </a:avLst>
          </a:prstGeom>
          <a:solidFill>
            <a:schemeClr val="accent1">
              <a:alpha val="88000"/>
            </a:schemeClr>
          </a:solidFill>
          <a:ln w="12700">
            <a:solidFill>
              <a:srgbClr val="D9700F"/>
            </a:solidFill>
            <a:prstDash val="solid"/>
          </a:ln>
        </p:spPr>
      </p:sp>
      <p:sp>
        <p:nvSpPr>
          <p:cNvPr id="16" name="Text 13"/>
          <p:cNvSpPr txBox="1"/>
          <p:nvPr/>
        </p:nvSpPr>
        <p:spPr>
          <a:xfrm>
            <a:off x="3796792" y="2185416"/>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beslist</a:t>
            </a:r>
            <a:endParaRPr lang="en-US" sz="1600" dirty="0"/>
          </a:p>
        </p:txBody>
      </p:sp>
      <p:sp>
        <p:nvSpPr>
          <p:cNvPr id="17" name="Text 14"/>
          <p:cNvSpPr txBox="1"/>
          <p:nvPr/>
        </p:nvSpPr>
        <p:spPr>
          <a:xfrm>
            <a:off x="4938776" y="1947672"/>
            <a:ext cx="68580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18" name="Shape 15"/>
          <p:cNvSpPr/>
          <p:nvPr/>
        </p:nvSpPr>
        <p:spPr>
          <a:xfrm>
            <a:off x="4938776" y="2185416"/>
            <a:ext cx="685800" cy="329184"/>
          </a:xfrm>
          <a:prstGeom prst="roundRect">
            <a:avLst>
              <a:gd name="adj" fmla="val 16667"/>
            </a:avLst>
          </a:prstGeom>
          <a:solidFill>
            <a:srgbClr val="6E4A9E">
              <a:alpha val="88000"/>
            </a:srgbClr>
          </a:solidFill>
          <a:ln w="12700">
            <a:solidFill>
              <a:srgbClr val="6E4A9E"/>
            </a:solidFill>
            <a:prstDash val="solid"/>
          </a:ln>
        </p:spPr>
      </p:sp>
      <p:sp>
        <p:nvSpPr>
          <p:cNvPr id="19" name="Text 16"/>
          <p:cNvSpPr txBox="1"/>
          <p:nvPr/>
        </p:nvSpPr>
        <p:spPr>
          <a:xfrm>
            <a:off x="4975352" y="218541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dat</a:t>
            </a:r>
            <a:endParaRPr lang="en-US" sz="1600" dirty="0"/>
          </a:p>
        </p:txBody>
      </p:sp>
      <p:sp>
        <p:nvSpPr>
          <p:cNvPr id="20" name="Text 17"/>
          <p:cNvSpPr txBox="1"/>
          <p:nvPr/>
        </p:nvSpPr>
        <p:spPr>
          <a:xfrm>
            <a:off x="5734304" y="1947672"/>
            <a:ext cx="2231136"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21" name="Shape 18"/>
          <p:cNvSpPr/>
          <p:nvPr/>
        </p:nvSpPr>
        <p:spPr>
          <a:xfrm>
            <a:off x="5734304" y="2185416"/>
            <a:ext cx="2231136" cy="329184"/>
          </a:xfrm>
          <a:prstGeom prst="roundRect">
            <a:avLst>
              <a:gd name="adj" fmla="val 16667"/>
            </a:avLst>
          </a:prstGeom>
          <a:solidFill>
            <a:schemeClr val="accent5">
              <a:alpha val="25000"/>
            </a:schemeClr>
          </a:solidFill>
          <a:ln w="12700">
            <a:solidFill>
              <a:srgbClr val="4A5A70"/>
            </a:solidFill>
            <a:prstDash val="solid"/>
          </a:ln>
        </p:spPr>
      </p:sp>
      <p:sp>
        <p:nvSpPr>
          <p:cNvPr id="22" name="Text 19"/>
          <p:cNvSpPr txBox="1"/>
          <p:nvPr/>
        </p:nvSpPr>
        <p:spPr>
          <a:xfrm>
            <a:off x="5770880" y="2185416"/>
            <a:ext cx="2157984" cy="329184"/>
          </a:xfrm>
          <a:prstGeom prst="rect">
            <a:avLst/>
          </a:prstGeom>
          <a:noFill/>
          <a:ln/>
        </p:spPr>
        <p:txBody>
          <a:bodyPr wrap="square" lIns="0" tIns="0" rIns="0" bIns="0" rtlCol="0" anchor="ctr"/>
          <a:lstStyle/>
          <a:p>
            <a:pPr algn="ctr" indent="0" marL="0">
              <a:buNone/>
            </a:pPr>
            <a:r>
              <a:rPr lang="en-US" sz="1600" b="1" dirty="0">
                <a:solidFill>
                  <a:schemeClr val="tx1"/>
                </a:solidFill>
              </a:rPr>
              <a:t>de werken in maart</a:t>
            </a:r>
            <a:endParaRPr lang="en-US" sz="1600" dirty="0"/>
          </a:p>
        </p:txBody>
      </p:sp>
      <p:sp>
        <p:nvSpPr>
          <p:cNvPr id="23" name="Text 20"/>
          <p:cNvSpPr txBox="1"/>
          <p:nvPr/>
        </p:nvSpPr>
        <p:spPr>
          <a:xfrm>
            <a:off x="8075168" y="1947672"/>
            <a:ext cx="1068832" cy="219456"/>
          </a:xfrm>
          <a:prstGeom prst="rect">
            <a:avLst/>
          </a:prstGeom>
          <a:noFill/>
          <a:ln/>
        </p:spPr>
        <p:txBody>
          <a:bodyPr wrap="square" lIns="0" tIns="0" rIns="0" bIns="0" rtlCol="0" anchor="b"/>
          <a:lstStyle/>
          <a:p>
            <a:pPr algn="ctr" indent="0" marL="0">
              <a:buNone/>
            </a:pPr>
            <a:r>
              <a:rPr lang="en-US" sz="1000" b="1" dirty="0">
                <a:solidFill>
                  <a:schemeClr val="accent6"/>
                </a:solidFill>
              </a:rPr>
              <a:t>à la fin</a:t>
            </a:r>
            <a:endParaRPr lang="en-US" sz="1000" dirty="0"/>
          </a:p>
        </p:txBody>
      </p:sp>
      <p:sp>
        <p:nvSpPr>
          <p:cNvPr id="24" name="Shape 21"/>
          <p:cNvSpPr/>
          <p:nvPr/>
        </p:nvSpPr>
        <p:spPr>
          <a:xfrm>
            <a:off x="8075168" y="2185416"/>
            <a:ext cx="1068832" cy="329184"/>
          </a:xfrm>
          <a:prstGeom prst="roundRect">
            <a:avLst>
              <a:gd name="adj" fmla="val 16667"/>
            </a:avLst>
          </a:prstGeom>
          <a:solidFill>
            <a:schemeClr val="accent6">
              <a:alpha val="88000"/>
            </a:schemeClr>
          </a:solidFill>
          <a:ln w="12700">
            <a:solidFill>
              <a:srgbClr val="B83227"/>
            </a:solidFill>
            <a:prstDash val="solid"/>
          </a:ln>
        </p:spPr>
      </p:sp>
      <p:sp>
        <p:nvSpPr>
          <p:cNvPr id="25" name="Text 22"/>
          <p:cNvSpPr txBox="1"/>
          <p:nvPr/>
        </p:nvSpPr>
        <p:spPr>
          <a:xfrm>
            <a:off x="8111744" y="2185416"/>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starten</a:t>
            </a:r>
            <a:endParaRPr lang="en-US" sz="1600" dirty="0"/>
          </a:p>
        </p:txBody>
      </p:sp>
      <p:sp>
        <p:nvSpPr>
          <p:cNvPr id="26" name="Text 23"/>
          <p:cNvSpPr txBox="1"/>
          <p:nvPr/>
        </p:nvSpPr>
        <p:spPr>
          <a:xfrm>
            <a:off x="2103120" y="2542032"/>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Il a été décidé que les travaux démarrent en mars.</a:t>
            </a:r>
            <a:endParaRPr lang="en-US" sz="1400" dirty="0"/>
          </a:p>
        </p:txBody>
      </p:sp>
      <p:sp>
        <p:nvSpPr>
          <p:cNvPr id="27" name="Text 24"/>
          <p:cNvSpPr txBox="1"/>
          <p:nvPr/>
        </p:nvSpPr>
        <p:spPr>
          <a:xfrm>
            <a:off x="548640" y="2868778"/>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Proposition</a:t>
            </a:r>
            <a:endParaRPr lang="en-US" sz="1400" dirty="0"/>
          </a:p>
        </p:txBody>
      </p:sp>
      <p:sp>
        <p:nvSpPr>
          <p:cNvPr id="28" name="Text 25"/>
          <p:cNvSpPr txBox="1"/>
          <p:nvPr/>
        </p:nvSpPr>
        <p:spPr>
          <a:xfrm>
            <a:off x="2103120" y="2631034"/>
            <a:ext cx="685800" cy="219456"/>
          </a:xfrm>
          <a:prstGeom prst="rect">
            <a:avLst/>
          </a:prstGeom>
          <a:noFill/>
          <a:ln/>
        </p:spPr>
        <p:txBody>
          <a:bodyPr wrap="square" lIns="0" tIns="0" rIns="0" bIns="0" rtlCol="0" anchor="b"/>
          <a:lstStyle/>
          <a:p>
            <a:pPr algn="ctr" indent="0" marL="0">
              <a:buNone/>
            </a:pPr>
            <a:endParaRPr lang="en-US" sz="1000" dirty="0"/>
          </a:p>
        </p:txBody>
      </p:sp>
      <p:sp>
        <p:nvSpPr>
          <p:cNvPr id="29" name="Shape 26"/>
          <p:cNvSpPr/>
          <p:nvPr/>
        </p:nvSpPr>
        <p:spPr>
          <a:xfrm>
            <a:off x="2103120" y="2868778"/>
            <a:ext cx="685800" cy="329184"/>
          </a:xfrm>
          <a:prstGeom prst="roundRect">
            <a:avLst>
              <a:gd name="adj" fmla="val 16667"/>
            </a:avLst>
          </a:prstGeom>
          <a:solidFill>
            <a:schemeClr val="accent5">
              <a:alpha val="25000"/>
            </a:schemeClr>
          </a:solidFill>
          <a:ln w="12700">
            <a:solidFill>
              <a:srgbClr val="4A5A70"/>
            </a:solidFill>
            <a:prstDash val="solid"/>
          </a:ln>
        </p:spPr>
      </p:sp>
      <p:sp>
        <p:nvSpPr>
          <p:cNvPr id="30" name="Text 27"/>
          <p:cNvSpPr txBox="1"/>
          <p:nvPr/>
        </p:nvSpPr>
        <p:spPr>
          <a:xfrm>
            <a:off x="2139696" y="2868778"/>
            <a:ext cx="612648" cy="329184"/>
          </a:xfrm>
          <a:prstGeom prst="rect">
            <a:avLst/>
          </a:prstGeom>
          <a:noFill/>
          <a:ln/>
        </p:spPr>
        <p:txBody>
          <a:bodyPr wrap="square" lIns="0" tIns="0" rIns="0" bIns="0" rtlCol="0" anchor="ctr"/>
          <a:lstStyle/>
          <a:p>
            <a:pPr algn="ctr" indent="0" marL="0">
              <a:buNone/>
            </a:pPr>
            <a:r>
              <a:rPr lang="en-US" sz="1600" b="1" dirty="0">
                <a:solidFill>
                  <a:schemeClr val="tx1"/>
                </a:solidFill>
              </a:rPr>
              <a:t>Er</a:t>
            </a:r>
            <a:endParaRPr lang="en-US" sz="1600" dirty="0"/>
          </a:p>
        </p:txBody>
      </p:sp>
      <p:sp>
        <p:nvSpPr>
          <p:cNvPr id="31" name="Text 28"/>
          <p:cNvSpPr txBox="1"/>
          <p:nvPr/>
        </p:nvSpPr>
        <p:spPr>
          <a:xfrm>
            <a:off x="2898648" y="2631034"/>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32" name="Shape 29"/>
          <p:cNvSpPr/>
          <p:nvPr/>
        </p:nvSpPr>
        <p:spPr>
          <a:xfrm>
            <a:off x="2898648" y="2868778"/>
            <a:ext cx="751840" cy="329184"/>
          </a:xfrm>
          <a:prstGeom prst="roundRect">
            <a:avLst>
              <a:gd name="adj" fmla="val 16667"/>
            </a:avLst>
          </a:prstGeom>
          <a:solidFill>
            <a:schemeClr val="accent6">
              <a:alpha val="88000"/>
            </a:schemeClr>
          </a:solidFill>
          <a:ln w="12700">
            <a:solidFill>
              <a:srgbClr val="B83227"/>
            </a:solidFill>
            <a:prstDash val="solid"/>
          </a:ln>
        </p:spPr>
      </p:sp>
      <p:sp>
        <p:nvSpPr>
          <p:cNvPr id="33" name="Text 30"/>
          <p:cNvSpPr txBox="1"/>
          <p:nvPr/>
        </p:nvSpPr>
        <p:spPr>
          <a:xfrm>
            <a:off x="2935224" y="2868778"/>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werd</a:t>
            </a:r>
            <a:endParaRPr lang="en-US" sz="1600" dirty="0"/>
          </a:p>
        </p:txBody>
      </p:sp>
      <p:sp>
        <p:nvSpPr>
          <p:cNvPr id="34" name="Text 31"/>
          <p:cNvSpPr txBox="1"/>
          <p:nvPr/>
        </p:nvSpPr>
        <p:spPr>
          <a:xfrm>
            <a:off x="3760216" y="2631034"/>
            <a:ext cx="1491488"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35" name="Shape 32"/>
          <p:cNvSpPr/>
          <p:nvPr/>
        </p:nvSpPr>
        <p:spPr>
          <a:xfrm>
            <a:off x="3760216" y="2868778"/>
            <a:ext cx="1491488" cy="329184"/>
          </a:xfrm>
          <a:prstGeom prst="roundRect">
            <a:avLst>
              <a:gd name="adj" fmla="val 16667"/>
            </a:avLst>
          </a:prstGeom>
          <a:solidFill>
            <a:schemeClr val="accent1">
              <a:alpha val="88000"/>
            </a:schemeClr>
          </a:solidFill>
          <a:ln w="12700">
            <a:solidFill>
              <a:srgbClr val="D9700F"/>
            </a:solidFill>
            <a:prstDash val="solid"/>
          </a:ln>
        </p:spPr>
      </p:sp>
      <p:sp>
        <p:nvSpPr>
          <p:cNvPr id="36" name="Text 33"/>
          <p:cNvSpPr txBox="1"/>
          <p:nvPr/>
        </p:nvSpPr>
        <p:spPr>
          <a:xfrm>
            <a:off x="3796792" y="2868778"/>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voorgesteld</a:t>
            </a:r>
            <a:endParaRPr lang="en-US" sz="1600" dirty="0"/>
          </a:p>
        </p:txBody>
      </p:sp>
      <p:sp>
        <p:nvSpPr>
          <p:cNvPr id="37" name="Text 34"/>
          <p:cNvSpPr txBox="1"/>
          <p:nvPr/>
        </p:nvSpPr>
        <p:spPr>
          <a:xfrm>
            <a:off x="5361432" y="2631034"/>
            <a:ext cx="2548128"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38" name="Shape 35"/>
          <p:cNvSpPr/>
          <p:nvPr/>
        </p:nvSpPr>
        <p:spPr>
          <a:xfrm>
            <a:off x="5361432" y="2868778"/>
            <a:ext cx="2548128" cy="329184"/>
          </a:xfrm>
          <a:prstGeom prst="roundRect">
            <a:avLst>
              <a:gd name="adj" fmla="val 16667"/>
            </a:avLst>
          </a:prstGeom>
          <a:solidFill>
            <a:schemeClr val="accent5">
              <a:alpha val="25000"/>
            </a:schemeClr>
          </a:solidFill>
          <a:ln w="12700">
            <a:solidFill>
              <a:srgbClr val="4A5A70"/>
            </a:solidFill>
            <a:prstDash val="solid"/>
          </a:ln>
        </p:spPr>
      </p:sp>
      <p:sp>
        <p:nvSpPr>
          <p:cNvPr id="39" name="Text 36"/>
          <p:cNvSpPr txBox="1"/>
          <p:nvPr/>
        </p:nvSpPr>
        <p:spPr>
          <a:xfrm>
            <a:off x="5398008" y="2868778"/>
            <a:ext cx="2474976" cy="329184"/>
          </a:xfrm>
          <a:prstGeom prst="rect">
            <a:avLst/>
          </a:prstGeom>
          <a:noFill/>
          <a:ln/>
        </p:spPr>
        <p:txBody>
          <a:bodyPr wrap="square" lIns="0" tIns="0" rIns="0" bIns="0" rtlCol="0" anchor="ctr"/>
          <a:lstStyle/>
          <a:p>
            <a:pPr algn="ctr" indent="0" marL="0">
              <a:buNone/>
            </a:pPr>
            <a:r>
              <a:rPr lang="en-US" sz="1600" b="1" dirty="0">
                <a:solidFill>
                  <a:schemeClr val="tx1"/>
                </a:solidFill>
              </a:rPr>
              <a:t>om een tweede offerte</a:t>
            </a:r>
            <a:endParaRPr lang="en-US" sz="1600" dirty="0"/>
          </a:p>
        </p:txBody>
      </p:sp>
      <p:sp>
        <p:nvSpPr>
          <p:cNvPr id="40" name="Text 37"/>
          <p:cNvSpPr txBox="1"/>
          <p:nvPr/>
        </p:nvSpPr>
        <p:spPr>
          <a:xfrm>
            <a:off x="8019288" y="2631034"/>
            <a:ext cx="1280160"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41" name="Shape 38"/>
          <p:cNvSpPr/>
          <p:nvPr/>
        </p:nvSpPr>
        <p:spPr>
          <a:xfrm>
            <a:off x="8019288" y="2868778"/>
            <a:ext cx="1280160" cy="329184"/>
          </a:xfrm>
          <a:prstGeom prst="roundRect">
            <a:avLst>
              <a:gd name="adj" fmla="val 16667"/>
            </a:avLst>
          </a:prstGeom>
          <a:solidFill>
            <a:schemeClr val="accent1">
              <a:alpha val="88000"/>
            </a:schemeClr>
          </a:solidFill>
          <a:ln w="12700">
            <a:solidFill>
              <a:srgbClr val="D9700F"/>
            </a:solidFill>
            <a:prstDash val="solid"/>
          </a:ln>
        </p:spPr>
      </p:sp>
      <p:sp>
        <p:nvSpPr>
          <p:cNvPr id="42" name="Text 39"/>
          <p:cNvSpPr txBox="1"/>
          <p:nvPr/>
        </p:nvSpPr>
        <p:spPr>
          <a:xfrm>
            <a:off x="8055864" y="2868778"/>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te vragen</a:t>
            </a:r>
            <a:endParaRPr lang="en-US" sz="1600" dirty="0"/>
          </a:p>
        </p:txBody>
      </p:sp>
      <p:sp>
        <p:nvSpPr>
          <p:cNvPr id="43" name="Text 40"/>
          <p:cNvSpPr txBox="1"/>
          <p:nvPr/>
        </p:nvSpPr>
        <p:spPr>
          <a:xfrm>
            <a:off x="2103120" y="3225394"/>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Il a été proposé de demander un deuxième devis.</a:t>
            </a:r>
            <a:endParaRPr lang="en-US" sz="1400" dirty="0"/>
          </a:p>
        </p:txBody>
      </p:sp>
      <p:sp>
        <p:nvSpPr>
          <p:cNvPr id="44" name="Text 41"/>
          <p:cNvSpPr txBox="1"/>
          <p:nvPr/>
        </p:nvSpPr>
        <p:spPr>
          <a:xfrm>
            <a:off x="548640" y="3552139"/>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Vote</a:t>
            </a:r>
            <a:endParaRPr lang="en-US" sz="1400" dirty="0"/>
          </a:p>
        </p:txBody>
      </p:sp>
      <p:sp>
        <p:nvSpPr>
          <p:cNvPr id="45" name="Text 42"/>
          <p:cNvSpPr txBox="1"/>
          <p:nvPr/>
        </p:nvSpPr>
        <p:spPr>
          <a:xfrm>
            <a:off x="2103120" y="3314395"/>
            <a:ext cx="1597152"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46" name="Shape 43"/>
          <p:cNvSpPr/>
          <p:nvPr/>
        </p:nvSpPr>
        <p:spPr>
          <a:xfrm>
            <a:off x="2103120" y="3552139"/>
            <a:ext cx="1597152" cy="329184"/>
          </a:xfrm>
          <a:prstGeom prst="roundRect">
            <a:avLst>
              <a:gd name="adj" fmla="val 16667"/>
            </a:avLst>
          </a:prstGeom>
          <a:solidFill>
            <a:schemeClr val="tx2">
              <a:alpha val="88000"/>
            </a:schemeClr>
          </a:solidFill>
          <a:ln w="12700">
            <a:solidFill>
              <a:srgbClr val="17375E"/>
            </a:solidFill>
            <a:prstDash val="solid"/>
          </a:ln>
        </p:spPr>
      </p:sp>
      <p:sp>
        <p:nvSpPr>
          <p:cNvPr id="47" name="Text 44"/>
          <p:cNvSpPr txBox="1"/>
          <p:nvPr/>
        </p:nvSpPr>
        <p:spPr>
          <a:xfrm>
            <a:off x="2139696" y="3552139"/>
            <a:ext cx="1524000" cy="329184"/>
          </a:xfrm>
          <a:prstGeom prst="rect">
            <a:avLst/>
          </a:prstGeom>
          <a:noFill/>
          <a:ln/>
        </p:spPr>
        <p:txBody>
          <a:bodyPr wrap="square" lIns="0" tIns="0" rIns="0" bIns="0" rtlCol="0" anchor="ctr"/>
          <a:lstStyle/>
          <a:p>
            <a:pPr algn="ctr" indent="0" marL="0">
              <a:buNone/>
            </a:pPr>
            <a:r>
              <a:rPr lang="en-US" sz="1600" b="1" dirty="0">
                <a:solidFill>
                  <a:schemeClr val="bg1"/>
                </a:solidFill>
              </a:rPr>
              <a:t>De verhoging</a:t>
            </a:r>
            <a:endParaRPr lang="en-US" sz="1600" dirty="0"/>
          </a:p>
        </p:txBody>
      </p:sp>
      <p:sp>
        <p:nvSpPr>
          <p:cNvPr id="48" name="Text 45"/>
          <p:cNvSpPr txBox="1"/>
          <p:nvPr/>
        </p:nvSpPr>
        <p:spPr>
          <a:xfrm>
            <a:off x="3810000" y="3314395"/>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49" name="Shape 46"/>
          <p:cNvSpPr/>
          <p:nvPr/>
        </p:nvSpPr>
        <p:spPr>
          <a:xfrm>
            <a:off x="3810000" y="3552139"/>
            <a:ext cx="751840" cy="329184"/>
          </a:xfrm>
          <a:prstGeom prst="roundRect">
            <a:avLst>
              <a:gd name="adj" fmla="val 16667"/>
            </a:avLst>
          </a:prstGeom>
          <a:solidFill>
            <a:schemeClr val="accent6">
              <a:alpha val="88000"/>
            </a:schemeClr>
          </a:solidFill>
          <a:ln w="12700">
            <a:solidFill>
              <a:srgbClr val="B83227"/>
            </a:solidFill>
            <a:prstDash val="solid"/>
          </a:ln>
        </p:spPr>
      </p:sp>
      <p:sp>
        <p:nvSpPr>
          <p:cNvPr id="50" name="Text 47"/>
          <p:cNvSpPr txBox="1"/>
          <p:nvPr/>
        </p:nvSpPr>
        <p:spPr>
          <a:xfrm>
            <a:off x="3846576" y="3552139"/>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werd</a:t>
            </a:r>
            <a:endParaRPr lang="en-US" sz="1600" dirty="0"/>
          </a:p>
        </p:txBody>
      </p:sp>
      <p:sp>
        <p:nvSpPr>
          <p:cNvPr id="51" name="Text 48"/>
          <p:cNvSpPr txBox="1"/>
          <p:nvPr/>
        </p:nvSpPr>
        <p:spPr>
          <a:xfrm>
            <a:off x="4671568" y="3314395"/>
            <a:ext cx="1491488"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52" name="Shape 49"/>
          <p:cNvSpPr/>
          <p:nvPr/>
        </p:nvSpPr>
        <p:spPr>
          <a:xfrm>
            <a:off x="4671568" y="3552139"/>
            <a:ext cx="1491488" cy="329184"/>
          </a:xfrm>
          <a:prstGeom prst="roundRect">
            <a:avLst>
              <a:gd name="adj" fmla="val 16667"/>
            </a:avLst>
          </a:prstGeom>
          <a:solidFill>
            <a:schemeClr val="accent1">
              <a:alpha val="88000"/>
            </a:schemeClr>
          </a:solidFill>
          <a:ln w="12700">
            <a:solidFill>
              <a:srgbClr val="D9700F"/>
            </a:solidFill>
            <a:prstDash val="solid"/>
          </a:ln>
        </p:spPr>
      </p:sp>
      <p:sp>
        <p:nvSpPr>
          <p:cNvPr id="53" name="Text 50"/>
          <p:cNvSpPr txBox="1"/>
          <p:nvPr/>
        </p:nvSpPr>
        <p:spPr>
          <a:xfrm>
            <a:off x="4708144" y="3552139"/>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goedgekeurd</a:t>
            </a:r>
            <a:endParaRPr lang="en-US" sz="1600" dirty="0"/>
          </a:p>
        </p:txBody>
      </p:sp>
      <p:sp>
        <p:nvSpPr>
          <p:cNvPr id="54" name="Text 51"/>
          <p:cNvSpPr txBox="1"/>
          <p:nvPr/>
        </p:nvSpPr>
        <p:spPr>
          <a:xfrm>
            <a:off x="6272784" y="3314395"/>
            <a:ext cx="2548128" cy="219456"/>
          </a:xfrm>
          <a:prstGeom prst="rect">
            <a:avLst/>
          </a:prstGeom>
          <a:noFill/>
          <a:ln/>
        </p:spPr>
        <p:txBody>
          <a:bodyPr wrap="square" lIns="0" tIns="0" rIns="0" bIns="0" rtlCol="0" anchor="b"/>
          <a:lstStyle/>
          <a:p>
            <a:pPr algn="ctr" indent="0" marL="0">
              <a:buNone/>
            </a:pPr>
            <a:r>
              <a:rPr lang="en-US" sz="1000" b="1" dirty="0">
                <a:solidFill>
                  <a:schemeClr val="accent3"/>
                </a:solidFill>
              </a:rPr>
              <a:t>manier · comment</a:t>
            </a:r>
            <a:endParaRPr lang="en-US" sz="1000" dirty="0"/>
          </a:p>
        </p:txBody>
      </p:sp>
      <p:sp>
        <p:nvSpPr>
          <p:cNvPr id="55" name="Shape 52"/>
          <p:cNvSpPr/>
          <p:nvPr/>
        </p:nvSpPr>
        <p:spPr>
          <a:xfrm>
            <a:off x="6272784" y="3552139"/>
            <a:ext cx="2548128" cy="329184"/>
          </a:xfrm>
          <a:prstGeom prst="roundRect">
            <a:avLst>
              <a:gd name="adj" fmla="val 16667"/>
            </a:avLst>
          </a:prstGeom>
          <a:solidFill>
            <a:schemeClr val="accent3">
              <a:alpha val="88000"/>
            </a:schemeClr>
          </a:solidFill>
          <a:ln w="12700">
            <a:solidFill>
              <a:srgbClr val="2E7D4F"/>
            </a:solidFill>
            <a:prstDash val="solid"/>
          </a:ln>
        </p:spPr>
      </p:sp>
      <p:sp>
        <p:nvSpPr>
          <p:cNvPr id="56" name="Text 53"/>
          <p:cNvSpPr txBox="1"/>
          <p:nvPr/>
        </p:nvSpPr>
        <p:spPr>
          <a:xfrm>
            <a:off x="6309360" y="3552139"/>
            <a:ext cx="2474976" cy="329184"/>
          </a:xfrm>
          <a:prstGeom prst="rect">
            <a:avLst/>
          </a:prstGeom>
          <a:noFill/>
          <a:ln/>
        </p:spPr>
        <p:txBody>
          <a:bodyPr wrap="square" lIns="0" tIns="0" rIns="0" bIns="0" rtlCol="0" anchor="ctr"/>
          <a:lstStyle/>
          <a:p>
            <a:pPr algn="ctr" indent="0" marL="0">
              <a:buNone/>
            </a:pPr>
            <a:r>
              <a:rPr lang="en-US" sz="1600" b="1" dirty="0">
                <a:solidFill>
                  <a:schemeClr val="bg1"/>
                </a:solidFill>
              </a:rPr>
              <a:t>met 8 stemmen tegen 3</a:t>
            </a:r>
            <a:endParaRPr lang="en-US" sz="1600" dirty="0"/>
          </a:p>
        </p:txBody>
      </p:sp>
      <p:sp>
        <p:nvSpPr>
          <p:cNvPr id="57" name="Text 54"/>
          <p:cNvSpPr txBox="1"/>
          <p:nvPr/>
        </p:nvSpPr>
        <p:spPr>
          <a:xfrm>
            <a:off x="2103120" y="3908755"/>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L’augmentation a été approuvée par 8 voix contre 3.</a:t>
            </a:r>
            <a:endParaRPr lang="en-US" sz="1400" dirty="0"/>
          </a:p>
        </p:txBody>
      </p:sp>
      <p:sp>
        <p:nvSpPr>
          <p:cNvPr id="58" name="Text 55"/>
          <p:cNvSpPr txBox="1"/>
          <p:nvPr/>
        </p:nvSpPr>
        <p:spPr>
          <a:xfrm>
            <a:off x="548640" y="4235501"/>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Déclaration</a:t>
            </a:r>
            <a:endParaRPr lang="en-US" sz="1400" dirty="0"/>
          </a:p>
        </p:txBody>
      </p:sp>
      <p:sp>
        <p:nvSpPr>
          <p:cNvPr id="59" name="Text 56"/>
          <p:cNvSpPr txBox="1"/>
          <p:nvPr/>
        </p:nvSpPr>
        <p:spPr>
          <a:xfrm>
            <a:off x="2103120" y="3997757"/>
            <a:ext cx="1914144"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60" name="Shape 57"/>
          <p:cNvSpPr/>
          <p:nvPr/>
        </p:nvSpPr>
        <p:spPr>
          <a:xfrm>
            <a:off x="2103120" y="4235501"/>
            <a:ext cx="1914144" cy="329184"/>
          </a:xfrm>
          <a:prstGeom prst="roundRect">
            <a:avLst>
              <a:gd name="adj" fmla="val 16667"/>
            </a:avLst>
          </a:prstGeom>
          <a:solidFill>
            <a:schemeClr val="tx2">
              <a:alpha val="88000"/>
            </a:schemeClr>
          </a:solidFill>
          <a:ln w="12700">
            <a:solidFill>
              <a:srgbClr val="17375E"/>
            </a:solidFill>
            <a:prstDash val="solid"/>
          </a:ln>
        </p:spPr>
      </p:sp>
      <p:sp>
        <p:nvSpPr>
          <p:cNvPr id="61" name="Text 58"/>
          <p:cNvSpPr txBox="1"/>
          <p:nvPr/>
        </p:nvSpPr>
        <p:spPr>
          <a:xfrm>
            <a:off x="2139696" y="4235501"/>
            <a:ext cx="1840992" cy="329184"/>
          </a:xfrm>
          <a:prstGeom prst="rect">
            <a:avLst/>
          </a:prstGeom>
          <a:noFill/>
          <a:ln/>
        </p:spPr>
        <p:txBody>
          <a:bodyPr wrap="square" lIns="0" tIns="0" rIns="0" bIns="0" rtlCol="0" anchor="ctr"/>
          <a:lstStyle/>
          <a:p>
            <a:pPr algn="ctr" indent="0" marL="0">
              <a:buNone/>
            </a:pPr>
            <a:r>
              <a:rPr lang="en-US" sz="1600" b="1" dirty="0">
                <a:solidFill>
                  <a:schemeClr val="bg1"/>
                </a:solidFill>
              </a:rPr>
              <a:t>Mevrouw Peeters</a:t>
            </a:r>
            <a:endParaRPr lang="en-US" sz="1600" dirty="0"/>
          </a:p>
        </p:txBody>
      </p:sp>
      <p:sp>
        <p:nvSpPr>
          <p:cNvPr id="62" name="Text 59"/>
          <p:cNvSpPr txBox="1"/>
          <p:nvPr/>
        </p:nvSpPr>
        <p:spPr>
          <a:xfrm>
            <a:off x="4126992" y="3997757"/>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63" name="Shape 60"/>
          <p:cNvSpPr/>
          <p:nvPr/>
        </p:nvSpPr>
        <p:spPr>
          <a:xfrm>
            <a:off x="4126992" y="4235501"/>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64" name="Text 61"/>
          <p:cNvSpPr txBox="1"/>
          <p:nvPr/>
        </p:nvSpPr>
        <p:spPr>
          <a:xfrm>
            <a:off x="4163568" y="4235501"/>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zei</a:t>
            </a:r>
            <a:endParaRPr lang="en-US" sz="1600" dirty="0"/>
          </a:p>
        </p:txBody>
      </p:sp>
      <p:sp>
        <p:nvSpPr>
          <p:cNvPr id="65" name="Text 62"/>
          <p:cNvSpPr txBox="1"/>
          <p:nvPr/>
        </p:nvSpPr>
        <p:spPr>
          <a:xfrm>
            <a:off x="4922520" y="3997757"/>
            <a:ext cx="68580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66" name="Shape 63"/>
          <p:cNvSpPr/>
          <p:nvPr/>
        </p:nvSpPr>
        <p:spPr>
          <a:xfrm>
            <a:off x="4922520" y="4235501"/>
            <a:ext cx="685800" cy="329184"/>
          </a:xfrm>
          <a:prstGeom prst="roundRect">
            <a:avLst>
              <a:gd name="adj" fmla="val 16667"/>
            </a:avLst>
          </a:prstGeom>
          <a:solidFill>
            <a:srgbClr val="6E4A9E">
              <a:alpha val="88000"/>
            </a:srgbClr>
          </a:solidFill>
          <a:ln w="12700">
            <a:solidFill>
              <a:srgbClr val="6E4A9E"/>
            </a:solidFill>
            <a:prstDash val="solid"/>
          </a:ln>
        </p:spPr>
      </p:sp>
      <p:sp>
        <p:nvSpPr>
          <p:cNvPr id="67" name="Text 64"/>
          <p:cNvSpPr txBox="1"/>
          <p:nvPr/>
        </p:nvSpPr>
        <p:spPr>
          <a:xfrm>
            <a:off x="4959096" y="4235501"/>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dat</a:t>
            </a:r>
            <a:endParaRPr lang="en-US" sz="1600" dirty="0"/>
          </a:p>
        </p:txBody>
      </p:sp>
      <p:sp>
        <p:nvSpPr>
          <p:cNvPr id="68" name="Text 65"/>
          <p:cNvSpPr txBox="1"/>
          <p:nvPr/>
        </p:nvSpPr>
        <p:spPr>
          <a:xfrm>
            <a:off x="5718048" y="3997757"/>
            <a:ext cx="2231136"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69" name="Shape 66"/>
          <p:cNvSpPr/>
          <p:nvPr/>
        </p:nvSpPr>
        <p:spPr>
          <a:xfrm>
            <a:off x="5718048" y="4235501"/>
            <a:ext cx="2231136" cy="329184"/>
          </a:xfrm>
          <a:prstGeom prst="roundRect">
            <a:avLst>
              <a:gd name="adj" fmla="val 16667"/>
            </a:avLst>
          </a:prstGeom>
          <a:solidFill>
            <a:schemeClr val="accent5">
              <a:alpha val="25000"/>
            </a:schemeClr>
          </a:solidFill>
          <a:ln w="12700">
            <a:solidFill>
              <a:srgbClr val="4A5A70"/>
            </a:solidFill>
            <a:prstDash val="solid"/>
          </a:ln>
        </p:spPr>
      </p:sp>
      <p:sp>
        <p:nvSpPr>
          <p:cNvPr id="70" name="Text 67"/>
          <p:cNvSpPr txBox="1"/>
          <p:nvPr/>
        </p:nvSpPr>
        <p:spPr>
          <a:xfrm>
            <a:off x="5754624" y="4235501"/>
            <a:ext cx="2157984" cy="329184"/>
          </a:xfrm>
          <a:prstGeom prst="rect">
            <a:avLst/>
          </a:prstGeom>
          <a:noFill/>
          <a:ln/>
        </p:spPr>
        <p:txBody>
          <a:bodyPr wrap="square" lIns="0" tIns="0" rIns="0" bIns="0" rtlCol="0" anchor="ctr"/>
          <a:lstStyle/>
          <a:p>
            <a:pPr algn="ctr" indent="0" marL="0">
              <a:buNone/>
            </a:pPr>
            <a:r>
              <a:rPr lang="en-US" sz="1600" b="1" dirty="0">
                <a:solidFill>
                  <a:schemeClr val="tx1"/>
                </a:solidFill>
              </a:rPr>
              <a:t>de werken dringend</a:t>
            </a:r>
            <a:endParaRPr lang="en-US" sz="1600" dirty="0"/>
          </a:p>
        </p:txBody>
      </p:sp>
      <p:sp>
        <p:nvSpPr>
          <p:cNvPr id="71" name="Text 68"/>
          <p:cNvSpPr txBox="1"/>
          <p:nvPr/>
        </p:nvSpPr>
        <p:spPr>
          <a:xfrm>
            <a:off x="8058912" y="3997757"/>
            <a:ext cx="857504" cy="219456"/>
          </a:xfrm>
          <a:prstGeom prst="rect">
            <a:avLst/>
          </a:prstGeom>
          <a:noFill/>
          <a:ln/>
        </p:spPr>
        <p:txBody>
          <a:bodyPr wrap="square" lIns="0" tIns="0" rIns="0" bIns="0" rtlCol="0" anchor="b"/>
          <a:lstStyle/>
          <a:p>
            <a:pPr algn="ctr" indent="0" marL="0">
              <a:buNone/>
            </a:pPr>
            <a:r>
              <a:rPr lang="en-US" sz="1000" b="1" dirty="0">
                <a:solidFill>
                  <a:schemeClr val="accent6"/>
                </a:solidFill>
              </a:rPr>
              <a:t>à la fin</a:t>
            </a:r>
            <a:endParaRPr lang="en-US" sz="1000" dirty="0"/>
          </a:p>
        </p:txBody>
      </p:sp>
      <p:sp>
        <p:nvSpPr>
          <p:cNvPr id="72" name="Shape 69"/>
          <p:cNvSpPr/>
          <p:nvPr/>
        </p:nvSpPr>
        <p:spPr>
          <a:xfrm>
            <a:off x="8058912" y="4235501"/>
            <a:ext cx="857504" cy="329184"/>
          </a:xfrm>
          <a:prstGeom prst="roundRect">
            <a:avLst>
              <a:gd name="adj" fmla="val 16667"/>
            </a:avLst>
          </a:prstGeom>
          <a:solidFill>
            <a:schemeClr val="accent6">
              <a:alpha val="88000"/>
            </a:schemeClr>
          </a:solidFill>
          <a:ln w="12700">
            <a:solidFill>
              <a:srgbClr val="B83227"/>
            </a:solidFill>
            <a:prstDash val="solid"/>
          </a:ln>
        </p:spPr>
      </p:sp>
      <p:sp>
        <p:nvSpPr>
          <p:cNvPr id="73" name="Text 70"/>
          <p:cNvSpPr txBox="1"/>
          <p:nvPr/>
        </p:nvSpPr>
        <p:spPr>
          <a:xfrm>
            <a:off x="8095488" y="4235501"/>
            <a:ext cx="784352" cy="329184"/>
          </a:xfrm>
          <a:prstGeom prst="rect">
            <a:avLst/>
          </a:prstGeom>
          <a:noFill/>
          <a:ln/>
        </p:spPr>
        <p:txBody>
          <a:bodyPr wrap="square" lIns="0" tIns="0" rIns="0" bIns="0" rtlCol="0" anchor="ctr"/>
          <a:lstStyle/>
          <a:p>
            <a:pPr algn="ctr" indent="0" marL="0">
              <a:buNone/>
            </a:pPr>
            <a:r>
              <a:rPr lang="en-US" sz="1600" b="1" dirty="0">
                <a:solidFill>
                  <a:schemeClr val="bg1"/>
                </a:solidFill>
              </a:rPr>
              <a:t>waren</a:t>
            </a:r>
            <a:endParaRPr lang="en-US" sz="1600" dirty="0"/>
          </a:p>
        </p:txBody>
      </p:sp>
      <p:sp>
        <p:nvSpPr>
          <p:cNvPr id="74" name="Text 71"/>
          <p:cNvSpPr txBox="1"/>
          <p:nvPr/>
        </p:nvSpPr>
        <p:spPr>
          <a:xfrm>
            <a:off x="2103120" y="4592117"/>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Madame Peeters a dit que les travaux étaient urgents.</a:t>
            </a:r>
            <a:endParaRPr lang="en-US" sz="1400" dirty="0"/>
          </a:p>
        </p:txBody>
      </p:sp>
      <p:sp>
        <p:nvSpPr>
          <p:cNvPr id="75" name="Text 72"/>
          <p:cNvSpPr txBox="1"/>
          <p:nvPr/>
        </p:nvSpPr>
        <p:spPr>
          <a:xfrm>
            <a:off x="548640" y="4918862"/>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Question</a:t>
            </a:r>
            <a:endParaRPr lang="en-US" sz="1400" dirty="0"/>
          </a:p>
        </p:txBody>
      </p:sp>
      <p:sp>
        <p:nvSpPr>
          <p:cNvPr id="76" name="Text 73"/>
          <p:cNvSpPr txBox="1"/>
          <p:nvPr/>
        </p:nvSpPr>
        <p:spPr>
          <a:xfrm>
            <a:off x="2103120" y="4681118"/>
            <a:ext cx="180848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77" name="Shape 74"/>
          <p:cNvSpPr/>
          <p:nvPr/>
        </p:nvSpPr>
        <p:spPr>
          <a:xfrm>
            <a:off x="2103120" y="4918862"/>
            <a:ext cx="1808480" cy="329184"/>
          </a:xfrm>
          <a:prstGeom prst="roundRect">
            <a:avLst>
              <a:gd name="adj" fmla="val 16667"/>
            </a:avLst>
          </a:prstGeom>
          <a:solidFill>
            <a:schemeClr val="tx2">
              <a:alpha val="88000"/>
            </a:schemeClr>
          </a:solidFill>
          <a:ln w="12700">
            <a:solidFill>
              <a:srgbClr val="17375E"/>
            </a:solidFill>
            <a:prstDash val="solid"/>
          </a:ln>
        </p:spPr>
      </p:sp>
      <p:sp>
        <p:nvSpPr>
          <p:cNvPr id="78" name="Text 75"/>
          <p:cNvSpPr txBox="1"/>
          <p:nvPr/>
        </p:nvSpPr>
        <p:spPr>
          <a:xfrm>
            <a:off x="2139696" y="4918862"/>
            <a:ext cx="1735328" cy="329184"/>
          </a:xfrm>
          <a:prstGeom prst="rect">
            <a:avLst/>
          </a:prstGeom>
          <a:noFill/>
          <a:ln/>
        </p:spPr>
        <p:txBody>
          <a:bodyPr wrap="square" lIns="0" tIns="0" rIns="0" bIns="0" rtlCol="0" anchor="ctr"/>
          <a:lstStyle/>
          <a:p>
            <a:pPr algn="ctr" indent="0" marL="0">
              <a:buNone/>
            </a:pPr>
            <a:r>
              <a:rPr lang="en-US" sz="1600" b="1" dirty="0">
                <a:solidFill>
                  <a:schemeClr val="bg1"/>
                </a:solidFill>
              </a:rPr>
              <a:t>De heer Yilmaz</a:t>
            </a:r>
            <a:endParaRPr lang="en-US" sz="1600" dirty="0"/>
          </a:p>
        </p:txBody>
      </p:sp>
      <p:sp>
        <p:nvSpPr>
          <p:cNvPr id="79" name="Text 76"/>
          <p:cNvSpPr txBox="1"/>
          <p:nvPr/>
        </p:nvSpPr>
        <p:spPr>
          <a:xfrm>
            <a:off x="4021328" y="4681118"/>
            <a:ext cx="857504"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80" name="Shape 77"/>
          <p:cNvSpPr/>
          <p:nvPr/>
        </p:nvSpPr>
        <p:spPr>
          <a:xfrm>
            <a:off x="4021328" y="4918862"/>
            <a:ext cx="857504" cy="329184"/>
          </a:xfrm>
          <a:prstGeom prst="roundRect">
            <a:avLst>
              <a:gd name="adj" fmla="val 16667"/>
            </a:avLst>
          </a:prstGeom>
          <a:solidFill>
            <a:schemeClr val="accent6">
              <a:alpha val="88000"/>
            </a:schemeClr>
          </a:solidFill>
          <a:ln w="12700">
            <a:solidFill>
              <a:srgbClr val="B83227"/>
            </a:solidFill>
            <a:prstDash val="solid"/>
          </a:ln>
        </p:spPr>
      </p:sp>
      <p:sp>
        <p:nvSpPr>
          <p:cNvPr id="81" name="Text 78"/>
          <p:cNvSpPr txBox="1"/>
          <p:nvPr/>
        </p:nvSpPr>
        <p:spPr>
          <a:xfrm>
            <a:off x="4057904" y="4918862"/>
            <a:ext cx="784352" cy="329184"/>
          </a:xfrm>
          <a:prstGeom prst="rect">
            <a:avLst/>
          </a:prstGeom>
          <a:noFill/>
          <a:ln/>
        </p:spPr>
        <p:txBody>
          <a:bodyPr wrap="square" lIns="0" tIns="0" rIns="0" bIns="0" rtlCol="0" anchor="ctr"/>
          <a:lstStyle/>
          <a:p>
            <a:pPr algn="ctr" indent="0" marL="0">
              <a:buNone/>
            </a:pPr>
            <a:r>
              <a:rPr lang="en-US" sz="1600" b="1" dirty="0">
                <a:solidFill>
                  <a:schemeClr val="bg1"/>
                </a:solidFill>
              </a:rPr>
              <a:t>vroeg</a:t>
            </a:r>
            <a:endParaRPr lang="en-US" sz="1600" dirty="0"/>
          </a:p>
        </p:txBody>
      </p:sp>
      <p:sp>
        <p:nvSpPr>
          <p:cNvPr id="82" name="Text 79"/>
          <p:cNvSpPr txBox="1"/>
          <p:nvPr/>
        </p:nvSpPr>
        <p:spPr>
          <a:xfrm>
            <a:off x="4988560" y="4681118"/>
            <a:ext cx="68580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83" name="Shape 80"/>
          <p:cNvSpPr/>
          <p:nvPr/>
        </p:nvSpPr>
        <p:spPr>
          <a:xfrm>
            <a:off x="4988560" y="4918862"/>
            <a:ext cx="685800" cy="329184"/>
          </a:xfrm>
          <a:prstGeom prst="roundRect">
            <a:avLst>
              <a:gd name="adj" fmla="val 16667"/>
            </a:avLst>
          </a:prstGeom>
          <a:solidFill>
            <a:srgbClr val="6E4A9E">
              <a:alpha val="88000"/>
            </a:srgbClr>
          </a:solidFill>
          <a:ln w="12700">
            <a:solidFill>
              <a:srgbClr val="6E4A9E"/>
            </a:solidFill>
            <a:prstDash val="solid"/>
          </a:ln>
        </p:spPr>
      </p:sp>
      <p:sp>
        <p:nvSpPr>
          <p:cNvPr id="84" name="Text 81"/>
          <p:cNvSpPr txBox="1"/>
          <p:nvPr/>
        </p:nvSpPr>
        <p:spPr>
          <a:xfrm>
            <a:off x="5025136" y="491886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of</a:t>
            </a:r>
            <a:endParaRPr lang="en-US" sz="1600" dirty="0"/>
          </a:p>
        </p:txBody>
      </p:sp>
      <p:sp>
        <p:nvSpPr>
          <p:cNvPr id="85" name="Text 82"/>
          <p:cNvSpPr txBox="1"/>
          <p:nvPr/>
        </p:nvSpPr>
        <p:spPr>
          <a:xfrm>
            <a:off x="5784088" y="4681118"/>
            <a:ext cx="3182112"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86" name="Shape 83"/>
          <p:cNvSpPr/>
          <p:nvPr/>
        </p:nvSpPr>
        <p:spPr>
          <a:xfrm>
            <a:off x="5784088" y="4918862"/>
            <a:ext cx="3182112" cy="329184"/>
          </a:xfrm>
          <a:prstGeom prst="roundRect">
            <a:avLst>
              <a:gd name="adj" fmla="val 16667"/>
            </a:avLst>
          </a:prstGeom>
          <a:solidFill>
            <a:schemeClr val="accent5">
              <a:alpha val="25000"/>
            </a:schemeClr>
          </a:solidFill>
          <a:ln w="12700">
            <a:solidFill>
              <a:srgbClr val="4A5A70"/>
            </a:solidFill>
            <a:prstDash val="solid"/>
          </a:ln>
        </p:spPr>
      </p:sp>
      <p:sp>
        <p:nvSpPr>
          <p:cNvPr id="87" name="Text 84"/>
          <p:cNvSpPr txBox="1"/>
          <p:nvPr/>
        </p:nvSpPr>
        <p:spPr>
          <a:xfrm>
            <a:off x="5820664" y="4918862"/>
            <a:ext cx="3108960" cy="329184"/>
          </a:xfrm>
          <a:prstGeom prst="rect">
            <a:avLst/>
          </a:prstGeom>
          <a:noFill/>
          <a:ln/>
        </p:spPr>
        <p:txBody>
          <a:bodyPr wrap="square" lIns="0" tIns="0" rIns="0" bIns="0" rtlCol="0" anchor="ctr"/>
          <a:lstStyle/>
          <a:p>
            <a:pPr algn="ctr" indent="0" marL="0">
              <a:buNone/>
            </a:pPr>
            <a:r>
              <a:rPr lang="en-US" sz="1600" b="1" dirty="0">
                <a:solidFill>
                  <a:schemeClr val="tx1"/>
                </a:solidFill>
              </a:rPr>
              <a:t>een tweede offerte mogelijk</a:t>
            </a:r>
            <a:endParaRPr lang="en-US" sz="1600" dirty="0"/>
          </a:p>
        </p:txBody>
      </p:sp>
      <p:sp>
        <p:nvSpPr>
          <p:cNvPr id="88" name="Text 85"/>
          <p:cNvSpPr txBox="1"/>
          <p:nvPr/>
        </p:nvSpPr>
        <p:spPr>
          <a:xfrm>
            <a:off x="9075928" y="4681118"/>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à la fin</a:t>
            </a:r>
            <a:endParaRPr lang="en-US" sz="1000" dirty="0"/>
          </a:p>
        </p:txBody>
      </p:sp>
      <p:sp>
        <p:nvSpPr>
          <p:cNvPr id="89" name="Shape 86"/>
          <p:cNvSpPr/>
          <p:nvPr/>
        </p:nvSpPr>
        <p:spPr>
          <a:xfrm>
            <a:off x="9075928" y="4918862"/>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90" name="Text 87"/>
          <p:cNvSpPr txBox="1"/>
          <p:nvPr/>
        </p:nvSpPr>
        <p:spPr>
          <a:xfrm>
            <a:off x="9112504" y="491886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was</a:t>
            </a:r>
            <a:endParaRPr lang="en-US" sz="1600" dirty="0"/>
          </a:p>
        </p:txBody>
      </p:sp>
      <p:sp>
        <p:nvSpPr>
          <p:cNvPr id="91" name="Text 88"/>
          <p:cNvSpPr txBox="1"/>
          <p:nvPr/>
        </p:nvSpPr>
        <p:spPr>
          <a:xfrm>
            <a:off x="2103120" y="5275478"/>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Monsieur Yilmaz a demandé si un deuxième devis était possible.</a:t>
            </a:r>
            <a:endParaRPr lang="en-US" sz="1400" dirty="0"/>
          </a:p>
        </p:txBody>
      </p:sp>
      <p:sp>
        <p:nvSpPr>
          <p:cNvPr id="92" name="Shape 89"/>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93"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94" name="Text 90"/>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500" b="1" dirty="0">
                <a:solidFill>
                  <a:schemeClr val="accent6"/>
                </a:solidFill>
              </a:rPr>
              <a:t>Piège pour francophones — </a:t>
            </a:r>
            <a:r>
              <a:rPr lang="en-US" sz="1500" dirty="0">
                <a:solidFill>
                  <a:schemeClr val="tx1"/>
                </a:solidFill>
              </a:rPr>
              <a:t>En français : </a:t>
            </a:r>
            <a:r>
              <a:rPr lang="en-US" sz="1500" b="1" i="1" dirty="0">
                <a:solidFill>
                  <a:schemeClr val="tx1"/>
                </a:solidFill>
              </a:rPr>
              <a:t>Il</a:t>
            </a:r>
            <a:r>
              <a:rPr lang="en-US" sz="1500" i="1" dirty="0">
                <a:solidFill>
                  <a:schemeClr val="tx1"/>
                </a:solidFill>
              </a:rPr>
              <a:t> a été décidé que…</a:t>
            </a:r>
            <a:r>
              <a:rPr lang="en-US" sz="1500" dirty="0">
                <a:solidFill>
                  <a:schemeClr val="tx1"/>
                </a:solidFill>
              </a:rPr>
              <a:t>. En néerlandais, </a:t>
            </a:r>
            <a:r>
              <a:rPr lang="en-US" sz="1500" b="1" dirty="0">
                <a:solidFill>
                  <a:schemeClr val="tx1"/>
                </a:solidFill>
              </a:rPr>
              <a:t>er</a:t>
            </a:r>
            <a:r>
              <a:rPr lang="en-US" sz="1500" dirty="0">
                <a:solidFill>
                  <a:schemeClr val="tx1"/>
                </a:solidFill>
              </a:rPr>
              <a:t> est obligatoire quand rien d’autre n’ouvre la phrase : </a:t>
            </a:r>
            <a:r>
              <a:rPr lang="en-US" sz="1500" b="1" i="1" dirty="0">
                <a:solidFill>
                  <a:schemeClr val="tx1"/>
                </a:solidFill>
              </a:rPr>
              <a:t>Er</a:t>
            </a:r>
            <a:r>
              <a:rPr lang="en-US" sz="1500" i="1" dirty="0">
                <a:solidFill>
                  <a:schemeClr val="tx1"/>
                </a:solidFill>
              </a:rPr>
              <a:t> werd beslist dat…</a:t>
            </a:r>
            <a:r>
              <a:rPr lang="en-US" sz="1500" dirty="0">
                <a:solidFill>
                  <a:schemeClr val="tx1"/>
                </a:solidFill>
              </a:rPr>
              <a:t> ✗ </a:t>
            </a:r>
            <a:r>
              <a:rPr lang="en-US" sz="1500" i="1" dirty="0">
                <a:solidFill>
                  <a:schemeClr val="tx1"/>
                </a:solidFill>
              </a:rPr>
              <a:t>Werd beslist dat…</a:t>
            </a:r>
            <a:r>
              <a:rPr lang="en-US" sz="1500" dirty="0">
                <a:solidFill>
                  <a:schemeClr val="tx1"/>
                </a:solidFill>
              </a:rPr>
              <a:t>. Avec un autre élément en tête : </a:t>
            </a:r>
            <a:r>
              <a:rPr lang="en-US" sz="1500" i="1" dirty="0">
                <a:solidFill>
                  <a:schemeClr val="tx1"/>
                </a:solidFill>
              </a:rPr>
              <a:t>In maart werd beslist dat…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Les verbes du procès-verbal</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3566160"/>
                <a:gridCol w="3840480"/>
                <a:gridCol w="3685032"/>
              </a:tblGrid>
              <a:tr h="562356">
                <a:tc>
                  <a:txBody>
                    <a:bodyPr/>
                    <a:lstStyle/>
                    <a:p>
                      <a:pPr algn="l" indent="0" marL="0">
                        <a:buNone/>
                      </a:pPr>
                      <a:r>
                        <a:rPr lang="en-US" sz="1400" b="1" dirty="0">
                          <a:solidFill>
                            <a:schemeClr val="bg1"/>
                          </a:solidFill>
                        </a:rPr>
                        <a:t>INFINITIEF</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PASSIF (imperfectum)</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FRANÇAIS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64515">
                <a:tc>
                  <a:txBody>
                    <a:bodyPr/>
                    <a:lstStyle/>
                    <a:p>
                      <a:pPr algn="l" indent="0" marL="0">
                        <a:buNone/>
                      </a:pPr>
                      <a:r>
                        <a:rPr lang="en-US" sz="1600" dirty="0">
                          <a:solidFill>
                            <a:schemeClr val="tx1"/>
                          </a:solidFill>
                        </a:rPr>
                        <a:t>openen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werd geopend</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ouvrir (la séance)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64515">
                <a:tc>
                  <a:txBody>
                    <a:bodyPr/>
                    <a:lstStyle/>
                    <a:p>
                      <a:pPr algn="l" indent="0" marL="0">
                        <a:buNone/>
                      </a:pPr>
                      <a:r>
                        <a:rPr lang="en-US" sz="1600" dirty="0">
                          <a:solidFill>
                            <a:schemeClr val="tx1"/>
                          </a:solidFill>
                        </a:rPr>
                        <a:t>afsluiten (séparable)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werd afgesloten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clôturer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64515">
                <a:tc>
                  <a:txBody>
                    <a:bodyPr/>
                    <a:lstStyle/>
                    <a:p>
                      <a:pPr algn="l" indent="0" marL="0">
                        <a:buNone/>
                      </a:pPr>
                      <a:r>
                        <a:rPr lang="en-US" sz="1600" dirty="0">
                          <a:solidFill>
                            <a:schemeClr val="tx1"/>
                          </a:solidFill>
                        </a:rPr>
                        <a:t>toelichten (séparable)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werd toegelicht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présenter, expliquer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64515">
                <a:tc>
                  <a:txBody>
                    <a:bodyPr/>
                    <a:lstStyle/>
                    <a:p>
                      <a:pPr algn="l" indent="0" marL="0">
                        <a:buNone/>
                      </a:pPr>
                      <a:r>
                        <a:rPr lang="en-US" sz="1600" dirty="0">
                          <a:solidFill>
                            <a:schemeClr val="tx1"/>
                          </a:solidFill>
                        </a:rPr>
                        <a:t>voorstellen (séparable)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werd voorgesteld</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proposer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64515">
                <a:tc>
                  <a:txBody>
                    <a:bodyPr/>
                    <a:lstStyle/>
                    <a:p>
                      <a:pPr algn="l" indent="0" marL="0">
                        <a:buNone/>
                      </a:pPr>
                      <a:r>
                        <a:rPr lang="en-US" sz="1600" dirty="0">
                          <a:solidFill>
                            <a:schemeClr val="tx1"/>
                          </a:solidFill>
                        </a:rPr>
                        <a:t>beslissen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werd beslist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décider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64515">
                <a:tc>
                  <a:txBody>
                    <a:bodyPr/>
                    <a:lstStyle/>
                    <a:p>
                      <a:pPr algn="l" indent="0" marL="0">
                        <a:buNone/>
                      </a:pPr>
                      <a:r>
                        <a:rPr lang="en-US" sz="1600" dirty="0">
                          <a:solidFill>
                            <a:schemeClr val="tx1"/>
                          </a:solidFill>
                        </a:rPr>
                        <a:t>goedkeuren (séparable)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werd goedgekeurd</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approuver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64515">
                <a:tc>
                  <a:txBody>
                    <a:bodyPr/>
                    <a:lstStyle/>
                    <a:p>
                      <a:pPr algn="l" indent="0" marL="0">
                        <a:buNone/>
                      </a:pPr>
                      <a:r>
                        <a:rPr lang="en-US" sz="1600" dirty="0">
                          <a:solidFill>
                            <a:schemeClr val="tx1"/>
                          </a:solidFill>
                        </a:rPr>
                        <a:t>verwerpen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werd verworpen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rejeter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64515">
                <a:tc>
                  <a:txBody>
                    <a:bodyPr/>
                    <a:lstStyle/>
                    <a:p>
                      <a:pPr algn="l" indent="0" marL="0">
                        <a:buNone/>
                      </a:pPr>
                      <a:r>
                        <a:rPr lang="en-US" sz="1600" dirty="0">
                          <a:solidFill>
                            <a:schemeClr val="tx1"/>
                          </a:solidFill>
                        </a:rPr>
                        <a:t>verplaatsen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werd verplaatst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déplacer, reporter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Pluriel : </a:t>
            </a:r>
            <a:r>
              <a:rPr lang="en-US" sz="1500" i="1" dirty="0">
                <a:solidFill>
                  <a:schemeClr val="accent5"/>
                </a:solidFill>
              </a:rPr>
              <a:t>werden</a:t>
            </a:r>
            <a:r>
              <a:rPr lang="en-US" sz="1500" i="1" dirty="0">
                <a:solidFill>
                  <a:schemeClr val="accent5"/>
                </a:solidFill>
              </a:rPr>
              <a:t> — </a:t>
            </a:r>
            <a:r>
              <a:rPr lang="en-US" sz="1500" i="1" dirty="0">
                <a:solidFill>
                  <a:schemeClr val="accent5"/>
                </a:solidFill>
              </a:rPr>
              <a:t>De voorstellen werden goedgekeurd.</a:t>
            </a:r>
            <a:r>
              <a:rPr lang="en-US" sz="1500" i="1" dirty="0">
                <a:solidFill>
                  <a:schemeClr val="accent5"/>
                </a:solidFill>
              </a:rPr>
              <a:t> · Présent : </a:t>
            </a:r>
            <a:r>
              <a:rPr lang="en-US" sz="1500" i="1" dirty="0">
                <a:solidFill>
                  <a:schemeClr val="accent5"/>
                </a:solidFill>
              </a:rPr>
              <a:t>wordt / worden</a:t>
            </a:r>
            <a:r>
              <a:rPr lang="en-US" sz="1500" i="1" dirty="0">
                <a:solidFill>
                  <a:schemeClr val="accent5"/>
                </a:solidFill>
              </a:rPr>
              <a:t> — </a:t>
            </a:r>
            <a:r>
              <a:rPr lang="en-US" sz="1500" i="1" dirty="0">
                <a:solidFill>
                  <a:schemeClr val="accent5"/>
                </a:solidFill>
              </a:rPr>
              <a:t>De bijdrage wordt geïnd.</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Erreurs fréquentes dans un PV</a:t>
            </a:r>
            <a:endParaRPr lang="en-US" sz="3200" dirty="0"/>
          </a:p>
        </p:txBody>
      </p:sp>
      <p:sp>
        <p:nvSpPr>
          <p:cNvPr id="3" name="tag"/>
          <p:cNvSpPr/>
          <p:nvPr/>
        </p:nvSpPr>
        <p:spPr>
          <a:xfrm>
            <a:off x="548640" y="237744"/>
            <a:ext cx="1074420"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chemeClr val="bg1"/>
                </a:solidFill>
              </a:rPr>
              <a:t>PIÈGE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508760"/>
            <a:ext cx="11091672" cy="313944"/>
          </a:xfrm>
          <a:prstGeom prst="rect">
            <a:avLst/>
          </a:prstGeom>
          <a:noFill/>
          <a:ln/>
        </p:spPr>
        <p:txBody>
          <a:bodyPr wrap="square" lIns="0" tIns="0" rIns="0" bIns="0" rtlCol="0" anchor="t"/>
          <a:lstStyle/>
          <a:p>
            <a:pPr indent="0" marL="0">
              <a:buNone/>
            </a:pPr>
            <a:r>
              <a:rPr lang="en-US" sz="1700" i="1" dirty="0">
                <a:solidFill>
                  <a:schemeClr val="accent5"/>
                </a:solidFill>
              </a:rPr>
              <a:t>Quatre fautes typiques — lisez à voix haute et corrigez.</a:t>
            </a:r>
            <a:endParaRPr lang="en-US" sz="1700" dirty="0"/>
          </a:p>
        </p:txBody>
      </p:sp>
      <p:sp>
        <p:nvSpPr>
          <p:cNvPr id="7" name="Shape 4"/>
          <p:cNvSpPr/>
          <p:nvPr/>
        </p:nvSpPr>
        <p:spPr>
          <a:xfrm>
            <a:off x="548640" y="1932432"/>
            <a:ext cx="11091672" cy="1163787"/>
          </a:xfrm>
          <a:prstGeom prst="roundRect">
            <a:avLst>
              <a:gd name="adj" fmla="val 4714"/>
            </a:avLst>
          </a:prstGeom>
          <a:solidFill>
            <a:schemeClr val="bg2"/>
          </a:solidFill>
          <a:ln w="6350">
            <a:solidFill>
              <a:srgbClr val="D5DCE6"/>
            </a:solidFill>
            <a:prstDash val="solid"/>
          </a:ln>
        </p:spPr>
      </p:sp>
      <p:pic>
        <p:nvPicPr>
          <p:cNvPr id="8" name="Image 0" descr="preencoded.png">    </p:cNvPr>
          <p:cNvPicPr>
            <a:picLocks noChangeAspect="1"/>
          </p:cNvPicPr>
          <p:nvPr/>
        </p:nvPicPr>
        <p:blipFill>
          <a:blip r:embed="rId1"/>
          <a:stretch>
            <a:fillRect/>
          </a:stretch>
        </p:blipFill>
        <p:spPr>
          <a:xfrm>
            <a:off x="685800" y="2377165"/>
            <a:ext cx="274320" cy="274320"/>
          </a:xfrm>
          <a:prstGeom prst="rect">
            <a:avLst/>
          </a:prstGeom>
        </p:spPr>
      </p:pic>
      <p:sp>
        <p:nvSpPr>
          <p:cNvPr id="9" name="Text 5"/>
          <p:cNvSpPr txBox="1"/>
          <p:nvPr/>
        </p:nvSpPr>
        <p:spPr>
          <a:xfrm>
            <a:off x="1051560" y="1932432"/>
            <a:ext cx="3291840" cy="1163787"/>
          </a:xfrm>
          <a:prstGeom prst="rect">
            <a:avLst/>
          </a:prstGeom>
          <a:noFill/>
          <a:ln/>
        </p:spPr>
        <p:txBody>
          <a:bodyPr wrap="square" lIns="0" tIns="0" rIns="0" bIns="0" rtlCol="0" anchor="ctr"/>
          <a:lstStyle/>
          <a:p>
            <a:pPr indent="0" marL="0">
              <a:buNone/>
            </a:pPr>
            <a:r>
              <a:rPr lang="en-US" sz="2000" strike="sngStrike" dirty="0">
                <a:solidFill>
                  <a:schemeClr val="accent6"/>
                </a:solidFill>
              </a:rPr>
              <a:t>✗ Werd beslist dat de werken starten.</a:t>
            </a:r>
            <a:endParaRPr lang="en-US" sz="2000" dirty="0"/>
          </a:p>
        </p:txBody>
      </p:sp>
      <p:pic>
        <p:nvPicPr>
          <p:cNvPr id="10" name="Image 1" descr="preencoded.png">    </p:cNvPr>
          <p:cNvPicPr>
            <a:picLocks noChangeAspect="1"/>
          </p:cNvPicPr>
          <p:nvPr/>
        </p:nvPicPr>
        <p:blipFill>
          <a:blip r:embed="rId2"/>
          <a:stretch>
            <a:fillRect/>
          </a:stretch>
        </p:blipFill>
        <p:spPr>
          <a:xfrm>
            <a:off x="4572000" y="2377165"/>
            <a:ext cx="274320" cy="274320"/>
          </a:xfrm>
          <a:prstGeom prst="rect">
            <a:avLst/>
          </a:prstGeom>
        </p:spPr>
      </p:pic>
      <p:sp>
        <p:nvSpPr>
          <p:cNvPr id="11" name="Text 6"/>
          <p:cNvSpPr txBox="1"/>
          <p:nvPr/>
        </p:nvSpPr>
        <p:spPr>
          <a:xfrm>
            <a:off x="4937760" y="1932432"/>
            <a:ext cx="3291840" cy="1163787"/>
          </a:xfrm>
          <a:prstGeom prst="rect">
            <a:avLst/>
          </a:prstGeom>
          <a:noFill/>
          <a:ln/>
        </p:spPr>
        <p:txBody>
          <a:bodyPr wrap="square" lIns="0" tIns="0" rIns="0" bIns="0" rtlCol="0" anchor="ctr"/>
          <a:lstStyle/>
          <a:p>
            <a:pPr indent="0" marL="0">
              <a:buNone/>
            </a:pPr>
            <a:r>
              <a:rPr lang="en-US" sz="2000" dirty="0">
                <a:solidFill>
                  <a:schemeClr val="tx1"/>
                </a:solidFill>
              </a:rPr>
              <a:t>✓ </a:t>
            </a:r>
            <a:r>
              <a:rPr lang="en-US" sz="2000" b="1" dirty="0">
                <a:solidFill>
                  <a:schemeClr val="tx1"/>
                </a:solidFill>
              </a:rPr>
              <a:t>Er</a:t>
            </a:r>
            <a:r>
              <a:rPr lang="en-US" sz="2000" dirty="0">
                <a:solidFill>
                  <a:schemeClr val="tx1"/>
                </a:solidFill>
              </a:rPr>
              <a:t> werd beslist dat de werken starten.</a:t>
            </a:r>
            <a:endParaRPr lang="en-US" sz="2000" dirty="0"/>
          </a:p>
        </p:txBody>
      </p:sp>
      <p:sp>
        <p:nvSpPr>
          <p:cNvPr id="12" name="Text 7"/>
          <p:cNvSpPr txBox="1"/>
          <p:nvPr/>
        </p:nvSpPr>
        <p:spPr>
          <a:xfrm>
            <a:off x="8458200" y="1932432"/>
            <a:ext cx="3090672" cy="1163787"/>
          </a:xfrm>
          <a:prstGeom prst="rect">
            <a:avLst/>
          </a:prstGeom>
          <a:noFill/>
          <a:ln/>
        </p:spPr>
        <p:txBody>
          <a:bodyPr wrap="square" lIns="0" tIns="0" rIns="0" bIns="0" rtlCol="0" anchor="ctr"/>
          <a:lstStyle/>
          <a:p>
            <a:pPr indent="0" marL="0">
              <a:buNone/>
            </a:pPr>
            <a:r>
              <a:rPr lang="en-US" sz="1800" i="1" dirty="0">
                <a:solidFill>
                  <a:schemeClr val="accent5"/>
                </a:solidFill>
              </a:rPr>
              <a:t>Sans autre élément en tête, </a:t>
            </a:r>
            <a:r>
              <a:rPr lang="en-US" sz="1800" b="1" i="1" dirty="0">
                <a:solidFill>
                  <a:schemeClr val="accent5"/>
                </a:solidFill>
              </a:rPr>
              <a:t>er</a:t>
            </a:r>
            <a:r>
              <a:rPr lang="en-US" sz="1800" i="1" dirty="0">
                <a:solidFill>
                  <a:schemeClr val="accent5"/>
                </a:solidFill>
              </a:rPr>
              <a:t> est obligatoire.</a:t>
            </a:r>
            <a:endParaRPr lang="en-US" sz="1800" dirty="0"/>
          </a:p>
        </p:txBody>
      </p:sp>
      <p:sp>
        <p:nvSpPr>
          <p:cNvPr id="13" name="Shape 8"/>
          <p:cNvSpPr/>
          <p:nvPr/>
        </p:nvSpPr>
        <p:spPr>
          <a:xfrm>
            <a:off x="548640" y="3205947"/>
            <a:ext cx="11091672" cy="850941"/>
          </a:xfrm>
          <a:prstGeom prst="roundRect">
            <a:avLst>
              <a:gd name="adj" fmla="val 6447"/>
            </a:avLst>
          </a:prstGeom>
          <a:solidFill>
            <a:schemeClr val="bg1"/>
          </a:solidFill>
          <a:ln w="6350">
            <a:solidFill>
              <a:srgbClr val="D5DCE6"/>
            </a:solidFill>
            <a:prstDash val="solid"/>
          </a:ln>
        </p:spPr>
      </p:sp>
      <p:pic>
        <p:nvPicPr>
          <p:cNvPr id="14" name="Image 2" descr="preencoded.png">    </p:cNvPr>
          <p:cNvPicPr>
            <a:picLocks noChangeAspect="1"/>
          </p:cNvPicPr>
          <p:nvPr/>
        </p:nvPicPr>
        <p:blipFill>
          <a:blip r:embed="rId3"/>
          <a:stretch>
            <a:fillRect/>
          </a:stretch>
        </p:blipFill>
        <p:spPr>
          <a:xfrm>
            <a:off x="685800" y="3494257"/>
            <a:ext cx="274320" cy="274320"/>
          </a:xfrm>
          <a:prstGeom prst="rect">
            <a:avLst/>
          </a:prstGeom>
        </p:spPr>
      </p:pic>
      <p:sp>
        <p:nvSpPr>
          <p:cNvPr id="15" name="Text 9"/>
          <p:cNvSpPr txBox="1"/>
          <p:nvPr/>
        </p:nvSpPr>
        <p:spPr>
          <a:xfrm>
            <a:off x="1051560" y="3205947"/>
            <a:ext cx="3291840" cy="850941"/>
          </a:xfrm>
          <a:prstGeom prst="rect">
            <a:avLst/>
          </a:prstGeom>
          <a:noFill/>
          <a:ln/>
        </p:spPr>
        <p:txBody>
          <a:bodyPr wrap="square" lIns="0" tIns="0" rIns="0" bIns="0" rtlCol="0" anchor="ctr"/>
          <a:lstStyle/>
          <a:p>
            <a:pPr indent="0" marL="0">
              <a:buNone/>
            </a:pPr>
            <a:r>
              <a:rPr lang="en-US" sz="2000" strike="sngStrike" dirty="0">
                <a:solidFill>
                  <a:schemeClr val="accent6"/>
                </a:solidFill>
              </a:rPr>
              <a:t>✗ …dat de werken starten in maart.</a:t>
            </a:r>
            <a:endParaRPr lang="en-US" sz="2000" dirty="0"/>
          </a:p>
        </p:txBody>
      </p:sp>
      <p:pic>
        <p:nvPicPr>
          <p:cNvPr id="16" name="Image 3" descr="preencoded.png">    </p:cNvPr>
          <p:cNvPicPr>
            <a:picLocks noChangeAspect="1"/>
          </p:cNvPicPr>
          <p:nvPr/>
        </p:nvPicPr>
        <p:blipFill>
          <a:blip r:embed="rId4"/>
          <a:stretch>
            <a:fillRect/>
          </a:stretch>
        </p:blipFill>
        <p:spPr>
          <a:xfrm>
            <a:off x="4572000" y="3494257"/>
            <a:ext cx="274320" cy="274320"/>
          </a:xfrm>
          <a:prstGeom prst="rect">
            <a:avLst/>
          </a:prstGeom>
        </p:spPr>
      </p:pic>
      <p:sp>
        <p:nvSpPr>
          <p:cNvPr id="17" name="Text 10"/>
          <p:cNvSpPr txBox="1"/>
          <p:nvPr/>
        </p:nvSpPr>
        <p:spPr>
          <a:xfrm>
            <a:off x="4937760" y="3205947"/>
            <a:ext cx="3291840" cy="850941"/>
          </a:xfrm>
          <a:prstGeom prst="rect">
            <a:avLst/>
          </a:prstGeom>
          <a:noFill/>
          <a:ln/>
        </p:spPr>
        <p:txBody>
          <a:bodyPr wrap="square" lIns="0" tIns="0" rIns="0" bIns="0" rtlCol="0" anchor="ctr"/>
          <a:lstStyle/>
          <a:p>
            <a:pPr indent="0" marL="0">
              <a:buNone/>
            </a:pPr>
            <a:r>
              <a:rPr lang="en-US" sz="2000" dirty="0">
                <a:solidFill>
                  <a:schemeClr val="tx1"/>
                </a:solidFill>
              </a:rPr>
              <a:t>✓ …dat de werken </a:t>
            </a:r>
            <a:r>
              <a:rPr lang="en-US" sz="2000" b="1" dirty="0">
                <a:solidFill>
                  <a:schemeClr val="tx1"/>
                </a:solidFill>
              </a:rPr>
              <a:t>in maart starten</a:t>
            </a:r>
            <a:r>
              <a:rPr lang="en-US" sz="2000" dirty="0">
                <a:solidFill>
                  <a:schemeClr val="tx1"/>
                </a:solidFill>
              </a:rPr>
              <a:t>.</a:t>
            </a:r>
            <a:endParaRPr lang="en-US" sz="2000" dirty="0"/>
          </a:p>
        </p:txBody>
      </p:sp>
      <p:sp>
        <p:nvSpPr>
          <p:cNvPr id="18" name="Text 11"/>
          <p:cNvSpPr txBox="1"/>
          <p:nvPr/>
        </p:nvSpPr>
        <p:spPr>
          <a:xfrm>
            <a:off x="8458200" y="3205947"/>
            <a:ext cx="3090672" cy="850941"/>
          </a:xfrm>
          <a:prstGeom prst="rect">
            <a:avLst/>
          </a:prstGeom>
          <a:noFill/>
          <a:ln/>
        </p:spPr>
        <p:txBody>
          <a:bodyPr wrap="square" lIns="0" tIns="0" rIns="0" bIns="0" rtlCol="0" anchor="ctr"/>
          <a:lstStyle/>
          <a:p>
            <a:pPr indent="0" marL="0">
              <a:buNone/>
            </a:pPr>
            <a:r>
              <a:rPr lang="en-US" sz="1800" i="1" dirty="0">
                <a:solidFill>
                  <a:schemeClr val="accent5"/>
                </a:solidFill>
              </a:rPr>
              <a:t>Subordonnée : le verbe conjugué part à la </a:t>
            </a:r>
            <a:r>
              <a:rPr lang="en-US" sz="1800" b="1" i="1" dirty="0">
                <a:solidFill>
                  <a:schemeClr val="accent5"/>
                </a:solidFill>
              </a:rPr>
              <a:t>fin</a:t>
            </a:r>
            <a:r>
              <a:rPr lang="en-US" sz="1800" i="1" dirty="0">
                <a:solidFill>
                  <a:schemeClr val="accent5"/>
                </a:solidFill>
              </a:rPr>
              <a:t>.</a:t>
            </a:r>
            <a:endParaRPr lang="en-US" sz="1800" dirty="0"/>
          </a:p>
        </p:txBody>
      </p:sp>
      <p:sp>
        <p:nvSpPr>
          <p:cNvPr id="19" name="Shape 12"/>
          <p:cNvSpPr/>
          <p:nvPr/>
        </p:nvSpPr>
        <p:spPr>
          <a:xfrm>
            <a:off x="548640" y="4166616"/>
            <a:ext cx="11091672" cy="850941"/>
          </a:xfrm>
          <a:prstGeom prst="roundRect">
            <a:avLst>
              <a:gd name="adj" fmla="val 6447"/>
            </a:avLst>
          </a:prstGeom>
          <a:solidFill>
            <a:schemeClr val="bg2"/>
          </a:solidFill>
          <a:ln w="6350">
            <a:solidFill>
              <a:srgbClr val="D5DCE6"/>
            </a:solidFill>
            <a:prstDash val="solid"/>
          </a:ln>
        </p:spPr>
      </p:sp>
      <p:pic>
        <p:nvPicPr>
          <p:cNvPr id="20" name="Image 4" descr="preencoded.png">    </p:cNvPr>
          <p:cNvPicPr>
            <a:picLocks noChangeAspect="1"/>
          </p:cNvPicPr>
          <p:nvPr/>
        </p:nvPicPr>
        <p:blipFill>
          <a:blip r:embed="rId5"/>
          <a:stretch>
            <a:fillRect/>
          </a:stretch>
        </p:blipFill>
        <p:spPr>
          <a:xfrm>
            <a:off x="685800" y="4454927"/>
            <a:ext cx="274320" cy="274320"/>
          </a:xfrm>
          <a:prstGeom prst="rect">
            <a:avLst/>
          </a:prstGeom>
        </p:spPr>
      </p:pic>
      <p:sp>
        <p:nvSpPr>
          <p:cNvPr id="21" name="Text 13"/>
          <p:cNvSpPr txBox="1"/>
          <p:nvPr/>
        </p:nvSpPr>
        <p:spPr>
          <a:xfrm>
            <a:off x="1051560" y="4166616"/>
            <a:ext cx="3291840" cy="850941"/>
          </a:xfrm>
          <a:prstGeom prst="rect">
            <a:avLst/>
          </a:prstGeom>
          <a:noFill/>
          <a:ln/>
        </p:spPr>
        <p:txBody>
          <a:bodyPr wrap="square" lIns="0" tIns="0" rIns="0" bIns="0" rtlCol="0" anchor="ctr"/>
          <a:lstStyle/>
          <a:p>
            <a:pPr indent="0" marL="0">
              <a:buNone/>
            </a:pPr>
            <a:r>
              <a:rPr lang="en-US" sz="2000" strike="sngStrike" dirty="0">
                <a:solidFill>
                  <a:schemeClr val="accent6"/>
                </a:solidFill>
              </a:rPr>
              <a:t>✗ Mevrouw Peeters zei dat de werken zijn dringend.</a:t>
            </a:r>
            <a:endParaRPr lang="en-US" sz="2000" dirty="0"/>
          </a:p>
        </p:txBody>
      </p:sp>
      <p:pic>
        <p:nvPicPr>
          <p:cNvPr id="22" name="Image 5" descr="preencoded.png">    </p:cNvPr>
          <p:cNvPicPr>
            <a:picLocks noChangeAspect="1"/>
          </p:cNvPicPr>
          <p:nvPr/>
        </p:nvPicPr>
        <p:blipFill>
          <a:blip r:embed="rId6"/>
          <a:stretch>
            <a:fillRect/>
          </a:stretch>
        </p:blipFill>
        <p:spPr>
          <a:xfrm>
            <a:off x="4572000" y="4454927"/>
            <a:ext cx="274320" cy="274320"/>
          </a:xfrm>
          <a:prstGeom prst="rect">
            <a:avLst/>
          </a:prstGeom>
        </p:spPr>
      </p:pic>
      <p:sp>
        <p:nvSpPr>
          <p:cNvPr id="23" name="Text 14"/>
          <p:cNvSpPr txBox="1"/>
          <p:nvPr/>
        </p:nvSpPr>
        <p:spPr>
          <a:xfrm>
            <a:off x="4937760" y="4166616"/>
            <a:ext cx="3291840" cy="850941"/>
          </a:xfrm>
          <a:prstGeom prst="rect">
            <a:avLst/>
          </a:prstGeom>
          <a:noFill/>
          <a:ln/>
        </p:spPr>
        <p:txBody>
          <a:bodyPr wrap="square" lIns="0" tIns="0" rIns="0" bIns="0" rtlCol="0" anchor="ctr"/>
          <a:lstStyle/>
          <a:p>
            <a:pPr indent="0" marL="0">
              <a:buNone/>
            </a:pPr>
            <a:r>
              <a:rPr lang="en-US" sz="2000" dirty="0">
                <a:solidFill>
                  <a:schemeClr val="tx1"/>
                </a:solidFill>
              </a:rPr>
              <a:t>✓ …dat de werken dringend </a:t>
            </a:r>
            <a:r>
              <a:rPr lang="en-US" sz="2000" b="1" dirty="0">
                <a:solidFill>
                  <a:schemeClr val="tx1"/>
                </a:solidFill>
              </a:rPr>
              <a:t>waren</a:t>
            </a:r>
            <a:r>
              <a:rPr lang="en-US" sz="2000" dirty="0">
                <a:solidFill>
                  <a:schemeClr val="tx1"/>
                </a:solidFill>
              </a:rPr>
              <a:t>.</a:t>
            </a:r>
            <a:endParaRPr lang="en-US" sz="2000" dirty="0"/>
          </a:p>
        </p:txBody>
      </p:sp>
      <p:sp>
        <p:nvSpPr>
          <p:cNvPr id="24" name="Text 15"/>
          <p:cNvSpPr txBox="1"/>
          <p:nvPr/>
        </p:nvSpPr>
        <p:spPr>
          <a:xfrm>
            <a:off x="8458200" y="4166616"/>
            <a:ext cx="3090672" cy="850941"/>
          </a:xfrm>
          <a:prstGeom prst="rect">
            <a:avLst/>
          </a:prstGeom>
          <a:noFill/>
          <a:ln/>
        </p:spPr>
        <p:txBody>
          <a:bodyPr wrap="square" lIns="0" tIns="0" rIns="0" bIns="0" rtlCol="0" anchor="ctr"/>
          <a:lstStyle/>
          <a:p>
            <a:pPr indent="0" marL="0">
              <a:buNone/>
            </a:pPr>
            <a:r>
              <a:rPr lang="en-US" sz="1800" i="1" dirty="0">
                <a:solidFill>
                  <a:schemeClr val="accent5"/>
                </a:solidFill>
              </a:rPr>
              <a:t>Après </a:t>
            </a:r>
            <a:r>
              <a:rPr lang="en-US" sz="1800" i="1" dirty="0">
                <a:solidFill>
                  <a:schemeClr val="accent5"/>
                </a:solidFill>
              </a:rPr>
              <a:t>zei dat</a:t>
            </a:r>
            <a:r>
              <a:rPr lang="en-US" sz="1800" i="1" dirty="0">
                <a:solidFill>
                  <a:schemeClr val="accent5"/>
                </a:solidFill>
              </a:rPr>
              <a:t> : verbe </a:t>
            </a:r>
            <a:r>
              <a:rPr lang="en-US" sz="1800" b="1" i="1" dirty="0">
                <a:solidFill>
                  <a:schemeClr val="accent5"/>
                </a:solidFill>
              </a:rPr>
              <a:t>à la fin</a:t>
            </a:r>
            <a:r>
              <a:rPr lang="en-US" sz="1800" i="1" dirty="0">
                <a:solidFill>
                  <a:schemeClr val="accent5"/>
                </a:solidFill>
              </a:rPr>
              <a:t>, imperfectum.</a:t>
            </a:r>
            <a:endParaRPr lang="en-US" sz="1800" dirty="0"/>
          </a:p>
        </p:txBody>
      </p:sp>
      <p:sp>
        <p:nvSpPr>
          <p:cNvPr id="25" name="Shape 16"/>
          <p:cNvSpPr/>
          <p:nvPr/>
        </p:nvSpPr>
        <p:spPr>
          <a:xfrm>
            <a:off x="548640" y="5127285"/>
            <a:ext cx="11091672" cy="1163787"/>
          </a:xfrm>
          <a:prstGeom prst="roundRect">
            <a:avLst>
              <a:gd name="adj" fmla="val 4714"/>
            </a:avLst>
          </a:prstGeom>
          <a:solidFill>
            <a:schemeClr val="bg1"/>
          </a:solidFill>
          <a:ln w="6350">
            <a:solidFill>
              <a:srgbClr val="D5DCE6"/>
            </a:solidFill>
            <a:prstDash val="solid"/>
          </a:ln>
        </p:spPr>
      </p:sp>
      <p:pic>
        <p:nvPicPr>
          <p:cNvPr id="26" name="Image 6" descr="preencoded.png">    </p:cNvPr>
          <p:cNvPicPr>
            <a:picLocks noChangeAspect="1"/>
          </p:cNvPicPr>
          <p:nvPr/>
        </p:nvPicPr>
        <p:blipFill>
          <a:blip r:embed="rId7"/>
          <a:stretch>
            <a:fillRect/>
          </a:stretch>
        </p:blipFill>
        <p:spPr>
          <a:xfrm>
            <a:off x="685800" y="5572019"/>
            <a:ext cx="274320" cy="274320"/>
          </a:xfrm>
          <a:prstGeom prst="rect">
            <a:avLst/>
          </a:prstGeom>
        </p:spPr>
      </p:pic>
      <p:sp>
        <p:nvSpPr>
          <p:cNvPr id="27" name="Text 17"/>
          <p:cNvSpPr txBox="1"/>
          <p:nvPr/>
        </p:nvSpPr>
        <p:spPr>
          <a:xfrm>
            <a:off x="1051560" y="5127285"/>
            <a:ext cx="3291840" cy="1163787"/>
          </a:xfrm>
          <a:prstGeom prst="rect">
            <a:avLst/>
          </a:prstGeom>
          <a:noFill/>
          <a:ln/>
        </p:spPr>
        <p:txBody>
          <a:bodyPr wrap="square" lIns="0" tIns="0" rIns="0" bIns="0" rtlCol="0" anchor="ctr"/>
          <a:lstStyle/>
          <a:p>
            <a:pPr indent="0" marL="0">
              <a:buNone/>
            </a:pPr>
            <a:r>
              <a:rPr lang="en-US" sz="2000" strike="sngStrike" dirty="0">
                <a:solidFill>
                  <a:schemeClr val="accent6"/>
                </a:solidFill>
              </a:rPr>
              <a:t>✗ De heer Yilmaz vroeg dat een tweede offerte mogelijk was.</a:t>
            </a:r>
            <a:endParaRPr lang="en-US" sz="2000" dirty="0"/>
          </a:p>
        </p:txBody>
      </p:sp>
      <p:pic>
        <p:nvPicPr>
          <p:cNvPr id="28" name="Image 7" descr="preencoded.png">    </p:cNvPr>
          <p:cNvPicPr>
            <a:picLocks noChangeAspect="1"/>
          </p:cNvPicPr>
          <p:nvPr/>
        </p:nvPicPr>
        <p:blipFill>
          <a:blip r:embed="rId8"/>
          <a:stretch>
            <a:fillRect/>
          </a:stretch>
        </p:blipFill>
        <p:spPr>
          <a:xfrm>
            <a:off x="4572000" y="5572019"/>
            <a:ext cx="274320" cy="274320"/>
          </a:xfrm>
          <a:prstGeom prst="rect">
            <a:avLst/>
          </a:prstGeom>
        </p:spPr>
      </p:pic>
      <p:sp>
        <p:nvSpPr>
          <p:cNvPr id="29" name="Text 18"/>
          <p:cNvSpPr txBox="1"/>
          <p:nvPr/>
        </p:nvSpPr>
        <p:spPr>
          <a:xfrm>
            <a:off x="4937760" y="5127285"/>
            <a:ext cx="3291840" cy="1163787"/>
          </a:xfrm>
          <a:prstGeom prst="rect">
            <a:avLst/>
          </a:prstGeom>
          <a:noFill/>
          <a:ln/>
        </p:spPr>
        <p:txBody>
          <a:bodyPr wrap="square" lIns="0" tIns="0" rIns="0" bIns="0" rtlCol="0" anchor="ctr"/>
          <a:lstStyle/>
          <a:p>
            <a:pPr indent="0" marL="0">
              <a:buNone/>
            </a:pPr>
            <a:r>
              <a:rPr lang="en-US" sz="2000" dirty="0">
                <a:solidFill>
                  <a:schemeClr val="tx1"/>
                </a:solidFill>
              </a:rPr>
              <a:t>✓ …vroeg </a:t>
            </a:r>
            <a:r>
              <a:rPr lang="en-US" sz="2000" b="1" dirty="0">
                <a:solidFill>
                  <a:schemeClr val="tx1"/>
                </a:solidFill>
              </a:rPr>
              <a:t>of</a:t>
            </a:r>
            <a:r>
              <a:rPr lang="en-US" sz="2000" dirty="0">
                <a:solidFill>
                  <a:schemeClr val="tx1"/>
                </a:solidFill>
              </a:rPr>
              <a:t> een tweede offerte mogelijk was.</a:t>
            </a:r>
            <a:endParaRPr lang="en-US" sz="2000" dirty="0"/>
          </a:p>
        </p:txBody>
      </p:sp>
      <p:sp>
        <p:nvSpPr>
          <p:cNvPr id="30" name="Text 19"/>
          <p:cNvSpPr txBox="1"/>
          <p:nvPr/>
        </p:nvSpPr>
        <p:spPr>
          <a:xfrm>
            <a:off x="8458200" y="5127285"/>
            <a:ext cx="3090672" cy="1163787"/>
          </a:xfrm>
          <a:prstGeom prst="rect">
            <a:avLst/>
          </a:prstGeom>
          <a:noFill/>
          <a:ln/>
        </p:spPr>
        <p:txBody>
          <a:bodyPr wrap="square" lIns="0" tIns="0" rIns="0" bIns="0" rtlCol="0" anchor="ctr"/>
          <a:lstStyle/>
          <a:p>
            <a:pPr indent="0" marL="0">
              <a:buNone/>
            </a:pPr>
            <a:r>
              <a:rPr lang="en-US" sz="1800" i="1" dirty="0">
                <a:solidFill>
                  <a:schemeClr val="accent5"/>
                </a:solidFill>
              </a:rPr>
              <a:t>Question indirecte : </a:t>
            </a:r>
            <a:r>
              <a:rPr lang="en-US" sz="1800" b="1" i="1" dirty="0">
                <a:solidFill>
                  <a:schemeClr val="accent5"/>
                </a:solidFill>
              </a:rPr>
              <a:t>of</a:t>
            </a:r>
            <a:r>
              <a:rPr lang="en-US" sz="1800" i="1" dirty="0">
                <a:solidFill>
                  <a:schemeClr val="accent5"/>
                </a:solidFill>
              </a:rPr>
              <a:t> (pas </a:t>
            </a:r>
            <a:r>
              <a:rPr lang="en-US" sz="1800" i="1" dirty="0">
                <a:solidFill>
                  <a:schemeClr val="accent5"/>
                </a:solidFill>
              </a:rPr>
              <a:t>dat</a:t>
            </a:r>
            <a:r>
              <a:rPr lang="en-US" sz="1800" i="1" dirty="0">
                <a:solidFill>
                  <a:schemeClr val="accent5"/>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7 Lezen : de notulen van de vergadering</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6" name="Shape 3"/>
          <p:cNvSpPr/>
          <p:nvPr/>
        </p:nvSpPr>
        <p:spPr>
          <a:xfrm>
            <a:off x="548640" y="1481328"/>
            <a:ext cx="11091672" cy="4809744"/>
          </a:xfrm>
          <a:prstGeom prst="rect">
            <a:avLst/>
          </a:prstGeom>
          <a:solidFill>
            <a:schemeClr val="bg1"/>
          </a:solidFill>
          <a:ln w="12700">
            <a:solidFill>
              <a:srgbClr val="4A5A70"/>
            </a:solidFill>
            <a:prstDash val="dash"/>
          </a:ln>
        </p:spPr>
      </p:sp>
      <p:sp>
        <p:nvSpPr>
          <p:cNvPr id="7" name="tag"/>
          <p:cNvSpPr/>
          <p:nvPr/>
        </p:nvSpPr>
        <p:spPr>
          <a:xfrm>
            <a:off x="777240" y="1645920"/>
            <a:ext cx="12801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DOCUMENT</a:t>
            </a:r>
            <a:endParaRPr lang="en-US" sz="1200" dirty="0"/>
          </a:p>
        </p:txBody>
      </p:sp>
      <p:sp>
        <p:nvSpPr>
          <p:cNvPr id="8" name="Text 5"/>
          <p:cNvSpPr txBox="1"/>
          <p:nvPr/>
        </p:nvSpPr>
        <p:spPr>
          <a:xfrm>
            <a:off x="2286000" y="1609344"/>
            <a:ext cx="9262872"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Notulen — Algemene vergadering van 22 september (uittreksel)</a:t>
            </a:r>
            <a:endParaRPr lang="en-US" sz="1800" dirty="0"/>
          </a:p>
        </p:txBody>
      </p:sp>
      <p:sp>
        <p:nvSpPr>
          <p:cNvPr id="9" name="Text 6"/>
          <p:cNvSpPr txBox="1"/>
          <p:nvPr/>
        </p:nvSpPr>
        <p:spPr>
          <a:xfrm>
            <a:off x="777240" y="2148840"/>
            <a:ext cx="10634472" cy="4023360"/>
          </a:xfrm>
          <a:prstGeom prst="rect">
            <a:avLst/>
          </a:prstGeom>
          <a:noFill/>
          <a:ln/>
        </p:spPr>
        <p:txBody>
          <a:bodyPr wrap="square" lIns="0" tIns="0" rIns="0" bIns="0" rtlCol="0" anchor="t"/>
          <a:lstStyle/>
          <a:p>
            <a:pPr indent="0" marL="0">
              <a:spcAft>
                <a:spcPts val="800"/>
              </a:spcAft>
              <a:buNone/>
            </a:pPr>
            <a:r>
              <a:rPr lang="en-US" sz="2100" b="1" dirty="0">
                <a:solidFill>
                  <a:schemeClr val="tx2"/>
                </a:solidFill>
              </a:rPr>
              <a:t>Aanwezig   </a:t>
            </a:r>
            <a:r>
              <a:rPr lang="en-US" sz="2100" dirty="0">
                <a:solidFill>
                  <a:schemeClr val="tx1"/>
                </a:solidFill>
              </a:rPr>
              <a:t>11 mede-eigenaars (waarvan 2 bij volmacht). De vergadering werd geopend om 19.10 uur.</a:t>
            </a:r>
            <a:endParaRPr lang="en-US" sz="2100" dirty="0"/>
          </a:p>
          <a:p>
            <a:pPr indent="0" marL="0">
              <a:spcAft>
                <a:spcPts val="800"/>
              </a:spcAft>
              <a:buNone/>
            </a:pPr>
            <a:r>
              <a:rPr lang="en-US" sz="2100" b="1" dirty="0">
                <a:solidFill>
                  <a:schemeClr val="tx2"/>
                </a:solidFill>
              </a:rPr>
              <a:t>Punt 2   </a:t>
            </a:r>
            <a:r>
              <a:rPr lang="en-US" sz="2100" dirty="0">
                <a:solidFill>
                  <a:schemeClr val="tx1"/>
                </a:solidFill>
              </a:rPr>
              <a:t>Renovatie van de gevel: De heer Vermeulen lichtte de offerte toe (€ 86.500). Mevrouw Peeters zei dat de werken dringend waren. De heer Yilmaz vroeg echter of een tweede offerte mogelijk was. Er werd beslist om de stemming te verplaatsen naar november, zodat een tweede offerte kan worden gevraagd.</a:t>
            </a:r>
            <a:endParaRPr lang="en-US" sz="2100" dirty="0"/>
          </a:p>
          <a:p>
            <a:pPr indent="0" marL="0">
              <a:spcAft>
                <a:spcPts val="800"/>
              </a:spcAft>
              <a:buNone/>
            </a:pPr>
            <a:r>
              <a:rPr lang="en-US" sz="2100" b="1" dirty="0">
                <a:solidFill>
                  <a:schemeClr val="tx2"/>
                </a:solidFill>
              </a:rPr>
              <a:t>Punt 4   </a:t>
            </a:r>
            <a:r>
              <a:rPr lang="en-US" sz="2100" dirty="0">
                <a:solidFill>
                  <a:schemeClr val="tx1"/>
                </a:solidFill>
              </a:rPr>
              <a:t>Reservefonds: De verhoging van de bijdrage werd goedgekeurd met 8 stemmen voor, 2 tegen en 1 onthouding. De nieuwe bijdrage wordt vanaf januari geïnd.</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7 Lezen : les quatre questions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6" name="Text 3"/>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Seul · 7 min, puis par deux.</a:t>
            </a:r>
            <a:endParaRPr lang="en-US" sz="1600" dirty="0"/>
          </a:p>
        </p:txBody>
      </p:sp>
      <p:sp>
        <p:nvSpPr>
          <p:cNvPr id="7"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1000"/>
              </a:spcAft>
              <a:buNone/>
            </a:pPr>
            <a:r>
              <a:rPr lang="en-US" sz="2600" b="1" dirty="0">
                <a:solidFill>
                  <a:schemeClr val="tx1"/>
                </a:solidFill>
              </a:rPr>
              <a:t>1</a:t>
            </a:r>
            <a:r>
              <a:rPr lang="en-US" sz="2600" dirty="0">
                <a:solidFill>
                  <a:schemeClr val="tx1"/>
                </a:solidFill>
              </a:rPr>
              <a:t> Quelles décisions ont été prises ? Deux passifs.</a:t>
            </a:r>
            <a:endParaRPr lang="en-US" sz="2600" dirty="0"/>
          </a:p>
          <a:p>
            <a:pPr indent="0" marL="0">
              <a:spcAft>
                <a:spcPts val="1000"/>
              </a:spcAft>
              <a:buNone/>
            </a:pPr>
            <a:r>
              <a:rPr lang="en-US" sz="2600" b="1" dirty="0">
                <a:solidFill>
                  <a:schemeClr val="tx1"/>
                </a:solidFill>
              </a:rPr>
              <a:t>2</a:t>
            </a:r>
            <a:r>
              <a:rPr lang="en-US" sz="2600" dirty="0">
                <a:solidFill>
                  <a:schemeClr val="tx1"/>
                </a:solidFill>
              </a:rPr>
              <a:t> Les deux discours indirects du point 2 : qui a dit / demandé quoi ?</a:t>
            </a:r>
            <a:endParaRPr lang="en-US" sz="2600" dirty="0"/>
          </a:p>
          <a:p>
            <a:pPr indent="0" marL="0">
              <a:spcAft>
                <a:spcPts val="1000"/>
              </a:spcAft>
              <a:buNone/>
            </a:pPr>
            <a:r>
              <a:rPr lang="en-US" sz="2600" b="1" dirty="0">
                <a:solidFill>
                  <a:schemeClr val="tx1"/>
                </a:solidFill>
              </a:rPr>
              <a:t>3</a:t>
            </a:r>
            <a:r>
              <a:rPr lang="en-US" sz="2600" dirty="0">
                <a:solidFill>
                  <a:schemeClr val="tx1"/>
                </a:solidFill>
              </a:rPr>
              <a:t> Que signifie « 1 onthouding » ?</a:t>
            </a:r>
            <a:endParaRPr lang="en-US" sz="2600" dirty="0"/>
          </a:p>
          <a:p>
            <a:pPr indent="0" marL="0">
              <a:spcAft>
                <a:spcPts val="1000"/>
              </a:spcAft>
              <a:buNone/>
            </a:pPr>
            <a:r>
              <a:rPr lang="en-US" sz="2600" b="1" dirty="0">
                <a:solidFill>
                  <a:schemeClr val="tx1"/>
                </a:solidFill>
              </a:rPr>
              <a:t>4</a:t>
            </a:r>
            <a:r>
              <a:rPr lang="en-US" sz="2600" dirty="0">
                <a:solidFill>
                  <a:schemeClr val="tx1"/>
                </a:solidFill>
              </a:rPr>
              <a:t> Mevrouw Dubois était absente : sa voix a-t-elle compté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7 Lezen : les quatre questions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17</a:t>
            </a:r>
            <a:endParaRPr lang="en-US" sz="1200" dirty="0"/>
          </a:p>
        </p:txBody>
      </p:sp>
      <p:sp>
        <p:nvSpPr>
          <p:cNvPr id="7" name="Text 4"/>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Seul · 7 min, puis par deux.</a:t>
            </a:r>
            <a:endParaRPr lang="en-US" sz="1600" dirty="0"/>
          </a:p>
        </p:txBody>
      </p:sp>
      <p:sp>
        <p:nvSpPr>
          <p:cNvPr id="8"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400"/>
              </a:spcAft>
              <a:buNone/>
            </a:pPr>
            <a:r>
              <a:rPr lang="en-US" sz="2300" b="1" dirty="0">
                <a:solidFill>
                  <a:schemeClr val="tx1"/>
                </a:solidFill>
              </a:rPr>
              <a:t>1</a:t>
            </a:r>
            <a:r>
              <a:rPr lang="en-US" sz="2300" dirty="0">
                <a:solidFill>
                  <a:schemeClr val="tx1"/>
                </a:solidFill>
              </a:rPr>
              <a:t> Quelles décisions ont été prises ? Deux passifs.</a:t>
            </a:r>
            <a:endParaRPr lang="en-US" sz="2300" dirty="0"/>
          </a:p>
          <a:p>
            <a:pPr indent="0" marL="0">
              <a:spcAft>
                <a:spcPts val="400"/>
              </a:spcAft>
              <a:buNone/>
            </a:pPr>
            <a:r>
              <a:rPr lang="en-US" sz="2300" b="1" dirty="0">
                <a:solidFill>
                  <a:schemeClr val="accent3"/>
                </a:solidFill>
              </a:rPr>
              <a:t>→ </a:t>
            </a:r>
            <a:r>
              <a:rPr lang="en-US" sz="2300" b="1" dirty="0">
                <a:solidFill>
                  <a:schemeClr val="accent3"/>
                </a:solidFill>
              </a:rPr>
              <a:t>Er werd beslist</a:t>
            </a:r>
            <a:r>
              <a:rPr lang="en-US" sz="2300" dirty="0">
                <a:solidFill>
                  <a:schemeClr val="accent3"/>
                </a:solidFill>
              </a:rPr>
              <a:t> om de stemming </a:t>
            </a:r>
            <a:r>
              <a:rPr lang="en-US" sz="2300" b="1" dirty="0">
                <a:solidFill>
                  <a:schemeClr val="accent3"/>
                </a:solidFill>
              </a:rPr>
              <a:t>te verplaatsen</a:t>
            </a:r>
            <a:r>
              <a:rPr lang="en-US" sz="2300" dirty="0">
                <a:solidFill>
                  <a:schemeClr val="accent3"/>
                </a:solidFill>
              </a:rPr>
              <a:t> naar november. · De verhoging van de bijdrage </a:t>
            </a:r>
            <a:r>
              <a:rPr lang="en-US" sz="2300" b="1" dirty="0">
                <a:solidFill>
                  <a:schemeClr val="accent3"/>
                </a:solidFill>
              </a:rPr>
              <a:t>werd goedgekeurd</a:t>
            </a:r>
            <a:r>
              <a:rPr lang="en-US" sz="2300" dirty="0">
                <a:solidFill>
                  <a:schemeClr val="accent3"/>
                </a:solidFill>
              </a:rPr>
              <a:t>.</a:t>
            </a:r>
            <a:endParaRPr lang="en-US" sz="2300" dirty="0"/>
          </a:p>
          <a:p>
            <a:pPr indent="0" marL="0">
              <a:spcAft>
                <a:spcPts val="400"/>
              </a:spcAft>
              <a:buNone/>
            </a:pPr>
            <a:r>
              <a:rPr lang="en-US" sz="2300" b="1" dirty="0">
                <a:solidFill>
                  <a:schemeClr val="tx1"/>
                </a:solidFill>
              </a:rPr>
              <a:t>2</a:t>
            </a:r>
            <a:r>
              <a:rPr lang="en-US" sz="2300" dirty="0">
                <a:solidFill>
                  <a:schemeClr val="tx1"/>
                </a:solidFill>
              </a:rPr>
              <a:t> Les deux discours indirects du point 2 : qui a dit / demandé quoi ?</a:t>
            </a:r>
            <a:endParaRPr lang="en-US" sz="2300" dirty="0"/>
          </a:p>
          <a:p>
            <a:pPr indent="0" marL="0">
              <a:spcAft>
                <a:spcPts val="400"/>
              </a:spcAft>
              <a:buNone/>
            </a:pPr>
            <a:r>
              <a:rPr lang="en-US" sz="2300" b="1" dirty="0">
                <a:solidFill>
                  <a:schemeClr val="accent3"/>
                </a:solidFill>
              </a:rPr>
              <a:t>→ </a:t>
            </a:r>
            <a:r>
              <a:rPr lang="en-US" sz="2300" b="1" dirty="0">
                <a:solidFill>
                  <a:schemeClr val="accent3"/>
                </a:solidFill>
              </a:rPr>
              <a:t>Mevrouw Peeters</a:t>
            </a:r>
            <a:r>
              <a:rPr lang="en-US" sz="2300" dirty="0">
                <a:solidFill>
                  <a:schemeClr val="accent3"/>
                </a:solidFill>
              </a:rPr>
              <a:t> zei dat de werken dringend waren. · </a:t>
            </a:r>
            <a:r>
              <a:rPr lang="en-US" sz="2300" b="1" dirty="0">
                <a:solidFill>
                  <a:schemeClr val="accent3"/>
                </a:solidFill>
              </a:rPr>
              <a:t>De heer Yilmaz</a:t>
            </a:r>
            <a:r>
              <a:rPr lang="en-US" sz="2300" dirty="0">
                <a:solidFill>
                  <a:schemeClr val="accent3"/>
                </a:solidFill>
              </a:rPr>
              <a:t> vroeg of een tweede offerte mogelijk was.</a:t>
            </a:r>
            <a:endParaRPr lang="en-US" sz="2300" dirty="0"/>
          </a:p>
          <a:p>
            <a:pPr indent="0" marL="0">
              <a:spcAft>
                <a:spcPts val="400"/>
              </a:spcAft>
              <a:buNone/>
            </a:pPr>
            <a:r>
              <a:rPr lang="en-US" sz="2300" b="1" dirty="0">
                <a:solidFill>
                  <a:schemeClr val="tx1"/>
                </a:solidFill>
              </a:rPr>
              <a:t>3</a:t>
            </a:r>
            <a:r>
              <a:rPr lang="en-US" sz="2300" dirty="0">
                <a:solidFill>
                  <a:schemeClr val="tx1"/>
                </a:solidFill>
              </a:rPr>
              <a:t> Que signifie « 1 onthouding » ?</a:t>
            </a:r>
            <a:endParaRPr lang="en-US" sz="2300" dirty="0"/>
          </a:p>
          <a:p>
            <a:pPr indent="0" marL="0">
              <a:spcAft>
                <a:spcPts val="400"/>
              </a:spcAft>
              <a:buNone/>
            </a:pPr>
            <a:r>
              <a:rPr lang="en-US" sz="2300" b="1" dirty="0">
                <a:solidFill>
                  <a:schemeClr val="accent3"/>
                </a:solidFill>
              </a:rPr>
              <a:t>→ </a:t>
            </a:r>
            <a:r>
              <a:rPr lang="en-US" sz="2300" b="1" dirty="0">
                <a:solidFill>
                  <a:schemeClr val="accent3"/>
                </a:solidFill>
              </a:rPr>
              <a:t>Une abstention</a:t>
            </a:r>
            <a:r>
              <a:rPr lang="en-US" sz="2300" dirty="0">
                <a:solidFill>
                  <a:schemeClr val="accent3"/>
                </a:solidFill>
              </a:rPr>
              <a:t> : 8 + 2 + 1 = 11 présents ; une personne n’a voté ni pour ni contre.</a:t>
            </a:r>
            <a:endParaRPr lang="en-US" sz="2300" dirty="0"/>
          </a:p>
          <a:p>
            <a:pPr indent="0" marL="0">
              <a:spcAft>
                <a:spcPts val="400"/>
              </a:spcAft>
              <a:buNone/>
            </a:pPr>
            <a:r>
              <a:rPr lang="en-US" sz="2300" b="1" dirty="0">
                <a:solidFill>
                  <a:schemeClr val="tx1"/>
                </a:solidFill>
              </a:rPr>
              <a:t>4</a:t>
            </a:r>
            <a:r>
              <a:rPr lang="en-US" sz="2300" dirty="0">
                <a:solidFill>
                  <a:schemeClr val="tx1"/>
                </a:solidFill>
              </a:rPr>
              <a:t> Mevrouw Dubois était absente : sa voix a-t-elle compté ?</a:t>
            </a:r>
            <a:endParaRPr lang="en-US" sz="2300" dirty="0"/>
          </a:p>
          <a:p>
            <a:pPr indent="0" marL="0">
              <a:spcAft>
                <a:spcPts val="400"/>
              </a:spcAft>
              <a:buNone/>
            </a:pPr>
            <a:r>
              <a:rPr lang="en-US" sz="2300" b="1" dirty="0">
                <a:solidFill>
                  <a:schemeClr val="accent3"/>
                </a:solidFill>
              </a:rPr>
              <a:t>→ </a:t>
            </a:r>
            <a:r>
              <a:rPr lang="en-US" sz="2300" b="1" dirty="0">
                <a:solidFill>
                  <a:schemeClr val="accent3"/>
                </a:solidFill>
              </a:rPr>
              <a:t>Oui</a:t>
            </a:r>
            <a:r>
              <a:rPr lang="en-US" sz="2300" dirty="0">
                <a:solidFill>
                  <a:schemeClr val="accent3"/>
                </a:solidFill>
              </a:rPr>
              <a:t> : « waarvan 2 </a:t>
            </a:r>
            <a:r>
              <a:rPr lang="en-US" sz="2300" b="1" dirty="0">
                <a:solidFill>
                  <a:schemeClr val="accent3"/>
                </a:solidFill>
              </a:rPr>
              <a:t>bij volmacht</a:t>
            </a:r>
            <a:r>
              <a:rPr lang="en-US" sz="2300" dirty="0">
                <a:solidFill>
                  <a:schemeClr val="accent3"/>
                </a:solidFill>
              </a:rPr>
              <a:t> » — elle était représentée par procuration.</a:t>
            </a:r>
            <a:endParaRPr lang="en-US" sz="2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4 : het verslag aan mevrouw Dubois</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Écrit · seul · 17 min. Résumez la réunion à votre cliente (10 à 12 phrases, registre formel) à partir des notulen.</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800"/>
              </a:spcAft>
              <a:buNone/>
            </a:pPr>
            <a:r>
              <a:rPr lang="en-US" sz="2400" b="1" dirty="0">
                <a:solidFill>
                  <a:schemeClr val="tx1"/>
                </a:solidFill>
              </a:rPr>
              <a:t>Décisions</a:t>
            </a:r>
            <a:r>
              <a:rPr lang="en-US" sz="2400" dirty="0">
                <a:solidFill>
                  <a:schemeClr val="tx1"/>
                </a:solidFill>
              </a:rPr>
              <a:t> au passif impersonnel : </a:t>
            </a:r>
            <a:r>
              <a:rPr lang="en-US" sz="2400" i="1" dirty="0">
                <a:solidFill>
                  <a:schemeClr val="tx1"/>
                </a:solidFill>
              </a:rPr>
              <a:t>Er werd beslist dat…</a:t>
            </a:r>
            <a:endParaRPr lang="en-US" sz="2400" dirty="0"/>
          </a:p>
          <a:p>
            <a:pPr indent="0" marL="0">
              <a:spcAft>
                <a:spcPts val="800"/>
              </a:spcAft>
              <a:buNone/>
            </a:pPr>
            <a:r>
              <a:rPr lang="en-US" sz="2400" b="1" dirty="0">
                <a:solidFill>
                  <a:schemeClr val="tx1"/>
                </a:solidFill>
              </a:rPr>
              <a:t>Positions</a:t>
            </a:r>
            <a:r>
              <a:rPr lang="en-US" sz="2400" dirty="0">
                <a:solidFill>
                  <a:schemeClr val="tx1"/>
                </a:solidFill>
              </a:rPr>
              <a:t> au discours indirect : </a:t>
            </a:r>
            <a:r>
              <a:rPr lang="en-US" sz="2400" i="1" dirty="0">
                <a:solidFill>
                  <a:schemeClr val="tx1"/>
                </a:solidFill>
              </a:rPr>
              <a:t>zei dat · vroeg of</a:t>
            </a:r>
            <a:endParaRPr lang="en-US" sz="2400" dirty="0"/>
          </a:p>
          <a:p>
            <a:pPr indent="0" marL="0">
              <a:spcAft>
                <a:spcPts val="800"/>
              </a:spcAft>
              <a:buNone/>
            </a:pPr>
            <a:r>
              <a:rPr lang="en-US" sz="2400" b="1" dirty="0">
                <a:solidFill>
                  <a:schemeClr val="tx1"/>
                </a:solidFill>
              </a:rPr>
              <a:t>3 connecteurs</a:t>
            </a:r>
            <a:r>
              <a:rPr lang="en-US" sz="2400" dirty="0">
                <a:solidFill>
                  <a:schemeClr val="tx1"/>
                </a:solidFill>
              </a:rPr>
              <a:t> : </a:t>
            </a:r>
            <a:r>
              <a:rPr lang="en-US" sz="2400" i="1" dirty="0">
                <a:solidFill>
                  <a:schemeClr val="tx1"/>
                </a:solidFill>
              </a:rPr>
              <a:t>enerzijds / anderzijds · echter · wat … betreft</a:t>
            </a:r>
            <a:endParaRPr lang="en-US" sz="2400" dirty="0"/>
          </a:p>
          <a:p>
            <a:pPr indent="0" marL="0">
              <a:spcAft>
                <a:spcPts val="800"/>
              </a:spcAft>
              <a:buNone/>
            </a:pPr>
            <a:r>
              <a:rPr lang="en-US" sz="2400" b="1" dirty="0">
                <a:solidFill>
                  <a:schemeClr val="tx1"/>
                </a:solidFill>
              </a:rPr>
              <a:t>Votre recommandation</a:t>
            </a:r>
            <a:r>
              <a:rPr lang="en-US" sz="2400" dirty="0">
                <a:solidFill>
                  <a:schemeClr val="tx1"/>
                </a:solidFill>
              </a:rPr>
              <a:t> avec </a:t>
            </a:r>
            <a:r>
              <a:rPr lang="en-US" sz="2400" i="1" dirty="0">
                <a:solidFill>
                  <a:schemeClr val="tx1"/>
                </a:solidFill>
              </a:rPr>
              <a:t>zou</a:t>
            </a:r>
            <a:endParaRPr lang="en-US" sz="2400" dirty="0"/>
          </a:p>
          <a:p>
            <a:pPr indent="0" marL="0">
              <a:spcAft>
                <a:spcPts val="800"/>
              </a:spcAft>
              <a:buNone/>
            </a:pPr>
            <a:r>
              <a:rPr lang="en-US" sz="2400" dirty="0">
                <a:solidFill>
                  <a:schemeClr val="tx1"/>
                </a:solidFill>
              </a:rPr>
              <a:t>Structure : </a:t>
            </a:r>
            <a:r>
              <a:rPr lang="en-US" sz="2400" b="1" dirty="0">
                <a:solidFill>
                  <a:schemeClr val="tx1"/>
                </a:solidFill>
              </a:rPr>
              <a:t>ten eerste → daarna → kortom</a:t>
            </a:r>
            <a:r>
              <a:rPr lang="en-US" sz="2400" dirty="0">
                <a:solidFill>
                  <a:schemeClr val="tx1"/>
                </a:solidFill>
              </a:rPr>
              <a:t> · cadre formel</a:t>
            </a:r>
            <a:endParaRPr lang="en-US" sz="2400" dirty="0"/>
          </a:p>
        </p:txBody>
      </p:sp>
      <p:sp>
        <p:nvSpPr>
          <p:cNvPr id="8" name="aside"/>
          <p:cNvSpPr/>
          <p:nvPr/>
        </p:nvSpPr>
        <p:spPr>
          <a:xfrm>
            <a:off x="8046720" y="1481328"/>
            <a:ext cx="3593592" cy="4809744"/>
          </a:xfrm>
          <a:prstGeom prst="roundRect">
            <a:avLst>
              <a:gd name="adj" fmla="val 2036"/>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10 à 12 phrases</a:t>
            </a:r>
            <a:endParaRPr lang="en-US" sz="1800" dirty="0"/>
          </a:p>
          <a:p>
            <a:pPr marL="177800" indent="-177800">
              <a:spcAft>
                <a:spcPts val="600"/>
              </a:spcAft>
              <a:buSzPct val="100000"/>
              <a:buChar char="•"/>
            </a:pPr>
            <a:r>
              <a:rPr lang="en-US" sz="1800" dirty="0">
                <a:solidFill>
                  <a:schemeClr val="tx1"/>
                </a:solidFill>
              </a:rPr>
              <a:t>Registre </a:t>
            </a:r>
            <a:r>
              <a:rPr lang="en-US" sz="1800" b="1" dirty="0">
                <a:solidFill>
                  <a:schemeClr val="tx1"/>
                </a:solidFill>
              </a:rPr>
              <a:t>formel</a:t>
            </a:r>
            <a:endParaRPr lang="en-US" sz="1800" dirty="0"/>
          </a:p>
          <a:p>
            <a:pPr marL="177800" indent="-177800">
              <a:spcAft>
                <a:spcPts val="600"/>
              </a:spcAft>
              <a:buSzPct val="100000"/>
              <a:buChar char="•"/>
            </a:pPr>
            <a:r>
              <a:rPr lang="en-US" sz="1800" dirty="0">
                <a:solidFill>
                  <a:schemeClr val="tx1"/>
                </a:solidFill>
              </a:rPr>
              <a:t>Cadre : </a:t>
            </a:r>
            <a:r>
              <a:rPr lang="en-US" sz="1800" i="1" dirty="0">
                <a:solidFill>
                  <a:schemeClr val="tx1"/>
                </a:solidFill>
              </a:rPr>
              <a:t>Geachte mevrouw Dubois, … Met vriendelijke groeten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4 : rapport-modèle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t>
            </a:r>
            <a:endParaRPr lang="en-US" sz="1200" dirty="0"/>
          </a:p>
        </p:txBody>
      </p:sp>
      <p:sp>
        <p:nvSpPr>
          <p:cNvPr id="6" name="Shape 3"/>
          <p:cNvSpPr/>
          <p:nvPr/>
        </p:nvSpPr>
        <p:spPr>
          <a:xfrm>
            <a:off x="548640" y="1481328"/>
            <a:ext cx="11091672" cy="4809744"/>
          </a:xfrm>
          <a:prstGeom prst="rect">
            <a:avLst/>
          </a:prstGeom>
          <a:solidFill>
            <a:schemeClr val="bg1"/>
          </a:solidFill>
          <a:ln w="12700">
            <a:solidFill>
              <a:srgbClr val="4A5A70"/>
            </a:solidFill>
            <a:prstDash val="dash"/>
          </a:ln>
        </p:spPr>
      </p:sp>
      <p:sp>
        <p:nvSpPr>
          <p:cNvPr id="7" name="tag"/>
          <p:cNvSpPr/>
          <p:nvPr/>
        </p:nvSpPr>
        <p:spPr>
          <a:xfrm>
            <a:off x="777240" y="1645920"/>
            <a:ext cx="11887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MODÈLE</a:t>
            </a:r>
            <a:endParaRPr lang="en-US" sz="1200" dirty="0"/>
          </a:p>
        </p:txBody>
      </p:sp>
      <p:sp>
        <p:nvSpPr>
          <p:cNvPr id="8" name="Text 5"/>
          <p:cNvSpPr txBox="1"/>
          <p:nvPr/>
        </p:nvSpPr>
        <p:spPr>
          <a:xfrm>
            <a:off x="2194560" y="1609344"/>
            <a:ext cx="9354312"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Betreft: verslag van de algemene vergadering van 22 september</a:t>
            </a:r>
            <a:endParaRPr lang="en-US" sz="1800" dirty="0"/>
          </a:p>
        </p:txBody>
      </p:sp>
      <p:sp>
        <p:nvSpPr>
          <p:cNvPr id="9" name="Text 6"/>
          <p:cNvSpPr txBox="1"/>
          <p:nvPr/>
        </p:nvSpPr>
        <p:spPr>
          <a:xfrm>
            <a:off x="777240" y="2148840"/>
            <a:ext cx="10634472" cy="402336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Geachte mevrouw Dubois,</a:t>
            </a:r>
            <a:endParaRPr lang="en-US" sz="1800" dirty="0"/>
          </a:p>
          <a:p>
            <a:pPr indent="0" marL="0">
              <a:spcAft>
                <a:spcPts val="800"/>
              </a:spcAft>
              <a:buNone/>
            </a:pPr>
            <a:r>
              <a:rPr lang="en-US" sz="1800" dirty="0">
                <a:solidFill>
                  <a:schemeClr val="tx1"/>
                </a:solidFill>
              </a:rPr>
              <a:t>Hierbij ontvangt u het verslag van de algemene vergadering van 22 september. U was bij volmacht vertegenwoordigd.</a:t>
            </a:r>
            <a:endParaRPr lang="en-US" sz="1800" dirty="0"/>
          </a:p>
          <a:p>
            <a:pPr indent="0" marL="0">
              <a:spcAft>
                <a:spcPts val="800"/>
              </a:spcAft>
              <a:buNone/>
            </a:pPr>
            <a:r>
              <a:rPr lang="en-US" sz="1800" dirty="0">
                <a:solidFill>
                  <a:schemeClr val="tx1"/>
                </a:solidFill>
              </a:rPr>
              <a:t>Ten eerste: wat de renovatie van de gevel betreft, lichtte de heer Vermeulen de offerte van € 86.500 toe. Enerzijds zei mevrouw Peeters dat de werken dringend waren, anderzijds vroeg de heer Yilmaz of een tweede offerte mogelijk was. Er werd echter beslist om de stemming te verplaatsen naar november, zodat een tweede offerte kan worden gevraagd.</a:t>
            </a:r>
            <a:endParaRPr lang="en-US" sz="1800" dirty="0"/>
          </a:p>
          <a:p>
            <a:pPr indent="0" marL="0">
              <a:spcAft>
                <a:spcPts val="800"/>
              </a:spcAft>
              <a:buNone/>
            </a:pPr>
            <a:r>
              <a:rPr lang="en-US" sz="1800" dirty="0">
                <a:solidFill>
                  <a:schemeClr val="tx1"/>
                </a:solidFill>
              </a:rPr>
              <a:t>Daarna werd de verhoging van de bijdrage goedgekeurd met 8 stemmen voor, 2 tegen en 1 onthouding. De nieuwe bijdrage wordt vanaf januari geïnd. Wij zouden u aanraden om uw standpunt over de tweede offerte tijdig voor te bereiden. Kortom: de beslissing over de gevel is uitgesteld, maar de verhoging van de bijdrage is goedgekeurd.</a:t>
            </a:r>
            <a:endParaRPr lang="en-US" sz="1800" dirty="0"/>
          </a:p>
          <a:p>
            <a:pPr indent="0" marL="0">
              <a:spcAft>
                <a:spcPts val="800"/>
              </a:spcAft>
              <a:buNone/>
            </a:pPr>
            <a:r>
              <a:rPr lang="en-US" sz="1800" dirty="0">
                <a:solidFill>
                  <a:schemeClr val="tx1"/>
                </a:solidFill>
              </a:rPr>
              <a:t>Blijft u vragen hebben, dan kunt u ons altijd bellen. Met vriendelijke groeten, Stef · Immo Van Damme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D4 Wat heb je gemist ? : les notes de Stef</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a:t>
            </a:r>
            <a:endParaRPr lang="en-US" sz="1200" dirty="0"/>
          </a:p>
        </p:txBody>
      </p:sp>
      <p:sp>
        <p:nvSpPr>
          <p:cNvPr id="6" name="Shape 3"/>
          <p:cNvSpPr/>
          <p:nvPr/>
        </p:nvSpPr>
        <p:spPr>
          <a:xfrm>
            <a:off x="548640" y="1481328"/>
            <a:ext cx="11091672" cy="4809744"/>
          </a:xfrm>
          <a:prstGeom prst="rect">
            <a:avLst/>
          </a:prstGeom>
          <a:solidFill>
            <a:schemeClr val="bg1"/>
          </a:solidFill>
          <a:ln w="12700">
            <a:solidFill>
              <a:srgbClr val="4A5A70"/>
            </a:solidFill>
            <a:prstDash val="dash"/>
          </a:ln>
        </p:spPr>
      </p:sp>
      <p:sp>
        <p:nvSpPr>
          <p:cNvPr id="7" name="tag"/>
          <p:cNvSpPr/>
          <p:nvPr/>
        </p:nvSpPr>
        <p:spPr>
          <a:xfrm>
            <a:off x="777240" y="1645920"/>
            <a:ext cx="12801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NOTITIES</a:t>
            </a:r>
            <a:endParaRPr lang="en-US" sz="1200" dirty="0"/>
          </a:p>
        </p:txBody>
      </p:sp>
      <p:sp>
        <p:nvSpPr>
          <p:cNvPr id="8" name="Text 5"/>
          <p:cNvSpPr txBox="1"/>
          <p:nvPr/>
        </p:nvSpPr>
        <p:spPr>
          <a:xfrm>
            <a:off x="2286000" y="1609344"/>
            <a:ext cx="9262872"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Buurtcomité · donderdag 20 uur</a:t>
            </a:r>
            <a:endParaRPr lang="en-US" sz="1800" dirty="0"/>
          </a:p>
        </p:txBody>
      </p:sp>
      <p:sp>
        <p:nvSpPr>
          <p:cNvPr id="9" name="Text 6"/>
          <p:cNvSpPr txBox="1"/>
          <p:nvPr/>
        </p:nvSpPr>
        <p:spPr>
          <a:xfrm>
            <a:off x="777240" y="2148840"/>
            <a:ext cx="10634472" cy="4023360"/>
          </a:xfrm>
          <a:prstGeom prst="rect">
            <a:avLst/>
          </a:prstGeom>
          <a:noFill/>
          <a:ln/>
        </p:spPr>
        <p:txBody>
          <a:bodyPr wrap="square" lIns="0" tIns="0" rIns="0" bIns="0" rtlCol="0" anchor="t"/>
          <a:lstStyle/>
          <a:p>
            <a:pPr indent="0" marL="0">
              <a:spcAft>
                <a:spcPts val="800"/>
              </a:spcAft>
              <a:buNone/>
            </a:pPr>
            <a:r>
              <a:rPr lang="en-US" sz="2100" dirty="0">
                <a:solidFill>
                  <a:schemeClr val="tx1"/>
                </a:solidFill>
              </a:rPr>
              <a:t>18 bewoners aanwezig</a:t>
            </a:r>
            <a:endParaRPr lang="en-US" sz="2100" dirty="0"/>
          </a:p>
          <a:p>
            <a:pPr indent="0" marL="0">
              <a:spcAft>
                <a:spcPts val="800"/>
              </a:spcAft>
              <a:buNone/>
            </a:pPr>
            <a:r>
              <a:rPr lang="en-US" sz="2100" dirty="0">
                <a:solidFill>
                  <a:schemeClr val="tx1"/>
                </a:solidFill>
              </a:rPr>
              <a:t>Speelstraat: 1 tot 31 juli, van 14 tot 20 uur</a:t>
            </a:r>
            <a:endParaRPr lang="en-US" sz="2100" dirty="0"/>
          </a:p>
          <a:p>
            <a:pPr indent="0" marL="0">
              <a:spcAft>
                <a:spcPts val="800"/>
              </a:spcAft>
              <a:buNone/>
            </a:pPr>
            <a:r>
              <a:rPr lang="en-US" sz="2100" dirty="0">
                <a:solidFill>
                  <a:schemeClr val="tx1"/>
                </a:solidFill>
              </a:rPr>
              <a:t>Stemming: 14 voor, 3 tegen, 1 onthouding</a:t>
            </a:r>
            <a:endParaRPr lang="en-US" sz="2100" dirty="0"/>
          </a:p>
          <a:p>
            <a:pPr indent="0" marL="0">
              <a:spcAft>
                <a:spcPts val="800"/>
              </a:spcAft>
              <a:buNone/>
            </a:pPr>
            <a:r>
              <a:rPr lang="en-US" sz="2100" dirty="0">
                <a:solidFill>
                  <a:schemeClr val="tx1"/>
                </a:solidFill>
              </a:rPr>
              <a:t>Meneer Willems: bezorgd over parkeren → bewonerskaart voor de Kerkstraat</a:t>
            </a:r>
            <a:endParaRPr lang="en-US" sz="2100" dirty="0"/>
          </a:p>
          <a:p>
            <a:pPr indent="0" marL="0">
              <a:spcAft>
                <a:spcPts val="800"/>
              </a:spcAft>
              <a:buNone/>
            </a:pPr>
            <a:r>
              <a:rPr lang="en-US" sz="2100" dirty="0">
                <a:solidFill>
                  <a:schemeClr val="tx1"/>
                </a:solidFill>
              </a:rPr>
              <a:t>Voorstel van Sofie (via Nadia): rustig na 20 uur → goedgekeurd</a:t>
            </a:r>
            <a:endParaRPr lang="en-US" sz="2100" dirty="0"/>
          </a:p>
          <a:p>
            <a:pPr indent="0" marL="0">
              <a:spcAft>
                <a:spcPts val="800"/>
              </a:spcAft>
              <a:buNone/>
            </a:pPr>
            <a:r>
              <a:rPr lang="en-US" sz="2100" dirty="0">
                <a:solidFill>
                  <a:schemeClr val="tx1"/>
                </a:solidFill>
              </a:rPr>
              <a:t>Volgende stap: aanvraag bij de gemeente vóór 15 maart</a:t>
            </a:r>
            <a:endParaRPr lang="en-US" sz="2100" dirty="0"/>
          </a:p>
          <a:p>
            <a:pPr indent="0" marL="0">
              <a:spcAft>
                <a:spcPts val="800"/>
              </a:spcAft>
              <a:buNone/>
            </a:pPr>
            <a:r>
              <a:rPr lang="en-US" sz="2100" dirty="0">
                <a:solidFill>
                  <a:schemeClr val="tx1"/>
                </a:solidFill>
              </a:rPr>
              <a:t>Vrijwilligers gezocht voor de barbecue</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Deux registres, une même information</a:t>
            </a:r>
            <a:endParaRPr lang="en-US" sz="3200" dirty="0"/>
          </a:p>
        </p:txBody>
      </p:sp>
      <p:sp>
        <p:nvSpPr>
          <p:cNvPr id="3" name="tag"/>
          <p:cNvSpPr/>
          <p:nvPr/>
        </p:nvSpPr>
        <p:spPr>
          <a:xfrm>
            <a:off x="548640" y="237744"/>
            <a:ext cx="15316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À RETENIR</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669280"/>
                <a:gridCol w="5422392"/>
              </a:tblGrid>
              <a:tr h="596189">
                <a:tc>
                  <a:txBody>
                    <a:bodyPr/>
                    <a:lstStyle/>
                    <a:p>
                      <a:pPr algn="l" indent="0" marL="0">
                        <a:buNone/>
                      </a:pPr>
                      <a:r>
                        <a:rPr lang="en-US" sz="1600" b="1" dirty="0">
                          <a:solidFill>
                            <a:schemeClr val="bg1"/>
                          </a:solidFill>
                        </a:rPr>
                        <a:t>NOTULEN (formeel)</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rPr>
                        <a:t>BERICHT AAN EEN BUUR (informeel)</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81228">
                <a:tc>
                  <a:txBody>
                    <a:bodyPr/>
                    <a:lstStyle/>
                    <a:p>
                      <a:pPr algn="l" indent="0" marL="0">
                        <a:buNone/>
                      </a:pPr>
                      <a:r>
                        <a:rPr lang="en-US" sz="1800" dirty="0">
                          <a:solidFill>
                            <a:schemeClr val="tx1"/>
                          </a:solidFill>
                        </a:rPr>
                        <a:t>Er werd beslist dat…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tx1"/>
                          </a:solidFill>
                        </a:rPr>
                        <a:t>We hebben beslist dat…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1228">
                <a:tc>
                  <a:txBody>
                    <a:bodyPr/>
                    <a:lstStyle/>
                    <a:p>
                      <a:pPr algn="l" indent="0" marL="0">
                        <a:buNone/>
                      </a:pPr>
                      <a:r>
                        <a:rPr lang="en-US" sz="1800" dirty="0">
                          <a:solidFill>
                            <a:schemeClr val="tx1"/>
                          </a:solidFill>
                        </a:rPr>
                        <a:t>Er werd voorgesteld om…</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tx1"/>
                          </a:solidFill>
                        </a:rPr>
                        <a:t>Karim stelde voor om…</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81228">
                <a:tc>
                  <a:txBody>
                    <a:bodyPr/>
                    <a:lstStyle/>
                    <a:p>
                      <a:pPr algn="l" indent="0" marL="0">
                        <a:buNone/>
                      </a:pPr>
                      <a:r>
                        <a:rPr lang="en-US" sz="1800" dirty="0">
                          <a:solidFill>
                            <a:schemeClr val="tx1"/>
                          </a:solidFill>
                        </a:rPr>
                        <a:t>Het voorstel werd goedgekeurd met 14 stemmen voor.</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tx1"/>
                          </a:solidFill>
                        </a:rPr>
                        <a:t>Bijna iedereen was akkoord (14 tegen 3).</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1228">
                <a:tc>
                  <a:txBody>
                    <a:bodyPr/>
                    <a:lstStyle/>
                    <a:p>
                      <a:pPr algn="l" indent="0" marL="0">
                        <a:buNone/>
                      </a:pPr>
                      <a:r>
                        <a:rPr lang="en-US" sz="1800" dirty="0">
                          <a:solidFill>
                            <a:schemeClr val="tx1"/>
                          </a:solidFill>
                        </a:rPr>
                        <a:t>De vergadering werd om 21.30 uur afgesloten.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tx1"/>
                          </a:solidFill>
                        </a:rPr>
                        <a:t>We waren rond 21.30 uur klaar.</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Formel : passif, noms, pas de « je ». Informel : sujet clair (we, Karim), verbes actifs, ton direct.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D4 À vous : notulen et message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Écrit · seul · 12 min. Même information, deux registres.</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800"/>
              </a:spcAft>
              <a:buNone/>
            </a:pPr>
            <a:r>
              <a:rPr lang="en-US" sz="2400" b="1" dirty="0">
                <a:solidFill>
                  <a:schemeClr val="tx1"/>
                </a:solidFill>
              </a:rPr>
              <a:t>1</a:t>
            </a:r>
            <a:r>
              <a:rPr lang="en-US" sz="2400" dirty="0">
                <a:solidFill>
                  <a:schemeClr val="tx1"/>
                </a:solidFill>
              </a:rPr>
              <a:t> Deux phrases de </a:t>
            </a:r>
            <a:r>
              <a:rPr lang="en-US" sz="2400" b="1" dirty="0">
                <a:solidFill>
                  <a:schemeClr val="tx1"/>
                </a:solidFill>
              </a:rPr>
              <a:t>notulen</a:t>
            </a:r>
            <a:r>
              <a:rPr lang="en-US" sz="2400" dirty="0">
                <a:solidFill>
                  <a:schemeClr val="tx1"/>
                </a:solidFill>
              </a:rPr>
              <a:t> : un passif impersonnel (</a:t>
            </a:r>
            <a:r>
              <a:rPr lang="en-US" sz="2400" i="1" dirty="0">
                <a:solidFill>
                  <a:schemeClr val="tx1"/>
                </a:solidFill>
              </a:rPr>
              <a:t>Er werd…</a:t>
            </a:r>
            <a:r>
              <a:rPr lang="en-US" sz="2400" dirty="0">
                <a:solidFill>
                  <a:schemeClr val="tx1"/>
                </a:solidFill>
              </a:rPr>
              <a:t>) et un résultat de vote chiffré.</a:t>
            </a:r>
            <a:endParaRPr lang="en-US" sz="2400" dirty="0"/>
          </a:p>
          <a:p>
            <a:pPr indent="0" marL="0">
              <a:spcAft>
                <a:spcPts val="800"/>
              </a:spcAft>
              <a:buNone/>
            </a:pPr>
            <a:r>
              <a:rPr lang="en-US" sz="2400" b="1" dirty="0">
                <a:solidFill>
                  <a:schemeClr val="tx1"/>
                </a:solidFill>
              </a:rPr>
              <a:t>2</a:t>
            </a:r>
            <a:r>
              <a:rPr lang="en-US" sz="2400" dirty="0">
                <a:solidFill>
                  <a:schemeClr val="tx1"/>
                </a:solidFill>
              </a:rPr>
              <a:t> Le </a:t>
            </a:r>
            <a:r>
              <a:rPr lang="en-US" sz="2400" b="1" dirty="0">
                <a:solidFill>
                  <a:schemeClr val="tx1"/>
                </a:solidFill>
              </a:rPr>
              <a:t>message de Stef à Sofie</a:t>
            </a:r>
            <a:r>
              <a:rPr lang="en-US" sz="2400" dirty="0">
                <a:solidFill>
                  <a:schemeClr val="tx1"/>
                </a:solidFill>
              </a:rPr>
              <a:t> (6 à 8 phrases, informel) : les décisions, la position de meneer Willems au discours indirect (</a:t>
            </a:r>
            <a:r>
              <a:rPr lang="en-US" sz="2400" i="1" dirty="0">
                <a:solidFill>
                  <a:schemeClr val="tx1"/>
                </a:solidFill>
              </a:rPr>
              <a:t>Meneer Willems zei dat…</a:t>
            </a:r>
            <a:r>
              <a:rPr lang="en-US" sz="2400" dirty="0">
                <a:solidFill>
                  <a:schemeClr val="tx1"/>
                </a:solidFill>
              </a:rPr>
              <a:t>), ce qu’on attend d’elle.</a:t>
            </a:r>
            <a:endParaRPr lang="en-US" sz="2400" dirty="0"/>
          </a:p>
          <a:p>
            <a:pPr indent="0" marL="0">
              <a:spcAft>
                <a:spcPts val="800"/>
              </a:spcAft>
              <a:buNone/>
            </a:pPr>
            <a:r>
              <a:rPr lang="en-US" sz="2400" dirty="0">
                <a:solidFill>
                  <a:schemeClr val="tx1"/>
                </a:solidFill>
              </a:rPr>
              <a:t>Autonomie : vous pouvez raconter une vraie réunion (parents, travail, club sportif…).</a:t>
            </a:r>
            <a:endParaRPr lang="en-US" sz="2400" dirty="0"/>
          </a:p>
        </p:txBody>
      </p:sp>
      <p:sp>
        <p:nvSpPr>
          <p:cNvPr id="8" name="aside"/>
          <p:cNvSpPr/>
          <p:nvPr/>
        </p:nvSpPr>
        <p:spPr>
          <a:xfrm>
            <a:off x="8046720" y="1481328"/>
            <a:ext cx="3593592" cy="4809744"/>
          </a:xfrm>
          <a:prstGeom prst="roundRect">
            <a:avLst>
              <a:gd name="adj" fmla="val 2036"/>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PV : </a:t>
            </a:r>
            <a:r>
              <a:rPr lang="en-US" sz="1800" b="1" dirty="0">
                <a:solidFill>
                  <a:schemeClr val="tx1"/>
                </a:solidFill>
              </a:rPr>
              <a:t>formel</a:t>
            </a:r>
            <a:r>
              <a:rPr lang="en-US" sz="1800" dirty="0">
                <a:solidFill>
                  <a:schemeClr val="tx1"/>
                </a:solidFill>
              </a:rPr>
              <a:t> et passif</a:t>
            </a:r>
            <a:endParaRPr lang="en-US" sz="1800" dirty="0"/>
          </a:p>
          <a:p>
            <a:pPr marL="177800" indent="-177800">
              <a:spcAft>
                <a:spcPts val="600"/>
              </a:spcAft>
              <a:buSzPct val="100000"/>
              <a:buChar char="•"/>
            </a:pPr>
            <a:r>
              <a:rPr lang="en-US" sz="1800" dirty="0">
                <a:solidFill>
                  <a:schemeClr val="tx1"/>
                </a:solidFill>
              </a:rPr>
              <a:t>Message : </a:t>
            </a:r>
            <a:r>
              <a:rPr lang="en-US" sz="1800" b="1" dirty="0">
                <a:solidFill>
                  <a:schemeClr val="tx1"/>
                </a:solidFill>
              </a:rPr>
              <a:t>informel</a:t>
            </a:r>
            <a:r>
              <a:rPr lang="en-US" sz="1800" dirty="0">
                <a:solidFill>
                  <a:schemeClr val="tx1"/>
                </a:solidFill>
              </a:rPr>
              <a:t> (je / jij)</a:t>
            </a:r>
            <a:endParaRPr lang="en-US" sz="1800" dirty="0"/>
          </a:p>
          <a:p>
            <a:pPr marL="177800" indent="-177800">
              <a:spcAft>
                <a:spcPts val="600"/>
              </a:spcAft>
              <a:buSzPct val="100000"/>
              <a:buChar char="•"/>
            </a:pPr>
            <a:r>
              <a:rPr lang="en-US" sz="1800" dirty="0">
                <a:solidFill>
                  <a:schemeClr val="tx1"/>
                </a:solidFill>
              </a:rPr>
              <a:t>Discours indirect : </a:t>
            </a:r>
            <a:r>
              <a:rPr lang="en-US" sz="1800" i="1" dirty="0">
                <a:solidFill>
                  <a:schemeClr val="tx1"/>
                </a:solidFill>
              </a:rPr>
              <a:t>zei dat…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D4 Modèles : deux registres</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18a</a:t>
            </a:r>
            <a:endParaRPr lang="en-US" sz="1200" dirty="0"/>
          </a:p>
        </p:txBody>
      </p:sp>
      <p:sp>
        <p:nvSpPr>
          <p:cNvPr id="6" name="Shape 3"/>
          <p:cNvSpPr/>
          <p:nvPr/>
        </p:nvSpPr>
        <p:spPr>
          <a:xfrm>
            <a:off x="548640" y="1481328"/>
            <a:ext cx="5225796" cy="4809744"/>
          </a:xfrm>
          <a:prstGeom prst="roundRect">
            <a:avLst>
              <a:gd name="adj" fmla="val 1901"/>
            </a:avLst>
          </a:prstGeom>
          <a:solidFill>
            <a:schemeClr val="accent2">
              <a:alpha val="8000"/>
            </a:schemeClr>
          </a:solidFill>
          <a:ln w="15875">
            <a:solidFill>
              <a:schemeClr val="accent2"/>
            </a:solidFill>
            <a:prstDash val="solid"/>
          </a:ln>
        </p:spPr>
      </p:sp>
      <p:pic>
        <p:nvPicPr>
          <p:cNvPr id="7" name="Image 0" descr="preencoded.png">    </p:cNvPr>
          <p:cNvPicPr>
            <a:picLocks noChangeAspect="1"/>
          </p:cNvPicPr>
          <p:nvPr/>
        </p:nvPicPr>
        <p:blipFill>
          <a:blip r:embed="rId1"/>
          <a:stretch>
            <a:fillRect/>
          </a:stretch>
        </p:blipFill>
        <p:spPr>
          <a:xfrm>
            <a:off x="777240" y="1682496"/>
            <a:ext cx="384048" cy="384048"/>
          </a:xfrm>
          <a:prstGeom prst="rect">
            <a:avLst/>
          </a:prstGeom>
        </p:spPr>
      </p:pic>
      <p:sp>
        <p:nvSpPr>
          <p:cNvPr id="8" name="Text 4"/>
          <p:cNvSpPr txBox="1"/>
          <p:nvPr/>
        </p:nvSpPr>
        <p:spPr>
          <a:xfrm>
            <a:off x="1280160" y="1618488"/>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NOTULEN (formeel)</a:t>
            </a:r>
            <a:endParaRPr lang="en-US" sz="2000" dirty="0"/>
          </a:p>
        </p:txBody>
      </p:sp>
      <p:sp>
        <p:nvSpPr>
          <p:cNvPr id="9" name="Text 5"/>
          <p:cNvSpPr txBox="1"/>
          <p:nvPr/>
        </p:nvSpPr>
        <p:spPr>
          <a:xfrm>
            <a:off x="777240" y="2304288"/>
            <a:ext cx="4768596" cy="3849624"/>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rPr>
              <a:t>Er werd beslist</a:t>
            </a:r>
            <a:r>
              <a:rPr lang="en-US" sz="1500" dirty="0">
                <a:solidFill>
                  <a:schemeClr val="tx1"/>
                </a:solidFill>
              </a:rPr>
              <a:t> om vóór 15 maart een aanvraag voor de speelstraat in te dienen bij de gemeente.</a:t>
            </a:r>
            <a:endParaRPr lang="en-US" sz="1500" dirty="0"/>
          </a:p>
          <a:p>
            <a:pPr marL="203200" indent="-203200">
              <a:spcAft>
                <a:spcPts val="800"/>
              </a:spcAft>
              <a:buSzPct val="100000"/>
              <a:buChar char="•"/>
            </a:pPr>
            <a:r>
              <a:rPr lang="en-US" sz="1500" dirty="0">
                <a:solidFill>
                  <a:schemeClr val="tx1"/>
                </a:solidFill>
              </a:rPr>
              <a:t>Het voorstel voor de speelstraat (1 tot 31 juli, van 14 tot 20 uur) </a:t>
            </a:r>
            <a:r>
              <a:rPr lang="en-US" sz="1500" b="1" dirty="0">
                <a:solidFill>
                  <a:schemeClr val="tx1"/>
                </a:solidFill>
              </a:rPr>
              <a:t>werd goedgekeurd</a:t>
            </a:r>
            <a:r>
              <a:rPr lang="en-US" sz="1500" dirty="0">
                <a:solidFill>
                  <a:schemeClr val="tx1"/>
                </a:solidFill>
              </a:rPr>
              <a:t> met 14 stemmen voor, 3 tegen en 1 onthouding.</a:t>
            </a:r>
            <a:endParaRPr lang="en-US" sz="1500" dirty="0"/>
          </a:p>
          <a:p>
            <a:pPr marL="203200" indent="-203200">
              <a:spcAft>
                <a:spcPts val="800"/>
              </a:spcAft>
              <a:buSzPct val="100000"/>
              <a:buChar char="•"/>
            </a:pPr>
            <a:r>
              <a:rPr lang="en-US" sz="1500" dirty="0">
                <a:solidFill>
                  <a:schemeClr val="tx1"/>
                </a:solidFill>
              </a:rPr>
              <a:t>Het voorstel van mevrouw Sofie (rust na 20 uur) </a:t>
            </a:r>
            <a:r>
              <a:rPr lang="en-US" sz="1500" b="1" dirty="0">
                <a:solidFill>
                  <a:schemeClr val="tx1"/>
                </a:solidFill>
              </a:rPr>
              <a:t>werd</a:t>
            </a:r>
            <a:r>
              <a:rPr lang="en-US" sz="1500" dirty="0">
                <a:solidFill>
                  <a:schemeClr val="tx1"/>
                </a:solidFill>
              </a:rPr>
              <a:t> eveneens </a:t>
            </a:r>
            <a:r>
              <a:rPr lang="en-US" sz="1500" b="1" dirty="0">
                <a:solidFill>
                  <a:schemeClr val="tx1"/>
                </a:solidFill>
              </a:rPr>
              <a:t>goedgekeurd</a:t>
            </a:r>
            <a:r>
              <a:rPr lang="en-US" sz="1500" dirty="0">
                <a:solidFill>
                  <a:schemeClr val="tx1"/>
                </a:solidFill>
              </a:rPr>
              <a:t>.</a:t>
            </a:r>
            <a:endParaRPr lang="en-US" sz="1500" dirty="0"/>
          </a:p>
        </p:txBody>
      </p:sp>
      <p:sp>
        <p:nvSpPr>
          <p:cNvPr id="10" name="Shape 6"/>
          <p:cNvSpPr/>
          <p:nvPr/>
        </p:nvSpPr>
        <p:spPr>
          <a:xfrm>
            <a:off x="6414516" y="1481328"/>
            <a:ext cx="5225796" cy="4809744"/>
          </a:xfrm>
          <a:prstGeom prst="roundRect">
            <a:avLst>
              <a:gd name="adj" fmla="val 1901"/>
            </a:avLst>
          </a:prstGeom>
          <a:solidFill>
            <a:schemeClr val="accent3">
              <a:alpha val="8000"/>
            </a:schemeClr>
          </a:solidFill>
          <a:ln w="15875">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6643116" y="1682496"/>
            <a:ext cx="384048" cy="384048"/>
          </a:xfrm>
          <a:prstGeom prst="rect">
            <a:avLst/>
          </a:prstGeom>
        </p:spPr>
      </p:pic>
      <p:sp>
        <p:nvSpPr>
          <p:cNvPr id="12" name="Text 7"/>
          <p:cNvSpPr txBox="1"/>
          <p:nvPr/>
        </p:nvSpPr>
        <p:spPr>
          <a:xfrm>
            <a:off x="7146036" y="1618488"/>
            <a:ext cx="4311396" cy="548640"/>
          </a:xfrm>
          <a:prstGeom prst="rect">
            <a:avLst/>
          </a:prstGeom>
          <a:noFill/>
          <a:ln/>
        </p:spPr>
        <p:txBody>
          <a:bodyPr wrap="square" lIns="0" tIns="0" rIns="0" bIns="0" rtlCol="0" anchor="ctr"/>
          <a:lstStyle/>
          <a:p>
            <a:pPr indent="0" marL="0">
              <a:buNone/>
            </a:pPr>
            <a:r>
              <a:rPr lang="en-US" sz="2000" b="1" dirty="0">
                <a:solidFill>
                  <a:schemeClr val="accent3"/>
                </a:solidFill>
                <a:latin typeface="+mj-lt" pitchFamily="34" charset="0"/>
                <a:ea typeface="+mj-lt" pitchFamily="34" charset="-122"/>
                <a:cs typeface="+mj-lt" pitchFamily="34" charset="-120"/>
              </a:rPr>
              <a:t>BERICHT AAN SOFIE (informeel)</a:t>
            </a:r>
            <a:endParaRPr lang="en-US" sz="2000" dirty="0"/>
          </a:p>
        </p:txBody>
      </p:sp>
      <p:sp>
        <p:nvSpPr>
          <p:cNvPr id="13" name="Text 8"/>
          <p:cNvSpPr txBox="1"/>
          <p:nvPr/>
        </p:nvSpPr>
        <p:spPr>
          <a:xfrm>
            <a:off x="6643116" y="2304288"/>
            <a:ext cx="4768596" cy="3849624"/>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Hoi Sofie, je hebt een gezellige vergadering gemist!</a:t>
            </a:r>
            <a:endParaRPr lang="en-US" sz="1500" dirty="0"/>
          </a:p>
          <a:p>
            <a:pPr marL="203200" indent="-203200">
              <a:spcAft>
                <a:spcPts val="800"/>
              </a:spcAft>
              <a:buSzPct val="100000"/>
              <a:buChar char="•"/>
            </a:pPr>
            <a:r>
              <a:rPr lang="en-US" sz="1500" dirty="0">
                <a:solidFill>
                  <a:schemeClr val="tx1"/>
                </a:solidFill>
              </a:rPr>
              <a:t>We hebben beslist dat de speelstraat er komt: van 1 tot 31 juli, van 14 tot 20 uur. Bijna iedereen was akkoord (14 voor, 3 tegen, 1 onthouding).</a:t>
            </a:r>
            <a:endParaRPr lang="en-US" sz="1500" dirty="0"/>
          </a:p>
          <a:p>
            <a:pPr marL="203200" indent="-203200">
              <a:spcAft>
                <a:spcPts val="800"/>
              </a:spcAft>
              <a:buSzPct val="100000"/>
              <a:buChar char="•"/>
            </a:pPr>
            <a:r>
              <a:rPr lang="en-US" sz="1500" dirty="0">
                <a:solidFill>
                  <a:schemeClr val="tx1"/>
                </a:solidFill>
              </a:rPr>
              <a:t>Meneer Willems zei dat hij bezorgd was over het parkeren; hij krijgt een bewonerskaart voor de Kerkstraat.</a:t>
            </a:r>
            <a:endParaRPr lang="en-US" sz="1500" dirty="0"/>
          </a:p>
          <a:p>
            <a:pPr marL="203200" indent="-203200">
              <a:spcAft>
                <a:spcPts val="800"/>
              </a:spcAft>
              <a:buSzPct val="100000"/>
              <a:buChar char="•"/>
            </a:pPr>
            <a:r>
              <a:rPr lang="en-US" sz="1500" dirty="0">
                <a:solidFill>
                  <a:schemeClr val="tx1"/>
                </a:solidFill>
              </a:rPr>
              <a:t>Jouw voorstel is goedgekeurd: na 20 uur blijft het rustig.</a:t>
            </a:r>
            <a:endParaRPr lang="en-US" sz="1500" dirty="0"/>
          </a:p>
          <a:p>
            <a:pPr marL="203200" indent="-203200">
              <a:spcAft>
                <a:spcPts val="800"/>
              </a:spcAft>
              <a:buSzPct val="100000"/>
              <a:buChar char="•"/>
            </a:pPr>
            <a:r>
              <a:rPr lang="en-US" sz="1500" dirty="0">
                <a:solidFill>
                  <a:schemeClr val="tx1"/>
                </a:solidFill>
              </a:rPr>
              <a:t>Kun jij ons helpen met de aanvraag? Ze moet vóór 15 maart bij de gemeente zijn. En we zoeken nog vrijwilligers voor de barbecue!</a:t>
            </a:r>
            <a:endParaRPr lang="en-US" sz="1500" dirty="0"/>
          </a:p>
        </p:txBody>
      </p:sp>
      <p:sp>
        <p:nvSpPr>
          <p:cNvPr id="14" name="Shape 9"/>
          <p:cNvSpPr/>
          <p:nvPr/>
        </p:nvSpPr>
        <p:spPr>
          <a:xfrm>
            <a:off x="5838444" y="3630168"/>
            <a:ext cx="512064" cy="512064"/>
          </a:xfrm>
          <a:prstGeom prst="ellipse">
            <a:avLst/>
          </a:prstGeom>
          <a:solidFill>
            <a:schemeClr val="tx2"/>
          </a:solidFill>
          <a:ln/>
        </p:spPr>
      </p:sp>
      <p:sp>
        <p:nvSpPr>
          <p:cNvPr id="15" name="Text 10"/>
          <p:cNvSpPr txBox="1"/>
          <p:nvPr/>
        </p:nvSpPr>
        <p:spPr>
          <a:xfrm>
            <a:off x="5838444" y="3630168"/>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vs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Du discours direct au procès-verbal</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Écrivez la phrase de PV correspondante. Seul · 5 min.</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800"/>
              </a:spcAft>
              <a:buNone/>
            </a:pPr>
            <a:r>
              <a:rPr lang="en-US" sz="2500" b="1" dirty="0">
                <a:solidFill>
                  <a:schemeClr val="tx2"/>
                </a:solidFill>
              </a:rPr>
              <a:t>1.  </a:t>
            </a:r>
            <a:r>
              <a:rPr lang="en-US" sz="2500" dirty="0">
                <a:solidFill>
                  <a:schemeClr val="tx1"/>
                </a:solidFill>
              </a:rPr>
              <a:t>Mevrouw Peeters : «De werken zijn dringend.»</a:t>
            </a:r>
            <a:endParaRPr lang="en-US" sz="2500" dirty="0"/>
          </a:p>
          <a:p>
            <a:pPr indent="0" marL="0">
              <a:spcAft>
                <a:spcPts val="800"/>
              </a:spcAft>
              <a:buNone/>
            </a:pPr>
            <a:r>
              <a:rPr lang="en-US" sz="2500" b="1" dirty="0">
                <a:solidFill>
                  <a:schemeClr val="tx2"/>
                </a:solidFill>
              </a:rPr>
              <a:t>2.  </a:t>
            </a:r>
            <a:r>
              <a:rPr lang="en-US" sz="2500" dirty="0">
                <a:solidFill>
                  <a:schemeClr val="tx1"/>
                </a:solidFill>
              </a:rPr>
              <a:t>De heer Yilmaz : «Is een tweede offerte mogelijk?»</a:t>
            </a:r>
            <a:endParaRPr lang="en-US" sz="2500" dirty="0"/>
          </a:p>
          <a:p>
            <a:pPr indent="0" marL="0">
              <a:spcAft>
                <a:spcPts val="800"/>
              </a:spcAft>
              <a:buNone/>
            </a:pPr>
            <a:r>
              <a:rPr lang="en-US" sz="2500" b="1" dirty="0">
                <a:solidFill>
                  <a:schemeClr val="tx2"/>
                </a:solidFill>
              </a:rPr>
              <a:t>3.  </a:t>
            </a:r>
            <a:r>
              <a:rPr lang="en-US" sz="2500" dirty="0">
                <a:solidFill>
                  <a:schemeClr val="tx1"/>
                </a:solidFill>
              </a:rPr>
              <a:t>Beslissing : de stemming gaat naar november.</a:t>
            </a:r>
            <a:endParaRPr lang="en-US" sz="2500" dirty="0"/>
          </a:p>
          <a:p>
            <a:pPr indent="0" marL="0">
              <a:spcAft>
                <a:spcPts val="800"/>
              </a:spcAft>
              <a:buNone/>
            </a:pPr>
            <a:r>
              <a:rPr lang="en-US" sz="2500" b="1" dirty="0">
                <a:solidFill>
                  <a:schemeClr val="tx2"/>
                </a:solidFill>
              </a:rPr>
              <a:t>4.  </a:t>
            </a:r>
            <a:r>
              <a:rPr lang="en-US" sz="2500" dirty="0">
                <a:solidFill>
                  <a:schemeClr val="tx1"/>
                </a:solidFill>
              </a:rPr>
              <a:t>Voorstel : een tweede offerte vragen.</a:t>
            </a:r>
            <a:endParaRPr lang="en-US" sz="2500" dirty="0"/>
          </a:p>
          <a:p>
            <a:pPr indent="0" marL="0">
              <a:spcAft>
                <a:spcPts val="800"/>
              </a:spcAft>
              <a:buNone/>
            </a:pPr>
            <a:r>
              <a:rPr lang="en-US" sz="2500" b="1" dirty="0">
                <a:solidFill>
                  <a:schemeClr val="tx2"/>
                </a:solidFill>
              </a:rPr>
              <a:t>5.  </a:t>
            </a:r>
            <a:r>
              <a:rPr lang="en-US" sz="2500" dirty="0">
                <a:solidFill>
                  <a:schemeClr val="tx1"/>
                </a:solidFill>
              </a:rPr>
              <a:t>De vergadering keurt de verhoging goed (8 tegen 3).</a:t>
            </a:r>
            <a:endParaRPr lang="en-US" sz="2500" dirty="0"/>
          </a:p>
          <a:p>
            <a:pPr indent="0" marL="0">
              <a:spcAft>
                <a:spcPts val="800"/>
              </a:spcAft>
              <a:buNone/>
            </a:pPr>
            <a:r>
              <a:rPr lang="en-US" sz="2500" b="1" dirty="0">
                <a:solidFill>
                  <a:schemeClr val="tx2"/>
                </a:solidFill>
              </a:rPr>
              <a:t>6.  </a:t>
            </a:r>
            <a:r>
              <a:rPr lang="en-US" sz="2500" dirty="0">
                <a:solidFill>
                  <a:schemeClr val="tx1"/>
                </a:solidFill>
              </a:rPr>
              <a:t>De syndicus sluit de vergadering om 21.00 uur af.</a:t>
            </a:r>
            <a:endParaRPr lang="en-US" sz="2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Du discours direct au procès-verbal</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Écrivez la phrase de PV correspondante. Seul · 5 min.</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1.  </a:t>
            </a:r>
            <a:r>
              <a:rPr lang="en-US" sz="2000" dirty="0">
                <a:solidFill>
                  <a:schemeClr val="tx1"/>
                </a:solidFill>
              </a:rPr>
              <a:t>Mevrouw Peeters : «De werken zijn dringend.»</a:t>
            </a:r>
            <a:endParaRPr lang="en-US" sz="2000" dirty="0"/>
          </a:p>
          <a:p>
            <a:pPr indent="0" marL="0">
              <a:spcAft>
                <a:spcPts val="200"/>
              </a:spcAft>
              <a:buNone/>
            </a:pPr>
            <a:r>
              <a:rPr lang="en-US" sz="2000" b="1" dirty="0">
                <a:solidFill>
                  <a:schemeClr val="accent3"/>
                </a:solidFill>
              </a:rPr>
              <a:t>→ </a:t>
            </a:r>
            <a:r>
              <a:rPr lang="en-US" sz="2000" dirty="0">
                <a:solidFill>
                  <a:schemeClr val="accent3"/>
                </a:solidFill>
              </a:rPr>
              <a:t>Mevrouw Peeters zei dat de werken dringend </a:t>
            </a:r>
            <a:r>
              <a:rPr lang="en-US" sz="2000" b="1" dirty="0">
                <a:solidFill>
                  <a:schemeClr val="accent3"/>
                </a:solidFill>
              </a:rPr>
              <a:t>waren</a:t>
            </a:r>
            <a:r>
              <a:rPr lang="en-US" sz="2000" dirty="0">
                <a:solidFill>
                  <a:schemeClr val="accent3"/>
                </a:solidFill>
              </a:rPr>
              <a:t>.</a:t>
            </a:r>
            <a:endParaRPr lang="en-US" sz="2000" dirty="0"/>
          </a:p>
          <a:p>
            <a:pPr indent="0" marL="0">
              <a:spcAft>
                <a:spcPts val="400"/>
              </a:spcAft>
              <a:buNone/>
            </a:pPr>
            <a:r>
              <a:rPr lang="en-US" sz="2000" b="1" dirty="0">
                <a:solidFill>
                  <a:schemeClr val="tx2"/>
                </a:solidFill>
              </a:rPr>
              <a:t>2.  </a:t>
            </a:r>
            <a:r>
              <a:rPr lang="en-US" sz="2000" dirty="0">
                <a:solidFill>
                  <a:schemeClr val="tx1"/>
                </a:solidFill>
              </a:rPr>
              <a:t>De heer Yilmaz : «Is een tweede offerte mogelijk?»</a:t>
            </a:r>
            <a:endParaRPr lang="en-US" sz="2000" dirty="0"/>
          </a:p>
          <a:p>
            <a:pPr indent="0" marL="0">
              <a:spcAft>
                <a:spcPts val="200"/>
              </a:spcAft>
              <a:buNone/>
            </a:pPr>
            <a:r>
              <a:rPr lang="en-US" sz="2000" b="1" dirty="0">
                <a:solidFill>
                  <a:schemeClr val="accent3"/>
                </a:solidFill>
              </a:rPr>
              <a:t>→ </a:t>
            </a:r>
            <a:r>
              <a:rPr lang="en-US" sz="2000" dirty="0">
                <a:solidFill>
                  <a:schemeClr val="accent3"/>
                </a:solidFill>
              </a:rPr>
              <a:t>De heer Yilmaz vroeg </a:t>
            </a:r>
            <a:r>
              <a:rPr lang="en-US" sz="2000" b="1" dirty="0">
                <a:solidFill>
                  <a:schemeClr val="accent3"/>
                </a:solidFill>
              </a:rPr>
              <a:t>of</a:t>
            </a:r>
            <a:r>
              <a:rPr lang="en-US" sz="2000" dirty="0">
                <a:solidFill>
                  <a:schemeClr val="accent3"/>
                </a:solidFill>
              </a:rPr>
              <a:t> een tweede offerte mogelijk </a:t>
            </a:r>
            <a:r>
              <a:rPr lang="en-US" sz="2000" b="1" dirty="0">
                <a:solidFill>
                  <a:schemeClr val="accent3"/>
                </a:solidFill>
              </a:rPr>
              <a:t>was</a:t>
            </a:r>
            <a:r>
              <a:rPr lang="en-US" sz="2000" dirty="0">
                <a:solidFill>
                  <a:schemeClr val="accent3"/>
                </a:solidFill>
              </a:rPr>
              <a:t>.</a:t>
            </a:r>
            <a:endParaRPr lang="en-US" sz="2000" dirty="0"/>
          </a:p>
          <a:p>
            <a:pPr indent="0" marL="0">
              <a:spcAft>
                <a:spcPts val="400"/>
              </a:spcAft>
              <a:buNone/>
            </a:pPr>
            <a:r>
              <a:rPr lang="en-US" sz="2000" b="1" dirty="0">
                <a:solidFill>
                  <a:schemeClr val="tx2"/>
                </a:solidFill>
              </a:rPr>
              <a:t>3.  </a:t>
            </a:r>
            <a:r>
              <a:rPr lang="en-US" sz="2000" dirty="0">
                <a:solidFill>
                  <a:schemeClr val="tx1"/>
                </a:solidFill>
              </a:rPr>
              <a:t>Beslissing : de stemming gaat naar november.</a:t>
            </a:r>
            <a:endParaRPr lang="en-US" sz="2000" dirty="0"/>
          </a:p>
          <a:p>
            <a:pPr indent="0" marL="0">
              <a:spcAft>
                <a:spcPts val="200"/>
              </a:spcAft>
              <a:buNone/>
            </a:pPr>
            <a:r>
              <a:rPr lang="en-US" sz="2000" b="1" dirty="0">
                <a:solidFill>
                  <a:schemeClr val="accent3"/>
                </a:solidFill>
              </a:rPr>
              <a:t>→ </a:t>
            </a:r>
            <a:r>
              <a:rPr lang="en-US" sz="2000" b="1" dirty="0">
                <a:solidFill>
                  <a:schemeClr val="accent3"/>
                </a:solidFill>
              </a:rPr>
              <a:t>Er werd beslist</a:t>
            </a:r>
            <a:r>
              <a:rPr lang="en-US" sz="2000" dirty="0">
                <a:solidFill>
                  <a:schemeClr val="accent3"/>
                </a:solidFill>
              </a:rPr>
              <a:t> om de stemming naar november </a:t>
            </a:r>
            <a:r>
              <a:rPr lang="en-US" sz="2000" b="1" dirty="0">
                <a:solidFill>
                  <a:schemeClr val="accent3"/>
                </a:solidFill>
              </a:rPr>
              <a:t>te verplaatsen</a:t>
            </a:r>
            <a:r>
              <a:rPr lang="en-US" sz="2000" dirty="0">
                <a:solidFill>
                  <a:schemeClr val="accent3"/>
                </a:solidFill>
              </a:rPr>
              <a:t>.</a:t>
            </a:r>
            <a:endParaRPr lang="en-US" sz="2000" dirty="0"/>
          </a:p>
          <a:p>
            <a:pPr indent="0" marL="0">
              <a:spcAft>
                <a:spcPts val="400"/>
              </a:spcAft>
              <a:buNone/>
            </a:pPr>
            <a:r>
              <a:rPr lang="en-US" sz="2000" b="1" dirty="0">
                <a:solidFill>
                  <a:schemeClr val="tx2"/>
                </a:solidFill>
              </a:rPr>
              <a:t>4.  </a:t>
            </a:r>
            <a:r>
              <a:rPr lang="en-US" sz="2000" dirty="0">
                <a:solidFill>
                  <a:schemeClr val="tx1"/>
                </a:solidFill>
              </a:rPr>
              <a:t>Voorstel : een tweede offerte vragen.</a:t>
            </a:r>
            <a:endParaRPr lang="en-US" sz="2000" dirty="0"/>
          </a:p>
          <a:p>
            <a:pPr indent="0" marL="0">
              <a:spcAft>
                <a:spcPts val="200"/>
              </a:spcAft>
              <a:buNone/>
            </a:pPr>
            <a:r>
              <a:rPr lang="en-US" sz="2000" b="1" dirty="0">
                <a:solidFill>
                  <a:schemeClr val="accent3"/>
                </a:solidFill>
              </a:rPr>
              <a:t>→ </a:t>
            </a:r>
            <a:r>
              <a:rPr lang="en-US" sz="2000" b="1" dirty="0">
                <a:solidFill>
                  <a:schemeClr val="accent3"/>
                </a:solidFill>
              </a:rPr>
              <a:t>Er werd voorgesteld</a:t>
            </a:r>
            <a:r>
              <a:rPr lang="en-US" sz="2000" dirty="0">
                <a:solidFill>
                  <a:schemeClr val="accent3"/>
                </a:solidFill>
              </a:rPr>
              <a:t> om een tweede offerte </a:t>
            </a:r>
            <a:r>
              <a:rPr lang="en-US" sz="2000" b="1" dirty="0">
                <a:solidFill>
                  <a:schemeClr val="accent3"/>
                </a:solidFill>
              </a:rPr>
              <a:t>te vragen</a:t>
            </a:r>
            <a:r>
              <a:rPr lang="en-US" sz="2000" dirty="0">
                <a:solidFill>
                  <a:schemeClr val="accent3"/>
                </a:solidFill>
              </a:rPr>
              <a:t>.</a:t>
            </a:r>
            <a:endParaRPr lang="en-US" sz="2000" dirty="0"/>
          </a:p>
          <a:p>
            <a:pPr indent="0" marL="0">
              <a:spcAft>
                <a:spcPts val="400"/>
              </a:spcAft>
              <a:buNone/>
            </a:pPr>
            <a:r>
              <a:rPr lang="en-US" sz="2000" b="1" dirty="0">
                <a:solidFill>
                  <a:schemeClr val="tx2"/>
                </a:solidFill>
              </a:rPr>
              <a:t>5.  </a:t>
            </a:r>
            <a:r>
              <a:rPr lang="en-US" sz="2000" dirty="0">
                <a:solidFill>
                  <a:schemeClr val="tx1"/>
                </a:solidFill>
              </a:rPr>
              <a:t>De vergadering keurt de verhoging goed (8 tegen 3).</a:t>
            </a:r>
            <a:endParaRPr lang="en-US" sz="2000" dirty="0"/>
          </a:p>
          <a:p>
            <a:pPr indent="0" marL="0">
              <a:spcAft>
                <a:spcPts val="200"/>
              </a:spcAft>
              <a:buNone/>
            </a:pPr>
            <a:r>
              <a:rPr lang="en-US" sz="2000" b="1" dirty="0">
                <a:solidFill>
                  <a:schemeClr val="accent3"/>
                </a:solidFill>
              </a:rPr>
              <a:t>→ </a:t>
            </a:r>
            <a:r>
              <a:rPr lang="en-US" sz="2000" dirty="0">
                <a:solidFill>
                  <a:schemeClr val="accent3"/>
                </a:solidFill>
              </a:rPr>
              <a:t>De verhoging </a:t>
            </a:r>
            <a:r>
              <a:rPr lang="en-US" sz="2000" b="1" dirty="0">
                <a:solidFill>
                  <a:schemeClr val="accent3"/>
                </a:solidFill>
              </a:rPr>
              <a:t>werd goedgekeurd</a:t>
            </a:r>
            <a:r>
              <a:rPr lang="en-US" sz="2000" dirty="0">
                <a:solidFill>
                  <a:schemeClr val="accent3"/>
                </a:solidFill>
              </a:rPr>
              <a:t> met 8 stemmen tegen 3.</a:t>
            </a:r>
            <a:endParaRPr lang="en-US" sz="2000" dirty="0"/>
          </a:p>
          <a:p>
            <a:pPr indent="0" marL="0">
              <a:spcAft>
                <a:spcPts val="400"/>
              </a:spcAft>
              <a:buNone/>
            </a:pPr>
            <a:r>
              <a:rPr lang="en-US" sz="2000" b="1" dirty="0">
                <a:solidFill>
                  <a:schemeClr val="tx2"/>
                </a:solidFill>
              </a:rPr>
              <a:t>6.  </a:t>
            </a:r>
            <a:r>
              <a:rPr lang="en-US" sz="2000" dirty="0">
                <a:solidFill>
                  <a:schemeClr val="tx1"/>
                </a:solidFill>
              </a:rPr>
              <a:t>De syndicus sluit de vergadering om 21.00 uur af.</a:t>
            </a:r>
            <a:endParaRPr lang="en-US" sz="2000" dirty="0"/>
          </a:p>
          <a:p>
            <a:pPr indent="0" marL="0">
              <a:spcAft>
                <a:spcPts val="200"/>
              </a:spcAft>
              <a:buNone/>
            </a:pPr>
            <a:r>
              <a:rPr lang="en-US" sz="2000" b="1" dirty="0">
                <a:solidFill>
                  <a:schemeClr val="accent3"/>
                </a:solidFill>
              </a:rPr>
              <a:t>→ </a:t>
            </a:r>
            <a:r>
              <a:rPr lang="en-US" sz="2000" dirty="0">
                <a:solidFill>
                  <a:schemeClr val="accent3"/>
                </a:solidFill>
              </a:rPr>
              <a:t>De vergadering </a:t>
            </a:r>
            <a:r>
              <a:rPr lang="en-US" sz="2000" b="1" dirty="0">
                <a:solidFill>
                  <a:schemeClr val="accent3"/>
                </a:solidFill>
              </a:rPr>
              <a:t>werd</a:t>
            </a:r>
            <a:r>
              <a:rPr lang="en-US" sz="2000" dirty="0">
                <a:solidFill>
                  <a:schemeClr val="accent3"/>
                </a:solidFill>
              </a:rPr>
              <a:t> om 21.00 uur </a:t>
            </a:r>
            <a:r>
              <a:rPr lang="en-US" sz="2000" b="1" dirty="0">
                <a:solidFill>
                  <a:schemeClr val="accent3"/>
                </a:solidFill>
              </a:rPr>
              <a:t>afgesloten</a:t>
            </a:r>
            <a:r>
              <a:rPr lang="en-US" sz="2000" dirty="0">
                <a:solidFill>
                  <a:schemeClr val="accent3"/>
                </a:solidFill>
              </a:rPr>
              <a:t>.</a:t>
            </a:r>
            <a:endParaRPr lang="en-US" sz="20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Indirect : verbe conjugué </a:t>
            </a:r>
            <a:r>
              <a:rPr lang="en-US" sz="1800" b="1" dirty="0">
                <a:solidFill>
                  <a:schemeClr val="tx1"/>
                </a:solidFill>
              </a:rPr>
              <a:t>à la fin</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zei dat / vroeg of</a:t>
            </a:r>
            <a:r>
              <a:rPr lang="en-US" sz="1800" dirty="0">
                <a:solidFill>
                  <a:schemeClr val="tx1"/>
                </a:solidFill>
              </a:rPr>
              <a:t> + imperfectum.</a:t>
            </a:r>
            <a:endParaRPr lang="en-US" sz="1800" dirty="0"/>
          </a:p>
          <a:p>
            <a:pPr marL="177800" indent="-177800">
              <a:spcAft>
                <a:spcPts val="600"/>
              </a:spcAft>
              <a:buSzPct val="100000"/>
              <a:buChar char="•"/>
            </a:pPr>
            <a:r>
              <a:rPr lang="en-US" sz="1800" b="1" dirty="0">
                <a:solidFill>
                  <a:schemeClr val="tx1"/>
                </a:solidFill>
              </a:rPr>
              <a:t>Er werd</a:t>
            </a:r>
            <a:r>
              <a:rPr lang="en-US" sz="1800" dirty="0">
                <a:solidFill>
                  <a:schemeClr val="tx1"/>
                </a:solidFill>
              </a:rPr>
              <a:t> + participe · pluriel : </a:t>
            </a:r>
            <a:r>
              <a:rPr lang="en-US" sz="1800" i="1" dirty="0">
                <a:solidFill>
                  <a:schemeClr val="tx1"/>
                </a:solidFill>
              </a:rPr>
              <a:t>Er werden…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15 : </a:t>
            </a:r>
            <a:r>
              <a:rPr lang="en-US" sz="2400" b="1" i="1" dirty="0">
                <a:solidFill>
                  <a:schemeClr val="bg1"/>
                </a:solidFill>
                <a:latin typeface="+mj-lt" pitchFamily="34" charset="0"/>
                <a:ea typeface="+mj-lt" pitchFamily="34" charset="-122"/>
                <a:cs typeface="+mj-lt" pitchFamily="34" charset="-120"/>
              </a:rPr>
              <a:t>concéder pour mieux réfuter</a:t>
            </a:r>
            <a:r>
              <a:rPr lang="en-US" sz="2400" i="1" dirty="0">
                <a:solidFill>
                  <a:schemeClr val="bg1"/>
                </a:solidFill>
                <a:latin typeface="+mj-lt" pitchFamily="34" charset="0"/>
                <a:ea typeface="+mj-lt" pitchFamily="34" charset="-122"/>
                <a:cs typeface="+mj-lt" pitchFamily="34" charset="-120"/>
              </a:rPr>
              <a:t>. </a:t>
            </a:r>
            <a:r>
              <a:rPr lang="en-US" sz="2400" i="1" dirty="0">
                <a:solidFill>
                  <a:schemeClr val="bg1"/>
                </a:solidFill>
                <a:latin typeface="+mj-lt" pitchFamily="34" charset="0"/>
                <a:ea typeface="+mj-lt" pitchFamily="34" charset="-122"/>
                <a:cs typeface="+mj-lt" pitchFamily="34" charset="-120"/>
              </a:rPr>
              <a:t>Weliswaar… maar, toch, hoewel</a:t>
            </a:r>
            <a:r>
              <a:rPr lang="en-US" sz="2400" i="1" dirty="0">
                <a:solidFill>
                  <a:schemeClr val="bg1"/>
                </a:solidFill>
                <a:latin typeface="+mj-lt" pitchFamily="34" charset="0"/>
                <a:ea typeface="+mj-lt" pitchFamily="34" charset="-122"/>
                <a:cs typeface="+mj-lt" pitchFamily="34" charset="-120"/>
              </a:rPr>
              <a:t> — le </a:t>
            </a:r>
            <a:r>
              <a:rPr lang="en-US" sz="2400" b="1" i="1" dirty="0">
                <a:solidFill>
                  <a:schemeClr val="bg1"/>
                </a:solidFill>
                <a:latin typeface="+mj-lt" pitchFamily="34" charset="0"/>
                <a:ea typeface="+mj-lt" pitchFamily="34" charset="-122"/>
                <a:cs typeface="+mj-lt" pitchFamily="34" charset="-120"/>
              </a:rPr>
              <a:t>minidébat</a:t>
            </a:r>
            <a:r>
              <a:rPr lang="en-US" sz="2400" i="1" dirty="0">
                <a:solidFill>
                  <a:schemeClr val="bg1"/>
                </a:solidFill>
                <a:latin typeface="+mj-lt" pitchFamily="34" charset="0"/>
                <a:ea typeface="+mj-lt" pitchFamily="34" charset="-122"/>
                <a:cs typeface="+mj-lt" pitchFamily="34" charset="-120"/>
              </a:rPr>
              <a:t> (TAAK 5), puis la grande </a:t>
            </a:r>
            <a:r>
              <a:rPr lang="en-US" sz="2400" b="1" i="1" dirty="0">
                <a:solidFill>
                  <a:schemeClr val="bg1"/>
                </a:solidFill>
                <a:latin typeface="+mj-lt" pitchFamily="34" charset="0"/>
                <a:ea typeface="+mj-lt" pitchFamily="34" charset="-122"/>
                <a:cs typeface="+mj-lt" pitchFamily="34" charset="-120"/>
              </a:rPr>
              <a:t>TAAK 6</a:t>
            </a:r>
            <a:r>
              <a:rPr lang="en-US" sz="2400" i="1" dirty="0">
                <a:solidFill>
                  <a:schemeClr val="bg1"/>
                </a:solidFill>
                <a:latin typeface="+mj-lt" pitchFamily="34" charset="0"/>
                <a:ea typeface="+mj-lt" pitchFamily="34" charset="-122"/>
                <a:cs typeface="+mj-lt" pitchFamily="34" charset="-120"/>
              </a:rPr>
              <a:t> : une assemblée générale complète.</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Terminer la </a:t>
            </a:r>
            <a:r>
              <a:rPr lang="en-US" sz="1700" b="1" dirty="0">
                <a:solidFill>
                  <a:schemeClr val="tx1"/>
                </a:solidFill>
              </a:rPr>
              <a:t>TAAK 4</a:t>
            </a:r>
            <a:r>
              <a:rPr lang="en-US" sz="1700" dirty="0">
                <a:solidFill>
                  <a:schemeClr val="tx1"/>
                </a:solidFill>
              </a:rPr>
              <a:t> : le rapport à mevrouw Dubois (10 à 12 phrases).</a:t>
            </a:r>
            <a:endParaRPr lang="en-US" sz="1700" dirty="0"/>
          </a:p>
          <a:p>
            <a:pPr marL="190500" indent="-190500">
              <a:spcAft>
                <a:spcPts val="800"/>
              </a:spcAft>
              <a:buSzPct val="100000"/>
              <a:buChar char="•"/>
            </a:pPr>
            <a:r>
              <a:rPr lang="en-US" sz="1700" dirty="0">
                <a:solidFill>
                  <a:schemeClr val="tx1"/>
                </a:solidFill>
              </a:rPr>
              <a:t>Apprendre les </a:t>
            </a:r>
            <a:r>
              <a:rPr lang="en-US" sz="1700" b="1" dirty="0">
                <a:solidFill>
                  <a:schemeClr val="tx1"/>
                </a:solidFill>
              </a:rPr>
              <a:t>verbes du PV</a:t>
            </a:r>
            <a:r>
              <a:rPr lang="en-US" sz="1700" dirty="0">
                <a:solidFill>
                  <a:schemeClr val="tx1"/>
                </a:solidFill>
              </a:rPr>
              <a:t> (openen, afsluiten, toelichten, voorstellen, beslissen, goedkeuren…).</a:t>
            </a:r>
            <a:endParaRPr lang="en-US" sz="1700" dirty="0"/>
          </a:p>
          <a:p>
            <a:pPr marL="190500" indent="-190500">
              <a:spcAft>
                <a:spcPts val="800"/>
              </a:spcAft>
              <a:buSzPct val="100000"/>
              <a:buChar char="•"/>
            </a:pPr>
            <a:r>
              <a:rPr lang="en-US" sz="1700" dirty="0">
                <a:solidFill>
                  <a:schemeClr val="tx1"/>
                </a:solidFill>
              </a:rPr>
              <a:t>Terminer le </a:t>
            </a:r>
            <a:r>
              <a:rPr lang="en-US" sz="1700" b="1" dirty="0">
                <a:solidFill>
                  <a:schemeClr val="tx1"/>
                </a:solidFill>
              </a:rPr>
              <a:t>message à Sofie</a:t>
            </a:r>
            <a:r>
              <a:rPr lang="en-US" sz="1700" dirty="0">
                <a:solidFill>
                  <a:schemeClr val="tx1"/>
                </a:solidFill>
              </a:rPr>
              <a:t> (D4) ou raconter une vraie réunion.</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Transformez en phrase de PV : </a:t>
            </a:r>
            <a:r>
              <a:rPr lang="en-US" sz="1600" b="1" dirty="0">
                <a:solidFill>
                  <a:schemeClr val="bg1"/>
                </a:solidFill>
              </a:rPr>
              <a:t>Yilmaz : « Is een tweede offerte mogelijk? »</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14 — De notulen van de vergadering</dc:title>
  <dc:subject>Néerlandais B1 — immobilier et vie quotidienne (Yasmina &amp; Stef)</dc:subject>
  <dc:creator>A. Jouniaux</dc:creator>
  <cp:lastModifiedBy>A. Jouniaux</cp:lastModifiedBy>
  <cp:revision>1</cp:revision>
  <dcterms:created xsi:type="dcterms:W3CDTF">2026-10-03T21:59:52Z</dcterms:created>
  <dcterms:modified xsi:type="dcterms:W3CDTF">2026-10-03T21:59:52Z</dcterms:modified>
</cp:coreProperties>
</file>