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4a49dfae-c611-973b-e382-50960c06139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lôture" id="{273fd00a-a985-670c-8e17-ff7ffbf577cd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séance du palier 6 (la location et la gestion). Objectifs : réactiver les structures du palier 5, présenter les six piliers du palier, lire le dialogue du jeudi matin et le dialogue du soir (fil rouge « semaine de malchance »), puis entrer dans la séquence 6.1 (lexique de la location) jusqu’à la TAAK 1 et l’activité D1 (Lenen, huren of uitlenen?). Pages couvertes : p. 1 à 7a du livret (le pied de page du livret indique « Page N / 25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La séance couvre les pages 1 à 7a du livret. Les deux dialogues sont lus en début de séance et reviendront à chaque séance du palier : les « Focus » des séquences 6.1 à 6.5 renvoient tous à des répliques du dialogue du matin (numérotées ici 1 à 10). Si le temps manque, D1 (jeu de rôle) peut être raccourci à une seule ronde.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fin du palier 5 (vente d’un bien) : relatives avec verbe à la fin, waar + préposition (waarvoor, waarover), zodra, tenzij. Durée : 8 min. Faire traduire à l’oral phrase par phrase ; accepter « die » pour un mot en de (ex. « Een woning die… »). Insister sur la place du verbe en fin de subordonnée : c’est la même mécanique que pour le discours indirect (séance 8) et le passif (séance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Corriger en faisant relire chaque phrase. Piège fréquent : « waarover » mal séparé (« waar we over praten » est aussi correct : « De woning waar we over praten »). Les deux formes sont acceptées.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six piliers du palier (p. 1 du livret). Montrer le lien avec le palier 5 : on garde les relatives, waar + préposition, zodra, tenzij. L’imperfectum était seulement reconnu au palier 4 ; il devient actif ici. Le fil rouge : un dossier de gestion (Yasmina, Stef, mevrouw Dubois, meneer De Smet) et, à côté, la semaine de malchance de Stef (D1 à D5, une activité par séance : séances 6 à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1 par le professeur (livre fermé : compréhension globale), lecture 2 en binôme (Yasmina / Stef), puis trois questions orales : Qui est mevrouw Dubois ? Quel est le problème ? Que va faire Stef ? Les répliques sont numérotées de 1 à 10 : les Focus du livret renvoient à ces numéros (6.1 : lignes 3 et 9 · 6.2 : 5 et 7 · 6.3 : 5 · 6.4 : 1, 8, 9 · 6.5 : 3, 7, 9). Incohérence du livret à signaler : Yasmina dit que la cuisine a été rénovée « vorig jaar », alors que l’état des lieux d’entrée (2023, p. 9) la date de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Buiten het kantoor » : en dehors du bureau, la semaine de Stef tourne à la catastrophe (portefeuille perdu, grippe, panne d’internet, train supprimé). Le livret demande de LIRE ou d’ÉCOUTER ce dialogue (lu par le professeur, livre fermé) : faire d’abord une écoute livre fermé, puis projeter le texte. Il introduit, version vie quotidienne, les quatre outils du palier : imperfectum, discours indirect, zou, passif. Incohérence du livret : ici Stef vient à Gand « zaterdag », alors que l’activité D5 (p. 23a) parle de « vendredi soir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écoute, livre fermé, texte lu par le professeur. Les trois premiers malheurs sont déjà arrivés ; le quatrième (le train) n’est qu’un risque (« als mijn trein niet wordt afgeschaft »). Le jour de la panne d’internet n’est pas dit dans le dialogue : il vient de l’activité D4 (mercredi). Le panneau de droite annonce les cinq activités « Dagelijks leven », une par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: les mots-clés suffisent (portefeuille kwijt, koorts/griep, internet, trein afgeschaft). Faire remarquer que le dialogue contient déjà les outils du palier : « was ik… kwijt » (imperfectum), « De dokter zei dat… » (discours indirect), « Zou je… ? » (zou), « werden binnengebracht » (passif).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proposée (d’autres réponses sont possibles : tout verbe à l’imperfectum du texte compte). Cette grille sert de fil rouge : à chaque séance, l’échauffement ou la mise en commun peut revenir sur l’outil étudié. Ne pas expliquer les formes ici : on repère seulement.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Vendre et louer sont deux métiers dans le métier. Le lexique de la location se greffe sur la carte mentale du palier 5 (étagère ACTIVE : tout doit être réutilisé). Réponse à la question : mevrouw Dubois (de eigenaar) verhuurt via le kantoor ; la personne qui prend l’appartement, c’est de huurder. « dat we verhuren » est une relative (verbe à la fin) ; « wordt … betaald » est un passif annoncé pour la séquence 6.5.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1 du livret (production libre, mémoire) : 3 minutes seul, puis mise en commun en binôme, puis au tableau : une branche = un étudiant qui vient écrire un mot nouveau. Ne corriger que les articles. La diapositive suivante donne une banque de 20 mots à retenir.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 à connaître avec l’article (bleu = de, magenta = het). Faire répéter en chœur, puis jeu rapide : le professeur dit le français, la classe répond en néerlandais avec l’article. « de kosten » est un pluriel (de kost = le coût). Le livret n’impose pas de traduction : celles-ci sont celles du métier belge francophone.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Planche d’illustration du livret : quatre cartes. Faire lire chaque carte, puis demander une phrase par carte. Piège pour francophones : « louer » désigne les deux côtés du contrat ; en néerlandais, il faut choisir (huren / verhuren). « Garantie » : de waarborg (la caution de loyer), à ne pas confondre avec de verzekering (l’assurance).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/ manque du livret : l’exercice annonce « chaque verbe n’est utilisé qu’une seule fois » mais ne fournit pas la liste des verbes. Corrigé indicatif : waarborg → storten ; huurcontract → opzeggen ; plaatsbeschrijving → opstellen ; meterstanden → opnemen ; huur → betalen ; klacht → behandelen. Autres réponses acceptables : waarborg → terugbetalen ; huur → overschrijven / innen ; plaatsbeschrijving → opmaken (séparable) ; klacht → indienen (séparable, côté locataire : voir D4). Avec indienen ou opmaken, il y a plus de trois séparables : l’indiquer.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dire chaque phrase complète en insistant sur le verbe séparable : la particule part en fin de phrase (zegt … op). Rappel palier 3 : opzeggen → ik zeg op, ik heb opgezegd.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texte lu (transcription n° 1) est en annexe du dossier du professeur : il n’est pas reproduit dans le livret, donc la solution dépend du texte lu — ne pas la deviner. Lire le message deux fois, à vitesse naturelle ; laisser 1 minute entre les deux lectures. Mise en commun : une question par étudiant, réponse en mots-clés puis en phrase complète (« Meneer De Smet woont op… »). Ces notes serviront à la séance 8 (rapporter la plainte).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Modalités : binômes + un observateur si la classe est impaire. Ronde 1 : A makelaar / B candidat (carte au choix) ; ronde 2 : on inverse avec une autre carte. Rappeler le vouvoiement : « Hebt u… ? Wanneer wilt u… ? ». Le professeur circule et note les erreurs récurrentes pour la mise en commun (verbe à la fin des relatives, inversion après tenzij/zodra).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libre : ces phrases sont des modèles à projeter après la ronde, pas une correction unique. Les relatives gardent le verbe à la fin (dat … heeft ; waar … wonen). « Voordat u intrekt, stellen wij … op » : après la subordonnée, le verbe conjugué passe en tête et la particule op part à la fin. Côté candidat : Waarvoor dient de waarborg ? Waarop moet ik letten bij het ondertekenen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tableau, faire répéter. Insister sur le piège : un seul verbe néerlandais (lenen) pour deux sens opposés ; la préposition (van / aan) ou le verbe uitlenen (séparable) lève l’ambiguïté. « hoor » est une particule d’adoucissement très courante, intraduisible. « de ladder » est un mot en de : « Ik breng hem terug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orale libre : A demande (lenen van), B accepte sous condition (op voorwaarde dat + verbe à la fin). Après les trois cartes, chaque binôme joue une situation réellement vécue (autonomie). « terugbrengen » est séparable : « op voorwaarde dat je hem zondag terugbrengt » (soudé en subordonnée), « Ik breng hem zondag terug » (séparé en principale).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(réemploi de D1 et de la séquence 6.1) : 4 min, correction orale. Phrase 4 : accepter « Ik leen mijn fiets nooit aan iemand » (lenen aan) mais viser uitlenen, mot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(réemploi de D1 et de la séquence 6.1) : 4 min, correction orale. Phrase 4 : accepter « Ik leen mijn fiets nooit aan iemand » (lenen aan) mais viser uitlenen, mot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à l’oral : « De huurder zegt het contract op. De eigenaar verhuurt het appartement. » Vérifier la particule op en fin de phrase et la différence huren / verhuren.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3 · B1 · Yasmina &amp; Stef · Séance 06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3 · B1 · Yasmina &amp; Stef · Séance 06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3 · B1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06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6.1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 huurmarkt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Le lexique de la location — Yasmina confie son premier dossier à Stef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Palier 6 · Verhuur en beheer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1–7a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6920"/>
            <a:ext cx="5120640" cy="34041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1–7a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Parler de la </a:t>
            </a:r>
            <a:r>
              <a:rPr lang="en-US" sz="1600" b="1" dirty="0">
                <a:solidFill>
                  <a:schemeClr val="tx1"/>
                </a:solidFill>
              </a:rPr>
              <a:t>location</a:t>
            </a:r>
            <a:r>
              <a:rPr lang="en-US" sz="1600" dirty="0">
                <a:solidFill>
                  <a:schemeClr val="tx1"/>
                </a:solidFill>
              </a:rPr>
              <a:t> avec le bon lexique, </a:t>
            </a:r>
            <a:r>
              <a:rPr lang="en-US" sz="1600" b="1" dirty="0">
                <a:solidFill>
                  <a:schemeClr val="tx1"/>
                </a:solidFill>
              </a:rPr>
              <a:t>recevoir un candidat locataire</a:t>
            </a:r>
            <a:r>
              <a:rPr lang="en-US" sz="1600" dirty="0">
                <a:solidFill>
                  <a:schemeClr val="tx1"/>
                </a:solidFill>
              </a:rPr>
              <a:t> et distinguer </a:t>
            </a:r>
            <a:r>
              <a:rPr lang="en-US" sz="1600" i="1" dirty="0">
                <a:solidFill>
                  <a:schemeClr val="tx1"/>
                </a:solidFill>
              </a:rPr>
              <a:t>huren · verhuren · lenen · uitlenen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huurder · de verhuurder · de waarborg · het huurcontract · de plaatsbeschrijving</a:t>
            </a:r>
            <a:r>
              <a:rPr lang="en-US" sz="1700" dirty="0">
                <a:solidFill>
                  <a:schemeClr val="tx1"/>
                </a:solidFill>
              </a:rPr>
              <a:t> — </a:t>
            </a:r>
            <a:r>
              <a:rPr lang="en-US" sz="1700" i="1" dirty="0">
                <a:solidFill>
                  <a:schemeClr val="tx1"/>
                </a:solidFill>
              </a:rPr>
              <a:t>opzeggen · opstellen · lenen van / aan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Lire deux dialogues · repérer le lexique · comprendre un message vocal (mots-clés) · mener un entretien formel (</a:t>
            </a:r>
            <a:r>
              <a:rPr lang="en-US" sz="1400" i="1" dirty="0">
                <a:solidFill>
                  <a:schemeClr val="tx1"/>
                </a:solidFill>
              </a:rPr>
              <a:t>u</a:t>
            </a:r>
            <a:r>
              <a:rPr lang="en-US" sz="1400" dirty="0">
                <a:solidFill>
                  <a:schemeClr val="tx1"/>
                </a:solidFill>
              </a:rPr>
              <a:t>) avec un candidat locataire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288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28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Rappel du palier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4216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421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3672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Palier 6 · dialogue du jeudi matin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3672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29143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2914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8600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Avonddialoog · semaine de malchance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8600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4071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40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3528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Séquence 6.1 · mindmap · lexique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3528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38999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3899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384556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Ex. 2 Collocaties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84556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3926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39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3383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Ex. 3 Voicemail de meneer De Smet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3383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48854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4885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48310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TAAK 1 · De kandidaat-huurder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48310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3781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37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3238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D1 · Lenen, huren of uitlenen?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3238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55" name="Shape 49"/>
          <p:cNvSpPr/>
          <p:nvPr/>
        </p:nvSpPr>
        <p:spPr>
          <a:xfrm>
            <a:off x="6263640" y="58709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63640" y="5870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784848" y="58166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Bilan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10972800" y="58166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Réveil du palier 5 : phrases-clés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palier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2054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Traduisez en néerlandais — seul, 5 min, puis correction orale en groupe.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2054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« Un appartement qui a trois chambres.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« La maison dont nous parlons.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« Je vous rappelle dès que le propriétaire répond.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« Nous signons, sauf si l’acheteur refuse.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« À quoi sert la garantie ? »</a:t>
            </a:r>
            <a:endParaRPr lang="en-US" sz="2600" dirty="0"/>
          </a:p>
        </p:txBody>
      </p:sp>
      <p:sp>
        <p:nvSpPr>
          <p:cNvPr id="8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POURQUOI ?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Ces structures reviennent dans la </a:t>
            </a:r>
            <a:r>
              <a:rPr lang="en-US" sz="1800" b="1" dirty="0">
                <a:solidFill>
                  <a:schemeClr val="tx1"/>
                </a:solidFill>
              </a:rPr>
              <a:t>TAAK 1</a:t>
            </a:r>
            <a:r>
              <a:rPr lang="en-US" sz="1800" dirty="0">
                <a:solidFill>
                  <a:schemeClr val="tx1"/>
                </a:solidFill>
              </a:rPr>
              <a:t> :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relative (</a:t>
            </a:r>
            <a:r>
              <a:rPr lang="en-US" sz="1800" i="1" dirty="0">
                <a:solidFill>
                  <a:schemeClr val="tx1"/>
                </a:solidFill>
              </a:rPr>
              <a:t>dat, die, waar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waar</a:t>
            </a:r>
            <a:r>
              <a:rPr lang="en-US" sz="1800" dirty="0">
                <a:solidFill>
                  <a:schemeClr val="tx1"/>
                </a:solidFill>
              </a:rPr>
              <a:t> + préposition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zodra · tenzij · als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verbe</a:t>
            </a:r>
            <a:r>
              <a:rPr lang="en-US" sz="1800" dirty="0">
                <a:solidFill>
                  <a:schemeClr val="tx1"/>
                </a:solidFill>
              </a:rPr>
              <a:t> part à la fin de la subordonnée.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Réveil du palier 5 : phrases-clés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palier 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2054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Traduisez en néerlandais — seul, 5 min, puis correction orale en groupe.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2054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« Un appartement qui a trois chambres.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Een appartement </a:t>
            </a:r>
            <a:r>
              <a:rPr lang="en-US" sz="1800" b="1" dirty="0">
                <a:solidFill>
                  <a:schemeClr val="accent3"/>
                </a:solidFill>
              </a:rPr>
              <a:t>dat</a:t>
            </a:r>
            <a:r>
              <a:rPr lang="en-US" sz="1800" dirty="0">
                <a:solidFill>
                  <a:schemeClr val="accent3"/>
                </a:solidFill>
              </a:rPr>
              <a:t> drie slaapkamers </a:t>
            </a:r>
            <a:r>
              <a:rPr lang="en-US" sz="1800" b="1" dirty="0">
                <a:solidFill>
                  <a:schemeClr val="accent3"/>
                </a:solidFill>
              </a:rPr>
              <a:t>heeft</a:t>
            </a:r>
            <a:r>
              <a:rPr lang="en-US" sz="1800" dirty="0">
                <a:solidFill>
                  <a:schemeClr val="accent3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« La maison dont nous parlons.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De woning </a:t>
            </a:r>
            <a:r>
              <a:rPr lang="en-US" sz="1800" b="1" dirty="0">
                <a:solidFill>
                  <a:schemeClr val="accent3"/>
                </a:solidFill>
              </a:rPr>
              <a:t>waarover</a:t>
            </a:r>
            <a:r>
              <a:rPr lang="en-US" sz="1800" dirty="0">
                <a:solidFill>
                  <a:schemeClr val="accent3"/>
                </a:solidFill>
              </a:rPr>
              <a:t> we praten.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« Je vous rappelle dès que le propriétaire répond.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Ik bel u terug </a:t>
            </a:r>
            <a:r>
              <a:rPr lang="en-US" sz="1800" b="1" dirty="0">
                <a:solidFill>
                  <a:schemeClr val="accent3"/>
                </a:solidFill>
              </a:rPr>
              <a:t>zodra</a:t>
            </a:r>
            <a:r>
              <a:rPr lang="en-US" sz="1800" dirty="0">
                <a:solidFill>
                  <a:schemeClr val="accent3"/>
                </a:solidFill>
              </a:rPr>
              <a:t> de eigenaar antwoordt.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« Nous signons, sauf si l’acheteur refuse.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Wij tekenen, </a:t>
            </a:r>
            <a:r>
              <a:rPr lang="en-US" sz="1800" b="1" dirty="0">
                <a:solidFill>
                  <a:schemeClr val="accent3"/>
                </a:solidFill>
              </a:rPr>
              <a:t>tenzij</a:t>
            </a:r>
            <a:r>
              <a:rPr lang="en-US" sz="1800" dirty="0">
                <a:solidFill>
                  <a:schemeClr val="accent3"/>
                </a:solidFill>
              </a:rPr>
              <a:t> de koper weigert.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« À quoi sert la garantie ?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Waarvoor</a:t>
            </a:r>
            <a:r>
              <a:rPr lang="en-US" sz="1800" dirty="0">
                <a:solidFill>
                  <a:schemeClr val="accent3"/>
                </a:solidFill>
              </a:rPr>
              <a:t> dient de waarborg?</a:t>
            </a:r>
            <a:endParaRPr lang="en-US" sz="1800" dirty="0"/>
          </a:p>
        </p:txBody>
      </p:sp>
      <p:sp>
        <p:nvSpPr>
          <p:cNvPr id="9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POURQUOI ?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Ces structures reviennent dans la </a:t>
            </a:r>
            <a:r>
              <a:rPr lang="en-US" sz="1800" b="1" dirty="0">
                <a:solidFill>
                  <a:schemeClr val="tx1"/>
                </a:solidFill>
              </a:rPr>
              <a:t>TAAK 1</a:t>
            </a:r>
            <a:r>
              <a:rPr lang="en-US" sz="1800" dirty="0">
                <a:solidFill>
                  <a:schemeClr val="tx1"/>
                </a:solidFill>
              </a:rPr>
              <a:t> :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relative (</a:t>
            </a:r>
            <a:r>
              <a:rPr lang="en-US" sz="1800" i="1" dirty="0">
                <a:solidFill>
                  <a:schemeClr val="tx1"/>
                </a:solidFill>
              </a:rPr>
              <a:t>dat, die, waar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waar</a:t>
            </a:r>
            <a:r>
              <a:rPr lang="en-US" sz="1800" dirty="0">
                <a:solidFill>
                  <a:schemeClr val="tx1"/>
                </a:solidFill>
              </a:rPr>
              <a:t> + préposition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zodra · tenzij · als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verbe</a:t>
            </a:r>
            <a:r>
              <a:rPr lang="en-US" sz="1800" dirty="0">
                <a:solidFill>
                  <a:schemeClr val="tx1"/>
                </a:solidFill>
              </a:rPr>
              <a:t> part à la fin de la subordonnée.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Palier 6 : la location et la gestion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Au palier 5, vous avez </a:t>
            </a:r>
            <a:r>
              <a:rPr lang="en-US" sz="1800" b="1" dirty="0">
                <a:solidFill>
                  <a:schemeClr val="tx1"/>
                </a:solidFill>
              </a:rPr>
              <a:t>vendu</a:t>
            </a:r>
            <a:r>
              <a:rPr lang="en-US" sz="1800" dirty="0">
                <a:solidFill>
                  <a:schemeClr val="tx1"/>
                </a:solidFill>
              </a:rPr>
              <a:t> un bien. Ici : </a:t>
            </a:r>
            <a:r>
              <a:rPr lang="en-US" sz="1800" b="1" dirty="0">
                <a:solidFill>
                  <a:schemeClr val="tx1"/>
                </a:solidFill>
              </a:rPr>
              <a:t>louer</a:t>
            </a:r>
            <a:r>
              <a:rPr lang="en-US" sz="1800" dirty="0">
                <a:solidFill>
                  <a:schemeClr val="tx1"/>
                </a:solidFill>
              </a:rPr>
              <a:t> et </a:t>
            </a:r>
            <a:r>
              <a:rPr lang="en-US" sz="1800" b="1" dirty="0">
                <a:solidFill>
                  <a:schemeClr val="tx1"/>
                </a:solidFill>
              </a:rPr>
              <a:t>gérer</a:t>
            </a:r>
            <a:r>
              <a:rPr lang="en-US" sz="1800" dirty="0">
                <a:solidFill>
                  <a:schemeClr val="tx1"/>
                </a:solidFill>
              </a:rPr>
              <a:t> — le premier dossier de Stef.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3514344" cy="1591056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67712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① LEXIQUE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51176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6.1</a:t>
            </a:r>
            <a:r>
              <a:rPr lang="en-US" sz="1700" dirty="0">
                <a:solidFill>
                  <a:schemeClr val="tx1"/>
                </a:solidFill>
              </a:rPr>
              <a:t> · acteurs, documents, argent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de huurder · de waarborg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37304" y="1947672"/>
            <a:ext cx="3514344" cy="1591056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2267712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② IMPERFECTUM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551176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6.2</a:t>
            </a:r>
            <a:r>
              <a:rPr lang="en-US" sz="1700" dirty="0">
                <a:solidFill>
                  <a:schemeClr val="tx1"/>
                </a:solidFill>
              </a:rPr>
              <a:t> · décrire un état passé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De muur was nat.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125968" y="1947672"/>
            <a:ext cx="3514344" cy="1591056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25968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9" name="Shape 16"/>
          <p:cNvSpPr/>
          <p:nvPr/>
        </p:nvSpPr>
        <p:spPr>
          <a:xfrm>
            <a:off x="8125968" y="2267712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08848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③ DISCOURS INDIRECT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08848" y="2551176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6.3</a:t>
            </a:r>
            <a:r>
              <a:rPr lang="en-US" sz="1700" dirty="0">
                <a:solidFill>
                  <a:schemeClr val="tx1"/>
                </a:solidFill>
              </a:rPr>
              <a:t> · rapporter un client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Hij zei dat er een lek was.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3813048"/>
            <a:ext cx="3514344" cy="1591056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381304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4" name="Shape 21"/>
          <p:cNvSpPr/>
          <p:nvPr/>
        </p:nvSpPr>
        <p:spPr>
          <a:xfrm>
            <a:off x="548640" y="4133088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81304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④ ZOU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4416552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6.4</a:t>
            </a:r>
            <a:r>
              <a:rPr lang="en-US" sz="1700" dirty="0">
                <a:solidFill>
                  <a:schemeClr val="tx1"/>
                </a:solidFill>
              </a:rPr>
              <a:t> · politesse, conseil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Zou u…? Ik zou…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4337304" y="3813048"/>
            <a:ext cx="3514344" cy="1591056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37304" y="381304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29" name="Shape 26"/>
          <p:cNvSpPr/>
          <p:nvPr/>
        </p:nvSpPr>
        <p:spPr>
          <a:xfrm>
            <a:off x="4337304" y="4133088"/>
            <a:ext cx="3514344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20184" y="381304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⑤ PASSIF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520184" y="4416552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6.5</a:t>
            </a:r>
            <a:r>
              <a:rPr lang="en-US" sz="1700" dirty="0">
                <a:solidFill>
                  <a:schemeClr val="tx1"/>
                </a:solidFill>
              </a:rPr>
              <a:t> · décisions, annonces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De lekkage wordt hersteld.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8125968" y="3813048"/>
            <a:ext cx="3514344" cy="1591056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125968" y="381304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5968" y="4133088"/>
            <a:ext cx="3514344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08848" y="381304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⑥ QUATRE COMPÉTENCES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308848" y="4416552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écouter · lire · écrire · parler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TAAK 1 à 6</a:t>
            </a:r>
            <a:r>
              <a:rPr lang="en-US" sz="1700" dirty="0">
                <a:solidFill>
                  <a:schemeClr val="tx1"/>
                </a:solidFill>
              </a:rPr>
              <a:t> (dossier final)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Fil rouge — </a:t>
            </a:r>
            <a:r>
              <a:rPr lang="en-US" sz="1700" dirty="0">
                <a:solidFill>
                  <a:schemeClr val="tx1"/>
                </a:solidFill>
              </a:rPr>
              <a:t>Le dossier de la </a:t>
            </a:r>
            <a:r>
              <a:rPr lang="en-US" sz="1700" b="1" dirty="0">
                <a:solidFill>
                  <a:schemeClr val="tx1"/>
                </a:solidFill>
              </a:rPr>
              <a:t>Waversesteenweg</a:t>
            </a:r>
            <a:r>
              <a:rPr lang="en-US" sz="1700" dirty="0">
                <a:solidFill>
                  <a:schemeClr val="tx1"/>
                </a:solidFill>
              </a:rPr>
              <a:t> (Immo Van Damme) et, hors du bureau, la </a:t>
            </a:r>
            <a:r>
              <a:rPr lang="en-US" sz="1700" b="1" dirty="0">
                <a:solidFill>
                  <a:schemeClr val="tx1"/>
                </a:solidFill>
              </a:rPr>
              <a:t>semaine de malchance</a:t>
            </a:r>
            <a:r>
              <a:rPr lang="en-US" sz="1700" dirty="0">
                <a:solidFill>
                  <a:schemeClr val="tx1"/>
                </a:solidFill>
              </a:rPr>
              <a:t> de Stef (D1 à D5).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Zesde dialoog: donderdagochtend bij Immo Van Damme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DIALOOG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«Stef, ik heb goed nieuws: zou jij het dossier van de Waversesteenweg willen beheren? Helemaal alleen deze keer.»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2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«Echt? Graag! Waarover gaat het precies?»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3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«Een appartement in Elsene dat we verhuren voor mevrouw Dubois. De keuken werd vorig jaar volledig vernieuwd, dus het verhuurt makkelijk.»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4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«Klinkt goed. Maar je kijkt bezorgd — is er een probleem?»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5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«Ja. De huurder belde gisteren. Hij zei dat er een lek in de badkamer was, en hij vroeg of we snel konden langskomen.»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6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«Oei. En toen?»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7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«Toen ik gisteravond langsging, was de muur al nat. Vroeger had het gebouw nooit problemen — het werd in 2018 gerenoveerd.»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8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«Wat zou jij doen als eerste stap?»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9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«Ik zou meteen de loodgieter bellen om de schade te beperken. De herstelling wordt normaal door de eigenaar betaald, tenzij de huurder iets verkeerd heeft gedaan.»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10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«Oké. Ik bel de loodgieter, ik stel mevrouw Dubois gerust, en ik schrijf een verslag. Kortom: mijn eerste beheersdossier begint vandaag!»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Avonddialoog: donderdagavond, Stef belt Lotte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DIALOOG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  </a:t>
            </a:r>
            <a:r>
              <a:rPr lang="en-US" sz="1700" b="1" dirty="0">
                <a:solidFill>
                  <a:schemeClr val="accent3"/>
                </a:solidFill>
              </a:rPr>
              <a:t>Lotte :  </a:t>
            </a:r>
            <a:r>
              <a:rPr lang="en-US" sz="1700" dirty="0">
                <a:solidFill>
                  <a:schemeClr val="tx1"/>
                </a:solidFill>
              </a:rPr>
              <a:t>«Hé Stef! Je klinkt moe. Zware dag?»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2  </a:t>
            </a:r>
            <a:r>
              <a:rPr lang="en-US" sz="1700" b="1" dirty="0">
                <a:solidFill>
                  <a:schemeClr val="accent2"/>
                </a:solidFill>
              </a:rPr>
              <a:t>Stef :  </a:t>
            </a:r>
            <a:r>
              <a:rPr lang="en-US" sz="1700" dirty="0">
                <a:solidFill>
                  <a:schemeClr val="tx1"/>
                </a:solidFill>
              </a:rPr>
              <a:t>«Zware week, ja! Maandag was ik mijn portefeuille kwijt. Ik zat op de tram en toen ik uitstapte, was hij weg.»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3  </a:t>
            </a:r>
            <a:r>
              <a:rPr lang="en-US" sz="1700" b="1" dirty="0">
                <a:solidFill>
                  <a:schemeClr val="accent3"/>
                </a:solidFill>
              </a:rPr>
              <a:t>Lotte :  </a:t>
            </a:r>
            <a:r>
              <a:rPr lang="en-US" sz="1700" dirty="0">
                <a:solidFill>
                  <a:schemeClr val="tx1"/>
                </a:solidFill>
              </a:rPr>
              <a:t>«Oei! Heb je dat gemeld bij de dienst verloren voorwerpen?»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4  </a:t>
            </a:r>
            <a:r>
              <a:rPr lang="en-US" sz="1700" b="1" dirty="0">
                <a:solidFill>
                  <a:schemeClr val="accent2"/>
                </a:solidFill>
              </a:rPr>
              <a:t>Stef :  </a:t>
            </a:r>
            <a:r>
              <a:rPr lang="en-US" sz="1700" dirty="0">
                <a:solidFill>
                  <a:schemeClr val="tx1"/>
                </a:solidFill>
              </a:rPr>
              <a:t>«Natuurlijk. De bediende zei dat er elke dag tientallen portefeuilles werden binnengebracht, en hij vroeg hoe de mijne eruitzag.»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5  </a:t>
            </a:r>
            <a:r>
              <a:rPr lang="en-US" sz="1700" b="1" dirty="0">
                <a:solidFill>
                  <a:schemeClr val="accent3"/>
                </a:solidFill>
              </a:rPr>
              <a:t>Lotte :  </a:t>
            </a:r>
            <a:r>
              <a:rPr lang="en-US" sz="1700" dirty="0">
                <a:solidFill>
                  <a:schemeClr val="tx1"/>
                </a:solidFill>
              </a:rPr>
              <a:t>«En? Is hij teruggevonden?»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6  </a:t>
            </a:r>
            <a:r>
              <a:rPr lang="en-US" sz="1700" b="1" dirty="0">
                <a:solidFill>
                  <a:schemeClr val="accent2"/>
                </a:solidFill>
              </a:rPr>
              <a:t>Stef :  </a:t>
            </a:r>
            <a:r>
              <a:rPr lang="en-US" sz="1700" dirty="0">
                <a:solidFill>
                  <a:schemeClr val="tx1"/>
                </a:solidFill>
              </a:rPr>
              <a:t>«Gelukkig wel! Maar dinsdag had ik koorts. De dokter zei dat ik griep had en dat ik drie dagen moest rusten.»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7  </a:t>
            </a:r>
            <a:r>
              <a:rPr lang="en-US" sz="1700" b="1" dirty="0">
                <a:solidFill>
                  <a:schemeClr val="accent3"/>
                </a:solidFill>
              </a:rPr>
              <a:t>Lotte :  </a:t>
            </a:r>
            <a:r>
              <a:rPr lang="en-US" sz="1700" dirty="0">
                <a:solidFill>
                  <a:schemeClr val="tx1"/>
                </a:solidFill>
              </a:rPr>
              <a:t>«Arme jongen! Zou je niet beter tot maandag thuisblijven?»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8  </a:t>
            </a:r>
            <a:r>
              <a:rPr lang="en-US" sz="1700" b="1" dirty="0">
                <a:solidFill>
                  <a:schemeClr val="accent2"/>
                </a:solidFill>
              </a:rPr>
              <a:t>Stef :  </a:t>
            </a:r>
            <a:r>
              <a:rPr lang="en-US" sz="1700" dirty="0">
                <a:solidFill>
                  <a:schemeClr val="tx1"/>
                </a:solidFill>
              </a:rPr>
              <a:t>«Dat zou ik graag doen, maar mijn internet doet het niet. Ik heb de klantendienst al twee keer gebeld!»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9  </a:t>
            </a:r>
            <a:r>
              <a:rPr lang="en-US" sz="1700" b="1" dirty="0">
                <a:solidFill>
                  <a:schemeClr val="accent3"/>
                </a:solidFill>
              </a:rPr>
              <a:t>Lotte :  </a:t>
            </a:r>
            <a:r>
              <a:rPr lang="en-US" sz="1700" dirty="0">
                <a:solidFill>
                  <a:schemeClr val="tx1"/>
                </a:solidFill>
              </a:rPr>
              <a:t>«Als ik jou was, zou ik een mail sturen. Dan heb je alles op papier.»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10  </a:t>
            </a:r>
            <a:r>
              <a:rPr lang="en-US" sz="1700" b="1" dirty="0">
                <a:solidFill>
                  <a:schemeClr val="accent2"/>
                </a:solidFill>
              </a:rPr>
              <a:t>Stef :  </a:t>
            </a:r>
            <a:r>
              <a:rPr lang="en-US" sz="1700" dirty="0">
                <a:solidFill>
                  <a:schemeClr val="tx1"/>
                </a:solidFill>
              </a:rPr>
              <a:t>«Goed idee. En zaterdag kom ik naar Gent... tenminste, als mijn trein niet wordt afgeschaft!»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11  </a:t>
            </a:r>
            <a:r>
              <a:rPr lang="en-US" sz="1700" b="1" dirty="0">
                <a:solidFill>
                  <a:schemeClr val="accent3"/>
                </a:solidFill>
              </a:rPr>
              <a:t>Lotte :  </a:t>
            </a:r>
            <a:r>
              <a:rPr lang="en-US" sz="1700" dirty="0">
                <a:solidFill>
                  <a:schemeClr val="tx1"/>
                </a:solidFill>
              </a:rPr>
              <a:t>«Ik duim voor je. En ik maak alvast soep.»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12  </a:t>
            </a:r>
            <a:r>
              <a:rPr lang="en-US" sz="1700" b="1" dirty="0">
                <a:solidFill>
                  <a:schemeClr val="accent2"/>
                </a:solidFill>
              </a:rPr>
              <a:t>Stef :  </a:t>
            </a:r>
            <a:r>
              <a:rPr lang="en-US" sz="1700" dirty="0">
                <a:solidFill>
                  <a:schemeClr val="tx1"/>
                </a:solidFill>
              </a:rPr>
              <a:t>«Kortom: een week vol pech, maar een zus uit de duizend!»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Avonddialoog : les quatre malheurs de Stef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1re écoute (livre fermé) : notez les </a:t>
            </a:r>
            <a:r>
              <a:rPr lang="en-US" sz="1600" b="1" i="1" dirty="0">
                <a:solidFill>
                  <a:schemeClr val="accent5"/>
                </a:solidFill>
              </a:rPr>
              <a:t>quatre malheurs</a:t>
            </a:r>
            <a:r>
              <a:rPr lang="en-US" sz="1600" i="1" dirty="0">
                <a:solidFill>
                  <a:schemeClr val="accent5"/>
                </a:solidFill>
              </a:rPr>
              <a:t> de Stef, jour par jour. Seul, puis comparez avec votre voisin · 5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Maandag</a:t>
            </a:r>
            <a:endParaRPr lang="en-US" sz="2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Dinsdag</a:t>
            </a:r>
            <a:endParaRPr lang="en-US" sz="2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Internet</a:t>
            </a:r>
            <a:r>
              <a:rPr lang="en-US" sz="2600" dirty="0">
                <a:solidFill>
                  <a:schemeClr val="tx1"/>
                </a:solidFill>
              </a:rPr>
              <a:t> (woensdag, cf. D4)</a:t>
            </a:r>
            <a:endParaRPr lang="en-US" sz="2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Zaterdag</a:t>
            </a:r>
            <a:endParaRPr lang="en-US" sz="26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FIL ROUGE · D1 → D5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D1</a:t>
            </a:r>
            <a:r>
              <a:rPr lang="en-US" sz="1800" dirty="0">
                <a:solidFill>
                  <a:schemeClr val="tx1"/>
                </a:solidFill>
              </a:rPr>
              <a:t> Lenen, huren of uitlenen? (séance 6)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D2</a:t>
            </a:r>
            <a:r>
              <a:rPr lang="en-US" sz="1800" dirty="0">
                <a:solidFill>
                  <a:schemeClr val="tx1"/>
                </a:solidFill>
              </a:rPr>
              <a:t> Verloren voorwerpen (séance 7)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D3</a:t>
            </a:r>
            <a:r>
              <a:rPr lang="en-US" sz="1800" dirty="0">
                <a:solidFill>
                  <a:schemeClr val="tx1"/>
                </a:solidFill>
              </a:rPr>
              <a:t> Wat zei de dokter? (séance 8)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D4</a:t>
            </a:r>
            <a:r>
              <a:rPr lang="en-US" sz="1800" dirty="0">
                <a:solidFill>
                  <a:schemeClr val="tx1"/>
                </a:solidFill>
              </a:rPr>
              <a:t> De klantendienst (séance 9)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D5</a:t>
            </a:r>
            <a:r>
              <a:rPr lang="en-US" sz="1800" dirty="0">
                <a:solidFill>
                  <a:schemeClr val="tx1"/>
                </a:solidFill>
              </a:rPr>
              <a:t> Vertraging! (séance 10)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Avonddialoog : les quatre malheurs de Stef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1re écoute (livre fermé) : notez les </a:t>
            </a:r>
            <a:r>
              <a:rPr lang="en-US" sz="1600" b="1" i="1" dirty="0">
                <a:solidFill>
                  <a:schemeClr val="accent5"/>
                </a:solidFill>
              </a:rPr>
              <a:t>quatre malheurs</a:t>
            </a:r>
            <a:r>
              <a:rPr lang="en-US" sz="1600" i="1" dirty="0">
                <a:solidFill>
                  <a:schemeClr val="accent5"/>
                </a:solidFill>
              </a:rPr>
              <a:t> de Stef, jour par jour. Seul, puis comparez avec votre voisin · 5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Maandag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accent3"/>
                </a:solidFill>
              </a:rPr>
              <a:t>→ </a:t>
            </a:r>
            <a:r>
              <a:rPr lang="en-US" sz="2300" dirty="0">
                <a:solidFill>
                  <a:schemeClr val="accent3"/>
                </a:solidFill>
              </a:rPr>
              <a:t>portefeuille kwijt (op de tram)</a:t>
            </a:r>
            <a:endParaRPr lang="en-US" sz="2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Dinsdag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accent3"/>
                </a:solidFill>
              </a:rPr>
              <a:t>→ </a:t>
            </a:r>
            <a:r>
              <a:rPr lang="en-US" sz="2300" dirty="0">
                <a:solidFill>
                  <a:schemeClr val="accent3"/>
                </a:solidFill>
              </a:rPr>
              <a:t>koorts: griep, drie dagen rust</a:t>
            </a:r>
            <a:endParaRPr lang="en-US" sz="2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Internet</a:t>
            </a:r>
            <a:r>
              <a:rPr lang="en-US" sz="2300" dirty="0">
                <a:solidFill>
                  <a:schemeClr val="tx1"/>
                </a:solidFill>
              </a:rPr>
              <a:t> (woensdag, cf. D4)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accent3"/>
                </a:solidFill>
              </a:rPr>
              <a:t>→ </a:t>
            </a:r>
            <a:r>
              <a:rPr lang="en-US" sz="2300" dirty="0">
                <a:solidFill>
                  <a:schemeClr val="accent3"/>
                </a:solidFill>
              </a:rPr>
              <a:t>het doet het niet · klantendienst al twee keer gebeld</a:t>
            </a:r>
            <a:endParaRPr lang="en-US" sz="2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Zaterdag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accent3"/>
                </a:solidFill>
              </a:rPr>
              <a:t>→ </a:t>
            </a:r>
            <a:r>
              <a:rPr lang="en-US" sz="2300" dirty="0">
                <a:solidFill>
                  <a:schemeClr val="accent3"/>
                </a:solidFill>
              </a:rPr>
              <a:t>zijn trein wordt misschien afgeschaft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FIL ROUGE · D1 → D5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D1</a:t>
            </a:r>
            <a:r>
              <a:rPr lang="en-US" sz="1800" dirty="0">
                <a:solidFill>
                  <a:schemeClr val="tx1"/>
                </a:solidFill>
              </a:rPr>
              <a:t> Lenen, huren of uitlenen? (séance 6)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D2</a:t>
            </a:r>
            <a:r>
              <a:rPr lang="en-US" sz="1800" dirty="0">
                <a:solidFill>
                  <a:schemeClr val="tx1"/>
                </a:solidFill>
              </a:rPr>
              <a:t> Verloren voorwerpen (séance 7)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D3</a:t>
            </a:r>
            <a:r>
              <a:rPr lang="en-US" sz="1800" dirty="0">
                <a:solidFill>
                  <a:schemeClr val="tx1"/>
                </a:solidFill>
              </a:rPr>
              <a:t> Wat zei de dokter? (séance 8)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D4</a:t>
            </a:r>
            <a:r>
              <a:rPr lang="en-US" sz="1800" dirty="0">
                <a:solidFill>
                  <a:schemeClr val="tx1"/>
                </a:solidFill>
              </a:rPr>
              <a:t> De klantendienst (séance 9)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D5</a:t>
            </a:r>
            <a:r>
              <a:rPr lang="en-US" sz="1800" dirty="0">
                <a:solidFill>
                  <a:schemeClr val="tx1"/>
                </a:solidFill>
              </a:rPr>
              <a:t> Vertraging! (séance 10)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Avonddialoog : outils repérés (corrigé)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2e écoute ou lecture : repérez </a:t>
            </a:r>
            <a:r>
              <a:rPr lang="en-US" sz="1600" b="1" i="1" dirty="0">
                <a:solidFill>
                  <a:schemeClr val="accent5"/>
                </a:solidFill>
              </a:rPr>
              <a:t>3 imperfectums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2 discours indirects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2 zou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2 passifs</a:t>
            </a:r>
            <a:r>
              <a:rPr lang="en-US" sz="1600" i="1" dirty="0">
                <a:solidFill>
                  <a:schemeClr val="accent5"/>
                </a:solidFill>
              </a:rPr>
              <a:t> — les outils des séquences 6.2 à 6.5.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7342632"/>
              </a:tblGrid>
              <a:tr h="5376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OUTIL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MIN.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DANS LE DIALOGUE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48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② Imperfectum (6.2)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ik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mijn portefeuille kwijt · ik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zat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op de tram ·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hij weg · ik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koorts · hij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vroeg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· hij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zei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588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③ Discours indirect (6.3)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bediende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zei dat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er … portefeuilles werden binnengebracht, en hij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vroeg hoe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de mijne eruitzag · De dokter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zei dat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ik griep had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48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④ ZOU (6.4)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Zou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je niet beter … thuisblijven? · Dat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zou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ik graag doen · Als ik jou was,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zou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ik een mail sturen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8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⑤ Passif (6.5)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portefeuilles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werden binnengebracht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· als mijn trein niet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wordt afgeschaft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Chaque outil a sa séquence : 6.2 (séance 7), 6.3 (séance 8), 6.4 (séance 9), 6.5 (séance 10).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6.1 : le lexique de la location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7391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SÉQUENCE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63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La location a ses </a:t>
            </a:r>
            <a:r>
              <a:rPr lang="en-US" sz="1700" b="1" dirty="0">
                <a:solidFill>
                  <a:schemeClr val="tx1"/>
                </a:solidFill>
              </a:rPr>
              <a:t>acteurs</a:t>
            </a:r>
            <a:r>
              <a:rPr lang="en-US" sz="1700" dirty="0">
                <a:solidFill>
                  <a:schemeClr val="tx1"/>
                </a:solidFill>
              </a:rPr>
              <a:t>, ses </a:t>
            </a:r>
            <a:r>
              <a:rPr lang="en-US" sz="1700" b="1" dirty="0">
                <a:solidFill>
                  <a:schemeClr val="tx1"/>
                </a:solidFill>
              </a:rPr>
              <a:t>documents</a:t>
            </a:r>
            <a:r>
              <a:rPr lang="en-US" sz="1700" dirty="0">
                <a:solidFill>
                  <a:schemeClr val="tx1"/>
                </a:solidFill>
              </a:rPr>
              <a:t>, son </a:t>
            </a:r>
            <a:r>
              <a:rPr lang="en-US" sz="1700" b="1" dirty="0">
                <a:solidFill>
                  <a:schemeClr val="tx1"/>
                </a:solidFill>
              </a:rPr>
              <a:t>argent</a:t>
            </a:r>
            <a:r>
              <a:rPr lang="en-US" sz="1700" dirty="0">
                <a:solidFill>
                  <a:schemeClr val="tx1"/>
                </a:solidFill>
              </a:rPr>
              <a:t> et ses </a:t>
            </a:r>
            <a:r>
              <a:rPr lang="en-US" sz="1700" b="1" dirty="0">
                <a:solidFill>
                  <a:schemeClr val="tx1"/>
                </a:solidFill>
              </a:rPr>
              <a:t>gestes</a:t>
            </a:r>
            <a:r>
              <a:rPr lang="en-US" sz="1700" dirty="0">
                <a:solidFill>
                  <a:schemeClr val="tx1"/>
                </a:solidFill>
              </a:rPr>
              <a:t> (opzeggen, de meterstanden opnemen).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Focus : lignes 3 et 9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«Een appartement in Elsene </a:t>
            </a:r>
            <a:r>
              <a:rPr lang="en-US" sz="1700" b="1" dirty="0">
                <a:solidFill>
                  <a:schemeClr val="tx1"/>
                </a:solidFill>
              </a:rPr>
              <a:t>dat we verhuren</a:t>
            </a:r>
            <a:r>
              <a:rPr lang="en-US" sz="1700" dirty="0">
                <a:solidFill>
                  <a:schemeClr val="tx1"/>
                </a:solidFill>
              </a:rPr>
              <a:t> voor mevrouw Dubois.»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«De herstelling </a:t>
            </a:r>
            <a:r>
              <a:rPr lang="en-US" sz="1700" b="1" dirty="0">
                <a:solidFill>
                  <a:schemeClr val="tx1"/>
                </a:solidFill>
              </a:rPr>
              <a:t>wordt</a:t>
            </a:r>
            <a:r>
              <a:rPr lang="en-US" sz="1700" dirty="0">
                <a:solidFill>
                  <a:schemeClr val="tx1"/>
                </a:solidFill>
              </a:rPr>
              <a:t> normaal door de eigenaar </a:t>
            </a:r>
            <a:r>
              <a:rPr lang="en-US" sz="1700" b="1" dirty="0">
                <a:solidFill>
                  <a:schemeClr val="tx1"/>
                </a:solidFill>
              </a:rPr>
              <a:t>betaald</a:t>
            </a:r>
            <a:r>
              <a:rPr lang="en-US" sz="1700" dirty="0">
                <a:solidFill>
                  <a:schemeClr val="tx1"/>
                </a:solidFill>
              </a:rPr>
              <a:t>.»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995160" y="5382768"/>
            <a:ext cx="4645152" cy="908304"/>
          </a:xfrm>
          <a:prstGeom prst="roundRect">
            <a:avLst>
              <a:gd name="adj" fmla="val 8054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47420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766816"/>
            <a:ext cx="4279392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Dans la ligne 3 : qui </a:t>
            </a:r>
            <a:r>
              <a:rPr lang="en-US" sz="1700" b="1" dirty="0">
                <a:solidFill>
                  <a:schemeClr val="tx1"/>
                </a:solidFill>
              </a:rPr>
              <a:t>verhuurt</a:t>
            </a:r>
            <a:r>
              <a:rPr lang="en-US" sz="1700" dirty="0">
                <a:solidFill>
                  <a:schemeClr val="tx1"/>
                </a:solidFill>
              </a:rPr>
              <a:t>, qui </a:t>
            </a:r>
            <a:r>
              <a:rPr lang="en-US" sz="1700" b="1" dirty="0">
                <a:solidFill>
                  <a:schemeClr val="tx1"/>
                </a:solidFill>
              </a:rPr>
              <a:t>huurt</a:t>
            </a:r>
            <a:r>
              <a:rPr lang="en-US" sz="1700" dirty="0">
                <a:solidFill>
                  <a:schemeClr val="tx1"/>
                </a:solidFill>
              </a:rPr>
              <a:t>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 Mindmap: de wereld van de verhuur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la carte mentale </a:t>
            </a:r>
            <a:r>
              <a:rPr lang="en-US" sz="1600" b="1" i="1" dirty="0">
                <a:solidFill>
                  <a:schemeClr val="accent5"/>
                </a:solidFill>
              </a:rPr>
              <a:t>de mémoire</a:t>
            </a:r>
            <a:r>
              <a:rPr lang="en-US" sz="1600" i="1" dirty="0">
                <a:solidFill>
                  <a:schemeClr val="accent5"/>
                </a:solidFill>
              </a:rPr>
              <a:t> : seul 3 min, puis en binôme. Objectif : </a:t>
            </a:r>
            <a:r>
              <a:rPr lang="en-US" sz="1600" b="1" i="1" dirty="0">
                <a:solidFill>
                  <a:schemeClr val="accent5"/>
                </a:solidFill>
              </a:rPr>
              <a:t>5 mots par branche</a:t>
            </a:r>
            <a:r>
              <a:rPr lang="en-US" sz="1600" i="1" dirty="0">
                <a:solidFill>
                  <a:schemeClr val="accent5"/>
                </a:solidFill>
              </a:rPr>
              <a:t>. Réactivez le palier 5 (branches DE WONING et HET GELD).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663440"/>
                <a:gridCol w="3776472"/>
              </a:tblGrid>
              <a:tr h="505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BRANCHE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DÉJÀ DANS LE LIVRET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VOS MOTS (MIN. 5)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711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a. DE MENSEN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huurder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verhuurder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kandidaat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loodgieter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711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b. DE DOCUMENTEN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huurcontract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plaatsbeschrijving · </a:t>
                      </a:r>
                      <a:r>
                        <a:rPr lang="en-US" sz="17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attest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711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c. HET GELD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waarborg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maandelijkse huur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kosten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herstelling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711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d. DE ACTIVITEITEN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verhuren · opzeggen · herstellen · de meterstanden opnemen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7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e. DE PROBLEMEN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lek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schade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klacht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Notez toujours l’</a:t>
            </a:r>
            <a:r>
              <a:rPr lang="en-US" sz="1500" b="1" i="1" dirty="0">
                <a:solidFill>
                  <a:schemeClr val="accent5"/>
                </a:solidFill>
              </a:rPr>
              <a:t>article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b="1" i="1" dirty="0">
                <a:solidFill>
                  <a:schemeClr val="accent2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ou </a:t>
            </a:r>
            <a:r>
              <a:rPr lang="en-US" sz="1500" b="1" i="1" dirty="0">
                <a:solidFill>
                  <a:schemeClr val="accent4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! La banque de mots suit.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Woordenschat : le lexique de la location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4–5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06040"/>
                <a:gridCol w="2926080"/>
                <a:gridCol w="2633472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huurder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locataire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herstelling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réparation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verhuurder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bailleur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lek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fuite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kandidaat-huurder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candidat locataire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schade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dommage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medehuurder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colocataire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klacht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plainte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eigenaar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propriétaire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meterstanden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les relevés de compteurs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huurcontract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contrat de bail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verzekering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l’assurance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plaatsbeschrijving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l’état des lieux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verhuren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mettre en location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waarborg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garantie locative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huren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prendre en location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maandelijkse huur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loyer mensuel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opzeggen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résilier (séparable)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kosten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les frais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 meterstanden opnemen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relever les compteurs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Quatre pièges du lexique de la location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80193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À RETENIR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huren ≠ verhuren</a:t>
            </a:r>
            <a:r>
              <a:rPr lang="en-US" sz="1800" dirty="0">
                <a:solidFill>
                  <a:schemeClr val="tx1"/>
                </a:solidFill>
              </a:rPr>
              <a:t> : le locataire </a:t>
            </a:r>
            <a:r>
              <a:rPr lang="en-US" sz="1800" i="1" dirty="0">
                <a:solidFill>
                  <a:schemeClr val="tx1"/>
                </a:solidFill>
              </a:rPr>
              <a:t>huurt</a:t>
            </a:r>
            <a:r>
              <a:rPr lang="en-US" sz="1800" dirty="0">
                <a:solidFill>
                  <a:schemeClr val="tx1"/>
                </a:solidFill>
              </a:rPr>
              <a:t>, le bailleur </a:t>
            </a:r>
            <a:r>
              <a:rPr lang="en-US" sz="1800" i="1" dirty="0">
                <a:solidFill>
                  <a:schemeClr val="tx1"/>
                </a:solidFill>
              </a:rPr>
              <a:t>verhuurt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opzeggen</a:t>
            </a:r>
            <a:r>
              <a:rPr lang="en-US" sz="1800" dirty="0">
                <a:solidFill>
                  <a:schemeClr val="tx1"/>
                </a:solidFill>
              </a:rPr>
              <a:t> est </a:t>
            </a:r>
            <a:r>
              <a:rPr lang="en-US" sz="1800" b="1" dirty="0">
                <a:solidFill>
                  <a:schemeClr val="tx1"/>
                </a:solidFill>
              </a:rPr>
              <a:t>séparable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De huurder zegt het contract op.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plaatsbeschrijving</a:t>
            </a:r>
            <a:r>
              <a:rPr lang="en-US" sz="1800" dirty="0">
                <a:solidFill>
                  <a:schemeClr val="tx1"/>
                </a:solidFill>
              </a:rPr>
              <a:t> = plaats + beschrijving = l’état des lieux.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waarborg ≠ verzekering</a:t>
            </a:r>
            <a:r>
              <a:rPr lang="en-US" sz="1800" dirty="0">
                <a:solidFill>
                  <a:schemeClr val="tx1"/>
                </a:solidFill>
              </a:rPr>
              <a:t> : la garantie locative n’est pas l’assurance.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 Collocaties van de beheerder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Reliez chaque nom au </a:t>
            </a:r>
            <a:r>
              <a:rPr lang="en-US" sz="1600" b="1" i="1" dirty="0">
                <a:solidFill>
                  <a:schemeClr val="accent5"/>
                </a:solidFill>
              </a:rPr>
              <a:t>verbe du métier</a:t>
            </a:r>
            <a:r>
              <a:rPr lang="en-US" sz="1600" i="1" dirty="0">
                <a:solidFill>
                  <a:schemeClr val="accent5"/>
                </a:solidFill>
              </a:rPr>
              <a:t> (un verbe = une seule fois). Trois verbes sont </a:t>
            </a:r>
            <a:r>
              <a:rPr lang="en-US" sz="1600" b="1" i="1" dirty="0">
                <a:solidFill>
                  <a:schemeClr val="accent5"/>
                </a:solidFill>
              </a:rPr>
              <a:t>séparables</a:t>
            </a:r>
            <a:r>
              <a:rPr lang="en-US" sz="1600" i="1" dirty="0">
                <a:solidFill>
                  <a:schemeClr val="accent5"/>
                </a:solidFill>
              </a:rPr>
              <a:t> : rappelez-vous le palier 3. Seul · 5 min.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480560"/>
                <a:gridCol w="640080"/>
                <a:gridCol w="5239512"/>
              </a:tblGrid>
              <a:tr h="5961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NOM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→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VERBE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waarborg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huurcontract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plaatsbeschrijving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meterstanden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maandelijkse huur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een klacht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Phrases : </a:t>
            </a:r>
            <a:r>
              <a:rPr lang="en-US" sz="1500" i="1" dirty="0">
                <a:solidFill>
                  <a:schemeClr val="accent5"/>
                </a:solidFill>
              </a:rPr>
              <a:t>De huurder </a:t>
            </a:r>
            <a:r>
              <a:rPr lang="en-US" sz="1500" b="1" i="1" dirty="0">
                <a:solidFill>
                  <a:schemeClr val="accent5"/>
                </a:solidFill>
              </a:rPr>
              <a:t>zegt</a:t>
            </a:r>
            <a:r>
              <a:rPr lang="en-US" sz="1500" i="1" dirty="0">
                <a:solidFill>
                  <a:schemeClr val="accent5"/>
                </a:solidFill>
              </a:rPr>
              <a:t> het contract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. · Wij </a:t>
            </a:r>
            <a:r>
              <a:rPr lang="en-US" sz="1500" b="1" i="1" dirty="0">
                <a:solidFill>
                  <a:schemeClr val="accent5"/>
                </a:solidFill>
              </a:rPr>
              <a:t>stellen</a:t>
            </a:r>
            <a:r>
              <a:rPr lang="en-US" sz="1500" i="1" dirty="0">
                <a:solidFill>
                  <a:schemeClr val="accent5"/>
                </a:solidFill>
              </a:rPr>
              <a:t> de plaatsbeschrijving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. · Ik </a:t>
            </a:r>
            <a:r>
              <a:rPr lang="en-US" sz="1500" b="1" i="1" dirty="0">
                <a:solidFill>
                  <a:schemeClr val="accent5"/>
                </a:solidFill>
              </a:rPr>
              <a:t>neem</a:t>
            </a:r>
            <a:r>
              <a:rPr lang="en-US" sz="1500" i="1" dirty="0">
                <a:solidFill>
                  <a:schemeClr val="accent5"/>
                </a:solidFill>
              </a:rPr>
              <a:t> de meterstanden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 Collocaties van de beheerder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Reliez chaque nom au </a:t>
            </a:r>
            <a:r>
              <a:rPr lang="en-US" sz="1600" b="1" i="1" dirty="0">
                <a:solidFill>
                  <a:schemeClr val="accent5"/>
                </a:solidFill>
              </a:rPr>
              <a:t>verbe du métier</a:t>
            </a:r>
            <a:r>
              <a:rPr lang="en-US" sz="1600" i="1" dirty="0">
                <a:solidFill>
                  <a:schemeClr val="accent5"/>
                </a:solidFill>
              </a:rPr>
              <a:t> (un verbe = une seule fois). Trois verbes sont </a:t>
            </a:r>
            <a:r>
              <a:rPr lang="en-US" sz="1600" b="1" i="1" dirty="0">
                <a:solidFill>
                  <a:schemeClr val="accent5"/>
                </a:solidFill>
              </a:rPr>
              <a:t>séparables</a:t>
            </a:r>
            <a:r>
              <a:rPr lang="en-US" sz="1600" i="1" dirty="0">
                <a:solidFill>
                  <a:schemeClr val="accent5"/>
                </a:solidFill>
              </a:rPr>
              <a:t> : rappelez-vous le palier 3. Seul · 5 min.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480560"/>
                <a:gridCol w="640080"/>
                <a:gridCol w="5239512"/>
              </a:tblGrid>
              <a:tr h="5961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NOM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→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VERBE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waarborg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storten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huurcontract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opzeggen (séparable)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plaatsbeschrijving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opstellen (séparable)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meterstanden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opnemen (séparable)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maandelijkse huur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betalen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een klacht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behandelen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Phrases : </a:t>
            </a:r>
            <a:r>
              <a:rPr lang="en-US" sz="1500" i="1" dirty="0">
                <a:solidFill>
                  <a:schemeClr val="accent5"/>
                </a:solidFill>
              </a:rPr>
              <a:t>De huurder </a:t>
            </a:r>
            <a:r>
              <a:rPr lang="en-US" sz="1500" b="1" i="1" dirty="0">
                <a:solidFill>
                  <a:schemeClr val="accent5"/>
                </a:solidFill>
              </a:rPr>
              <a:t>zegt</a:t>
            </a:r>
            <a:r>
              <a:rPr lang="en-US" sz="1500" i="1" dirty="0">
                <a:solidFill>
                  <a:schemeClr val="accent5"/>
                </a:solidFill>
              </a:rPr>
              <a:t> het contract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. · Wij </a:t>
            </a:r>
            <a:r>
              <a:rPr lang="en-US" sz="1500" b="1" i="1" dirty="0">
                <a:solidFill>
                  <a:schemeClr val="accent5"/>
                </a:solidFill>
              </a:rPr>
              <a:t>stellen</a:t>
            </a:r>
            <a:r>
              <a:rPr lang="en-US" sz="1500" i="1" dirty="0">
                <a:solidFill>
                  <a:schemeClr val="accent5"/>
                </a:solidFill>
              </a:rPr>
              <a:t> de plaatsbeschrijving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. · Ik </a:t>
            </a:r>
            <a:r>
              <a:rPr lang="en-US" sz="1500" b="1" i="1" dirty="0">
                <a:solidFill>
                  <a:schemeClr val="accent5"/>
                </a:solidFill>
              </a:rPr>
              <a:t>neem</a:t>
            </a:r>
            <a:r>
              <a:rPr lang="en-US" sz="1500" i="1" dirty="0">
                <a:solidFill>
                  <a:schemeClr val="accent5"/>
                </a:solidFill>
              </a:rPr>
              <a:t> de meterstanden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 Luisteren: de voicemail van meneer De Smet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3883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Vous entendez </a:t>
            </a:r>
            <a:r>
              <a:rPr lang="en-US" sz="1600" b="1" i="1" dirty="0">
                <a:solidFill>
                  <a:schemeClr val="accent5"/>
                </a:solidFill>
              </a:rPr>
              <a:t>deux fois</a:t>
            </a:r>
            <a:r>
              <a:rPr lang="en-US" sz="1600" i="1" dirty="0">
                <a:solidFill>
                  <a:schemeClr val="accent5"/>
                </a:solidFill>
              </a:rPr>
              <a:t> le message vocal du locataire de la Waversesteenweg (lu par le professeur — transcription n° 1). Complétez la </a:t>
            </a:r>
            <a:r>
              <a:rPr lang="en-US" sz="1600" b="1" i="1" dirty="0">
                <a:solidFill>
                  <a:schemeClr val="accent5"/>
                </a:solidFill>
              </a:rPr>
              <a:t>klachtenfiche</a:t>
            </a:r>
            <a:r>
              <a:rPr lang="en-US" sz="1600" i="1" dirty="0">
                <a:solidFill>
                  <a:schemeClr val="accent5"/>
                </a:solidFill>
              </a:rPr>
              <a:t> : mots-clés uniquement · seul · 10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414016"/>
            <a:ext cx="738835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Klachtenfiche — Immo Van Damme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a. Naam van de huurder + adres →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b. Wat is het probleem? →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c. Sinds wanneer? →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d. Wat heeft de huurder al gedaan? →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e. Wat vraagt hij aan het kantoor? →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f. Bereikbaar wanneer / op welk nummer? →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endParaRPr lang="en-US" sz="2200" dirty="0"/>
          </a:p>
        </p:txBody>
      </p:sp>
      <p:sp>
        <p:nvSpPr>
          <p:cNvPr id="8" name="aside"/>
          <p:cNvSpPr/>
          <p:nvPr/>
        </p:nvSpPr>
        <p:spPr>
          <a:xfrm>
            <a:off x="8257032" y="1481328"/>
            <a:ext cx="3383280" cy="4809744"/>
          </a:xfrm>
          <a:prstGeom prst="roundRect">
            <a:avLst>
              <a:gd name="adj" fmla="val 2162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823960" y="16367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ÉCOUTE · 2 FOIS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21624" y="2075688"/>
            <a:ext cx="305409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1re écoute</a:t>
            </a:r>
            <a:r>
              <a:rPr lang="en-US" sz="1800" dirty="0">
                <a:solidFill>
                  <a:schemeClr val="tx1"/>
                </a:solidFill>
              </a:rPr>
              <a:t> : qui, quoi, où 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2e écoute</a:t>
            </a:r>
            <a:r>
              <a:rPr lang="en-US" sz="1800" dirty="0">
                <a:solidFill>
                  <a:schemeClr val="tx1"/>
                </a:solidFill>
              </a:rPr>
              <a:t> : points c à f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Mots-clés seulement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Comparez avec votre voisin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Correction : selon le texte lu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1: de kandidaat-huurder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Jeu de rôle · </a:t>
            </a:r>
            <a:r>
              <a:rPr lang="en-US" sz="1800" b="1" dirty="0">
                <a:solidFill>
                  <a:schemeClr val="tx1"/>
                </a:solidFill>
              </a:rPr>
              <a:t>2 rondes de 5 minutes</a:t>
            </a:r>
            <a:r>
              <a:rPr lang="en-US" sz="1800" dirty="0">
                <a:solidFill>
                  <a:schemeClr val="tx1"/>
                </a:solidFill>
              </a:rPr>
              <a:t>, rôles inversés, nouvelle carte à chaque ronde. L’observateur coche : questions correctes · reformulation · lexique de la location · registre formel.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5225796" cy="4069080"/>
          </a:xfrm>
          <a:prstGeom prst="roundRect">
            <a:avLst>
              <a:gd name="adj" fmla="val 2247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2316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35915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A — De makelaar (u-vorm !)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044952"/>
            <a:ext cx="47685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Présentez le bien</a:t>
            </a:r>
            <a:r>
              <a:rPr lang="en-US" sz="1700" dirty="0">
                <a:solidFill>
                  <a:schemeClr val="tx1"/>
                </a:solidFill>
              </a:rPr>
              <a:t> (deux relatives : </a:t>
            </a:r>
            <a:r>
              <a:rPr lang="en-US" sz="1700" i="1" dirty="0">
                <a:solidFill>
                  <a:schemeClr val="tx1"/>
                </a:solidFill>
              </a:rPr>
              <a:t>een appartement dat…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4 questions</a:t>
            </a:r>
            <a:r>
              <a:rPr lang="en-US" sz="1700" dirty="0">
                <a:solidFill>
                  <a:schemeClr val="tx1"/>
                </a:solidFill>
              </a:rPr>
              <a:t> au moins : revenus, situation, date d’entrée, animaux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Expliquez la </a:t>
            </a:r>
            <a:r>
              <a:rPr lang="en-US" sz="1700" b="1" dirty="0">
                <a:solidFill>
                  <a:schemeClr val="tx1"/>
                </a:solidFill>
              </a:rPr>
              <a:t>waarborg</a:t>
            </a:r>
            <a:r>
              <a:rPr lang="en-US" sz="1700" dirty="0">
                <a:solidFill>
                  <a:schemeClr val="tx1"/>
                </a:solidFill>
              </a:rPr>
              <a:t> et la </a:t>
            </a:r>
            <a:r>
              <a:rPr lang="en-US" sz="1700" b="1" dirty="0">
                <a:solidFill>
                  <a:schemeClr val="tx1"/>
                </a:solidFill>
              </a:rPr>
              <a:t>plaatsbeschrijving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Une </a:t>
            </a:r>
            <a:r>
              <a:rPr lang="en-US" sz="1700" b="1" dirty="0">
                <a:solidFill>
                  <a:schemeClr val="tx1"/>
                </a:solidFill>
              </a:rPr>
              <a:t>condition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tenzij / als</a:t>
            </a:r>
            <a:r>
              <a:rPr lang="en-US" sz="1700" dirty="0">
                <a:solidFill>
                  <a:schemeClr val="tx1"/>
                </a:solidFill>
              </a:rPr>
              <a:t>) et une </a:t>
            </a:r>
            <a:r>
              <a:rPr lang="en-US" sz="1700" b="1" dirty="0">
                <a:solidFill>
                  <a:schemeClr val="tx1"/>
                </a:solidFill>
              </a:rPr>
              <a:t>reformulation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Dus u zoekt…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Concluez : </a:t>
            </a:r>
            <a:r>
              <a:rPr lang="en-US" sz="1700" i="1" dirty="0">
                <a:solidFill>
                  <a:schemeClr val="tx1"/>
                </a:solidFill>
              </a:rPr>
              <a:t>Wij laten u iets weten zodra…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414516" y="2221992"/>
            <a:ext cx="5225796" cy="4069080"/>
          </a:xfrm>
          <a:prstGeom prst="roundRect">
            <a:avLst>
              <a:gd name="adj" fmla="val 2247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4231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35915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B — De kandidaat-huurder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3044952"/>
            <a:ext cx="47685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Vous voulez l’appartement : </a:t>
            </a:r>
            <a:r>
              <a:rPr lang="en-US" sz="1700" b="1" dirty="0">
                <a:solidFill>
                  <a:schemeClr val="tx1"/>
                </a:solidFill>
              </a:rPr>
              <a:t>répondez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Deux questions</a:t>
            </a:r>
            <a:r>
              <a:rPr lang="en-US" sz="1700" dirty="0">
                <a:solidFill>
                  <a:schemeClr val="tx1"/>
                </a:solidFill>
              </a:rPr>
              <a:t>, dont une avec </a:t>
            </a:r>
            <a:r>
              <a:rPr lang="en-US" sz="1700" b="1" dirty="0">
                <a:solidFill>
                  <a:schemeClr val="tx1"/>
                </a:solidFill>
              </a:rPr>
              <a:t>waar + préposition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Waarvoor dient de waarborg?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Carte ① l’étudiant au budget serré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Carte ② la famille avec un chien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Carte ③ la colocation de trois amis (</a:t>
            </a:r>
            <a:r>
              <a:rPr lang="en-US" sz="1700" i="1" dirty="0">
                <a:solidFill>
                  <a:schemeClr val="tx1"/>
                </a:solidFill>
              </a:rPr>
              <a:t>de medehuurders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838444" y="4000500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40005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1 : phrases-modèles pour la makelaar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481328"/>
            <a:ext cx="738835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Présenter le bien (relatives)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Dit is een appartement </a:t>
            </a:r>
            <a:r>
              <a:rPr lang="en-US" sz="1800" b="1" dirty="0">
                <a:solidFill>
                  <a:schemeClr val="tx1"/>
                </a:solidFill>
              </a:rPr>
              <a:t>dat</a:t>
            </a:r>
            <a:r>
              <a:rPr lang="en-US" sz="1800" dirty="0">
                <a:solidFill>
                  <a:schemeClr val="tx1"/>
                </a:solidFill>
              </a:rPr>
              <a:t> twee slaapkamers heeft. · Het is een buurt </a:t>
            </a:r>
            <a:r>
              <a:rPr lang="en-US" sz="1800" b="1" dirty="0">
                <a:solidFill>
                  <a:schemeClr val="tx1"/>
                </a:solidFill>
              </a:rPr>
              <a:t>waar</a:t>
            </a:r>
            <a:r>
              <a:rPr lang="en-US" sz="1800" dirty="0">
                <a:solidFill>
                  <a:schemeClr val="tx1"/>
                </a:solidFill>
              </a:rPr>
              <a:t> veel jonge gezinnen wonen.</a:t>
            </a:r>
            <a:endParaRPr lang="en-US" sz="18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Questions (u-vorm)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Hebt u een vast inkomen? · Vanaf wanneer wilt u het appartement huren? · Hebt u huisdieren?</a:t>
            </a:r>
            <a:endParaRPr lang="en-US" sz="18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Garantie, état des lieux, condition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 stort de waarborg op een geblokkeerde rekening. · Voordat u intrekt, stellen wij samen de plaatsbeschrijving op.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 mag een kleine hond hebben, </a:t>
            </a:r>
            <a:r>
              <a:rPr lang="en-US" sz="1800" b="1" dirty="0">
                <a:solidFill>
                  <a:schemeClr val="tx1"/>
                </a:solidFill>
              </a:rPr>
              <a:t>tenzij</a:t>
            </a:r>
            <a:r>
              <a:rPr lang="en-US" sz="1800" dirty="0">
                <a:solidFill>
                  <a:schemeClr val="tx1"/>
                </a:solidFill>
              </a:rPr>
              <a:t> de eigenaar bezwaar maakt.</a:t>
            </a:r>
            <a:endParaRPr lang="en-US" sz="18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Reformuler et conclure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Dus u zoekt een appartement met twee slaapkamers? · Wij laten u iets weten </a:t>
            </a:r>
            <a:r>
              <a:rPr lang="en-US" sz="1800" b="1" dirty="0">
                <a:solidFill>
                  <a:schemeClr val="tx1"/>
                </a:solidFill>
              </a:rPr>
              <a:t>zodra</a:t>
            </a:r>
            <a:r>
              <a:rPr lang="en-US" sz="1800" dirty="0">
                <a:solidFill>
                  <a:schemeClr val="tx1"/>
                </a:solidFill>
              </a:rPr>
              <a:t> wij de eigenaar gesproken hebben.</a:t>
            </a:r>
            <a:endParaRPr lang="en-US" sz="1800" dirty="0"/>
          </a:p>
        </p:txBody>
      </p:sp>
      <p:sp>
        <p:nvSpPr>
          <p:cNvPr id="8" name="aside"/>
          <p:cNvSpPr/>
          <p:nvPr/>
        </p:nvSpPr>
        <p:spPr>
          <a:xfrm>
            <a:off x="8257032" y="1481328"/>
            <a:ext cx="3383280" cy="4809744"/>
          </a:xfrm>
          <a:prstGeom prst="roundRect">
            <a:avLst>
              <a:gd name="adj" fmla="val 2162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823960" y="16367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21624" y="2075688"/>
            <a:ext cx="305409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4 questions</a:t>
            </a:r>
            <a:r>
              <a:rPr lang="en-US" sz="1800" dirty="0">
                <a:solidFill>
                  <a:schemeClr val="tx1"/>
                </a:solidFill>
              </a:rPr>
              <a:t> correctes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Reformulation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Dus u zoekt…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Lexique : </a:t>
            </a:r>
            <a:r>
              <a:rPr lang="en-US" sz="1800" b="1" dirty="0">
                <a:solidFill>
                  <a:schemeClr val="tx1"/>
                </a:solidFill>
              </a:rPr>
              <a:t>waarborg · plaatsbeschrijving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u-vorm</a:t>
            </a:r>
            <a:r>
              <a:rPr lang="en-US" sz="1800" dirty="0">
                <a:solidFill>
                  <a:schemeClr val="tx1"/>
                </a:solidFill>
              </a:rPr>
              <a:t> partout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 relatives · 1 condition · </a:t>
            </a:r>
            <a:r>
              <a:rPr lang="en-US" sz="1800" i="1" dirty="0">
                <a:solidFill>
                  <a:schemeClr val="tx1"/>
                </a:solidFill>
              </a:rPr>
              <a:t>zodra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D1 Lenen, huren of uitlenen?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Dagelijks leven · Spreken. </a:t>
            </a:r>
            <a:r>
              <a:rPr lang="en-US" sz="1600" b="1" i="1" dirty="0">
                <a:solidFill>
                  <a:schemeClr val="accent5"/>
                </a:solidFill>
              </a:rPr>
              <a:t>Lenen</a:t>
            </a:r>
            <a:r>
              <a:rPr lang="en-US" sz="1600" i="1" dirty="0">
                <a:solidFill>
                  <a:schemeClr val="accent5"/>
                </a:solidFill>
              </a:rPr>
              <a:t> (emprunter / prêter) et </a:t>
            </a:r>
            <a:r>
              <a:rPr lang="en-US" sz="1600" b="1" i="1" dirty="0">
                <a:solidFill>
                  <a:schemeClr val="accent5"/>
                </a:solidFill>
              </a:rPr>
              <a:t>huren</a:t>
            </a:r>
            <a:r>
              <a:rPr lang="en-US" sz="1600" i="1" dirty="0">
                <a:solidFill>
                  <a:schemeClr val="accent5"/>
                </a:solidFill>
              </a:rPr>
              <a:t> : même lexique que le gestionnaire (waarborg, huurprijs, schade), autre décor.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ZO ZEG JE DAT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iets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lenen van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iemand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emprunter quelque chose à quelqu’un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iets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(uit)lenen aan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iemand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prêter quelque chose à quelqu’un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een bestelwagen huren voor een dag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louer une camionnette pour une journée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een boek verlengen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prolonger le prêt d’un livre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Mag ik je ladder even lenen?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peux t’emprunter ton échelle ?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Geen probleem, hoor!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Pas de souci ! (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hoor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adoucit)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Ik breng hem zondag terug, beloofd!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te la rends dimanche, promis !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Piège pour francophones : </a:t>
            </a:r>
            <a:r>
              <a:rPr lang="en-US" sz="1500" b="1" i="1" dirty="0">
                <a:solidFill>
                  <a:schemeClr val="accent5"/>
                </a:solidFill>
              </a:rPr>
              <a:t>lenen</a:t>
            </a:r>
            <a:r>
              <a:rPr lang="en-US" sz="1500" i="1" dirty="0">
                <a:solidFill>
                  <a:schemeClr val="accent5"/>
                </a:solidFill>
              </a:rPr>
              <a:t> = emprunter ET prêter — la préposition tranche : </a:t>
            </a:r>
            <a:r>
              <a:rPr lang="en-US" sz="1500" i="1" dirty="0">
                <a:solidFill>
                  <a:schemeClr val="accent5"/>
                </a:solidFill>
              </a:rPr>
              <a:t>lenen </a:t>
            </a:r>
            <a:r>
              <a:rPr lang="en-US" sz="1500" b="1" i="1" dirty="0">
                <a:solidFill>
                  <a:schemeClr val="accent5"/>
                </a:solidFill>
              </a:rPr>
              <a:t>van</a:t>
            </a:r>
            <a:r>
              <a:rPr lang="en-US" sz="1500" i="1" dirty="0">
                <a:solidFill>
                  <a:schemeClr val="accent5"/>
                </a:solidFill>
              </a:rPr>
              <a:t> ≠ </a:t>
            </a:r>
            <a:r>
              <a:rPr lang="en-US" sz="1500" i="1" dirty="0">
                <a:solidFill>
                  <a:schemeClr val="accent5"/>
                </a:solidFill>
              </a:rPr>
              <a:t>lenen </a:t>
            </a:r>
            <a:r>
              <a:rPr lang="en-US" sz="1500" b="1" i="1" dirty="0">
                <a:solidFill>
                  <a:schemeClr val="accent5"/>
                </a:solidFill>
              </a:rPr>
              <a:t>aan</a:t>
            </a:r>
            <a:r>
              <a:rPr lang="en-US" sz="1500" i="1" dirty="0">
                <a:solidFill>
                  <a:schemeClr val="accent5"/>
                </a:solidFill>
              </a:rPr>
              <a:t>. </a:t>
            </a:r>
            <a:r>
              <a:rPr lang="en-US" sz="1500" b="1" i="1" dirty="0">
                <a:solidFill>
                  <a:schemeClr val="accent5"/>
                </a:solidFill>
              </a:rPr>
              <a:t>uitlenen</a:t>
            </a:r>
            <a:r>
              <a:rPr lang="en-US" sz="1500" i="1" dirty="0">
                <a:solidFill>
                  <a:schemeClr val="accent5"/>
                </a:solidFill>
              </a:rPr>
              <a:t> = seulement prêter : </a:t>
            </a:r>
            <a:r>
              <a:rPr lang="en-US" sz="1500" i="1" dirty="0">
                <a:solidFill>
                  <a:schemeClr val="accent5"/>
                </a:solidFill>
              </a:rPr>
              <a:t>Ik leen mijn fiets nooit uit.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D1 Rollenspel: lenen en huren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Rondes de </a:t>
            </a:r>
            <a:r>
              <a:rPr lang="en-US" sz="1800" b="1" dirty="0">
                <a:solidFill>
                  <a:schemeClr val="tx1"/>
                </a:solidFill>
              </a:rPr>
              <a:t>4 minutes</a:t>
            </a:r>
            <a:r>
              <a:rPr lang="en-US" sz="1800" dirty="0">
                <a:solidFill>
                  <a:schemeClr val="tx1"/>
                </a:solidFill>
              </a:rPr>
              <a:t>, rôles inversés. L’observateur coche : </a:t>
            </a:r>
            <a:r>
              <a:rPr lang="en-US" sz="1800" i="1" dirty="0">
                <a:solidFill>
                  <a:schemeClr val="tx1"/>
                </a:solidFill>
              </a:rPr>
              <a:t>lenen · uitlenen · huren</a:t>
            </a:r>
            <a:r>
              <a:rPr lang="en-US" sz="1800" dirty="0">
                <a:solidFill>
                  <a:schemeClr val="tx1"/>
                </a:solidFill>
              </a:rPr>
              <a:t> bien employés. Cartes : ① chez les voisins, une échelle (</a:t>
            </a:r>
            <a:r>
              <a:rPr lang="en-US" sz="1800" i="1" dirty="0">
                <a:solidFill>
                  <a:schemeClr val="tx1"/>
                </a:solidFill>
              </a:rPr>
              <a:t>de dakgoot</a:t>
            </a:r>
            <a:r>
              <a:rPr lang="en-US" sz="1800" dirty="0">
                <a:solidFill>
                  <a:schemeClr val="tx1"/>
                </a:solidFill>
              </a:rPr>
              <a:t>) · ② à la </a:t>
            </a:r>
            <a:r>
              <a:rPr lang="en-US" sz="1800" i="1" dirty="0">
                <a:solidFill>
                  <a:schemeClr val="tx1"/>
                </a:solidFill>
              </a:rPr>
              <a:t>bib</a:t>
            </a:r>
            <a:r>
              <a:rPr lang="en-US" sz="1800" dirty="0">
                <a:solidFill>
                  <a:schemeClr val="tx1"/>
                </a:solidFill>
              </a:rPr>
              <a:t>, un livre à prolonger · ③ au comptoir de location, une camionnette.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496312"/>
            <a:ext cx="5225796" cy="2868168"/>
          </a:xfrm>
          <a:prstGeom prst="roundRect">
            <a:avLst>
              <a:gd name="adj" fmla="val 3188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974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63347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A — Wie iets nodig heeft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19272"/>
            <a:ext cx="4768596" cy="1908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Demandez</a:t>
            </a:r>
            <a:r>
              <a:rPr lang="en-US" sz="1600" dirty="0">
                <a:solidFill>
                  <a:schemeClr val="tx1"/>
                </a:solidFill>
              </a:rPr>
              <a:t>, expliquez pourquoi, </a:t>
            </a:r>
            <a:r>
              <a:rPr lang="en-US" sz="1600" b="1" dirty="0">
                <a:solidFill>
                  <a:schemeClr val="tx1"/>
                </a:solidFill>
              </a:rPr>
              <a:t>promettez</a:t>
            </a:r>
            <a:r>
              <a:rPr lang="en-US" sz="1600" dirty="0">
                <a:solidFill>
                  <a:schemeClr val="tx1"/>
                </a:solidFill>
              </a:rPr>
              <a:t> une date de retour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Une </a:t>
            </a:r>
            <a:r>
              <a:rPr lang="en-US" sz="1600" b="1" dirty="0">
                <a:solidFill>
                  <a:schemeClr val="tx1"/>
                </a:solidFill>
              </a:rPr>
              <a:t>relative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een ladder die lang genoeg is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 verbe </a:t>
            </a:r>
            <a:r>
              <a:rPr lang="en-US" sz="1600" b="1" dirty="0">
                <a:solidFill>
                  <a:schemeClr val="tx1"/>
                </a:solidFill>
              </a:rPr>
              <a:t>terugbrengen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14516" y="2496312"/>
            <a:ext cx="5225796" cy="2868168"/>
          </a:xfrm>
          <a:prstGeom prst="roundRect">
            <a:avLst>
              <a:gd name="adj" fmla="val 3188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69748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63347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B — De buur · de bibliothecaris · de verhuurder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3319272"/>
            <a:ext cx="4768596" cy="1908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Acceptez sous conditions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Waarvoor heb je hem nodig?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Une condition (</a:t>
            </a:r>
            <a:r>
              <a:rPr lang="en-US" sz="1600" i="1" dirty="0">
                <a:solidFill>
                  <a:schemeClr val="tx1"/>
                </a:solidFill>
              </a:rPr>
              <a:t>op voorwaarde dat · tenzij</a:t>
            </a:r>
            <a:r>
              <a:rPr lang="en-US" sz="1600" dirty="0">
                <a:solidFill>
                  <a:schemeClr val="tx1"/>
                </a:solidFill>
              </a:rPr>
              <a:t>), une durée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Lexique de l’argent (</a:t>
            </a:r>
            <a:r>
              <a:rPr lang="en-US" sz="1600" i="1" dirty="0">
                <a:solidFill>
                  <a:schemeClr val="tx1"/>
                </a:solidFill>
              </a:rPr>
              <a:t>de waarborg, de huurprijs</a:t>
            </a:r>
            <a:r>
              <a:rPr lang="en-US" sz="1600" dirty="0">
                <a:solidFill>
                  <a:schemeClr val="tx1"/>
                </a:solidFill>
              </a:rPr>
              <a:t>) si c’est payant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Autonomie</a:t>
            </a:r>
            <a:r>
              <a:rPr lang="en-US" sz="1600" dirty="0">
                <a:solidFill>
                  <a:schemeClr val="tx1"/>
                </a:solidFill>
              </a:rPr>
              <a:t> : après les 3 cartes, une situation </a:t>
            </a:r>
            <a:r>
              <a:rPr lang="en-US" sz="1600" b="1" dirty="0">
                <a:solidFill>
                  <a:schemeClr val="tx1"/>
                </a:solidFill>
              </a:rPr>
              <a:t>vraiment vécue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838444" y="3674364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36743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Modèle — </a:t>
            </a:r>
            <a:r>
              <a:rPr lang="en-US" sz="1700" i="1" dirty="0">
                <a:solidFill>
                  <a:schemeClr val="tx1"/>
                </a:solidFill>
              </a:rPr>
              <a:t>Mag ik je ladder even lenen? Ik heb hem nodig voor de dakgoot. — Geen probleem, op voorwaarde dat je hem zondag terugbrengt.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Huren, verhuren, lenen of uitlenen?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la bonne forme de </a:t>
            </a:r>
            <a:r>
              <a:rPr lang="en-US" sz="1600" i="1" dirty="0">
                <a:solidFill>
                  <a:schemeClr val="accent5"/>
                </a:solidFill>
              </a:rPr>
              <a:t>huren · verhuren · lenen · uitlenen</a:t>
            </a:r>
            <a:r>
              <a:rPr lang="en-US" sz="1600" i="1" dirty="0">
                <a:solidFill>
                  <a:schemeClr val="accent5"/>
                </a:solidFill>
              </a:rPr>
              <a:t>. Seul · 4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Voor de verhuizing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ik een bestelwagen voor zaterdag.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Mevrouw Dubois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haar appartement in Elsene.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Mag ik je ladder even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?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Ik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mijn fiets nooit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De bib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boeken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aan haar leden.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De huurder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het appartement, de eigenaar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het.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Huren, verhuren, lenen of uitlenen?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la bonne forme de </a:t>
            </a:r>
            <a:r>
              <a:rPr lang="en-US" sz="1600" i="1" dirty="0">
                <a:solidFill>
                  <a:schemeClr val="accent5"/>
                </a:solidFill>
              </a:rPr>
              <a:t>huren · verhuren · lenen · uitlenen</a:t>
            </a:r>
            <a:r>
              <a:rPr lang="en-US" sz="1600" i="1" dirty="0">
                <a:solidFill>
                  <a:schemeClr val="accent5"/>
                </a:solidFill>
              </a:rPr>
              <a:t>. Seul · 4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Voor de verhuizing </a:t>
            </a:r>
            <a:r>
              <a:rPr lang="en-US" sz="2300" b="1" dirty="0">
                <a:solidFill>
                  <a:schemeClr val="accent3"/>
                </a:solidFill>
              </a:rPr>
              <a:t>huur</a:t>
            </a:r>
            <a:r>
              <a:rPr lang="en-US" sz="2300" dirty="0">
                <a:solidFill>
                  <a:schemeClr val="tx1"/>
                </a:solidFill>
              </a:rPr>
              <a:t> ik een bestelwagen voor zaterdag.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Mevrouw Dubois </a:t>
            </a:r>
            <a:r>
              <a:rPr lang="en-US" sz="2300" b="1" dirty="0">
                <a:solidFill>
                  <a:schemeClr val="accent3"/>
                </a:solidFill>
              </a:rPr>
              <a:t>verhuurt</a:t>
            </a:r>
            <a:r>
              <a:rPr lang="en-US" sz="2300" dirty="0">
                <a:solidFill>
                  <a:schemeClr val="tx1"/>
                </a:solidFill>
              </a:rPr>
              <a:t> haar appartement in Elsene.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Mag ik je ladder even </a:t>
            </a:r>
            <a:r>
              <a:rPr lang="en-US" sz="2300" b="1" dirty="0">
                <a:solidFill>
                  <a:schemeClr val="accent3"/>
                </a:solidFill>
              </a:rPr>
              <a:t>lenen</a:t>
            </a:r>
            <a:r>
              <a:rPr lang="en-US" sz="2300" dirty="0">
                <a:solidFill>
                  <a:schemeClr val="tx1"/>
                </a:solidFill>
              </a:rPr>
              <a:t>?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Ik </a:t>
            </a:r>
            <a:r>
              <a:rPr lang="en-US" sz="2300" b="1" dirty="0">
                <a:solidFill>
                  <a:schemeClr val="accent3"/>
                </a:solidFill>
              </a:rPr>
              <a:t>leen</a:t>
            </a:r>
            <a:r>
              <a:rPr lang="en-US" sz="2300" dirty="0">
                <a:solidFill>
                  <a:schemeClr val="tx1"/>
                </a:solidFill>
              </a:rPr>
              <a:t> mijn fiets nooit </a:t>
            </a:r>
            <a:r>
              <a:rPr lang="en-US" sz="2300" b="1" dirty="0">
                <a:solidFill>
                  <a:schemeClr val="accent3"/>
                </a:solidFill>
              </a:rPr>
              <a:t>uit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De bib </a:t>
            </a:r>
            <a:r>
              <a:rPr lang="en-US" sz="2300" b="1" dirty="0">
                <a:solidFill>
                  <a:schemeClr val="accent3"/>
                </a:solidFill>
              </a:rPr>
              <a:t>leent</a:t>
            </a:r>
            <a:r>
              <a:rPr lang="en-US" sz="2300" dirty="0">
                <a:solidFill>
                  <a:schemeClr val="tx1"/>
                </a:solidFill>
              </a:rPr>
              <a:t> boeken </a:t>
            </a:r>
            <a:r>
              <a:rPr lang="en-US" sz="2300" b="1" dirty="0">
                <a:solidFill>
                  <a:schemeClr val="accent3"/>
                </a:solidFill>
              </a:rPr>
              <a:t>uit</a:t>
            </a:r>
            <a:r>
              <a:rPr lang="en-US" sz="2300" dirty="0">
                <a:solidFill>
                  <a:schemeClr val="tx1"/>
                </a:solidFill>
              </a:rPr>
              <a:t> aan haar leden.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De huurder </a:t>
            </a:r>
            <a:r>
              <a:rPr lang="en-US" sz="2300" b="1" dirty="0">
                <a:solidFill>
                  <a:schemeClr val="accent3"/>
                </a:solidFill>
              </a:rPr>
              <a:t>huurt</a:t>
            </a:r>
            <a:r>
              <a:rPr lang="en-US" sz="2300" dirty="0">
                <a:solidFill>
                  <a:schemeClr val="tx1"/>
                </a:solidFill>
              </a:rPr>
              <a:t> het appartement, de eigenaar </a:t>
            </a:r>
            <a:r>
              <a:rPr lang="en-US" sz="2300" b="1" dirty="0">
                <a:solidFill>
                  <a:schemeClr val="accent3"/>
                </a:solidFill>
              </a:rPr>
              <a:t>verhuurt</a:t>
            </a:r>
            <a:r>
              <a:rPr lang="en-US" sz="2300" dirty="0">
                <a:solidFill>
                  <a:schemeClr val="tx1"/>
                </a:solidFill>
              </a:rPr>
              <a:t> het.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huren</a:t>
            </a:r>
            <a:r>
              <a:rPr lang="en-US" sz="1800" dirty="0">
                <a:solidFill>
                  <a:schemeClr val="tx1"/>
                </a:solidFill>
              </a:rPr>
              <a:t> = prendre en location ; </a:t>
            </a:r>
            <a:r>
              <a:rPr lang="en-US" sz="1800" b="1" dirty="0">
                <a:solidFill>
                  <a:schemeClr val="tx1"/>
                </a:solidFill>
              </a:rPr>
              <a:t>verhuren</a:t>
            </a:r>
            <a:r>
              <a:rPr lang="en-US" sz="1800" dirty="0">
                <a:solidFill>
                  <a:schemeClr val="tx1"/>
                </a:solidFill>
              </a:rPr>
              <a:t> = mettre en location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lenen van</a:t>
            </a:r>
            <a:r>
              <a:rPr lang="en-US" sz="1800" dirty="0">
                <a:solidFill>
                  <a:schemeClr val="tx1"/>
                </a:solidFill>
              </a:rPr>
              <a:t> = emprunter · </a:t>
            </a:r>
            <a:r>
              <a:rPr lang="en-US" sz="1800" b="1" dirty="0">
                <a:solidFill>
                  <a:schemeClr val="tx1"/>
                </a:solidFill>
              </a:rPr>
              <a:t>lenen aan / uitlenen</a:t>
            </a:r>
            <a:r>
              <a:rPr lang="en-US" sz="1800" dirty="0">
                <a:solidFill>
                  <a:schemeClr val="tx1"/>
                </a:solidFill>
              </a:rPr>
              <a:t> = prêter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uitlenen</a:t>
            </a:r>
            <a:r>
              <a:rPr lang="en-US" sz="1800" dirty="0">
                <a:solidFill>
                  <a:schemeClr val="tx1"/>
                </a:solidFill>
              </a:rPr>
              <a:t> est séparable : </a:t>
            </a:r>
            <a:r>
              <a:rPr lang="en-US" sz="1800" i="1" dirty="0">
                <a:solidFill>
                  <a:schemeClr val="tx1"/>
                </a:solidFill>
              </a:rPr>
              <a:t>ik leen … uit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7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l’état des lieux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 Comment décrire un appartement au passé ?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muur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wit, de kraan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druppelde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…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l’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imperfectum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devient actif.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Relire les </a:t>
            </a:r>
            <a:r>
              <a:rPr lang="en-US" sz="1700" b="1" dirty="0">
                <a:solidFill>
                  <a:schemeClr val="tx1"/>
                </a:solidFill>
              </a:rPr>
              <a:t>deux dialogues</a:t>
            </a:r>
            <a:r>
              <a:rPr lang="en-US" sz="1700" dirty="0">
                <a:solidFill>
                  <a:schemeClr val="tx1"/>
                </a:solidFill>
              </a:rPr>
              <a:t> (p. 2 et 2a) à voix haute.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 </a:t>
            </a:r>
            <a:r>
              <a:rPr lang="en-US" sz="1700" b="1" dirty="0">
                <a:solidFill>
                  <a:schemeClr val="tx1"/>
                </a:solidFill>
              </a:rPr>
              <a:t>lexique de la location</a:t>
            </a:r>
            <a:r>
              <a:rPr lang="en-US" sz="1700" dirty="0">
                <a:solidFill>
                  <a:schemeClr val="tx1"/>
                </a:solidFill>
              </a:rPr>
              <a:t> (20 mots, avec de / het).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Terminer la </a:t>
            </a:r>
            <a:r>
              <a:rPr lang="en-US" sz="1700" b="1" dirty="0">
                <a:solidFill>
                  <a:schemeClr val="tx1"/>
                </a:solidFill>
              </a:rPr>
              <a:t>klachtenfiche</a:t>
            </a:r>
            <a:r>
              <a:rPr lang="en-US" sz="1700" dirty="0">
                <a:solidFill>
                  <a:schemeClr val="tx1"/>
                </a:solidFill>
              </a:rPr>
              <a:t> (ex. 3) et préparer 2 questions pour la TAAK 1 (dont une avec </a:t>
            </a:r>
            <a:r>
              <a:rPr lang="en-US" sz="1700" i="1" dirty="0">
                <a:solidFill>
                  <a:schemeClr val="tx1"/>
                </a:solidFill>
              </a:rPr>
              <a:t>waar + préposition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D1 : jouer une situation de prêt </a:t>
            </a:r>
            <a:r>
              <a:rPr lang="en-US" sz="1700" b="1" dirty="0">
                <a:solidFill>
                  <a:schemeClr val="tx1"/>
                </a:solidFill>
              </a:rPr>
              <a:t>vécue</a:t>
            </a:r>
            <a:r>
              <a:rPr lang="en-US" sz="1700" dirty="0">
                <a:solidFill>
                  <a:schemeClr val="tx1"/>
                </a:solidFill>
              </a:rPr>
              <a:t> (rôles inversés).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Dites en néerlandais : « le locataire résilie le contrat » et « le propriétaire loue l’appartement 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B1 vastgoed">
  <a:themeElements>
    <a:clrScheme name="Nederlands B1 vastgoed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B1 vastgo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IRAM — Néerlandais 3 (B1)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06 — De huurmarkt</dc:title>
  <dc:subject>Néerlandais B1 — immobilier et vie quotidienne (Yasmina &amp; Stef)</dc:subject>
  <dc:creator>A. Jouniaux</dc:creator>
  <cp:lastModifiedBy>A. Jouniaux</cp:lastModifiedBy>
  <cp:revision>1</cp:revision>
  <dcterms:created xsi:type="dcterms:W3CDTF">2026-10-03T21:59:51Z</dcterms:created>
  <dcterms:modified xsi:type="dcterms:W3CDTF">2026-10-03T21:59:51Z</dcterms:modified>
</cp:coreProperties>
</file>