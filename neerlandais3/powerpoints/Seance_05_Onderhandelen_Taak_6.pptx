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b742e923-df16-bed9-6776-117162020715}">
          <p14:sldIdLst>
            <p14:sldId id="256"/>
            <p14:sldId id="257"/>
            <p14:sldId id="258"/>
            <p14:sldId id="259"/>
            <p14:sldId id="260"/>
            <p14:sldId id="261"/>
            <p14:sldId id="262"/>
            <p14:sldId id="263"/>
            <p14:sldId id="264"/>
            <p14:sldId id="265"/>
            <p14:sldId id="266"/>
            <p14:sldId id="267"/>
            <p14:sldId id="268"/>
            <p14:sldId id="269"/>
            <p14:sldId id="270"/>
            <p14:sldId id="271"/>
            <p14:sldId id="272"/>
            <p14:sldId id="273"/>
            <p14:sldId id="274"/>
            <p14:sldId id="275"/>
            <p14:sldId id="276"/>
            <p14:sldId id="277"/>
          </p14:sldIdLst>
        </p14:section>
        <p14:section name="Clôture" id="{5e6ba4e8-91b6-7f21-a779-fba033d489a4}">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Séance de clôture du palier 5. Objectifs : maîtriser les trois cas de l’ordre des mots sous pression (deux verbes à la fin, particules qui se ressoudent, inversion après la subordonnée), réécrire un mauvais zoekertje, négocier (TAAK 5, D5), puis lancer la TAAK 6 : un dossier complet de la rentrée du mandat à la stratégie de vente. Les étapes 2 (teamvergadering) et 3 (verslag) peuvent se jouer en début de séance suivante ou à la maison selon le temps.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Durées indicatives sur 90 minutes. La séance couvre les pages 19 à 22a du livret. La TAAK 6 complète dure environ 55 minutes (étape 1 : 25 min ; étape 2 : présentation à deux voix et questions ; étape 3 : verslag 15 min) : lancer l’étape 1 ici ; l’étape 2 peut occuper le début de la séance suivante, et le verslag peut se faire à la maison. La TAAK 6 « variante vie courante » remplace le bien immobilier par un objet à vendre.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4 avec des phrases nouvelles. Item 4 : toen = passé unique (« gisteren »). Item 5 : « bellen er meer klanten » : er est ici le « er » d’existence (pas un adverbe pronominal). Accepter aussi « Als » à l’item 2 uniquement si l’étudiant précise qu’il perd le sens « dès 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Rappel de la séance 4 avec des phrases nouvelles. Item 4 : toen = passé unique (« gisteren »). Item 5 : « bellen er meer klanten » : er est ici le « er » d’existence (pas un adverbe pronominal). Accepter aussi « Als » à l’item 2 uniquement si l’étudiant précise qu’il perd le sens « dès que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Trois cas du livret p. 19 : (1) deux verbes en subordonnée (modal + infinitif, auxiliaire + participe), (2) particules séparables qui se ressoudent (opbellen → ik bel op / zodra ik opbel ; uitbrengen → hij brengt uit / zodra hij uitbrengt), (3) inversion dans la principale après une subordonnée en tête. En négociation, ces trois cas se combinent dans la même phrase : c’est là que l’ordre des mots casse sous la pression.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Lecture des blocs de gauche à droite : après la virgule, la principale reprend avec le verbe (inversion). Les mêmes phrases serviront de corrigé aux items 1 à 4 de l’exercice 10. Pour « Nadat we de woning verkocht hebben », l’ordre « hebben verkocht » est également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Coquille du livret : à l’item 3, le début imprimé « Nadat we ons nieuwe huis mochten intrekken, … » ne correspond pas à la phrase à transformer (« Wij hebben de woning verkocht ») : le corrigé ci-dessus part de la phrase donnée (Nadat we de woning verkocht hebben, …). Si un étudiant complète la phrase imprimée telle quelle, accepter toute suite correcte (Nadat we ons nieuwe huis mochten intrekken, hebben we een feestje gegeven). Item 2 : « opbellen » est séparable (bel … op) ; « uitbrengen » se ressoude dans la subordonnée (uitbrengt). Item 4 : « vasthouden aan » : wil vasthouden (modal + infinitif).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Coquille du livret : à l’item 3, le début imprimé « Nadat we ons nieuwe huis mochten intrekken, … » ne correspond pas à la phrase à transformer (« Wij hebben de woning verkocht ») : le corrigé ci-dessus part de la phrase donnée (Nadat we de woning verkocht hebben, …). Si un étudiant complète la phrase imprimée telle quelle, accepter toute suite correcte (Nadat we ons nieuwe huis mochten intrekken, hebben we een feestje gegeven). Item 2 : « opbellen » est séparable (bel … op) ; « uitbrengen » se ressoude dans la subordonnée (uitbrengt). Item 4 : « vasthouden aan » : wil vasthouden (modal + infinitif).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L’exercice-miroir de votre progression : voici une annonce « palier 1 » (phrases simples juxtaposées). Les étudiants la réécrivent en une annonce professionnelle de 5 à 6 phrases avec au moins deux relatives, un adverbe pronominal, deux subordonnées et un connecteur. Modèle sur la diapositive suivante.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indicatif (5 phrases + titre). Relatives : « een appartement dat … heeft » et « een terras waarop u … kunt genieten » (waar + op). Adverbe pronominal : « daarvoor » (= voor de bezichtiging). Subordonnées : aangezien…, zodra…. Connecteurs : bovendien, kortom. Accepter toute version correcte : le point de contrôle est le verbe en fin de subordonnée et l’inversion dans la principale (raden wij u aan, plannen wij…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Taak 5 : le sommet oral du palier. Deux rondes de 6 minutes ; rôles inversés à la seconde. Chaque étudiant pioche une carte d’objectif secret (diapositive suivante). L’observateur note : subordonnées correctes, connecteurs, gestion de la concession. Imposer les structures du livret : concession, condition, chaîne omdat… zodat…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Cartes d’objectif secret du livret. Pour le professeur : A① et B① se rejoignent entre € 410.000 et € 415.000 (un accord est possible) ; B② (trois semaines de banque) rejoint le thème de la mail de meneer Peeters (séance 4) ; A③ est un bluff autorisé. Ne pas dévoiler les cartes avant la fin des deux rondes.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Phrases utiles pour la TAAK 5. Faire repérer la concession (Hoewel), la condition (als), la chaîne (omdat… zodat…), la question avec waar + préposition (Waarop…) et l’accord conditionnel (op voorwaarde dat). « Goedkeuren » est séparable : de bank keurt de lening goed / dat de bank de lening goedkeurt. Cette diapositive est un ajout hors syllabus.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indicatif (ajout hors syllabus) : A avec l’objectif ① (€ 410.000 minimum) et ③ (bluff : « Er is al een tweede kandidaat »), B avec ① (budget réel € 415.000) et ② (trois semaines de banque). Structures imposées retrouvées : concession (Hoewel…), condition (Als… / tenzij…), chaîne omdat… zodat…, question avec waar + préposition (Waarop…), aangezien. Les étudiants jouent leur propre version avec leur carte.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négociation de la TAAK 5, version samedi matin : pas d’agence, pas de compromis, un vendeur, un acheteur, un objet. Faire répéter le tableau. « Een prikje » : voor een prikje = pour pas cher. « Het verschil delen » : couper la poire en deux (littéralement : partager la différence).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D5 : mêmes structures que la TAAK 5, avec un objet de la vie courante. Cartes d’objectif secret du livret : vendeur ① pas en dessous de € 160, ② déménage demain (il faut vendre aujourd’hui), ③ « un autre acheteur passe à 15 heures » (bluff autorisé) ; acheteur ① budget réel € 160, ② le feu arrière ne fonctionne pas, ③ adore la couleur mais ne le montre pas. « Vossenplein » = place du Jeu de Balle (Bruxelles).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Ajout hors syllabus : dialogue modèle pour la D5, qui réutilise les phrases du tableau (Wat is uw laatste prijs? Kan het iets goedkoper? Ik geef u er … voor. Laten we het verschil delen. Afgesproken!). Structures du palier : concession (Hoewel…), inversion après une subordonnée (Als u vandaag betaalt, krijgt u…), deux verbes à la fin (omdat ik ook nog een helm moet kopen). Remarque : « Onder € 160 ga ik niet » (inversion avec un groupe de prix en tête).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Séquence 5.6 = TAAK 6 : mission finale. Étape 1 (25 min) : lancer en séance ; étape 2 : chaque binôme présente à un autre binôme ; étape 3 : verslag individuel (15 min) — à terminer à la maison si besoin. Le bien est libre (appartement, rijhuis, villa…).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Checklist du livret p. 21 : les minima sont des seuils, pas des plafonds. Circuler pendant les 25 minutes de préparation : faire souligner dans leurs notes les relatives et les subordonnées, vérifier le perfectum (ce qui a déjà été fait : de opdracht is getekend, de advertentie is geschreven…).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Étape 2 : présenter le dossier à deux voix devant un autre binôme, qui joue le gérant et collègue ; puis inverser les rôles. Les réponses ci-dessus sont des modèles : les étudiants répondent avec les données de leur propre dossier. Critères : subordonnées correctes, relatives, un adverbe pronominal (waarmee, erover…), connecteurs. Question 2 : waar + mee → waarmee ; l’infinitif « overtuigen » est à la fin.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Modèle de verslag de 10 phrases, registre formel (troisième personne), structure imposée : Ten eerste (le dossier présenté) → Daarna (les questions et les réponses) → Kortom (la décision et la prochaine étape). Il contient : une relative avec préposition (waarvoor), trois subordonnées (zodra, dat, als / tenzij), un passif (wordt gezet, worden overtuigd), le perfectum. Les productions des étudiants : 8 à 10 phrases. Ce verslag clôt le dossier personnel : six tâches, six preuves.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Pour les étudiants qui préfèrent un dossier de la vie courante : même déroulé, mêmes exigences, avec un objet plutôt qu’un bien immobilier. Les trois questions critiques de l’étape 2 changent : Waarom die prijs ? Waarover hebben jullie onderhandeld ? Wat doe je als de koper niet komt opdagen ? Le berichtje final est écrit en registre informel (jij), à un ami.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Ticket de sortie à l’oral ou sur papier : p. ex. « Ik heb geen tijd, omdat ik het dossier moet voorbereiden » et « Zodra het bod binnen is, bel ik u op / zodra ik u opbel ». Annoncer le palier 6 : Verhuur &amp; beheer (location et 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TLAS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3 · B1 · Yasmina &amp; Stef · Séance 05</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TLAS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3 · B1 · Yasmina &amp; Stef · Séance 05</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TLAS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7315200" cy="320040"/>
          </a:xfrm>
          <a:prstGeom prst="rect">
            <a:avLst/>
          </a:prstGeom>
          <a:noFill/>
          <a:ln/>
        </p:spPr>
        <p:txBody>
          <a:bodyPr wrap="square" lIns="0" tIns="0" rIns="0" bIns="0" rtlCol="0" anchor="ctr"/>
          <a:lstStyle/>
          <a:p>
            <a:pPr indent="0" marL="0">
              <a:buNone/>
            </a:pPr>
            <a:r>
              <a:rPr lang="en-US" sz="1200" dirty="0">
                <a:solidFill>
                  <a:schemeClr val="bg2"/>
                </a:solidFill>
              </a:rPr>
              <a:t>Néerlandais 3 · B1 · A. Jouniaux · IRAM — Enseignement pour adultes</a:t>
            </a:r>
            <a:endParaRPr lang="en-US" sz="1200" dirty="0"/>
          </a:p>
        </p:txBody>
      </p:sp>
      <p:sp>
        <p:nvSpPr>
          <p:cNvPr id="3" name="Text 1"/>
          <p:cNvSpPr/>
          <p:nvPr>
            <p:ph idx="101" type="title" hasCustomPrompt="1"/>
          </p:nvPr>
        </p:nvSpPr>
        <p:spPr>
          <a:xfrm>
            <a:off x="548640" y="1874520"/>
            <a:ext cx="576072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1"/>
          <p:cNvSpPr/>
          <p:nvPr>
            <p:ph idx="102" type="body" hasCustomPrompt="1"/>
          </p:nvPr>
        </p:nvSpPr>
        <p:spPr>
          <a:xfrm>
            <a:off x="548640" y="3794760"/>
            <a:ext cx="5760720" cy="1371600"/>
          </a:xfrm>
          <a:prstGeom prst="rect">
            <a:avLst/>
          </a:prstGeom>
          <a:noFill/>
          <a:ln/>
        </p:spPr>
        <p:txBody>
          <a:bodyPr wrap="square" rtlCol="0"/>
          <a:lstStyle>
            <a:lvl1pPr algn="l" indent="0" marL="0">
              <a:buNone/>
              <a:defRPr lang="en-US" sz="1800" dirty="0">
                <a:solidFill>
                  <a:schemeClr val="bg2"/>
                </a:solidFill>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2.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2.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3.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369820"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chemeClr val="bg1"/>
                </a:solidFill>
              </a:rPr>
              <a:t>SÉANCE 05 / 19</a:t>
            </a:r>
            <a:endParaRPr lang="en-US" sz="1400" dirty="0"/>
          </a:p>
        </p:txBody>
      </p:sp>
      <p:sp>
        <p:nvSpPr>
          <p:cNvPr id="3" name="Text 1"/>
          <p:cNvSpPr txBox="1"/>
          <p:nvPr/>
        </p:nvSpPr>
        <p:spPr>
          <a:xfrm>
            <a:off x="548640" y="1188720"/>
            <a:ext cx="2377440" cy="777240"/>
          </a:xfrm>
          <a:prstGeom prst="rect">
            <a:avLst/>
          </a:prstGeom>
          <a:noFill/>
          <a:ln/>
        </p:spPr>
        <p:txBody>
          <a:bodyPr wrap="square" lIns="0" tIns="0" rIns="0" bIns="0" rtlCol="0" anchor="t"/>
          <a:lstStyle/>
          <a:p>
            <a:pPr indent="0" marL="0">
              <a:buNone/>
            </a:pPr>
            <a:r>
              <a:rPr lang="en-US" sz="1300" b="1" spc="200" kern="0" dirty="0">
                <a:solidFill>
                  <a:schemeClr val="bg2"/>
                </a:solidFill>
              </a:rPr>
              <a:t>SÉQUENCE</a:t>
            </a:r>
            <a:endParaRPr lang="en-US" sz="1300" dirty="0"/>
          </a:p>
          <a:p>
            <a:pPr indent="0" marL="0">
              <a:buNone/>
            </a:pPr>
            <a:r>
              <a:rPr lang="en-US" sz="3000" b="1" dirty="0">
                <a:solidFill>
                  <a:schemeClr val="bg1"/>
                </a:solidFill>
                <a:latin typeface="+mj-lt" pitchFamily="34" charset="0"/>
                <a:ea typeface="+mj-lt" pitchFamily="34" charset="-122"/>
                <a:cs typeface="+mj-lt" pitchFamily="34" charset="-120"/>
              </a:rPr>
              <a:t>5.5–5.6</a:t>
            </a:r>
            <a:endParaRPr lang="en-US" sz="1300" dirty="0"/>
          </a:p>
        </p:txBody>
      </p:sp>
      <p:sp>
        <p:nvSpPr>
          <p:cNvPr id="4" name="Text 1"/>
          <p:cNvSpPr/>
          <p:nvPr>
            <p:ph idx="101" type="title" hasCustomPrompt="1"/>
          </p:nvPr>
        </p:nvSpPr>
        <p:spPr>
          <a:xfrm>
            <a:off x="548640" y="1874520"/>
            <a:ext cx="5760720" cy="1737360"/>
          </a:xfrm>
          <a:prstGeom prst="rect">
            <a:avLst/>
          </a:prstGeom>
          <a:noFill/>
          <a:ln/>
        </p:spPr>
        <p:txBody>
          <a:bodyPr wrap="square" lIns="0" tIns="0" rIns="0" bIns="0" rtlCol="0" anchor="b"/>
          <a:lstStyle/>
          <a:p>
            <a:pPr algn="l" indent="0" marL="0">
              <a:buNone/>
            </a:pPr>
            <a:r>
              <a:rPr lang="en-US" sz="4000" b="1" dirty="0">
                <a:solidFill>
                  <a:schemeClr val="bg1"/>
                </a:solidFill>
              </a:rPr>
              <a:t>Onderhandelen en eindtaak</a:t>
            </a:r>
            <a:endParaRPr lang="en-US" sz="4000" dirty="0"/>
          </a:p>
        </p:txBody>
      </p:sp>
      <p:sp>
        <p:nvSpPr>
          <p:cNvPr id="5" name="Text 1"/>
          <p:cNvSpPr/>
          <p:nvPr>
            <p:ph idx="102" type="body" hasCustomPrompt="1"/>
          </p:nvPr>
        </p:nvSpPr>
        <p:spPr>
          <a:xfrm>
            <a:off x="548640" y="3794760"/>
            <a:ext cx="5760720" cy="1371600"/>
          </a:xfrm>
          <a:prstGeom prst="rect">
            <a:avLst/>
          </a:prstGeom>
          <a:noFill/>
          <a:ln/>
        </p:spPr>
        <p:txBody>
          <a:bodyPr wrap="square" lIns="0" tIns="0" rIns="0" bIns="0" rtlCol="0" anchor="t"/>
          <a:lstStyle/>
          <a:p>
            <a:pPr algn="l" indent="0" marL="0">
              <a:spcAft>
                <a:spcPts val="1000"/>
              </a:spcAft>
              <a:buNone/>
            </a:pPr>
            <a:r>
              <a:rPr lang="en-US" sz="1800" i="1" dirty="0">
                <a:solidFill>
                  <a:schemeClr val="bg2"/>
                </a:solidFill>
              </a:rPr>
              <a:t>L’ordre des mots, niveau supérieur — et le dossier complet (TAAK 6)</a:t>
            </a:r>
            <a:endParaRPr lang="en-US" sz="1800" dirty="0"/>
          </a:p>
          <a:p>
            <a:pPr algn="l" indent="0" marL="0">
              <a:buNone/>
            </a:pPr>
            <a:r>
              <a:rPr lang="en-US" sz="1800" b="1" dirty="0">
                <a:solidFill>
                  <a:schemeClr val="bg2"/>
                </a:solidFill>
              </a:rPr>
              <a:t>Palier 5 · Van opdracht tot verkoop</a:t>
            </a:r>
            <a:endParaRPr lang="en-US" sz="1800" dirty="0"/>
          </a:p>
          <a:p>
            <a:pPr algn="l" indent="0" marL="0">
              <a:buNone/>
            </a:pPr>
            <a:r>
              <a:rPr lang="en-US" sz="1800" dirty="0">
                <a:solidFill>
                  <a:schemeClr val="bg2"/>
                </a:solidFill>
              </a:rPr>
              <a:t>Livret p. 19–22a</a:t>
            </a:r>
            <a:endParaRPr lang="en-US" sz="1800" dirty="0"/>
          </a:p>
        </p:txBody>
      </p:sp>
      <p:pic>
        <p:nvPicPr>
          <p:cNvPr id="6" name="illustration" descr="Illustration du syllabus">    </p:cNvPr>
          <p:cNvPicPr>
            <a:picLocks noChangeAspect="1"/>
          </p:cNvPicPr>
          <p:nvPr/>
        </p:nvPicPr>
        <p:blipFill>
          <a:blip r:embed="rId1"/>
          <a:stretch>
            <a:fillRect/>
          </a:stretch>
        </p:blipFill>
        <p:spPr>
          <a:xfrm>
            <a:off x="6583680" y="1722120"/>
            <a:ext cx="5120640" cy="3413760"/>
          </a:xfrm>
          <a:prstGeom prst="rect">
            <a:avLst/>
          </a:prstGeom>
          <a:effectLst>
            <a:outerShdw sx="100000" sy="100000" kx="0" ky="0" algn="bl" rotWithShape="0" blurRad="101600" dist="25400" dir="3600000">
              <a:srgbClr val="000000">
                <a:alpha val="1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Mission du jour</a:t>
            </a:r>
            <a:endParaRPr lang="en-US" sz="3200" dirty="0"/>
          </a:p>
        </p:txBody>
      </p:sp>
      <p:sp>
        <p:nvSpPr>
          <p:cNvPr id="3" name="tag"/>
          <p:cNvSpPr/>
          <p:nvPr/>
        </p:nvSpPr>
        <p:spPr>
          <a:xfrm>
            <a:off x="548640" y="237744"/>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PLAN</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19–22a</a:t>
            </a:r>
            <a:endParaRPr lang="en-US" sz="1200" dirty="0"/>
          </a:p>
        </p:txBody>
      </p:sp>
      <p:sp>
        <p:nvSpPr>
          <p:cNvPr id="6" name="Shape 3"/>
          <p:cNvSpPr/>
          <p:nvPr/>
        </p:nvSpPr>
        <p:spPr>
          <a:xfrm>
            <a:off x="548640" y="1508760"/>
            <a:ext cx="5257800" cy="1463040"/>
          </a:xfrm>
          <a:prstGeom prst="roundRect">
            <a:avLst>
              <a:gd name="adj" fmla="val 5000"/>
            </a:avLst>
          </a:prstGeom>
          <a:solidFill>
            <a:schemeClr val="bg2"/>
          </a:solidFill>
          <a:ln w="9525">
            <a:solidFill>
              <a:srgbClr val="D5DCE6"/>
            </a:solidFill>
            <a:prstDash val="solid"/>
          </a:ln>
        </p:spPr>
      </p:sp>
      <p:sp>
        <p:nvSpPr>
          <p:cNvPr id="7" name="Shape 4"/>
          <p:cNvSpPr/>
          <p:nvPr/>
        </p:nvSpPr>
        <p:spPr>
          <a:xfrm>
            <a:off x="749808" y="1709928"/>
            <a:ext cx="566928" cy="566928"/>
          </a:xfrm>
          <a:prstGeom prst="ellipse">
            <a:avLst/>
          </a:prstGeom>
          <a:solidFill>
            <a:schemeClr val="accent1"/>
          </a:solidFill>
          <a:ln/>
        </p:spPr>
      </p:sp>
      <p:pic>
        <p:nvPicPr>
          <p:cNvPr id="8" name="Image 0" descr="preencoded.png">    </p:cNvPr>
          <p:cNvPicPr>
            <a:picLocks noChangeAspect="1"/>
          </p:cNvPicPr>
          <p:nvPr/>
        </p:nvPicPr>
        <p:blipFill>
          <a:blip r:embed="rId1"/>
          <a:stretch>
            <a:fillRect/>
          </a:stretch>
        </p:blipFill>
        <p:spPr>
          <a:xfrm>
            <a:off x="886968" y="1847088"/>
            <a:ext cx="292608" cy="292608"/>
          </a:xfrm>
          <a:prstGeom prst="rect">
            <a:avLst/>
          </a:prstGeom>
        </p:spPr>
      </p:pic>
      <p:sp>
        <p:nvSpPr>
          <p:cNvPr id="9" name="Text 5"/>
          <p:cNvSpPr txBox="1"/>
          <p:nvPr/>
        </p:nvSpPr>
        <p:spPr>
          <a:xfrm>
            <a:off x="1481328" y="1655064"/>
            <a:ext cx="4160520" cy="292608"/>
          </a:xfrm>
          <a:prstGeom prst="rect">
            <a:avLst/>
          </a:prstGeom>
          <a:noFill/>
          <a:ln/>
        </p:spPr>
        <p:txBody>
          <a:bodyPr wrap="square" lIns="0" tIns="0" rIns="0" bIns="0" rtlCol="0" anchor="ctr"/>
          <a:lstStyle/>
          <a:p>
            <a:pPr indent="0" marL="0">
              <a:buNone/>
            </a:pPr>
            <a:r>
              <a:rPr lang="en-US" sz="1200" b="1" spc="100" kern="0" dirty="0">
                <a:solidFill>
                  <a:schemeClr val="accent1"/>
                </a:solidFill>
              </a:rPr>
              <a:t>EN FIN DE SÉANCE, JE SAIS…</a:t>
            </a:r>
            <a:endParaRPr lang="en-US" sz="1200" dirty="0"/>
          </a:p>
        </p:txBody>
      </p:sp>
      <p:sp>
        <p:nvSpPr>
          <p:cNvPr id="10" name="Text 6"/>
          <p:cNvSpPr txBox="1"/>
          <p:nvPr/>
        </p:nvSpPr>
        <p:spPr>
          <a:xfrm>
            <a:off x="1481328" y="1947672"/>
            <a:ext cx="4160520" cy="932688"/>
          </a:xfrm>
          <a:prstGeom prst="rect">
            <a:avLst/>
          </a:prstGeom>
          <a:noFill/>
          <a:ln/>
        </p:spPr>
        <p:txBody>
          <a:bodyPr wrap="square" lIns="0" tIns="0" rIns="0" bIns="0" rtlCol="0" anchor="t"/>
          <a:lstStyle/>
          <a:p>
            <a:pPr indent="0" marL="0">
              <a:buNone/>
            </a:pPr>
            <a:r>
              <a:rPr lang="en-US" sz="1500" dirty="0">
                <a:solidFill>
                  <a:schemeClr val="tx1"/>
                </a:solidFill>
              </a:rPr>
              <a:t>Enchaîner </a:t>
            </a:r>
            <a:r>
              <a:rPr lang="en-US" sz="1500" b="1" dirty="0">
                <a:solidFill>
                  <a:schemeClr val="tx1"/>
                </a:solidFill>
              </a:rPr>
              <a:t>deux verbes à la fin, particules et inversion</a:t>
            </a:r>
            <a:r>
              <a:rPr lang="en-US" sz="1500" dirty="0">
                <a:solidFill>
                  <a:schemeClr val="tx1"/>
                </a:solidFill>
              </a:rPr>
              <a:t>, </a:t>
            </a:r>
            <a:r>
              <a:rPr lang="en-US" sz="1500" b="1" dirty="0">
                <a:solidFill>
                  <a:schemeClr val="tx1"/>
                </a:solidFill>
              </a:rPr>
              <a:t>négocier</a:t>
            </a:r>
            <a:r>
              <a:rPr lang="en-US" sz="1500" dirty="0">
                <a:solidFill>
                  <a:schemeClr val="tx1"/>
                </a:solidFill>
              </a:rPr>
              <a:t> un prix en phrases complexes et </a:t>
            </a:r>
            <a:r>
              <a:rPr lang="en-US" sz="1500" b="1" dirty="0">
                <a:solidFill>
                  <a:schemeClr val="tx1"/>
                </a:solidFill>
              </a:rPr>
              <a:t>assembler un dossier complet</a:t>
            </a:r>
            <a:r>
              <a:rPr lang="en-US" sz="1500" dirty="0">
                <a:solidFill>
                  <a:schemeClr val="tx1"/>
                </a:solidFill>
              </a:rPr>
              <a:t> (TAAK 6).</a:t>
            </a:r>
            <a:endParaRPr lang="en-US" sz="1500" dirty="0"/>
          </a:p>
        </p:txBody>
      </p:sp>
      <p:sp>
        <p:nvSpPr>
          <p:cNvPr id="11" name="Shape 7"/>
          <p:cNvSpPr/>
          <p:nvPr/>
        </p:nvSpPr>
        <p:spPr>
          <a:xfrm>
            <a:off x="548640" y="3136392"/>
            <a:ext cx="5257800" cy="1463040"/>
          </a:xfrm>
          <a:prstGeom prst="roundRect">
            <a:avLst>
              <a:gd name="adj" fmla="val 5000"/>
            </a:avLst>
          </a:prstGeom>
          <a:solidFill>
            <a:schemeClr val="bg2"/>
          </a:solidFill>
          <a:ln w="9525">
            <a:solidFill>
              <a:srgbClr val="D5DCE6"/>
            </a:solidFill>
            <a:prstDash val="solid"/>
          </a:ln>
        </p:spPr>
      </p:sp>
      <p:sp>
        <p:nvSpPr>
          <p:cNvPr id="12" name="Shape 8"/>
          <p:cNvSpPr/>
          <p:nvPr/>
        </p:nvSpPr>
        <p:spPr>
          <a:xfrm>
            <a:off x="749808" y="3337560"/>
            <a:ext cx="566928" cy="566928"/>
          </a:xfrm>
          <a:prstGeom prst="ellipse">
            <a:avLst/>
          </a:prstGeom>
          <a:solidFill>
            <a:schemeClr val="accent2"/>
          </a:solidFill>
          <a:ln/>
        </p:spPr>
      </p:sp>
      <p:pic>
        <p:nvPicPr>
          <p:cNvPr id="13" name="Image 1" descr="preencoded.png">    </p:cNvPr>
          <p:cNvPicPr>
            <a:picLocks noChangeAspect="1"/>
          </p:cNvPicPr>
          <p:nvPr/>
        </p:nvPicPr>
        <p:blipFill>
          <a:blip r:embed="rId2"/>
          <a:stretch>
            <a:fillRect/>
          </a:stretch>
        </p:blipFill>
        <p:spPr>
          <a:xfrm>
            <a:off x="886968" y="3474720"/>
            <a:ext cx="292608" cy="292608"/>
          </a:xfrm>
          <a:prstGeom prst="rect">
            <a:avLst/>
          </a:prstGeom>
        </p:spPr>
      </p:pic>
      <p:sp>
        <p:nvSpPr>
          <p:cNvPr id="14" name="Text 9"/>
          <p:cNvSpPr txBox="1"/>
          <p:nvPr/>
        </p:nvSpPr>
        <p:spPr>
          <a:xfrm>
            <a:off x="1481328" y="3282696"/>
            <a:ext cx="4160520" cy="292608"/>
          </a:xfrm>
          <a:prstGeom prst="rect">
            <a:avLst/>
          </a:prstGeom>
          <a:noFill/>
          <a:ln/>
        </p:spPr>
        <p:txBody>
          <a:bodyPr wrap="square" lIns="0" tIns="0" rIns="0" bIns="0" rtlCol="0" anchor="ctr"/>
          <a:lstStyle/>
          <a:p>
            <a:pPr indent="0" marL="0">
              <a:buNone/>
            </a:pPr>
            <a:r>
              <a:rPr lang="en-US" sz="1200" b="1" spc="100" kern="0" dirty="0">
                <a:solidFill>
                  <a:schemeClr val="accent2"/>
                </a:solidFill>
              </a:rPr>
              <a:t>LANGUE CIBLE</a:t>
            </a:r>
            <a:endParaRPr lang="en-US" sz="1200" dirty="0"/>
          </a:p>
        </p:txBody>
      </p:sp>
      <p:sp>
        <p:nvSpPr>
          <p:cNvPr id="15" name="Text 10"/>
          <p:cNvSpPr txBox="1"/>
          <p:nvPr/>
        </p:nvSpPr>
        <p:spPr>
          <a:xfrm>
            <a:off x="1481328" y="3575304"/>
            <a:ext cx="4160520" cy="932688"/>
          </a:xfrm>
          <a:prstGeom prst="rect">
            <a:avLst/>
          </a:prstGeom>
          <a:noFill/>
          <a:ln/>
        </p:spPr>
        <p:txBody>
          <a:bodyPr wrap="square" lIns="0" tIns="0" rIns="0" bIns="0" rtlCol="0" anchor="t"/>
          <a:lstStyle/>
          <a:p>
            <a:pPr indent="0" marL="0">
              <a:buNone/>
            </a:pPr>
            <a:r>
              <a:rPr lang="en-US" sz="1800" i="1" dirty="0">
                <a:solidFill>
                  <a:schemeClr val="tx1"/>
                </a:solidFill>
              </a:rPr>
              <a:t>Hoewel ik uw punt begrijp,… · We kunnen erover praten, tenzij… · Laten we het verschil delen · Afgesproken!</a:t>
            </a:r>
            <a:endParaRPr lang="en-US" sz="1800" dirty="0"/>
          </a:p>
        </p:txBody>
      </p:sp>
      <p:sp>
        <p:nvSpPr>
          <p:cNvPr id="16" name="Shape 11"/>
          <p:cNvSpPr/>
          <p:nvPr/>
        </p:nvSpPr>
        <p:spPr>
          <a:xfrm>
            <a:off x="548640" y="4764024"/>
            <a:ext cx="5257800" cy="1463040"/>
          </a:xfrm>
          <a:prstGeom prst="roundRect">
            <a:avLst>
              <a:gd name="adj" fmla="val 5000"/>
            </a:avLst>
          </a:prstGeom>
          <a:solidFill>
            <a:schemeClr val="bg2"/>
          </a:solidFill>
          <a:ln w="9525">
            <a:solidFill>
              <a:srgbClr val="D5DCE6"/>
            </a:solidFill>
            <a:prstDash val="solid"/>
          </a:ln>
        </p:spPr>
      </p:sp>
      <p:sp>
        <p:nvSpPr>
          <p:cNvPr id="17" name="Shape 12"/>
          <p:cNvSpPr/>
          <p:nvPr/>
        </p:nvSpPr>
        <p:spPr>
          <a:xfrm>
            <a:off x="749808" y="4965192"/>
            <a:ext cx="566928" cy="566928"/>
          </a:xfrm>
          <a:prstGeom prst="ellipse">
            <a:avLst/>
          </a:prstGeom>
          <a:solidFill>
            <a:schemeClr val="accent3"/>
          </a:solidFill>
          <a:ln/>
        </p:spPr>
      </p:sp>
      <p:pic>
        <p:nvPicPr>
          <p:cNvPr id="18" name="Image 2" descr="preencoded.png">    </p:cNvPr>
          <p:cNvPicPr>
            <a:picLocks noChangeAspect="1"/>
          </p:cNvPicPr>
          <p:nvPr/>
        </p:nvPicPr>
        <p:blipFill>
          <a:blip r:embed="rId3"/>
          <a:stretch>
            <a:fillRect/>
          </a:stretch>
        </p:blipFill>
        <p:spPr>
          <a:xfrm>
            <a:off x="886968" y="5102352"/>
            <a:ext cx="292608" cy="292608"/>
          </a:xfrm>
          <a:prstGeom prst="rect">
            <a:avLst/>
          </a:prstGeom>
        </p:spPr>
      </p:pic>
      <p:sp>
        <p:nvSpPr>
          <p:cNvPr id="19" name="Text 13"/>
          <p:cNvSpPr txBox="1"/>
          <p:nvPr/>
        </p:nvSpPr>
        <p:spPr>
          <a:xfrm>
            <a:off x="1481328" y="4910328"/>
            <a:ext cx="4160520" cy="292608"/>
          </a:xfrm>
          <a:prstGeom prst="rect">
            <a:avLst/>
          </a:prstGeom>
          <a:noFill/>
          <a:ln/>
        </p:spPr>
        <p:txBody>
          <a:bodyPr wrap="square" lIns="0" tIns="0" rIns="0" bIns="0" rtlCol="0" anchor="ctr"/>
          <a:lstStyle/>
          <a:p>
            <a:pPr indent="0" marL="0">
              <a:buNone/>
            </a:pPr>
            <a:r>
              <a:rPr lang="en-US" sz="1200" b="1" spc="100" kern="0" dirty="0">
                <a:solidFill>
                  <a:schemeClr val="accent3"/>
                </a:solidFill>
              </a:rPr>
              <a:t>COMPÉTENCES</a:t>
            </a:r>
            <a:endParaRPr lang="en-US" sz="1200" dirty="0"/>
          </a:p>
        </p:txBody>
      </p:sp>
      <p:sp>
        <p:nvSpPr>
          <p:cNvPr id="20" name="Text 14"/>
          <p:cNvSpPr txBox="1"/>
          <p:nvPr/>
        </p:nvSpPr>
        <p:spPr>
          <a:xfrm>
            <a:off x="1481328" y="5202936"/>
            <a:ext cx="4160520" cy="932688"/>
          </a:xfrm>
          <a:prstGeom prst="rect">
            <a:avLst/>
          </a:prstGeom>
          <a:noFill/>
          <a:ln/>
        </p:spPr>
        <p:txBody>
          <a:bodyPr wrap="square" lIns="0" tIns="0" rIns="0" bIns="0" rtlCol="0" anchor="t"/>
          <a:lstStyle/>
          <a:p>
            <a:pPr indent="0" marL="0">
              <a:buNone/>
            </a:pPr>
            <a:r>
              <a:rPr lang="en-US" sz="1600" dirty="0">
                <a:solidFill>
                  <a:schemeClr val="tx1"/>
                </a:solidFill>
              </a:rPr>
              <a:t>Transformer en subordonnée · réécrire une annonce · négocier à l’oral · préparer et présenter un dossier · rédiger un compte rendu</a:t>
            </a:r>
            <a:endParaRPr lang="en-US" sz="1600" dirty="0"/>
          </a:p>
        </p:txBody>
      </p:sp>
      <p:sp>
        <p:nvSpPr>
          <p:cNvPr id="21" name="Text 15"/>
          <p:cNvSpPr txBox="1"/>
          <p:nvPr/>
        </p:nvSpPr>
        <p:spPr>
          <a:xfrm>
            <a:off x="6263640" y="1463040"/>
            <a:ext cx="3657600" cy="320040"/>
          </a:xfrm>
          <a:prstGeom prst="rect">
            <a:avLst/>
          </a:prstGeom>
          <a:noFill/>
          <a:ln/>
        </p:spPr>
        <p:txBody>
          <a:bodyPr wrap="square" lIns="0" tIns="0" rIns="0" bIns="0" rtlCol="0" anchor="ctr"/>
          <a:lstStyle/>
          <a:p>
            <a:pPr indent="0" marL="0">
              <a:buNone/>
            </a:pPr>
            <a:r>
              <a:rPr lang="en-US" sz="1300" b="1" spc="200" kern="0" dirty="0">
                <a:solidFill>
                  <a:schemeClr val="accent5"/>
                </a:solidFill>
              </a:rPr>
              <a:t>DÉROULÉ</a:t>
            </a:r>
            <a:endParaRPr lang="en-US" sz="1300" dirty="0"/>
          </a:p>
        </p:txBody>
      </p:sp>
      <p:sp>
        <p:nvSpPr>
          <p:cNvPr id="22" name="Text 16"/>
          <p:cNvSpPr txBox="1"/>
          <p:nvPr/>
        </p:nvSpPr>
        <p:spPr>
          <a:xfrm>
            <a:off x="8897112" y="1463040"/>
            <a:ext cx="2743200" cy="320040"/>
          </a:xfrm>
          <a:prstGeom prst="rect">
            <a:avLst/>
          </a:prstGeom>
          <a:noFill/>
          <a:ln/>
        </p:spPr>
        <p:txBody>
          <a:bodyPr wrap="square" lIns="0" tIns="0" rIns="0" bIns="0" rtlCol="0" anchor="ctr"/>
          <a:lstStyle/>
          <a:p>
            <a:pPr algn="r" indent="0" marL="0">
              <a:buNone/>
            </a:pPr>
            <a:r>
              <a:rPr lang="en-US" sz="1200" i="1" dirty="0">
                <a:solidFill>
                  <a:schemeClr val="accent5"/>
                </a:solidFill>
              </a:rPr>
              <a:t>≈ 90 min (indicatif)</a:t>
            </a:r>
            <a:endParaRPr lang="en-US" sz="1200" dirty="0"/>
          </a:p>
        </p:txBody>
      </p:sp>
      <p:sp>
        <p:nvSpPr>
          <p:cNvPr id="23" name="Shape 17"/>
          <p:cNvSpPr/>
          <p:nvPr/>
        </p:nvSpPr>
        <p:spPr>
          <a:xfrm>
            <a:off x="6263640" y="1959674"/>
            <a:ext cx="384048" cy="384048"/>
          </a:xfrm>
          <a:prstGeom prst="ellipse">
            <a:avLst/>
          </a:prstGeom>
          <a:solidFill>
            <a:schemeClr val="tx2"/>
          </a:solidFill>
          <a:ln/>
        </p:spPr>
      </p:sp>
      <p:sp>
        <p:nvSpPr>
          <p:cNvPr id="24" name="Text 18"/>
          <p:cNvSpPr txBox="1"/>
          <p:nvPr/>
        </p:nvSpPr>
        <p:spPr>
          <a:xfrm>
            <a:off x="6263640" y="195967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5" name="Text 19"/>
          <p:cNvSpPr txBox="1"/>
          <p:nvPr/>
        </p:nvSpPr>
        <p:spPr>
          <a:xfrm>
            <a:off x="6784848" y="1874520"/>
            <a:ext cx="4114800" cy="554355"/>
          </a:xfrm>
          <a:prstGeom prst="rect">
            <a:avLst/>
          </a:prstGeom>
          <a:noFill/>
          <a:ln/>
        </p:spPr>
        <p:txBody>
          <a:bodyPr wrap="square" lIns="0" tIns="0" rIns="0" bIns="0" rtlCol="0" anchor="ctr"/>
          <a:lstStyle/>
          <a:p>
            <a:pPr indent="0" marL="0">
              <a:buNone/>
            </a:pPr>
            <a:r>
              <a:rPr lang="en-US" sz="1600" dirty="0">
                <a:solidFill>
                  <a:schemeClr val="tx1"/>
                </a:solidFill>
              </a:rPr>
              <a:t>Rappel de la séance 4</a:t>
            </a:r>
            <a:endParaRPr lang="en-US" sz="1600" dirty="0"/>
          </a:p>
        </p:txBody>
      </p:sp>
      <p:sp>
        <p:nvSpPr>
          <p:cNvPr id="26" name="Text 20"/>
          <p:cNvSpPr txBox="1"/>
          <p:nvPr/>
        </p:nvSpPr>
        <p:spPr>
          <a:xfrm>
            <a:off x="10972800" y="187452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7" name="Shape 21"/>
          <p:cNvSpPr/>
          <p:nvPr/>
        </p:nvSpPr>
        <p:spPr>
          <a:xfrm>
            <a:off x="6263640" y="2514029"/>
            <a:ext cx="384048" cy="384048"/>
          </a:xfrm>
          <a:prstGeom prst="ellipse">
            <a:avLst/>
          </a:prstGeom>
          <a:solidFill>
            <a:schemeClr val="tx2"/>
          </a:solidFill>
          <a:ln/>
        </p:spPr>
      </p:sp>
      <p:sp>
        <p:nvSpPr>
          <p:cNvPr id="28" name="Text 22"/>
          <p:cNvSpPr txBox="1"/>
          <p:nvPr/>
        </p:nvSpPr>
        <p:spPr>
          <a:xfrm>
            <a:off x="6263640" y="251402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9" name="Text 23"/>
          <p:cNvSpPr txBox="1"/>
          <p:nvPr/>
        </p:nvSpPr>
        <p:spPr>
          <a:xfrm>
            <a:off x="6784848" y="2428875"/>
            <a:ext cx="4114800" cy="554355"/>
          </a:xfrm>
          <a:prstGeom prst="rect">
            <a:avLst/>
          </a:prstGeom>
          <a:noFill/>
          <a:ln/>
        </p:spPr>
        <p:txBody>
          <a:bodyPr wrap="square" lIns="0" tIns="0" rIns="0" bIns="0" rtlCol="0" anchor="ctr"/>
          <a:lstStyle/>
          <a:p>
            <a:pPr indent="0" marL="0">
              <a:buNone/>
            </a:pPr>
            <a:r>
              <a:rPr lang="en-US" sz="1600" dirty="0">
                <a:solidFill>
                  <a:schemeClr val="tx1"/>
                </a:solidFill>
              </a:rPr>
              <a:t>5.5 · trois cas de l’ordre des mots</a:t>
            </a:r>
            <a:endParaRPr lang="en-US" sz="1600" dirty="0"/>
          </a:p>
        </p:txBody>
      </p:sp>
      <p:sp>
        <p:nvSpPr>
          <p:cNvPr id="30" name="Text 24"/>
          <p:cNvSpPr txBox="1"/>
          <p:nvPr/>
        </p:nvSpPr>
        <p:spPr>
          <a:xfrm>
            <a:off x="10972800" y="242887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1" name="Shape 25"/>
          <p:cNvSpPr/>
          <p:nvPr/>
        </p:nvSpPr>
        <p:spPr>
          <a:xfrm>
            <a:off x="6263640" y="3068384"/>
            <a:ext cx="384048" cy="384048"/>
          </a:xfrm>
          <a:prstGeom prst="ellipse">
            <a:avLst/>
          </a:prstGeom>
          <a:solidFill>
            <a:schemeClr val="tx2"/>
          </a:solidFill>
          <a:ln/>
        </p:spPr>
      </p:sp>
      <p:sp>
        <p:nvSpPr>
          <p:cNvPr id="32" name="Text 26"/>
          <p:cNvSpPr txBox="1"/>
          <p:nvPr/>
        </p:nvSpPr>
        <p:spPr>
          <a:xfrm>
            <a:off x="6263640" y="306838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3" name="Text 27"/>
          <p:cNvSpPr txBox="1"/>
          <p:nvPr/>
        </p:nvSpPr>
        <p:spPr>
          <a:xfrm>
            <a:off x="6784848" y="2983230"/>
            <a:ext cx="4114800" cy="554355"/>
          </a:xfrm>
          <a:prstGeom prst="rect">
            <a:avLst/>
          </a:prstGeom>
          <a:noFill/>
          <a:ln/>
        </p:spPr>
        <p:txBody>
          <a:bodyPr wrap="square" lIns="0" tIns="0" rIns="0" bIns="0" rtlCol="0" anchor="ctr"/>
          <a:lstStyle/>
          <a:p>
            <a:pPr indent="0" marL="0">
              <a:buNone/>
            </a:pPr>
            <a:r>
              <a:rPr lang="en-US" sz="1600" dirty="0">
                <a:solidFill>
                  <a:schemeClr val="tx1"/>
                </a:solidFill>
              </a:rPr>
              <a:t>10 Zet om naar een bijzin</a:t>
            </a:r>
            <a:endParaRPr lang="en-US" sz="1600" dirty="0"/>
          </a:p>
        </p:txBody>
      </p:sp>
      <p:sp>
        <p:nvSpPr>
          <p:cNvPr id="34" name="Text 28"/>
          <p:cNvSpPr txBox="1"/>
          <p:nvPr/>
        </p:nvSpPr>
        <p:spPr>
          <a:xfrm>
            <a:off x="10972800" y="298323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5" name="Shape 29"/>
          <p:cNvSpPr/>
          <p:nvPr/>
        </p:nvSpPr>
        <p:spPr>
          <a:xfrm>
            <a:off x="6263640" y="3622738"/>
            <a:ext cx="384048" cy="384048"/>
          </a:xfrm>
          <a:prstGeom prst="ellipse">
            <a:avLst/>
          </a:prstGeom>
          <a:solidFill>
            <a:schemeClr val="tx2"/>
          </a:solidFill>
          <a:ln/>
        </p:spPr>
      </p:sp>
      <p:sp>
        <p:nvSpPr>
          <p:cNvPr id="36" name="Text 30"/>
          <p:cNvSpPr txBox="1"/>
          <p:nvPr/>
        </p:nvSpPr>
        <p:spPr>
          <a:xfrm>
            <a:off x="6263640" y="362273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37" name="Text 31"/>
          <p:cNvSpPr txBox="1"/>
          <p:nvPr/>
        </p:nvSpPr>
        <p:spPr>
          <a:xfrm>
            <a:off x="6784848" y="3537585"/>
            <a:ext cx="4114800" cy="554355"/>
          </a:xfrm>
          <a:prstGeom prst="rect">
            <a:avLst/>
          </a:prstGeom>
          <a:noFill/>
          <a:ln/>
        </p:spPr>
        <p:txBody>
          <a:bodyPr wrap="square" lIns="0" tIns="0" rIns="0" bIns="0" rtlCol="0" anchor="ctr"/>
          <a:lstStyle/>
          <a:p>
            <a:pPr indent="0" marL="0">
              <a:buNone/>
            </a:pPr>
            <a:r>
              <a:rPr lang="en-US" sz="1600" dirty="0">
                <a:solidFill>
                  <a:schemeClr val="tx1"/>
                </a:solidFill>
              </a:rPr>
              <a:t>11 Herschrijf het slechte zoekertje</a:t>
            </a:r>
            <a:endParaRPr lang="en-US" sz="1600" dirty="0"/>
          </a:p>
        </p:txBody>
      </p:sp>
      <p:sp>
        <p:nvSpPr>
          <p:cNvPr id="38" name="Text 32"/>
          <p:cNvSpPr txBox="1"/>
          <p:nvPr/>
        </p:nvSpPr>
        <p:spPr>
          <a:xfrm>
            <a:off x="10972800" y="353758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39" name="Shape 33"/>
          <p:cNvSpPr/>
          <p:nvPr/>
        </p:nvSpPr>
        <p:spPr>
          <a:xfrm>
            <a:off x="6263640" y="4177093"/>
            <a:ext cx="384048" cy="384048"/>
          </a:xfrm>
          <a:prstGeom prst="ellipse">
            <a:avLst/>
          </a:prstGeom>
          <a:solidFill>
            <a:schemeClr val="tx2"/>
          </a:solidFill>
          <a:ln/>
        </p:spPr>
      </p:sp>
      <p:sp>
        <p:nvSpPr>
          <p:cNvPr id="40" name="Text 34"/>
          <p:cNvSpPr txBox="1"/>
          <p:nvPr/>
        </p:nvSpPr>
        <p:spPr>
          <a:xfrm>
            <a:off x="6263640" y="4177093"/>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41" name="Text 35"/>
          <p:cNvSpPr txBox="1"/>
          <p:nvPr/>
        </p:nvSpPr>
        <p:spPr>
          <a:xfrm>
            <a:off x="6784848" y="4091940"/>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5 · De onderhandeling</a:t>
            </a:r>
            <a:endParaRPr lang="en-US" sz="1600" dirty="0"/>
          </a:p>
        </p:txBody>
      </p:sp>
      <p:sp>
        <p:nvSpPr>
          <p:cNvPr id="42" name="Text 36"/>
          <p:cNvSpPr txBox="1"/>
          <p:nvPr/>
        </p:nvSpPr>
        <p:spPr>
          <a:xfrm>
            <a:off x="10972800" y="409194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15'</a:t>
            </a:r>
            <a:endParaRPr lang="en-US" sz="1500" dirty="0"/>
          </a:p>
        </p:txBody>
      </p:sp>
      <p:sp>
        <p:nvSpPr>
          <p:cNvPr id="43" name="Shape 37"/>
          <p:cNvSpPr/>
          <p:nvPr/>
        </p:nvSpPr>
        <p:spPr>
          <a:xfrm>
            <a:off x="6263640" y="4731449"/>
            <a:ext cx="384048" cy="384048"/>
          </a:xfrm>
          <a:prstGeom prst="ellipse">
            <a:avLst/>
          </a:prstGeom>
          <a:solidFill>
            <a:schemeClr val="tx2"/>
          </a:solidFill>
          <a:ln/>
        </p:spPr>
      </p:sp>
      <p:sp>
        <p:nvSpPr>
          <p:cNvPr id="44" name="Text 38"/>
          <p:cNvSpPr txBox="1"/>
          <p:nvPr/>
        </p:nvSpPr>
        <p:spPr>
          <a:xfrm>
            <a:off x="6263640" y="4731449"/>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45" name="Text 39"/>
          <p:cNvSpPr txBox="1"/>
          <p:nvPr/>
        </p:nvSpPr>
        <p:spPr>
          <a:xfrm>
            <a:off x="6784848" y="4646295"/>
            <a:ext cx="4114800" cy="554355"/>
          </a:xfrm>
          <a:prstGeom prst="rect">
            <a:avLst/>
          </a:prstGeom>
          <a:noFill/>
          <a:ln/>
        </p:spPr>
        <p:txBody>
          <a:bodyPr wrap="square" lIns="0" tIns="0" rIns="0" bIns="0" rtlCol="0" anchor="ctr"/>
          <a:lstStyle/>
          <a:p>
            <a:pPr indent="0" marL="0">
              <a:buNone/>
            </a:pPr>
            <a:r>
              <a:rPr lang="en-US" sz="1600" dirty="0">
                <a:solidFill>
                  <a:schemeClr val="tx1"/>
                </a:solidFill>
              </a:rPr>
              <a:t>D5 · Afdingen</a:t>
            </a:r>
            <a:endParaRPr lang="en-US" sz="1600" dirty="0"/>
          </a:p>
        </p:txBody>
      </p:sp>
      <p:sp>
        <p:nvSpPr>
          <p:cNvPr id="46" name="Text 40"/>
          <p:cNvSpPr txBox="1"/>
          <p:nvPr/>
        </p:nvSpPr>
        <p:spPr>
          <a:xfrm>
            <a:off x="10972800" y="464629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10'</a:t>
            </a:r>
            <a:endParaRPr lang="en-US" sz="1500" dirty="0"/>
          </a:p>
        </p:txBody>
      </p:sp>
      <p:sp>
        <p:nvSpPr>
          <p:cNvPr id="47" name="Shape 41"/>
          <p:cNvSpPr/>
          <p:nvPr/>
        </p:nvSpPr>
        <p:spPr>
          <a:xfrm>
            <a:off x="6263640" y="5285804"/>
            <a:ext cx="384048" cy="384048"/>
          </a:xfrm>
          <a:prstGeom prst="ellipse">
            <a:avLst/>
          </a:prstGeom>
          <a:solidFill>
            <a:schemeClr val="tx2"/>
          </a:solidFill>
          <a:ln/>
        </p:spPr>
      </p:sp>
      <p:sp>
        <p:nvSpPr>
          <p:cNvPr id="48" name="Text 42"/>
          <p:cNvSpPr txBox="1"/>
          <p:nvPr/>
        </p:nvSpPr>
        <p:spPr>
          <a:xfrm>
            <a:off x="6263640" y="5285804"/>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7</a:t>
            </a:r>
            <a:endParaRPr lang="en-US" sz="1300" dirty="0"/>
          </a:p>
        </p:txBody>
      </p:sp>
      <p:sp>
        <p:nvSpPr>
          <p:cNvPr id="49" name="Text 43"/>
          <p:cNvSpPr txBox="1"/>
          <p:nvPr/>
        </p:nvSpPr>
        <p:spPr>
          <a:xfrm>
            <a:off x="6784848" y="5200650"/>
            <a:ext cx="4114800" cy="554355"/>
          </a:xfrm>
          <a:prstGeom prst="rect">
            <a:avLst/>
          </a:prstGeom>
          <a:noFill/>
          <a:ln/>
        </p:spPr>
        <p:txBody>
          <a:bodyPr wrap="square" lIns="0" tIns="0" rIns="0" bIns="0" rtlCol="0" anchor="ctr"/>
          <a:lstStyle/>
          <a:p>
            <a:pPr indent="0" marL="0">
              <a:buNone/>
            </a:pPr>
            <a:r>
              <a:rPr lang="en-US" sz="1600" dirty="0">
                <a:solidFill>
                  <a:schemeClr val="tx1"/>
                </a:solidFill>
              </a:rPr>
              <a:t>TAAK 6 · présentation et étape 1</a:t>
            </a:r>
            <a:endParaRPr lang="en-US" sz="1600" dirty="0"/>
          </a:p>
        </p:txBody>
      </p:sp>
      <p:sp>
        <p:nvSpPr>
          <p:cNvPr id="50" name="Text 44"/>
          <p:cNvSpPr txBox="1"/>
          <p:nvPr/>
        </p:nvSpPr>
        <p:spPr>
          <a:xfrm>
            <a:off x="10972800" y="5200650"/>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25'</a:t>
            </a:r>
            <a:endParaRPr lang="en-US" sz="1500" dirty="0"/>
          </a:p>
        </p:txBody>
      </p:sp>
      <p:sp>
        <p:nvSpPr>
          <p:cNvPr id="51" name="Shape 45"/>
          <p:cNvSpPr/>
          <p:nvPr/>
        </p:nvSpPr>
        <p:spPr>
          <a:xfrm>
            <a:off x="6263640" y="5840158"/>
            <a:ext cx="384048" cy="384048"/>
          </a:xfrm>
          <a:prstGeom prst="ellipse">
            <a:avLst/>
          </a:prstGeom>
          <a:solidFill>
            <a:schemeClr val="tx2"/>
          </a:solidFill>
          <a:ln/>
        </p:spPr>
      </p:sp>
      <p:sp>
        <p:nvSpPr>
          <p:cNvPr id="52" name="Text 46"/>
          <p:cNvSpPr txBox="1"/>
          <p:nvPr/>
        </p:nvSpPr>
        <p:spPr>
          <a:xfrm>
            <a:off x="6263640" y="5840158"/>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8</a:t>
            </a:r>
            <a:endParaRPr lang="en-US" sz="1300" dirty="0"/>
          </a:p>
        </p:txBody>
      </p:sp>
      <p:sp>
        <p:nvSpPr>
          <p:cNvPr id="53" name="Text 47"/>
          <p:cNvSpPr txBox="1"/>
          <p:nvPr/>
        </p:nvSpPr>
        <p:spPr>
          <a:xfrm>
            <a:off x="6784848" y="5755005"/>
            <a:ext cx="4114800" cy="554355"/>
          </a:xfrm>
          <a:prstGeom prst="rect">
            <a:avLst/>
          </a:prstGeom>
          <a:noFill/>
          <a:ln/>
        </p:spPr>
        <p:txBody>
          <a:bodyPr wrap="square" lIns="0" tIns="0" rIns="0" bIns="0" rtlCol="0" anchor="ctr"/>
          <a:lstStyle/>
          <a:p>
            <a:pPr indent="0" marL="0">
              <a:buNone/>
            </a:pPr>
            <a:r>
              <a:rPr lang="en-US" sz="1600" dirty="0">
                <a:solidFill>
                  <a:schemeClr val="tx1"/>
                </a:solidFill>
              </a:rPr>
              <a:t>Bilan</a:t>
            </a:r>
            <a:endParaRPr lang="en-US" sz="1600" dirty="0"/>
          </a:p>
        </p:txBody>
      </p:sp>
      <p:sp>
        <p:nvSpPr>
          <p:cNvPr id="54" name="Text 48"/>
          <p:cNvSpPr txBox="1"/>
          <p:nvPr/>
        </p:nvSpPr>
        <p:spPr>
          <a:xfrm>
            <a:off x="10972800" y="5755005"/>
            <a:ext cx="667512" cy="554355"/>
          </a:xfrm>
          <a:prstGeom prst="rect">
            <a:avLst/>
          </a:prstGeom>
          <a:noFill/>
          <a:ln/>
        </p:spPr>
        <p:txBody>
          <a:bodyPr wrap="square" lIns="0" tIns="0" rIns="0" bIns="0" rtlCol="0" anchor="ctr"/>
          <a:lstStyle/>
          <a:p>
            <a:pPr algn="r" indent="0" marL="0">
              <a:buNone/>
            </a:pPr>
            <a:r>
              <a:rPr lang="en-US" sz="1500" b="1" dirty="0">
                <a:solidFill>
                  <a:schemeClr val="accent1"/>
                </a:solidFill>
              </a:rPr>
              <a:t>5'</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les six conjonctions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Oral · par deux · 4 min. Complétez avec </a:t>
            </a:r>
            <a:r>
              <a:rPr lang="en-US" sz="1600" b="1" i="1" dirty="0">
                <a:solidFill>
                  <a:schemeClr val="accent5"/>
                </a:solidFill>
              </a:rPr>
              <a:t>aangezien · zodat · zodra · tenzij · toen · sinds</a:t>
            </a:r>
            <a:r>
              <a:rPr lang="en-US" sz="1600" i="1" dirty="0">
                <a:solidFill>
                  <a:schemeClr val="accent5"/>
                </a:solidFill>
              </a:rPr>
              <a:t>, puis relisez la phrase à voix haute.</a:t>
            </a:r>
            <a:endParaRPr lang="en-US" sz="1600" dirty="0"/>
          </a:p>
        </p:txBody>
      </p:sp>
      <p:sp>
        <p:nvSpPr>
          <p:cNvPr id="7"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2"/>
                </a:solidFill>
              </a:rPr>
              <a:t>1.  </a:t>
            </a:r>
            <a:r>
              <a:rPr lang="en-US" sz="2400" dirty="0">
                <a:solidFill>
                  <a:schemeClr val="tx1"/>
                </a:solidFill>
              </a:rPr>
              <a:t>We plaatsen extra foto’s, </a:t>
            </a:r>
            <a:r>
              <a:rPr lang="en-US" sz="2400" dirty="0">
                <a:solidFill>
                  <a:schemeClr val="accent5"/>
                </a:solidFill>
              </a:rPr>
              <a:t>……………</a:t>
            </a:r>
            <a:r>
              <a:rPr lang="en-US" sz="2400" dirty="0">
                <a:solidFill>
                  <a:schemeClr val="tx1"/>
                </a:solidFill>
              </a:rPr>
              <a:t> de kopers alles zien.</a:t>
            </a:r>
            <a:endParaRPr lang="en-US" sz="2400" dirty="0"/>
          </a:p>
          <a:p>
            <a:pPr indent="0" marL="0">
              <a:spcAft>
                <a:spcPts val="800"/>
              </a:spcAft>
              <a:buNone/>
            </a:pPr>
            <a:r>
              <a:rPr lang="en-US" sz="2400" b="1" dirty="0">
                <a:solidFill>
                  <a:schemeClr val="tx2"/>
                </a:solidFill>
              </a:rPr>
              <a:t>2.  </a:t>
            </a:r>
            <a:r>
              <a:rPr lang="en-US" sz="2400" dirty="0">
                <a:solidFill>
                  <a:schemeClr val="accent5"/>
                </a:solidFill>
              </a:rPr>
              <a:t>……………</a:t>
            </a:r>
            <a:r>
              <a:rPr lang="en-US" sz="2400" dirty="0">
                <a:solidFill>
                  <a:schemeClr val="tx1"/>
                </a:solidFill>
              </a:rPr>
              <a:t> de fotograaf klaar is, zet ik de advertentie online.</a:t>
            </a:r>
            <a:endParaRPr lang="en-US" sz="2400" dirty="0"/>
          </a:p>
          <a:p>
            <a:pPr indent="0" marL="0">
              <a:spcAft>
                <a:spcPts val="800"/>
              </a:spcAft>
              <a:buNone/>
            </a:pPr>
            <a:r>
              <a:rPr lang="en-US" sz="2400" b="1" dirty="0">
                <a:solidFill>
                  <a:schemeClr val="tx2"/>
                </a:solidFill>
              </a:rPr>
              <a:t>3.  </a:t>
            </a:r>
            <a:r>
              <a:rPr lang="en-US" sz="2400" dirty="0">
                <a:solidFill>
                  <a:schemeClr val="tx1"/>
                </a:solidFill>
              </a:rPr>
              <a:t>De bezichtiging gaat door, </a:t>
            </a:r>
            <a:r>
              <a:rPr lang="en-US" sz="2400" dirty="0">
                <a:solidFill>
                  <a:schemeClr val="accent5"/>
                </a:solidFill>
              </a:rPr>
              <a:t>……………</a:t>
            </a:r>
            <a:r>
              <a:rPr lang="en-US" sz="2400" dirty="0">
                <a:solidFill>
                  <a:schemeClr val="tx1"/>
                </a:solidFill>
              </a:rPr>
              <a:t> het regent.</a:t>
            </a:r>
            <a:endParaRPr lang="en-US" sz="2400" dirty="0"/>
          </a:p>
          <a:p>
            <a:pPr indent="0" marL="0">
              <a:spcAft>
                <a:spcPts val="800"/>
              </a:spcAft>
              <a:buNone/>
            </a:pPr>
            <a:r>
              <a:rPr lang="en-US" sz="2400" b="1" dirty="0">
                <a:solidFill>
                  <a:schemeClr val="tx2"/>
                </a:solidFill>
              </a:rPr>
              <a:t>4.  </a:t>
            </a:r>
            <a:r>
              <a:rPr lang="en-US" sz="2400" dirty="0">
                <a:solidFill>
                  <a:schemeClr val="accent5"/>
                </a:solidFill>
              </a:rPr>
              <a:t>……………</a:t>
            </a:r>
            <a:r>
              <a:rPr lang="en-US" sz="2400" dirty="0">
                <a:solidFill>
                  <a:schemeClr val="tx1"/>
                </a:solidFill>
              </a:rPr>
              <a:t> ik gisteren de woning bezocht, was ze al verkocht.</a:t>
            </a:r>
            <a:endParaRPr lang="en-US" sz="2400" dirty="0"/>
          </a:p>
          <a:p>
            <a:pPr indent="0" marL="0">
              <a:spcAft>
                <a:spcPts val="800"/>
              </a:spcAft>
              <a:buNone/>
            </a:pPr>
            <a:r>
              <a:rPr lang="en-US" sz="2400" b="1" dirty="0">
                <a:solidFill>
                  <a:schemeClr val="tx2"/>
                </a:solidFill>
              </a:rPr>
              <a:t>5.  </a:t>
            </a:r>
            <a:r>
              <a:rPr lang="en-US" sz="2400" dirty="0">
                <a:solidFill>
                  <a:schemeClr val="accent5"/>
                </a:solidFill>
              </a:rPr>
              <a:t>……………</a:t>
            </a:r>
            <a:r>
              <a:rPr lang="en-US" sz="2400" dirty="0">
                <a:solidFill>
                  <a:schemeClr val="tx1"/>
                </a:solidFill>
              </a:rPr>
              <a:t> de prijs lager is, bellen er meer klanten.</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Échauffement : les six conjonctions</a:t>
            </a:r>
            <a:endParaRPr lang="en-US" sz="3200" dirty="0"/>
          </a:p>
        </p:txBody>
      </p:sp>
      <p:sp>
        <p:nvSpPr>
          <p:cNvPr id="3" name="tag"/>
          <p:cNvSpPr/>
          <p:nvPr/>
        </p:nvSpPr>
        <p:spPr>
          <a:xfrm>
            <a:off x="548640" y="237744"/>
            <a:ext cx="187452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ÉCHAUFFEMENT</a:t>
            </a:r>
            <a:endParaRPr lang="en-US" sz="1200" dirty="0"/>
          </a:p>
        </p:txBody>
      </p:sp>
      <p:sp>
        <p:nvSpPr>
          <p:cNvPr id="4" name="tag"/>
          <p:cNvSpPr/>
          <p:nvPr/>
        </p:nvSpPr>
        <p:spPr>
          <a:xfrm>
            <a:off x="253288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7" name="Text 4"/>
          <p:cNvSpPr txBox="1"/>
          <p:nvPr/>
        </p:nvSpPr>
        <p:spPr>
          <a:xfrm>
            <a:off x="548640" y="1481328"/>
            <a:ext cx="7178040" cy="615696"/>
          </a:xfrm>
          <a:prstGeom prst="rect">
            <a:avLst/>
          </a:prstGeom>
          <a:noFill/>
          <a:ln/>
        </p:spPr>
        <p:txBody>
          <a:bodyPr wrap="square" lIns="0" tIns="0" rIns="0" bIns="0" rtlCol="0" anchor="t"/>
          <a:lstStyle/>
          <a:p>
            <a:pPr indent="0" marL="0">
              <a:buNone/>
            </a:pPr>
            <a:r>
              <a:rPr lang="en-US" sz="1600" i="1" dirty="0">
                <a:solidFill>
                  <a:schemeClr val="accent5"/>
                </a:solidFill>
              </a:rPr>
              <a:t>Oral · par deux · 4 min. Complétez avec </a:t>
            </a:r>
            <a:r>
              <a:rPr lang="en-US" sz="1600" b="1" i="1" dirty="0">
                <a:solidFill>
                  <a:schemeClr val="accent5"/>
                </a:solidFill>
              </a:rPr>
              <a:t>aangezien · zodat · zodra · tenzij · toen · sinds</a:t>
            </a:r>
            <a:r>
              <a:rPr lang="en-US" sz="1600" i="1" dirty="0">
                <a:solidFill>
                  <a:schemeClr val="accent5"/>
                </a:solidFill>
              </a:rPr>
              <a:t>, puis relisez la phrase à voix haute.</a:t>
            </a:r>
            <a:endParaRPr lang="en-US" sz="1600" dirty="0"/>
          </a:p>
        </p:txBody>
      </p:sp>
      <p:sp>
        <p:nvSpPr>
          <p:cNvPr id="8" name="exercise"/>
          <p:cNvSpPr txBox="1"/>
          <p:nvPr/>
        </p:nvSpPr>
        <p:spPr>
          <a:xfrm>
            <a:off x="548640" y="2170176"/>
            <a:ext cx="7178040" cy="4120896"/>
          </a:xfrm>
          <a:prstGeom prst="rect">
            <a:avLst/>
          </a:prstGeom>
          <a:noFill/>
          <a:ln/>
        </p:spPr>
        <p:txBody>
          <a:bodyPr wrap="square" lIns="0" tIns="0" rIns="0" bIns="0" rtlCol="0" anchor="t"/>
          <a:lstStyle/>
          <a:p>
            <a:pPr indent="0" marL="0">
              <a:spcAft>
                <a:spcPts val="800"/>
              </a:spcAft>
              <a:buNone/>
            </a:pPr>
            <a:r>
              <a:rPr lang="en-US" sz="2400" b="1" dirty="0">
                <a:solidFill>
                  <a:schemeClr val="tx2"/>
                </a:solidFill>
              </a:rPr>
              <a:t>1.  </a:t>
            </a:r>
            <a:r>
              <a:rPr lang="en-US" sz="2400" dirty="0">
                <a:solidFill>
                  <a:schemeClr val="tx1"/>
                </a:solidFill>
              </a:rPr>
              <a:t>We plaatsen extra foto’s, </a:t>
            </a:r>
            <a:r>
              <a:rPr lang="en-US" sz="2400" b="1" dirty="0">
                <a:solidFill>
                  <a:schemeClr val="accent3"/>
                </a:solidFill>
              </a:rPr>
              <a:t>zodat</a:t>
            </a:r>
            <a:r>
              <a:rPr lang="en-US" sz="2400" dirty="0">
                <a:solidFill>
                  <a:schemeClr val="tx1"/>
                </a:solidFill>
              </a:rPr>
              <a:t> de kopers alles zien.</a:t>
            </a:r>
            <a:endParaRPr lang="en-US" sz="2400" dirty="0"/>
          </a:p>
          <a:p>
            <a:pPr indent="0" marL="0">
              <a:spcAft>
                <a:spcPts val="800"/>
              </a:spcAft>
              <a:buNone/>
            </a:pPr>
            <a:r>
              <a:rPr lang="en-US" sz="2400" b="1" dirty="0">
                <a:solidFill>
                  <a:schemeClr val="tx2"/>
                </a:solidFill>
              </a:rPr>
              <a:t>2.  </a:t>
            </a:r>
            <a:r>
              <a:rPr lang="en-US" sz="2400" b="1" dirty="0">
                <a:solidFill>
                  <a:schemeClr val="accent3"/>
                </a:solidFill>
              </a:rPr>
              <a:t>Zodra</a:t>
            </a:r>
            <a:r>
              <a:rPr lang="en-US" sz="2400" dirty="0">
                <a:solidFill>
                  <a:schemeClr val="tx1"/>
                </a:solidFill>
              </a:rPr>
              <a:t> de fotograaf klaar is, zet ik de advertentie online.</a:t>
            </a:r>
            <a:endParaRPr lang="en-US" sz="2400" dirty="0"/>
          </a:p>
          <a:p>
            <a:pPr indent="0" marL="0">
              <a:spcAft>
                <a:spcPts val="800"/>
              </a:spcAft>
              <a:buNone/>
            </a:pPr>
            <a:r>
              <a:rPr lang="en-US" sz="2400" b="1" dirty="0">
                <a:solidFill>
                  <a:schemeClr val="tx2"/>
                </a:solidFill>
              </a:rPr>
              <a:t>3.  </a:t>
            </a:r>
            <a:r>
              <a:rPr lang="en-US" sz="2400" dirty="0">
                <a:solidFill>
                  <a:schemeClr val="tx1"/>
                </a:solidFill>
              </a:rPr>
              <a:t>De bezichtiging gaat door, </a:t>
            </a:r>
            <a:r>
              <a:rPr lang="en-US" sz="2400" b="1" dirty="0">
                <a:solidFill>
                  <a:schemeClr val="accent3"/>
                </a:solidFill>
              </a:rPr>
              <a:t>tenzij</a:t>
            </a:r>
            <a:r>
              <a:rPr lang="en-US" sz="2400" dirty="0">
                <a:solidFill>
                  <a:schemeClr val="tx1"/>
                </a:solidFill>
              </a:rPr>
              <a:t> het regent.</a:t>
            </a:r>
            <a:endParaRPr lang="en-US" sz="2400" dirty="0"/>
          </a:p>
          <a:p>
            <a:pPr indent="0" marL="0">
              <a:spcAft>
                <a:spcPts val="800"/>
              </a:spcAft>
              <a:buNone/>
            </a:pPr>
            <a:r>
              <a:rPr lang="en-US" sz="2400" b="1" dirty="0">
                <a:solidFill>
                  <a:schemeClr val="tx2"/>
                </a:solidFill>
              </a:rPr>
              <a:t>4.  </a:t>
            </a:r>
            <a:r>
              <a:rPr lang="en-US" sz="2400" b="1" dirty="0">
                <a:solidFill>
                  <a:schemeClr val="accent3"/>
                </a:solidFill>
              </a:rPr>
              <a:t>Toen</a:t>
            </a:r>
            <a:r>
              <a:rPr lang="en-US" sz="2400" dirty="0">
                <a:solidFill>
                  <a:schemeClr val="tx1"/>
                </a:solidFill>
              </a:rPr>
              <a:t> ik gisteren de woning bezocht, was ze al verkocht.</a:t>
            </a:r>
            <a:endParaRPr lang="en-US" sz="2400" dirty="0"/>
          </a:p>
          <a:p>
            <a:pPr indent="0" marL="0">
              <a:spcAft>
                <a:spcPts val="800"/>
              </a:spcAft>
              <a:buNone/>
            </a:pPr>
            <a:r>
              <a:rPr lang="en-US" sz="2400" b="1" dirty="0">
                <a:solidFill>
                  <a:schemeClr val="tx2"/>
                </a:solidFill>
              </a:rPr>
              <a:t>5.  </a:t>
            </a:r>
            <a:r>
              <a:rPr lang="en-US" sz="2400" b="1" dirty="0">
                <a:solidFill>
                  <a:schemeClr val="accent3"/>
                </a:solidFill>
              </a:rPr>
              <a:t>Sinds</a:t>
            </a:r>
            <a:r>
              <a:rPr lang="en-US" sz="2400" dirty="0">
                <a:solidFill>
                  <a:schemeClr val="tx1"/>
                </a:solidFill>
              </a:rPr>
              <a:t> de prijs lager is, bellen er meer klanten.</a:t>
            </a:r>
            <a:endParaRPr lang="en-US" sz="2400" dirty="0"/>
          </a:p>
        </p:txBody>
      </p:sp>
      <p:sp>
        <p:nvSpPr>
          <p:cNvPr id="9" name="aside"/>
          <p:cNvSpPr/>
          <p:nvPr/>
        </p:nvSpPr>
        <p:spPr>
          <a:xfrm>
            <a:off x="8046720" y="1481328"/>
            <a:ext cx="3593592" cy="4809744"/>
          </a:xfrm>
          <a:prstGeom prst="roundRect">
            <a:avLst>
              <a:gd name="adj" fmla="val 2036"/>
            </a:avLst>
          </a:prstGeom>
          <a:solidFill>
            <a:schemeClr val="accent6">
              <a:alpha val="10000"/>
            </a:schemeClr>
          </a:solidFill>
          <a:ln w="12700">
            <a:solidFill>
              <a:schemeClr val="accent6">
                <a:alpha val="60000"/>
              </a:schemeClr>
            </a:solidFill>
            <a:prstDash val="solid"/>
          </a:ln>
        </p:spPr>
      </p:sp>
      <p:pic>
        <p:nvPicPr>
          <p:cNvPr id="10" name="Image 0" descr="preencoded.png">    </p:cNvPr>
          <p:cNvPicPr>
            <a:picLocks noChangeAspect="1"/>
          </p:cNvPicPr>
          <p:nvPr/>
        </p:nvPicPr>
        <p:blipFill>
          <a:blip r:embed="rId1"/>
          <a:stretch>
            <a:fillRect/>
          </a:stretch>
        </p:blipFill>
        <p:spPr>
          <a:xfrm>
            <a:off x="8229600" y="1664208"/>
            <a:ext cx="292608" cy="292608"/>
          </a:xfrm>
          <a:prstGeom prst="rect">
            <a:avLst/>
          </a:prstGeom>
        </p:spPr>
      </p:pic>
      <p:sp>
        <p:nvSpPr>
          <p:cNvPr id="11" name="Text 7"/>
          <p:cNvSpPr txBox="1"/>
          <p:nvPr/>
        </p:nvSpPr>
        <p:spPr>
          <a:xfrm>
            <a:off x="8613648" y="1636776"/>
            <a:ext cx="2862072" cy="347472"/>
          </a:xfrm>
          <a:prstGeom prst="rect">
            <a:avLst/>
          </a:prstGeom>
          <a:noFill/>
          <a:ln/>
        </p:spPr>
        <p:txBody>
          <a:bodyPr wrap="square" lIns="0" tIns="0" rIns="0" bIns="0" rtlCol="0" anchor="ctr"/>
          <a:lstStyle/>
          <a:p>
            <a:pPr indent="0" marL="0">
              <a:buNone/>
            </a:pPr>
            <a:r>
              <a:rPr lang="en-US" sz="1400" b="1" spc="100" kern="0" dirty="0">
                <a:solidFill>
                  <a:schemeClr val="accent6"/>
                </a:solidFill>
              </a:rPr>
              <a:t>ATTENTION</a:t>
            </a:r>
            <a:endParaRPr lang="en-US" sz="1400" dirty="0"/>
          </a:p>
        </p:txBody>
      </p:sp>
      <p:sp>
        <p:nvSpPr>
          <p:cNvPr id="12" name="Text 8"/>
          <p:cNvSpPr txBox="1"/>
          <p:nvPr/>
        </p:nvSpPr>
        <p:spPr>
          <a:xfrm>
            <a:off x="8211312" y="2075688"/>
            <a:ext cx="32644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Subordonnée </a:t>
            </a:r>
            <a:r>
              <a:rPr lang="en-US" sz="1800" b="1" dirty="0">
                <a:solidFill>
                  <a:schemeClr val="tx1"/>
                </a:solidFill>
              </a:rPr>
              <a:t>en tête</a:t>
            </a:r>
            <a:r>
              <a:rPr lang="en-US" sz="1800" dirty="0">
                <a:solidFill>
                  <a:schemeClr val="tx1"/>
                </a:solidFill>
              </a:rPr>
              <a:t> → la principale commence par le </a:t>
            </a:r>
            <a:r>
              <a:rPr lang="en-US" sz="1800" b="1" dirty="0">
                <a:solidFill>
                  <a:schemeClr val="tx1"/>
                </a:solidFill>
              </a:rPr>
              <a:t>verbe</a:t>
            </a:r>
            <a:r>
              <a:rPr lang="en-US" sz="1800" dirty="0">
                <a:solidFill>
                  <a:schemeClr val="tx1"/>
                </a:solidFill>
              </a:rPr>
              <a:t> : </a:t>
            </a:r>
            <a:r>
              <a:rPr lang="en-US" sz="1800" i="1" dirty="0">
                <a:solidFill>
                  <a:schemeClr val="tx1"/>
                </a:solidFill>
              </a:rPr>
              <a:t>bel ik · was ze · bellen er</a:t>
            </a:r>
            <a:r>
              <a:rPr lang="en-US" sz="1800" dirty="0">
                <a:solidFill>
                  <a:schemeClr val="tx1"/>
                </a:solidFill>
              </a:rPr>
              <a:t>.</a:t>
            </a:r>
            <a:endParaRPr lang="en-US" sz="1800" dirty="0"/>
          </a:p>
          <a:p>
            <a:pPr marL="177800" indent="-177800">
              <a:spcAft>
                <a:spcPts val="600"/>
              </a:spcAft>
              <a:buSzPct val="100000"/>
              <a:buChar char="•"/>
            </a:pPr>
            <a:r>
              <a:rPr lang="en-US" sz="1800" dirty="0">
                <a:solidFill>
                  <a:schemeClr val="tx1"/>
                </a:solidFill>
              </a:rPr>
              <a:t>Le verbe conjugué est </a:t>
            </a:r>
            <a:r>
              <a:rPr lang="en-US" sz="1800" b="1" dirty="0">
                <a:solidFill>
                  <a:schemeClr val="tx1"/>
                </a:solidFill>
              </a:rPr>
              <a:t>à la fin</a:t>
            </a:r>
            <a:r>
              <a:rPr lang="en-US" sz="1800" dirty="0">
                <a:solidFill>
                  <a:schemeClr val="tx1"/>
                </a:solidFill>
              </a:rPr>
              <a:t> de la subordonnée.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Séquence 5.5 : trois cas à maîtriser</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sp>
        <p:nvSpPr>
          <p:cNvPr id="6" name="Shape 3"/>
          <p:cNvSpPr/>
          <p:nvPr/>
        </p:nvSpPr>
        <p:spPr>
          <a:xfrm>
            <a:off x="548640" y="1481328"/>
            <a:ext cx="3514344" cy="3883152"/>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3514344" cy="502920"/>
          </a:xfrm>
          <a:prstGeom prst="roundRect">
            <a:avLst>
              <a:gd name="adj" fmla="val 18182"/>
            </a:avLst>
          </a:prstGeom>
          <a:solidFill>
            <a:schemeClr val="accent2"/>
          </a:solidFill>
          <a:ln/>
        </p:spPr>
      </p:sp>
      <p:sp>
        <p:nvSpPr>
          <p:cNvPr id="8" name="Shape 5"/>
          <p:cNvSpPr/>
          <p:nvPr/>
        </p:nvSpPr>
        <p:spPr>
          <a:xfrm>
            <a:off x="548640" y="1801368"/>
            <a:ext cx="3514344" cy="182880"/>
          </a:xfrm>
          <a:prstGeom prst="rect">
            <a:avLst/>
          </a:prstGeom>
          <a:solidFill>
            <a:schemeClr val="accent2"/>
          </a:solidFill>
          <a:ln w="12700">
            <a:solidFill>
              <a:schemeClr val="accent2"/>
            </a:solidFill>
            <a:prstDash val="solid"/>
          </a:ln>
        </p:spPr>
      </p:sp>
      <p:sp>
        <p:nvSpPr>
          <p:cNvPr id="9" name="Text 6"/>
          <p:cNvSpPr txBox="1"/>
          <p:nvPr/>
        </p:nvSpPr>
        <p:spPr>
          <a:xfrm>
            <a:off x="731520"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① DEUX VERBES À LA FIN</a:t>
            </a:r>
            <a:endParaRPr lang="en-US" sz="1500" dirty="0"/>
          </a:p>
        </p:txBody>
      </p:sp>
      <p:sp>
        <p:nvSpPr>
          <p:cNvPr id="10" name="Text 7"/>
          <p:cNvSpPr txBox="1"/>
          <p:nvPr/>
        </p:nvSpPr>
        <p:spPr>
          <a:xfrm>
            <a:off x="731520" y="2084832"/>
            <a:ext cx="3148584"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moet voorbereiden</a:t>
            </a:r>
            <a:endParaRPr lang="en-US" sz="2400" dirty="0"/>
          </a:p>
        </p:txBody>
      </p:sp>
      <p:sp>
        <p:nvSpPr>
          <p:cNvPr id="11" name="Text 8"/>
          <p:cNvSpPr txBox="1"/>
          <p:nvPr/>
        </p:nvSpPr>
        <p:spPr>
          <a:xfrm>
            <a:off x="731520" y="2627376"/>
            <a:ext cx="3148584" cy="2627376"/>
          </a:xfrm>
          <a:prstGeom prst="rect">
            <a:avLst/>
          </a:prstGeom>
          <a:noFill/>
          <a:ln/>
        </p:spPr>
        <p:txBody>
          <a:bodyPr wrap="square" lIns="0" tIns="0" rIns="0" bIns="0" rtlCol="0" anchor="t"/>
          <a:lstStyle/>
          <a:p>
            <a:pPr marL="177800" indent="-177800">
              <a:spcAft>
                <a:spcPts val="600"/>
              </a:spcAft>
              <a:buSzPct val="100000"/>
              <a:buChar char="•"/>
            </a:pPr>
            <a:r>
              <a:rPr lang="en-US" sz="1900" i="1" dirty="0">
                <a:solidFill>
                  <a:schemeClr val="tx1"/>
                </a:solidFill>
              </a:rPr>
              <a:t>Ik heb geen tijd, omdat ik het dossier </a:t>
            </a:r>
            <a:r>
              <a:rPr lang="en-US" sz="1900" b="1" i="1" dirty="0">
                <a:solidFill>
                  <a:schemeClr val="tx1"/>
                </a:solidFill>
              </a:rPr>
              <a:t>moet voorbereiden</a:t>
            </a:r>
            <a:r>
              <a:rPr lang="en-US" sz="1900" i="1" dirty="0">
                <a:solidFill>
                  <a:schemeClr val="tx1"/>
                </a:solidFill>
              </a:rPr>
              <a:t>.</a:t>
            </a:r>
            <a:endParaRPr lang="en-US" sz="1900" dirty="0"/>
          </a:p>
          <a:p>
            <a:pPr marL="177800" indent="-177800">
              <a:spcAft>
                <a:spcPts val="600"/>
              </a:spcAft>
              <a:buSzPct val="100000"/>
              <a:buChar char="•"/>
            </a:pPr>
            <a:r>
              <a:rPr lang="en-US" sz="1900" dirty="0">
                <a:solidFill>
                  <a:schemeClr val="tx1"/>
                </a:solidFill>
              </a:rPr>
              <a:t>Le verbe </a:t>
            </a:r>
            <a:r>
              <a:rPr lang="en-US" sz="1900" b="1" dirty="0">
                <a:solidFill>
                  <a:schemeClr val="tx1"/>
                </a:solidFill>
              </a:rPr>
              <a:t>conjugué</a:t>
            </a:r>
            <a:r>
              <a:rPr lang="en-US" sz="1900" dirty="0">
                <a:solidFill>
                  <a:schemeClr val="tx1"/>
                </a:solidFill>
              </a:rPr>
              <a:t> précède l’infinitif.</a:t>
            </a:r>
            <a:endParaRPr lang="en-US" sz="1900" dirty="0"/>
          </a:p>
          <a:p>
            <a:pPr marL="177800" indent="-177800">
              <a:spcAft>
                <a:spcPts val="600"/>
              </a:spcAft>
              <a:buSzPct val="100000"/>
              <a:buChar char="•"/>
            </a:pPr>
            <a:r>
              <a:rPr lang="en-US" sz="1900" dirty="0">
                <a:solidFill>
                  <a:schemeClr val="tx1"/>
                </a:solidFill>
              </a:rPr>
              <a:t>Perfectum : </a:t>
            </a:r>
            <a:r>
              <a:rPr lang="en-US" sz="1900" i="1" dirty="0">
                <a:solidFill>
                  <a:schemeClr val="tx1"/>
                </a:solidFill>
              </a:rPr>
              <a:t>…dat we de woning </a:t>
            </a:r>
            <a:r>
              <a:rPr lang="en-US" sz="1900" b="1" i="1" dirty="0">
                <a:solidFill>
                  <a:schemeClr val="tx1"/>
                </a:solidFill>
              </a:rPr>
              <a:t>verkocht hebben</a:t>
            </a:r>
            <a:r>
              <a:rPr lang="en-US" sz="1900" i="1" dirty="0">
                <a:solidFill>
                  <a:schemeClr val="tx1"/>
                </a:solidFill>
              </a:rPr>
              <a:t>.</a:t>
            </a:r>
            <a:endParaRPr lang="en-US" sz="1900" dirty="0"/>
          </a:p>
        </p:txBody>
      </p:sp>
      <p:sp>
        <p:nvSpPr>
          <p:cNvPr id="12" name="Shape 9"/>
          <p:cNvSpPr/>
          <p:nvPr/>
        </p:nvSpPr>
        <p:spPr>
          <a:xfrm>
            <a:off x="4337304" y="1481328"/>
            <a:ext cx="3514344" cy="3883152"/>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4337304" y="1481328"/>
            <a:ext cx="3514344" cy="502920"/>
          </a:xfrm>
          <a:prstGeom prst="roundRect">
            <a:avLst>
              <a:gd name="adj" fmla="val 18182"/>
            </a:avLst>
          </a:prstGeom>
          <a:solidFill>
            <a:schemeClr val="accent3"/>
          </a:solidFill>
          <a:ln/>
        </p:spPr>
      </p:sp>
      <p:sp>
        <p:nvSpPr>
          <p:cNvPr id="14" name="Shape 11"/>
          <p:cNvSpPr/>
          <p:nvPr/>
        </p:nvSpPr>
        <p:spPr>
          <a:xfrm>
            <a:off x="4337304" y="1801368"/>
            <a:ext cx="3514344" cy="182880"/>
          </a:xfrm>
          <a:prstGeom prst="rect">
            <a:avLst/>
          </a:prstGeom>
          <a:solidFill>
            <a:schemeClr val="accent3"/>
          </a:solidFill>
          <a:ln w="12700">
            <a:solidFill>
              <a:schemeClr val="accent3"/>
            </a:solidFill>
            <a:prstDash val="solid"/>
          </a:ln>
        </p:spPr>
      </p:sp>
      <p:sp>
        <p:nvSpPr>
          <p:cNvPr id="15" name="Text 12"/>
          <p:cNvSpPr txBox="1"/>
          <p:nvPr/>
        </p:nvSpPr>
        <p:spPr>
          <a:xfrm>
            <a:off x="4520184"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② LA PARTICULE SE RESSOUDE</a:t>
            </a:r>
            <a:endParaRPr lang="en-US" sz="1500" dirty="0"/>
          </a:p>
        </p:txBody>
      </p:sp>
      <p:sp>
        <p:nvSpPr>
          <p:cNvPr id="16" name="Text 13"/>
          <p:cNvSpPr txBox="1"/>
          <p:nvPr/>
        </p:nvSpPr>
        <p:spPr>
          <a:xfrm>
            <a:off x="4520184" y="2084832"/>
            <a:ext cx="3148584"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uit + brengt</a:t>
            </a:r>
            <a:endParaRPr lang="en-US" sz="2400" dirty="0"/>
          </a:p>
        </p:txBody>
      </p:sp>
      <p:sp>
        <p:nvSpPr>
          <p:cNvPr id="17" name="Text 14"/>
          <p:cNvSpPr txBox="1"/>
          <p:nvPr/>
        </p:nvSpPr>
        <p:spPr>
          <a:xfrm>
            <a:off x="4520184" y="2627376"/>
            <a:ext cx="3148584" cy="2627376"/>
          </a:xfrm>
          <a:prstGeom prst="rect">
            <a:avLst/>
          </a:prstGeom>
          <a:noFill/>
          <a:ln/>
        </p:spPr>
        <p:txBody>
          <a:bodyPr wrap="square" lIns="0" tIns="0" rIns="0" bIns="0" rtlCol="0" anchor="t"/>
          <a:lstStyle/>
          <a:p>
            <a:pPr marL="177800" indent="-177800">
              <a:spcAft>
                <a:spcPts val="600"/>
              </a:spcAft>
              <a:buSzPct val="100000"/>
              <a:buChar char="•"/>
            </a:pPr>
            <a:r>
              <a:rPr lang="en-US" sz="1900" i="1" dirty="0">
                <a:solidFill>
                  <a:schemeClr val="tx1"/>
                </a:solidFill>
              </a:rPr>
              <a:t>De koper </a:t>
            </a:r>
            <a:r>
              <a:rPr lang="en-US" sz="1900" b="1" i="1" dirty="0">
                <a:solidFill>
                  <a:schemeClr val="tx1"/>
                </a:solidFill>
              </a:rPr>
              <a:t>brengt</a:t>
            </a:r>
            <a:r>
              <a:rPr lang="en-US" sz="1900" i="1" dirty="0">
                <a:solidFill>
                  <a:schemeClr val="tx1"/>
                </a:solidFill>
              </a:rPr>
              <a:t> een bod </a:t>
            </a:r>
            <a:r>
              <a:rPr lang="en-US" sz="1900" b="1" i="1" dirty="0">
                <a:solidFill>
                  <a:schemeClr val="tx1"/>
                </a:solidFill>
              </a:rPr>
              <a:t>uit</a:t>
            </a:r>
            <a:r>
              <a:rPr lang="en-US" sz="1900" i="1" dirty="0">
                <a:solidFill>
                  <a:schemeClr val="tx1"/>
                </a:solidFill>
              </a:rPr>
              <a:t>.</a:t>
            </a:r>
            <a:endParaRPr lang="en-US" sz="1900" dirty="0"/>
          </a:p>
          <a:p>
            <a:pPr marL="177800" indent="-177800">
              <a:spcAft>
                <a:spcPts val="600"/>
              </a:spcAft>
              <a:buSzPct val="100000"/>
              <a:buChar char="•"/>
            </a:pPr>
            <a:r>
              <a:rPr lang="en-US" sz="1900" i="1" dirty="0">
                <a:solidFill>
                  <a:schemeClr val="tx1"/>
                </a:solidFill>
              </a:rPr>
              <a:t>Zodra de koper een bod </a:t>
            </a:r>
            <a:r>
              <a:rPr lang="en-US" sz="1900" b="1" i="1" dirty="0">
                <a:solidFill>
                  <a:schemeClr val="tx1"/>
                </a:solidFill>
              </a:rPr>
              <a:t>uitbrengt</a:t>
            </a:r>
            <a:r>
              <a:rPr lang="en-US" sz="1900" i="1" dirty="0">
                <a:solidFill>
                  <a:schemeClr val="tx1"/>
                </a:solidFill>
              </a:rPr>
              <a:t>, bel ik u </a:t>
            </a:r>
            <a:r>
              <a:rPr lang="en-US" sz="1900" b="1" i="1" dirty="0">
                <a:solidFill>
                  <a:schemeClr val="tx1"/>
                </a:solidFill>
              </a:rPr>
              <a:t>op</a:t>
            </a:r>
            <a:r>
              <a:rPr lang="en-US" sz="1900" i="1" dirty="0">
                <a:solidFill>
                  <a:schemeClr val="tx1"/>
                </a:solidFill>
              </a:rPr>
              <a:t>.</a:t>
            </a:r>
            <a:endParaRPr lang="en-US" sz="1900" dirty="0"/>
          </a:p>
          <a:p>
            <a:pPr marL="177800" indent="-177800">
              <a:spcAft>
                <a:spcPts val="600"/>
              </a:spcAft>
              <a:buSzPct val="100000"/>
              <a:buChar char="•"/>
            </a:pPr>
            <a:r>
              <a:rPr lang="en-US" sz="1900" dirty="0">
                <a:solidFill>
                  <a:schemeClr val="tx1"/>
                </a:solidFill>
              </a:rPr>
              <a:t>Principale : particule </a:t>
            </a:r>
            <a:r>
              <a:rPr lang="en-US" sz="1900" b="1" dirty="0">
                <a:solidFill>
                  <a:schemeClr val="tx1"/>
                </a:solidFill>
              </a:rPr>
              <a:t>à la fin</a:t>
            </a:r>
            <a:r>
              <a:rPr lang="en-US" sz="1900" dirty="0">
                <a:solidFill>
                  <a:schemeClr val="tx1"/>
                </a:solidFill>
              </a:rPr>
              <a:t> ; subordonnée : </a:t>
            </a:r>
            <a:r>
              <a:rPr lang="en-US" sz="1900" b="1" dirty="0">
                <a:solidFill>
                  <a:schemeClr val="tx1"/>
                </a:solidFill>
              </a:rPr>
              <a:t>soudée</a:t>
            </a:r>
            <a:r>
              <a:rPr lang="en-US" sz="1900" dirty="0">
                <a:solidFill>
                  <a:schemeClr val="tx1"/>
                </a:solidFill>
              </a:rPr>
              <a:t>.</a:t>
            </a:r>
            <a:endParaRPr lang="en-US" sz="1900" dirty="0"/>
          </a:p>
        </p:txBody>
      </p:sp>
      <p:sp>
        <p:nvSpPr>
          <p:cNvPr id="18" name="Shape 15"/>
          <p:cNvSpPr/>
          <p:nvPr/>
        </p:nvSpPr>
        <p:spPr>
          <a:xfrm>
            <a:off x="8125968" y="1481328"/>
            <a:ext cx="3514344" cy="3883152"/>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8125968" y="1481328"/>
            <a:ext cx="3514344" cy="502920"/>
          </a:xfrm>
          <a:prstGeom prst="roundRect">
            <a:avLst>
              <a:gd name="adj" fmla="val 18182"/>
            </a:avLst>
          </a:prstGeom>
          <a:solidFill>
            <a:schemeClr val="accent4"/>
          </a:solidFill>
          <a:ln/>
        </p:spPr>
      </p:sp>
      <p:sp>
        <p:nvSpPr>
          <p:cNvPr id="20" name="Shape 17"/>
          <p:cNvSpPr/>
          <p:nvPr/>
        </p:nvSpPr>
        <p:spPr>
          <a:xfrm>
            <a:off x="8125968" y="1801368"/>
            <a:ext cx="3514344" cy="182880"/>
          </a:xfrm>
          <a:prstGeom prst="rect">
            <a:avLst/>
          </a:prstGeom>
          <a:solidFill>
            <a:schemeClr val="accent4"/>
          </a:solidFill>
          <a:ln w="12700">
            <a:solidFill>
              <a:schemeClr val="accent4"/>
            </a:solidFill>
            <a:prstDash val="solid"/>
          </a:ln>
        </p:spPr>
      </p:sp>
      <p:sp>
        <p:nvSpPr>
          <p:cNvPr id="21" name="Text 18"/>
          <p:cNvSpPr txBox="1"/>
          <p:nvPr/>
        </p:nvSpPr>
        <p:spPr>
          <a:xfrm>
            <a:off x="8308848"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③ INVERSION APRÈS LA SUBORDONNÉE</a:t>
            </a:r>
            <a:endParaRPr lang="en-US" sz="1500" dirty="0"/>
          </a:p>
        </p:txBody>
      </p:sp>
      <p:sp>
        <p:nvSpPr>
          <p:cNvPr id="22" name="Text 19"/>
          <p:cNvSpPr txBox="1"/>
          <p:nvPr/>
        </p:nvSpPr>
        <p:spPr>
          <a:xfrm>
            <a:off x="8308848" y="2084832"/>
            <a:ext cx="3148584" cy="405384"/>
          </a:xfrm>
          <a:prstGeom prst="rect">
            <a:avLst/>
          </a:prstGeom>
          <a:noFill/>
          <a:ln/>
        </p:spPr>
        <p:txBody>
          <a:bodyPr wrap="square" lIns="0" tIns="0" rIns="0" bIns="0" rtlCol="0" anchor="t"/>
          <a:lstStyle/>
          <a:p>
            <a:pPr indent="0" marL="0">
              <a:buNone/>
            </a:pPr>
            <a:r>
              <a:rPr lang="en-US" sz="2400" b="1" dirty="0">
                <a:solidFill>
                  <a:schemeClr val="accent4"/>
                </a:solidFill>
                <a:latin typeface="+mj-lt" pitchFamily="34" charset="0"/>
                <a:ea typeface="+mj-lt" pitchFamily="34" charset="-122"/>
                <a:cs typeface="+mj-lt" pitchFamily="34" charset="-120"/>
              </a:rPr>
              <a:t>Zodra… , bel ik</a:t>
            </a:r>
            <a:endParaRPr lang="en-US" sz="2400" dirty="0"/>
          </a:p>
        </p:txBody>
      </p:sp>
      <p:sp>
        <p:nvSpPr>
          <p:cNvPr id="23" name="Text 20"/>
          <p:cNvSpPr txBox="1"/>
          <p:nvPr/>
        </p:nvSpPr>
        <p:spPr>
          <a:xfrm>
            <a:off x="8308848" y="2627376"/>
            <a:ext cx="3148584" cy="2627376"/>
          </a:xfrm>
          <a:prstGeom prst="rect">
            <a:avLst/>
          </a:prstGeom>
          <a:noFill/>
          <a:ln/>
        </p:spPr>
        <p:txBody>
          <a:bodyPr wrap="square" lIns="0" tIns="0" rIns="0" bIns="0" rtlCol="0" anchor="t"/>
          <a:lstStyle/>
          <a:p>
            <a:pPr marL="177800" indent="-177800">
              <a:spcAft>
                <a:spcPts val="600"/>
              </a:spcAft>
              <a:buSzPct val="100000"/>
              <a:buChar char="•"/>
            </a:pPr>
            <a:r>
              <a:rPr lang="en-US" sz="1900" b="1" i="1" dirty="0">
                <a:solidFill>
                  <a:schemeClr val="tx1"/>
                </a:solidFill>
              </a:rPr>
              <a:t>Zodra</a:t>
            </a:r>
            <a:r>
              <a:rPr lang="en-US" sz="1900" i="1" dirty="0">
                <a:solidFill>
                  <a:schemeClr val="tx1"/>
                </a:solidFill>
              </a:rPr>
              <a:t> het bod binnen is, </a:t>
            </a:r>
            <a:r>
              <a:rPr lang="en-US" sz="1900" b="1" i="1" dirty="0">
                <a:solidFill>
                  <a:schemeClr val="tx1"/>
                </a:solidFill>
              </a:rPr>
              <a:t>bel ik</a:t>
            </a:r>
            <a:r>
              <a:rPr lang="en-US" sz="1900" i="1" dirty="0">
                <a:solidFill>
                  <a:schemeClr val="tx1"/>
                </a:solidFill>
              </a:rPr>
              <a:t> u op.</a:t>
            </a:r>
            <a:endParaRPr lang="en-US" sz="1900" dirty="0"/>
          </a:p>
          <a:p>
            <a:pPr marL="177800" indent="-177800">
              <a:spcAft>
                <a:spcPts val="600"/>
              </a:spcAft>
              <a:buSzPct val="100000"/>
              <a:buChar char="•"/>
            </a:pPr>
            <a:r>
              <a:rPr lang="en-US" sz="1900" b="1" i="1" dirty="0">
                <a:solidFill>
                  <a:schemeClr val="tx1"/>
                </a:solidFill>
              </a:rPr>
              <a:t>Hoewel</a:t>
            </a:r>
            <a:r>
              <a:rPr lang="en-US" sz="1900" i="1" dirty="0">
                <a:solidFill>
                  <a:schemeClr val="tx1"/>
                </a:solidFill>
              </a:rPr>
              <a:t> de eigenaar aan de prijs wil vasthouden, </a:t>
            </a:r>
            <a:r>
              <a:rPr lang="en-US" sz="1900" b="1" i="1" dirty="0">
                <a:solidFill>
                  <a:schemeClr val="tx1"/>
                </a:solidFill>
              </a:rPr>
              <a:t>zoeken we</a:t>
            </a:r>
            <a:r>
              <a:rPr lang="en-US" sz="1900" i="1" dirty="0">
                <a:solidFill>
                  <a:schemeClr val="tx1"/>
                </a:solidFill>
              </a:rPr>
              <a:t> een compromis.</a:t>
            </a:r>
            <a:endParaRPr lang="en-US" sz="1900" dirty="0"/>
          </a:p>
          <a:p>
            <a:pPr marL="177800" indent="-177800">
              <a:spcAft>
                <a:spcPts val="600"/>
              </a:spcAft>
              <a:buSzPct val="100000"/>
              <a:buChar char="•"/>
            </a:pPr>
            <a:r>
              <a:rPr lang="en-US" sz="1900" dirty="0">
                <a:solidFill>
                  <a:schemeClr val="tx1"/>
                </a:solidFill>
              </a:rPr>
              <a:t>La subordonnée en tête = </a:t>
            </a:r>
            <a:r>
              <a:rPr lang="en-US" sz="1900" b="1" dirty="0">
                <a:solidFill>
                  <a:schemeClr val="tx1"/>
                </a:solidFill>
              </a:rPr>
              <a:t>un seul élément</a:t>
            </a:r>
            <a:r>
              <a:rPr lang="en-US" sz="1900" dirty="0">
                <a:solidFill>
                  <a:schemeClr val="tx1"/>
                </a:solidFill>
              </a:rPr>
              <a:t> : le verbe suit.</a:t>
            </a:r>
            <a:endParaRPr lang="en-US" sz="1900" dirty="0"/>
          </a:p>
        </p:txBody>
      </p:sp>
      <p:sp>
        <p:nvSpPr>
          <p:cNvPr id="24" name="Shape 21"/>
          <p:cNvSpPr/>
          <p:nvPr/>
        </p:nvSpPr>
        <p:spPr>
          <a:xfrm>
            <a:off x="548640" y="5565648"/>
            <a:ext cx="11091672" cy="725424"/>
          </a:xfrm>
          <a:prstGeom prst="roundRect">
            <a:avLst>
              <a:gd name="adj" fmla="val 10084"/>
            </a:avLst>
          </a:prstGeom>
          <a:solidFill>
            <a:schemeClr val="accent6">
              <a:alpha val="10000"/>
            </a:schemeClr>
          </a:solidFill>
          <a:ln w="9525">
            <a:solidFill>
              <a:schemeClr val="accent6">
                <a:alpha val="70000"/>
              </a:schemeClr>
            </a:solidFill>
            <a:prstDash val="solid"/>
          </a:ln>
        </p:spPr>
      </p:sp>
      <p:pic>
        <p:nvPicPr>
          <p:cNvPr id="25" name="Image 0" descr="preencoded.png">    </p:cNvPr>
          <p:cNvPicPr>
            <a:picLocks noChangeAspect="1"/>
          </p:cNvPicPr>
          <p:nvPr/>
        </p:nvPicPr>
        <p:blipFill>
          <a:blip r:embed="rId1"/>
          <a:stretch>
            <a:fillRect/>
          </a:stretch>
        </p:blipFill>
        <p:spPr>
          <a:xfrm>
            <a:off x="749808" y="5763768"/>
            <a:ext cx="329184" cy="329184"/>
          </a:xfrm>
          <a:prstGeom prst="rect">
            <a:avLst/>
          </a:prstGeom>
        </p:spPr>
      </p:pic>
      <p:sp>
        <p:nvSpPr>
          <p:cNvPr id="26" name="Text 22"/>
          <p:cNvSpPr txBox="1"/>
          <p:nvPr/>
        </p:nvSpPr>
        <p:spPr>
          <a:xfrm>
            <a:off x="1234440" y="5602224"/>
            <a:ext cx="10287000" cy="652272"/>
          </a:xfrm>
          <a:prstGeom prst="rect">
            <a:avLst/>
          </a:prstGeom>
          <a:noFill/>
          <a:ln/>
        </p:spPr>
        <p:txBody>
          <a:bodyPr wrap="square" lIns="0" tIns="0" rIns="0" bIns="0" rtlCol="0" anchor="ctr"/>
          <a:lstStyle/>
          <a:p>
            <a:pPr indent="0" marL="0">
              <a:buNone/>
            </a:pPr>
            <a:r>
              <a:rPr lang="en-US" sz="1700" b="1" dirty="0">
                <a:solidFill>
                  <a:schemeClr val="accent6"/>
                </a:solidFill>
              </a:rPr>
              <a:t>Piège pour francophones — </a:t>
            </a:r>
            <a:r>
              <a:rPr lang="en-US" sz="1700" dirty="0">
                <a:solidFill>
                  <a:schemeClr val="tx1"/>
                </a:solidFill>
              </a:rPr>
              <a:t>En français, l’ordre ne change pas. En néerlandais : ✗ </a:t>
            </a:r>
            <a:r>
              <a:rPr lang="en-US" sz="1700" i="1" dirty="0">
                <a:solidFill>
                  <a:schemeClr val="tx1"/>
                </a:solidFill>
              </a:rPr>
              <a:t>omdat ik moet het dossier voorbereiden</a:t>
            </a:r>
            <a:r>
              <a:rPr lang="en-US" sz="1700" dirty="0">
                <a:solidFill>
                  <a:schemeClr val="tx1"/>
                </a:solidFill>
              </a:rPr>
              <a:t> · ✗ </a:t>
            </a:r>
            <a:r>
              <a:rPr lang="en-US" sz="1700" i="1" dirty="0">
                <a:solidFill>
                  <a:schemeClr val="tx1"/>
                </a:solidFill>
              </a:rPr>
              <a:t>zodra ik bel u op</a:t>
            </a:r>
            <a:r>
              <a:rPr lang="en-US" sz="1700" dirty="0">
                <a:solidFill>
                  <a:schemeClr val="tx1"/>
                </a:solidFill>
              </a:rPr>
              <a:t> · ✗ </a:t>
            </a:r>
            <a:r>
              <a:rPr lang="en-US" sz="1700" i="1" dirty="0">
                <a:solidFill>
                  <a:schemeClr val="tx1"/>
                </a:solidFill>
              </a:rPr>
              <a:t>Zodra het bod binnen is, ik bel u op</a:t>
            </a:r>
            <a:r>
              <a:rPr lang="en-US" sz="1700" dirty="0">
                <a:solidFill>
                  <a:schemeClr val="tx1"/>
                </a:solidFill>
              </a:rPr>
              <a:t>.</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Les trois cas en blocs de couleur</a:t>
            </a:r>
            <a:endParaRPr lang="en-US" sz="3200" dirty="0"/>
          </a:p>
        </p:txBody>
      </p:sp>
      <p:sp>
        <p:nvSpPr>
          <p:cNvPr id="3" name="tag"/>
          <p:cNvSpPr/>
          <p:nvPr/>
        </p:nvSpPr>
        <p:spPr>
          <a:xfrm>
            <a:off x="548640" y="237744"/>
            <a:ext cx="15087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GRAMMATICA</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Le </a:t>
            </a:r>
            <a:r>
              <a:rPr lang="en-US" sz="1800" b="1" dirty="0">
                <a:solidFill>
                  <a:schemeClr val="tx1"/>
                </a:solidFill>
              </a:rPr>
              <a:t>verbe conjugué</a:t>
            </a:r>
            <a:r>
              <a:rPr lang="en-US" sz="1800" dirty="0">
                <a:solidFill>
                  <a:schemeClr val="tx1"/>
                </a:solidFill>
              </a:rPr>
              <a:t> (rouge) et les </a:t>
            </a:r>
            <a:r>
              <a:rPr lang="en-US" sz="1800" b="1" dirty="0">
                <a:solidFill>
                  <a:schemeClr val="tx1"/>
                </a:solidFill>
              </a:rPr>
              <a:t>verbes en fin</a:t>
            </a:r>
            <a:r>
              <a:rPr lang="en-US" sz="1800" dirty="0">
                <a:solidFill>
                  <a:schemeClr val="tx1"/>
                </a:solidFill>
              </a:rPr>
              <a:t> (orange) : suivez-les d’un cas à l’autre.</a:t>
            </a:r>
            <a:endParaRPr lang="en-US" sz="1800" dirty="0"/>
          </a:p>
        </p:txBody>
      </p:sp>
      <p:sp>
        <p:nvSpPr>
          <p:cNvPr id="7" name="Text 4"/>
          <p:cNvSpPr txBox="1"/>
          <p:nvPr/>
        </p:nvSpPr>
        <p:spPr>
          <a:xfrm>
            <a:off x="548640" y="2185416"/>
            <a:ext cx="1463040" cy="658368"/>
          </a:xfrm>
          <a:prstGeom prst="rect">
            <a:avLst/>
          </a:prstGeom>
          <a:noFill/>
          <a:ln/>
        </p:spPr>
        <p:txBody>
          <a:bodyPr wrap="square" lIns="0" tIns="0" rIns="0" bIns="0" rtlCol="0" anchor="ctr"/>
          <a:lstStyle/>
          <a:p>
            <a:pPr indent="0" marL="0">
              <a:buNone/>
            </a:pPr>
            <a:r>
              <a:rPr lang="en-US" sz="1400" b="1" dirty="0">
                <a:solidFill>
                  <a:schemeClr val="accent5"/>
                </a:solidFill>
              </a:rPr>
              <a:t>Deux verbes</a:t>
            </a:r>
            <a:endParaRPr lang="en-US" sz="1400" dirty="0"/>
          </a:p>
        </p:txBody>
      </p:sp>
      <p:sp>
        <p:nvSpPr>
          <p:cNvPr id="8" name="Text 5"/>
          <p:cNvSpPr txBox="1"/>
          <p:nvPr/>
        </p:nvSpPr>
        <p:spPr>
          <a:xfrm>
            <a:off x="2103120" y="1947672"/>
            <a:ext cx="61398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9" name="Shape 6"/>
          <p:cNvSpPr/>
          <p:nvPr/>
        </p:nvSpPr>
        <p:spPr>
          <a:xfrm>
            <a:off x="2103120" y="2185416"/>
            <a:ext cx="613982" cy="658368"/>
          </a:xfrm>
          <a:prstGeom prst="roundRect">
            <a:avLst>
              <a:gd name="adj" fmla="val 8936"/>
            </a:avLst>
          </a:prstGeom>
          <a:solidFill>
            <a:schemeClr val="tx2">
              <a:alpha val="88000"/>
            </a:schemeClr>
          </a:solidFill>
          <a:ln w="12700">
            <a:solidFill>
              <a:srgbClr val="17375E"/>
            </a:solidFill>
            <a:prstDash val="solid"/>
          </a:ln>
        </p:spPr>
      </p:sp>
      <p:sp>
        <p:nvSpPr>
          <p:cNvPr id="10" name="Text 7"/>
          <p:cNvSpPr txBox="1"/>
          <p:nvPr/>
        </p:nvSpPr>
        <p:spPr>
          <a:xfrm>
            <a:off x="2139696" y="2185416"/>
            <a:ext cx="540830" cy="658368"/>
          </a:xfrm>
          <a:prstGeom prst="rect">
            <a:avLst/>
          </a:prstGeom>
          <a:noFill/>
          <a:ln/>
        </p:spPr>
        <p:txBody>
          <a:bodyPr wrap="square" lIns="0" tIns="0" rIns="0" bIns="0" rtlCol="0" anchor="ctr"/>
          <a:lstStyle/>
          <a:p>
            <a:pPr algn="ctr" indent="0" marL="0">
              <a:buNone/>
            </a:pPr>
            <a:r>
              <a:rPr lang="en-US" sz="2190" b="1" dirty="0">
                <a:solidFill>
                  <a:schemeClr val="bg1"/>
                </a:solidFill>
              </a:rPr>
              <a:t>Ik</a:t>
            </a:r>
            <a:endParaRPr lang="en-US" sz="2190" dirty="0"/>
          </a:p>
        </p:txBody>
      </p:sp>
      <p:sp>
        <p:nvSpPr>
          <p:cNvPr id="11" name="Text 8"/>
          <p:cNvSpPr txBox="1"/>
          <p:nvPr/>
        </p:nvSpPr>
        <p:spPr>
          <a:xfrm>
            <a:off x="2815339" y="1947672"/>
            <a:ext cx="684931"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12" name="Shape 9"/>
          <p:cNvSpPr/>
          <p:nvPr/>
        </p:nvSpPr>
        <p:spPr>
          <a:xfrm>
            <a:off x="2815339" y="2185416"/>
            <a:ext cx="684931" cy="658368"/>
          </a:xfrm>
          <a:prstGeom prst="roundRect">
            <a:avLst>
              <a:gd name="adj" fmla="val 8333"/>
            </a:avLst>
          </a:prstGeom>
          <a:solidFill>
            <a:schemeClr val="accent6">
              <a:alpha val="88000"/>
            </a:schemeClr>
          </a:solidFill>
          <a:ln w="12700">
            <a:solidFill>
              <a:srgbClr val="B83227"/>
            </a:solidFill>
            <a:prstDash val="solid"/>
          </a:ln>
        </p:spPr>
      </p:sp>
      <p:sp>
        <p:nvSpPr>
          <p:cNvPr id="13" name="Text 10"/>
          <p:cNvSpPr txBox="1"/>
          <p:nvPr/>
        </p:nvSpPr>
        <p:spPr>
          <a:xfrm>
            <a:off x="2851915" y="2185416"/>
            <a:ext cx="611779" cy="658368"/>
          </a:xfrm>
          <a:prstGeom prst="rect">
            <a:avLst/>
          </a:prstGeom>
          <a:noFill/>
          <a:ln/>
        </p:spPr>
        <p:txBody>
          <a:bodyPr wrap="square" lIns="0" tIns="0" rIns="0" bIns="0" rtlCol="0" anchor="ctr"/>
          <a:lstStyle/>
          <a:p>
            <a:pPr algn="ctr" indent="0" marL="0">
              <a:buNone/>
            </a:pPr>
            <a:r>
              <a:rPr lang="en-US" sz="2190" b="1" dirty="0">
                <a:solidFill>
                  <a:schemeClr val="bg1"/>
                </a:solidFill>
              </a:rPr>
              <a:t>heb</a:t>
            </a:r>
            <a:endParaRPr lang="en-US" sz="2190" dirty="0"/>
          </a:p>
        </p:txBody>
      </p:sp>
      <p:sp>
        <p:nvSpPr>
          <p:cNvPr id="14" name="Text 11"/>
          <p:cNvSpPr txBox="1"/>
          <p:nvPr/>
        </p:nvSpPr>
        <p:spPr>
          <a:xfrm>
            <a:off x="3598508" y="1947672"/>
            <a:ext cx="1595444"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5" name="Shape 12"/>
          <p:cNvSpPr/>
          <p:nvPr/>
        </p:nvSpPr>
        <p:spPr>
          <a:xfrm>
            <a:off x="3598508" y="2185416"/>
            <a:ext cx="1595444" cy="658368"/>
          </a:xfrm>
          <a:prstGeom prst="roundRect">
            <a:avLst>
              <a:gd name="adj" fmla="val 8333"/>
            </a:avLst>
          </a:prstGeom>
          <a:solidFill>
            <a:schemeClr val="accent5">
              <a:alpha val="25000"/>
            </a:schemeClr>
          </a:solidFill>
          <a:ln w="12700">
            <a:solidFill>
              <a:srgbClr val="4A5A70"/>
            </a:solidFill>
            <a:prstDash val="solid"/>
          </a:ln>
        </p:spPr>
      </p:sp>
      <p:sp>
        <p:nvSpPr>
          <p:cNvPr id="16" name="Text 13"/>
          <p:cNvSpPr txBox="1"/>
          <p:nvPr/>
        </p:nvSpPr>
        <p:spPr>
          <a:xfrm>
            <a:off x="3635084" y="2185416"/>
            <a:ext cx="1522292" cy="658368"/>
          </a:xfrm>
          <a:prstGeom prst="rect">
            <a:avLst/>
          </a:prstGeom>
          <a:noFill/>
          <a:ln/>
        </p:spPr>
        <p:txBody>
          <a:bodyPr wrap="square" lIns="0" tIns="0" rIns="0" bIns="0" rtlCol="0" anchor="ctr"/>
          <a:lstStyle/>
          <a:p>
            <a:pPr algn="ctr" indent="0" marL="0">
              <a:buNone/>
            </a:pPr>
            <a:r>
              <a:rPr lang="en-US" sz="2190" b="1" dirty="0">
                <a:solidFill>
                  <a:schemeClr val="tx1"/>
                </a:solidFill>
              </a:rPr>
              <a:t>geen tijd,</a:t>
            </a:r>
            <a:endParaRPr lang="en-US" sz="2190" dirty="0"/>
          </a:p>
        </p:txBody>
      </p:sp>
      <p:sp>
        <p:nvSpPr>
          <p:cNvPr id="17" name="Text 14"/>
          <p:cNvSpPr txBox="1"/>
          <p:nvPr/>
        </p:nvSpPr>
        <p:spPr>
          <a:xfrm>
            <a:off x="5292190" y="1947672"/>
            <a:ext cx="945078"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18" name="Shape 15"/>
          <p:cNvSpPr/>
          <p:nvPr/>
        </p:nvSpPr>
        <p:spPr>
          <a:xfrm>
            <a:off x="5292190" y="2185416"/>
            <a:ext cx="945078" cy="658368"/>
          </a:xfrm>
          <a:prstGeom prst="roundRect">
            <a:avLst>
              <a:gd name="adj" fmla="val 8333"/>
            </a:avLst>
          </a:prstGeom>
          <a:solidFill>
            <a:srgbClr val="6E4A9E">
              <a:alpha val="88000"/>
            </a:srgbClr>
          </a:solidFill>
          <a:ln w="12700">
            <a:solidFill>
              <a:srgbClr val="6E4A9E"/>
            </a:solidFill>
            <a:prstDash val="solid"/>
          </a:ln>
        </p:spPr>
      </p:sp>
      <p:sp>
        <p:nvSpPr>
          <p:cNvPr id="19" name="Text 16"/>
          <p:cNvSpPr txBox="1"/>
          <p:nvPr/>
        </p:nvSpPr>
        <p:spPr>
          <a:xfrm>
            <a:off x="5328766" y="2185416"/>
            <a:ext cx="871926" cy="658368"/>
          </a:xfrm>
          <a:prstGeom prst="rect">
            <a:avLst/>
          </a:prstGeom>
          <a:noFill/>
          <a:ln/>
        </p:spPr>
        <p:txBody>
          <a:bodyPr wrap="square" lIns="0" tIns="0" rIns="0" bIns="0" rtlCol="0" anchor="ctr"/>
          <a:lstStyle/>
          <a:p>
            <a:pPr algn="ctr" indent="0" marL="0">
              <a:buNone/>
            </a:pPr>
            <a:r>
              <a:rPr lang="en-US" sz="2190" b="1" dirty="0">
                <a:solidFill>
                  <a:schemeClr val="bg1"/>
                </a:solidFill>
              </a:rPr>
              <a:t>omdat</a:t>
            </a:r>
            <a:endParaRPr lang="en-US" sz="2190" dirty="0"/>
          </a:p>
        </p:txBody>
      </p:sp>
      <p:sp>
        <p:nvSpPr>
          <p:cNvPr id="20" name="Text 17"/>
          <p:cNvSpPr txBox="1"/>
          <p:nvPr/>
        </p:nvSpPr>
        <p:spPr>
          <a:xfrm>
            <a:off x="6335505" y="1947672"/>
            <a:ext cx="613982"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21" name="Shape 18"/>
          <p:cNvSpPr/>
          <p:nvPr/>
        </p:nvSpPr>
        <p:spPr>
          <a:xfrm>
            <a:off x="6335505" y="2185416"/>
            <a:ext cx="613982" cy="658368"/>
          </a:xfrm>
          <a:prstGeom prst="roundRect">
            <a:avLst>
              <a:gd name="adj" fmla="val 8936"/>
            </a:avLst>
          </a:prstGeom>
          <a:solidFill>
            <a:schemeClr val="tx2">
              <a:alpha val="88000"/>
            </a:schemeClr>
          </a:solidFill>
          <a:ln w="12700">
            <a:solidFill>
              <a:srgbClr val="17375E"/>
            </a:solidFill>
            <a:prstDash val="solid"/>
          </a:ln>
        </p:spPr>
      </p:sp>
      <p:sp>
        <p:nvSpPr>
          <p:cNvPr id="22" name="Text 19"/>
          <p:cNvSpPr txBox="1"/>
          <p:nvPr/>
        </p:nvSpPr>
        <p:spPr>
          <a:xfrm>
            <a:off x="6372081" y="2185416"/>
            <a:ext cx="540830" cy="658368"/>
          </a:xfrm>
          <a:prstGeom prst="rect">
            <a:avLst/>
          </a:prstGeom>
          <a:noFill/>
          <a:ln/>
        </p:spPr>
        <p:txBody>
          <a:bodyPr wrap="square" lIns="0" tIns="0" rIns="0" bIns="0" rtlCol="0" anchor="ctr"/>
          <a:lstStyle/>
          <a:p>
            <a:pPr algn="ctr" indent="0" marL="0">
              <a:buNone/>
            </a:pPr>
            <a:r>
              <a:rPr lang="en-US" sz="2190" b="1" dirty="0">
                <a:solidFill>
                  <a:schemeClr val="bg1"/>
                </a:solidFill>
              </a:rPr>
              <a:t>ik</a:t>
            </a:r>
            <a:endParaRPr lang="en-US" sz="2190" dirty="0"/>
          </a:p>
        </p:txBody>
      </p:sp>
      <p:sp>
        <p:nvSpPr>
          <p:cNvPr id="23" name="Text 20"/>
          <p:cNvSpPr txBox="1"/>
          <p:nvPr/>
        </p:nvSpPr>
        <p:spPr>
          <a:xfrm>
            <a:off x="7047724" y="1947672"/>
            <a:ext cx="1725518"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24" name="Shape 21"/>
          <p:cNvSpPr/>
          <p:nvPr/>
        </p:nvSpPr>
        <p:spPr>
          <a:xfrm>
            <a:off x="7047724" y="2185416"/>
            <a:ext cx="1725518" cy="658368"/>
          </a:xfrm>
          <a:prstGeom prst="roundRect">
            <a:avLst>
              <a:gd name="adj" fmla="val 8333"/>
            </a:avLst>
          </a:prstGeom>
          <a:solidFill>
            <a:schemeClr val="accent5">
              <a:alpha val="25000"/>
            </a:schemeClr>
          </a:solidFill>
          <a:ln w="12700">
            <a:solidFill>
              <a:srgbClr val="4A5A70"/>
            </a:solidFill>
            <a:prstDash val="solid"/>
          </a:ln>
        </p:spPr>
      </p:sp>
      <p:sp>
        <p:nvSpPr>
          <p:cNvPr id="25" name="Text 22"/>
          <p:cNvSpPr txBox="1"/>
          <p:nvPr/>
        </p:nvSpPr>
        <p:spPr>
          <a:xfrm>
            <a:off x="7084300" y="2185416"/>
            <a:ext cx="1652366" cy="658368"/>
          </a:xfrm>
          <a:prstGeom prst="rect">
            <a:avLst/>
          </a:prstGeom>
          <a:noFill/>
          <a:ln/>
        </p:spPr>
        <p:txBody>
          <a:bodyPr wrap="square" lIns="0" tIns="0" rIns="0" bIns="0" rtlCol="0" anchor="ctr"/>
          <a:lstStyle/>
          <a:p>
            <a:pPr algn="ctr" indent="0" marL="0">
              <a:buNone/>
            </a:pPr>
            <a:r>
              <a:rPr lang="en-US" sz="2190" b="1" dirty="0">
                <a:solidFill>
                  <a:schemeClr val="tx1"/>
                </a:solidFill>
              </a:rPr>
              <a:t>het dossier</a:t>
            </a:r>
            <a:endParaRPr lang="en-US" sz="2190" dirty="0"/>
          </a:p>
        </p:txBody>
      </p:sp>
      <p:sp>
        <p:nvSpPr>
          <p:cNvPr id="26" name="Text 23"/>
          <p:cNvSpPr txBox="1"/>
          <p:nvPr/>
        </p:nvSpPr>
        <p:spPr>
          <a:xfrm>
            <a:off x="8871479" y="1947672"/>
            <a:ext cx="815005"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27" name="Shape 24"/>
          <p:cNvSpPr/>
          <p:nvPr/>
        </p:nvSpPr>
        <p:spPr>
          <a:xfrm>
            <a:off x="8871479" y="2185416"/>
            <a:ext cx="815005" cy="658368"/>
          </a:xfrm>
          <a:prstGeom prst="roundRect">
            <a:avLst>
              <a:gd name="adj" fmla="val 8333"/>
            </a:avLst>
          </a:prstGeom>
          <a:solidFill>
            <a:schemeClr val="accent6">
              <a:alpha val="88000"/>
            </a:schemeClr>
          </a:solidFill>
          <a:ln w="12700">
            <a:solidFill>
              <a:srgbClr val="B83227"/>
            </a:solidFill>
            <a:prstDash val="solid"/>
          </a:ln>
        </p:spPr>
      </p:sp>
      <p:sp>
        <p:nvSpPr>
          <p:cNvPr id="28" name="Text 25"/>
          <p:cNvSpPr txBox="1"/>
          <p:nvPr/>
        </p:nvSpPr>
        <p:spPr>
          <a:xfrm>
            <a:off x="8908055" y="2185416"/>
            <a:ext cx="741853" cy="658368"/>
          </a:xfrm>
          <a:prstGeom prst="rect">
            <a:avLst/>
          </a:prstGeom>
          <a:noFill/>
          <a:ln/>
        </p:spPr>
        <p:txBody>
          <a:bodyPr wrap="square" lIns="0" tIns="0" rIns="0" bIns="0" rtlCol="0" anchor="ctr"/>
          <a:lstStyle/>
          <a:p>
            <a:pPr algn="ctr" indent="0" marL="0">
              <a:buNone/>
            </a:pPr>
            <a:r>
              <a:rPr lang="en-US" sz="2190" b="1" dirty="0">
                <a:solidFill>
                  <a:schemeClr val="bg1"/>
                </a:solidFill>
              </a:rPr>
              <a:t>moet</a:t>
            </a:r>
            <a:endParaRPr lang="en-US" sz="2190" dirty="0"/>
          </a:p>
        </p:txBody>
      </p:sp>
      <p:sp>
        <p:nvSpPr>
          <p:cNvPr id="29" name="Text 26"/>
          <p:cNvSpPr txBox="1"/>
          <p:nvPr/>
        </p:nvSpPr>
        <p:spPr>
          <a:xfrm>
            <a:off x="9784721" y="1947672"/>
            <a:ext cx="1855591"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30" name="Shape 27"/>
          <p:cNvSpPr/>
          <p:nvPr/>
        </p:nvSpPr>
        <p:spPr>
          <a:xfrm>
            <a:off x="9784721" y="2185416"/>
            <a:ext cx="1855591" cy="658368"/>
          </a:xfrm>
          <a:prstGeom prst="roundRect">
            <a:avLst>
              <a:gd name="adj" fmla="val 8333"/>
            </a:avLst>
          </a:prstGeom>
          <a:solidFill>
            <a:schemeClr val="accent1">
              <a:alpha val="88000"/>
            </a:schemeClr>
          </a:solidFill>
          <a:ln w="12700">
            <a:solidFill>
              <a:srgbClr val="D9700F"/>
            </a:solidFill>
            <a:prstDash val="solid"/>
          </a:ln>
        </p:spPr>
      </p:sp>
      <p:sp>
        <p:nvSpPr>
          <p:cNvPr id="31" name="Text 28"/>
          <p:cNvSpPr txBox="1"/>
          <p:nvPr/>
        </p:nvSpPr>
        <p:spPr>
          <a:xfrm>
            <a:off x="9821297" y="2185416"/>
            <a:ext cx="1782439" cy="658368"/>
          </a:xfrm>
          <a:prstGeom prst="rect">
            <a:avLst/>
          </a:prstGeom>
          <a:noFill/>
          <a:ln/>
        </p:spPr>
        <p:txBody>
          <a:bodyPr wrap="square" lIns="0" tIns="0" rIns="0" bIns="0" rtlCol="0" anchor="ctr"/>
          <a:lstStyle/>
          <a:p>
            <a:pPr algn="ctr" indent="0" marL="0">
              <a:buNone/>
            </a:pPr>
            <a:r>
              <a:rPr lang="en-US" sz="2190" b="1" dirty="0">
                <a:solidFill>
                  <a:schemeClr val="bg1"/>
                </a:solidFill>
              </a:rPr>
              <a:t>voorbereiden</a:t>
            </a:r>
            <a:endParaRPr lang="en-US" sz="2190" dirty="0"/>
          </a:p>
        </p:txBody>
      </p:sp>
      <p:sp>
        <p:nvSpPr>
          <p:cNvPr id="32" name="Text 29"/>
          <p:cNvSpPr txBox="1"/>
          <p:nvPr/>
        </p:nvSpPr>
        <p:spPr>
          <a:xfrm>
            <a:off x="548640" y="3271266"/>
            <a:ext cx="1463040" cy="658368"/>
          </a:xfrm>
          <a:prstGeom prst="rect">
            <a:avLst/>
          </a:prstGeom>
          <a:noFill/>
          <a:ln/>
        </p:spPr>
        <p:txBody>
          <a:bodyPr wrap="square" lIns="0" tIns="0" rIns="0" bIns="0" rtlCol="0" anchor="ctr"/>
          <a:lstStyle/>
          <a:p>
            <a:pPr indent="0" marL="0">
              <a:buNone/>
            </a:pPr>
            <a:r>
              <a:rPr lang="en-US" sz="1400" b="1" dirty="0">
                <a:solidFill>
                  <a:schemeClr val="accent5"/>
                </a:solidFill>
              </a:rPr>
              <a:t>Perfectum</a:t>
            </a:r>
            <a:endParaRPr lang="en-US" sz="1400" dirty="0"/>
          </a:p>
        </p:txBody>
      </p:sp>
      <p:sp>
        <p:nvSpPr>
          <p:cNvPr id="33" name="Text 30"/>
          <p:cNvSpPr txBox="1"/>
          <p:nvPr/>
        </p:nvSpPr>
        <p:spPr>
          <a:xfrm>
            <a:off x="2103120" y="3033522"/>
            <a:ext cx="1044827"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34" name="Shape 31"/>
          <p:cNvSpPr/>
          <p:nvPr/>
        </p:nvSpPr>
        <p:spPr>
          <a:xfrm>
            <a:off x="2103120" y="3271266"/>
            <a:ext cx="1044827" cy="658368"/>
          </a:xfrm>
          <a:prstGeom prst="roundRect">
            <a:avLst>
              <a:gd name="adj" fmla="val 8333"/>
            </a:avLst>
          </a:prstGeom>
          <a:solidFill>
            <a:srgbClr val="6E4A9E">
              <a:alpha val="88000"/>
            </a:srgbClr>
          </a:solidFill>
          <a:ln w="12700">
            <a:solidFill>
              <a:srgbClr val="6E4A9E"/>
            </a:solidFill>
            <a:prstDash val="solid"/>
          </a:ln>
        </p:spPr>
      </p:sp>
      <p:sp>
        <p:nvSpPr>
          <p:cNvPr id="35" name="Text 32"/>
          <p:cNvSpPr txBox="1"/>
          <p:nvPr/>
        </p:nvSpPr>
        <p:spPr>
          <a:xfrm>
            <a:off x="2139696" y="3271266"/>
            <a:ext cx="971675" cy="658368"/>
          </a:xfrm>
          <a:prstGeom prst="rect">
            <a:avLst/>
          </a:prstGeom>
          <a:noFill/>
          <a:ln/>
        </p:spPr>
        <p:txBody>
          <a:bodyPr wrap="square" lIns="0" tIns="0" rIns="0" bIns="0" rtlCol="0" anchor="ctr"/>
          <a:lstStyle/>
          <a:p>
            <a:pPr algn="ctr" indent="0" marL="0">
              <a:buNone/>
            </a:pPr>
            <a:r>
              <a:rPr lang="en-US" sz="2200" b="1" dirty="0">
                <a:solidFill>
                  <a:schemeClr val="bg1"/>
                </a:solidFill>
              </a:rPr>
              <a:t>Nadat</a:t>
            </a:r>
            <a:endParaRPr lang="en-US" sz="2200" dirty="0"/>
          </a:p>
        </p:txBody>
      </p:sp>
      <p:sp>
        <p:nvSpPr>
          <p:cNvPr id="36" name="Text 33"/>
          <p:cNvSpPr txBox="1"/>
          <p:nvPr/>
        </p:nvSpPr>
        <p:spPr>
          <a:xfrm>
            <a:off x="3256553" y="3033522"/>
            <a:ext cx="678786"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37" name="Shape 34"/>
          <p:cNvSpPr/>
          <p:nvPr/>
        </p:nvSpPr>
        <p:spPr>
          <a:xfrm>
            <a:off x="3256553" y="3271266"/>
            <a:ext cx="678786" cy="658368"/>
          </a:xfrm>
          <a:prstGeom prst="roundRect">
            <a:avLst>
              <a:gd name="adj" fmla="val 8333"/>
            </a:avLst>
          </a:prstGeom>
          <a:solidFill>
            <a:schemeClr val="tx2">
              <a:alpha val="88000"/>
            </a:schemeClr>
          </a:solidFill>
          <a:ln w="12700">
            <a:solidFill>
              <a:srgbClr val="17375E"/>
            </a:solidFill>
            <a:prstDash val="solid"/>
          </a:ln>
        </p:spPr>
      </p:sp>
      <p:sp>
        <p:nvSpPr>
          <p:cNvPr id="38" name="Text 35"/>
          <p:cNvSpPr txBox="1"/>
          <p:nvPr/>
        </p:nvSpPr>
        <p:spPr>
          <a:xfrm>
            <a:off x="3293129" y="3271266"/>
            <a:ext cx="605634" cy="658368"/>
          </a:xfrm>
          <a:prstGeom prst="rect">
            <a:avLst/>
          </a:prstGeom>
          <a:noFill/>
          <a:ln/>
        </p:spPr>
        <p:txBody>
          <a:bodyPr wrap="square" lIns="0" tIns="0" rIns="0" bIns="0" rtlCol="0" anchor="ctr"/>
          <a:lstStyle/>
          <a:p>
            <a:pPr algn="ctr" indent="0" marL="0">
              <a:buNone/>
            </a:pPr>
            <a:r>
              <a:rPr lang="en-US" sz="2200" b="1" dirty="0">
                <a:solidFill>
                  <a:schemeClr val="bg1"/>
                </a:solidFill>
              </a:rPr>
              <a:t>we</a:t>
            </a:r>
            <a:endParaRPr lang="en-US" sz="2200" dirty="0"/>
          </a:p>
        </p:txBody>
      </p:sp>
      <p:sp>
        <p:nvSpPr>
          <p:cNvPr id="39" name="Text 36"/>
          <p:cNvSpPr txBox="1"/>
          <p:nvPr/>
        </p:nvSpPr>
        <p:spPr>
          <a:xfrm>
            <a:off x="4043945" y="3033522"/>
            <a:ext cx="1620035"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40" name="Shape 37"/>
          <p:cNvSpPr/>
          <p:nvPr/>
        </p:nvSpPr>
        <p:spPr>
          <a:xfrm>
            <a:off x="4043945" y="3271266"/>
            <a:ext cx="1620035" cy="658368"/>
          </a:xfrm>
          <a:prstGeom prst="roundRect">
            <a:avLst>
              <a:gd name="adj" fmla="val 8333"/>
            </a:avLst>
          </a:prstGeom>
          <a:solidFill>
            <a:schemeClr val="accent5">
              <a:alpha val="25000"/>
            </a:schemeClr>
          </a:solidFill>
          <a:ln w="12700">
            <a:solidFill>
              <a:srgbClr val="4A5A70"/>
            </a:solidFill>
            <a:prstDash val="solid"/>
          </a:ln>
        </p:spPr>
      </p:sp>
      <p:sp>
        <p:nvSpPr>
          <p:cNvPr id="41" name="Text 38"/>
          <p:cNvSpPr txBox="1"/>
          <p:nvPr/>
        </p:nvSpPr>
        <p:spPr>
          <a:xfrm>
            <a:off x="4080521" y="3271266"/>
            <a:ext cx="1546883" cy="658368"/>
          </a:xfrm>
          <a:prstGeom prst="rect">
            <a:avLst/>
          </a:prstGeom>
          <a:noFill/>
          <a:ln/>
        </p:spPr>
        <p:txBody>
          <a:bodyPr wrap="square" lIns="0" tIns="0" rIns="0" bIns="0" rtlCol="0" anchor="ctr"/>
          <a:lstStyle/>
          <a:p>
            <a:pPr algn="ctr" indent="0" marL="0">
              <a:buNone/>
            </a:pPr>
            <a:r>
              <a:rPr lang="en-US" sz="2200" b="1" dirty="0">
                <a:solidFill>
                  <a:schemeClr val="tx1"/>
                </a:solidFill>
              </a:rPr>
              <a:t>de woning</a:t>
            </a:r>
            <a:endParaRPr lang="en-US" sz="2200" dirty="0"/>
          </a:p>
        </p:txBody>
      </p:sp>
      <p:sp>
        <p:nvSpPr>
          <p:cNvPr id="42" name="Text 39"/>
          <p:cNvSpPr txBox="1"/>
          <p:nvPr/>
        </p:nvSpPr>
        <p:spPr>
          <a:xfrm>
            <a:off x="5772586" y="3033522"/>
            <a:ext cx="1476233"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43" name="Shape 40"/>
          <p:cNvSpPr/>
          <p:nvPr/>
        </p:nvSpPr>
        <p:spPr>
          <a:xfrm>
            <a:off x="5772586" y="3271266"/>
            <a:ext cx="1476233" cy="658368"/>
          </a:xfrm>
          <a:prstGeom prst="roundRect">
            <a:avLst>
              <a:gd name="adj" fmla="val 8333"/>
            </a:avLst>
          </a:prstGeom>
          <a:solidFill>
            <a:schemeClr val="accent1">
              <a:alpha val="88000"/>
            </a:schemeClr>
          </a:solidFill>
          <a:ln w="12700">
            <a:solidFill>
              <a:srgbClr val="D9700F"/>
            </a:solidFill>
            <a:prstDash val="solid"/>
          </a:ln>
        </p:spPr>
      </p:sp>
      <p:sp>
        <p:nvSpPr>
          <p:cNvPr id="44" name="Text 41"/>
          <p:cNvSpPr txBox="1"/>
          <p:nvPr/>
        </p:nvSpPr>
        <p:spPr>
          <a:xfrm>
            <a:off x="5809162" y="3271266"/>
            <a:ext cx="1403081" cy="658368"/>
          </a:xfrm>
          <a:prstGeom prst="rect">
            <a:avLst/>
          </a:prstGeom>
          <a:noFill/>
          <a:ln/>
        </p:spPr>
        <p:txBody>
          <a:bodyPr wrap="square" lIns="0" tIns="0" rIns="0" bIns="0" rtlCol="0" anchor="ctr"/>
          <a:lstStyle/>
          <a:p>
            <a:pPr algn="ctr" indent="0" marL="0">
              <a:buNone/>
            </a:pPr>
            <a:r>
              <a:rPr lang="en-US" sz="2200" b="1" dirty="0">
                <a:solidFill>
                  <a:schemeClr val="bg1"/>
                </a:solidFill>
              </a:rPr>
              <a:t>verkocht</a:t>
            </a:r>
            <a:endParaRPr lang="en-US" sz="2200" dirty="0"/>
          </a:p>
        </p:txBody>
      </p:sp>
      <p:sp>
        <p:nvSpPr>
          <p:cNvPr id="45" name="Text 42"/>
          <p:cNvSpPr txBox="1"/>
          <p:nvPr/>
        </p:nvSpPr>
        <p:spPr>
          <a:xfrm>
            <a:off x="7357425" y="3033522"/>
            <a:ext cx="1332431"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46" name="Shape 43"/>
          <p:cNvSpPr/>
          <p:nvPr/>
        </p:nvSpPr>
        <p:spPr>
          <a:xfrm>
            <a:off x="7357425" y="3271266"/>
            <a:ext cx="1332431" cy="658368"/>
          </a:xfrm>
          <a:prstGeom prst="roundRect">
            <a:avLst>
              <a:gd name="adj" fmla="val 8333"/>
            </a:avLst>
          </a:prstGeom>
          <a:solidFill>
            <a:schemeClr val="accent6">
              <a:alpha val="88000"/>
            </a:schemeClr>
          </a:solidFill>
          <a:ln w="12700">
            <a:solidFill>
              <a:srgbClr val="B83227"/>
            </a:solidFill>
            <a:prstDash val="solid"/>
          </a:ln>
        </p:spPr>
      </p:sp>
      <p:sp>
        <p:nvSpPr>
          <p:cNvPr id="47" name="Text 44"/>
          <p:cNvSpPr txBox="1"/>
          <p:nvPr/>
        </p:nvSpPr>
        <p:spPr>
          <a:xfrm>
            <a:off x="7394001" y="3271266"/>
            <a:ext cx="1259279" cy="658368"/>
          </a:xfrm>
          <a:prstGeom prst="rect">
            <a:avLst/>
          </a:prstGeom>
          <a:noFill/>
          <a:ln/>
        </p:spPr>
        <p:txBody>
          <a:bodyPr wrap="square" lIns="0" tIns="0" rIns="0" bIns="0" rtlCol="0" anchor="ctr"/>
          <a:lstStyle/>
          <a:p>
            <a:pPr algn="ctr" indent="0" marL="0">
              <a:buNone/>
            </a:pPr>
            <a:r>
              <a:rPr lang="en-US" sz="2200" b="1" dirty="0">
                <a:solidFill>
                  <a:schemeClr val="bg1"/>
                </a:solidFill>
              </a:rPr>
              <a:t>hebben,</a:t>
            </a:r>
            <a:endParaRPr lang="en-US" sz="2200" dirty="0"/>
          </a:p>
        </p:txBody>
      </p:sp>
      <p:sp>
        <p:nvSpPr>
          <p:cNvPr id="48" name="Text 45"/>
          <p:cNvSpPr txBox="1"/>
          <p:nvPr/>
        </p:nvSpPr>
        <p:spPr>
          <a:xfrm>
            <a:off x="8798462" y="3033522"/>
            <a:ext cx="1188629"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49" name="Shape 46"/>
          <p:cNvSpPr/>
          <p:nvPr/>
        </p:nvSpPr>
        <p:spPr>
          <a:xfrm>
            <a:off x="8798462" y="3271266"/>
            <a:ext cx="1188629" cy="658368"/>
          </a:xfrm>
          <a:prstGeom prst="roundRect">
            <a:avLst>
              <a:gd name="adj" fmla="val 8333"/>
            </a:avLst>
          </a:prstGeom>
          <a:solidFill>
            <a:schemeClr val="accent6">
              <a:alpha val="88000"/>
            </a:schemeClr>
          </a:solidFill>
          <a:ln w="12700">
            <a:solidFill>
              <a:srgbClr val="B83227"/>
            </a:solidFill>
            <a:prstDash val="solid"/>
          </a:ln>
        </p:spPr>
      </p:sp>
      <p:sp>
        <p:nvSpPr>
          <p:cNvPr id="50" name="Text 47"/>
          <p:cNvSpPr txBox="1"/>
          <p:nvPr/>
        </p:nvSpPr>
        <p:spPr>
          <a:xfrm>
            <a:off x="8835038" y="3271266"/>
            <a:ext cx="1115477" cy="658368"/>
          </a:xfrm>
          <a:prstGeom prst="rect">
            <a:avLst/>
          </a:prstGeom>
          <a:noFill/>
          <a:ln/>
        </p:spPr>
        <p:txBody>
          <a:bodyPr wrap="square" lIns="0" tIns="0" rIns="0" bIns="0" rtlCol="0" anchor="ctr"/>
          <a:lstStyle/>
          <a:p>
            <a:pPr algn="ctr" indent="0" marL="0">
              <a:buNone/>
            </a:pPr>
            <a:r>
              <a:rPr lang="en-US" sz="2200" b="1" dirty="0">
                <a:solidFill>
                  <a:schemeClr val="bg1"/>
                </a:solidFill>
              </a:rPr>
              <a:t>vieren</a:t>
            </a:r>
            <a:endParaRPr lang="en-US" sz="2200" dirty="0"/>
          </a:p>
        </p:txBody>
      </p:sp>
      <p:sp>
        <p:nvSpPr>
          <p:cNvPr id="51" name="Text 48"/>
          <p:cNvSpPr txBox="1"/>
          <p:nvPr/>
        </p:nvSpPr>
        <p:spPr>
          <a:xfrm>
            <a:off x="10095697" y="3033522"/>
            <a:ext cx="678786"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52" name="Shape 49"/>
          <p:cNvSpPr/>
          <p:nvPr/>
        </p:nvSpPr>
        <p:spPr>
          <a:xfrm>
            <a:off x="10095697" y="3271266"/>
            <a:ext cx="678786" cy="658368"/>
          </a:xfrm>
          <a:prstGeom prst="roundRect">
            <a:avLst>
              <a:gd name="adj" fmla="val 8333"/>
            </a:avLst>
          </a:prstGeom>
          <a:solidFill>
            <a:schemeClr val="tx2">
              <a:alpha val="88000"/>
            </a:schemeClr>
          </a:solidFill>
          <a:ln w="12700">
            <a:solidFill>
              <a:srgbClr val="17375E"/>
            </a:solidFill>
            <a:prstDash val="solid"/>
          </a:ln>
        </p:spPr>
      </p:sp>
      <p:sp>
        <p:nvSpPr>
          <p:cNvPr id="53" name="Text 50"/>
          <p:cNvSpPr txBox="1"/>
          <p:nvPr/>
        </p:nvSpPr>
        <p:spPr>
          <a:xfrm>
            <a:off x="10132273" y="3271266"/>
            <a:ext cx="605634" cy="658368"/>
          </a:xfrm>
          <a:prstGeom prst="rect">
            <a:avLst/>
          </a:prstGeom>
          <a:noFill/>
          <a:ln/>
        </p:spPr>
        <p:txBody>
          <a:bodyPr wrap="square" lIns="0" tIns="0" rIns="0" bIns="0" rtlCol="0" anchor="ctr"/>
          <a:lstStyle/>
          <a:p>
            <a:pPr algn="ctr" indent="0" marL="0">
              <a:buNone/>
            </a:pPr>
            <a:r>
              <a:rPr lang="en-US" sz="2200" b="1" dirty="0">
                <a:solidFill>
                  <a:schemeClr val="bg1"/>
                </a:solidFill>
              </a:rPr>
              <a:t>we</a:t>
            </a:r>
            <a:endParaRPr lang="en-US" sz="2200" dirty="0"/>
          </a:p>
        </p:txBody>
      </p:sp>
      <p:sp>
        <p:nvSpPr>
          <p:cNvPr id="54" name="Text 51"/>
          <p:cNvSpPr txBox="1"/>
          <p:nvPr/>
        </p:nvSpPr>
        <p:spPr>
          <a:xfrm>
            <a:off x="10883089" y="3033522"/>
            <a:ext cx="757223"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55" name="Shape 52"/>
          <p:cNvSpPr/>
          <p:nvPr/>
        </p:nvSpPr>
        <p:spPr>
          <a:xfrm>
            <a:off x="10883089" y="3271266"/>
            <a:ext cx="757223" cy="658368"/>
          </a:xfrm>
          <a:prstGeom prst="roundRect">
            <a:avLst>
              <a:gd name="adj" fmla="val 8333"/>
            </a:avLst>
          </a:prstGeom>
          <a:solidFill>
            <a:schemeClr val="accent5">
              <a:alpha val="25000"/>
            </a:schemeClr>
          </a:solidFill>
          <a:ln w="12700">
            <a:solidFill>
              <a:srgbClr val="4A5A70"/>
            </a:solidFill>
            <a:prstDash val="solid"/>
          </a:ln>
        </p:spPr>
      </p:sp>
      <p:sp>
        <p:nvSpPr>
          <p:cNvPr id="56" name="Text 53"/>
          <p:cNvSpPr txBox="1"/>
          <p:nvPr/>
        </p:nvSpPr>
        <p:spPr>
          <a:xfrm>
            <a:off x="10919665" y="3271266"/>
            <a:ext cx="684071" cy="658368"/>
          </a:xfrm>
          <a:prstGeom prst="rect">
            <a:avLst/>
          </a:prstGeom>
          <a:noFill/>
          <a:ln/>
        </p:spPr>
        <p:txBody>
          <a:bodyPr wrap="square" lIns="0" tIns="0" rIns="0" bIns="0" rtlCol="0" anchor="ctr"/>
          <a:lstStyle/>
          <a:p>
            <a:pPr algn="ctr" indent="0" marL="0">
              <a:buNone/>
            </a:pPr>
            <a:r>
              <a:rPr lang="en-US" sz="2200" b="1" dirty="0">
                <a:solidFill>
                  <a:schemeClr val="tx1"/>
                </a:solidFill>
              </a:rPr>
              <a:t>dat</a:t>
            </a:r>
            <a:endParaRPr lang="en-US" sz="2200" dirty="0"/>
          </a:p>
        </p:txBody>
      </p:sp>
      <p:sp>
        <p:nvSpPr>
          <p:cNvPr id="57" name="Text 54"/>
          <p:cNvSpPr txBox="1"/>
          <p:nvPr/>
        </p:nvSpPr>
        <p:spPr>
          <a:xfrm>
            <a:off x="548640" y="4357116"/>
            <a:ext cx="1463040" cy="658368"/>
          </a:xfrm>
          <a:prstGeom prst="rect">
            <a:avLst/>
          </a:prstGeom>
          <a:noFill/>
          <a:ln/>
        </p:spPr>
        <p:txBody>
          <a:bodyPr wrap="square" lIns="0" tIns="0" rIns="0" bIns="0" rtlCol="0" anchor="ctr"/>
          <a:lstStyle/>
          <a:p>
            <a:pPr indent="0" marL="0">
              <a:buNone/>
            </a:pPr>
            <a:r>
              <a:rPr lang="en-US" sz="1400" b="1" dirty="0">
                <a:solidFill>
                  <a:schemeClr val="accent5"/>
                </a:solidFill>
              </a:rPr>
              <a:t>Particule</a:t>
            </a:r>
            <a:endParaRPr lang="en-US" sz="1400" dirty="0"/>
          </a:p>
        </p:txBody>
      </p:sp>
      <p:sp>
        <p:nvSpPr>
          <p:cNvPr id="58" name="Text 55"/>
          <p:cNvSpPr txBox="1"/>
          <p:nvPr/>
        </p:nvSpPr>
        <p:spPr>
          <a:xfrm>
            <a:off x="2103120" y="4119372"/>
            <a:ext cx="1055624"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59" name="Shape 56"/>
          <p:cNvSpPr/>
          <p:nvPr/>
        </p:nvSpPr>
        <p:spPr>
          <a:xfrm>
            <a:off x="2103120" y="4357116"/>
            <a:ext cx="1055624" cy="658368"/>
          </a:xfrm>
          <a:prstGeom prst="roundRect">
            <a:avLst>
              <a:gd name="adj" fmla="val 8333"/>
            </a:avLst>
          </a:prstGeom>
          <a:solidFill>
            <a:srgbClr val="6E4A9E">
              <a:alpha val="88000"/>
            </a:srgbClr>
          </a:solidFill>
          <a:ln w="12700">
            <a:solidFill>
              <a:srgbClr val="6E4A9E"/>
            </a:solidFill>
            <a:prstDash val="solid"/>
          </a:ln>
        </p:spPr>
      </p:sp>
      <p:sp>
        <p:nvSpPr>
          <p:cNvPr id="60" name="Text 57"/>
          <p:cNvSpPr txBox="1"/>
          <p:nvPr/>
        </p:nvSpPr>
        <p:spPr>
          <a:xfrm>
            <a:off x="2139696" y="4357116"/>
            <a:ext cx="982472" cy="658368"/>
          </a:xfrm>
          <a:prstGeom prst="rect">
            <a:avLst/>
          </a:prstGeom>
          <a:noFill/>
          <a:ln/>
        </p:spPr>
        <p:txBody>
          <a:bodyPr wrap="square" lIns="0" tIns="0" rIns="0" bIns="0" rtlCol="0" anchor="ctr"/>
          <a:lstStyle/>
          <a:p>
            <a:pPr algn="ctr" indent="0" marL="0">
              <a:buNone/>
            </a:pPr>
            <a:r>
              <a:rPr lang="en-US" sz="2200" b="1" dirty="0">
                <a:solidFill>
                  <a:schemeClr val="bg1"/>
                </a:solidFill>
              </a:rPr>
              <a:t>Zodra</a:t>
            </a:r>
            <a:endParaRPr lang="en-US" sz="2200" dirty="0"/>
          </a:p>
        </p:txBody>
      </p:sp>
      <p:sp>
        <p:nvSpPr>
          <p:cNvPr id="61" name="Text 58"/>
          <p:cNvSpPr txBox="1"/>
          <p:nvPr/>
        </p:nvSpPr>
        <p:spPr>
          <a:xfrm>
            <a:off x="3268472" y="4119372"/>
            <a:ext cx="1491488"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62" name="Shape 59"/>
          <p:cNvSpPr/>
          <p:nvPr/>
        </p:nvSpPr>
        <p:spPr>
          <a:xfrm>
            <a:off x="3268472" y="4357116"/>
            <a:ext cx="1491488" cy="658368"/>
          </a:xfrm>
          <a:prstGeom prst="roundRect">
            <a:avLst>
              <a:gd name="adj" fmla="val 8333"/>
            </a:avLst>
          </a:prstGeom>
          <a:solidFill>
            <a:schemeClr val="tx2">
              <a:alpha val="88000"/>
            </a:schemeClr>
          </a:solidFill>
          <a:ln w="12700">
            <a:solidFill>
              <a:srgbClr val="17375E"/>
            </a:solidFill>
            <a:prstDash val="solid"/>
          </a:ln>
        </p:spPr>
      </p:sp>
      <p:sp>
        <p:nvSpPr>
          <p:cNvPr id="63" name="Text 60"/>
          <p:cNvSpPr txBox="1"/>
          <p:nvPr/>
        </p:nvSpPr>
        <p:spPr>
          <a:xfrm>
            <a:off x="3305048" y="4357116"/>
            <a:ext cx="1418336" cy="658368"/>
          </a:xfrm>
          <a:prstGeom prst="rect">
            <a:avLst/>
          </a:prstGeom>
          <a:noFill/>
          <a:ln/>
        </p:spPr>
        <p:txBody>
          <a:bodyPr wrap="square" lIns="0" tIns="0" rIns="0" bIns="0" rtlCol="0" anchor="ctr"/>
          <a:lstStyle/>
          <a:p>
            <a:pPr algn="ctr" indent="0" marL="0">
              <a:buNone/>
            </a:pPr>
            <a:r>
              <a:rPr lang="en-US" sz="2200" b="1" dirty="0">
                <a:solidFill>
                  <a:schemeClr val="bg1"/>
                </a:solidFill>
              </a:rPr>
              <a:t>de koper</a:t>
            </a:r>
            <a:endParaRPr lang="en-US" sz="2200" dirty="0"/>
          </a:p>
        </p:txBody>
      </p:sp>
      <p:sp>
        <p:nvSpPr>
          <p:cNvPr id="64" name="Text 61"/>
          <p:cNvSpPr txBox="1"/>
          <p:nvPr/>
        </p:nvSpPr>
        <p:spPr>
          <a:xfrm>
            <a:off x="4869688" y="4119372"/>
            <a:ext cx="134620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65" name="Shape 62"/>
          <p:cNvSpPr/>
          <p:nvPr/>
        </p:nvSpPr>
        <p:spPr>
          <a:xfrm>
            <a:off x="4869688" y="4357116"/>
            <a:ext cx="1346200" cy="658368"/>
          </a:xfrm>
          <a:prstGeom prst="roundRect">
            <a:avLst>
              <a:gd name="adj" fmla="val 8333"/>
            </a:avLst>
          </a:prstGeom>
          <a:solidFill>
            <a:schemeClr val="accent5">
              <a:alpha val="25000"/>
            </a:schemeClr>
          </a:solidFill>
          <a:ln w="12700">
            <a:solidFill>
              <a:srgbClr val="4A5A70"/>
            </a:solidFill>
            <a:prstDash val="solid"/>
          </a:ln>
        </p:spPr>
      </p:sp>
      <p:sp>
        <p:nvSpPr>
          <p:cNvPr id="66" name="Text 63"/>
          <p:cNvSpPr txBox="1"/>
          <p:nvPr/>
        </p:nvSpPr>
        <p:spPr>
          <a:xfrm>
            <a:off x="4906264" y="4357116"/>
            <a:ext cx="1273048" cy="658368"/>
          </a:xfrm>
          <a:prstGeom prst="rect">
            <a:avLst/>
          </a:prstGeom>
          <a:noFill/>
          <a:ln/>
        </p:spPr>
        <p:txBody>
          <a:bodyPr wrap="square" lIns="0" tIns="0" rIns="0" bIns="0" rtlCol="0" anchor="ctr"/>
          <a:lstStyle/>
          <a:p>
            <a:pPr algn="ctr" indent="0" marL="0">
              <a:buNone/>
            </a:pPr>
            <a:r>
              <a:rPr lang="en-US" sz="2200" b="1" dirty="0">
                <a:solidFill>
                  <a:schemeClr val="tx1"/>
                </a:solidFill>
              </a:rPr>
              <a:t>een bod</a:t>
            </a:r>
            <a:endParaRPr lang="en-US" sz="2200" dirty="0"/>
          </a:p>
        </p:txBody>
      </p:sp>
      <p:sp>
        <p:nvSpPr>
          <p:cNvPr id="67" name="Text 64"/>
          <p:cNvSpPr txBox="1"/>
          <p:nvPr/>
        </p:nvSpPr>
        <p:spPr>
          <a:xfrm>
            <a:off x="6325616" y="4119372"/>
            <a:ext cx="1782064" cy="219456"/>
          </a:xfrm>
          <a:prstGeom prst="rect">
            <a:avLst/>
          </a:prstGeom>
          <a:noFill/>
          <a:ln/>
        </p:spPr>
        <p:txBody>
          <a:bodyPr wrap="square" lIns="0" tIns="0" rIns="0" bIns="0" rtlCol="0" anchor="b"/>
          <a:lstStyle/>
          <a:p>
            <a:pPr algn="ctr" indent="0" marL="0">
              <a:buNone/>
            </a:pPr>
            <a:r>
              <a:rPr lang="en-US" sz="1000" b="1" dirty="0">
                <a:solidFill>
                  <a:schemeClr val="accent1"/>
                </a:solidFill>
              </a:rPr>
              <a:t>soudé</a:t>
            </a:r>
            <a:endParaRPr lang="en-US" sz="1000" dirty="0"/>
          </a:p>
        </p:txBody>
      </p:sp>
      <p:sp>
        <p:nvSpPr>
          <p:cNvPr id="68" name="Shape 65"/>
          <p:cNvSpPr/>
          <p:nvPr/>
        </p:nvSpPr>
        <p:spPr>
          <a:xfrm>
            <a:off x="6325616" y="4357116"/>
            <a:ext cx="1782064" cy="658368"/>
          </a:xfrm>
          <a:prstGeom prst="roundRect">
            <a:avLst>
              <a:gd name="adj" fmla="val 8333"/>
            </a:avLst>
          </a:prstGeom>
          <a:solidFill>
            <a:schemeClr val="accent1">
              <a:alpha val="88000"/>
            </a:schemeClr>
          </a:solidFill>
          <a:ln w="12700">
            <a:solidFill>
              <a:srgbClr val="D9700F"/>
            </a:solidFill>
            <a:prstDash val="solid"/>
          </a:ln>
        </p:spPr>
      </p:sp>
      <p:sp>
        <p:nvSpPr>
          <p:cNvPr id="69" name="Text 66"/>
          <p:cNvSpPr txBox="1"/>
          <p:nvPr/>
        </p:nvSpPr>
        <p:spPr>
          <a:xfrm>
            <a:off x="6362192" y="4357116"/>
            <a:ext cx="1708912" cy="658368"/>
          </a:xfrm>
          <a:prstGeom prst="rect">
            <a:avLst/>
          </a:prstGeom>
          <a:noFill/>
          <a:ln/>
        </p:spPr>
        <p:txBody>
          <a:bodyPr wrap="square" lIns="0" tIns="0" rIns="0" bIns="0" rtlCol="0" anchor="ctr"/>
          <a:lstStyle/>
          <a:p>
            <a:pPr algn="ctr" indent="0" marL="0">
              <a:buNone/>
            </a:pPr>
            <a:r>
              <a:rPr lang="en-US" sz="2200" b="1" dirty="0">
                <a:solidFill>
                  <a:schemeClr val="bg1"/>
                </a:solidFill>
              </a:rPr>
              <a:t>uitbrengt,</a:t>
            </a:r>
            <a:endParaRPr lang="en-US" sz="2200" dirty="0"/>
          </a:p>
        </p:txBody>
      </p:sp>
      <p:sp>
        <p:nvSpPr>
          <p:cNvPr id="70" name="Text 67"/>
          <p:cNvSpPr txBox="1"/>
          <p:nvPr/>
        </p:nvSpPr>
        <p:spPr>
          <a:xfrm>
            <a:off x="8217408" y="4119372"/>
            <a:ext cx="765048"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71" name="Shape 68"/>
          <p:cNvSpPr/>
          <p:nvPr/>
        </p:nvSpPr>
        <p:spPr>
          <a:xfrm>
            <a:off x="8217408" y="4357116"/>
            <a:ext cx="765048" cy="658368"/>
          </a:xfrm>
          <a:prstGeom prst="roundRect">
            <a:avLst>
              <a:gd name="adj" fmla="val 8333"/>
            </a:avLst>
          </a:prstGeom>
          <a:solidFill>
            <a:schemeClr val="accent6">
              <a:alpha val="88000"/>
            </a:schemeClr>
          </a:solidFill>
          <a:ln w="12700">
            <a:solidFill>
              <a:srgbClr val="B83227"/>
            </a:solidFill>
            <a:prstDash val="solid"/>
          </a:ln>
        </p:spPr>
      </p:sp>
      <p:sp>
        <p:nvSpPr>
          <p:cNvPr id="72" name="Text 69"/>
          <p:cNvSpPr txBox="1"/>
          <p:nvPr/>
        </p:nvSpPr>
        <p:spPr>
          <a:xfrm>
            <a:off x="8253984" y="4357116"/>
            <a:ext cx="691896" cy="658368"/>
          </a:xfrm>
          <a:prstGeom prst="rect">
            <a:avLst/>
          </a:prstGeom>
          <a:noFill/>
          <a:ln/>
        </p:spPr>
        <p:txBody>
          <a:bodyPr wrap="square" lIns="0" tIns="0" rIns="0" bIns="0" rtlCol="0" anchor="ctr"/>
          <a:lstStyle/>
          <a:p>
            <a:pPr algn="ctr" indent="0" marL="0">
              <a:buNone/>
            </a:pPr>
            <a:r>
              <a:rPr lang="en-US" sz="2200" b="1" dirty="0">
                <a:solidFill>
                  <a:schemeClr val="bg1"/>
                </a:solidFill>
              </a:rPr>
              <a:t>bel</a:t>
            </a:r>
            <a:endParaRPr lang="en-US" sz="2200" dirty="0"/>
          </a:p>
        </p:txBody>
      </p:sp>
      <p:sp>
        <p:nvSpPr>
          <p:cNvPr id="73" name="Text 70"/>
          <p:cNvSpPr txBox="1"/>
          <p:nvPr/>
        </p:nvSpPr>
        <p:spPr>
          <a:xfrm>
            <a:off x="9092184" y="4119372"/>
            <a:ext cx="685800"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74" name="Shape 71"/>
          <p:cNvSpPr/>
          <p:nvPr/>
        </p:nvSpPr>
        <p:spPr>
          <a:xfrm>
            <a:off x="9092184" y="4357116"/>
            <a:ext cx="685800" cy="658368"/>
          </a:xfrm>
          <a:prstGeom prst="roundRect">
            <a:avLst>
              <a:gd name="adj" fmla="val 8333"/>
            </a:avLst>
          </a:prstGeom>
          <a:solidFill>
            <a:schemeClr val="tx2">
              <a:alpha val="88000"/>
            </a:schemeClr>
          </a:solidFill>
          <a:ln w="12700">
            <a:solidFill>
              <a:srgbClr val="17375E"/>
            </a:solidFill>
            <a:prstDash val="solid"/>
          </a:ln>
        </p:spPr>
      </p:sp>
      <p:sp>
        <p:nvSpPr>
          <p:cNvPr id="75" name="Text 72"/>
          <p:cNvSpPr txBox="1"/>
          <p:nvPr/>
        </p:nvSpPr>
        <p:spPr>
          <a:xfrm>
            <a:off x="9128760" y="4357116"/>
            <a:ext cx="612648" cy="658368"/>
          </a:xfrm>
          <a:prstGeom prst="rect">
            <a:avLst/>
          </a:prstGeom>
          <a:noFill/>
          <a:ln/>
        </p:spPr>
        <p:txBody>
          <a:bodyPr wrap="square" lIns="0" tIns="0" rIns="0" bIns="0" rtlCol="0" anchor="ctr"/>
          <a:lstStyle/>
          <a:p>
            <a:pPr algn="ctr" indent="0" marL="0">
              <a:buNone/>
            </a:pPr>
            <a:r>
              <a:rPr lang="en-US" sz="2200" b="1" dirty="0">
                <a:solidFill>
                  <a:schemeClr val="bg1"/>
                </a:solidFill>
              </a:rPr>
              <a:t>ik</a:t>
            </a:r>
            <a:endParaRPr lang="en-US" sz="2200" dirty="0"/>
          </a:p>
        </p:txBody>
      </p:sp>
      <p:sp>
        <p:nvSpPr>
          <p:cNvPr id="76" name="Text 73"/>
          <p:cNvSpPr txBox="1"/>
          <p:nvPr/>
        </p:nvSpPr>
        <p:spPr>
          <a:xfrm>
            <a:off x="9887712" y="4119372"/>
            <a:ext cx="685800"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77" name="Shape 74"/>
          <p:cNvSpPr/>
          <p:nvPr/>
        </p:nvSpPr>
        <p:spPr>
          <a:xfrm>
            <a:off x="9887712" y="4357116"/>
            <a:ext cx="685800" cy="658368"/>
          </a:xfrm>
          <a:prstGeom prst="roundRect">
            <a:avLst>
              <a:gd name="adj" fmla="val 8333"/>
            </a:avLst>
          </a:prstGeom>
          <a:solidFill>
            <a:schemeClr val="accent5">
              <a:alpha val="25000"/>
            </a:schemeClr>
          </a:solidFill>
          <a:ln w="12700">
            <a:solidFill>
              <a:srgbClr val="4A5A70"/>
            </a:solidFill>
            <a:prstDash val="solid"/>
          </a:ln>
        </p:spPr>
      </p:sp>
      <p:sp>
        <p:nvSpPr>
          <p:cNvPr id="78" name="Text 75"/>
          <p:cNvSpPr txBox="1"/>
          <p:nvPr/>
        </p:nvSpPr>
        <p:spPr>
          <a:xfrm>
            <a:off x="9924288" y="4357116"/>
            <a:ext cx="612648" cy="658368"/>
          </a:xfrm>
          <a:prstGeom prst="rect">
            <a:avLst/>
          </a:prstGeom>
          <a:noFill/>
          <a:ln/>
        </p:spPr>
        <p:txBody>
          <a:bodyPr wrap="square" lIns="0" tIns="0" rIns="0" bIns="0" rtlCol="0" anchor="ctr"/>
          <a:lstStyle/>
          <a:p>
            <a:pPr algn="ctr" indent="0" marL="0">
              <a:buNone/>
            </a:pPr>
            <a:r>
              <a:rPr lang="en-US" sz="2200" b="1" dirty="0">
                <a:solidFill>
                  <a:schemeClr val="tx1"/>
                </a:solidFill>
              </a:rPr>
              <a:t>u</a:t>
            </a:r>
            <a:endParaRPr lang="en-US" sz="2200" dirty="0"/>
          </a:p>
        </p:txBody>
      </p:sp>
      <p:sp>
        <p:nvSpPr>
          <p:cNvPr id="79" name="Text 76"/>
          <p:cNvSpPr txBox="1"/>
          <p:nvPr/>
        </p:nvSpPr>
        <p:spPr>
          <a:xfrm>
            <a:off x="10683240" y="4119372"/>
            <a:ext cx="685800" cy="219456"/>
          </a:xfrm>
          <a:prstGeom prst="rect">
            <a:avLst/>
          </a:prstGeom>
          <a:noFill/>
          <a:ln/>
        </p:spPr>
        <p:txBody>
          <a:bodyPr wrap="square" lIns="0" tIns="0" rIns="0" bIns="0" rtlCol="0" anchor="b"/>
          <a:lstStyle/>
          <a:p>
            <a:pPr algn="ctr" indent="0" marL="0">
              <a:buNone/>
            </a:pPr>
            <a:r>
              <a:rPr lang="en-US" sz="1000" b="1" dirty="0">
                <a:solidFill>
                  <a:schemeClr val="accent1"/>
                </a:solidFill>
              </a:rPr>
              <a:t>séparé</a:t>
            </a:r>
            <a:endParaRPr lang="en-US" sz="1000" dirty="0"/>
          </a:p>
        </p:txBody>
      </p:sp>
      <p:sp>
        <p:nvSpPr>
          <p:cNvPr id="80" name="Shape 77"/>
          <p:cNvSpPr/>
          <p:nvPr/>
        </p:nvSpPr>
        <p:spPr>
          <a:xfrm>
            <a:off x="10683240" y="4357116"/>
            <a:ext cx="685800" cy="658368"/>
          </a:xfrm>
          <a:prstGeom prst="roundRect">
            <a:avLst>
              <a:gd name="adj" fmla="val 8333"/>
            </a:avLst>
          </a:prstGeom>
          <a:solidFill>
            <a:schemeClr val="accent1">
              <a:alpha val="88000"/>
            </a:schemeClr>
          </a:solidFill>
          <a:ln w="12700">
            <a:solidFill>
              <a:srgbClr val="D9700F"/>
            </a:solidFill>
            <a:prstDash val="solid"/>
          </a:ln>
        </p:spPr>
      </p:sp>
      <p:sp>
        <p:nvSpPr>
          <p:cNvPr id="81" name="Text 78"/>
          <p:cNvSpPr txBox="1"/>
          <p:nvPr/>
        </p:nvSpPr>
        <p:spPr>
          <a:xfrm>
            <a:off x="10719816" y="4357116"/>
            <a:ext cx="612648" cy="658368"/>
          </a:xfrm>
          <a:prstGeom prst="rect">
            <a:avLst/>
          </a:prstGeom>
          <a:noFill/>
          <a:ln/>
        </p:spPr>
        <p:txBody>
          <a:bodyPr wrap="square" lIns="0" tIns="0" rIns="0" bIns="0" rtlCol="0" anchor="ctr"/>
          <a:lstStyle/>
          <a:p>
            <a:pPr algn="ctr" indent="0" marL="0">
              <a:buNone/>
            </a:pPr>
            <a:r>
              <a:rPr lang="en-US" sz="2200" b="1" dirty="0">
                <a:solidFill>
                  <a:schemeClr val="bg1"/>
                </a:solidFill>
              </a:rPr>
              <a:t>op</a:t>
            </a:r>
            <a:endParaRPr lang="en-US" sz="2200" dirty="0"/>
          </a:p>
        </p:txBody>
      </p:sp>
      <p:sp>
        <p:nvSpPr>
          <p:cNvPr id="82" name="Text 79"/>
          <p:cNvSpPr txBox="1"/>
          <p:nvPr/>
        </p:nvSpPr>
        <p:spPr>
          <a:xfrm>
            <a:off x="548640" y="5442966"/>
            <a:ext cx="1463040" cy="658368"/>
          </a:xfrm>
          <a:prstGeom prst="rect">
            <a:avLst/>
          </a:prstGeom>
          <a:noFill/>
          <a:ln/>
        </p:spPr>
        <p:txBody>
          <a:bodyPr wrap="square" lIns="0" tIns="0" rIns="0" bIns="0" rtlCol="0" anchor="ctr"/>
          <a:lstStyle/>
          <a:p>
            <a:pPr indent="0" marL="0">
              <a:buNone/>
            </a:pPr>
            <a:r>
              <a:rPr lang="en-US" sz="1400" b="1" dirty="0">
                <a:solidFill>
                  <a:schemeClr val="accent5"/>
                </a:solidFill>
              </a:rPr>
              <a:t>Concession</a:t>
            </a:r>
            <a:endParaRPr lang="en-US" sz="1400" dirty="0"/>
          </a:p>
        </p:txBody>
      </p:sp>
      <p:sp>
        <p:nvSpPr>
          <p:cNvPr id="83" name="Text 80"/>
          <p:cNvSpPr txBox="1"/>
          <p:nvPr/>
        </p:nvSpPr>
        <p:spPr>
          <a:xfrm>
            <a:off x="2103120" y="5205222"/>
            <a:ext cx="897172" cy="219456"/>
          </a:xfrm>
          <a:prstGeom prst="rect">
            <a:avLst/>
          </a:prstGeom>
          <a:noFill/>
          <a:ln/>
        </p:spPr>
        <p:txBody>
          <a:bodyPr wrap="square" lIns="0" tIns="0" rIns="0" bIns="0" rtlCol="0" anchor="b"/>
          <a:lstStyle/>
          <a:p>
            <a:pPr algn="ctr" indent="0" marL="0">
              <a:buNone/>
            </a:pPr>
            <a:r>
              <a:rPr lang="en-US" sz="1000" b="1" dirty="0">
                <a:solidFill>
                  <a:srgbClr val="6E4A9E"/>
                </a:solidFill>
              </a:rPr>
              <a:t>liaison</a:t>
            </a:r>
            <a:endParaRPr lang="en-US" sz="1000" dirty="0"/>
          </a:p>
        </p:txBody>
      </p:sp>
      <p:sp>
        <p:nvSpPr>
          <p:cNvPr id="84" name="Shape 81"/>
          <p:cNvSpPr/>
          <p:nvPr/>
        </p:nvSpPr>
        <p:spPr>
          <a:xfrm>
            <a:off x="2103120" y="5442966"/>
            <a:ext cx="897172" cy="658368"/>
          </a:xfrm>
          <a:prstGeom prst="roundRect">
            <a:avLst>
              <a:gd name="adj" fmla="val 8333"/>
            </a:avLst>
          </a:prstGeom>
          <a:solidFill>
            <a:srgbClr val="6E4A9E">
              <a:alpha val="88000"/>
            </a:srgbClr>
          </a:solidFill>
          <a:ln w="12700">
            <a:solidFill>
              <a:srgbClr val="6E4A9E"/>
            </a:solidFill>
            <a:prstDash val="solid"/>
          </a:ln>
        </p:spPr>
      </p:sp>
      <p:sp>
        <p:nvSpPr>
          <p:cNvPr id="85" name="Text 82"/>
          <p:cNvSpPr txBox="1"/>
          <p:nvPr/>
        </p:nvSpPr>
        <p:spPr>
          <a:xfrm>
            <a:off x="2139696" y="5442966"/>
            <a:ext cx="824020" cy="658368"/>
          </a:xfrm>
          <a:prstGeom prst="rect">
            <a:avLst/>
          </a:prstGeom>
          <a:noFill/>
          <a:ln/>
        </p:spPr>
        <p:txBody>
          <a:bodyPr wrap="square" lIns="0" tIns="0" rIns="0" bIns="0" rtlCol="0" anchor="ctr"/>
          <a:lstStyle/>
          <a:p>
            <a:pPr algn="ctr" indent="0" marL="0">
              <a:buNone/>
            </a:pPr>
            <a:r>
              <a:rPr lang="en-US" sz="1864" b="1" dirty="0">
                <a:solidFill>
                  <a:schemeClr val="bg1"/>
                </a:solidFill>
              </a:rPr>
              <a:t>Hoewel</a:t>
            </a:r>
            <a:endParaRPr lang="en-US" sz="1864" dirty="0"/>
          </a:p>
        </p:txBody>
      </p:sp>
      <p:sp>
        <p:nvSpPr>
          <p:cNvPr id="86" name="Text 83"/>
          <p:cNvSpPr txBox="1"/>
          <p:nvPr/>
        </p:nvSpPr>
        <p:spPr>
          <a:xfrm>
            <a:off x="3082267" y="5205222"/>
            <a:ext cx="1439877"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87" name="Shape 84"/>
          <p:cNvSpPr/>
          <p:nvPr/>
        </p:nvSpPr>
        <p:spPr>
          <a:xfrm>
            <a:off x="3082267" y="5442966"/>
            <a:ext cx="1439877" cy="658368"/>
          </a:xfrm>
          <a:prstGeom prst="roundRect">
            <a:avLst>
              <a:gd name="adj" fmla="val 8333"/>
            </a:avLst>
          </a:prstGeom>
          <a:solidFill>
            <a:schemeClr val="tx2">
              <a:alpha val="88000"/>
            </a:schemeClr>
          </a:solidFill>
          <a:ln w="12700">
            <a:solidFill>
              <a:srgbClr val="17375E"/>
            </a:solidFill>
            <a:prstDash val="solid"/>
          </a:ln>
        </p:spPr>
      </p:sp>
      <p:sp>
        <p:nvSpPr>
          <p:cNvPr id="88" name="Text 85"/>
          <p:cNvSpPr txBox="1"/>
          <p:nvPr/>
        </p:nvSpPr>
        <p:spPr>
          <a:xfrm>
            <a:off x="3118843" y="5442966"/>
            <a:ext cx="1366725" cy="658368"/>
          </a:xfrm>
          <a:prstGeom prst="rect">
            <a:avLst/>
          </a:prstGeom>
          <a:noFill/>
          <a:ln/>
        </p:spPr>
        <p:txBody>
          <a:bodyPr wrap="square" lIns="0" tIns="0" rIns="0" bIns="0" rtlCol="0" anchor="ctr"/>
          <a:lstStyle/>
          <a:p>
            <a:pPr algn="ctr" indent="0" marL="0">
              <a:buNone/>
            </a:pPr>
            <a:r>
              <a:rPr lang="en-US" sz="1864" b="1" dirty="0">
                <a:solidFill>
                  <a:schemeClr val="bg1"/>
                </a:solidFill>
              </a:rPr>
              <a:t>de eigenaar</a:t>
            </a:r>
            <a:endParaRPr lang="en-US" sz="1864" dirty="0"/>
          </a:p>
        </p:txBody>
      </p:sp>
      <p:sp>
        <p:nvSpPr>
          <p:cNvPr id="89" name="Text 86"/>
          <p:cNvSpPr txBox="1"/>
          <p:nvPr/>
        </p:nvSpPr>
        <p:spPr>
          <a:xfrm>
            <a:off x="4604119" y="5205222"/>
            <a:ext cx="1548418" cy="219456"/>
          </a:xfrm>
          <a:prstGeom prst="rect">
            <a:avLst/>
          </a:prstGeom>
          <a:noFill/>
          <a:ln/>
        </p:spPr>
        <p:txBody>
          <a:bodyPr wrap="square" lIns="0" tIns="0" rIns="0" bIns="0" rtlCol="0" anchor="b"/>
          <a:lstStyle/>
          <a:p>
            <a:pPr algn="ctr" indent="0" marL="0">
              <a:buNone/>
            </a:pPr>
            <a:r>
              <a:rPr lang="en-US" sz="1000" b="1" dirty="0">
                <a:solidFill>
                  <a:schemeClr val="accent4"/>
                </a:solidFill>
              </a:rPr>
              <a:t>plaats · où</a:t>
            </a:r>
            <a:endParaRPr lang="en-US" sz="1000" dirty="0"/>
          </a:p>
        </p:txBody>
      </p:sp>
      <p:sp>
        <p:nvSpPr>
          <p:cNvPr id="90" name="Shape 87"/>
          <p:cNvSpPr/>
          <p:nvPr/>
        </p:nvSpPr>
        <p:spPr>
          <a:xfrm>
            <a:off x="4604119" y="5442966"/>
            <a:ext cx="1548418" cy="658368"/>
          </a:xfrm>
          <a:prstGeom prst="roundRect">
            <a:avLst>
              <a:gd name="adj" fmla="val 8333"/>
            </a:avLst>
          </a:prstGeom>
          <a:solidFill>
            <a:schemeClr val="accent4">
              <a:alpha val="88000"/>
            </a:schemeClr>
          </a:solidFill>
          <a:ln w="12700">
            <a:solidFill>
              <a:srgbClr val="B4236A"/>
            </a:solidFill>
            <a:prstDash val="solid"/>
          </a:ln>
        </p:spPr>
      </p:sp>
      <p:sp>
        <p:nvSpPr>
          <p:cNvPr id="91" name="Text 88"/>
          <p:cNvSpPr txBox="1"/>
          <p:nvPr/>
        </p:nvSpPr>
        <p:spPr>
          <a:xfrm>
            <a:off x="4640695" y="5442966"/>
            <a:ext cx="1475266" cy="658368"/>
          </a:xfrm>
          <a:prstGeom prst="rect">
            <a:avLst/>
          </a:prstGeom>
          <a:noFill/>
          <a:ln/>
        </p:spPr>
        <p:txBody>
          <a:bodyPr wrap="square" lIns="0" tIns="0" rIns="0" bIns="0" rtlCol="0" anchor="ctr"/>
          <a:lstStyle/>
          <a:p>
            <a:pPr algn="ctr" indent="0" marL="0">
              <a:buNone/>
            </a:pPr>
            <a:r>
              <a:rPr lang="en-US" sz="1864" b="1" dirty="0">
                <a:solidFill>
                  <a:schemeClr val="bg1"/>
                </a:solidFill>
              </a:rPr>
              <a:t>aan de prijs</a:t>
            </a:r>
            <a:endParaRPr lang="en-US" sz="1864" dirty="0"/>
          </a:p>
        </p:txBody>
      </p:sp>
      <p:sp>
        <p:nvSpPr>
          <p:cNvPr id="92" name="Text 89"/>
          <p:cNvSpPr txBox="1"/>
          <p:nvPr/>
        </p:nvSpPr>
        <p:spPr>
          <a:xfrm>
            <a:off x="6234512" y="5205222"/>
            <a:ext cx="571548" cy="219456"/>
          </a:xfrm>
          <a:prstGeom prst="rect">
            <a:avLst/>
          </a:prstGeom>
          <a:noFill/>
          <a:ln/>
        </p:spPr>
        <p:txBody>
          <a:bodyPr wrap="square" lIns="0" tIns="0" rIns="0" bIns="0" rtlCol="0" anchor="b"/>
          <a:lstStyle/>
          <a:p>
            <a:pPr algn="ctr" indent="0" marL="0">
              <a:buNone/>
            </a:pPr>
            <a:r>
              <a:rPr lang="en-US" sz="1000" b="1" dirty="0">
                <a:solidFill>
                  <a:schemeClr val="accent6"/>
                </a:solidFill>
              </a:rPr>
              <a:t>verbe</a:t>
            </a:r>
            <a:endParaRPr lang="en-US" sz="1000" dirty="0"/>
          </a:p>
        </p:txBody>
      </p:sp>
      <p:sp>
        <p:nvSpPr>
          <p:cNvPr id="93" name="Shape 90"/>
          <p:cNvSpPr/>
          <p:nvPr/>
        </p:nvSpPr>
        <p:spPr>
          <a:xfrm>
            <a:off x="6234512" y="5442966"/>
            <a:ext cx="571548" cy="658368"/>
          </a:xfrm>
          <a:prstGeom prst="roundRect">
            <a:avLst>
              <a:gd name="adj" fmla="val 9599"/>
            </a:avLst>
          </a:prstGeom>
          <a:solidFill>
            <a:schemeClr val="accent6">
              <a:alpha val="88000"/>
            </a:schemeClr>
          </a:solidFill>
          <a:ln w="12700">
            <a:solidFill>
              <a:srgbClr val="B83227"/>
            </a:solidFill>
            <a:prstDash val="solid"/>
          </a:ln>
        </p:spPr>
      </p:sp>
      <p:sp>
        <p:nvSpPr>
          <p:cNvPr id="94" name="Text 91"/>
          <p:cNvSpPr txBox="1"/>
          <p:nvPr/>
        </p:nvSpPr>
        <p:spPr>
          <a:xfrm>
            <a:off x="6271088" y="5442966"/>
            <a:ext cx="498396" cy="658368"/>
          </a:xfrm>
          <a:prstGeom prst="rect">
            <a:avLst/>
          </a:prstGeom>
          <a:noFill/>
          <a:ln/>
        </p:spPr>
        <p:txBody>
          <a:bodyPr wrap="square" lIns="0" tIns="0" rIns="0" bIns="0" rtlCol="0" anchor="ctr"/>
          <a:lstStyle/>
          <a:p>
            <a:pPr algn="ctr" indent="0" marL="0">
              <a:buNone/>
            </a:pPr>
            <a:r>
              <a:rPr lang="en-US" sz="1864" b="1" dirty="0">
                <a:solidFill>
                  <a:schemeClr val="bg1"/>
                </a:solidFill>
              </a:rPr>
              <a:t>wil</a:t>
            </a:r>
            <a:endParaRPr lang="en-US" sz="1864" dirty="0"/>
          </a:p>
        </p:txBody>
      </p:sp>
      <p:sp>
        <p:nvSpPr>
          <p:cNvPr id="95" name="Text 92"/>
          <p:cNvSpPr txBox="1"/>
          <p:nvPr/>
        </p:nvSpPr>
        <p:spPr>
          <a:xfrm>
            <a:off x="6888035" y="5205222"/>
            <a:ext cx="1439877" cy="219456"/>
          </a:xfrm>
          <a:prstGeom prst="rect">
            <a:avLst/>
          </a:prstGeom>
          <a:noFill/>
          <a:ln/>
        </p:spPr>
        <p:txBody>
          <a:bodyPr wrap="square" lIns="0" tIns="0" rIns="0" bIns="0" rtlCol="0" anchor="b"/>
          <a:lstStyle/>
          <a:p>
            <a:pPr algn="ctr" indent="0" marL="0">
              <a:buNone/>
            </a:pPr>
            <a:r>
              <a:rPr lang="en-US" sz="1000" b="1" dirty="0">
                <a:solidFill>
                  <a:schemeClr val="accent1"/>
                </a:solidFill>
              </a:rPr>
              <a:t>fin</a:t>
            </a:r>
            <a:endParaRPr lang="en-US" sz="1000" dirty="0"/>
          </a:p>
        </p:txBody>
      </p:sp>
      <p:sp>
        <p:nvSpPr>
          <p:cNvPr id="96" name="Shape 93"/>
          <p:cNvSpPr/>
          <p:nvPr/>
        </p:nvSpPr>
        <p:spPr>
          <a:xfrm>
            <a:off x="6888035" y="5442966"/>
            <a:ext cx="1439877" cy="658368"/>
          </a:xfrm>
          <a:prstGeom prst="roundRect">
            <a:avLst>
              <a:gd name="adj" fmla="val 8333"/>
            </a:avLst>
          </a:prstGeom>
          <a:solidFill>
            <a:schemeClr val="accent1">
              <a:alpha val="88000"/>
            </a:schemeClr>
          </a:solidFill>
          <a:ln w="12700">
            <a:solidFill>
              <a:srgbClr val="D9700F"/>
            </a:solidFill>
            <a:prstDash val="solid"/>
          </a:ln>
        </p:spPr>
      </p:sp>
      <p:sp>
        <p:nvSpPr>
          <p:cNvPr id="97" name="Text 94"/>
          <p:cNvSpPr txBox="1"/>
          <p:nvPr/>
        </p:nvSpPr>
        <p:spPr>
          <a:xfrm>
            <a:off x="6924611" y="5442966"/>
            <a:ext cx="1366725" cy="658368"/>
          </a:xfrm>
          <a:prstGeom prst="rect">
            <a:avLst/>
          </a:prstGeom>
          <a:noFill/>
          <a:ln/>
        </p:spPr>
        <p:txBody>
          <a:bodyPr wrap="square" lIns="0" tIns="0" rIns="0" bIns="0" rtlCol="0" anchor="ctr"/>
          <a:lstStyle/>
          <a:p>
            <a:pPr algn="ctr" indent="0" marL="0">
              <a:buNone/>
            </a:pPr>
            <a:r>
              <a:rPr lang="en-US" sz="1864" b="1" dirty="0">
                <a:solidFill>
                  <a:schemeClr val="bg1"/>
                </a:solidFill>
              </a:rPr>
              <a:t>vasthouden,</a:t>
            </a:r>
            <a:endParaRPr lang="en-US" sz="1864" dirty="0"/>
          </a:p>
        </p:txBody>
      </p:sp>
      <p:sp>
        <p:nvSpPr>
          <p:cNvPr id="98" name="Text 95"/>
          <p:cNvSpPr txBox="1"/>
          <p:nvPr/>
        </p:nvSpPr>
        <p:spPr>
          <a:xfrm>
            <a:off x="8409887" y="5205222"/>
            <a:ext cx="897172" cy="219456"/>
          </a:xfrm>
          <a:prstGeom prst="rect">
            <a:avLst/>
          </a:prstGeom>
          <a:noFill/>
          <a:ln/>
        </p:spPr>
        <p:txBody>
          <a:bodyPr wrap="square" lIns="0" tIns="0" rIns="0" bIns="0" rtlCol="0" anchor="b"/>
          <a:lstStyle/>
          <a:p>
            <a:pPr algn="ctr" indent="0" marL="0">
              <a:buNone/>
            </a:pPr>
            <a:r>
              <a:rPr lang="en-US" sz="1000" b="1" dirty="0">
                <a:solidFill>
                  <a:schemeClr val="accent6"/>
                </a:solidFill>
              </a:rPr>
              <a:t>inversion</a:t>
            </a:r>
            <a:endParaRPr lang="en-US" sz="1000" dirty="0"/>
          </a:p>
        </p:txBody>
      </p:sp>
      <p:sp>
        <p:nvSpPr>
          <p:cNvPr id="99" name="Shape 96"/>
          <p:cNvSpPr/>
          <p:nvPr/>
        </p:nvSpPr>
        <p:spPr>
          <a:xfrm>
            <a:off x="8409887" y="5442966"/>
            <a:ext cx="897172" cy="658368"/>
          </a:xfrm>
          <a:prstGeom prst="roundRect">
            <a:avLst>
              <a:gd name="adj" fmla="val 8333"/>
            </a:avLst>
          </a:prstGeom>
          <a:solidFill>
            <a:schemeClr val="accent6">
              <a:alpha val="88000"/>
            </a:schemeClr>
          </a:solidFill>
          <a:ln w="12700">
            <a:solidFill>
              <a:srgbClr val="B83227"/>
            </a:solidFill>
            <a:prstDash val="solid"/>
          </a:ln>
        </p:spPr>
      </p:sp>
      <p:sp>
        <p:nvSpPr>
          <p:cNvPr id="100" name="Text 97"/>
          <p:cNvSpPr txBox="1"/>
          <p:nvPr/>
        </p:nvSpPr>
        <p:spPr>
          <a:xfrm>
            <a:off x="8446463" y="5442966"/>
            <a:ext cx="824020" cy="658368"/>
          </a:xfrm>
          <a:prstGeom prst="rect">
            <a:avLst/>
          </a:prstGeom>
          <a:noFill/>
          <a:ln/>
        </p:spPr>
        <p:txBody>
          <a:bodyPr wrap="square" lIns="0" tIns="0" rIns="0" bIns="0" rtlCol="0" anchor="ctr"/>
          <a:lstStyle/>
          <a:p>
            <a:pPr algn="ctr" indent="0" marL="0">
              <a:buNone/>
            </a:pPr>
            <a:r>
              <a:rPr lang="en-US" sz="1864" b="1" dirty="0">
                <a:solidFill>
                  <a:schemeClr val="bg1"/>
                </a:solidFill>
              </a:rPr>
              <a:t>zoeken</a:t>
            </a:r>
            <a:endParaRPr lang="en-US" sz="1864" dirty="0"/>
          </a:p>
        </p:txBody>
      </p:sp>
      <p:sp>
        <p:nvSpPr>
          <p:cNvPr id="101" name="Text 98"/>
          <p:cNvSpPr txBox="1"/>
          <p:nvPr/>
        </p:nvSpPr>
        <p:spPr>
          <a:xfrm>
            <a:off x="9389034" y="5205222"/>
            <a:ext cx="512344" cy="219456"/>
          </a:xfrm>
          <a:prstGeom prst="rect">
            <a:avLst/>
          </a:prstGeom>
          <a:noFill/>
          <a:ln/>
        </p:spPr>
        <p:txBody>
          <a:bodyPr wrap="square" lIns="0" tIns="0" rIns="0" bIns="0" rtlCol="0" anchor="b"/>
          <a:lstStyle/>
          <a:p>
            <a:pPr algn="ctr" indent="0" marL="0">
              <a:buNone/>
            </a:pPr>
            <a:r>
              <a:rPr lang="en-US" sz="1000" b="1" dirty="0">
                <a:solidFill>
                  <a:schemeClr val="tx2"/>
                </a:solidFill>
              </a:rPr>
              <a:t>sujet</a:t>
            </a:r>
            <a:endParaRPr lang="en-US" sz="1000" dirty="0"/>
          </a:p>
        </p:txBody>
      </p:sp>
      <p:sp>
        <p:nvSpPr>
          <p:cNvPr id="102" name="Shape 99"/>
          <p:cNvSpPr/>
          <p:nvPr/>
        </p:nvSpPr>
        <p:spPr>
          <a:xfrm>
            <a:off x="9389034" y="5442966"/>
            <a:ext cx="512344" cy="658368"/>
          </a:xfrm>
          <a:prstGeom prst="roundRect">
            <a:avLst>
              <a:gd name="adj" fmla="val 10708"/>
            </a:avLst>
          </a:prstGeom>
          <a:solidFill>
            <a:schemeClr val="tx2">
              <a:alpha val="88000"/>
            </a:schemeClr>
          </a:solidFill>
          <a:ln w="12700">
            <a:solidFill>
              <a:srgbClr val="17375E"/>
            </a:solidFill>
            <a:prstDash val="solid"/>
          </a:ln>
        </p:spPr>
      </p:sp>
      <p:sp>
        <p:nvSpPr>
          <p:cNvPr id="103" name="Text 100"/>
          <p:cNvSpPr txBox="1"/>
          <p:nvPr/>
        </p:nvSpPr>
        <p:spPr>
          <a:xfrm>
            <a:off x="9425610" y="5442966"/>
            <a:ext cx="439192" cy="658368"/>
          </a:xfrm>
          <a:prstGeom prst="rect">
            <a:avLst/>
          </a:prstGeom>
          <a:noFill/>
          <a:ln/>
        </p:spPr>
        <p:txBody>
          <a:bodyPr wrap="square" lIns="0" tIns="0" rIns="0" bIns="0" rtlCol="0" anchor="ctr"/>
          <a:lstStyle/>
          <a:p>
            <a:pPr algn="ctr" indent="0" marL="0">
              <a:buNone/>
            </a:pPr>
            <a:r>
              <a:rPr lang="en-US" sz="1864" b="1" dirty="0">
                <a:solidFill>
                  <a:schemeClr val="bg1"/>
                </a:solidFill>
              </a:rPr>
              <a:t>we</a:t>
            </a:r>
            <a:endParaRPr lang="en-US" sz="1864" dirty="0"/>
          </a:p>
        </p:txBody>
      </p:sp>
      <p:sp>
        <p:nvSpPr>
          <p:cNvPr id="104" name="Text 101"/>
          <p:cNvSpPr txBox="1"/>
          <p:nvPr/>
        </p:nvSpPr>
        <p:spPr>
          <a:xfrm>
            <a:off x="9983353" y="5205222"/>
            <a:ext cx="1656959" cy="219456"/>
          </a:xfrm>
          <a:prstGeom prst="rect">
            <a:avLst/>
          </a:prstGeom>
          <a:noFill/>
          <a:ln/>
        </p:spPr>
        <p:txBody>
          <a:bodyPr wrap="square" lIns="0" tIns="0" rIns="0" bIns="0" rtlCol="0" anchor="b"/>
          <a:lstStyle/>
          <a:p>
            <a:pPr algn="ctr" indent="0" marL="0">
              <a:buNone/>
            </a:pPr>
            <a:r>
              <a:rPr lang="en-US" sz="1000" b="1" dirty="0">
                <a:solidFill>
                  <a:schemeClr val="accent5"/>
                </a:solidFill>
              </a:rPr>
              <a:t>objet</a:t>
            </a:r>
            <a:endParaRPr lang="en-US" sz="1000" dirty="0"/>
          </a:p>
        </p:txBody>
      </p:sp>
      <p:sp>
        <p:nvSpPr>
          <p:cNvPr id="105" name="Shape 102"/>
          <p:cNvSpPr/>
          <p:nvPr/>
        </p:nvSpPr>
        <p:spPr>
          <a:xfrm>
            <a:off x="9983353" y="5442966"/>
            <a:ext cx="1656959" cy="658368"/>
          </a:xfrm>
          <a:prstGeom prst="roundRect">
            <a:avLst>
              <a:gd name="adj" fmla="val 8333"/>
            </a:avLst>
          </a:prstGeom>
          <a:solidFill>
            <a:schemeClr val="accent5">
              <a:alpha val="25000"/>
            </a:schemeClr>
          </a:solidFill>
          <a:ln w="12700">
            <a:solidFill>
              <a:srgbClr val="4A5A70"/>
            </a:solidFill>
            <a:prstDash val="solid"/>
          </a:ln>
        </p:spPr>
      </p:sp>
      <p:sp>
        <p:nvSpPr>
          <p:cNvPr id="106" name="Text 103"/>
          <p:cNvSpPr txBox="1"/>
          <p:nvPr/>
        </p:nvSpPr>
        <p:spPr>
          <a:xfrm>
            <a:off x="10019929" y="5442966"/>
            <a:ext cx="1583807" cy="658368"/>
          </a:xfrm>
          <a:prstGeom prst="rect">
            <a:avLst/>
          </a:prstGeom>
          <a:noFill/>
          <a:ln/>
        </p:spPr>
        <p:txBody>
          <a:bodyPr wrap="square" lIns="0" tIns="0" rIns="0" bIns="0" rtlCol="0" anchor="ctr"/>
          <a:lstStyle/>
          <a:p>
            <a:pPr algn="ctr" indent="0" marL="0">
              <a:buNone/>
            </a:pPr>
            <a:r>
              <a:rPr lang="en-US" sz="1864" b="1" dirty="0">
                <a:solidFill>
                  <a:schemeClr val="tx1"/>
                </a:solidFill>
              </a:rPr>
              <a:t>een compromis</a:t>
            </a:r>
            <a:endParaRPr lang="en-US" sz="1864"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10 Zet om naar een bijzin</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sp>
        <p:nvSpPr>
          <p:cNvPr id="6" name="Text 3"/>
          <p:cNvSpPr txBox="1"/>
          <p:nvPr/>
        </p:nvSpPr>
        <p:spPr>
          <a:xfrm>
            <a:off x="548640" y="1481328"/>
            <a:ext cx="11091672" cy="615696"/>
          </a:xfrm>
          <a:prstGeom prst="rect">
            <a:avLst/>
          </a:prstGeom>
          <a:noFill/>
          <a:ln/>
        </p:spPr>
        <p:txBody>
          <a:bodyPr wrap="square" lIns="0" tIns="0" rIns="0" bIns="0" rtlCol="0" anchor="t"/>
          <a:lstStyle/>
          <a:p>
            <a:pPr indent="0" marL="0">
              <a:buNone/>
            </a:pPr>
            <a:r>
              <a:rPr lang="en-US" sz="1600" i="1" dirty="0">
                <a:solidFill>
                  <a:schemeClr val="accent5"/>
                </a:solidFill>
              </a:rPr>
              <a:t>Couche 2 · seul·e · 8 min. Transformez en </a:t>
            </a:r>
            <a:r>
              <a:rPr lang="en-US" sz="1600" b="1" i="1" dirty="0">
                <a:solidFill>
                  <a:schemeClr val="accent5"/>
                </a:solidFill>
              </a:rPr>
              <a:t>subordonnée</a:t>
            </a:r>
            <a:r>
              <a:rPr lang="en-US" sz="1600" i="1" dirty="0">
                <a:solidFill>
                  <a:schemeClr val="accent5"/>
                </a:solidFill>
              </a:rPr>
              <a:t> avec la conjonction indiquée : tous les verbes à la fin, </a:t>
            </a:r>
            <a:r>
              <a:rPr lang="en-US" sz="1600" b="1" i="1" dirty="0">
                <a:solidFill>
                  <a:schemeClr val="accent5"/>
                </a:solidFill>
              </a:rPr>
              <a:t>les particules se ressoudent</a:t>
            </a:r>
            <a:r>
              <a:rPr lang="en-US" sz="1600" i="1" dirty="0">
                <a:solidFill>
                  <a:schemeClr val="accent5"/>
                </a:solidFill>
              </a:rPr>
              <a:t>.</a:t>
            </a:r>
            <a:endParaRPr lang="en-US" sz="1600" dirty="0"/>
          </a:p>
        </p:txBody>
      </p:sp>
      <p:sp>
        <p:nvSpPr>
          <p:cNvPr id="7" name="exercise"/>
          <p:cNvSpPr txBox="1"/>
          <p:nvPr/>
        </p:nvSpPr>
        <p:spPr>
          <a:xfrm>
            <a:off x="548640" y="2170176"/>
            <a:ext cx="11091672" cy="4120896"/>
          </a:xfrm>
          <a:prstGeom prst="rect">
            <a:avLst/>
          </a:prstGeom>
          <a:noFill/>
          <a:ln/>
        </p:spPr>
        <p:txBody>
          <a:bodyPr wrap="square" lIns="0" tIns="0" rIns="0" bIns="0" rtlCol="0" anchor="t"/>
          <a:lstStyle/>
          <a:p>
            <a:pPr indent="0" marL="0">
              <a:spcAft>
                <a:spcPts val="1200"/>
              </a:spcAft>
              <a:buNone/>
            </a:pPr>
            <a:r>
              <a:rPr lang="en-US" sz="2600" b="1" dirty="0">
                <a:solidFill>
                  <a:schemeClr val="tx2"/>
                </a:solidFill>
              </a:rPr>
              <a:t>1.  </a:t>
            </a:r>
            <a:r>
              <a:rPr lang="en-US" sz="2600" dirty="0">
                <a:solidFill>
                  <a:schemeClr val="tx1"/>
                </a:solidFill>
              </a:rPr>
              <a:t>Ik moet het dossier voorbereiden. (omdat) → Ik heb geen tijd…</a:t>
            </a:r>
            <a:endParaRPr lang="en-US" sz="2600" dirty="0"/>
          </a:p>
          <a:p>
            <a:pPr indent="0" marL="0">
              <a:spcAft>
                <a:spcPts val="1200"/>
              </a:spcAft>
              <a:buNone/>
            </a:pPr>
            <a:r>
              <a:rPr lang="en-US" sz="2600" b="1" dirty="0">
                <a:solidFill>
                  <a:schemeClr val="tx2"/>
                </a:solidFill>
              </a:rPr>
              <a:t>2.  </a:t>
            </a:r>
            <a:r>
              <a:rPr lang="en-US" sz="2600" dirty="0">
                <a:solidFill>
                  <a:schemeClr val="tx1"/>
                </a:solidFill>
              </a:rPr>
              <a:t>De koper brengt een bod uit. (zodra) → …, bel ik u op.</a:t>
            </a:r>
            <a:endParaRPr lang="en-US" sz="2600" dirty="0"/>
          </a:p>
          <a:p>
            <a:pPr indent="0" marL="0">
              <a:spcAft>
                <a:spcPts val="1200"/>
              </a:spcAft>
              <a:buNone/>
            </a:pPr>
            <a:r>
              <a:rPr lang="en-US" sz="2600" b="1" dirty="0">
                <a:solidFill>
                  <a:schemeClr val="tx2"/>
                </a:solidFill>
              </a:rPr>
              <a:t>3.  </a:t>
            </a:r>
            <a:r>
              <a:rPr lang="en-US" sz="2600" dirty="0">
                <a:solidFill>
                  <a:schemeClr val="tx1"/>
                </a:solidFill>
              </a:rPr>
              <a:t>Wij hebben de woning verkocht. (nadat) → Nadat…</a:t>
            </a:r>
            <a:endParaRPr lang="en-US" sz="2600" dirty="0"/>
          </a:p>
          <a:p>
            <a:pPr indent="0" marL="0">
              <a:spcAft>
                <a:spcPts val="1200"/>
              </a:spcAft>
              <a:buNone/>
            </a:pPr>
            <a:r>
              <a:rPr lang="en-US" sz="2600" b="1" dirty="0">
                <a:solidFill>
                  <a:schemeClr val="tx2"/>
                </a:solidFill>
              </a:rPr>
              <a:t>4.  </a:t>
            </a:r>
            <a:r>
              <a:rPr lang="en-US" sz="2600" dirty="0">
                <a:solidFill>
                  <a:schemeClr val="tx1"/>
                </a:solidFill>
              </a:rPr>
              <a:t>De eigenaar wil aan de prijs vasthouden. (hoewel) → …, zoeken we een compromis.</a:t>
            </a:r>
            <a:endParaRPr lang="en-US" sz="2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10 Zet om naar een bijzin</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ag"/>
          <p:cNvSpPr/>
          <p:nvPr/>
        </p:nvSpPr>
        <p:spPr>
          <a:xfrm>
            <a:off x="1938528" y="237744"/>
            <a:ext cx="176022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 CORRECTIE</a:t>
            </a:r>
            <a:endParaRPr lang="en-US" sz="1200" dirty="0"/>
          </a:p>
        </p:txBody>
      </p:sp>
      <p:sp>
        <p:nvSpPr>
          <p:cNvPr id="5" name="Text 3"/>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a:t>
            </a:r>
            <a:endParaRPr lang="en-US" sz="1200" dirty="0"/>
          </a:p>
        </p:txBody>
      </p:sp>
      <p:sp>
        <p:nvSpPr>
          <p:cNvPr id="7" name="Text 4"/>
          <p:cNvSpPr txBox="1"/>
          <p:nvPr/>
        </p:nvSpPr>
        <p:spPr>
          <a:xfrm>
            <a:off x="548640" y="1481328"/>
            <a:ext cx="11091672" cy="615696"/>
          </a:xfrm>
          <a:prstGeom prst="rect">
            <a:avLst/>
          </a:prstGeom>
          <a:noFill/>
          <a:ln/>
        </p:spPr>
        <p:txBody>
          <a:bodyPr wrap="square" lIns="0" tIns="0" rIns="0" bIns="0" rtlCol="0" anchor="t"/>
          <a:lstStyle/>
          <a:p>
            <a:pPr indent="0" marL="0">
              <a:buNone/>
            </a:pPr>
            <a:r>
              <a:rPr lang="en-US" sz="1600" i="1" dirty="0">
                <a:solidFill>
                  <a:schemeClr val="accent5"/>
                </a:solidFill>
              </a:rPr>
              <a:t>Couche 2 · seul·e · 8 min. Transformez en </a:t>
            </a:r>
            <a:r>
              <a:rPr lang="en-US" sz="1600" b="1" i="1" dirty="0">
                <a:solidFill>
                  <a:schemeClr val="accent5"/>
                </a:solidFill>
              </a:rPr>
              <a:t>subordonnée</a:t>
            </a:r>
            <a:r>
              <a:rPr lang="en-US" sz="1600" i="1" dirty="0">
                <a:solidFill>
                  <a:schemeClr val="accent5"/>
                </a:solidFill>
              </a:rPr>
              <a:t> avec la conjonction indiquée : tous les verbes à la fin, </a:t>
            </a:r>
            <a:r>
              <a:rPr lang="en-US" sz="1600" b="1" i="1" dirty="0">
                <a:solidFill>
                  <a:schemeClr val="accent5"/>
                </a:solidFill>
              </a:rPr>
              <a:t>les particules se ressoudent</a:t>
            </a:r>
            <a:r>
              <a:rPr lang="en-US" sz="1600" i="1" dirty="0">
                <a:solidFill>
                  <a:schemeClr val="accent5"/>
                </a:solidFill>
              </a:rPr>
              <a:t>.</a:t>
            </a:r>
            <a:endParaRPr lang="en-US" sz="1600" dirty="0"/>
          </a:p>
        </p:txBody>
      </p:sp>
      <p:sp>
        <p:nvSpPr>
          <p:cNvPr id="8" name="exercise"/>
          <p:cNvSpPr txBox="1"/>
          <p:nvPr/>
        </p:nvSpPr>
        <p:spPr>
          <a:xfrm>
            <a:off x="548640" y="2170176"/>
            <a:ext cx="11091672" cy="4120896"/>
          </a:xfrm>
          <a:prstGeom prst="rect">
            <a:avLst/>
          </a:prstGeom>
          <a:noFill/>
          <a:ln/>
        </p:spPr>
        <p:txBody>
          <a:bodyPr wrap="square" lIns="0" tIns="0" rIns="0" bIns="0" rtlCol="0" anchor="t"/>
          <a:lstStyle/>
          <a:p>
            <a:pPr indent="0" marL="0">
              <a:spcAft>
                <a:spcPts val="400"/>
              </a:spcAft>
              <a:buNone/>
            </a:pPr>
            <a:r>
              <a:rPr lang="en-US" sz="2400" b="1" dirty="0">
                <a:solidFill>
                  <a:schemeClr val="tx2"/>
                </a:solidFill>
              </a:rPr>
              <a:t>1.  </a:t>
            </a:r>
            <a:r>
              <a:rPr lang="en-US" sz="2400" dirty="0">
                <a:solidFill>
                  <a:schemeClr val="tx1"/>
                </a:solidFill>
              </a:rPr>
              <a:t>Ik moet het dossier voorbereiden. (omdat) → Ik heb geen tijd…</a:t>
            </a:r>
            <a:endParaRPr lang="en-US" sz="2400" dirty="0"/>
          </a:p>
          <a:p>
            <a:pPr indent="0" marL="0">
              <a:spcAft>
                <a:spcPts val="600"/>
              </a:spcAft>
              <a:buNone/>
            </a:pPr>
            <a:r>
              <a:rPr lang="en-US" sz="2400" b="1" dirty="0">
                <a:solidFill>
                  <a:schemeClr val="accent3"/>
                </a:solidFill>
              </a:rPr>
              <a:t>→ </a:t>
            </a:r>
            <a:r>
              <a:rPr lang="en-US" sz="2400" dirty="0">
                <a:solidFill>
                  <a:schemeClr val="accent3"/>
                </a:solidFill>
              </a:rPr>
              <a:t>Ik heb geen tijd, </a:t>
            </a:r>
            <a:r>
              <a:rPr lang="en-US" sz="2400" b="1" dirty="0">
                <a:solidFill>
                  <a:schemeClr val="accent3"/>
                </a:solidFill>
              </a:rPr>
              <a:t>omdat ik het dossier moet voorbereiden</a:t>
            </a:r>
            <a:r>
              <a:rPr lang="en-US" sz="2400" dirty="0">
                <a:solidFill>
                  <a:schemeClr val="accent3"/>
                </a:solidFill>
              </a:rPr>
              <a:t>.</a:t>
            </a:r>
            <a:endParaRPr lang="en-US" sz="2400" dirty="0"/>
          </a:p>
          <a:p>
            <a:pPr indent="0" marL="0">
              <a:spcAft>
                <a:spcPts val="400"/>
              </a:spcAft>
              <a:buNone/>
            </a:pPr>
            <a:r>
              <a:rPr lang="en-US" sz="2400" b="1" dirty="0">
                <a:solidFill>
                  <a:schemeClr val="tx2"/>
                </a:solidFill>
              </a:rPr>
              <a:t>2.  </a:t>
            </a:r>
            <a:r>
              <a:rPr lang="en-US" sz="2400" dirty="0">
                <a:solidFill>
                  <a:schemeClr val="tx1"/>
                </a:solidFill>
              </a:rPr>
              <a:t>De koper brengt een bod uit. (zodra) → …, bel ik u op.</a:t>
            </a:r>
            <a:endParaRPr lang="en-US" sz="2400" dirty="0"/>
          </a:p>
          <a:p>
            <a:pPr indent="0" marL="0">
              <a:spcAft>
                <a:spcPts val="600"/>
              </a:spcAft>
              <a:buNone/>
            </a:pPr>
            <a:r>
              <a:rPr lang="en-US" sz="2400" b="1" dirty="0">
                <a:solidFill>
                  <a:schemeClr val="accent3"/>
                </a:solidFill>
              </a:rPr>
              <a:t>→ </a:t>
            </a:r>
            <a:r>
              <a:rPr lang="en-US" sz="2400" b="1" dirty="0">
                <a:solidFill>
                  <a:schemeClr val="accent3"/>
                </a:solidFill>
              </a:rPr>
              <a:t>Zodra de koper een bod uitbrengt</a:t>
            </a:r>
            <a:r>
              <a:rPr lang="en-US" sz="2400" dirty="0">
                <a:solidFill>
                  <a:schemeClr val="accent3"/>
                </a:solidFill>
              </a:rPr>
              <a:t>, bel ik u op.</a:t>
            </a:r>
            <a:endParaRPr lang="en-US" sz="2400" dirty="0"/>
          </a:p>
          <a:p>
            <a:pPr indent="0" marL="0">
              <a:spcAft>
                <a:spcPts val="400"/>
              </a:spcAft>
              <a:buNone/>
            </a:pPr>
            <a:r>
              <a:rPr lang="en-US" sz="2400" b="1" dirty="0">
                <a:solidFill>
                  <a:schemeClr val="tx2"/>
                </a:solidFill>
              </a:rPr>
              <a:t>3.  </a:t>
            </a:r>
            <a:r>
              <a:rPr lang="en-US" sz="2400" dirty="0">
                <a:solidFill>
                  <a:schemeClr val="tx1"/>
                </a:solidFill>
              </a:rPr>
              <a:t>Wij hebben de woning verkocht. (nadat) → Nadat…</a:t>
            </a:r>
            <a:endParaRPr lang="en-US" sz="2400" dirty="0"/>
          </a:p>
          <a:p>
            <a:pPr indent="0" marL="0">
              <a:spcAft>
                <a:spcPts val="600"/>
              </a:spcAft>
              <a:buNone/>
            </a:pPr>
            <a:r>
              <a:rPr lang="en-US" sz="2400" b="1" dirty="0">
                <a:solidFill>
                  <a:schemeClr val="accent3"/>
                </a:solidFill>
              </a:rPr>
              <a:t>→ </a:t>
            </a:r>
            <a:r>
              <a:rPr lang="en-US" sz="2400" b="1" dirty="0">
                <a:solidFill>
                  <a:schemeClr val="accent3"/>
                </a:solidFill>
              </a:rPr>
              <a:t>Nadat we de woning verkocht hebben</a:t>
            </a:r>
            <a:r>
              <a:rPr lang="en-US" sz="2400" dirty="0">
                <a:solidFill>
                  <a:schemeClr val="accent3"/>
                </a:solidFill>
              </a:rPr>
              <a:t>, vieren we dat met de eigenaar.</a:t>
            </a:r>
            <a:endParaRPr lang="en-US" sz="2400" dirty="0"/>
          </a:p>
          <a:p>
            <a:pPr indent="0" marL="0">
              <a:spcAft>
                <a:spcPts val="400"/>
              </a:spcAft>
              <a:buNone/>
            </a:pPr>
            <a:r>
              <a:rPr lang="en-US" sz="2400" b="1" dirty="0">
                <a:solidFill>
                  <a:schemeClr val="tx2"/>
                </a:solidFill>
              </a:rPr>
              <a:t>4.  </a:t>
            </a:r>
            <a:r>
              <a:rPr lang="en-US" sz="2400" dirty="0">
                <a:solidFill>
                  <a:schemeClr val="tx1"/>
                </a:solidFill>
              </a:rPr>
              <a:t>De eigenaar wil aan de prijs vasthouden. (hoewel) → …, zoeken we een compromis.</a:t>
            </a:r>
            <a:endParaRPr lang="en-US" sz="2400" dirty="0"/>
          </a:p>
          <a:p>
            <a:pPr indent="0" marL="0">
              <a:spcAft>
                <a:spcPts val="600"/>
              </a:spcAft>
              <a:buNone/>
            </a:pPr>
            <a:r>
              <a:rPr lang="en-US" sz="2400" b="1" dirty="0">
                <a:solidFill>
                  <a:schemeClr val="accent3"/>
                </a:solidFill>
              </a:rPr>
              <a:t>→ </a:t>
            </a:r>
            <a:r>
              <a:rPr lang="en-US" sz="2400" b="1" dirty="0">
                <a:solidFill>
                  <a:schemeClr val="accent3"/>
                </a:solidFill>
              </a:rPr>
              <a:t>Hoewel de eigenaar aan de prijs wil vasthouden</a:t>
            </a:r>
            <a:r>
              <a:rPr lang="en-US" sz="2400" dirty="0">
                <a:solidFill>
                  <a:schemeClr val="accent3"/>
                </a:solidFill>
              </a:rPr>
              <a:t>, zoeken we een compromis.</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 Herschrijf het slechte zoekertje</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19–20</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8229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VOOR</a:t>
            </a:r>
            <a:endParaRPr lang="en-US" sz="1200" dirty="0"/>
          </a:p>
        </p:txBody>
      </p:sp>
      <p:sp>
        <p:nvSpPr>
          <p:cNvPr id="8" name="Text 5"/>
          <p:cNvSpPr txBox="1"/>
          <p:nvPr/>
        </p:nvSpPr>
        <p:spPr>
          <a:xfrm>
            <a:off x="1828800" y="1609344"/>
            <a:ext cx="60350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Une annonce « à la manière du palier 1 »</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dirty="0">
                <a:solidFill>
                  <a:schemeClr val="tx1"/>
                </a:solidFill>
              </a:rPr>
              <a:t>Wij verkopen een appartement. Het appartement is in Elsene. Het heeft twee slaapkamers. De badkamer is nieuw. Er is een terras. Het terras is 8 m². De prijs is interessant. U kunt de woning bezichtigen. U belt ons. Wij plannen een afspraak.</a:t>
            </a:r>
            <a:endParaRPr lang="en-US" sz="2100" dirty="0"/>
          </a:p>
        </p:txBody>
      </p:sp>
      <p:pic>
        <p:nvPicPr>
          <p:cNvPr id="10" name="illustration" descr="Illustration du syllabus">    </p:cNvPr>
          <p:cNvPicPr>
            <a:picLocks noChangeAspect="1"/>
          </p:cNvPicPr>
          <p:nvPr/>
        </p:nvPicPr>
        <p:blipFill>
          <a:blip r:embed="rId1"/>
          <a:stretch>
            <a:fillRect/>
          </a:stretch>
        </p:blipFill>
        <p:spPr>
          <a:xfrm>
            <a:off x="8275320" y="1481328"/>
            <a:ext cx="3364992" cy="2243328"/>
          </a:xfrm>
          <a:prstGeom prst="rect">
            <a:avLst/>
          </a:prstGeom>
          <a:effectLst>
            <a:outerShdw sx="100000" sy="100000" kx="0" ky="0" algn="bl" rotWithShape="0" blurRad="101600" dist="25400" dir="3600000">
              <a:srgbClr val="000000">
                <a:alpha val="18000"/>
              </a:srgbClr>
            </a:outerShdw>
          </a:effectLst>
        </p:spPr>
      </p:pic>
      <p:sp>
        <p:nvSpPr>
          <p:cNvPr id="11" name="aside"/>
          <p:cNvSpPr/>
          <p:nvPr/>
        </p:nvSpPr>
        <p:spPr>
          <a:xfrm>
            <a:off x="8275320" y="3977640"/>
            <a:ext cx="3364992" cy="2313432"/>
          </a:xfrm>
          <a:prstGeom prst="roundRect">
            <a:avLst>
              <a:gd name="adj" fmla="val 3162"/>
            </a:avLst>
          </a:prstGeom>
          <a:solidFill>
            <a:schemeClr val="accent1">
              <a:alpha val="10000"/>
            </a:schemeClr>
          </a:solidFill>
          <a:ln w="12700">
            <a:solidFill>
              <a:schemeClr val="accent1">
                <a:alpha val="60000"/>
              </a:schemeClr>
            </a:solidFill>
            <a:prstDash val="solid"/>
          </a:ln>
        </p:spPr>
      </p:sp>
      <p:pic>
        <p:nvPicPr>
          <p:cNvPr id="12" name="Image 1" descr="preencoded.png">    </p:cNvPr>
          <p:cNvPicPr>
            <a:picLocks noChangeAspect="1"/>
          </p:cNvPicPr>
          <p:nvPr/>
        </p:nvPicPr>
        <p:blipFill>
          <a:blip r:embed="rId2"/>
          <a:stretch>
            <a:fillRect/>
          </a:stretch>
        </p:blipFill>
        <p:spPr>
          <a:xfrm>
            <a:off x="8458200" y="4160520"/>
            <a:ext cx="292608" cy="292608"/>
          </a:xfrm>
          <a:prstGeom prst="rect">
            <a:avLst/>
          </a:prstGeom>
        </p:spPr>
      </p:pic>
      <p:sp>
        <p:nvSpPr>
          <p:cNvPr id="13" name="Text 8"/>
          <p:cNvSpPr txBox="1"/>
          <p:nvPr/>
        </p:nvSpPr>
        <p:spPr>
          <a:xfrm>
            <a:off x="8842248" y="4133088"/>
            <a:ext cx="2633472" cy="347472"/>
          </a:xfrm>
          <a:prstGeom prst="rect">
            <a:avLst/>
          </a:prstGeom>
          <a:noFill/>
          <a:ln/>
        </p:spPr>
        <p:txBody>
          <a:bodyPr wrap="square" lIns="0" tIns="0" rIns="0" bIns="0" rtlCol="0" anchor="ctr"/>
          <a:lstStyle/>
          <a:p>
            <a:pPr indent="0" marL="0">
              <a:buNone/>
            </a:pPr>
            <a:r>
              <a:rPr lang="en-US" sz="1400" b="1" spc="100" kern="0" dirty="0">
                <a:solidFill>
                  <a:schemeClr val="accent1"/>
                </a:solidFill>
              </a:rPr>
              <a:t>À VOUS</a:t>
            </a:r>
            <a:endParaRPr lang="en-US" sz="1400" dirty="0"/>
          </a:p>
        </p:txBody>
      </p:sp>
      <p:sp>
        <p:nvSpPr>
          <p:cNvPr id="14" name="Text 9"/>
          <p:cNvSpPr txBox="1"/>
          <p:nvPr/>
        </p:nvSpPr>
        <p:spPr>
          <a:xfrm>
            <a:off x="8439912" y="4572000"/>
            <a:ext cx="3035808" cy="1581912"/>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Écrit · seul·e · 10 min</a:t>
            </a:r>
            <a:endParaRPr lang="en-US" sz="1800" dirty="0"/>
          </a:p>
          <a:p>
            <a:pPr marL="177800" indent="-177800">
              <a:spcAft>
                <a:spcPts val="600"/>
              </a:spcAft>
              <a:buSzPct val="100000"/>
              <a:buChar char="•"/>
            </a:pPr>
            <a:r>
              <a:rPr lang="en-US" sz="1800" b="1" dirty="0">
                <a:solidFill>
                  <a:schemeClr val="tx1"/>
                </a:solidFill>
              </a:rPr>
              <a:t>5 à 6 phrases</a:t>
            </a:r>
            <a:r>
              <a:rPr lang="en-US" sz="1800" dirty="0">
                <a:solidFill>
                  <a:schemeClr val="tx1"/>
                </a:solidFill>
              </a:rPr>
              <a:t> : </a:t>
            </a:r>
            <a:r>
              <a:rPr lang="en-US" sz="1800" b="1" dirty="0">
                <a:solidFill>
                  <a:schemeClr val="tx1"/>
                </a:solidFill>
              </a:rPr>
              <a:t>2 relatives</a:t>
            </a:r>
            <a:r>
              <a:rPr lang="en-US" sz="1800" dirty="0">
                <a:solidFill>
                  <a:schemeClr val="tx1"/>
                </a:solidFill>
              </a:rPr>
              <a:t>, </a:t>
            </a:r>
            <a:r>
              <a:rPr lang="en-US" sz="1800" b="1" dirty="0">
                <a:solidFill>
                  <a:schemeClr val="tx1"/>
                </a:solidFill>
              </a:rPr>
              <a:t>1 adverbe pronominal</a:t>
            </a:r>
            <a:r>
              <a:rPr lang="en-US" sz="1800" dirty="0">
                <a:solidFill>
                  <a:schemeClr val="tx1"/>
                </a:solidFill>
              </a:rPr>
              <a:t>, </a:t>
            </a:r>
            <a:r>
              <a:rPr lang="en-US" sz="1800" b="1" dirty="0">
                <a:solidFill>
                  <a:schemeClr val="tx1"/>
                </a:solidFill>
              </a:rPr>
              <a:t>2 subordonnées</a:t>
            </a:r>
            <a:r>
              <a:rPr lang="en-US" sz="1800" dirty="0">
                <a:solidFill>
                  <a:schemeClr val="tx1"/>
                </a:solidFill>
              </a:rPr>
              <a:t>, </a:t>
            </a:r>
            <a:r>
              <a:rPr lang="en-US" sz="1800" b="1" dirty="0">
                <a:solidFill>
                  <a:schemeClr val="tx1"/>
                </a:solidFill>
              </a:rPr>
              <a:t>1 connecteur</a:t>
            </a:r>
            <a:r>
              <a:rPr lang="en-US" sz="1800" dirty="0">
                <a:solidFill>
                  <a:schemeClr val="tx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11 Herschrijf — Une annonce professionnelle (modèle)</a:t>
            </a:r>
            <a:endParaRPr lang="en-US" sz="3200" dirty="0"/>
          </a:p>
        </p:txBody>
      </p:sp>
      <p:sp>
        <p:nvSpPr>
          <p:cNvPr id="3" name="tag"/>
          <p:cNvSpPr/>
          <p:nvPr/>
        </p:nvSpPr>
        <p:spPr>
          <a:xfrm>
            <a:off x="548640" y="237744"/>
            <a:ext cx="12801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COUCHE 2</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sp>
        <p:nvSpPr>
          <p:cNvPr id="6" name="Shape 3"/>
          <p:cNvSpPr/>
          <p:nvPr/>
        </p:nvSpPr>
        <p:spPr>
          <a:xfrm>
            <a:off x="548640" y="1481328"/>
            <a:ext cx="7406640" cy="4809744"/>
          </a:xfrm>
          <a:prstGeom prst="rect">
            <a:avLst/>
          </a:prstGeom>
          <a:solidFill>
            <a:schemeClr val="bg1"/>
          </a:solidFill>
          <a:ln w="12700">
            <a:solidFill>
              <a:srgbClr val="4A5A70"/>
            </a:solidFill>
            <a:prstDash val="dash"/>
          </a:ln>
        </p:spPr>
      </p:sp>
      <p:sp>
        <p:nvSpPr>
          <p:cNvPr id="7" name="tag"/>
          <p:cNvSpPr/>
          <p:nvPr/>
        </p:nvSpPr>
        <p:spPr>
          <a:xfrm>
            <a:off x="777240" y="1645920"/>
            <a:ext cx="59436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NA</a:t>
            </a:r>
            <a:endParaRPr lang="en-US" sz="1200" dirty="0"/>
          </a:p>
        </p:txBody>
      </p:sp>
      <p:sp>
        <p:nvSpPr>
          <p:cNvPr id="8" name="Text 5"/>
          <p:cNvSpPr txBox="1"/>
          <p:nvPr/>
        </p:nvSpPr>
        <p:spPr>
          <a:xfrm>
            <a:off x="1600200" y="1609344"/>
            <a:ext cx="6263640"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Zoekertje — appartement Elsene</a:t>
            </a:r>
            <a:endParaRPr lang="en-US" sz="1800" dirty="0"/>
          </a:p>
        </p:txBody>
      </p:sp>
      <p:sp>
        <p:nvSpPr>
          <p:cNvPr id="9" name="Text 6"/>
          <p:cNvSpPr txBox="1"/>
          <p:nvPr/>
        </p:nvSpPr>
        <p:spPr>
          <a:xfrm>
            <a:off x="777240" y="2148840"/>
            <a:ext cx="6949440" cy="4023360"/>
          </a:xfrm>
          <a:prstGeom prst="rect">
            <a:avLst/>
          </a:prstGeom>
          <a:noFill/>
          <a:ln/>
        </p:spPr>
        <p:txBody>
          <a:bodyPr wrap="square" lIns="0" tIns="0" rIns="0" bIns="0" rtlCol="0" anchor="t"/>
          <a:lstStyle/>
          <a:p>
            <a:pPr indent="0" marL="0">
              <a:spcAft>
                <a:spcPts val="800"/>
              </a:spcAft>
              <a:buNone/>
            </a:pPr>
            <a:r>
              <a:rPr lang="en-US" sz="2100" b="1" dirty="0">
                <a:solidFill>
                  <a:schemeClr val="tx1"/>
                </a:solidFill>
              </a:rPr>
              <a:t>TE KOOP — Elsene</a:t>
            </a:r>
            <a:endParaRPr lang="en-US" sz="2100" dirty="0"/>
          </a:p>
          <a:p>
            <a:pPr indent="0" marL="0">
              <a:spcAft>
                <a:spcPts val="800"/>
              </a:spcAft>
              <a:buNone/>
            </a:pPr>
            <a:r>
              <a:rPr lang="en-US" sz="2100" dirty="0">
                <a:solidFill>
                  <a:schemeClr val="tx1"/>
                </a:solidFill>
              </a:rPr>
              <a:t>Wij verkopen een appartement dat twee slaapkamers en een nieuwe badkamer heeft. Bovendien beschikt het over een terras van 8 m² waarop u ’s avonds van de zon kunt genieten. Aangezien de prijs interessant is, raden wij u aan om snel te reageren. U kunt de woning bezichtigen: zodra u ons belt, plannen wij daarvoor een afspraak in. Kortom: een kans die u niet mag missen.</a:t>
            </a:r>
            <a:endParaRPr lang="en-US" sz="2100" dirty="0"/>
          </a:p>
        </p:txBody>
      </p:sp>
      <p:sp>
        <p:nvSpPr>
          <p:cNvPr id="10" name="aside"/>
          <p:cNvSpPr/>
          <p:nvPr/>
        </p:nvSpPr>
        <p:spPr>
          <a:xfrm>
            <a:off x="8275320" y="1481328"/>
            <a:ext cx="3364992" cy="4809744"/>
          </a:xfrm>
          <a:prstGeom prst="roundRect">
            <a:avLst>
              <a:gd name="adj" fmla="val 2174"/>
            </a:avLst>
          </a:prstGeom>
          <a:solidFill>
            <a:schemeClr val="accent3">
              <a:alpha val="10000"/>
            </a:schemeClr>
          </a:solidFill>
          <a:ln w="12700">
            <a:solidFill>
              <a:schemeClr val="accent3">
                <a:alpha val="60000"/>
              </a:schemeClr>
            </a:solidFill>
            <a:prstDash val="solid"/>
          </a:ln>
        </p:spPr>
      </p:sp>
      <p:pic>
        <p:nvPicPr>
          <p:cNvPr id="11" name="Image 0" descr="preencoded.png">    </p:cNvPr>
          <p:cNvPicPr>
            <a:picLocks noChangeAspect="1"/>
          </p:cNvPicPr>
          <p:nvPr/>
        </p:nvPicPr>
        <p:blipFill>
          <a:blip r:embed="rId1"/>
          <a:stretch>
            <a:fillRect/>
          </a:stretch>
        </p:blipFill>
        <p:spPr>
          <a:xfrm>
            <a:off x="8458200" y="1664208"/>
            <a:ext cx="292608" cy="292608"/>
          </a:xfrm>
          <a:prstGeom prst="rect">
            <a:avLst/>
          </a:prstGeom>
        </p:spPr>
      </p:pic>
      <p:sp>
        <p:nvSpPr>
          <p:cNvPr id="12" name="Text 8"/>
          <p:cNvSpPr txBox="1"/>
          <p:nvPr/>
        </p:nvSpPr>
        <p:spPr>
          <a:xfrm>
            <a:off x="8842248" y="1636776"/>
            <a:ext cx="2633472" cy="347472"/>
          </a:xfrm>
          <a:prstGeom prst="rect">
            <a:avLst/>
          </a:prstGeom>
          <a:noFill/>
          <a:ln/>
        </p:spPr>
        <p:txBody>
          <a:bodyPr wrap="square" lIns="0" tIns="0" rIns="0" bIns="0" rtlCol="0" anchor="ctr"/>
          <a:lstStyle/>
          <a:p>
            <a:pPr indent="0" marL="0">
              <a:buNone/>
            </a:pPr>
            <a:r>
              <a:rPr lang="en-US" sz="1400" b="1" spc="100" kern="0" dirty="0">
                <a:solidFill>
                  <a:schemeClr val="accent3"/>
                </a:solidFill>
              </a:rPr>
              <a:t>LES OUTILS RÉEMPLOYÉS</a:t>
            </a:r>
            <a:endParaRPr lang="en-US" sz="1400" dirty="0"/>
          </a:p>
        </p:txBody>
      </p:sp>
      <p:sp>
        <p:nvSpPr>
          <p:cNvPr id="13" name="Text 9"/>
          <p:cNvSpPr txBox="1"/>
          <p:nvPr/>
        </p:nvSpPr>
        <p:spPr>
          <a:xfrm>
            <a:off x="8439912" y="2075688"/>
            <a:ext cx="3035808" cy="4078224"/>
          </a:xfrm>
          <a:prstGeom prst="rect">
            <a:avLst/>
          </a:prstGeom>
          <a:noFill/>
          <a:ln/>
        </p:spPr>
        <p:txBody>
          <a:bodyPr wrap="square" lIns="0" tIns="0" rIns="0" bIns="0" rtlCol="0" anchor="t"/>
          <a:lstStyle/>
          <a:p>
            <a:pPr marL="177800" indent="-177800">
              <a:spcAft>
                <a:spcPts val="600"/>
              </a:spcAft>
              <a:buSzPct val="100000"/>
              <a:buChar char="•"/>
            </a:pPr>
            <a:r>
              <a:rPr lang="en-US" sz="1800" dirty="0">
                <a:solidFill>
                  <a:schemeClr val="tx1"/>
                </a:solidFill>
              </a:rPr>
              <a:t>Relatives : </a:t>
            </a:r>
            <a:r>
              <a:rPr lang="en-US" sz="1800" b="1" dirty="0">
                <a:solidFill>
                  <a:schemeClr val="tx1"/>
                </a:solidFill>
              </a:rPr>
              <a:t>dat</a:t>
            </a:r>
            <a:r>
              <a:rPr lang="en-US" sz="1800" dirty="0">
                <a:solidFill>
                  <a:schemeClr val="tx1"/>
                </a:solidFill>
              </a:rPr>
              <a:t> … heeft · </a:t>
            </a:r>
            <a:r>
              <a:rPr lang="en-US" sz="1800" b="1" dirty="0">
                <a:solidFill>
                  <a:schemeClr val="tx1"/>
                </a:solidFill>
              </a:rPr>
              <a:t>waarop</a:t>
            </a:r>
            <a:r>
              <a:rPr lang="en-US" sz="1800" dirty="0">
                <a:solidFill>
                  <a:schemeClr val="tx1"/>
                </a:solidFill>
              </a:rPr>
              <a:t> … kunt genieten</a:t>
            </a:r>
            <a:endParaRPr lang="en-US" sz="1800" dirty="0"/>
          </a:p>
          <a:p>
            <a:pPr marL="177800" indent="-177800">
              <a:spcAft>
                <a:spcPts val="600"/>
              </a:spcAft>
              <a:buSzPct val="100000"/>
              <a:buChar char="•"/>
            </a:pPr>
            <a:r>
              <a:rPr lang="en-US" sz="1800" dirty="0">
                <a:solidFill>
                  <a:schemeClr val="tx1"/>
                </a:solidFill>
              </a:rPr>
              <a:t>Adverbe pronominal : </a:t>
            </a:r>
            <a:r>
              <a:rPr lang="en-US" sz="1800" b="1" dirty="0">
                <a:solidFill>
                  <a:schemeClr val="tx1"/>
                </a:solidFill>
              </a:rPr>
              <a:t>daarvoor</a:t>
            </a:r>
            <a:endParaRPr lang="en-US" sz="1800" dirty="0"/>
          </a:p>
          <a:p>
            <a:pPr marL="177800" indent="-177800">
              <a:spcAft>
                <a:spcPts val="600"/>
              </a:spcAft>
              <a:buSzPct val="100000"/>
              <a:buChar char="•"/>
            </a:pPr>
            <a:r>
              <a:rPr lang="en-US" sz="1800" dirty="0">
                <a:solidFill>
                  <a:schemeClr val="tx1"/>
                </a:solidFill>
              </a:rPr>
              <a:t>Subordonnées : </a:t>
            </a:r>
            <a:r>
              <a:rPr lang="en-US" sz="1800" b="1" dirty="0">
                <a:solidFill>
                  <a:schemeClr val="tx1"/>
                </a:solidFill>
              </a:rPr>
              <a:t>aangezien</a:t>
            </a:r>
            <a:r>
              <a:rPr lang="en-US" sz="1800" dirty="0">
                <a:solidFill>
                  <a:schemeClr val="tx1"/>
                </a:solidFill>
              </a:rPr>
              <a:t> · </a:t>
            </a:r>
            <a:r>
              <a:rPr lang="en-US" sz="1800" b="1" dirty="0">
                <a:solidFill>
                  <a:schemeClr val="tx1"/>
                </a:solidFill>
              </a:rPr>
              <a:t>zodra</a:t>
            </a:r>
            <a:endParaRPr lang="en-US" sz="1800" dirty="0"/>
          </a:p>
          <a:p>
            <a:pPr marL="177800" indent="-177800">
              <a:spcAft>
                <a:spcPts val="600"/>
              </a:spcAft>
              <a:buSzPct val="100000"/>
              <a:buChar char="•"/>
            </a:pPr>
            <a:r>
              <a:rPr lang="en-US" sz="1800" dirty="0">
                <a:solidFill>
                  <a:schemeClr val="tx1"/>
                </a:solidFill>
              </a:rPr>
              <a:t>Connecteurs : </a:t>
            </a:r>
            <a:r>
              <a:rPr lang="en-US" sz="1800" b="1" dirty="0">
                <a:solidFill>
                  <a:schemeClr val="tx1"/>
                </a:solidFill>
              </a:rPr>
              <a:t>bovendien</a:t>
            </a:r>
            <a:r>
              <a:rPr lang="en-US" sz="1800" dirty="0">
                <a:solidFill>
                  <a:schemeClr val="tx1"/>
                </a:solidFill>
              </a:rPr>
              <a:t> · </a:t>
            </a:r>
            <a:r>
              <a:rPr lang="en-US" sz="1800" b="1" dirty="0">
                <a:solidFill>
                  <a:schemeClr val="tx1"/>
                </a:solidFill>
              </a:rPr>
              <a:t>kortom</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 De onderhandeling : les deux rôles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Deux rondes de </a:t>
            </a:r>
            <a:r>
              <a:rPr lang="en-US" sz="1800" b="1" dirty="0">
                <a:solidFill>
                  <a:schemeClr val="tx1"/>
                </a:solidFill>
              </a:rPr>
              <a:t>6 min</a:t>
            </a:r>
            <a:r>
              <a:rPr lang="en-US" sz="1800" dirty="0">
                <a:solidFill>
                  <a:schemeClr val="tx1"/>
                </a:solidFill>
              </a:rPr>
              <a:t>, rôles inversés. Chacun reçoit sa </a:t>
            </a:r>
            <a:r>
              <a:rPr lang="en-US" sz="1800" b="1" dirty="0">
                <a:solidFill>
                  <a:schemeClr val="tx1"/>
                </a:solidFill>
              </a:rPr>
              <a:t>carte d’objectif secret</a:t>
            </a:r>
            <a:r>
              <a:rPr lang="en-US" sz="1800" dirty="0">
                <a:solidFill>
                  <a:schemeClr val="tx1"/>
                </a:solidFill>
              </a:rPr>
              <a:t> : ne la montrez pas !</a:t>
            </a:r>
            <a:endParaRPr lang="en-US" sz="1800" dirty="0"/>
          </a:p>
        </p:txBody>
      </p:sp>
      <p:sp>
        <p:nvSpPr>
          <p:cNvPr id="7" name="Shape 4"/>
          <p:cNvSpPr/>
          <p:nvPr/>
        </p:nvSpPr>
        <p:spPr>
          <a:xfrm>
            <a:off x="548640" y="1947672"/>
            <a:ext cx="5225796" cy="3456432"/>
          </a:xfrm>
          <a:prstGeom prst="roundRect">
            <a:avLst>
              <a:gd name="adj" fmla="val 2646"/>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148840"/>
            <a:ext cx="384048" cy="384048"/>
          </a:xfrm>
          <a:prstGeom prst="rect">
            <a:avLst/>
          </a:prstGeom>
        </p:spPr>
      </p:pic>
      <p:sp>
        <p:nvSpPr>
          <p:cNvPr id="9" name="Text 5"/>
          <p:cNvSpPr txBox="1"/>
          <p:nvPr/>
        </p:nvSpPr>
        <p:spPr>
          <a:xfrm>
            <a:off x="1280160" y="208483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A — De makelaar</a:t>
            </a:r>
            <a:endParaRPr lang="en-US" sz="2000" dirty="0"/>
          </a:p>
        </p:txBody>
      </p:sp>
      <p:sp>
        <p:nvSpPr>
          <p:cNvPr id="10" name="Text 6"/>
          <p:cNvSpPr txBox="1"/>
          <p:nvPr/>
        </p:nvSpPr>
        <p:spPr>
          <a:xfrm>
            <a:off x="777240" y="2770632"/>
            <a:ext cx="4768596" cy="2496312"/>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chemeClr val="tx1"/>
                </a:solidFill>
              </a:rPr>
              <a:t>Vous défendez le prix du rijhuis (</a:t>
            </a:r>
            <a:r>
              <a:rPr lang="en-US" sz="1900" b="1" dirty="0">
                <a:solidFill>
                  <a:schemeClr val="tx1"/>
                </a:solidFill>
              </a:rPr>
              <a:t>€ 425.000</a:t>
            </a:r>
            <a:r>
              <a:rPr lang="en-US" sz="1900" dirty="0">
                <a:solidFill>
                  <a:schemeClr val="tx1"/>
                </a:solidFill>
              </a:rPr>
              <a:t>) pour votre client-propriétaire</a:t>
            </a:r>
            <a:endParaRPr lang="en-US" sz="1900" dirty="0"/>
          </a:p>
          <a:p>
            <a:pPr marL="203200" indent="-203200">
              <a:spcAft>
                <a:spcPts val="800"/>
              </a:spcAft>
              <a:buSzPct val="100000"/>
              <a:buChar char="•"/>
            </a:pPr>
            <a:r>
              <a:rPr lang="en-US" sz="1900" dirty="0">
                <a:solidFill>
                  <a:schemeClr val="tx1"/>
                </a:solidFill>
              </a:rPr>
              <a:t>Une </a:t>
            </a:r>
            <a:r>
              <a:rPr lang="en-US" sz="1900" b="1" dirty="0">
                <a:solidFill>
                  <a:schemeClr val="tx1"/>
                </a:solidFill>
              </a:rPr>
              <a:t>concession</a:t>
            </a:r>
            <a:r>
              <a:rPr lang="en-US" sz="1900" dirty="0">
                <a:solidFill>
                  <a:schemeClr val="tx1"/>
                </a:solidFill>
              </a:rPr>
              <a:t> : «Hoewel ik uw punt begrijp,…»</a:t>
            </a:r>
            <a:endParaRPr lang="en-US" sz="1900" dirty="0"/>
          </a:p>
          <a:p>
            <a:pPr marL="203200" indent="-203200">
              <a:spcAft>
                <a:spcPts val="800"/>
              </a:spcAft>
              <a:buSzPct val="100000"/>
              <a:buChar char="•"/>
            </a:pPr>
            <a:r>
              <a:rPr lang="en-US" sz="1900" dirty="0">
                <a:solidFill>
                  <a:schemeClr val="tx1"/>
                </a:solidFill>
              </a:rPr>
              <a:t>Une </a:t>
            </a:r>
            <a:r>
              <a:rPr lang="en-US" sz="1900" b="1" dirty="0">
                <a:solidFill>
                  <a:schemeClr val="tx1"/>
                </a:solidFill>
              </a:rPr>
              <a:t>condition</a:t>
            </a:r>
            <a:r>
              <a:rPr lang="en-US" sz="1900" dirty="0">
                <a:solidFill>
                  <a:schemeClr val="tx1"/>
                </a:solidFill>
              </a:rPr>
              <a:t> : «We kunnen erover praten, tenzij / als…»</a:t>
            </a:r>
            <a:endParaRPr lang="en-US" sz="1900" dirty="0"/>
          </a:p>
          <a:p>
            <a:pPr marL="203200" indent="-203200">
              <a:spcAft>
                <a:spcPts val="800"/>
              </a:spcAft>
              <a:buSzPct val="100000"/>
              <a:buChar char="•"/>
            </a:pPr>
            <a:r>
              <a:rPr lang="en-US" sz="1900" dirty="0">
                <a:solidFill>
                  <a:schemeClr val="tx1"/>
                </a:solidFill>
              </a:rPr>
              <a:t>Une chaîne </a:t>
            </a:r>
            <a:r>
              <a:rPr lang="en-US" sz="1900" b="1" dirty="0">
                <a:solidFill>
                  <a:schemeClr val="tx1"/>
                </a:solidFill>
              </a:rPr>
              <a:t>omdat… zodat…</a:t>
            </a:r>
            <a:endParaRPr lang="en-US" sz="1900" dirty="0"/>
          </a:p>
        </p:txBody>
      </p:sp>
      <p:sp>
        <p:nvSpPr>
          <p:cNvPr id="11" name="Shape 7"/>
          <p:cNvSpPr/>
          <p:nvPr/>
        </p:nvSpPr>
        <p:spPr>
          <a:xfrm>
            <a:off x="6414516" y="1947672"/>
            <a:ext cx="5225796" cy="3456432"/>
          </a:xfrm>
          <a:prstGeom prst="roundRect">
            <a:avLst>
              <a:gd name="adj" fmla="val 2646"/>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148840"/>
            <a:ext cx="384048" cy="384048"/>
          </a:xfrm>
          <a:prstGeom prst="rect">
            <a:avLst/>
          </a:prstGeom>
        </p:spPr>
      </p:pic>
      <p:sp>
        <p:nvSpPr>
          <p:cNvPr id="13" name="Text 8"/>
          <p:cNvSpPr txBox="1"/>
          <p:nvPr/>
        </p:nvSpPr>
        <p:spPr>
          <a:xfrm>
            <a:off x="7146036" y="208483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B — De koper</a:t>
            </a:r>
            <a:endParaRPr lang="en-US" sz="2000" dirty="0"/>
          </a:p>
        </p:txBody>
      </p:sp>
      <p:sp>
        <p:nvSpPr>
          <p:cNvPr id="14" name="Text 9"/>
          <p:cNvSpPr txBox="1"/>
          <p:nvPr/>
        </p:nvSpPr>
        <p:spPr>
          <a:xfrm>
            <a:off x="6643116" y="2770632"/>
            <a:ext cx="4768596" cy="2496312"/>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chemeClr val="tx1"/>
                </a:solidFill>
              </a:rPr>
              <a:t>Vous voulez acheter, mais </a:t>
            </a:r>
            <a:r>
              <a:rPr lang="en-US" sz="1900" b="1" dirty="0">
                <a:solidFill>
                  <a:schemeClr val="tx1"/>
                </a:solidFill>
              </a:rPr>
              <a:t>moins cher</a:t>
            </a:r>
            <a:endParaRPr lang="en-US" sz="1900" dirty="0"/>
          </a:p>
          <a:p>
            <a:pPr marL="203200" indent="-203200">
              <a:spcAft>
                <a:spcPts val="800"/>
              </a:spcAft>
              <a:buSzPct val="100000"/>
              <a:buChar char="•"/>
            </a:pPr>
            <a:r>
              <a:rPr lang="en-US" sz="1900" dirty="0">
                <a:solidFill>
                  <a:schemeClr val="tx1"/>
                </a:solidFill>
              </a:rPr>
              <a:t>Ouvrez par votre </a:t>
            </a:r>
            <a:r>
              <a:rPr lang="en-US" sz="1900" b="1" dirty="0">
                <a:solidFill>
                  <a:schemeClr val="tx1"/>
                </a:solidFill>
              </a:rPr>
              <a:t>offre</a:t>
            </a:r>
            <a:r>
              <a:rPr lang="en-US" sz="1900" dirty="0">
                <a:solidFill>
                  <a:schemeClr val="tx1"/>
                </a:solidFill>
              </a:rPr>
              <a:t> et justifiez-la : «Aangezien de badkamer…»</a:t>
            </a:r>
            <a:endParaRPr lang="en-US" sz="1900" dirty="0"/>
          </a:p>
          <a:p>
            <a:pPr marL="203200" indent="-203200">
              <a:spcAft>
                <a:spcPts val="800"/>
              </a:spcAft>
              <a:buSzPct val="100000"/>
              <a:buChar char="•"/>
            </a:pPr>
            <a:r>
              <a:rPr lang="en-US" sz="1900" dirty="0">
                <a:solidFill>
                  <a:schemeClr val="tx1"/>
                </a:solidFill>
              </a:rPr>
              <a:t>Posez une question avec </a:t>
            </a:r>
            <a:r>
              <a:rPr lang="en-US" sz="1900" b="1" dirty="0">
                <a:solidFill>
                  <a:schemeClr val="tx1"/>
                </a:solidFill>
              </a:rPr>
              <a:t>waar + préposition</a:t>
            </a:r>
            <a:endParaRPr lang="en-US" sz="1900" dirty="0"/>
          </a:p>
        </p:txBody>
      </p:sp>
      <p:sp>
        <p:nvSpPr>
          <p:cNvPr id="15" name="Shape 10"/>
          <p:cNvSpPr/>
          <p:nvPr/>
        </p:nvSpPr>
        <p:spPr>
          <a:xfrm>
            <a:off x="5838444" y="3419856"/>
            <a:ext cx="512064" cy="512064"/>
          </a:xfrm>
          <a:prstGeom prst="ellipse">
            <a:avLst/>
          </a:prstGeom>
          <a:solidFill>
            <a:schemeClr val="tx2"/>
          </a:solidFill>
          <a:ln/>
        </p:spPr>
      </p:sp>
      <p:sp>
        <p:nvSpPr>
          <p:cNvPr id="16" name="Text 11"/>
          <p:cNvSpPr txBox="1"/>
          <p:nvPr/>
        </p:nvSpPr>
        <p:spPr>
          <a:xfrm>
            <a:off x="5838444" y="341985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A/B</a:t>
            </a:r>
            <a:endParaRPr lang="en-US" sz="1600" dirty="0"/>
          </a:p>
        </p:txBody>
      </p:sp>
      <p:sp>
        <p:nvSpPr>
          <p:cNvPr id="17" name="Shape 12"/>
          <p:cNvSpPr/>
          <p:nvPr/>
        </p:nvSpPr>
        <p:spPr>
          <a:xfrm>
            <a:off x="548640" y="5605272"/>
            <a:ext cx="11091672" cy="685800"/>
          </a:xfrm>
          <a:prstGeom prst="roundRect">
            <a:avLst>
              <a:gd name="adj" fmla="val 10667"/>
            </a:avLst>
          </a:prstGeom>
          <a:solidFill>
            <a:schemeClr val="accent2">
              <a:alpha val="10000"/>
            </a:schemeClr>
          </a:solidFill>
          <a:ln w="9525">
            <a:solidFill>
              <a:schemeClr val="accent2">
                <a:alpha val="70000"/>
              </a:schemeClr>
            </a:solidFill>
            <a:prstDash val="solid"/>
          </a:ln>
        </p:spPr>
      </p:sp>
      <p:pic>
        <p:nvPicPr>
          <p:cNvPr id="18"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19" name="Text 13"/>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2"/>
                </a:solidFill>
              </a:rPr>
              <a:t>Grille de l’observateur — </a:t>
            </a:r>
            <a:r>
              <a:rPr lang="en-US" sz="1700" dirty="0">
                <a:solidFill>
                  <a:schemeClr val="tx1"/>
                </a:solidFill>
              </a:rPr>
              <a:t>subordonnées correctes · connecteurs · gestion de la concession.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 Les objectifs secrets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Piochez une carte </a:t>
            </a:r>
            <a:r>
              <a:rPr lang="en-US" sz="1600" b="1" i="1" dirty="0">
                <a:solidFill>
                  <a:schemeClr val="accent5"/>
                </a:solidFill>
              </a:rPr>
              <a:t>① ② ou ③</a:t>
            </a:r>
            <a:r>
              <a:rPr lang="en-US" sz="1600" i="1" dirty="0">
                <a:solidFill>
                  <a:schemeClr val="accent5"/>
                </a:solidFill>
              </a:rPr>
              <a:t> : ne la montrez pas à votre partenaire.</a:t>
            </a:r>
            <a:endParaRPr lang="en-US" sz="16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640080"/>
                <a:gridCol w="5303520"/>
                <a:gridCol w="5148072"/>
              </a:tblGrid>
              <a:tr h="628193">
                <a:tc>
                  <a:txBody>
                    <a:bodyPr/>
                    <a:lstStyle/>
                    <a:p>
                      <a:pPr algn="l" indent="0" marL="0">
                        <a:buNone/>
                      </a:pP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ROL A — De makelaar</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ROL B — De koper</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712318">
                <a:tc>
                  <a:txBody>
                    <a:bodyPr/>
                    <a:lstStyle/>
                    <a:p>
                      <a:pPr algn="ctr" indent="0" marL="0">
                        <a:buNone/>
                      </a:pPr>
                      <a:r>
                        <a:rPr lang="en-US" sz="2000" b="1" dirty="0">
                          <a:solidFill>
                            <a:schemeClr val="tx1"/>
                          </a:solidFill>
                        </a:rPr>
                        <a:t>①</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Le propriétaire accepte </a:t>
                      </a:r>
                      <a:r>
                        <a:rPr lang="en-US" sz="2000" b="1" dirty="0">
                          <a:solidFill>
                            <a:schemeClr val="tx1"/>
                          </a:solidFill>
                        </a:rPr>
                        <a:t>€ 410.000 minimum</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Votre budget réel est </a:t>
                      </a:r>
                      <a:r>
                        <a:rPr lang="en-US" sz="2000" b="1" dirty="0">
                          <a:solidFill>
                            <a:schemeClr val="tx1"/>
                          </a:solidFill>
                        </a:rPr>
                        <a:t>€ 415.000</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1022299">
                <a:tc>
                  <a:txBody>
                    <a:bodyPr/>
                    <a:lstStyle/>
                    <a:p>
                      <a:pPr algn="ctr" indent="0" marL="0">
                        <a:buNone/>
                      </a:pPr>
                      <a:r>
                        <a:rPr lang="en-US" sz="2000" b="1" dirty="0">
                          <a:solidFill>
                            <a:schemeClr val="tx1"/>
                          </a:solidFill>
                        </a:rPr>
                        <a:t>②</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Il est pressé : la vente doit être signée </a:t>
                      </a:r>
                      <a:r>
                        <a:rPr lang="en-US" sz="2000" b="1" dirty="0">
                          <a:solidFill>
                            <a:schemeClr val="tx1"/>
                          </a:solidFill>
                        </a:rPr>
                        <a:t>ce mois-ci</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La banque exige </a:t>
                      </a:r>
                      <a:r>
                        <a:rPr lang="en-US" sz="2000" b="1" dirty="0">
                          <a:solidFill>
                            <a:schemeClr val="tx1"/>
                          </a:solidFill>
                        </a:rPr>
                        <a:t>trois semaines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1022299">
                <a:tc>
                  <a:txBody>
                    <a:bodyPr/>
                    <a:lstStyle/>
                    <a:p>
                      <a:pPr algn="ctr" indent="0" marL="0">
                        <a:buNone/>
                      </a:pPr>
                      <a:r>
                        <a:rPr lang="en-US" sz="2000" b="1" dirty="0">
                          <a:solidFill>
                            <a:schemeClr val="tx1"/>
                          </a:solidFill>
                        </a:rPr>
                        <a:t>③</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Un </a:t>
                      </a:r>
                      <a:r>
                        <a:rPr lang="en-US" sz="2000" b="1" dirty="0">
                          <a:solidFill>
                            <a:schemeClr val="tx1"/>
                          </a:solidFill>
                        </a:rPr>
                        <a:t>autre acheteur</a:t>
                      </a:r>
                      <a:r>
                        <a:rPr lang="en-US" sz="2000" dirty="0">
                          <a:solidFill>
                            <a:schemeClr val="tx1"/>
                          </a:solidFill>
                        </a:rPr>
                        <a:t> potentiel existe (bluff autorisé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Vous </a:t>
                      </a:r>
                      <a:r>
                        <a:rPr lang="en-US" sz="2000" b="1" dirty="0">
                          <a:solidFill>
                            <a:schemeClr val="tx1"/>
                          </a:solidFill>
                        </a:rPr>
                        <a:t>adorez</a:t>
                      </a:r>
                      <a:r>
                        <a:rPr lang="en-US" sz="2000" dirty="0">
                          <a:solidFill>
                            <a:schemeClr val="tx1"/>
                          </a:solidFill>
                        </a:rPr>
                        <a:t> le bien mais ne le montrez pas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Boîte à outils : Zo onderhandel je</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6217920"/>
                <a:gridCol w="4873752"/>
              </a:tblGrid>
              <a:tr h="512064">
                <a:tc>
                  <a:txBody>
                    <a:bodyPr/>
                    <a:lstStyle/>
                    <a:p>
                      <a:pPr algn="l" indent="0" marL="0">
                        <a:buNone/>
                      </a:pPr>
                      <a:r>
                        <a:rPr lang="en-US" sz="1500" b="1" dirty="0">
                          <a:solidFill>
                            <a:schemeClr val="bg1"/>
                          </a:solidFill>
                        </a:rPr>
                        <a:t>NEDERLANDS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500" b="1" dirty="0">
                          <a:solidFill>
                            <a:schemeClr val="bg1"/>
                          </a:solidFill>
                        </a:rPr>
                        <a:t>FRANÇAIS</a:t>
                      </a:r>
                      <a:endParaRPr lang="en-US" sz="15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414223">
                <a:tc>
                  <a:txBody>
                    <a:bodyPr/>
                    <a:lstStyle/>
                    <a:p>
                      <a:pPr algn="l" indent="0" marL="0">
                        <a:buNone/>
                      </a:pPr>
                      <a:r>
                        <a:rPr lang="en-US" sz="1700" dirty="0">
                          <a:solidFill>
                            <a:schemeClr val="tx1"/>
                          </a:solidFill>
                        </a:rPr>
                        <a:t>Aangezien ik een lening nodig heb, bied ik € 395.000.</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Comme j’ai besoin d’un prêt, j’offre 395 000 €.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77570">
                <a:tc>
                  <a:txBody>
                    <a:bodyPr/>
                    <a:lstStyle/>
                    <a:p>
                      <a:pPr algn="l" indent="0" marL="0">
                        <a:buNone/>
                      </a:pPr>
                      <a:r>
                        <a:rPr lang="en-US" sz="1700" dirty="0">
                          <a:solidFill>
                            <a:schemeClr val="tx1"/>
                          </a:solidFill>
                        </a:rPr>
                        <a:t>Hoewel ik uw punt begrijp, is dat te laag.</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Bien que je comprenne votre point de vue, c’est trop bas.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414223">
                <a:tc>
                  <a:txBody>
                    <a:bodyPr/>
                    <a:lstStyle/>
                    <a:p>
                      <a:pPr algn="l" indent="0" marL="0">
                        <a:buNone/>
                      </a:pPr>
                      <a:r>
                        <a:rPr lang="en-US" sz="1700" dirty="0">
                          <a:solidFill>
                            <a:schemeClr val="tx1"/>
                          </a:solidFill>
                        </a:rPr>
                        <a:t>We kunnen erover praten, als u vandaag nog tekent.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On peut en discuter, si vous signez aujourd’hui.</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414223">
                <a:tc>
                  <a:txBody>
                    <a:bodyPr/>
                    <a:lstStyle/>
                    <a:p>
                      <a:pPr algn="l" indent="0" marL="0">
                        <a:buNone/>
                      </a:pPr>
                      <a:r>
                        <a:rPr lang="en-US" sz="1700" dirty="0">
                          <a:solidFill>
                            <a:schemeClr val="tx1"/>
                          </a:solidFill>
                        </a:rPr>
                        <a:t>Waarop baseert de eigenaar zijn prijs?</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Sur quoi le propriétaire base-t-il son prix ?</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940918">
                <a:tc>
                  <a:txBody>
                    <a:bodyPr/>
                    <a:lstStyle/>
                    <a:p>
                      <a:pPr algn="l" indent="0" marL="0">
                        <a:buNone/>
                      </a:pPr>
                      <a:r>
                        <a:rPr lang="en-US" sz="1700" dirty="0">
                          <a:solidFill>
                            <a:schemeClr val="tx1"/>
                          </a:solidFill>
                        </a:rPr>
                        <a:t>Het is een instapklare woning, omdat alles vernieuwd is, zodat u niets meer hoeft te doen.</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1700" dirty="0">
                          <a:solidFill>
                            <a:schemeClr val="tx1"/>
                          </a:solidFill>
                        </a:rPr>
                        <a:t>C’est un bien prêt à emménager, parce que tout est rénové, de sorte que vous n’avez plus rien à faire.</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77570">
                <a:tc>
                  <a:txBody>
                    <a:bodyPr/>
                    <a:lstStyle/>
                    <a:p>
                      <a:pPr algn="l" indent="0" marL="0">
                        <a:buNone/>
                      </a:pPr>
                      <a:r>
                        <a:rPr lang="en-US" sz="1700" dirty="0">
                          <a:solidFill>
                            <a:schemeClr val="tx1"/>
                          </a:solidFill>
                        </a:rPr>
                        <a:t>Akkoord, op voorwaarde dat de bank de lening goedkeurt.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1700" dirty="0">
                          <a:solidFill>
                            <a:schemeClr val="tx1"/>
                          </a:solidFill>
                        </a:rPr>
                        <a:t>D’accord, à condition que la banque accorde le prêt.</a:t>
                      </a:r>
                      <a:endParaRPr lang="en-US" sz="17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669280"/>
            <a:ext cx="11091672" cy="621792"/>
          </a:xfrm>
          <a:prstGeom prst="rect">
            <a:avLst/>
          </a:prstGeom>
          <a:noFill/>
          <a:ln/>
        </p:spPr>
        <p:txBody>
          <a:bodyPr wrap="square" lIns="0" tIns="0" rIns="0" bIns="0" rtlCol="0" anchor="b"/>
          <a:lstStyle/>
          <a:p>
            <a:pPr indent="0" marL="0">
              <a:buNone/>
            </a:pPr>
            <a:r>
              <a:rPr lang="en-US" sz="1500" i="1" dirty="0">
                <a:solidFill>
                  <a:schemeClr val="accent5"/>
                </a:solidFill>
              </a:rPr>
              <a:t>Piège : après </a:t>
            </a:r>
            <a:r>
              <a:rPr lang="en-US" sz="1500" i="1" dirty="0">
                <a:solidFill>
                  <a:schemeClr val="accent5"/>
                </a:solidFill>
              </a:rPr>
              <a:t>Aangezien…,</a:t>
            </a:r>
            <a:r>
              <a:rPr lang="en-US" sz="1500" i="1" dirty="0">
                <a:solidFill>
                  <a:schemeClr val="accent5"/>
                </a:solidFill>
              </a:rPr>
              <a:t> et </a:t>
            </a:r>
            <a:r>
              <a:rPr lang="en-US" sz="1500" i="1" dirty="0">
                <a:solidFill>
                  <a:schemeClr val="accent5"/>
                </a:solidFill>
              </a:rPr>
              <a:t>Hoewel…,</a:t>
            </a:r>
            <a:r>
              <a:rPr lang="en-US" sz="1500" i="1" dirty="0">
                <a:solidFill>
                  <a:schemeClr val="accent5"/>
                </a:solidFill>
              </a:rPr>
              <a:t> la principale commence par le </a:t>
            </a:r>
            <a:r>
              <a:rPr lang="en-US" sz="1500" b="1" i="1" dirty="0">
                <a:solidFill>
                  <a:schemeClr val="accent5"/>
                </a:solidFill>
              </a:rPr>
              <a:t>verbe</a:t>
            </a:r>
            <a:r>
              <a:rPr lang="en-US" sz="1500" i="1" dirty="0">
                <a:solidFill>
                  <a:schemeClr val="accent5"/>
                </a:solidFill>
              </a:rPr>
              <a:t> : </a:t>
            </a:r>
            <a:r>
              <a:rPr lang="en-US" sz="1500" i="1" dirty="0">
                <a:solidFill>
                  <a:schemeClr val="accent5"/>
                </a:solidFill>
              </a:rPr>
              <a:t>bied ik · is dat</a:t>
            </a:r>
            <a:r>
              <a:rPr lang="en-US" sz="1500" i="1" dirty="0">
                <a:solidFill>
                  <a:schemeClr val="accent5"/>
                </a:solidFill>
              </a:rPr>
              <a:t>. Particule : </a:t>
            </a:r>
            <a:r>
              <a:rPr lang="en-US" sz="1500" i="1" dirty="0">
                <a:solidFill>
                  <a:schemeClr val="accent5"/>
                </a:solidFill>
              </a:rPr>
              <a:t>goedkeurt</a:t>
            </a:r>
            <a:r>
              <a:rPr lang="en-US" sz="1500" i="1" dirty="0">
                <a:solidFill>
                  <a:schemeClr val="accent5"/>
                </a:solidFill>
              </a:rPr>
              <a:t> (soudée en subordonnée).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5 — Une négociation réussie (modèle)</a:t>
            </a:r>
            <a:endParaRPr lang="en-US" sz="3200" dirty="0"/>
          </a:p>
        </p:txBody>
      </p:sp>
      <p:sp>
        <p:nvSpPr>
          <p:cNvPr id="3" name="tag"/>
          <p:cNvSpPr/>
          <p:nvPr/>
        </p:nvSpPr>
        <p:spPr>
          <a:xfrm>
            <a:off x="548640" y="237744"/>
            <a:ext cx="1165860"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chemeClr val="bg1"/>
                </a:solidFill>
              </a:rPr>
              <a:t>DIALOOG</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1700" b="1" dirty="0">
                <a:solidFill>
                  <a:schemeClr val="accent2"/>
                </a:solidFill>
              </a:rPr>
              <a:t>Koper :  </a:t>
            </a:r>
            <a:r>
              <a:rPr lang="en-US" sz="1700" dirty="0">
                <a:solidFill>
                  <a:schemeClr val="tx1"/>
                </a:solidFill>
              </a:rPr>
              <a:t>«Aangezien ik een lening nodig heb, bied ik € 395.000 voor het rijhuis.»</a:t>
            </a:r>
            <a:endParaRPr lang="en-US" sz="1700" dirty="0"/>
          </a:p>
          <a:p>
            <a:pPr indent="0" marL="0">
              <a:spcAft>
                <a:spcPts val="800"/>
              </a:spcAft>
              <a:buNone/>
            </a:pPr>
            <a:r>
              <a:rPr lang="en-US" sz="1200" dirty="0">
                <a:solidFill>
                  <a:schemeClr val="accent5"/>
                </a:solidFill>
              </a:rPr>
              <a:t>2  </a:t>
            </a:r>
            <a:r>
              <a:rPr lang="en-US" sz="1700" b="1" dirty="0">
                <a:solidFill>
                  <a:schemeClr val="accent1"/>
                </a:solidFill>
              </a:rPr>
              <a:t>Makelaar :  </a:t>
            </a:r>
            <a:r>
              <a:rPr lang="en-US" sz="1700" dirty="0">
                <a:solidFill>
                  <a:schemeClr val="tx1"/>
                </a:solidFill>
              </a:rPr>
              <a:t>«Hoewel ik uw punt begrijp, is dat te laag: het huis is volledig gerenoveerd.»</a:t>
            </a:r>
            <a:endParaRPr lang="en-US" sz="1700" dirty="0"/>
          </a:p>
          <a:p>
            <a:pPr indent="0" marL="0">
              <a:spcAft>
                <a:spcPts val="800"/>
              </a:spcAft>
              <a:buNone/>
            </a:pPr>
            <a:r>
              <a:rPr lang="en-US" sz="1200" dirty="0">
                <a:solidFill>
                  <a:schemeClr val="accent5"/>
                </a:solidFill>
              </a:rPr>
              <a:t>3  </a:t>
            </a:r>
            <a:r>
              <a:rPr lang="en-US" sz="1700" b="1" dirty="0">
                <a:solidFill>
                  <a:schemeClr val="accent2"/>
                </a:solidFill>
              </a:rPr>
              <a:t>Koper :  </a:t>
            </a:r>
            <a:r>
              <a:rPr lang="en-US" sz="1700" dirty="0">
                <a:solidFill>
                  <a:schemeClr val="tx1"/>
                </a:solidFill>
              </a:rPr>
              <a:t>«Waarop baseert de eigenaar zijn prijs van € 425.000?»</a:t>
            </a:r>
            <a:endParaRPr lang="en-US" sz="1700" dirty="0"/>
          </a:p>
          <a:p>
            <a:pPr indent="0" marL="0">
              <a:spcAft>
                <a:spcPts val="800"/>
              </a:spcAft>
              <a:buNone/>
            </a:pPr>
            <a:r>
              <a:rPr lang="en-US" sz="1200" dirty="0">
                <a:solidFill>
                  <a:schemeClr val="accent5"/>
                </a:solidFill>
              </a:rPr>
              <a:t>4  </a:t>
            </a:r>
            <a:r>
              <a:rPr lang="en-US" sz="1700" b="1" dirty="0">
                <a:solidFill>
                  <a:schemeClr val="accent1"/>
                </a:solidFill>
              </a:rPr>
              <a:t>Makelaar :  </a:t>
            </a:r>
            <a:r>
              <a:rPr lang="en-US" sz="1700" dirty="0">
                <a:solidFill>
                  <a:schemeClr val="tx1"/>
                </a:solidFill>
              </a:rPr>
              <a:t>«Het is een instapklare woning, omdat de eigenaar alles heeft vernieuwd, zodat u niets meer hoeft te doen.»</a:t>
            </a:r>
            <a:endParaRPr lang="en-US" sz="1700" dirty="0"/>
          </a:p>
          <a:p>
            <a:pPr indent="0" marL="0">
              <a:spcAft>
                <a:spcPts val="800"/>
              </a:spcAft>
              <a:buNone/>
            </a:pPr>
            <a:r>
              <a:rPr lang="en-US" sz="1200" dirty="0">
                <a:solidFill>
                  <a:schemeClr val="accent5"/>
                </a:solidFill>
              </a:rPr>
              <a:t>5  </a:t>
            </a:r>
            <a:r>
              <a:rPr lang="en-US" sz="1700" b="1" dirty="0">
                <a:solidFill>
                  <a:schemeClr val="accent2"/>
                </a:solidFill>
              </a:rPr>
              <a:t>Koper :  </a:t>
            </a:r>
            <a:r>
              <a:rPr lang="en-US" sz="1700" dirty="0">
                <a:solidFill>
                  <a:schemeClr val="tx1"/>
                </a:solidFill>
              </a:rPr>
              <a:t>«Dan bied ik € 405.000. Als de eigenaar akkoord gaat, teken ik vandaag.»</a:t>
            </a:r>
            <a:endParaRPr lang="en-US" sz="1700" dirty="0"/>
          </a:p>
          <a:p>
            <a:pPr indent="0" marL="0">
              <a:spcAft>
                <a:spcPts val="800"/>
              </a:spcAft>
              <a:buNone/>
            </a:pPr>
            <a:r>
              <a:rPr lang="en-US" sz="1200" dirty="0">
                <a:solidFill>
                  <a:schemeClr val="accent5"/>
                </a:solidFill>
              </a:rPr>
              <a:t>6  </a:t>
            </a:r>
            <a:r>
              <a:rPr lang="en-US" sz="1700" b="1" dirty="0">
                <a:solidFill>
                  <a:schemeClr val="accent1"/>
                </a:solidFill>
              </a:rPr>
              <a:t>Makelaar :  </a:t>
            </a:r>
            <a:r>
              <a:rPr lang="en-US" sz="1700" dirty="0">
                <a:solidFill>
                  <a:schemeClr val="tx1"/>
                </a:solidFill>
              </a:rPr>
              <a:t>«We kunnen erover praten, tenzij een andere koper een hoger bod uitbrengt. Er is al een tweede kandidaat.»</a:t>
            </a:r>
            <a:endParaRPr lang="en-US" sz="1700" dirty="0"/>
          </a:p>
          <a:p>
            <a:pPr indent="0" marL="0">
              <a:spcAft>
                <a:spcPts val="800"/>
              </a:spcAft>
              <a:buNone/>
            </a:pPr>
            <a:r>
              <a:rPr lang="en-US" sz="1200" dirty="0">
                <a:solidFill>
                  <a:schemeClr val="accent5"/>
                </a:solidFill>
              </a:rPr>
              <a:t>7  </a:t>
            </a:r>
            <a:r>
              <a:rPr lang="en-US" sz="1700" b="1" dirty="0">
                <a:solidFill>
                  <a:schemeClr val="accent2"/>
                </a:solidFill>
              </a:rPr>
              <a:t>Koper :  </a:t>
            </a:r>
            <a:r>
              <a:rPr lang="en-US" sz="1700" dirty="0">
                <a:solidFill>
                  <a:schemeClr val="tx1"/>
                </a:solidFill>
              </a:rPr>
              <a:t>«Mijn bank heeft drie weken nodig, maar ik kan € 415.000 bieden.»</a:t>
            </a:r>
            <a:endParaRPr lang="en-US" sz="1700" dirty="0"/>
          </a:p>
          <a:p>
            <a:pPr indent="0" marL="0">
              <a:spcAft>
                <a:spcPts val="800"/>
              </a:spcAft>
              <a:buNone/>
            </a:pPr>
            <a:r>
              <a:rPr lang="en-US" sz="1200" dirty="0">
                <a:solidFill>
                  <a:schemeClr val="accent5"/>
                </a:solidFill>
              </a:rPr>
              <a:t>8  </a:t>
            </a:r>
            <a:r>
              <a:rPr lang="en-US" sz="1700" b="1" dirty="0">
                <a:solidFill>
                  <a:schemeClr val="accent1"/>
                </a:solidFill>
              </a:rPr>
              <a:t>Makelaar :  </a:t>
            </a:r>
            <a:r>
              <a:rPr lang="en-US" sz="1700" dirty="0">
                <a:solidFill>
                  <a:schemeClr val="tx1"/>
                </a:solidFill>
              </a:rPr>
              <a:t>«Dat is dichtbij. Zullen we afspreken op € 415.000?»</a:t>
            </a:r>
            <a:endParaRPr lang="en-US" sz="1700" dirty="0"/>
          </a:p>
          <a:p>
            <a:pPr indent="0" marL="0">
              <a:spcAft>
                <a:spcPts val="800"/>
              </a:spcAft>
              <a:buNone/>
            </a:pPr>
            <a:r>
              <a:rPr lang="en-US" sz="1200" dirty="0">
                <a:solidFill>
                  <a:schemeClr val="accent5"/>
                </a:solidFill>
              </a:rPr>
              <a:t>9  </a:t>
            </a:r>
            <a:r>
              <a:rPr lang="en-US" sz="1700" b="1" dirty="0">
                <a:solidFill>
                  <a:schemeClr val="accent2"/>
                </a:solidFill>
              </a:rPr>
              <a:t>Koper :  </a:t>
            </a:r>
            <a:r>
              <a:rPr lang="en-US" sz="1700" dirty="0">
                <a:solidFill>
                  <a:schemeClr val="tx1"/>
                </a:solidFill>
              </a:rPr>
              <a:t>«Akkoord, op voorwaarde dat de bank de lening goedkeurt.»</a:t>
            </a:r>
            <a:endParaRPr lang="en-US" sz="1700" dirty="0"/>
          </a:p>
          <a:p>
            <a:pPr indent="0" marL="0">
              <a:spcAft>
                <a:spcPts val="800"/>
              </a:spcAft>
              <a:buNone/>
            </a:pPr>
            <a:r>
              <a:rPr lang="en-US" sz="1200" dirty="0">
                <a:solidFill>
                  <a:schemeClr val="accent5"/>
                </a:solidFill>
              </a:rPr>
              <a:t>10  </a:t>
            </a:r>
            <a:r>
              <a:rPr lang="en-US" sz="1700" b="1" dirty="0">
                <a:solidFill>
                  <a:schemeClr val="accent1"/>
                </a:solidFill>
              </a:rPr>
              <a:t>Makelaar :  </a:t>
            </a:r>
            <a:r>
              <a:rPr lang="en-US" sz="1700" dirty="0">
                <a:solidFill>
                  <a:schemeClr val="tx1"/>
                </a:solidFill>
              </a:rPr>
              <a:t>«Afgesproken! Zodra uw bank antwoordt, tekenen we het compromis.»</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 Zo zeg je dat : afdingen</a:t>
            </a:r>
            <a:endParaRPr lang="en-US" sz="3200" dirty="0"/>
          </a:p>
        </p:txBody>
      </p:sp>
      <p:sp>
        <p:nvSpPr>
          <p:cNvPr id="3" name="tag"/>
          <p:cNvSpPr/>
          <p:nvPr/>
        </p:nvSpPr>
        <p:spPr>
          <a:xfrm>
            <a:off x="548640" y="237744"/>
            <a:ext cx="1737360"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chemeClr val="bg1"/>
                </a:solidFill>
              </a:rPr>
              <a:t>WOORDENSCHAT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a:t>
            </a:r>
            <a:endParaRPr lang="en-US" sz="12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914400"/>
        </p:xfrm>
        <a:graphic>
          <a:graphicData uri="http://schemas.openxmlformats.org/drawingml/2006/table">
            <a:tbl>
              <a:tblPr/>
              <a:tblGrid>
                <a:gridCol w="5760720"/>
                <a:gridCol w="5330952"/>
              </a:tblGrid>
              <a:tr h="628193">
                <a:tc>
                  <a:txBody>
                    <a:bodyPr/>
                    <a:lstStyle/>
                    <a:p>
                      <a:pPr algn="l" indent="0" marL="0">
                        <a:buNone/>
                      </a:pPr>
                      <a:r>
                        <a:rPr lang="en-US" sz="1800" b="1" dirty="0">
                          <a:solidFill>
                            <a:schemeClr val="bg1"/>
                          </a:solidFill>
                        </a:rPr>
                        <a:t>NEDERLANDS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FRANÇAIS</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553212">
                <a:tc>
                  <a:txBody>
                    <a:bodyPr/>
                    <a:lstStyle/>
                    <a:p>
                      <a:pPr algn="l" indent="0" marL="0">
                        <a:buNone/>
                      </a:pPr>
                      <a:r>
                        <a:rPr lang="en-US" sz="2000" dirty="0">
                          <a:solidFill>
                            <a:schemeClr val="tx1"/>
                          </a:solidFill>
                        </a:rPr>
                        <a:t>Wat is uw laatste prijs?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Quel est votre dernier prix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53212">
                <a:tc>
                  <a:txBody>
                    <a:bodyPr/>
                    <a:lstStyle/>
                    <a:p>
                      <a:pPr algn="l" indent="0" marL="0">
                        <a:buNone/>
                      </a:pPr>
                      <a:r>
                        <a:rPr lang="en-US" sz="2000" dirty="0">
                          <a:solidFill>
                            <a:schemeClr val="tx1"/>
                          </a:solidFill>
                        </a:rPr>
                        <a:t>Kan het iets goedkoper?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Ça peut être un peu moins cher ?</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553212">
                <a:tc>
                  <a:txBody>
                    <a:bodyPr/>
                    <a:lstStyle/>
                    <a:p>
                      <a:pPr algn="l" indent="0" marL="0">
                        <a:buNone/>
                      </a:pPr>
                      <a:r>
                        <a:rPr lang="en-US" sz="2000" dirty="0">
                          <a:solidFill>
                            <a:schemeClr val="tx1"/>
                          </a:solidFill>
                        </a:rPr>
                        <a:t>Ik geef u er 150 euro voor.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Je vous en donne 150 euros.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53212">
                <a:tc>
                  <a:txBody>
                    <a:bodyPr/>
                    <a:lstStyle/>
                    <a:p>
                      <a:pPr algn="l" indent="0" marL="0">
                        <a:buNone/>
                      </a:pPr>
                      <a:r>
                        <a:rPr lang="en-US" sz="2000" dirty="0">
                          <a:solidFill>
                            <a:schemeClr val="tx1"/>
                          </a:solidFill>
                        </a:rPr>
                        <a:t>Laten we het verschil delen.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Coupons la poire en deux.</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863194">
                <a:tc>
                  <a:txBody>
                    <a:bodyPr/>
                    <a:lstStyle/>
                    <a:p>
                      <a:pPr algn="l" indent="0" marL="0">
                        <a:buNone/>
                      </a:pPr>
                      <a:r>
                        <a:rPr lang="en-US" sz="2000" dirty="0">
                          <a:solidFill>
                            <a:schemeClr val="tx1"/>
                          </a:solidFill>
                        </a:rPr>
                        <a:t>Dat is een koopje! / voor een prikje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l" indent="0" marL="0">
                        <a:buNone/>
                      </a:pPr>
                      <a:r>
                        <a:rPr lang="en-US" sz="2000" dirty="0">
                          <a:solidFill>
                            <a:schemeClr val="tx1"/>
                          </a:solidFill>
                        </a:rPr>
                        <a:t>C’est une affaire ! / pour une bouchée de pain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553212">
                <a:tc>
                  <a:txBody>
                    <a:bodyPr/>
                    <a:lstStyle/>
                    <a:p>
                      <a:pPr algn="l" indent="0" marL="0">
                        <a:buNone/>
                      </a:pPr>
                      <a:r>
                        <a:rPr lang="en-US" sz="2000" dirty="0">
                          <a:solidFill>
                            <a:schemeClr val="tx1"/>
                          </a:solidFill>
                        </a:rPr>
                        <a:t>Afgesproken! / Akkoord!</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l" indent="0" marL="0">
                        <a:buNone/>
                      </a:pPr>
                      <a:r>
                        <a:rPr lang="en-US" sz="2000" dirty="0">
                          <a:solidFill>
                            <a:schemeClr val="tx1"/>
                          </a:solidFill>
                        </a:rPr>
                        <a:t>Marché conclu ! (</a:t>
                      </a:r>
                      <a:r>
                        <a:rPr lang="en-US" sz="2000" i="1" dirty="0">
                          <a:solidFill>
                            <a:schemeClr val="tx1"/>
                          </a:solidFill>
                        </a:rPr>
                        <a:t>akkoord</a:t>
                      </a:r>
                      <a:r>
                        <a:rPr lang="en-US" sz="2000" dirty="0">
                          <a:solidFill>
                            <a:schemeClr val="tx1"/>
                          </a:solidFill>
                        </a:rPr>
                        <a:t> : très belge)</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7" name="Text 3"/>
          <p:cNvSpPr txBox="1"/>
          <p:nvPr/>
        </p:nvSpPr>
        <p:spPr>
          <a:xfrm>
            <a:off x="548640" y="5897880"/>
            <a:ext cx="11091672" cy="393192"/>
          </a:xfrm>
          <a:prstGeom prst="rect">
            <a:avLst/>
          </a:prstGeom>
          <a:noFill/>
          <a:ln/>
        </p:spPr>
        <p:txBody>
          <a:bodyPr wrap="square" lIns="0" tIns="0" rIns="0" bIns="0" rtlCol="0" anchor="b"/>
          <a:lstStyle/>
          <a:p>
            <a:pPr indent="0" marL="0">
              <a:buNone/>
            </a:pPr>
            <a:r>
              <a:rPr lang="en-US" sz="1500" i="1" dirty="0">
                <a:solidFill>
                  <a:schemeClr val="accent5"/>
                </a:solidFill>
              </a:rPr>
              <a:t>Placez les </a:t>
            </a:r>
            <a:r>
              <a:rPr lang="en-US" sz="1500" b="1" i="1" dirty="0">
                <a:solidFill>
                  <a:schemeClr val="accent5"/>
                </a:solidFill>
              </a:rPr>
              <a:t>trois cas du palier</a:t>
            </a:r>
            <a:r>
              <a:rPr lang="en-US" sz="1500" i="1" dirty="0">
                <a:solidFill>
                  <a:schemeClr val="accent5"/>
                </a:solidFill>
              </a:rPr>
              <a:t> : deux verbes à la fin, particule ressoudée, inversion après une subordonnée.</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Dagelijks leven — Afdingen : les rôles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20a</a:t>
            </a:r>
            <a:endParaRPr lang="en-US" sz="1200" dirty="0"/>
          </a:p>
        </p:txBody>
      </p:sp>
      <p:sp>
        <p:nvSpPr>
          <p:cNvPr id="6" name="Text 3"/>
          <p:cNvSpPr txBox="1"/>
          <p:nvPr/>
        </p:nvSpPr>
        <p:spPr>
          <a:xfrm>
            <a:off x="548640" y="1481328"/>
            <a:ext cx="11091672" cy="603504"/>
          </a:xfrm>
          <a:prstGeom prst="rect">
            <a:avLst/>
          </a:prstGeom>
          <a:noFill/>
          <a:ln/>
        </p:spPr>
        <p:txBody>
          <a:bodyPr wrap="square" lIns="0" tIns="0" rIns="0" bIns="0" rtlCol="0" anchor="t"/>
          <a:lstStyle/>
          <a:p>
            <a:pPr indent="0" marL="0">
              <a:buNone/>
            </a:pPr>
            <a:r>
              <a:rPr lang="en-US" sz="1800" dirty="0">
                <a:solidFill>
                  <a:schemeClr val="tx1"/>
                </a:solidFill>
              </a:rPr>
              <a:t>Deux rondes de </a:t>
            </a:r>
            <a:r>
              <a:rPr lang="en-US" sz="1800" b="1" dirty="0">
                <a:solidFill>
                  <a:schemeClr val="tx1"/>
                </a:solidFill>
              </a:rPr>
              <a:t>4 min</a:t>
            </a:r>
            <a:r>
              <a:rPr lang="en-US" sz="1800" dirty="0">
                <a:solidFill>
                  <a:schemeClr val="tx1"/>
                </a:solidFill>
              </a:rPr>
              <a:t>, rôles inversés. Objets au choix : ① le </a:t>
            </a:r>
            <a:r>
              <a:rPr lang="en-US" sz="1800" b="1" dirty="0">
                <a:solidFill>
                  <a:schemeClr val="tx1"/>
                </a:solidFill>
              </a:rPr>
              <a:t>vélo de Stef</a:t>
            </a:r>
            <a:r>
              <a:rPr lang="en-US" sz="1800" dirty="0">
                <a:solidFill>
                  <a:schemeClr val="tx1"/>
                </a:solidFill>
              </a:rPr>
              <a:t> (annonce A, € 180) · ② une </a:t>
            </a:r>
            <a:r>
              <a:rPr lang="en-US" sz="1800" b="1" dirty="0">
                <a:solidFill>
                  <a:schemeClr val="tx1"/>
                </a:solidFill>
              </a:rPr>
              <a:t>lampe vintage</a:t>
            </a:r>
            <a:r>
              <a:rPr lang="en-US" sz="1800" dirty="0">
                <a:solidFill>
                  <a:schemeClr val="tx1"/>
                </a:solidFill>
              </a:rPr>
              <a:t> au Vossenplein (€ 45) · ③ un </a:t>
            </a:r>
            <a:r>
              <a:rPr lang="en-US" sz="1800" b="1" dirty="0">
                <a:solidFill>
                  <a:schemeClr val="tx1"/>
                </a:solidFill>
              </a:rPr>
              <a:t>smartphone</a:t>
            </a:r>
            <a:r>
              <a:rPr lang="en-US" sz="1800" dirty="0">
                <a:solidFill>
                  <a:schemeClr val="tx1"/>
                </a:solidFill>
              </a:rPr>
              <a:t> d’occasion (€ 220).</a:t>
            </a:r>
            <a:endParaRPr lang="en-US" sz="1800" dirty="0"/>
          </a:p>
        </p:txBody>
      </p:sp>
      <p:sp>
        <p:nvSpPr>
          <p:cNvPr id="7" name="Shape 4"/>
          <p:cNvSpPr/>
          <p:nvPr/>
        </p:nvSpPr>
        <p:spPr>
          <a:xfrm>
            <a:off x="548640" y="2221992"/>
            <a:ext cx="5225796" cy="3182112"/>
          </a:xfrm>
          <a:prstGeom prst="roundRect">
            <a:avLst>
              <a:gd name="adj" fmla="val 2874"/>
            </a:avLst>
          </a:prstGeom>
          <a:solidFill>
            <a:schemeClr val="accent1">
              <a:alpha val="8000"/>
            </a:schemeClr>
          </a:solidFill>
          <a:ln w="15875">
            <a:solidFill>
              <a:schemeClr val="accent1"/>
            </a:solidFill>
            <a:prstDash val="solid"/>
          </a:ln>
        </p:spPr>
      </p:sp>
      <p:pic>
        <p:nvPicPr>
          <p:cNvPr id="8" name="Image 0" descr="preencoded.png">    </p:cNvPr>
          <p:cNvPicPr>
            <a:picLocks noChangeAspect="1"/>
          </p:cNvPicPr>
          <p:nvPr/>
        </p:nvPicPr>
        <p:blipFill>
          <a:blip r:embed="rId1"/>
          <a:stretch>
            <a:fillRect/>
          </a:stretch>
        </p:blipFill>
        <p:spPr>
          <a:xfrm>
            <a:off x="777240" y="2423160"/>
            <a:ext cx="384048" cy="384048"/>
          </a:xfrm>
          <a:prstGeom prst="rect">
            <a:avLst/>
          </a:prstGeom>
        </p:spPr>
      </p:pic>
      <p:sp>
        <p:nvSpPr>
          <p:cNvPr id="9" name="Text 5"/>
          <p:cNvSpPr txBox="1"/>
          <p:nvPr/>
        </p:nvSpPr>
        <p:spPr>
          <a:xfrm>
            <a:off x="1280160" y="2359152"/>
            <a:ext cx="4311396" cy="548640"/>
          </a:xfrm>
          <a:prstGeom prst="rect">
            <a:avLst/>
          </a:prstGeom>
          <a:noFill/>
          <a:ln/>
        </p:spPr>
        <p:txBody>
          <a:bodyPr wrap="square" lIns="0" tIns="0" rIns="0" bIns="0" rtlCol="0" anchor="ctr"/>
          <a:lstStyle/>
          <a:p>
            <a:pPr indent="0" marL="0">
              <a:buNone/>
            </a:pPr>
            <a:r>
              <a:rPr lang="en-US" sz="2000" b="1" dirty="0">
                <a:solidFill>
                  <a:schemeClr val="accent1"/>
                </a:solidFill>
                <a:latin typeface="+mj-lt" pitchFamily="34" charset="0"/>
                <a:ea typeface="+mj-lt" pitchFamily="34" charset="-122"/>
                <a:cs typeface="+mj-lt" pitchFamily="34" charset="-120"/>
              </a:rPr>
              <a:t>ROL A — De verkoper</a:t>
            </a:r>
            <a:endParaRPr lang="en-US" sz="2000" dirty="0"/>
          </a:p>
        </p:txBody>
      </p:sp>
      <p:sp>
        <p:nvSpPr>
          <p:cNvPr id="10" name="Text 6"/>
          <p:cNvSpPr txBox="1"/>
          <p:nvPr/>
        </p:nvSpPr>
        <p:spPr>
          <a:xfrm>
            <a:off x="777240"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Défendez votre prix : bon état, d’autres acheteurs…</a:t>
            </a:r>
            <a:endParaRPr lang="en-US" sz="1600" dirty="0"/>
          </a:p>
          <a:p>
            <a:pPr marL="203200" indent="-203200">
              <a:spcAft>
                <a:spcPts val="800"/>
              </a:spcAft>
              <a:buSzPct val="100000"/>
              <a:buChar char="•"/>
            </a:pPr>
            <a:r>
              <a:rPr lang="en-US" sz="1600" b="1" dirty="0">
                <a:solidFill>
                  <a:schemeClr val="tx1"/>
                </a:solidFill>
              </a:rPr>
              <a:t>Inversion</a:t>
            </a:r>
            <a:r>
              <a:rPr lang="en-US" sz="1600" dirty="0">
                <a:solidFill>
                  <a:schemeClr val="tx1"/>
                </a:solidFill>
              </a:rPr>
              <a:t> : «Als u vandaag betaalt, krijgt u het slot erbij.»</a:t>
            </a:r>
            <a:endParaRPr lang="en-US" sz="1600" dirty="0"/>
          </a:p>
          <a:p>
            <a:pPr marL="203200" indent="-203200">
              <a:spcAft>
                <a:spcPts val="800"/>
              </a:spcAft>
              <a:buSzPct val="100000"/>
              <a:buChar char="•"/>
            </a:pPr>
            <a:r>
              <a:rPr lang="en-US" sz="1600" b="1" dirty="0">
                <a:solidFill>
                  <a:schemeClr val="tx1"/>
                </a:solidFill>
              </a:rPr>
              <a:t>Concession</a:t>
            </a:r>
            <a:r>
              <a:rPr lang="en-US" sz="1600" dirty="0">
                <a:solidFill>
                  <a:schemeClr val="tx1"/>
                </a:solidFill>
              </a:rPr>
              <a:t> : «Hoewel de fiets niet nieuw is,…»</a:t>
            </a:r>
            <a:endParaRPr lang="en-US" sz="1600" dirty="0"/>
          </a:p>
          <a:p>
            <a:pPr marL="203200" indent="-203200">
              <a:spcAft>
                <a:spcPts val="800"/>
              </a:spcAft>
              <a:buSzPct val="100000"/>
              <a:buChar char="•"/>
            </a:pPr>
            <a:r>
              <a:rPr lang="en-US" sz="1600" dirty="0">
                <a:solidFill>
                  <a:schemeClr val="tx1"/>
                </a:solidFill>
              </a:rPr>
              <a:t>Secret : ① pas sous € 160 · ② vous déménagez demain · ③ bluff « un autre acheteur à 15 h »</a:t>
            </a:r>
            <a:endParaRPr lang="en-US" sz="1600" dirty="0"/>
          </a:p>
        </p:txBody>
      </p:sp>
      <p:sp>
        <p:nvSpPr>
          <p:cNvPr id="11" name="Shape 7"/>
          <p:cNvSpPr/>
          <p:nvPr/>
        </p:nvSpPr>
        <p:spPr>
          <a:xfrm>
            <a:off x="6414516" y="2221992"/>
            <a:ext cx="5225796" cy="3182112"/>
          </a:xfrm>
          <a:prstGeom prst="roundRect">
            <a:avLst>
              <a:gd name="adj" fmla="val 2874"/>
            </a:avLst>
          </a:prstGeom>
          <a:solidFill>
            <a:schemeClr val="accent2">
              <a:alpha val="8000"/>
            </a:schemeClr>
          </a:solidFill>
          <a:ln w="15875">
            <a:solidFill>
              <a:schemeClr val="accent2"/>
            </a:solidFill>
            <a:prstDash val="solid"/>
          </a:ln>
        </p:spPr>
      </p:sp>
      <p:pic>
        <p:nvPicPr>
          <p:cNvPr id="12" name="Image 1" descr="preencoded.png">    </p:cNvPr>
          <p:cNvPicPr>
            <a:picLocks noChangeAspect="1"/>
          </p:cNvPicPr>
          <p:nvPr/>
        </p:nvPicPr>
        <p:blipFill>
          <a:blip r:embed="rId2"/>
          <a:stretch>
            <a:fillRect/>
          </a:stretch>
        </p:blipFill>
        <p:spPr>
          <a:xfrm>
            <a:off x="6643116" y="2423160"/>
            <a:ext cx="384048" cy="384048"/>
          </a:xfrm>
          <a:prstGeom prst="rect">
            <a:avLst/>
          </a:prstGeom>
        </p:spPr>
      </p:pic>
      <p:sp>
        <p:nvSpPr>
          <p:cNvPr id="13" name="Text 8"/>
          <p:cNvSpPr txBox="1"/>
          <p:nvPr/>
        </p:nvSpPr>
        <p:spPr>
          <a:xfrm>
            <a:off x="7146036" y="2359152"/>
            <a:ext cx="4311396" cy="548640"/>
          </a:xfrm>
          <a:prstGeom prst="rect">
            <a:avLst/>
          </a:prstGeom>
          <a:noFill/>
          <a:ln/>
        </p:spPr>
        <p:txBody>
          <a:bodyPr wrap="square" lIns="0" tIns="0" rIns="0" bIns="0" rtlCol="0" anchor="ctr"/>
          <a:lstStyle/>
          <a:p>
            <a:pPr indent="0" marL="0">
              <a:buNone/>
            </a:pPr>
            <a:r>
              <a:rPr lang="en-US" sz="2000" b="1" dirty="0">
                <a:solidFill>
                  <a:schemeClr val="accent2"/>
                </a:solidFill>
                <a:latin typeface="+mj-lt" pitchFamily="34" charset="0"/>
                <a:ea typeface="+mj-lt" pitchFamily="34" charset="-122"/>
                <a:cs typeface="+mj-lt" pitchFamily="34" charset="-120"/>
              </a:rPr>
              <a:t>ROL B — De koper</a:t>
            </a:r>
            <a:endParaRPr lang="en-US" sz="2000" dirty="0"/>
          </a:p>
        </p:txBody>
      </p:sp>
      <p:sp>
        <p:nvSpPr>
          <p:cNvPr id="14" name="Text 9"/>
          <p:cNvSpPr txBox="1"/>
          <p:nvPr/>
        </p:nvSpPr>
        <p:spPr>
          <a:xfrm>
            <a:off x="6643116" y="3044952"/>
            <a:ext cx="4768596" cy="2221992"/>
          </a:xfrm>
          <a:prstGeom prst="rect">
            <a:avLst/>
          </a:prstGeom>
          <a:noFill/>
          <a:ln/>
        </p:spPr>
        <p:txBody>
          <a:bodyPr wrap="square" lIns="0" tIns="0" rIns="0" bIns="0" rtlCol="0" anchor="t"/>
          <a:lstStyle/>
          <a:p>
            <a:pPr marL="203200" indent="-203200">
              <a:spcAft>
                <a:spcPts val="800"/>
              </a:spcAft>
              <a:buSzPct val="100000"/>
              <a:buChar char="•"/>
            </a:pPr>
            <a:r>
              <a:rPr lang="en-US" sz="1600" dirty="0">
                <a:solidFill>
                  <a:schemeClr val="tx1"/>
                </a:solidFill>
              </a:rPr>
              <a:t>Trouvez un </a:t>
            </a:r>
            <a:r>
              <a:rPr lang="en-US" sz="1600" b="1" dirty="0">
                <a:solidFill>
                  <a:schemeClr val="tx1"/>
                </a:solidFill>
              </a:rPr>
              <a:t>défaut</a:t>
            </a:r>
            <a:r>
              <a:rPr lang="en-US" sz="1600" dirty="0">
                <a:solidFill>
                  <a:schemeClr val="tx1"/>
                </a:solidFill>
              </a:rPr>
              <a:t>, proposez un prix</a:t>
            </a:r>
            <a:endParaRPr lang="en-US" sz="1600" dirty="0"/>
          </a:p>
          <a:p>
            <a:pPr marL="203200" indent="-203200">
              <a:spcAft>
                <a:spcPts val="800"/>
              </a:spcAft>
              <a:buSzPct val="100000"/>
              <a:buChar char="•"/>
            </a:pPr>
            <a:r>
              <a:rPr lang="en-US" sz="1600" dirty="0">
                <a:solidFill>
                  <a:schemeClr val="tx1"/>
                </a:solidFill>
              </a:rPr>
              <a:t>Justifiez avec </a:t>
            </a:r>
            <a:r>
              <a:rPr lang="en-US" sz="1600" b="1" dirty="0">
                <a:solidFill>
                  <a:schemeClr val="tx1"/>
                </a:solidFill>
              </a:rPr>
              <a:t>deux verbes à la fin</a:t>
            </a:r>
            <a:r>
              <a:rPr lang="en-US" sz="1600" dirty="0">
                <a:solidFill>
                  <a:schemeClr val="tx1"/>
                </a:solidFill>
              </a:rPr>
              <a:t> : «…omdat ik ook nog een helm moet kopen.»</a:t>
            </a:r>
            <a:endParaRPr lang="en-US" sz="1600" dirty="0"/>
          </a:p>
          <a:p>
            <a:pPr marL="203200" indent="-203200">
              <a:spcAft>
                <a:spcPts val="800"/>
              </a:spcAft>
              <a:buSzPct val="100000"/>
              <a:buChar char="•"/>
            </a:pPr>
            <a:r>
              <a:rPr lang="en-US" sz="1600" dirty="0">
                <a:solidFill>
                  <a:schemeClr val="tx1"/>
                </a:solidFill>
              </a:rPr>
              <a:t>Secret : ① budget réel € 160 · ② le feu arrière ne marche pas · ③ vous adorez la couleur</a:t>
            </a:r>
            <a:endParaRPr lang="en-US" sz="1600" dirty="0"/>
          </a:p>
        </p:txBody>
      </p:sp>
      <p:sp>
        <p:nvSpPr>
          <p:cNvPr id="15" name="Shape 10"/>
          <p:cNvSpPr/>
          <p:nvPr/>
        </p:nvSpPr>
        <p:spPr>
          <a:xfrm>
            <a:off x="5838444" y="3557016"/>
            <a:ext cx="512064" cy="512064"/>
          </a:xfrm>
          <a:prstGeom prst="ellipse">
            <a:avLst/>
          </a:prstGeom>
          <a:solidFill>
            <a:schemeClr val="tx2"/>
          </a:solidFill>
          <a:ln/>
        </p:spPr>
      </p:sp>
      <p:sp>
        <p:nvSpPr>
          <p:cNvPr id="16" name="Text 11"/>
          <p:cNvSpPr txBox="1"/>
          <p:nvPr/>
        </p:nvSpPr>
        <p:spPr>
          <a:xfrm>
            <a:off x="5838444" y="355701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A/B</a:t>
            </a:r>
            <a:endParaRPr lang="en-US" sz="1600" dirty="0"/>
          </a:p>
        </p:txBody>
      </p:sp>
      <p:sp>
        <p:nvSpPr>
          <p:cNvPr id="17" name="Shape 12"/>
          <p:cNvSpPr/>
          <p:nvPr/>
        </p:nvSpPr>
        <p:spPr>
          <a:xfrm>
            <a:off x="548640" y="5605272"/>
            <a:ext cx="11091672" cy="685800"/>
          </a:xfrm>
          <a:prstGeom prst="roundRect">
            <a:avLst>
              <a:gd name="adj" fmla="val 10667"/>
            </a:avLst>
          </a:prstGeom>
          <a:solidFill>
            <a:schemeClr val="accent2">
              <a:alpha val="10000"/>
            </a:schemeClr>
          </a:solidFill>
          <a:ln w="9525">
            <a:solidFill>
              <a:schemeClr val="accent2">
                <a:alpha val="70000"/>
              </a:schemeClr>
            </a:solidFill>
            <a:prstDash val="solid"/>
          </a:ln>
        </p:spPr>
      </p:sp>
      <p:pic>
        <p:nvPicPr>
          <p:cNvPr id="18"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19" name="Text 13"/>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2"/>
                </a:solidFill>
              </a:rPr>
              <a:t>Grille de l’observateur — </a:t>
            </a:r>
            <a:r>
              <a:rPr lang="en-US" sz="1700" dirty="0">
                <a:solidFill>
                  <a:schemeClr val="tx1"/>
                </a:solidFill>
              </a:rPr>
              <a:t>phrases complexes réussies (inversion, concession, deux verbes à la fin).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D5 — Afdingen : le vélo de Stef (modèle)</a:t>
            </a:r>
            <a:endParaRPr lang="en-US" sz="3200" dirty="0"/>
          </a:p>
        </p:txBody>
      </p:sp>
      <p:sp>
        <p:nvSpPr>
          <p:cNvPr id="3" name="tag"/>
          <p:cNvSpPr/>
          <p:nvPr/>
        </p:nvSpPr>
        <p:spPr>
          <a:xfrm>
            <a:off x="548640" y="237744"/>
            <a:ext cx="116586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 BONUS</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Hors syllabus</a:t>
            </a:r>
            <a:endParaRPr lang="en-US" sz="1200" dirty="0"/>
          </a:p>
        </p:txBody>
      </p:sp>
      <p:sp>
        <p:nvSpPr>
          <p:cNvPr id="6" name="Text 3"/>
          <p:cNvSpPr txBox="1"/>
          <p:nvPr/>
        </p:nvSpPr>
        <p:spPr>
          <a:xfrm>
            <a:off x="548640" y="1508760"/>
            <a:ext cx="11091672" cy="4754880"/>
          </a:xfrm>
          <a:prstGeom prst="rect">
            <a:avLst/>
          </a:prstGeom>
          <a:noFill/>
          <a:ln/>
        </p:spPr>
        <p:txBody>
          <a:bodyPr wrap="square" lIns="0" tIns="0" rIns="0" bIns="0" rtlCol="0" anchor="t"/>
          <a:lstStyle/>
          <a:p>
            <a:pPr indent="0" marL="0">
              <a:spcAft>
                <a:spcPts val="800"/>
              </a:spcAft>
              <a:buNone/>
            </a:pPr>
            <a:r>
              <a:rPr lang="en-US" sz="1200" dirty="0">
                <a:solidFill>
                  <a:schemeClr val="accent5"/>
                </a:solidFill>
              </a:rPr>
              <a:t>1  </a:t>
            </a:r>
            <a:r>
              <a:rPr lang="en-US" sz="1800" b="1" dirty="0">
                <a:solidFill>
                  <a:schemeClr val="accent2"/>
                </a:solidFill>
              </a:rPr>
              <a:t>Stef :  </a:t>
            </a:r>
            <a:r>
              <a:rPr lang="en-US" sz="1800" dirty="0">
                <a:solidFill>
                  <a:schemeClr val="tx1"/>
                </a:solidFill>
              </a:rPr>
              <a:t>«Goedemiddag! Is de stadsfiets nog beschikbaar?»</a:t>
            </a:r>
            <a:endParaRPr lang="en-US" sz="1800" dirty="0"/>
          </a:p>
          <a:p>
            <a:pPr indent="0" marL="0">
              <a:spcAft>
                <a:spcPts val="800"/>
              </a:spcAft>
              <a:buNone/>
            </a:pPr>
            <a:r>
              <a:rPr lang="en-US" sz="1200" dirty="0">
                <a:solidFill>
                  <a:schemeClr val="accent5"/>
                </a:solidFill>
              </a:rPr>
              <a:t>2  </a:t>
            </a:r>
            <a:r>
              <a:rPr lang="en-US" sz="1800" b="1" dirty="0">
                <a:solidFill>
                  <a:schemeClr val="accent1"/>
                </a:solidFill>
              </a:rPr>
              <a:t>Verkoper :  </a:t>
            </a:r>
            <a:r>
              <a:rPr lang="en-US" sz="1800" dirty="0">
                <a:solidFill>
                  <a:schemeClr val="tx1"/>
                </a:solidFill>
              </a:rPr>
              <a:t>«Ja, hij is nog te koop. De fiets is in goede staat en er zijn al andere kandidaten.»</a:t>
            </a:r>
            <a:endParaRPr lang="en-US" sz="1800" dirty="0"/>
          </a:p>
          <a:p>
            <a:pPr indent="0" marL="0">
              <a:spcAft>
                <a:spcPts val="800"/>
              </a:spcAft>
              <a:buNone/>
            </a:pPr>
            <a:r>
              <a:rPr lang="en-US" sz="1200" dirty="0">
                <a:solidFill>
                  <a:schemeClr val="accent5"/>
                </a:solidFill>
              </a:rPr>
              <a:t>3  </a:t>
            </a:r>
            <a:r>
              <a:rPr lang="en-US" sz="1800" b="1" dirty="0">
                <a:solidFill>
                  <a:schemeClr val="accent2"/>
                </a:solidFill>
              </a:rPr>
              <a:t>Stef :  </a:t>
            </a:r>
            <a:r>
              <a:rPr lang="en-US" sz="1800" dirty="0">
                <a:solidFill>
                  <a:schemeClr val="tx1"/>
                </a:solidFill>
              </a:rPr>
              <a:t>«Wat is uw laatste prijs?»</a:t>
            </a:r>
            <a:endParaRPr lang="en-US" sz="1800" dirty="0"/>
          </a:p>
          <a:p>
            <a:pPr indent="0" marL="0">
              <a:spcAft>
                <a:spcPts val="800"/>
              </a:spcAft>
              <a:buNone/>
            </a:pPr>
            <a:r>
              <a:rPr lang="en-US" sz="1200" dirty="0">
                <a:solidFill>
                  <a:schemeClr val="accent5"/>
                </a:solidFill>
              </a:rPr>
              <a:t>4  </a:t>
            </a:r>
            <a:r>
              <a:rPr lang="en-US" sz="1800" b="1" dirty="0">
                <a:solidFill>
                  <a:schemeClr val="accent1"/>
                </a:solidFill>
              </a:rPr>
              <a:t>Verkoper :  </a:t>
            </a:r>
            <a:r>
              <a:rPr lang="en-US" sz="1800" dirty="0">
                <a:solidFill>
                  <a:schemeClr val="tx1"/>
                </a:solidFill>
              </a:rPr>
              <a:t>«€ 180. Hoewel de fiets niet nieuw is, rijdt hij perfect.»</a:t>
            </a:r>
            <a:endParaRPr lang="en-US" sz="1800" dirty="0"/>
          </a:p>
          <a:p>
            <a:pPr indent="0" marL="0">
              <a:spcAft>
                <a:spcPts val="800"/>
              </a:spcAft>
              <a:buNone/>
            </a:pPr>
            <a:r>
              <a:rPr lang="en-US" sz="1200" dirty="0">
                <a:solidFill>
                  <a:schemeClr val="accent5"/>
                </a:solidFill>
              </a:rPr>
              <a:t>5  </a:t>
            </a:r>
            <a:r>
              <a:rPr lang="en-US" sz="1800" b="1" dirty="0">
                <a:solidFill>
                  <a:schemeClr val="accent2"/>
                </a:solidFill>
              </a:rPr>
              <a:t>Stef :  </a:t>
            </a:r>
            <a:r>
              <a:rPr lang="en-US" sz="1800" dirty="0">
                <a:solidFill>
                  <a:schemeClr val="tx1"/>
                </a:solidFill>
              </a:rPr>
              <a:t>«Het achterlicht werkt niet. Kan het iets goedkoper? Ik geef u er 150 euro voor.»</a:t>
            </a:r>
            <a:endParaRPr lang="en-US" sz="1800" dirty="0"/>
          </a:p>
          <a:p>
            <a:pPr indent="0" marL="0">
              <a:spcAft>
                <a:spcPts val="800"/>
              </a:spcAft>
              <a:buNone/>
            </a:pPr>
            <a:r>
              <a:rPr lang="en-US" sz="1200" dirty="0">
                <a:solidFill>
                  <a:schemeClr val="accent5"/>
                </a:solidFill>
              </a:rPr>
              <a:t>6  </a:t>
            </a:r>
            <a:r>
              <a:rPr lang="en-US" sz="1800" b="1" dirty="0">
                <a:solidFill>
                  <a:schemeClr val="accent1"/>
                </a:solidFill>
              </a:rPr>
              <a:t>Verkoper :  </a:t>
            </a:r>
            <a:r>
              <a:rPr lang="en-US" sz="1800" dirty="0">
                <a:solidFill>
                  <a:schemeClr val="tx1"/>
                </a:solidFill>
              </a:rPr>
              <a:t>«Als u vandaag betaalt, krijgt u het slot erbij. Onder € 160 ga ik niet.»</a:t>
            </a:r>
            <a:endParaRPr lang="en-US" sz="1800" dirty="0"/>
          </a:p>
          <a:p>
            <a:pPr indent="0" marL="0">
              <a:spcAft>
                <a:spcPts val="800"/>
              </a:spcAft>
              <a:buNone/>
            </a:pPr>
            <a:r>
              <a:rPr lang="en-US" sz="1200" dirty="0">
                <a:solidFill>
                  <a:schemeClr val="accent5"/>
                </a:solidFill>
              </a:rPr>
              <a:t>7  </a:t>
            </a:r>
            <a:r>
              <a:rPr lang="en-US" sz="1800" b="1" dirty="0">
                <a:solidFill>
                  <a:schemeClr val="accent2"/>
                </a:solidFill>
              </a:rPr>
              <a:t>Stef :  </a:t>
            </a:r>
            <a:r>
              <a:rPr lang="en-US" sz="1800" dirty="0">
                <a:solidFill>
                  <a:schemeClr val="tx1"/>
                </a:solidFill>
              </a:rPr>
              <a:t>«Ik kan € 160 geven, omdat ik ook nog een helm moet kopen.»</a:t>
            </a:r>
            <a:endParaRPr lang="en-US" sz="1800" dirty="0"/>
          </a:p>
          <a:p>
            <a:pPr indent="0" marL="0">
              <a:spcAft>
                <a:spcPts val="800"/>
              </a:spcAft>
              <a:buNone/>
            </a:pPr>
            <a:r>
              <a:rPr lang="en-US" sz="1200" dirty="0">
                <a:solidFill>
                  <a:schemeClr val="accent5"/>
                </a:solidFill>
              </a:rPr>
              <a:t>8  </a:t>
            </a:r>
            <a:r>
              <a:rPr lang="en-US" sz="1800" b="1" dirty="0">
                <a:solidFill>
                  <a:schemeClr val="accent1"/>
                </a:solidFill>
              </a:rPr>
              <a:t>Verkoper :  </a:t>
            </a:r>
            <a:r>
              <a:rPr lang="en-US" sz="1800" dirty="0">
                <a:solidFill>
                  <a:schemeClr val="tx1"/>
                </a:solidFill>
              </a:rPr>
              <a:t>«Laten we het verschil delen: € 165, en het slot zit erbij.»</a:t>
            </a:r>
            <a:endParaRPr lang="en-US" sz="1800" dirty="0"/>
          </a:p>
          <a:p>
            <a:pPr indent="0" marL="0">
              <a:spcAft>
                <a:spcPts val="800"/>
              </a:spcAft>
              <a:buNone/>
            </a:pPr>
            <a:r>
              <a:rPr lang="en-US" sz="1200" dirty="0">
                <a:solidFill>
                  <a:schemeClr val="accent5"/>
                </a:solidFill>
              </a:rPr>
              <a:t>9  </a:t>
            </a:r>
            <a:r>
              <a:rPr lang="en-US" sz="1800" b="1" dirty="0">
                <a:solidFill>
                  <a:schemeClr val="accent2"/>
                </a:solidFill>
              </a:rPr>
              <a:t>Stef :  </a:t>
            </a:r>
            <a:r>
              <a:rPr lang="en-US" sz="1800" dirty="0">
                <a:solidFill>
                  <a:schemeClr val="tx1"/>
                </a:solidFill>
              </a:rPr>
              <a:t>«Afgesproken! Dat is een koopje.»</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Van opdracht tot verkoop : les trois étapes</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21–22</a:t>
            </a:r>
            <a:endParaRPr lang="en-US" sz="1200" dirty="0"/>
          </a:p>
        </p:txBody>
      </p:sp>
      <p:sp>
        <p:nvSpPr>
          <p:cNvPr id="6" name="Text 3"/>
          <p:cNvSpPr txBox="1"/>
          <p:nvPr/>
        </p:nvSpPr>
        <p:spPr>
          <a:xfrm>
            <a:off x="548640" y="1481328"/>
            <a:ext cx="11091672" cy="329184"/>
          </a:xfrm>
          <a:prstGeom prst="rect">
            <a:avLst/>
          </a:prstGeom>
          <a:noFill/>
          <a:ln/>
        </p:spPr>
        <p:txBody>
          <a:bodyPr wrap="square" lIns="0" tIns="0" rIns="0" bIns="0" rtlCol="0" anchor="t"/>
          <a:lstStyle/>
          <a:p>
            <a:pPr indent="0" marL="0">
              <a:buNone/>
            </a:pPr>
            <a:r>
              <a:rPr lang="en-US" sz="1800" dirty="0">
                <a:solidFill>
                  <a:schemeClr val="tx1"/>
                </a:solidFill>
              </a:rPr>
              <a:t>Accueillir (1), rédiger (2), faire visiter (3), conditionner (4), négocier (5) : </a:t>
            </a:r>
            <a:r>
              <a:rPr lang="en-US" sz="1800" b="1" dirty="0">
                <a:solidFill>
                  <a:schemeClr val="tx1"/>
                </a:solidFill>
              </a:rPr>
              <a:t>il reste à assembler</a:t>
            </a:r>
            <a:r>
              <a:rPr lang="en-US" sz="1800" dirty="0">
                <a:solidFill>
                  <a:schemeClr val="tx1"/>
                </a:solidFill>
              </a:rPr>
              <a:t>.</a:t>
            </a:r>
            <a:endParaRPr lang="en-US" sz="1800" dirty="0"/>
          </a:p>
        </p:txBody>
      </p:sp>
      <p:sp>
        <p:nvSpPr>
          <p:cNvPr id="7" name="Shape 4"/>
          <p:cNvSpPr/>
          <p:nvPr/>
        </p:nvSpPr>
        <p:spPr>
          <a:xfrm>
            <a:off x="548640" y="1993392"/>
            <a:ext cx="3502152" cy="3383280"/>
          </a:xfrm>
          <a:prstGeom prst="roundRect">
            <a:avLst>
              <a:gd name="adj" fmla="val 2703"/>
            </a:avLst>
          </a:prstGeom>
          <a:solidFill>
            <a:schemeClr val="bg2"/>
          </a:solidFill>
          <a:ln w="9525">
            <a:solidFill>
              <a:srgbClr val="D5DCE6"/>
            </a:solidFill>
            <a:prstDash val="solid"/>
          </a:ln>
        </p:spPr>
      </p:sp>
      <p:sp>
        <p:nvSpPr>
          <p:cNvPr id="8" name="Shape 5"/>
          <p:cNvSpPr/>
          <p:nvPr/>
        </p:nvSpPr>
        <p:spPr>
          <a:xfrm>
            <a:off x="1970532" y="2176272"/>
            <a:ext cx="658368" cy="658368"/>
          </a:xfrm>
          <a:prstGeom prst="ellipse">
            <a:avLst/>
          </a:prstGeom>
          <a:solidFill>
            <a:schemeClr val="accent2"/>
          </a:solidFill>
          <a:ln/>
        </p:spPr>
      </p:sp>
      <p:sp>
        <p:nvSpPr>
          <p:cNvPr id="9" name="Text 6"/>
          <p:cNvSpPr txBox="1"/>
          <p:nvPr/>
        </p:nvSpPr>
        <p:spPr>
          <a:xfrm>
            <a:off x="197053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1</a:t>
            </a:r>
            <a:endParaRPr lang="en-US" sz="2000" dirty="0"/>
          </a:p>
        </p:txBody>
      </p:sp>
      <p:sp>
        <p:nvSpPr>
          <p:cNvPr id="10" name="Text 7"/>
          <p:cNvSpPr txBox="1"/>
          <p:nvPr/>
        </p:nvSpPr>
        <p:spPr>
          <a:xfrm>
            <a:off x="65836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2"/>
                </a:solidFill>
              </a:rPr>
              <a:t>Het dossier samenstellen</a:t>
            </a:r>
            <a:endParaRPr lang="en-US" sz="1700" dirty="0"/>
          </a:p>
        </p:txBody>
      </p:sp>
      <p:sp>
        <p:nvSpPr>
          <p:cNvPr id="11" name="Text 8"/>
          <p:cNvSpPr txBox="1"/>
          <p:nvPr/>
        </p:nvSpPr>
        <p:spPr>
          <a:xfrm>
            <a:off x="685800" y="3685032"/>
            <a:ext cx="3227832" cy="1600200"/>
          </a:xfrm>
          <a:prstGeom prst="rect">
            <a:avLst/>
          </a:prstGeom>
          <a:noFill/>
          <a:ln/>
        </p:spPr>
        <p:txBody>
          <a:bodyPr wrap="square" lIns="0" tIns="0" rIns="0" bIns="0" rtlCol="0" anchor="t"/>
          <a:lstStyle/>
          <a:p>
            <a:pPr algn="ctr" indent="0" marL="0">
              <a:spcAft>
                <a:spcPts val="600"/>
              </a:spcAft>
              <a:buNone/>
            </a:pPr>
            <a:r>
              <a:rPr lang="en-US" sz="1300" b="1" dirty="0">
                <a:solidFill>
                  <a:schemeClr val="tx1"/>
                </a:solidFill>
              </a:rPr>
              <a:t>25 min · binôme</a:t>
            </a:r>
            <a:endParaRPr lang="en-US" sz="1300" dirty="0"/>
          </a:p>
          <a:p>
            <a:pPr algn="ctr" indent="0" marL="0">
              <a:spcAft>
                <a:spcPts val="600"/>
              </a:spcAft>
              <a:buNone/>
            </a:pPr>
            <a:r>
              <a:rPr lang="en-US" sz="1300" dirty="0">
                <a:solidFill>
                  <a:schemeClr val="tx1"/>
                </a:solidFill>
              </a:rPr>
              <a:t>Un bien : fiche technique, </a:t>
            </a:r>
            <a:r>
              <a:rPr lang="en-US" sz="1300" b="1" dirty="0">
                <a:solidFill>
                  <a:schemeClr val="tx1"/>
                </a:solidFill>
              </a:rPr>
              <a:t>annonce</a:t>
            </a:r>
            <a:r>
              <a:rPr lang="en-US" sz="1300" dirty="0">
                <a:solidFill>
                  <a:schemeClr val="tx1"/>
                </a:solidFill>
              </a:rPr>
              <a:t> (TAAK 2), </a:t>
            </a:r>
            <a:r>
              <a:rPr lang="en-US" sz="1300" b="1" dirty="0">
                <a:solidFill>
                  <a:schemeClr val="tx1"/>
                </a:solidFill>
              </a:rPr>
              <a:t>plan de vente</a:t>
            </a:r>
            <a:r>
              <a:rPr lang="en-US" sz="1300" dirty="0">
                <a:solidFill>
                  <a:schemeClr val="tx1"/>
                </a:solidFill>
              </a:rPr>
              <a:t>.</a:t>
            </a:r>
            <a:endParaRPr lang="en-US" sz="1300" dirty="0"/>
          </a:p>
          <a:p>
            <a:pPr algn="ctr" indent="0" marL="0">
              <a:spcAft>
                <a:spcPts val="600"/>
              </a:spcAft>
              <a:buNone/>
            </a:pPr>
            <a:r>
              <a:rPr lang="en-US" sz="1300" b="1" dirty="0">
                <a:solidFill>
                  <a:schemeClr val="tx1"/>
                </a:solidFill>
              </a:rPr>
              <a:t>Fait</a:t>
            </a:r>
            <a:r>
              <a:rPr lang="en-US" sz="1300" dirty="0">
                <a:solidFill>
                  <a:schemeClr val="tx1"/>
                </a:solidFill>
              </a:rPr>
              <a:t> (perfectum) · </a:t>
            </a:r>
            <a:r>
              <a:rPr lang="en-US" sz="1300" b="1" dirty="0">
                <a:solidFill>
                  <a:schemeClr val="tx1"/>
                </a:solidFill>
              </a:rPr>
              <a:t>à venir</a:t>
            </a:r>
            <a:r>
              <a:rPr lang="en-US" sz="1300" dirty="0">
                <a:solidFill>
                  <a:schemeClr val="tx1"/>
                </a:solidFill>
              </a:rPr>
              <a:t> (futur) · </a:t>
            </a:r>
            <a:r>
              <a:rPr lang="en-US" sz="1300" b="1" dirty="0">
                <a:solidFill>
                  <a:schemeClr val="tx1"/>
                </a:solidFill>
              </a:rPr>
              <a:t>conditions</a:t>
            </a:r>
            <a:r>
              <a:rPr lang="en-US" sz="1300" dirty="0">
                <a:solidFill>
                  <a:schemeClr val="tx1"/>
                </a:solidFill>
              </a:rPr>
              <a:t> (zodra, tenzij, als).</a:t>
            </a:r>
            <a:endParaRPr lang="en-US" sz="1300" dirty="0"/>
          </a:p>
          <a:p>
            <a:pPr algn="ctr" indent="0" marL="0">
              <a:spcAft>
                <a:spcPts val="600"/>
              </a:spcAft>
              <a:buNone/>
            </a:pPr>
            <a:r>
              <a:rPr lang="en-US" sz="1300" dirty="0">
                <a:solidFill>
                  <a:schemeClr val="tx1"/>
                </a:solidFill>
              </a:rPr>
              <a:t>Mots-clés seulement.</a:t>
            </a:r>
            <a:endParaRPr lang="en-US" sz="1300" dirty="0"/>
          </a:p>
        </p:txBody>
      </p:sp>
      <p:pic>
        <p:nvPicPr>
          <p:cNvPr id="12" name="Image 0" descr="preencoded.png">    </p:cNvPr>
          <p:cNvPicPr>
            <a:picLocks noChangeAspect="1"/>
          </p:cNvPicPr>
          <p:nvPr/>
        </p:nvPicPr>
        <p:blipFill>
          <a:blip r:embed="rId1"/>
          <a:stretch>
            <a:fillRect/>
          </a:stretch>
        </p:blipFill>
        <p:spPr>
          <a:xfrm>
            <a:off x="4087368" y="2395728"/>
            <a:ext cx="219456" cy="219456"/>
          </a:xfrm>
          <a:prstGeom prst="rect">
            <a:avLst/>
          </a:prstGeom>
        </p:spPr>
      </p:pic>
      <p:sp>
        <p:nvSpPr>
          <p:cNvPr id="13" name="Shape 9"/>
          <p:cNvSpPr/>
          <p:nvPr/>
        </p:nvSpPr>
        <p:spPr>
          <a:xfrm>
            <a:off x="4343400" y="1993392"/>
            <a:ext cx="3502152" cy="3383280"/>
          </a:xfrm>
          <a:prstGeom prst="roundRect">
            <a:avLst>
              <a:gd name="adj" fmla="val 2703"/>
            </a:avLst>
          </a:prstGeom>
          <a:solidFill>
            <a:schemeClr val="bg2"/>
          </a:solidFill>
          <a:ln w="9525">
            <a:solidFill>
              <a:srgbClr val="D5DCE6"/>
            </a:solidFill>
            <a:prstDash val="solid"/>
          </a:ln>
        </p:spPr>
      </p:sp>
      <p:sp>
        <p:nvSpPr>
          <p:cNvPr id="14" name="Shape 10"/>
          <p:cNvSpPr/>
          <p:nvPr/>
        </p:nvSpPr>
        <p:spPr>
          <a:xfrm>
            <a:off x="5765292" y="2176272"/>
            <a:ext cx="658368" cy="658368"/>
          </a:xfrm>
          <a:prstGeom prst="ellipse">
            <a:avLst/>
          </a:prstGeom>
          <a:solidFill>
            <a:schemeClr val="accent1"/>
          </a:solidFill>
          <a:ln/>
        </p:spPr>
      </p:sp>
      <p:sp>
        <p:nvSpPr>
          <p:cNvPr id="15" name="Text 11"/>
          <p:cNvSpPr txBox="1"/>
          <p:nvPr/>
        </p:nvSpPr>
        <p:spPr>
          <a:xfrm>
            <a:off x="576529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2</a:t>
            </a:r>
            <a:endParaRPr lang="en-US" sz="2000" dirty="0"/>
          </a:p>
        </p:txBody>
      </p:sp>
      <p:sp>
        <p:nvSpPr>
          <p:cNvPr id="16" name="Text 12"/>
          <p:cNvSpPr txBox="1"/>
          <p:nvPr/>
        </p:nvSpPr>
        <p:spPr>
          <a:xfrm>
            <a:off x="445312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1"/>
                </a:solidFill>
              </a:rPr>
              <a:t>De teamvergadering</a:t>
            </a:r>
            <a:endParaRPr lang="en-US" sz="1700" dirty="0"/>
          </a:p>
        </p:txBody>
      </p:sp>
      <p:sp>
        <p:nvSpPr>
          <p:cNvPr id="17" name="Text 13"/>
          <p:cNvSpPr txBox="1"/>
          <p:nvPr/>
        </p:nvSpPr>
        <p:spPr>
          <a:xfrm>
            <a:off x="4480560" y="3685032"/>
            <a:ext cx="3227832" cy="1600200"/>
          </a:xfrm>
          <a:prstGeom prst="rect">
            <a:avLst/>
          </a:prstGeom>
          <a:noFill/>
          <a:ln/>
        </p:spPr>
        <p:txBody>
          <a:bodyPr wrap="square" lIns="0" tIns="0" rIns="0" bIns="0" rtlCol="0" anchor="t"/>
          <a:lstStyle/>
          <a:p>
            <a:pPr algn="ctr" indent="0" marL="0">
              <a:spcAft>
                <a:spcPts val="600"/>
              </a:spcAft>
              <a:buNone/>
            </a:pPr>
            <a:r>
              <a:rPr lang="en-US" sz="1300" dirty="0">
                <a:solidFill>
                  <a:schemeClr val="tx1"/>
                </a:solidFill>
              </a:rPr>
              <a:t>Présentation </a:t>
            </a:r>
            <a:r>
              <a:rPr lang="en-US" sz="1300" b="1" dirty="0">
                <a:solidFill>
                  <a:schemeClr val="tx1"/>
                </a:solidFill>
              </a:rPr>
              <a:t>à deux voix</a:t>
            </a:r>
            <a:r>
              <a:rPr lang="en-US" sz="1300" dirty="0">
                <a:solidFill>
                  <a:schemeClr val="tx1"/>
                </a:solidFill>
              </a:rPr>
              <a:t> devant un autre binôme (le gérant et collègue).</a:t>
            </a:r>
            <a:endParaRPr lang="en-US" sz="1300" dirty="0"/>
          </a:p>
          <a:p>
            <a:pPr algn="ctr" indent="0" marL="0">
              <a:spcAft>
                <a:spcPts val="600"/>
              </a:spcAft>
              <a:buNone/>
            </a:pPr>
            <a:r>
              <a:rPr lang="en-US" sz="1300" dirty="0">
                <a:solidFill>
                  <a:schemeClr val="tx1"/>
                </a:solidFill>
              </a:rPr>
              <a:t>Bien · annonce · stratégie · conditions.</a:t>
            </a:r>
            <a:endParaRPr lang="en-US" sz="1300" dirty="0"/>
          </a:p>
          <a:p>
            <a:pPr algn="ctr" indent="0" marL="0">
              <a:spcAft>
                <a:spcPts val="600"/>
              </a:spcAft>
              <a:buNone/>
            </a:pPr>
            <a:r>
              <a:rPr lang="en-US" sz="1300" b="1" dirty="0">
                <a:solidFill>
                  <a:schemeClr val="tx1"/>
                </a:solidFill>
              </a:rPr>
              <a:t>3 questions critiques</a:t>
            </a:r>
            <a:r>
              <a:rPr lang="en-US" sz="1300" dirty="0">
                <a:solidFill>
                  <a:schemeClr val="tx1"/>
                </a:solidFill>
              </a:rPr>
              <a:t>, réponses improvisées. Puis on </a:t>
            </a:r>
            <a:r>
              <a:rPr lang="en-US" sz="1300" b="1" dirty="0">
                <a:solidFill>
                  <a:schemeClr val="tx1"/>
                </a:solidFill>
              </a:rPr>
              <a:t>inverse</a:t>
            </a:r>
            <a:r>
              <a:rPr lang="en-US" sz="1300" dirty="0">
                <a:solidFill>
                  <a:schemeClr val="tx1"/>
                </a:solidFill>
              </a:rPr>
              <a:t>.</a:t>
            </a:r>
            <a:endParaRPr lang="en-US" sz="1300" dirty="0"/>
          </a:p>
        </p:txBody>
      </p:sp>
      <p:pic>
        <p:nvPicPr>
          <p:cNvPr id="18" name="Image 1" descr="preencoded.png">    </p:cNvPr>
          <p:cNvPicPr>
            <a:picLocks noChangeAspect="1"/>
          </p:cNvPicPr>
          <p:nvPr/>
        </p:nvPicPr>
        <p:blipFill>
          <a:blip r:embed="rId2"/>
          <a:stretch>
            <a:fillRect/>
          </a:stretch>
        </p:blipFill>
        <p:spPr>
          <a:xfrm>
            <a:off x="7882128" y="2395728"/>
            <a:ext cx="219456" cy="219456"/>
          </a:xfrm>
          <a:prstGeom prst="rect">
            <a:avLst/>
          </a:prstGeom>
        </p:spPr>
      </p:pic>
      <p:sp>
        <p:nvSpPr>
          <p:cNvPr id="19" name="Shape 14"/>
          <p:cNvSpPr/>
          <p:nvPr/>
        </p:nvSpPr>
        <p:spPr>
          <a:xfrm>
            <a:off x="8138160" y="1993392"/>
            <a:ext cx="3502152" cy="3383280"/>
          </a:xfrm>
          <a:prstGeom prst="roundRect">
            <a:avLst>
              <a:gd name="adj" fmla="val 2703"/>
            </a:avLst>
          </a:prstGeom>
          <a:solidFill>
            <a:schemeClr val="bg2"/>
          </a:solidFill>
          <a:ln w="9525">
            <a:solidFill>
              <a:srgbClr val="D5DCE6"/>
            </a:solidFill>
            <a:prstDash val="solid"/>
          </a:ln>
        </p:spPr>
      </p:sp>
      <p:sp>
        <p:nvSpPr>
          <p:cNvPr id="20" name="Shape 15"/>
          <p:cNvSpPr/>
          <p:nvPr/>
        </p:nvSpPr>
        <p:spPr>
          <a:xfrm>
            <a:off x="9560052" y="2176272"/>
            <a:ext cx="658368" cy="658368"/>
          </a:xfrm>
          <a:prstGeom prst="ellipse">
            <a:avLst/>
          </a:prstGeom>
          <a:solidFill>
            <a:schemeClr val="accent3"/>
          </a:solidFill>
          <a:ln/>
        </p:spPr>
      </p:sp>
      <p:sp>
        <p:nvSpPr>
          <p:cNvPr id="21" name="Text 16"/>
          <p:cNvSpPr txBox="1"/>
          <p:nvPr/>
        </p:nvSpPr>
        <p:spPr>
          <a:xfrm>
            <a:off x="9560052" y="2176272"/>
            <a:ext cx="658368" cy="658368"/>
          </a:xfrm>
          <a:prstGeom prst="rect">
            <a:avLst/>
          </a:prstGeom>
          <a:noFill/>
          <a:ln/>
        </p:spPr>
        <p:txBody>
          <a:bodyPr wrap="square" lIns="0" tIns="0" rIns="0" bIns="0" rtlCol="0" anchor="ctr"/>
          <a:lstStyle/>
          <a:p>
            <a:pPr algn="ctr" indent="0" marL="0">
              <a:buNone/>
            </a:pPr>
            <a:r>
              <a:rPr lang="en-US" sz="2000" b="1" dirty="0">
                <a:solidFill>
                  <a:schemeClr val="bg1"/>
                </a:solidFill>
              </a:rPr>
              <a:t>3</a:t>
            </a:r>
            <a:endParaRPr lang="en-US" sz="2000" dirty="0"/>
          </a:p>
        </p:txBody>
      </p:sp>
      <p:sp>
        <p:nvSpPr>
          <p:cNvPr id="22" name="Text 17"/>
          <p:cNvSpPr txBox="1"/>
          <p:nvPr/>
        </p:nvSpPr>
        <p:spPr>
          <a:xfrm>
            <a:off x="8247888" y="2907792"/>
            <a:ext cx="3282696" cy="685800"/>
          </a:xfrm>
          <a:prstGeom prst="rect">
            <a:avLst/>
          </a:prstGeom>
          <a:noFill/>
          <a:ln/>
        </p:spPr>
        <p:txBody>
          <a:bodyPr wrap="square" lIns="0" tIns="0" rIns="0" bIns="0" rtlCol="0" anchor="ctr"/>
          <a:lstStyle/>
          <a:p>
            <a:pPr algn="ctr" indent="0" marL="0">
              <a:buNone/>
            </a:pPr>
            <a:r>
              <a:rPr lang="en-US" sz="1700" b="1" dirty="0">
                <a:solidFill>
                  <a:schemeClr val="accent3"/>
                </a:solidFill>
              </a:rPr>
              <a:t>Het verslag</a:t>
            </a:r>
            <a:endParaRPr lang="en-US" sz="1700" dirty="0"/>
          </a:p>
        </p:txBody>
      </p:sp>
      <p:sp>
        <p:nvSpPr>
          <p:cNvPr id="23" name="Text 18"/>
          <p:cNvSpPr txBox="1"/>
          <p:nvPr/>
        </p:nvSpPr>
        <p:spPr>
          <a:xfrm>
            <a:off x="8275320" y="3685032"/>
            <a:ext cx="3227832" cy="1600200"/>
          </a:xfrm>
          <a:prstGeom prst="rect">
            <a:avLst/>
          </a:prstGeom>
          <a:noFill/>
          <a:ln/>
        </p:spPr>
        <p:txBody>
          <a:bodyPr wrap="square" lIns="0" tIns="0" rIns="0" bIns="0" rtlCol="0" anchor="t"/>
          <a:lstStyle/>
          <a:p>
            <a:pPr algn="ctr" indent="0" marL="0">
              <a:spcAft>
                <a:spcPts val="600"/>
              </a:spcAft>
              <a:buNone/>
            </a:pPr>
            <a:r>
              <a:rPr lang="en-US" sz="1300" b="1" dirty="0">
                <a:solidFill>
                  <a:schemeClr val="tx1"/>
                </a:solidFill>
              </a:rPr>
              <a:t>15 min · individuel</a:t>
            </a:r>
            <a:endParaRPr lang="en-US" sz="1300" dirty="0"/>
          </a:p>
          <a:p>
            <a:pPr algn="ctr" indent="0" marL="0">
              <a:spcAft>
                <a:spcPts val="600"/>
              </a:spcAft>
              <a:buNone/>
            </a:pPr>
            <a:r>
              <a:rPr lang="en-US" sz="1300" dirty="0">
                <a:solidFill>
                  <a:schemeClr val="tx1"/>
                </a:solidFill>
              </a:rPr>
              <a:t>Compte rendu pour la direction : </a:t>
            </a:r>
            <a:r>
              <a:rPr lang="en-US" sz="1300" b="1" dirty="0">
                <a:solidFill>
                  <a:schemeClr val="tx1"/>
                </a:solidFill>
              </a:rPr>
              <a:t>8 à 10 phrases</a:t>
            </a:r>
            <a:r>
              <a:rPr lang="en-US" sz="1300" dirty="0">
                <a:solidFill>
                  <a:schemeClr val="tx1"/>
                </a:solidFill>
              </a:rPr>
              <a:t>, registre </a:t>
            </a:r>
            <a:r>
              <a:rPr lang="en-US" sz="1300" b="1" dirty="0">
                <a:solidFill>
                  <a:schemeClr val="tx1"/>
                </a:solidFill>
              </a:rPr>
              <a:t>formel</a:t>
            </a:r>
            <a:r>
              <a:rPr lang="en-US" sz="1300" dirty="0">
                <a:solidFill>
                  <a:schemeClr val="tx1"/>
                </a:solidFill>
              </a:rPr>
              <a:t>.</a:t>
            </a:r>
            <a:endParaRPr lang="en-US" sz="1300" dirty="0"/>
          </a:p>
          <a:p>
            <a:pPr algn="ctr" indent="0" marL="0">
              <a:spcAft>
                <a:spcPts val="600"/>
              </a:spcAft>
              <a:buNone/>
            </a:pPr>
            <a:r>
              <a:rPr lang="en-US" sz="1300" b="1" dirty="0">
                <a:solidFill>
                  <a:schemeClr val="tx1"/>
                </a:solidFill>
              </a:rPr>
              <a:t>Ten eerste</a:t>
            </a:r>
            <a:r>
              <a:rPr lang="en-US" sz="1300" dirty="0">
                <a:solidFill>
                  <a:schemeClr val="tx1"/>
                </a:solidFill>
              </a:rPr>
              <a:t> (le dossier) → </a:t>
            </a:r>
            <a:r>
              <a:rPr lang="en-US" sz="1300" b="1" dirty="0">
                <a:solidFill>
                  <a:schemeClr val="tx1"/>
                </a:solidFill>
              </a:rPr>
              <a:t>daarna</a:t>
            </a:r>
            <a:r>
              <a:rPr lang="en-US" sz="1300" dirty="0">
                <a:solidFill>
                  <a:schemeClr val="tx1"/>
                </a:solidFill>
              </a:rPr>
              <a:t> (questions, réponses) → </a:t>
            </a:r>
            <a:r>
              <a:rPr lang="en-US" sz="1300" b="1" dirty="0">
                <a:solidFill>
                  <a:schemeClr val="tx1"/>
                </a:solidFill>
              </a:rPr>
              <a:t>kortom</a:t>
            </a:r>
            <a:r>
              <a:rPr lang="en-US" sz="1300" dirty="0">
                <a:solidFill>
                  <a:schemeClr val="tx1"/>
                </a:solidFill>
              </a:rPr>
              <a:t> (décision, suite).</a:t>
            </a:r>
            <a:endParaRPr lang="en-US" sz="1300" dirty="0"/>
          </a:p>
        </p:txBody>
      </p:sp>
      <p:sp>
        <p:nvSpPr>
          <p:cNvPr id="24" name="Shape 19"/>
          <p:cNvSpPr/>
          <p:nvPr/>
        </p:nvSpPr>
        <p:spPr>
          <a:xfrm>
            <a:off x="548640" y="5605272"/>
            <a:ext cx="11091672" cy="685800"/>
          </a:xfrm>
          <a:prstGeom prst="roundRect">
            <a:avLst>
              <a:gd name="adj" fmla="val 10667"/>
            </a:avLst>
          </a:prstGeom>
          <a:solidFill>
            <a:schemeClr val="accent3">
              <a:alpha val="10000"/>
            </a:schemeClr>
          </a:solidFill>
          <a:ln w="9525">
            <a:solidFill>
              <a:schemeClr val="accent3">
                <a:alpha val="70000"/>
              </a:schemeClr>
            </a:solidFill>
            <a:prstDash val="solid"/>
          </a:ln>
        </p:spPr>
      </p:sp>
      <p:pic>
        <p:nvPicPr>
          <p:cNvPr id="25" name="Image 2" descr="preencoded.png">    </p:cNvPr>
          <p:cNvPicPr>
            <a:picLocks noChangeAspect="1"/>
          </p:cNvPicPr>
          <p:nvPr/>
        </p:nvPicPr>
        <p:blipFill>
          <a:blip r:embed="rId3"/>
          <a:stretch>
            <a:fillRect/>
          </a:stretch>
        </p:blipFill>
        <p:spPr>
          <a:xfrm>
            <a:off x="749808" y="5783580"/>
            <a:ext cx="329184" cy="329184"/>
          </a:xfrm>
          <a:prstGeom prst="rect">
            <a:avLst/>
          </a:prstGeom>
        </p:spPr>
      </p:pic>
      <p:sp>
        <p:nvSpPr>
          <p:cNvPr id="26" name="Text 20"/>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3"/>
                </a:solidFill>
              </a:rPr>
              <a:t>Six tâches, six preuves — </a:t>
            </a:r>
            <a:r>
              <a:rPr lang="en-US" sz="1700" dirty="0">
                <a:solidFill>
                  <a:schemeClr val="tx1"/>
                </a:solidFill>
              </a:rPr>
              <a:t>ce verslag clôt votre dossier personnel de palier.</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 La checklist de réemploi</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21</a:t>
            </a:r>
            <a:endParaRPr lang="en-US" sz="1200" dirty="0"/>
          </a:p>
        </p:txBody>
      </p:sp>
      <p:sp>
        <p:nvSpPr>
          <p:cNvPr id="6" name="Text 3"/>
          <p:cNvSpPr txBox="1"/>
          <p:nvPr/>
        </p:nvSpPr>
        <p:spPr>
          <a:xfrm>
            <a:off x="548640" y="1481328"/>
            <a:ext cx="11091672" cy="344424"/>
          </a:xfrm>
          <a:prstGeom prst="rect">
            <a:avLst/>
          </a:prstGeom>
          <a:noFill/>
          <a:ln/>
        </p:spPr>
        <p:txBody>
          <a:bodyPr wrap="square" lIns="0" tIns="0" rIns="0" bIns="0" rtlCol="0" anchor="t"/>
          <a:lstStyle/>
          <a:p>
            <a:pPr indent="0" marL="0">
              <a:buNone/>
            </a:pPr>
            <a:r>
              <a:rPr lang="en-US" sz="1600" i="1" dirty="0">
                <a:solidFill>
                  <a:schemeClr val="accent5"/>
                </a:solidFill>
              </a:rPr>
              <a:t>Cochez </a:t>
            </a:r>
            <a:r>
              <a:rPr lang="en-US" sz="1600" b="1" i="1" dirty="0">
                <a:solidFill>
                  <a:schemeClr val="accent5"/>
                </a:solidFill>
              </a:rPr>
              <a:t>pendant la préparation</a:t>
            </a:r>
            <a:r>
              <a:rPr lang="en-US" sz="1600" i="1" dirty="0">
                <a:solidFill>
                  <a:schemeClr val="accent5"/>
                </a:solidFill>
              </a:rPr>
              <a:t> : chaque ligne doit vivre dans votre présentation.</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917192"/>
          <a:ext cx="11091672" cy="914400"/>
        </p:xfrm>
        <a:graphic>
          <a:graphicData uri="http://schemas.openxmlformats.org/drawingml/2006/table">
            <a:tbl>
              <a:tblPr/>
              <a:tblGrid>
                <a:gridCol w="7955280"/>
                <a:gridCol w="1737360"/>
                <a:gridCol w="1399032"/>
              </a:tblGrid>
              <a:tr h="628193">
                <a:tc>
                  <a:txBody>
                    <a:bodyPr/>
                    <a:lstStyle/>
                    <a:p>
                      <a:pPr algn="l" indent="0" marL="0">
                        <a:buNone/>
                      </a:pPr>
                      <a:r>
                        <a:rPr lang="en-US" sz="1800" b="1" dirty="0">
                          <a:solidFill>
                            <a:schemeClr val="bg1"/>
                          </a:solidFill>
                        </a:rPr>
                        <a:t>RÉEMPLOI</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MINIMUM</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c>
                  <a:txBody>
                    <a:bodyPr/>
                    <a:lstStyle/>
                    <a:p>
                      <a:pPr algn="l" indent="0" marL="0">
                        <a:buNone/>
                      </a:pPr>
                      <a:r>
                        <a:rPr lang="en-US" sz="1800" b="1" dirty="0">
                          <a:solidFill>
                            <a:schemeClr val="bg1"/>
                          </a:solidFill>
                        </a:rPr>
                        <a:t>✓</a:t>
                      </a:r>
                      <a:endParaRPr lang="en-US" sz="18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tx2"/>
                    </a:solidFill>
                  </a:tcPr>
                </a:tc>
              </a:tr>
              <a:tr h="610819">
                <a:tc>
                  <a:txBody>
                    <a:bodyPr/>
                    <a:lstStyle/>
                    <a:p>
                      <a:pPr algn="l" indent="0" marL="0">
                        <a:buNone/>
                      </a:pPr>
                      <a:r>
                        <a:rPr lang="en-US" sz="2000" dirty="0">
                          <a:solidFill>
                            <a:schemeClr val="tx1"/>
                          </a:solidFill>
                        </a:rPr>
                        <a:t>Relatives (die / dat / met wie / waaraan…)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0819">
                <a:tc>
                  <a:txBody>
                    <a:bodyPr/>
                    <a:lstStyle/>
                    <a:p>
                      <a:pPr algn="l" indent="0" marL="0">
                        <a:buNone/>
                      </a:pPr>
                      <a:r>
                        <a:rPr lang="en-US" sz="2000" dirty="0">
                          <a:solidFill>
                            <a:schemeClr val="tx1"/>
                          </a:solidFill>
                        </a:rPr>
                        <a:t>Adverbes pronominaux (eraan, erop, daarover…)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10819">
                <a:tc>
                  <a:txBody>
                    <a:bodyPr/>
                    <a:lstStyle/>
                    <a:p>
                      <a:pPr algn="l" indent="0" marL="0">
                        <a:buNone/>
                      </a:pPr>
                      <a:r>
                        <a:rPr lang="en-US" sz="2000" dirty="0">
                          <a:solidFill>
                            <a:schemeClr val="tx1"/>
                          </a:solidFill>
                        </a:rPr>
                        <a:t>Subordonnées variées (aangezien, zodra, tenzij, hoewel, toen…)</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4</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0819">
                <a:tc>
                  <a:txBody>
                    <a:bodyPr/>
                    <a:lstStyle/>
                    <a:p>
                      <a:pPr algn="l" indent="0" marL="0">
                        <a:buNone/>
                      </a:pPr>
                      <a:r>
                        <a:rPr lang="en-US" sz="2000" dirty="0">
                          <a:solidFill>
                            <a:schemeClr val="tx1"/>
                          </a:solidFill>
                        </a:rPr>
                        <a:t>Connecteurs (ten eerste, bovendien, daarom, kortom…)</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r h="610819">
                <a:tc>
                  <a:txBody>
                    <a:bodyPr/>
                    <a:lstStyle/>
                    <a:p>
                      <a:pPr algn="l" indent="0" marL="0">
                        <a:buNone/>
                      </a:pPr>
                      <a:r>
                        <a:rPr lang="en-US" sz="2000" dirty="0">
                          <a:solidFill>
                            <a:schemeClr val="tx1"/>
                          </a:solidFill>
                        </a:rPr>
                        <a:t>Lexique du métier (mindmap 5.1 + abréviations des zoekertjes)</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12</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1"/>
                    </a:solidFill>
                  </a:tcPr>
                </a:tc>
              </a:tr>
              <a:tr h="610819">
                <a:tc>
                  <a:txBody>
                    <a:bodyPr/>
                    <a:lstStyle/>
                    <a:p>
                      <a:pPr algn="l" indent="0" marL="0">
                        <a:buNone/>
                      </a:pPr>
                      <a:r>
                        <a:rPr lang="en-US" sz="2000" dirty="0">
                          <a:solidFill>
                            <a:schemeClr val="tx1"/>
                          </a:solidFill>
                        </a:rPr>
                        <a:t>Perfectum (ce qui a déjà été fait dans le dossier)</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3</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c>
                  <a:txBody>
                    <a:bodyPr/>
                    <a:lstStyle/>
                    <a:p>
                      <a:pPr algn="ctr" indent="0" marL="0">
                        <a:buNone/>
                      </a:pPr>
                      <a:r>
                        <a:rPr lang="en-US" sz="2000" dirty="0">
                          <a:solidFill>
                            <a:schemeClr val="tx1"/>
                          </a:solidFill>
                        </a:rPr>
                        <a:t>☐</a:t>
                      </a:r>
                      <a:endParaRPr lang="en-US" sz="2000" dirty="0"/>
                    </a:p>
                  </a:txBody>
                  <a:tcPr marL="91440" marR="91440" marT="54864" marB="54864" anchor="ctr">
                    <a:lnL w="9525" cap="flat" cmpd="sng" algn="ctr">
                      <a:solidFill>
                        <a:srgbClr val="D5DCE6"/>
                      </a:solidFill>
                      <a:prstDash val="solid"/>
                      <a:round/>
                      <a:headEnd type="none" w="med" len="med"/>
                      <a:tailEnd type="none" w="med" len="med"/>
                    </a:lnL>
                    <a:lnR w="9525" cap="flat" cmpd="sng" algn="ctr">
                      <a:solidFill>
                        <a:srgbClr val="D5DCE6"/>
                      </a:solidFill>
                      <a:prstDash val="solid"/>
                      <a:round/>
                      <a:headEnd type="none" w="med" len="med"/>
                      <a:tailEnd type="none" w="med" len="med"/>
                    </a:lnR>
                    <a:lnT w="9525" cap="flat" cmpd="sng" algn="ctr">
                      <a:solidFill>
                        <a:srgbClr val="D5DCE6"/>
                      </a:solidFill>
                      <a:prstDash val="solid"/>
                      <a:round/>
                      <a:headEnd type="none" w="med" len="med"/>
                      <a:tailEnd type="none" w="med" len="med"/>
                    </a:lnT>
                    <a:lnB w="9525" cap="flat" cmpd="sng" algn="ctr">
                      <a:solidFill>
                        <a:srgbClr val="D5DCE6"/>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étape 2 — Trois questions critiques</a:t>
            </a:r>
            <a:endParaRPr lang="en-US" sz="3200" dirty="0"/>
          </a:p>
        </p:txBody>
      </p:sp>
      <p:sp>
        <p:nvSpPr>
          <p:cNvPr id="3" name="tag"/>
          <p:cNvSpPr/>
          <p:nvPr/>
        </p:nvSpPr>
        <p:spPr>
          <a:xfrm>
            <a:off x="548640" y="237744"/>
            <a:ext cx="822960"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chemeClr val="bg1"/>
                </a:solidFill>
              </a:rPr>
              <a:t>ORAL</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t>
            </a:r>
            <a:endParaRPr lang="en-US" sz="1200" dirty="0"/>
          </a:p>
        </p:txBody>
      </p:sp>
      <p:sp>
        <p:nvSpPr>
          <p:cNvPr id="6" name="Text 3"/>
          <p:cNvSpPr txBox="1"/>
          <p:nvPr/>
        </p:nvSpPr>
        <p:spPr>
          <a:xfrm>
            <a:off x="548640" y="1481328"/>
            <a:ext cx="11091672" cy="371856"/>
          </a:xfrm>
          <a:prstGeom prst="rect">
            <a:avLst/>
          </a:prstGeom>
          <a:noFill/>
          <a:ln/>
        </p:spPr>
        <p:txBody>
          <a:bodyPr wrap="square" lIns="0" tIns="0" rIns="0" bIns="0" rtlCol="0" anchor="t"/>
          <a:lstStyle/>
          <a:p>
            <a:pPr indent="0" marL="0">
              <a:buNone/>
            </a:pPr>
            <a:r>
              <a:rPr lang="en-US" sz="1600" i="1" dirty="0">
                <a:solidFill>
                  <a:schemeClr val="accent5"/>
                </a:solidFill>
              </a:rPr>
              <a:t>L’équipe pose </a:t>
            </a:r>
            <a:r>
              <a:rPr lang="en-US" sz="1600" b="1" i="1" dirty="0">
                <a:solidFill>
                  <a:schemeClr val="accent5"/>
                </a:solidFill>
              </a:rPr>
              <a:t>au moins 3 questions critiques</a:t>
            </a:r>
            <a:r>
              <a:rPr lang="en-US" sz="1600" i="1" dirty="0">
                <a:solidFill>
                  <a:schemeClr val="accent5"/>
                </a:solidFill>
              </a:rPr>
              <a:t> ; vous répondez en </a:t>
            </a:r>
            <a:r>
              <a:rPr lang="en-US" sz="1600" b="1" i="1" dirty="0">
                <a:solidFill>
                  <a:schemeClr val="accent5"/>
                </a:solidFill>
              </a:rPr>
              <a:t>improvisant</a:t>
            </a:r>
            <a:r>
              <a:rPr lang="en-US" sz="1600" i="1" dirty="0">
                <a:solidFill>
                  <a:schemeClr val="accent5"/>
                </a:solidFill>
              </a:rPr>
              <a:t>. Exemples de réponses correctes :</a:t>
            </a:r>
            <a:endParaRPr lang="en-US" sz="1600" dirty="0"/>
          </a:p>
        </p:txBody>
      </p:sp>
      <p:sp>
        <p:nvSpPr>
          <p:cNvPr id="7" name="exercise"/>
          <p:cNvSpPr txBox="1"/>
          <p:nvPr/>
        </p:nvSpPr>
        <p:spPr>
          <a:xfrm>
            <a:off x="548640" y="1926336"/>
            <a:ext cx="11091672" cy="4364736"/>
          </a:xfrm>
          <a:prstGeom prst="rect">
            <a:avLst/>
          </a:prstGeom>
          <a:noFill/>
          <a:ln/>
        </p:spPr>
        <p:txBody>
          <a:bodyPr wrap="square" lIns="0" tIns="0" rIns="0" bIns="0" rtlCol="0" anchor="t"/>
          <a:lstStyle/>
          <a:p>
            <a:pPr indent="0" marL="0">
              <a:spcAft>
                <a:spcPts val="400"/>
              </a:spcAft>
              <a:buNone/>
            </a:pPr>
            <a:r>
              <a:rPr lang="en-US" sz="2400" dirty="0">
                <a:solidFill>
                  <a:schemeClr val="tx1"/>
                </a:solidFill>
              </a:rPr>
              <a:t>«Waarom die prijs?»</a:t>
            </a:r>
            <a:endParaRPr lang="en-US" sz="2400" dirty="0"/>
          </a:p>
          <a:p>
            <a:pPr indent="0" marL="0">
              <a:spcAft>
                <a:spcPts val="600"/>
              </a:spcAft>
              <a:buNone/>
            </a:pPr>
            <a:r>
              <a:rPr lang="en-US" sz="2400" b="1" dirty="0">
                <a:solidFill>
                  <a:schemeClr val="accent3"/>
                </a:solidFill>
              </a:rPr>
              <a:t>→ </a:t>
            </a:r>
            <a:r>
              <a:rPr lang="en-US" sz="2400" i="1" dirty="0">
                <a:solidFill>
                  <a:schemeClr val="accent3"/>
                </a:solidFill>
              </a:rPr>
              <a:t>Aangezien de woning volledig gerenoveerd is en vlak bij het station ligt, vragen wij € 425.000.</a:t>
            </a:r>
            <a:endParaRPr lang="en-US" sz="2400" dirty="0"/>
          </a:p>
          <a:p>
            <a:pPr indent="0" marL="0">
              <a:spcAft>
                <a:spcPts val="400"/>
              </a:spcAft>
              <a:buNone/>
            </a:pPr>
            <a:r>
              <a:rPr lang="en-US" sz="2400" dirty="0">
                <a:solidFill>
                  <a:schemeClr val="tx1"/>
                </a:solidFill>
              </a:rPr>
              <a:t>«Waarmee gaat u de kopers overtuigen?»</a:t>
            </a:r>
            <a:endParaRPr lang="en-US" sz="2400" dirty="0"/>
          </a:p>
          <a:p>
            <a:pPr indent="0" marL="0">
              <a:spcAft>
                <a:spcPts val="600"/>
              </a:spcAft>
              <a:buNone/>
            </a:pPr>
            <a:r>
              <a:rPr lang="en-US" sz="2400" b="1" dirty="0">
                <a:solidFill>
                  <a:schemeClr val="accent3"/>
                </a:solidFill>
              </a:rPr>
              <a:t>→ </a:t>
            </a:r>
            <a:r>
              <a:rPr lang="en-US" sz="2400" i="1" dirty="0">
                <a:solidFill>
                  <a:schemeClr val="accent3"/>
                </a:solidFill>
              </a:rPr>
              <a:t>Wij overtuigen hen met goede foto’s, met een stadstuin die op het zuiden ligt en met een eerlijke prijs.</a:t>
            </a:r>
            <a:endParaRPr lang="en-US" sz="2400" dirty="0"/>
          </a:p>
          <a:p>
            <a:pPr indent="0" marL="0">
              <a:spcAft>
                <a:spcPts val="400"/>
              </a:spcAft>
              <a:buNone/>
            </a:pPr>
            <a:r>
              <a:rPr lang="en-US" sz="2400" dirty="0">
                <a:solidFill>
                  <a:schemeClr val="tx1"/>
                </a:solidFill>
              </a:rPr>
              <a:t>«Wat doet u als de bank weigert?»</a:t>
            </a:r>
            <a:endParaRPr lang="en-US" sz="2400" dirty="0"/>
          </a:p>
          <a:p>
            <a:pPr indent="0" marL="0">
              <a:spcAft>
                <a:spcPts val="600"/>
              </a:spcAft>
              <a:buNone/>
            </a:pPr>
            <a:r>
              <a:rPr lang="en-US" sz="2400" b="1" dirty="0">
                <a:solidFill>
                  <a:schemeClr val="accent3"/>
                </a:solidFill>
              </a:rPr>
              <a:t>→ </a:t>
            </a:r>
            <a:r>
              <a:rPr lang="en-US" sz="2400" i="1" dirty="0">
                <a:solidFill>
                  <a:schemeClr val="accent3"/>
                </a:solidFill>
              </a:rPr>
              <a:t>Als de bank de lening weigert, zoeken wij meteen een andere koper, zodat de verkoop niet te lang duurt.</a:t>
            </a:r>
            <a:endParaRPr lang="en-US" sz="2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TAAK 6 étape 3 — Het verslag (modèle)</a:t>
            </a:r>
            <a:endParaRPr lang="en-US" sz="3200" dirty="0"/>
          </a:p>
        </p:txBody>
      </p:sp>
      <p:sp>
        <p:nvSpPr>
          <p:cNvPr id="3" name="tag"/>
          <p:cNvSpPr/>
          <p:nvPr/>
        </p:nvSpPr>
        <p:spPr>
          <a:xfrm>
            <a:off x="548640" y="237744"/>
            <a:ext cx="10744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ÉCRIT</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t>
            </a:r>
            <a:endParaRPr lang="en-US" sz="1200" dirty="0"/>
          </a:p>
        </p:txBody>
      </p:sp>
      <p:sp>
        <p:nvSpPr>
          <p:cNvPr id="6" name="Shape 3"/>
          <p:cNvSpPr/>
          <p:nvPr/>
        </p:nvSpPr>
        <p:spPr>
          <a:xfrm>
            <a:off x="548640" y="1481328"/>
            <a:ext cx="11091672" cy="4809744"/>
          </a:xfrm>
          <a:prstGeom prst="rect">
            <a:avLst/>
          </a:prstGeom>
          <a:solidFill>
            <a:schemeClr val="bg1"/>
          </a:solidFill>
          <a:ln w="12700">
            <a:solidFill>
              <a:srgbClr val="4A5A70"/>
            </a:solidFill>
            <a:prstDash val="dash"/>
          </a:ln>
        </p:spPr>
      </p:sp>
      <p:sp>
        <p:nvSpPr>
          <p:cNvPr id="7" name="tag"/>
          <p:cNvSpPr/>
          <p:nvPr/>
        </p:nvSpPr>
        <p:spPr>
          <a:xfrm>
            <a:off x="777240" y="1645920"/>
            <a:ext cx="1188720"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chemeClr val="bg1"/>
                </a:solidFill>
              </a:rPr>
              <a:t>MODÈLE</a:t>
            </a:r>
            <a:endParaRPr lang="en-US" sz="1200" dirty="0"/>
          </a:p>
        </p:txBody>
      </p:sp>
      <p:sp>
        <p:nvSpPr>
          <p:cNvPr id="8" name="Text 5"/>
          <p:cNvSpPr txBox="1"/>
          <p:nvPr/>
        </p:nvSpPr>
        <p:spPr>
          <a:xfrm>
            <a:off x="2194560" y="1609344"/>
            <a:ext cx="9354312" cy="384048"/>
          </a:xfrm>
          <a:prstGeom prst="rect">
            <a:avLst/>
          </a:prstGeom>
          <a:noFill/>
          <a:ln/>
        </p:spPr>
        <p:txBody>
          <a:bodyPr wrap="square" lIns="0" tIns="0" rIns="0" bIns="0" rtlCol="0" anchor="ctr"/>
          <a:lstStyle/>
          <a:p>
            <a:pPr indent="0" marL="0">
              <a:buNone/>
            </a:pPr>
            <a:r>
              <a:rPr lang="en-US" sz="1800" b="1" dirty="0">
                <a:solidFill>
                  <a:schemeClr val="accent5"/>
                </a:solidFill>
                <a:latin typeface="+mj-lt" pitchFamily="34" charset="0"/>
                <a:ea typeface="+mj-lt" pitchFamily="34" charset="-122"/>
                <a:cs typeface="+mj-lt" pitchFamily="34" charset="-120"/>
              </a:rPr>
              <a:t>Verslag — teamvergadering (rijhuis Sint-Gillis)</a:t>
            </a:r>
            <a:endParaRPr lang="en-US" sz="1800" dirty="0"/>
          </a:p>
        </p:txBody>
      </p:sp>
      <p:sp>
        <p:nvSpPr>
          <p:cNvPr id="9" name="Text 6"/>
          <p:cNvSpPr txBox="1"/>
          <p:nvPr/>
        </p:nvSpPr>
        <p:spPr>
          <a:xfrm>
            <a:off x="777240" y="2148840"/>
            <a:ext cx="10634472" cy="4023360"/>
          </a:xfrm>
          <a:prstGeom prst="rect">
            <a:avLst/>
          </a:prstGeom>
          <a:noFill/>
          <a:ln/>
        </p:spPr>
        <p:txBody>
          <a:bodyPr wrap="square" lIns="0" tIns="0" rIns="0" bIns="0" rtlCol="0" anchor="t"/>
          <a:lstStyle/>
          <a:p>
            <a:pPr indent="0" marL="0">
              <a:spcAft>
                <a:spcPts val="800"/>
              </a:spcAft>
              <a:buNone/>
            </a:pPr>
            <a:r>
              <a:rPr lang="en-US" sz="2100" b="1" dirty="0">
                <a:solidFill>
                  <a:schemeClr val="tx1"/>
                </a:solidFill>
              </a:rPr>
              <a:t>Ten eerste</a:t>
            </a:r>
            <a:r>
              <a:rPr lang="en-US" sz="2100" dirty="0">
                <a:solidFill>
                  <a:schemeClr val="tx1"/>
                </a:solidFill>
              </a:rPr>
              <a:t> hebben Yasmina en Stef het dossier van het rijhuis in Sint-Gillis voorgesteld. Het gaat om een woning die in 2025 volledig gerenoveerd werd en waarvoor de eigenaar € 425.000 vraagt. De advertentie wordt online gezet zodra de foto’s binnen zijn.</a:t>
            </a:r>
            <a:endParaRPr lang="en-US" sz="2100" dirty="0"/>
          </a:p>
          <a:p>
            <a:pPr indent="0" marL="0">
              <a:spcAft>
                <a:spcPts val="800"/>
              </a:spcAft>
              <a:buNone/>
            </a:pPr>
            <a:r>
              <a:rPr lang="en-US" sz="2100" b="1" dirty="0">
                <a:solidFill>
                  <a:schemeClr val="tx1"/>
                </a:solidFill>
              </a:rPr>
              <a:t>Daarna</a:t>
            </a:r>
            <a:r>
              <a:rPr lang="en-US" sz="2100" dirty="0">
                <a:solidFill>
                  <a:schemeClr val="tx1"/>
                </a:solidFill>
              </a:rPr>
              <a:t> heeft het team drie kritische vragen gesteld. Over de prijs hebben Yasmina en Stef uitgelegd dat de woning instapklaar is. De kopers worden overtuigd met goede foto’s en met een stadstuin die op het zuiden ligt. Als de bank de lening weigert, zoeken zij meteen een andere koper.</a:t>
            </a:r>
            <a:endParaRPr lang="en-US" sz="2100" dirty="0"/>
          </a:p>
          <a:p>
            <a:pPr indent="0" marL="0">
              <a:spcAft>
                <a:spcPts val="800"/>
              </a:spcAft>
              <a:buNone/>
            </a:pPr>
            <a:r>
              <a:rPr lang="en-US" sz="2100" b="1" dirty="0">
                <a:solidFill>
                  <a:schemeClr val="tx1"/>
                </a:solidFill>
              </a:rPr>
              <a:t>Kortom</a:t>
            </a:r>
            <a:r>
              <a:rPr lang="en-US" sz="2100" dirty="0">
                <a:solidFill>
                  <a:schemeClr val="tx1"/>
                </a:solidFill>
              </a:rPr>
              <a:t>: het dossier is volledig en de prijs is goed verdedigd. De volgende stap is de eerste bezichtiging, tenzij de eigenaar nog een tweede bod wil afwachten. De directie beslist vrijdag.</a:t>
            </a:r>
            <a:endParaRPr lang="en-US" sz="21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tx2"/>
                </a:solidFill>
              </a:rPr>
              <a:t>Variante Dagelijks leven — Van advertentie tot verkoop</a:t>
            </a:r>
            <a:endParaRPr lang="en-US" sz="3200" dirty="0"/>
          </a:p>
        </p:txBody>
      </p:sp>
      <p:sp>
        <p:nvSpPr>
          <p:cNvPr id="3" name="tag"/>
          <p:cNvSpPr/>
          <p:nvPr/>
        </p:nvSpPr>
        <p:spPr>
          <a:xfrm>
            <a:off x="548640" y="237744"/>
            <a:ext cx="141732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chemeClr val="bg1"/>
                </a:solidFill>
              </a:rPr>
              <a:t>SYNTHÈSE</a:t>
            </a:r>
            <a:endParaRPr lang="en-US" sz="1200" dirty="0"/>
          </a:p>
        </p:txBody>
      </p:sp>
      <p:sp>
        <p:nvSpPr>
          <p:cNvPr id="4" name="Text 2"/>
          <p:cNvSpPr txBox="1"/>
          <p:nvPr/>
        </p:nvSpPr>
        <p:spPr>
          <a:xfrm>
            <a:off x="8897112" y="219456"/>
            <a:ext cx="2743200" cy="347472"/>
          </a:xfrm>
          <a:prstGeom prst="rect">
            <a:avLst/>
          </a:prstGeom>
          <a:noFill/>
          <a:ln/>
        </p:spPr>
        <p:txBody>
          <a:bodyPr wrap="square" lIns="0" tIns="0" rIns="0" bIns="0" rtlCol="0" anchor="ctr"/>
          <a:lstStyle/>
          <a:p>
            <a:pPr algn="r" indent="0" marL="0">
              <a:buNone/>
            </a:pPr>
            <a:r>
              <a:rPr lang="en-US" sz="1200" i="1" dirty="0">
                <a:solidFill>
                  <a:schemeClr val="accent5"/>
                </a:solidFill>
              </a:rPr>
              <a:t>Livret p. 22a</a:t>
            </a:r>
            <a:endParaRPr lang="en-US" sz="1200" dirty="0"/>
          </a:p>
        </p:txBody>
      </p:sp>
      <p:sp>
        <p:nvSpPr>
          <p:cNvPr id="6" name="Shape 3"/>
          <p:cNvSpPr/>
          <p:nvPr/>
        </p:nvSpPr>
        <p:spPr>
          <a:xfrm>
            <a:off x="548640"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7" name="Shape 4"/>
          <p:cNvSpPr/>
          <p:nvPr/>
        </p:nvSpPr>
        <p:spPr>
          <a:xfrm>
            <a:off x="548640" y="1481328"/>
            <a:ext cx="3514344" cy="502920"/>
          </a:xfrm>
          <a:prstGeom prst="roundRect">
            <a:avLst>
              <a:gd name="adj" fmla="val 18182"/>
            </a:avLst>
          </a:prstGeom>
          <a:solidFill>
            <a:schemeClr val="accent2"/>
          </a:solidFill>
          <a:ln/>
        </p:spPr>
      </p:sp>
      <p:sp>
        <p:nvSpPr>
          <p:cNvPr id="8" name="Shape 5"/>
          <p:cNvSpPr/>
          <p:nvPr/>
        </p:nvSpPr>
        <p:spPr>
          <a:xfrm>
            <a:off x="548640" y="1801368"/>
            <a:ext cx="3514344" cy="182880"/>
          </a:xfrm>
          <a:prstGeom prst="rect">
            <a:avLst/>
          </a:prstGeom>
          <a:solidFill>
            <a:schemeClr val="accent2"/>
          </a:solidFill>
          <a:ln w="12700">
            <a:solidFill>
              <a:schemeClr val="accent2"/>
            </a:solidFill>
            <a:prstDash val="solid"/>
          </a:ln>
        </p:spPr>
      </p:sp>
      <p:sp>
        <p:nvSpPr>
          <p:cNvPr id="9" name="Text 6"/>
          <p:cNvSpPr txBox="1"/>
          <p:nvPr/>
        </p:nvSpPr>
        <p:spPr>
          <a:xfrm>
            <a:off x="731520"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① HET DOSSIER</a:t>
            </a:r>
            <a:endParaRPr lang="en-US" sz="1500" dirty="0"/>
          </a:p>
        </p:txBody>
      </p:sp>
      <p:sp>
        <p:nvSpPr>
          <p:cNvPr id="10" name="Text 7"/>
          <p:cNvSpPr txBox="1"/>
          <p:nvPr/>
        </p:nvSpPr>
        <p:spPr>
          <a:xfrm>
            <a:off x="731520" y="2084832"/>
            <a:ext cx="3148584" cy="405384"/>
          </a:xfrm>
          <a:prstGeom prst="rect">
            <a:avLst/>
          </a:prstGeom>
          <a:noFill/>
          <a:ln/>
        </p:spPr>
        <p:txBody>
          <a:bodyPr wrap="square" lIns="0" tIns="0" rIns="0" bIns="0" rtlCol="0" anchor="t"/>
          <a:lstStyle/>
          <a:p>
            <a:pPr indent="0" marL="0">
              <a:buNone/>
            </a:pPr>
            <a:r>
              <a:rPr lang="en-US" sz="2400" b="1" dirty="0">
                <a:solidFill>
                  <a:schemeClr val="accent2"/>
                </a:solidFill>
                <a:latin typeface="+mj-lt" pitchFamily="34" charset="0"/>
                <a:ea typeface="+mj-lt" pitchFamily="34" charset="-122"/>
                <a:cs typeface="+mj-lt" pitchFamily="34" charset="-120"/>
              </a:rPr>
              <a:t>un objet à vendre</a:t>
            </a:r>
            <a:endParaRPr lang="en-US" sz="2400" dirty="0"/>
          </a:p>
        </p:txBody>
      </p:sp>
      <p:sp>
        <p:nvSpPr>
          <p:cNvPr id="11" name="Text 8"/>
          <p:cNvSpPr txBox="1"/>
          <p:nvPr/>
        </p:nvSpPr>
        <p:spPr>
          <a:xfrm>
            <a:off x="731520" y="2627376"/>
            <a:ext cx="3148584" cy="2667000"/>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Vélo, meuble, appareil…</a:t>
            </a:r>
            <a:endParaRPr lang="en-US" sz="2000" dirty="0"/>
          </a:p>
          <a:p>
            <a:pPr marL="177800" indent="-177800">
              <a:spcAft>
                <a:spcPts val="600"/>
              </a:spcAft>
              <a:buSzPct val="100000"/>
              <a:buChar char="•"/>
            </a:pPr>
            <a:r>
              <a:rPr lang="en-US" sz="2000" dirty="0">
                <a:solidFill>
                  <a:schemeClr val="tx1"/>
                </a:solidFill>
              </a:rPr>
              <a:t>L’</a:t>
            </a:r>
            <a:r>
              <a:rPr lang="en-US" sz="2000" b="1" dirty="0">
                <a:solidFill>
                  <a:schemeClr val="tx1"/>
                </a:solidFill>
              </a:rPr>
              <a:t>annonce</a:t>
            </a:r>
            <a:r>
              <a:rPr lang="en-US" sz="2000" dirty="0">
                <a:solidFill>
                  <a:schemeClr val="tx1"/>
                </a:solidFill>
              </a:rPr>
              <a:t> (méthode D2)</a:t>
            </a:r>
            <a:endParaRPr lang="en-US" sz="2000" dirty="0"/>
          </a:p>
          <a:p>
            <a:pPr marL="177800" indent="-177800">
              <a:spcAft>
                <a:spcPts val="600"/>
              </a:spcAft>
              <a:buSzPct val="100000"/>
              <a:buChar char="•"/>
            </a:pPr>
            <a:r>
              <a:rPr lang="en-US" sz="2000" dirty="0">
                <a:solidFill>
                  <a:schemeClr val="tx1"/>
                </a:solidFill>
              </a:rPr>
              <a:t>Les </a:t>
            </a:r>
            <a:r>
              <a:rPr lang="en-US" sz="2000" b="1" dirty="0">
                <a:solidFill>
                  <a:schemeClr val="tx1"/>
                </a:solidFill>
              </a:rPr>
              <a:t>messages</a:t>
            </a:r>
            <a:r>
              <a:rPr lang="en-US" sz="2000" dirty="0">
                <a:solidFill>
                  <a:schemeClr val="tx1"/>
                </a:solidFill>
              </a:rPr>
              <a:t> avec l’acheteur (D4)</a:t>
            </a:r>
            <a:endParaRPr lang="en-US" sz="2000" dirty="0"/>
          </a:p>
          <a:p>
            <a:pPr marL="177800" indent="-177800">
              <a:spcAft>
                <a:spcPts val="600"/>
              </a:spcAft>
              <a:buSzPct val="100000"/>
              <a:buChar char="•"/>
            </a:pPr>
            <a:r>
              <a:rPr lang="en-US" sz="2000" dirty="0">
                <a:solidFill>
                  <a:schemeClr val="tx1"/>
                </a:solidFill>
              </a:rPr>
              <a:t>Votre </a:t>
            </a:r>
            <a:r>
              <a:rPr lang="en-US" sz="2000" b="1" dirty="0">
                <a:solidFill>
                  <a:schemeClr val="tx1"/>
                </a:solidFill>
              </a:rPr>
              <a:t>prix plancher</a:t>
            </a:r>
            <a:r>
              <a:rPr lang="en-US" sz="2000" dirty="0">
                <a:solidFill>
                  <a:schemeClr val="tx1"/>
                </a:solidFill>
              </a:rPr>
              <a:t> et vos arguments (D5)</a:t>
            </a:r>
            <a:endParaRPr lang="en-US" sz="2000" dirty="0"/>
          </a:p>
        </p:txBody>
      </p:sp>
      <p:sp>
        <p:nvSpPr>
          <p:cNvPr id="12" name="Shape 9"/>
          <p:cNvSpPr/>
          <p:nvPr/>
        </p:nvSpPr>
        <p:spPr>
          <a:xfrm>
            <a:off x="4337304"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3" name="Shape 10"/>
          <p:cNvSpPr/>
          <p:nvPr/>
        </p:nvSpPr>
        <p:spPr>
          <a:xfrm>
            <a:off x="4337304" y="1481328"/>
            <a:ext cx="3514344" cy="502920"/>
          </a:xfrm>
          <a:prstGeom prst="roundRect">
            <a:avLst>
              <a:gd name="adj" fmla="val 18182"/>
            </a:avLst>
          </a:prstGeom>
          <a:solidFill>
            <a:schemeClr val="accent1"/>
          </a:solidFill>
          <a:ln/>
        </p:spPr>
      </p:sp>
      <p:sp>
        <p:nvSpPr>
          <p:cNvPr id="14" name="Shape 11"/>
          <p:cNvSpPr/>
          <p:nvPr/>
        </p:nvSpPr>
        <p:spPr>
          <a:xfrm>
            <a:off x="4337304" y="1801368"/>
            <a:ext cx="3514344" cy="182880"/>
          </a:xfrm>
          <a:prstGeom prst="rect">
            <a:avLst/>
          </a:prstGeom>
          <a:solidFill>
            <a:schemeClr val="accent1"/>
          </a:solidFill>
          <a:ln w="12700">
            <a:solidFill>
              <a:schemeClr val="accent1"/>
            </a:solidFill>
            <a:prstDash val="solid"/>
          </a:ln>
        </p:spPr>
      </p:sp>
      <p:sp>
        <p:nvSpPr>
          <p:cNvPr id="15" name="Text 12"/>
          <p:cNvSpPr txBox="1"/>
          <p:nvPr/>
        </p:nvSpPr>
        <p:spPr>
          <a:xfrm>
            <a:off x="4520184"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② HET GESPREK</a:t>
            </a:r>
            <a:endParaRPr lang="en-US" sz="1500" dirty="0"/>
          </a:p>
        </p:txBody>
      </p:sp>
      <p:sp>
        <p:nvSpPr>
          <p:cNvPr id="16" name="Text 13"/>
          <p:cNvSpPr txBox="1"/>
          <p:nvPr/>
        </p:nvSpPr>
        <p:spPr>
          <a:xfrm>
            <a:off x="4520184" y="2084832"/>
            <a:ext cx="3148584" cy="405384"/>
          </a:xfrm>
          <a:prstGeom prst="rect">
            <a:avLst/>
          </a:prstGeom>
          <a:noFill/>
          <a:ln/>
        </p:spPr>
        <p:txBody>
          <a:bodyPr wrap="square" lIns="0" tIns="0" rIns="0" bIns="0" rtlCol="0" anchor="t"/>
          <a:lstStyle/>
          <a:p>
            <a:pPr indent="0" marL="0">
              <a:buNone/>
            </a:pPr>
            <a:r>
              <a:rPr lang="en-US" sz="2400" b="1" dirty="0">
                <a:solidFill>
                  <a:schemeClr val="accent1"/>
                </a:solidFill>
                <a:latin typeface="+mj-lt" pitchFamily="34" charset="0"/>
                <a:ea typeface="+mj-lt" pitchFamily="34" charset="-122"/>
                <a:cs typeface="+mj-lt" pitchFamily="34" charset="-120"/>
              </a:rPr>
              <a:t>à deux voix</a:t>
            </a:r>
            <a:endParaRPr lang="en-US" sz="2400" dirty="0"/>
          </a:p>
        </p:txBody>
      </p:sp>
      <p:sp>
        <p:nvSpPr>
          <p:cNvPr id="17" name="Text 14"/>
          <p:cNvSpPr txBox="1"/>
          <p:nvPr/>
        </p:nvSpPr>
        <p:spPr>
          <a:xfrm>
            <a:off x="4520184" y="2627376"/>
            <a:ext cx="3148584" cy="2667000"/>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Vous racontez </a:t>
            </a:r>
            <a:r>
              <a:rPr lang="en-US" sz="2000" b="1" dirty="0">
                <a:solidFill>
                  <a:schemeClr val="tx1"/>
                </a:solidFill>
              </a:rPr>
              <a:t>la vente</a:t>
            </a:r>
            <a:r>
              <a:rPr lang="en-US" sz="2000" dirty="0">
                <a:solidFill>
                  <a:schemeClr val="tx1"/>
                </a:solidFill>
              </a:rPr>
              <a:t> devant un binôme d’amis curieux.</a:t>
            </a:r>
            <a:endParaRPr lang="en-US" sz="2000" dirty="0"/>
          </a:p>
          <a:p>
            <a:pPr marL="177800" indent="-177800">
              <a:spcAft>
                <a:spcPts val="600"/>
              </a:spcAft>
              <a:buSzPct val="100000"/>
              <a:buChar char="•"/>
            </a:pPr>
            <a:r>
              <a:rPr lang="en-US" sz="2000" i="1" dirty="0">
                <a:solidFill>
                  <a:schemeClr val="tx1"/>
                </a:solidFill>
              </a:rPr>
              <a:t>Waarom die prijs? · Waarover hebben jullie onderhandeld? · Wat doe je als de koper niet komt opdagen?</a:t>
            </a:r>
            <a:endParaRPr lang="en-US" sz="2000" dirty="0"/>
          </a:p>
        </p:txBody>
      </p:sp>
      <p:sp>
        <p:nvSpPr>
          <p:cNvPr id="18" name="Shape 15"/>
          <p:cNvSpPr/>
          <p:nvPr/>
        </p:nvSpPr>
        <p:spPr>
          <a:xfrm>
            <a:off x="8125968" y="1481328"/>
            <a:ext cx="3514344" cy="3922776"/>
          </a:xfrm>
          <a:prstGeom prst="roundRect">
            <a:avLst>
              <a:gd name="adj" fmla="val 2602"/>
            </a:avLst>
          </a:prstGeom>
          <a:solidFill>
            <a:schemeClr val="bg1"/>
          </a:solidFill>
          <a:ln w="12700">
            <a:solidFill>
              <a:srgbClr val="D5DCE6"/>
            </a:solidFill>
            <a:prstDash val="solid"/>
          </a:ln>
          <a:effectLst>
            <a:outerShdw sx="100000" sy="100000" kx="0" ky="0" algn="bl" rotWithShape="0" blurRad="101600" dist="25400" dir="3600000">
              <a:srgbClr val="000000">
                <a:alpha val="18000"/>
              </a:srgbClr>
            </a:outerShdw>
          </a:effectLst>
        </p:spPr>
      </p:sp>
      <p:sp>
        <p:nvSpPr>
          <p:cNvPr id="19" name="Shape 16"/>
          <p:cNvSpPr/>
          <p:nvPr/>
        </p:nvSpPr>
        <p:spPr>
          <a:xfrm>
            <a:off x="8125968" y="1481328"/>
            <a:ext cx="3514344" cy="502920"/>
          </a:xfrm>
          <a:prstGeom prst="roundRect">
            <a:avLst>
              <a:gd name="adj" fmla="val 18182"/>
            </a:avLst>
          </a:prstGeom>
          <a:solidFill>
            <a:schemeClr val="accent3"/>
          </a:solidFill>
          <a:ln/>
        </p:spPr>
      </p:sp>
      <p:sp>
        <p:nvSpPr>
          <p:cNvPr id="20" name="Shape 17"/>
          <p:cNvSpPr/>
          <p:nvPr/>
        </p:nvSpPr>
        <p:spPr>
          <a:xfrm>
            <a:off x="8125968" y="1801368"/>
            <a:ext cx="3514344" cy="182880"/>
          </a:xfrm>
          <a:prstGeom prst="rect">
            <a:avLst/>
          </a:prstGeom>
          <a:solidFill>
            <a:schemeClr val="accent3"/>
          </a:solidFill>
          <a:ln w="12700">
            <a:solidFill>
              <a:schemeClr val="accent3"/>
            </a:solidFill>
            <a:prstDash val="solid"/>
          </a:ln>
        </p:spPr>
      </p:sp>
      <p:sp>
        <p:nvSpPr>
          <p:cNvPr id="21" name="Text 18"/>
          <p:cNvSpPr txBox="1"/>
          <p:nvPr/>
        </p:nvSpPr>
        <p:spPr>
          <a:xfrm>
            <a:off x="8308848" y="1481328"/>
            <a:ext cx="3148584" cy="502920"/>
          </a:xfrm>
          <a:prstGeom prst="rect">
            <a:avLst/>
          </a:prstGeom>
          <a:noFill/>
          <a:ln/>
        </p:spPr>
        <p:txBody>
          <a:bodyPr wrap="square" lIns="0" tIns="0" rIns="0" bIns="0" rtlCol="0" anchor="ctr"/>
          <a:lstStyle/>
          <a:p>
            <a:pPr indent="0" marL="0">
              <a:buNone/>
            </a:pPr>
            <a:r>
              <a:rPr lang="en-US" sz="1500" b="1" spc="100" kern="0" dirty="0">
                <a:solidFill>
                  <a:schemeClr val="bg1"/>
                </a:solidFill>
              </a:rPr>
              <a:t>③ HET BERICHTJE</a:t>
            </a:r>
            <a:endParaRPr lang="en-US" sz="1500" dirty="0"/>
          </a:p>
        </p:txBody>
      </p:sp>
      <p:sp>
        <p:nvSpPr>
          <p:cNvPr id="22" name="Text 19"/>
          <p:cNvSpPr txBox="1"/>
          <p:nvPr/>
        </p:nvSpPr>
        <p:spPr>
          <a:xfrm>
            <a:off x="8308848" y="2084832"/>
            <a:ext cx="3148584" cy="405384"/>
          </a:xfrm>
          <a:prstGeom prst="rect">
            <a:avLst/>
          </a:prstGeom>
          <a:noFill/>
          <a:ln/>
        </p:spPr>
        <p:txBody>
          <a:bodyPr wrap="square" lIns="0" tIns="0" rIns="0" bIns="0" rtlCol="0" anchor="t"/>
          <a:lstStyle/>
          <a:p>
            <a:pPr indent="0" marL="0">
              <a:buNone/>
            </a:pPr>
            <a:r>
              <a:rPr lang="en-US" sz="2400" b="1" dirty="0">
                <a:solidFill>
                  <a:schemeClr val="accent3"/>
                </a:solidFill>
                <a:latin typeface="+mj-lt" pitchFamily="34" charset="0"/>
                <a:ea typeface="+mj-lt" pitchFamily="34" charset="-122"/>
                <a:cs typeface="+mj-lt" pitchFamily="34" charset="-120"/>
              </a:rPr>
              <a:t>8 à 10 phrases</a:t>
            </a:r>
            <a:endParaRPr lang="en-US" sz="2400" dirty="0"/>
          </a:p>
        </p:txBody>
      </p:sp>
      <p:sp>
        <p:nvSpPr>
          <p:cNvPr id="23" name="Text 20"/>
          <p:cNvSpPr txBox="1"/>
          <p:nvPr/>
        </p:nvSpPr>
        <p:spPr>
          <a:xfrm>
            <a:off x="8308848" y="2627376"/>
            <a:ext cx="3148584" cy="2667000"/>
          </a:xfrm>
          <a:prstGeom prst="rect">
            <a:avLst/>
          </a:prstGeom>
          <a:noFill/>
          <a:ln/>
        </p:spPr>
        <p:txBody>
          <a:bodyPr wrap="square" lIns="0" tIns="0" rIns="0" bIns="0" rtlCol="0" anchor="t"/>
          <a:lstStyle/>
          <a:p>
            <a:pPr marL="177800" indent="-177800">
              <a:spcAft>
                <a:spcPts val="600"/>
              </a:spcAft>
              <a:buSzPct val="100000"/>
              <a:buChar char="•"/>
            </a:pPr>
            <a:r>
              <a:rPr lang="en-US" sz="2000" dirty="0">
                <a:solidFill>
                  <a:schemeClr val="tx1"/>
                </a:solidFill>
              </a:rPr>
              <a:t>Message à un </a:t>
            </a:r>
            <a:r>
              <a:rPr lang="en-US" sz="2000" b="1" dirty="0">
                <a:solidFill>
                  <a:schemeClr val="tx1"/>
                </a:solidFill>
              </a:rPr>
              <a:t>ami</a:t>
            </a:r>
            <a:r>
              <a:rPr lang="en-US" sz="2000" dirty="0">
                <a:solidFill>
                  <a:schemeClr val="tx1"/>
                </a:solidFill>
              </a:rPr>
              <a:t>, registre </a:t>
            </a:r>
            <a:r>
              <a:rPr lang="en-US" sz="2000" b="1" dirty="0">
                <a:solidFill>
                  <a:schemeClr val="tx1"/>
                </a:solidFill>
              </a:rPr>
              <a:t>informel</a:t>
            </a:r>
            <a:r>
              <a:rPr lang="en-US" sz="2000" dirty="0">
                <a:solidFill>
                  <a:schemeClr val="tx1"/>
                </a:solidFill>
              </a:rPr>
              <a:t>.</a:t>
            </a:r>
            <a:endParaRPr lang="en-US" sz="2000" dirty="0"/>
          </a:p>
          <a:p>
            <a:pPr marL="177800" indent="-177800">
              <a:spcAft>
                <a:spcPts val="600"/>
              </a:spcAft>
              <a:buSzPct val="100000"/>
              <a:buChar char="•"/>
            </a:pPr>
            <a:r>
              <a:rPr lang="en-US" sz="2000" dirty="0">
                <a:solidFill>
                  <a:schemeClr val="tx1"/>
                </a:solidFill>
              </a:rPr>
              <a:t>Il raconte la vente.</a:t>
            </a:r>
            <a:endParaRPr lang="en-US" sz="2000" dirty="0"/>
          </a:p>
          <a:p>
            <a:pPr marL="177800" indent="-177800">
              <a:spcAft>
                <a:spcPts val="600"/>
              </a:spcAft>
              <a:buSzPct val="100000"/>
              <a:buChar char="•"/>
            </a:pPr>
            <a:r>
              <a:rPr lang="en-US" sz="2000" b="1" dirty="0">
                <a:solidFill>
                  <a:schemeClr val="tx1"/>
                </a:solidFill>
              </a:rPr>
              <a:t>Ten eerste → daarna → kortom</a:t>
            </a:r>
            <a:endParaRPr lang="en-US" sz="2000" dirty="0"/>
          </a:p>
        </p:txBody>
      </p:sp>
      <p:sp>
        <p:nvSpPr>
          <p:cNvPr id="24" name="Shape 21"/>
          <p:cNvSpPr/>
          <p:nvPr/>
        </p:nvSpPr>
        <p:spPr>
          <a:xfrm>
            <a:off x="548640" y="5605272"/>
            <a:ext cx="11091672" cy="685800"/>
          </a:xfrm>
          <a:prstGeom prst="roundRect">
            <a:avLst>
              <a:gd name="adj" fmla="val 10667"/>
            </a:avLst>
          </a:prstGeom>
          <a:solidFill>
            <a:schemeClr val="accent3">
              <a:alpha val="10000"/>
            </a:schemeClr>
          </a:solidFill>
          <a:ln w="9525">
            <a:solidFill>
              <a:schemeClr val="accent3">
                <a:alpha val="70000"/>
              </a:schemeClr>
            </a:solidFill>
            <a:prstDash val="solid"/>
          </a:ln>
        </p:spPr>
      </p:sp>
      <p:pic>
        <p:nvPicPr>
          <p:cNvPr id="25" name="Image 0" descr="preencoded.png">    </p:cNvPr>
          <p:cNvPicPr>
            <a:picLocks noChangeAspect="1"/>
          </p:cNvPicPr>
          <p:nvPr/>
        </p:nvPicPr>
        <p:blipFill>
          <a:blip r:embed="rId1"/>
          <a:stretch>
            <a:fillRect/>
          </a:stretch>
        </p:blipFill>
        <p:spPr>
          <a:xfrm>
            <a:off x="749808" y="5783580"/>
            <a:ext cx="329184" cy="329184"/>
          </a:xfrm>
          <a:prstGeom prst="rect">
            <a:avLst/>
          </a:prstGeom>
        </p:spPr>
      </p:pic>
      <p:sp>
        <p:nvSpPr>
          <p:cNvPr id="26" name="Text 22"/>
          <p:cNvSpPr txBox="1"/>
          <p:nvPr/>
        </p:nvSpPr>
        <p:spPr>
          <a:xfrm>
            <a:off x="1234440" y="5641848"/>
            <a:ext cx="10287000" cy="612648"/>
          </a:xfrm>
          <a:prstGeom prst="rect">
            <a:avLst/>
          </a:prstGeom>
          <a:noFill/>
          <a:ln/>
        </p:spPr>
        <p:txBody>
          <a:bodyPr wrap="square" lIns="0" tIns="0" rIns="0" bIns="0" rtlCol="0" anchor="ctr"/>
          <a:lstStyle/>
          <a:p>
            <a:pPr indent="0" marL="0">
              <a:buNone/>
            </a:pPr>
            <a:r>
              <a:rPr lang="en-US" sz="1700" b="1" dirty="0">
                <a:solidFill>
                  <a:schemeClr val="accent3"/>
                </a:solidFill>
              </a:rPr>
              <a:t>Checklist — </a:t>
            </a:r>
            <a:r>
              <a:rPr lang="en-US" sz="1700" dirty="0">
                <a:solidFill>
                  <a:schemeClr val="tx1"/>
                </a:solidFill>
              </a:rPr>
              <a:t>identique, sauf « Lexique du métier » → « Lexique du quotidien (activités D1 à D5) » : minimum 12.</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200" b="1" dirty="0">
                <a:solidFill>
                  <a:schemeClr val="bg1"/>
                </a:solidFill>
              </a:rPr>
              <a:t>Tot de volgende keer!</a:t>
            </a:r>
            <a:endParaRPr lang="en-US" sz="3200" dirty="0"/>
          </a:p>
        </p:txBody>
      </p:sp>
      <p:sp>
        <p:nvSpPr>
          <p:cNvPr id="3" name="tag"/>
          <p:cNvSpPr/>
          <p:nvPr/>
        </p:nvSpPr>
        <p:spPr>
          <a:xfrm>
            <a:off x="548640" y="237744"/>
            <a:ext cx="1988820"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chemeClr val="bg1"/>
                </a:solidFill>
              </a:rPr>
              <a:t>FIN DE SÉANCE</a:t>
            </a:r>
            <a:endParaRPr lang="en-US" sz="1200" dirty="0"/>
          </a:p>
        </p:txBody>
      </p:sp>
      <p:sp>
        <p:nvSpPr>
          <p:cNvPr id="4" name="Shape 2"/>
          <p:cNvSpPr/>
          <p:nvPr/>
        </p:nvSpPr>
        <p:spPr>
          <a:xfrm>
            <a:off x="548640" y="1554480"/>
            <a:ext cx="6035040" cy="3108960"/>
          </a:xfrm>
          <a:prstGeom prst="roundRect">
            <a:avLst>
              <a:gd name="adj" fmla="val 2941"/>
            </a:avLst>
          </a:prstGeom>
          <a:solidFill>
            <a:schemeClr val="bg1">
              <a:alpha val="10000"/>
            </a:schemeClr>
          </a:solidFill>
          <a:ln w="12700">
            <a:solidFill>
              <a:srgbClr val="EEF3F8"/>
            </a:solidFill>
            <a:prstDash val="solid"/>
          </a:ln>
        </p:spPr>
      </p:sp>
      <p:sp>
        <p:nvSpPr>
          <p:cNvPr id="5" name="Text 3"/>
          <p:cNvSpPr txBox="1"/>
          <p:nvPr/>
        </p:nvSpPr>
        <p:spPr>
          <a:xfrm>
            <a:off x="822960" y="1737360"/>
            <a:ext cx="5486400" cy="320040"/>
          </a:xfrm>
          <a:prstGeom prst="rect">
            <a:avLst/>
          </a:prstGeom>
          <a:noFill/>
          <a:ln/>
        </p:spPr>
        <p:txBody>
          <a:bodyPr wrap="square" lIns="0" tIns="0" rIns="0" bIns="0" rtlCol="0" anchor="ctr"/>
          <a:lstStyle/>
          <a:p>
            <a:pPr indent="0" marL="0">
              <a:buNone/>
            </a:pPr>
            <a:r>
              <a:rPr lang="en-US" sz="1300" b="1" spc="200" kern="0" dirty="0">
                <a:solidFill>
                  <a:schemeClr val="accent1"/>
                </a:solidFill>
              </a:rPr>
              <a:t>LA PROCHAINE FOIS</a:t>
            </a:r>
            <a:endParaRPr lang="en-US" sz="1300" dirty="0"/>
          </a:p>
        </p:txBody>
      </p:sp>
      <p:sp>
        <p:nvSpPr>
          <p:cNvPr id="6" name="Text 4"/>
          <p:cNvSpPr txBox="1"/>
          <p:nvPr/>
        </p:nvSpPr>
        <p:spPr>
          <a:xfrm>
            <a:off x="822960" y="2148840"/>
            <a:ext cx="5486400" cy="2377440"/>
          </a:xfrm>
          <a:prstGeom prst="rect">
            <a:avLst/>
          </a:prstGeom>
          <a:noFill/>
          <a:ln/>
        </p:spPr>
        <p:txBody>
          <a:bodyPr wrap="square" lIns="0" tIns="0" rIns="0" bIns="0" rtlCol="0" anchor="t"/>
          <a:lstStyle/>
          <a:p>
            <a:pPr indent="0" marL="0">
              <a:buNone/>
            </a:pPr>
            <a:r>
              <a:rPr lang="en-US" sz="2400" i="1" dirty="0">
                <a:solidFill>
                  <a:schemeClr val="bg1"/>
                </a:solidFill>
                <a:latin typeface="+mj-lt" pitchFamily="34" charset="0"/>
                <a:ea typeface="+mj-lt" pitchFamily="34" charset="-122"/>
                <a:cs typeface="+mj-lt" pitchFamily="34" charset="-120"/>
              </a:rPr>
              <a:t>Palier 6 : </a:t>
            </a:r>
            <a:r>
              <a:rPr lang="en-US" sz="2400" b="1" i="1" dirty="0">
                <a:solidFill>
                  <a:schemeClr val="bg1"/>
                </a:solidFill>
                <a:latin typeface="+mj-lt" pitchFamily="34" charset="0"/>
                <a:ea typeface="+mj-lt" pitchFamily="34" charset="-122"/>
                <a:cs typeface="+mj-lt" pitchFamily="34" charset="-120"/>
              </a:rPr>
              <a:t>Verhuur &amp; beheer</a:t>
            </a:r>
            <a:r>
              <a:rPr lang="en-US" sz="2400" i="1" dirty="0">
                <a:solidFill>
                  <a:schemeClr val="bg1"/>
                </a:solidFill>
                <a:latin typeface="+mj-lt" pitchFamily="34" charset="0"/>
                <a:ea typeface="+mj-lt" pitchFamily="34" charset="-122"/>
                <a:cs typeface="+mj-lt" pitchFamily="34" charset="-120"/>
              </a:rPr>
              <a:t> — on passe de la </a:t>
            </a:r>
            <a:r>
              <a:rPr lang="en-US" sz="2400" b="1" i="1" dirty="0">
                <a:solidFill>
                  <a:schemeClr val="bg1"/>
                </a:solidFill>
                <a:latin typeface="+mj-lt" pitchFamily="34" charset="0"/>
                <a:ea typeface="+mj-lt" pitchFamily="34" charset="-122"/>
                <a:cs typeface="+mj-lt" pitchFamily="34" charset="-120"/>
              </a:rPr>
              <a:t>vente</a:t>
            </a:r>
            <a:r>
              <a:rPr lang="en-US" sz="2400" i="1" dirty="0">
                <a:solidFill>
                  <a:schemeClr val="bg1"/>
                </a:solidFill>
                <a:latin typeface="+mj-lt" pitchFamily="34" charset="0"/>
                <a:ea typeface="+mj-lt" pitchFamily="34" charset="-122"/>
                <a:cs typeface="+mj-lt" pitchFamily="34" charset="-120"/>
              </a:rPr>
              <a:t> à la </a:t>
            </a:r>
            <a:r>
              <a:rPr lang="en-US" sz="2400" b="1" i="1" dirty="0">
                <a:solidFill>
                  <a:schemeClr val="bg1"/>
                </a:solidFill>
                <a:latin typeface="+mj-lt" pitchFamily="34" charset="0"/>
                <a:ea typeface="+mj-lt" pitchFamily="34" charset="-122"/>
                <a:cs typeface="+mj-lt" pitchFamily="34" charset="-120"/>
              </a:rPr>
              <a:t>location</a:t>
            </a:r>
            <a:r>
              <a:rPr lang="en-US" sz="2400" i="1" dirty="0">
                <a:solidFill>
                  <a:schemeClr val="bg1"/>
                </a:solidFill>
                <a:latin typeface="+mj-lt" pitchFamily="34" charset="0"/>
                <a:ea typeface="+mj-lt" pitchFamily="34" charset="-122"/>
                <a:cs typeface="+mj-lt" pitchFamily="34" charset="-120"/>
              </a:rPr>
              <a:t> et à la </a:t>
            </a:r>
            <a:r>
              <a:rPr lang="en-US" sz="2400" b="1" i="1" dirty="0">
                <a:solidFill>
                  <a:schemeClr val="bg1"/>
                </a:solidFill>
                <a:latin typeface="+mj-lt" pitchFamily="34" charset="0"/>
                <a:ea typeface="+mj-lt" pitchFamily="34" charset="-122"/>
                <a:cs typeface="+mj-lt" pitchFamily="34" charset="-120"/>
              </a:rPr>
              <a:t>gestion</a:t>
            </a:r>
            <a:r>
              <a:rPr lang="en-US" sz="2400" i="1" dirty="0">
                <a:solidFill>
                  <a:schemeClr val="bg1"/>
                </a:solidFill>
                <a:latin typeface="+mj-lt" pitchFamily="34" charset="0"/>
                <a:ea typeface="+mj-lt" pitchFamily="34" charset="-122"/>
                <a:cs typeface="+mj-lt" pitchFamily="34" charset="-120"/>
              </a:rPr>
              <a:t> d’un bien.</a:t>
            </a:r>
            <a:endParaRPr lang="en-US" sz="2400" dirty="0"/>
          </a:p>
        </p:txBody>
      </p:sp>
      <p:sp>
        <p:nvSpPr>
          <p:cNvPr id="7" name="Shape 5"/>
          <p:cNvSpPr/>
          <p:nvPr/>
        </p:nvSpPr>
        <p:spPr>
          <a:xfrm>
            <a:off x="6903720" y="1554480"/>
            <a:ext cx="4736592" cy="4709160"/>
          </a:xfrm>
          <a:prstGeom prst="roundRect">
            <a:avLst>
              <a:gd name="adj" fmla="val 1942"/>
            </a:avLst>
          </a:prstGeom>
          <a:solidFill>
            <a:schemeClr val="bg1"/>
          </a:solidFill>
          <a:ln/>
        </p:spPr>
      </p:sp>
      <p:pic>
        <p:nvPicPr>
          <p:cNvPr id="8" name="Image 0" descr="preencoded.png">    </p:cNvPr>
          <p:cNvPicPr>
            <a:picLocks noChangeAspect="1"/>
          </p:cNvPicPr>
          <p:nvPr/>
        </p:nvPicPr>
        <p:blipFill>
          <a:blip r:embed="rId1"/>
          <a:stretch>
            <a:fillRect/>
          </a:stretch>
        </p:blipFill>
        <p:spPr>
          <a:xfrm>
            <a:off x="7132320" y="1755648"/>
            <a:ext cx="365760" cy="365760"/>
          </a:xfrm>
          <a:prstGeom prst="rect">
            <a:avLst/>
          </a:prstGeom>
        </p:spPr>
      </p:pic>
      <p:sp>
        <p:nvSpPr>
          <p:cNvPr id="9" name="Text 6"/>
          <p:cNvSpPr txBox="1"/>
          <p:nvPr/>
        </p:nvSpPr>
        <p:spPr>
          <a:xfrm>
            <a:off x="7635240" y="1737360"/>
            <a:ext cx="3840480" cy="384048"/>
          </a:xfrm>
          <a:prstGeom prst="rect">
            <a:avLst/>
          </a:prstGeom>
          <a:noFill/>
          <a:ln/>
        </p:spPr>
        <p:txBody>
          <a:bodyPr wrap="square" lIns="0" tIns="0" rIns="0" bIns="0" rtlCol="0" anchor="ctr"/>
          <a:lstStyle/>
          <a:p>
            <a:pPr indent="0" marL="0">
              <a:buNone/>
            </a:pPr>
            <a:r>
              <a:rPr lang="en-US" sz="1400" b="1" spc="100" kern="0" dirty="0">
                <a:solidFill>
                  <a:schemeClr val="tx2"/>
                </a:solidFill>
              </a:rPr>
              <a:t>POUR LA PROCHAINE SÉANCE</a:t>
            </a:r>
            <a:endParaRPr lang="en-US" sz="1400" dirty="0"/>
          </a:p>
        </p:txBody>
      </p:sp>
      <p:sp>
        <p:nvSpPr>
          <p:cNvPr id="10" name="Text 7"/>
          <p:cNvSpPr txBox="1"/>
          <p:nvPr/>
        </p:nvSpPr>
        <p:spPr>
          <a:xfrm>
            <a:off x="7132320" y="2286000"/>
            <a:ext cx="4297680" cy="3840480"/>
          </a:xfrm>
          <a:prstGeom prst="rect">
            <a:avLst/>
          </a:prstGeom>
          <a:noFill/>
          <a:ln/>
        </p:spPr>
        <p:txBody>
          <a:bodyPr wrap="square" lIns="0" tIns="0" rIns="0" bIns="0" rtlCol="0" anchor="t"/>
          <a:lstStyle/>
          <a:p>
            <a:pPr marL="190500" indent="-190500">
              <a:spcAft>
                <a:spcPts val="800"/>
              </a:spcAft>
              <a:buSzPct val="100000"/>
              <a:buChar char="•"/>
            </a:pPr>
            <a:r>
              <a:rPr lang="en-US" sz="1700" dirty="0">
                <a:solidFill>
                  <a:schemeClr val="tx1"/>
                </a:solidFill>
              </a:rPr>
              <a:t>Terminer la </a:t>
            </a:r>
            <a:r>
              <a:rPr lang="en-US" sz="1700" b="1" dirty="0">
                <a:solidFill>
                  <a:schemeClr val="tx1"/>
                </a:solidFill>
              </a:rPr>
              <a:t>TAAK 6</a:t>
            </a:r>
            <a:r>
              <a:rPr lang="en-US" sz="1700" dirty="0">
                <a:solidFill>
                  <a:schemeClr val="tx1"/>
                </a:solidFill>
              </a:rPr>
              <a:t> : étape 1 (dossier) avec la checklist complète.</a:t>
            </a:r>
            <a:endParaRPr lang="en-US" sz="1700" dirty="0"/>
          </a:p>
          <a:p>
            <a:pPr marL="190500" indent="-190500">
              <a:spcAft>
                <a:spcPts val="800"/>
              </a:spcAft>
              <a:buSzPct val="100000"/>
              <a:buChar char="•"/>
            </a:pPr>
            <a:r>
              <a:rPr lang="en-US" sz="1700" dirty="0">
                <a:solidFill>
                  <a:schemeClr val="tx1"/>
                </a:solidFill>
              </a:rPr>
              <a:t>Rédiger le </a:t>
            </a:r>
            <a:r>
              <a:rPr lang="en-US" sz="1700" b="1" dirty="0">
                <a:solidFill>
                  <a:schemeClr val="tx1"/>
                </a:solidFill>
              </a:rPr>
              <a:t>verslag</a:t>
            </a:r>
            <a:r>
              <a:rPr lang="en-US" sz="1700" dirty="0">
                <a:solidFill>
                  <a:schemeClr val="tx1"/>
                </a:solidFill>
              </a:rPr>
              <a:t> (8 à 10 phrases, registre formel) s’il n’est pas terminé.</a:t>
            </a:r>
            <a:endParaRPr lang="en-US" sz="1700" dirty="0"/>
          </a:p>
          <a:p>
            <a:pPr marL="190500" indent="-190500">
              <a:spcAft>
                <a:spcPts val="800"/>
              </a:spcAft>
              <a:buSzPct val="100000"/>
              <a:buChar char="•"/>
            </a:pPr>
            <a:r>
              <a:rPr lang="en-US" sz="1700" dirty="0">
                <a:solidFill>
                  <a:schemeClr val="tx1"/>
                </a:solidFill>
              </a:rPr>
              <a:t>Terminer la </a:t>
            </a:r>
            <a:r>
              <a:rPr lang="en-US" sz="1700" b="1" dirty="0">
                <a:solidFill>
                  <a:schemeClr val="tx1"/>
                </a:solidFill>
              </a:rPr>
              <a:t>D5</a:t>
            </a:r>
            <a:r>
              <a:rPr lang="en-US" sz="1700" dirty="0">
                <a:solidFill>
                  <a:schemeClr val="tx1"/>
                </a:solidFill>
              </a:rPr>
              <a:t> : négocier avec un autre objet.</a:t>
            </a:r>
            <a:endParaRPr lang="en-US" sz="1700" dirty="0"/>
          </a:p>
          <a:p>
            <a:pPr marL="190500" indent="-190500">
              <a:spcAft>
                <a:spcPts val="800"/>
              </a:spcAft>
              <a:buSzPct val="100000"/>
              <a:buChar char="•"/>
            </a:pPr>
            <a:r>
              <a:rPr lang="en-US" sz="1700" dirty="0">
                <a:solidFill>
                  <a:schemeClr val="tx1"/>
                </a:solidFill>
              </a:rPr>
              <a:t>Relire les </a:t>
            </a:r>
            <a:r>
              <a:rPr lang="en-US" sz="1700" b="1" dirty="0">
                <a:solidFill>
                  <a:schemeClr val="tx1"/>
                </a:solidFill>
              </a:rPr>
              <a:t>six preuves</a:t>
            </a:r>
            <a:r>
              <a:rPr lang="en-US" sz="1700" dirty="0">
                <a:solidFill>
                  <a:schemeClr val="tx1"/>
                </a:solidFill>
              </a:rPr>
              <a:t> : TAAK 1 à 5 corrigées.</a:t>
            </a:r>
            <a:endParaRPr lang="en-US" sz="1700" dirty="0"/>
          </a:p>
        </p:txBody>
      </p:sp>
      <p:sp>
        <p:nvSpPr>
          <p:cNvPr id="11" name="Shape 8"/>
          <p:cNvSpPr/>
          <p:nvPr/>
        </p:nvSpPr>
        <p:spPr>
          <a:xfrm>
            <a:off x="548640" y="4892040"/>
            <a:ext cx="6035040" cy="1371600"/>
          </a:xfrm>
          <a:prstGeom prst="roundRect">
            <a:avLst>
              <a:gd name="adj" fmla="val 6667"/>
            </a:avLst>
          </a:prstGeom>
          <a:solidFill>
            <a:schemeClr val="accent1"/>
          </a:solidFill>
          <a:ln/>
        </p:spPr>
      </p:sp>
      <p:sp>
        <p:nvSpPr>
          <p:cNvPr id="12" name="Text 9"/>
          <p:cNvSpPr txBox="1"/>
          <p:nvPr/>
        </p:nvSpPr>
        <p:spPr>
          <a:xfrm>
            <a:off x="777240" y="4983480"/>
            <a:ext cx="5623560" cy="1188720"/>
          </a:xfrm>
          <a:prstGeom prst="rect">
            <a:avLst/>
          </a:prstGeom>
          <a:noFill/>
          <a:ln/>
        </p:spPr>
        <p:txBody>
          <a:bodyPr wrap="square" lIns="0" tIns="0" rIns="0" bIns="0" rtlCol="0" anchor="ctr"/>
          <a:lstStyle/>
          <a:p>
            <a:pPr indent="0" marL="0">
              <a:buNone/>
            </a:pPr>
            <a:r>
              <a:rPr lang="en-US" sz="1300" b="1" spc="100" kern="0" dirty="0">
                <a:solidFill>
                  <a:schemeClr val="bg1"/>
                </a:solidFill>
              </a:rPr>
              <a:t>TICKET DE SORTIE  </a:t>
            </a:r>
            <a:endParaRPr lang="en-US" sz="1300" dirty="0"/>
          </a:p>
          <a:p>
            <a:pPr indent="0" marL="0">
              <a:buNone/>
            </a:pPr>
            <a:r>
              <a:rPr lang="en-US" sz="1600" dirty="0">
                <a:solidFill>
                  <a:schemeClr val="bg1"/>
                </a:solidFill>
              </a:rPr>
              <a:t>Écrivez </a:t>
            </a:r>
            <a:r>
              <a:rPr lang="en-US" sz="1600" b="1" dirty="0">
                <a:solidFill>
                  <a:schemeClr val="bg1"/>
                </a:solidFill>
              </a:rPr>
              <a:t>une phrase avec deux verbes à la fin</a:t>
            </a:r>
            <a:r>
              <a:rPr lang="en-US" sz="1600" dirty="0">
                <a:solidFill>
                  <a:schemeClr val="bg1"/>
                </a:solidFill>
              </a:rPr>
              <a:t> et </a:t>
            </a:r>
            <a:r>
              <a:rPr lang="en-US" sz="1600" b="1" dirty="0">
                <a:solidFill>
                  <a:schemeClr val="bg1"/>
                </a:solidFill>
              </a:rPr>
              <a:t>une phrase avec une particule ressoudée</a:t>
            </a:r>
            <a:r>
              <a:rPr lang="en-US" sz="1600" dirty="0">
                <a:solidFill>
                  <a:schemeClr val="bg1"/>
                </a:solidFill>
              </a:rPr>
              <a:t> (</a:t>
            </a:r>
            <a:r>
              <a:rPr lang="en-US" sz="1600" i="1" dirty="0">
                <a:solidFill>
                  <a:schemeClr val="bg1"/>
                </a:solidFill>
              </a:rPr>
              <a:t>…zodra ik u opbel</a:t>
            </a:r>
            <a:r>
              <a:rPr lang="en-US" sz="1600" dirty="0">
                <a:solidFill>
                  <a:schemeClr val="bg1"/>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Nederlands B1 vastgoed">
  <a:themeElements>
    <a:clrScheme name="Nederlands B1 vastgoed">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B1 vastgo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IRAM — Néerlandais 3 (B1)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Séance 05 — Onderhandelen en eindtaak</dc:title>
  <dc:subject>Néerlandais B1 — immobilier et vie quotidienne (Yasmina &amp; Stef)</dc:subject>
  <dc:creator>A. Jouniaux</dc:creator>
  <cp:lastModifiedBy>A. Jouniaux</cp:lastModifiedBy>
  <cp:revision>1</cp:revision>
  <dcterms:created xsi:type="dcterms:W3CDTF">2026-10-03T21:59:50Z</dcterms:created>
  <dcterms:modified xsi:type="dcterms:W3CDTF">2026-10-03T21:59:50Z</dcterms:modified>
</cp:coreProperties>
</file>