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Lst>
  <p:notesMasterIdLst>
    <p:notesMasterId r:id="rId2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uverture" id="{6b2b7fed-e6da-e792-638a-c90d7c260876}">
          <p14:sldIdLst>
            <p14:sldId id="256"/>
            <p14:sldId id="257"/>
          </p14:sldIdLst>
        </p14:section>
        <p14:section name="Découvrir" id="{1ecefa55-970a-969f-4105-caaeaaa3865d}">
          <p14:sldIdLst>
            <p14:sldId id="258"/>
            <p14:sldId id="259"/>
            <p14:sldId id="260"/>
            <p14:sldId id="261"/>
            <p14:sldId id="262"/>
            <p14:sldId id="263"/>
          </p14:sldIdLst>
        </p14:section>
        <p14:section name="Lire" id="{30798b45-b118-2798-fc2f-fa4f2b50a0b7}">
          <p14:sldIdLst>
            <p14:sldId id="264"/>
            <p14:sldId id="265"/>
            <p14:sldId id="266"/>
            <p14:sldId id="267"/>
            <p14:sldId id="268"/>
            <p14:sldId id="269"/>
            <p14:sldId id="270"/>
          </p14:sldIdLst>
        </p14:section>
        <p14:section name="Écrire" id="{94ec2099-1294-005b-d234-fae4c8ae696e}">
          <p14:sldIdLst>
            <p14:sldId id="271"/>
            <p14:sldId id="272"/>
          </p14:sldIdLst>
        </p14:section>
        <p14:section name="Dagelijks leven" id="{f729860f-ef7f-1d2e-0c10-786525e48a71}">
          <p14:sldIdLst>
            <p14:sldId id="273"/>
            <p14:sldId id="274"/>
            <p14:sldId id="275"/>
            <p14:sldId id="276"/>
          </p14:sldIdLst>
        </p14:section>
        <p14:section name="Clôture" id="{baafeb72-2a44-b8e1-3c7c-5a3bcdb1f1f3}">
          <p14:sldIdLst>
            <p14:sldId id="277"/>
            <p14:sldId id="278"/>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notesMaster" Target="notesMasters/notesMaster1.xml"/><Relationship Id="rId26" Type="http://schemas.openxmlformats.org/officeDocument/2006/relationships/presProps" Target="presProps.xml"/><Relationship Id="rId27" Type="http://schemas.openxmlformats.org/officeDocument/2006/relationships/viewProps" Target="viewProps.xml"/><Relationship Id="rId28" Type="http://schemas.openxmlformats.org/officeDocument/2006/relationships/theme" Target="theme/theme1.xml"/><Relationship Id="rId2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Séance centrée sur les relatives die / dat. Objectifs : choisir die ou dat d’après l’article (de / pluriel → die ; het singulier → dat), placer le verbe à la fin, lire trois zoekertjes comme un professionnel, fusionner deux phrases, rédiger une annonce (TAAK 2), puis transférer la technique aux annonces 2dehands (D2).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Durées indicatives (90 min) : découvrir 10 · règle et réflexe 15 · entraînement 5 · lire les annonces 20 · combiner 8 · TAAK 2 15 · Dagelijks leven 12 · bilan 5. Lancer la séance par la comparaison de gauche : « Lequel de ces deux textes donne envie d’acheter ? » La réponse justifie toute la grammaire du jour. La TAAK 2 et la question 4 de D2 peuvent être terminées à la maison.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Découverte avant la règle. Laisser chercher par deux (2 min). Réponses : ① « die » dans les trois cas ; les trois noms (de stagiair, een woning, de man) sont des mots en de : on verra que « die » suit la logique de l’article. ② Le verbe est à la fin : heeft gevolgd, gerenoveerd is, heeft gebeld — comme après omdat (palier 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Règle de base : de-woord ou pluriel → die ; het-woord au singulier → dat. Le pluriel est toujours « die », même pour un het-woord (het appartement → de appartementen die). Piège pour francophones : le français distingue sujet (qui) et objet (que) ; le néerlandais ne regarde que l’article du mot. Faire dire l’article de chaque nom avant de choisir : c’est pourquoi on l’a appris avec le vocabulaire.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Méthode en deux temps : 1. trouver le nom auquel la relative se rapporte ; 2. dire son article (et voir s’il est au pluriel). Faire verbaliser à voix haute : « het huis → dat ». Attention aux pluriels des mots het : het huis → de huizen die ; het appartement → de appartementen die. Les diminutifs (-je) sont toujours het : het studiootje dat…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Une relative est une subordonnée comme celles du palier 4 (omdat, als…) : tout ce qui suit le relatif se place avant le verbe conjugué. Au perfectum, « heeft gebeld » ou « gebeld heeft » sont corrects tous les deux dans la subordonnée (le livret utilise « heeft gebeld »). Faire lire les phrases à voix haute en tapant sur la table au moment du verbe.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Entraînement immédiat, avant la lecture des annonces. Phrases 1 à 3 : le relatif est sujet (qui) ; 4 à 6 : il est objet (que) — le français change de mot, le néerlandais non. Phrase 4 : « moet tekenen » (modal + infinitif) : le verbe conjugué « moet » précède l’infinitif en fin de subordonnée.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Entraînement immédiat, avant la lecture des annonces. Phrases 1 à 3 : le relatif est sujet (qui) ; 4 à 6 : il est objet (que) — le français change de mot, le néerlandais non. Phrase 4 : « moet tekenen » (modal + infinitif) : le verbe conjugué « moet » précède l’infinitif en fin de subordonnée.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Lecture silencieuse (5 min), puis questions 1, 3 et 4 (diapo suivante), puis la question 2 (les relatives). Le vocabulaire est celui de la séance 1 (huren / kopen, slpk., verdieping). « Te koop » = à vendre ; « te huur » = à louer ; « vrij vanaf » = libre à partir de ; « geen lift » = sans ascenseur ; « Vraagprijs » = prix demandé ; « instapklaar » = prêt à emménager ; « op te frissen » = à rafraîchir.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 la réponse dépend du message de mevrouw Claes (transcription n° 1 de l’annexe, non reproduite dans le livret) : comparer sa fiche d’appel avec les trois annonces (huren ou kopen, budget, nombre de slaapkamers). Faire justifier avec les chiffres. Question 3 : « EPC » = Energieprestatiecertificaat (en Région bruxelloise on dit aussi PEB).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 la réponse dépend du message de mevrouw Claes (transcription n° 1 de l’annexe, non reproduite dans le livret) : comparer sa fiche d’appel avec les trois annonces (huren ou kopen, budget, nombre de slaapkamers). Faire justifier avec les chiffres. Question 3 : « EPC » = Energieprestatiecertificaat (en Région bruxelloise on dit aussi PEB).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Corrigé des cinq relatives : A (2), B (1), C (2). « Rijhuis … dat volledig gerenoveerd is » et « Op te frissen appartement dat veel potentieel heeft » : mots het au singulier → dat. Les trois autres sont des mots de → die. « werd » (imparfait de worden) est le verbe conjugué final après le participe « vernieuwd » ; le groupe « in 2024 » peut suivre le verbe.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Corrigé des cinq relatives : A (2), B (1), C (2). « Rijhuis … dat volledig gerenoveerd is » et « Op te frissen appartement dat veel potentieel heeft » : mots het au singulier → dat. Les trois autres sont des mots de → die. « werd » (imparfait de worden) est le verbe conjugué final après le participe « vernieuwd » ; le groupe « in 2024 » peut suivre le verbe.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Corrigé. Phrase 3 : deux ordres possibles dans la subordonnée : « heeft gebeld » ou « gebeld heeft ». Phrase 4 : « klanten » est un pluriel → die. Faire justifier chaque choix avec l’article du mot (het rijhuis, het terras, de eigenaar, de klanten).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Corrigé. Phrase 3 : deux ordres possibles dans la subordonnée : « heeft gebeld » ou « gebeld heeft ». Phrase 4 : « klanten » est un pluriel → die. Faire justifier chaque choix avec l’article du mot (het rijhuis, het terras, de eigenaar, de klanten).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Taak 2 (production écrite, 15 min). Les étudiants reçoivent la fiche technique. Critères de réussite : 60 à 80 mots, trois relatives correctes (die / dat + verbe à la fin), deux abréviations (slpk., EPC, enz.), titre et prix. Relecture croisée en binôme avec les quatre critères (chacun souligne les relatives de l’autre et vérifie la place du verbe). Le modèle (diapo suivante) n’est montré qu’après la relecture.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Montrer le modèle après la relecture croisée (critères de la diapo précédente). Modèle de ≈ 65 mots (titre compris) avec cinq relatives : het rijhuis dat… (mot het), de keuken die…, de stadstuin die…, de woning die…, het gezin dat… (mot het). « die aansluit op de woonkamer » : le groupe « op de woonkamer » peut suivre le verbe. Les productions des étudiants peuvent être plus courtes (3 relatives suffisent).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Même technique que les zoekertjes, autre marché : l’occasion. « Z.g.a.n. » = zo goed als nieuw. « Vorst » = Forest (Stef habite à Forest). Lecture silencieuse (4 min), puis les questions 1 à 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Corrigé. Question 1 : budget € 200 maximum, habite à Forest : l’annonce A (€ 180, prijs bespreekbaar, Vorst). Question 2 : un seul « dat » (het slot) ; « iemand » est suivi de « die » ; sportievelingen et ouders sont des pluriels. Question 3 : « ophalen » = venir chercher (l’objet est sur place) ; « prijs bespreekbaar » = on peut négocier (voir D5 Afdingen).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Corrigé. Question 1 : budget € 200 maximum, habite à Forest : l’annonce A (€ 180, prijs bespreekbaar, Vorst). Question 2 : un seul « dat » (het slot) ; « iemand » est suivi de « die » ; sportievelingen et ouders sont des pluriels. Question 3 : « ophalen » = venir chercher (l’objet est sur place) ; « prijs bespreekbaar » = on peut négocier (voir D5 Afdingen).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Production libre : pas de correction unique. Vérifier die / dat d’après l’article du nom (de bureaulamp → die ; de student → die ; het bureau → dat) et le verbe final. Les annonces peuvent être échangées en binôme : l’autre souligne les relatives et vérifie les critères de la TAAK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Ticket de sortie : « dat » puis « die » ; faire justifier par l’article. Annoncer la séance 3 : les relatives avec préposition (de klant met wie…), waar + préposition (waaraan, waarover) et les adverbes pronominaux (erop, eraan).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Questions, retour sur la séance.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ATLAS_CONTENT">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6446520"/>
            <a:ext cx="8229600" cy="274320"/>
          </a:xfrm>
          <a:prstGeom prst="rect">
            <a:avLst/>
          </a:prstGeom>
          <a:noFill/>
          <a:ln/>
        </p:spPr>
        <p:txBody>
          <a:bodyPr wrap="square" lIns="0" tIns="0" rIns="0" bIns="0" rtlCol="0" anchor="ctr"/>
          <a:lstStyle/>
          <a:p>
            <a:pPr indent="0" marL="0">
              <a:buNone/>
            </a:pPr>
            <a:r>
              <a:rPr lang="en-US" sz="1000" dirty="0">
                <a:solidFill>
                  <a:schemeClr val="accent5"/>
                </a:solidFill>
              </a:rPr>
              <a:t>Néerlandais 3 · B1 · Yasmina &amp; Stef · Séance 02</a:t>
            </a:r>
            <a:endParaRPr lang="en-US" sz="1000" dirty="0"/>
          </a:p>
        </p:txBody>
      </p:sp>
      <p:sp>
        <p:nvSpPr>
          <p:cNvPr id="3" name="Text 1"/>
          <p:cNvSpPr/>
          <p:nvPr>
            <p:ph idx="101" type="title" hasCustomPrompt="1"/>
          </p:nvPr>
        </p:nvSpPr>
        <p:spPr>
          <a:xfrm>
            <a:off x="548640" y="621792"/>
            <a:ext cx="11091672" cy="713232"/>
          </a:xfrm>
          <a:prstGeom prst="rect">
            <a:avLst/>
          </a:prstGeom>
          <a:noFill/>
          <a:ln/>
        </p:spPr>
        <p:txBody>
          <a:bodyPr wrap="square" rtlCol="0"/>
          <a:lstStyle>
            <a:lvl1pPr algn="l" indent="0" marL="0">
              <a:buNone/>
              <a:defRPr lang="en-US" sz="3200" b="1" dirty="0">
                <a:solidFill>
                  <a:schemeClr val="tx2"/>
                </a:solidFill>
              </a:defRPr>
            </a:lvl1pPr>
          </a:lstStyle>
          <a:p>
            <a:pPr algn="l" indent="0" marL="0">
              <a:buNone/>
            </a:pPr>
            <a:endParaRPr lang="en-US" sz="32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ATLAS_DARK">
    <p:bg>
      <p:bgPr>
        <a:solidFill>
          <a:srgbClr val="17375E"/>
        </a:solidFill>
      </p:bgPr>
    </p:bg>
    <p:spTree>
      <p:nvGrpSpPr>
        <p:cNvPr id="1" name=""/>
        <p:cNvGrpSpPr/>
        <p:nvPr/>
      </p:nvGrpSpPr>
      <p:grpSpPr>
        <a:xfrm>
          <a:off x="0" y="0"/>
          <a:ext cx="0" cy="0"/>
          <a:chOff x="0" y="0"/>
          <a:chExt cx="0" cy="0"/>
        </a:xfrm>
      </p:grpSpPr>
      <p:sp>
        <p:nvSpPr>
          <p:cNvPr id="2" name="Text 0"/>
          <p:cNvSpPr/>
          <p:nvPr/>
        </p:nvSpPr>
        <p:spPr>
          <a:xfrm>
            <a:off x="548640" y="6446520"/>
            <a:ext cx="8229600" cy="274320"/>
          </a:xfrm>
          <a:prstGeom prst="rect">
            <a:avLst/>
          </a:prstGeom>
          <a:noFill/>
          <a:ln/>
        </p:spPr>
        <p:txBody>
          <a:bodyPr wrap="square" lIns="0" tIns="0" rIns="0" bIns="0" rtlCol="0" anchor="ctr"/>
          <a:lstStyle/>
          <a:p>
            <a:pPr indent="0" marL="0">
              <a:buNone/>
            </a:pPr>
            <a:r>
              <a:rPr lang="en-US" sz="1000" dirty="0">
                <a:solidFill>
                  <a:schemeClr val="bg2"/>
                </a:solidFill>
              </a:rPr>
              <a:t>Néerlandais 3 · B1 · Yasmina &amp; Stef · Séance 02</a:t>
            </a:r>
            <a:endParaRPr lang="en-US" sz="1000" dirty="0"/>
          </a:p>
        </p:txBody>
      </p:sp>
      <p:sp>
        <p:nvSpPr>
          <p:cNvPr id="3" name="Text 1"/>
          <p:cNvSpPr/>
          <p:nvPr>
            <p:ph idx="101" type="title" hasCustomPrompt="1"/>
          </p:nvPr>
        </p:nvSpPr>
        <p:spPr>
          <a:xfrm>
            <a:off x="548640" y="621792"/>
            <a:ext cx="11091672" cy="713232"/>
          </a:xfrm>
          <a:prstGeom prst="rect">
            <a:avLst/>
          </a:prstGeom>
          <a:noFill/>
          <a:ln/>
        </p:spPr>
        <p:txBody>
          <a:bodyPr wrap="square" rtlCol="0"/>
          <a:lstStyle>
            <a:lvl1pPr algn="l" indent="0" marL="0">
              <a:buNone/>
              <a:defRPr lang="en-US" sz="3200" b="1" dirty="0">
                <a:solidFill>
                  <a:schemeClr val="bg1"/>
                </a:solidFill>
              </a:defRPr>
            </a:lvl1pPr>
          </a:lstStyle>
          <a:p>
            <a:pPr algn="l" indent="0" marL="0">
              <a:buNone/>
            </a:pPr>
            <a:endParaRPr lang="en-US" sz="32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EEF3F8"/>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ATLAS_COVER">
    <p:bg>
      <p:bgPr>
        <a:solidFill>
          <a:srgbClr val="17375E"/>
        </a:solidFill>
      </p:bgPr>
    </p:bg>
    <p:spTree>
      <p:nvGrpSpPr>
        <p:cNvPr id="1" name=""/>
        <p:cNvGrpSpPr/>
        <p:nvPr/>
      </p:nvGrpSpPr>
      <p:grpSpPr>
        <a:xfrm>
          <a:off x="0" y="0"/>
          <a:ext cx="0" cy="0"/>
          <a:chOff x="0" y="0"/>
          <a:chExt cx="0" cy="0"/>
        </a:xfrm>
      </p:grpSpPr>
      <p:sp>
        <p:nvSpPr>
          <p:cNvPr id="2" name="Text 0"/>
          <p:cNvSpPr/>
          <p:nvPr/>
        </p:nvSpPr>
        <p:spPr>
          <a:xfrm>
            <a:off x="548640" y="6263640"/>
            <a:ext cx="7315200" cy="320040"/>
          </a:xfrm>
          <a:prstGeom prst="rect">
            <a:avLst/>
          </a:prstGeom>
          <a:noFill/>
          <a:ln/>
        </p:spPr>
        <p:txBody>
          <a:bodyPr wrap="square" lIns="0" tIns="0" rIns="0" bIns="0" rtlCol="0" anchor="ctr"/>
          <a:lstStyle/>
          <a:p>
            <a:pPr indent="0" marL="0">
              <a:buNone/>
            </a:pPr>
            <a:r>
              <a:rPr lang="en-US" sz="1200" dirty="0">
                <a:solidFill>
                  <a:schemeClr val="bg2"/>
                </a:solidFill>
              </a:rPr>
              <a:t>Néerlandais 3 · B1 · A. Jouniaux · IRAM — Enseignement pour adultes</a:t>
            </a:r>
            <a:endParaRPr lang="en-US" sz="1200" dirty="0"/>
          </a:p>
        </p:txBody>
      </p:sp>
      <p:sp>
        <p:nvSpPr>
          <p:cNvPr id="3" name="Text 1"/>
          <p:cNvSpPr/>
          <p:nvPr>
            <p:ph idx="101" type="title" hasCustomPrompt="1"/>
          </p:nvPr>
        </p:nvSpPr>
        <p:spPr>
          <a:xfrm>
            <a:off x="548640" y="1874520"/>
            <a:ext cx="5760720" cy="1737360"/>
          </a:xfrm>
          <a:prstGeom prst="rect">
            <a:avLst/>
          </a:prstGeom>
          <a:noFill/>
          <a:ln/>
        </p:spPr>
        <p:txBody>
          <a:bodyPr wrap="square" rtlCol="0"/>
          <a:lstStyle>
            <a:lvl1pPr algn="l" indent="0" marL="0">
              <a:buNone/>
              <a:defRPr lang="en-US" sz="4000" b="1" dirty="0">
                <a:solidFill>
                  <a:schemeClr val="bg1"/>
                </a:solidFill>
              </a:defRPr>
            </a:lvl1pPr>
          </a:lstStyle>
          <a:p>
            <a:pPr algn="l" indent="0" marL="0">
              <a:buNone/>
            </a:pPr>
            <a:endParaRPr lang="en-US" sz="4000" dirty="0"/>
          </a:p>
        </p:txBody>
      </p:sp>
      <p:sp>
        <p:nvSpPr>
          <p:cNvPr id="4" name="Text 1"/>
          <p:cNvSpPr/>
          <p:nvPr>
            <p:ph idx="102" type="body" hasCustomPrompt="1"/>
          </p:nvPr>
        </p:nvSpPr>
        <p:spPr>
          <a:xfrm>
            <a:off x="548640" y="3794760"/>
            <a:ext cx="5760720" cy="1371600"/>
          </a:xfrm>
          <a:prstGeom prst="rect">
            <a:avLst/>
          </a:prstGeom>
          <a:noFill/>
          <a:ln/>
        </p:spPr>
        <p:txBody>
          <a:bodyPr wrap="square" rtlCol="0"/>
          <a:lstStyle>
            <a:lvl1pPr algn="l" indent="0" marL="0">
              <a:buNone/>
              <a:defRPr lang="en-US" sz="1800" dirty="0">
                <a:solidFill>
                  <a:schemeClr val="bg2"/>
                </a:solidFill>
              </a:defRPr>
            </a:lvl1pPr>
          </a:lstStyle>
          <a:p>
            <a:pPr algn="l" indent="0" marL="0">
              <a:buNone/>
            </a:pPr>
            <a:endParaRPr lang="en-US" sz="1800"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ATLAS_BLANK">
    <p:bg>
      <p:bgPr>
        <a:solidFill>
          <a:srgbClr val="FFFFFF"/>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xml"/><Relationship Id="rIdKeep1" Type="http://schemas.openxmlformats.org/officeDocument/2006/relationships/image" Target="../media/keep_cover_1.png"/><Relationship Id="rIdKeep2" Type="http://schemas.openxmlformats.org/officeDocument/2006/relationships/image" Target="../media/keep_cover_2.png"/><Relationship Id="rIdKeep3" Type="http://schemas.openxmlformats.org/officeDocument/2006/relationships/image" Target="../media/keep_cover_3.png"/><Relationship Id="rIdKeep4" Type="http://schemas.openxmlformats.org/officeDocument/2006/relationships/image" Target="../media/keep_cover_4.png"/><Relationship Id="rIdKeep5" Type="http://schemas.openxmlformats.org/officeDocument/2006/relationships/image" Target="../media/keep_cover_5.png"/></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slideLayout" Target="../slideLayouts/slideLayout2.xml"/><Relationship Id="rId7"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g"/><Relationship Id="rId2" Type="http://schemas.openxmlformats.org/officeDocument/2006/relationships/slideLayout" Target="../slideLayouts/slideLayout2.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slideLayout" Target="../slideLayouts/slideLayout2.xml"/><Relationship Id="rId5"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jpg"/><Relationship Id="rId4" Type="http://schemas.openxmlformats.org/officeDocument/2006/relationships/slideLayout" Target="../slideLayouts/slideLayout2.xml"/><Relationship Id="rId5"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jpg"/><Relationship Id="rId2" Type="http://schemas.openxmlformats.org/officeDocument/2006/relationships/image" Target="../media/image-18-2.png"/><Relationship Id="rId3" Type="http://schemas.openxmlformats.org/officeDocument/2006/relationships/slideLayout" Target="../slideLayouts/slideLayout2.xml"/><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jpg"/><Relationship Id="rId2" Type="http://schemas.openxmlformats.org/officeDocument/2006/relationships/image" Target="../media/image-21-2.png"/><Relationship Id="rId3" Type="http://schemas.openxmlformats.org/officeDocument/2006/relationships/slideLayout" Target="../slideLayouts/slideLayout2.xml"/><Relationship Id="rId4"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3.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3.xml"/><Relationship Id="rIdKeep1" Type="http://schemas.openxmlformats.org/officeDocument/2006/relationships/hyperlink" Target="http://pngimg.com/download/38182" TargetMode="External"/><Relationship Id="rIdKeep2" Type="http://schemas.openxmlformats.org/officeDocument/2006/relationships/image" Target="../media/keep_vragen_1.png"/></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6C6872D-85C7-4AAA-83CD-93DD5B66454A}"/>
              </a:ext>
            </a:extLst>
          </p:cNvPr>
          <p:cNvSpPr/>
          <p:nvPr/>
        </p:nvSpPr>
        <p:spPr>
          <a:xfrm rot="21038668">
            <a:off x="4665461" y="1511780"/>
            <a:ext cx="3206327" cy="923330"/>
          </a:xfrm>
          <a:prstGeom prst="rect">
            <a:avLst/>
          </a:prstGeom>
          <a:gradFill flip="none" rotWithShape="1">
            <a:gsLst>
              <a:gs pos="0">
                <a:schemeClr val="accent1">
                  <a:tint val="66000"/>
                  <a:satMod val="160000"/>
                  <a:alpha val="37000"/>
                </a:schemeClr>
              </a:gs>
              <a:gs pos="50000">
                <a:schemeClr val="accent1">
                  <a:tint val="44500"/>
                  <a:satMod val="160000"/>
                  <a:alpha val="62000"/>
                </a:schemeClr>
              </a:gs>
              <a:gs pos="100000">
                <a:schemeClr val="accent1">
                  <a:tint val="23500"/>
                  <a:satMod val="160000"/>
                  <a:alpha val="74000"/>
                </a:schemeClr>
              </a:gs>
            </a:gsLst>
            <a:lin ang="13500000" scaled="1"/>
            <a:tileRect/>
          </a:gradFill>
          <a:ln w="38100">
            <a:solidFill>
              <a:schemeClr val="accent2">
                <a:lumMod val="60000"/>
                <a:lumOff val="40000"/>
              </a:schemeClr>
            </a:solidFill>
          </a:ln>
        </p:spPr>
        <p:txBody>
          <a:bodyPr wrap="none" lIns="91440" tIns="45720" rIns="91440" bIns="45720">
            <a:spAutoFit/>
          </a:bodyPr>
          <a:lstStyle/>
          <a:p>
            <a:pPr algn="ctr"/>
            <a:r>
              <a:rPr lang="fr-BE" sz="5400" b="1" dirty="0">
                <a:ln w="18000">
                  <a:solidFill>
                    <a:schemeClr val="accent2">
                      <a:satMod val="140000"/>
                    </a:schemeClr>
                  </a:solidFill>
                  <a:prstDash val="solid"/>
                  <a:miter lim="800000"/>
                </a:ln>
                <a:solidFill>
                  <a:schemeClr val="bg1"/>
                </a:solidFill>
                <a:effectLst>
                  <a:outerShdw blurRad="25500" dist="23000" dir="7020000" algn="tl">
                    <a:srgbClr val="000000">
                      <a:alpha val="50000"/>
                    </a:srgbClr>
                  </a:outerShdw>
                </a:effectLst>
                <a:latin typeface="Aharoni" pitchFamily="2" charset="-79"/>
                <a:cs typeface="Aharoni" pitchFamily="2" charset="-79"/>
              </a:rPr>
              <a:t>UE 3 Les 2</a:t>
            </a:r>
          </a:p>
        </p:txBody>
      </p:sp>
      <p:sp>
        <p:nvSpPr>
          <p:cNvPr id="3" name="Rectangle 2">
            <a:extLst>
              <a:ext uri="{FF2B5EF4-FFF2-40B4-BE49-F238E27FC236}">
                <a16:creationId xmlns:a16="http://schemas.microsoft.com/office/drawing/2014/main" id="{98DBD1FB-5A2F-4BBD-99BB-B85341F42669}"/>
              </a:ext>
            </a:extLst>
          </p:cNvPr>
          <p:cNvSpPr/>
          <p:nvPr/>
        </p:nvSpPr>
        <p:spPr>
          <a:xfrm>
            <a:off x="2182491" y="3213941"/>
            <a:ext cx="4644220" cy="1754326"/>
          </a:xfrm>
          <a:prstGeom prst="rect">
            <a:avLst/>
          </a:prstGeom>
          <a:noFill/>
          <a:ln w="38100">
            <a:noFill/>
          </a:ln>
        </p:spPr>
        <p:txBody>
          <a:bodyPr wrap="none" lIns="91440" tIns="45720" rIns="91440" bIns="45720">
            <a:spAutoFit/>
          </a:bodyPr>
          <a:lstStyle/>
          <a:p>
            <a:pPr algn="ctr"/>
            <a:r>
              <a:rPr lang="fr-BE" sz="5400" b="1" dirty="0">
                <a:ln w="18000">
                  <a:solidFill>
                    <a:schemeClr val="tx1"/>
                  </a:solidFill>
                  <a:prstDash val="solid"/>
                  <a:miter lim="800000"/>
                </a:ln>
                <a:solidFill>
                  <a:schemeClr val="accent3">
                    <a:lumMod val="75000"/>
                  </a:schemeClr>
                </a:solidFill>
                <a:effectLst>
                  <a:outerShdw blurRad="25500" dist="23000" dir="7020000" algn="tl">
                    <a:srgbClr val="000000">
                      <a:alpha val="50000"/>
                    </a:srgbClr>
                  </a:outerShdw>
                </a:effectLst>
                <a:latin typeface="Aharoni" pitchFamily="2" charset="-79"/>
                <a:cs typeface="Aharoni" pitchFamily="2" charset="-79"/>
              </a:rPr>
              <a:t>Néerlandais</a:t>
            </a:r>
          </a:p>
          <a:p>
            <a:pPr algn="ctr"/>
            <a:r>
              <a:rPr lang="fr-BE" sz="5400" b="1" baseline="30000" dirty="0">
                <a:ln w="18000">
                  <a:solidFill>
                    <a:schemeClr val="tx1"/>
                  </a:solidFill>
                  <a:prstDash val="solid"/>
                  <a:miter lim="800000"/>
                </a:ln>
                <a:solidFill>
                  <a:schemeClr val="accent3">
                    <a:lumMod val="75000"/>
                  </a:schemeClr>
                </a:solidFill>
                <a:effectLst>
                  <a:outerShdw blurRad="25500" dist="23000" dir="7020000" algn="tl">
                    <a:srgbClr val="000000">
                      <a:alpha val="50000"/>
                    </a:srgbClr>
                  </a:outerShdw>
                </a:effectLst>
                <a:latin typeface="Aharoni" pitchFamily="2" charset="-79"/>
                <a:cs typeface="Aharoni" pitchFamily="2" charset="-79"/>
              </a:rPr>
              <a:t>Langue en situation</a:t>
            </a:r>
            <a:r>
              <a:rPr lang="fr-BE" sz="5400" b="1" dirty="0">
                <a:ln w="18000">
                  <a:solidFill>
                    <a:schemeClr val="tx1"/>
                  </a:solidFill>
                  <a:prstDash val="solid"/>
                  <a:miter lim="800000"/>
                </a:ln>
                <a:solidFill>
                  <a:schemeClr val="accent3">
                    <a:lumMod val="75000"/>
                  </a:schemeClr>
                </a:solidFill>
                <a:effectLst>
                  <a:outerShdw blurRad="25500" dist="23000" dir="7020000" algn="tl">
                    <a:srgbClr val="000000">
                      <a:alpha val="50000"/>
                    </a:srgbClr>
                  </a:outerShdw>
                </a:effectLst>
                <a:latin typeface="Aharoni" pitchFamily="2" charset="-79"/>
                <a:cs typeface="Aharoni" pitchFamily="2" charset="-79"/>
              </a:rPr>
              <a:t> </a:t>
            </a:r>
            <a:endParaRPr lang="fr-BE" sz="5400" b="1" baseline="30000" dirty="0">
              <a:ln w="18000">
                <a:solidFill>
                  <a:schemeClr val="tx1"/>
                </a:solidFill>
                <a:prstDash val="solid"/>
                <a:miter lim="800000"/>
              </a:ln>
              <a:solidFill>
                <a:schemeClr val="accent3">
                  <a:lumMod val="75000"/>
                </a:schemeClr>
              </a:solidFill>
              <a:effectLst>
                <a:outerShdw blurRad="25500" dist="23000" dir="7020000" algn="tl">
                  <a:srgbClr val="000000">
                    <a:alpha val="50000"/>
                  </a:srgbClr>
                </a:outerShdw>
              </a:effectLst>
              <a:latin typeface="Aharoni" pitchFamily="2" charset="-79"/>
              <a:cs typeface="Aharoni" pitchFamily="2" charset="-79"/>
            </a:endParaRPr>
          </a:p>
        </p:txBody>
      </p:sp>
      <p:pic>
        <p:nvPicPr>
          <p:cNvPr id="4" name="Image 3">
            <a:extLst>
              <a:ext uri="{FF2B5EF4-FFF2-40B4-BE49-F238E27FC236}">
                <a16:creationId xmlns:a16="http://schemas.microsoft.com/office/drawing/2014/main" id="{C60BAC50-AAF5-4AB8-9F54-B01F6200BBDA}"/>
              </a:ext>
            </a:extLst>
          </p:cNvPr>
          <p:cNvPicPr>
            <a:picLocks noChangeAspect="1"/>
          </p:cNvPicPr>
          <p:nvPr/>
        </p:nvPicPr>
        <p:blipFill>
          <a:blip r:embed="rIdKeep2"/>
          <a:stretch>
            <a:fillRect/>
          </a:stretch>
        </p:blipFill>
        <p:spPr>
          <a:xfrm>
            <a:off x="3640503" y="3749925"/>
            <a:ext cx="3396369" cy="1218343"/>
          </a:xfrm>
          <a:prstGeom prst="rect">
            <a:avLst/>
          </a:prstGeom>
        </p:spPr>
      </p:pic>
      <p:pic>
        <p:nvPicPr>
          <p:cNvPr id="5" name="Image 4">
            <a:extLst>
              <a:ext uri="{FF2B5EF4-FFF2-40B4-BE49-F238E27FC236}">
                <a16:creationId xmlns:a16="http://schemas.microsoft.com/office/drawing/2014/main" id="{B3A62D36-F534-4FA7-A6BE-1EED35FB7B00}"/>
              </a:ext>
            </a:extLst>
          </p:cNvPr>
          <p:cNvPicPr>
            <a:picLocks noChangeAspect="1"/>
          </p:cNvPicPr>
          <p:nvPr/>
        </p:nvPicPr>
        <p:blipFill>
          <a:blip r:embed="rIdKeep1"/>
          <a:stretch>
            <a:fillRect/>
          </a:stretch>
        </p:blipFill>
        <p:spPr>
          <a:xfrm rot="21280042">
            <a:off x="6728612" y="3765998"/>
            <a:ext cx="793204" cy="664308"/>
          </a:xfrm>
          <a:prstGeom prst="rect">
            <a:avLst/>
          </a:prstGeom>
        </p:spPr>
      </p:pic>
      <p:pic>
        <p:nvPicPr>
          <p:cNvPr id="6" name="Image 5">
            <a:extLst>
              <a:ext uri="{FF2B5EF4-FFF2-40B4-BE49-F238E27FC236}">
                <a16:creationId xmlns:a16="http://schemas.microsoft.com/office/drawing/2014/main" id="{6B9D4313-E3A1-4A4E-A333-F92275F57533}"/>
              </a:ext>
            </a:extLst>
          </p:cNvPr>
          <p:cNvPicPr>
            <a:picLocks noChangeAspect="1"/>
          </p:cNvPicPr>
          <p:nvPr/>
        </p:nvPicPr>
        <p:blipFill>
          <a:blip r:embed="rIdKeep5"/>
          <a:stretch>
            <a:fillRect/>
          </a:stretch>
        </p:blipFill>
        <p:spPr>
          <a:xfrm>
            <a:off x="7433474" y="3384299"/>
            <a:ext cx="866775" cy="819150"/>
          </a:xfrm>
          <a:prstGeom prst="rect">
            <a:avLst/>
          </a:prstGeom>
        </p:spPr>
      </p:pic>
      <p:pic>
        <p:nvPicPr>
          <p:cNvPr id="7" name="Image 6">
            <a:extLst>
              <a:ext uri="{FF2B5EF4-FFF2-40B4-BE49-F238E27FC236}">
                <a16:creationId xmlns:a16="http://schemas.microsoft.com/office/drawing/2014/main" id="{723DC737-CEE2-4A70-B7D9-3B5AB207A777}"/>
              </a:ext>
            </a:extLst>
          </p:cNvPr>
          <p:cNvPicPr>
            <a:picLocks noChangeAspect="1"/>
          </p:cNvPicPr>
          <p:nvPr/>
        </p:nvPicPr>
        <p:blipFill>
          <a:blip r:embed="rIdKeep4"/>
          <a:stretch>
            <a:fillRect/>
          </a:stretch>
        </p:blipFill>
        <p:spPr>
          <a:xfrm>
            <a:off x="7050910" y="2552350"/>
            <a:ext cx="1000125" cy="1123950"/>
          </a:xfrm>
          <a:prstGeom prst="rect">
            <a:avLst/>
          </a:prstGeom>
        </p:spPr>
      </p:pic>
      <p:pic>
        <p:nvPicPr>
          <p:cNvPr id="8" name="Image 7">
            <a:extLst>
              <a:ext uri="{FF2B5EF4-FFF2-40B4-BE49-F238E27FC236}">
                <a16:creationId xmlns:a16="http://schemas.microsoft.com/office/drawing/2014/main" id="{7DDA4D51-356D-46F3-A114-86CF571E8742}"/>
              </a:ext>
            </a:extLst>
          </p:cNvPr>
          <p:cNvPicPr>
            <a:picLocks noChangeAspect="1"/>
          </p:cNvPicPr>
          <p:nvPr/>
        </p:nvPicPr>
        <p:blipFill>
          <a:blip r:embed="rIdKeep3"/>
          <a:stretch>
            <a:fillRect/>
          </a:stretch>
        </p:blipFill>
        <p:spPr>
          <a:xfrm>
            <a:off x="7894145" y="2449060"/>
            <a:ext cx="1352550" cy="1571625"/>
          </a:xfrm>
          <a:prstGeom prst="rect">
            <a:avLst/>
          </a:prstGeom>
        </p:spPr>
      </p:pic>
      <p:sp>
        <p:nvSpPr>
          <p:cNvPr id="9" name="Rectangle 8">
            <a:extLst>
              <a:ext uri="{FF2B5EF4-FFF2-40B4-BE49-F238E27FC236}">
                <a16:creationId xmlns:a16="http://schemas.microsoft.com/office/drawing/2014/main" id="{658E54D9-221F-4B41-83BC-4955DABCFC1A}"/>
              </a:ext>
            </a:extLst>
          </p:cNvPr>
          <p:cNvSpPr/>
          <p:nvPr/>
        </p:nvSpPr>
        <p:spPr>
          <a:xfrm rot="19699147">
            <a:off x="5158568" y="3897430"/>
            <a:ext cx="5108001" cy="923330"/>
          </a:xfrm>
          <a:prstGeom prst="rect">
            <a:avLst/>
          </a:prstGeom>
          <a:noFill/>
          <a:ln w="38100">
            <a:noFill/>
          </a:ln>
        </p:spPr>
        <p:txBody>
          <a:bodyPr wrap="none" lIns="91440" tIns="45720" rIns="91440" bIns="45720">
            <a:spAutoFit/>
          </a:bodyPr>
          <a:lstStyle/>
          <a:p>
            <a:pPr algn="ctr"/>
            <a:r>
              <a:rPr lang="fr-BE" sz="5400" dirty="0">
                <a:ln w="18000">
                  <a:noFill/>
                  <a:prstDash val="solid"/>
                  <a:miter lim="800000"/>
                </a:ln>
                <a:solidFill>
                  <a:srgbClr val="FF0000"/>
                </a:solidFill>
                <a:latin typeface="Brush Script MT" panose="03060802040406070304" pitchFamily="66" charset="0"/>
                <a:cs typeface="Aharoni" pitchFamily="2" charset="-79"/>
              </a:rPr>
              <a:t>en milieu professionnel</a:t>
            </a:r>
            <a:endParaRPr lang="fr-BE" sz="5400" baseline="30000" dirty="0">
              <a:ln w="18000">
                <a:noFill/>
                <a:prstDash val="solid"/>
                <a:miter lim="800000"/>
              </a:ln>
              <a:solidFill>
                <a:srgbClr val="FF0000"/>
              </a:solidFill>
              <a:latin typeface="Brush Script MT" panose="03060802040406070304" pitchFamily="66" charset="0"/>
              <a:cs typeface="Aharoni" pitchFamily="2" charset="-79"/>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200" b="1" dirty="0">
                <a:solidFill>
                  <a:schemeClr val="tx2"/>
                </a:solidFill>
              </a:rPr>
              <a:t>Vandaag : décrire un bien qui se vend</a:t>
            </a:r>
            <a:endParaRPr lang="en-US" sz="3200" dirty="0"/>
          </a:p>
        </p:txBody>
      </p:sp>
      <p:sp>
        <p:nvSpPr>
          <p:cNvPr id="3" name="tag"/>
          <p:cNvSpPr/>
          <p:nvPr/>
        </p:nvSpPr>
        <p:spPr>
          <a:xfrm>
            <a:off x="548640" y="237744"/>
            <a:ext cx="822960" cy="310896"/>
          </a:xfrm>
          <a:prstGeom prst="roundRect">
            <a:avLst>
              <a:gd name="adj" fmla="val 14706"/>
            </a:avLst>
          </a:prstGeom>
          <a:solidFill>
            <a:schemeClr val="accent5"/>
          </a:solidFill>
          <a:ln/>
        </p:spPr>
        <p:txBody>
          <a:bodyPr wrap="square" lIns="0" tIns="0" rIns="0" bIns="0" rtlCol="0" anchor="ctr"/>
          <a:lstStyle/>
          <a:p>
            <a:pPr algn="ctr" indent="0" marL="0">
              <a:buNone/>
            </a:pPr>
            <a:r>
              <a:rPr lang="en-US" sz="1200" b="1" spc="100" kern="0" dirty="0">
                <a:solidFill>
                  <a:schemeClr val="bg1"/>
                </a:solidFill>
              </a:rPr>
              <a:t>PLAN</a:t>
            </a:r>
            <a:endParaRPr lang="en-US" sz="1200" dirty="0"/>
          </a:p>
        </p:txBody>
      </p:sp>
      <p:sp>
        <p:nvSpPr>
          <p:cNvPr id="4" name="Text 2"/>
          <p:cNvSpPr txBox="1"/>
          <p:nvPr/>
        </p:nvSpPr>
        <p:spPr>
          <a:xfrm>
            <a:off x="8897112" y="219456"/>
            <a:ext cx="2743200" cy="347472"/>
          </a:xfrm>
          <a:prstGeom prst="rect">
            <a:avLst/>
          </a:prstGeom>
          <a:noFill/>
          <a:ln/>
        </p:spPr>
        <p:txBody>
          <a:bodyPr wrap="square" lIns="0" tIns="0" rIns="0" bIns="0" rtlCol="0" anchor="ctr"/>
          <a:lstStyle/>
          <a:p>
            <a:pPr algn="r" indent="0" marL="0">
              <a:buNone/>
            </a:pPr>
            <a:r>
              <a:rPr lang="en-US" sz="1200" i="1" dirty="0">
                <a:solidFill>
                  <a:schemeClr val="accent5"/>
                </a:solidFill>
              </a:rPr>
              <a:t>Livret p. 7–10a</a:t>
            </a:r>
            <a:endParaRPr lang="en-US" sz="1200" dirty="0"/>
          </a:p>
        </p:txBody>
      </p:sp>
      <p:sp>
        <p:nvSpPr>
          <p:cNvPr id="6" name="Text 3"/>
          <p:cNvSpPr txBox="1"/>
          <p:nvPr/>
        </p:nvSpPr>
        <p:spPr>
          <a:xfrm>
            <a:off x="548640" y="1481328"/>
            <a:ext cx="5760720" cy="274320"/>
          </a:xfrm>
          <a:prstGeom prst="rect">
            <a:avLst/>
          </a:prstGeom>
          <a:noFill/>
          <a:ln/>
        </p:spPr>
        <p:txBody>
          <a:bodyPr wrap="square" lIns="0" tIns="0" rIns="0" bIns="0" rtlCol="0" anchor="ctr"/>
          <a:lstStyle/>
          <a:p>
            <a:pPr algn="l" indent="0" marL="0">
              <a:buNone/>
            </a:pPr>
            <a:r>
              <a:rPr lang="en-US" sz="1200" b="1" spc="150" kern="0" dirty="0">
                <a:solidFill>
                  <a:schemeClr val="accent5"/>
                </a:solidFill>
              </a:rPr>
              <a:t>POURQUOI ?</a:t>
            </a:r>
            <a:endParaRPr lang="en-US" sz="1200" dirty="0"/>
          </a:p>
        </p:txBody>
      </p:sp>
      <p:sp>
        <p:nvSpPr>
          <p:cNvPr id="7" name="Shape 4"/>
          <p:cNvSpPr/>
          <p:nvPr/>
        </p:nvSpPr>
        <p:spPr>
          <a:xfrm>
            <a:off x="548640" y="1828800"/>
            <a:ext cx="5760720" cy="1115568"/>
          </a:xfrm>
          <a:prstGeom prst="roundRect">
            <a:avLst>
              <a:gd name="adj" fmla="val 8197"/>
            </a:avLst>
          </a:prstGeom>
          <a:solidFill>
            <a:schemeClr val="accent6">
              <a:alpha val="9000"/>
            </a:schemeClr>
          </a:solidFill>
          <a:ln w="15875">
            <a:solidFill>
              <a:srgbClr val="B83227"/>
            </a:solidFill>
            <a:prstDash val="solid"/>
          </a:ln>
        </p:spPr>
      </p:sp>
      <p:pic>
        <p:nvPicPr>
          <p:cNvPr id="8" name="Image 0" descr="preencoded.png">    </p:cNvPr>
          <p:cNvPicPr>
            <a:picLocks noChangeAspect="1"/>
          </p:cNvPicPr>
          <p:nvPr/>
        </p:nvPicPr>
        <p:blipFill>
          <a:blip r:embed="rId1"/>
          <a:stretch>
            <a:fillRect/>
          </a:stretch>
        </p:blipFill>
        <p:spPr>
          <a:xfrm>
            <a:off x="777240" y="1993392"/>
            <a:ext cx="329184" cy="329184"/>
          </a:xfrm>
          <a:prstGeom prst="rect">
            <a:avLst/>
          </a:prstGeom>
        </p:spPr>
      </p:pic>
      <p:sp>
        <p:nvSpPr>
          <p:cNvPr id="9" name="Text 5"/>
          <p:cNvSpPr txBox="1"/>
          <p:nvPr/>
        </p:nvSpPr>
        <p:spPr>
          <a:xfrm>
            <a:off x="1261872" y="1920240"/>
            <a:ext cx="4846320" cy="411480"/>
          </a:xfrm>
          <a:prstGeom prst="rect">
            <a:avLst/>
          </a:prstGeom>
          <a:noFill/>
          <a:ln/>
        </p:spPr>
        <p:txBody>
          <a:bodyPr wrap="square" lIns="0" tIns="0" rIns="0" bIns="0" rtlCol="0" anchor="ctr"/>
          <a:lstStyle/>
          <a:p>
            <a:pPr algn="l" indent="0" marL="0">
              <a:buNone/>
            </a:pPr>
            <a:r>
              <a:rPr lang="en-US" sz="1600" b="1" dirty="0">
                <a:solidFill>
                  <a:schemeClr val="accent6"/>
                </a:solidFill>
              </a:rPr>
              <a:t>On énumère (palier 1)</a:t>
            </a:r>
            <a:endParaRPr lang="en-US" sz="1600" dirty="0"/>
          </a:p>
        </p:txBody>
      </p:sp>
      <p:sp>
        <p:nvSpPr>
          <p:cNvPr id="10" name="Text 6"/>
          <p:cNvSpPr txBox="1"/>
          <p:nvPr/>
        </p:nvSpPr>
        <p:spPr>
          <a:xfrm>
            <a:off x="1261872" y="2331720"/>
            <a:ext cx="4892040" cy="502920"/>
          </a:xfrm>
          <a:prstGeom prst="rect">
            <a:avLst/>
          </a:prstGeom>
          <a:noFill/>
          <a:ln/>
        </p:spPr>
        <p:txBody>
          <a:bodyPr wrap="square" lIns="0" tIns="0" rIns="0" bIns="0" rtlCol="0" anchor="ctr"/>
          <a:lstStyle/>
          <a:p>
            <a:pPr algn="l" indent="0" marL="0">
              <a:buNone/>
            </a:pPr>
            <a:r>
              <a:rPr lang="en-US" sz="1900" i="1" dirty="0">
                <a:solidFill>
                  <a:schemeClr val="tx1"/>
                </a:solidFill>
              </a:rPr>
              <a:t>Rijhuis. Het heeft een tuin. De tuin ligt op het zuiden.</a:t>
            </a:r>
            <a:endParaRPr lang="en-US" sz="1900" dirty="0"/>
          </a:p>
        </p:txBody>
      </p:sp>
      <p:sp>
        <p:nvSpPr>
          <p:cNvPr id="11" name="Shape 7"/>
          <p:cNvSpPr/>
          <p:nvPr/>
        </p:nvSpPr>
        <p:spPr>
          <a:xfrm>
            <a:off x="548640" y="3108960"/>
            <a:ext cx="5760720" cy="1115568"/>
          </a:xfrm>
          <a:prstGeom prst="roundRect">
            <a:avLst>
              <a:gd name="adj" fmla="val 8197"/>
            </a:avLst>
          </a:prstGeom>
          <a:solidFill>
            <a:schemeClr val="accent3">
              <a:alpha val="9000"/>
            </a:schemeClr>
          </a:solidFill>
          <a:ln w="15875">
            <a:solidFill>
              <a:srgbClr val="2E7D4F"/>
            </a:solidFill>
            <a:prstDash val="solid"/>
          </a:ln>
        </p:spPr>
      </p:sp>
      <p:pic>
        <p:nvPicPr>
          <p:cNvPr id="12" name="Image 1" descr="preencoded.png">    </p:cNvPr>
          <p:cNvPicPr>
            <a:picLocks noChangeAspect="1"/>
          </p:cNvPicPr>
          <p:nvPr/>
        </p:nvPicPr>
        <p:blipFill>
          <a:blip r:embed="rId2"/>
          <a:stretch>
            <a:fillRect/>
          </a:stretch>
        </p:blipFill>
        <p:spPr>
          <a:xfrm>
            <a:off x="777240" y="3273552"/>
            <a:ext cx="329184" cy="329184"/>
          </a:xfrm>
          <a:prstGeom prst="rect">
            <a:avLst/>
          </a:prstGeom>
        </p:spPr>
      </p:pic>
      <p:sp>
        <p:nvSpPr>
          <p:cNvPr id="13" name="Text 8"/>
          <p:cNvSpPr txBox="1"/>
          <p:nvPr/>
        </p:nvSpPr>
        <p:spPr>
          <a:xfrm>
            <a:off x="1261872" y="3200400"/>
            <a:ext cx="4846320" cy="411480"/>
          </a:xfrm>
          <a:prstGeom prst="rect">
            <a:avLst/>
          </a:prstGeom>
          <a:noFill/>
          <a:ln/>
        </p:spPr>
        <p:txBody>
          <a:bodyPr wrap="square" lIns="0" tIns="0" rIns="0" bIns="0" rtlCol="0" anchor="ctr"/>
          <a:lstStyle/>
          <a:p>
            <a:pPr algn="l" indent="0" marL="0">
              <a:buNone/>
            </a:pPr>
            <a:r>
              <a:rPr lang="en-US" sz="1600" b="1" dirty="0">
                <a:solidFill>
                  <a:schemeClr val="accent3"/>
                </a:solidFill>
              </a:rPr>
              <a:t>On vend (palier 5)</a:t>
            </a:r>
            <a:endParaRPr lang="en-US" sz="1600" dirty="0"/>
          </a:p>
        </p:txBody>
      </p:sp>
      <p:sp>
        <p:nvSpPr>
          <p:cNvPr id="14" name="Text 9"/>
          <p:cNvSpPr txBox="1"/>
          <p:nvPr/>
        </p:nvSpPr>
        <p:spPr>
          <a:xfrm>
            <a:off x="1261872" y="3611880"/>
            <a:ext cx="4892040" cy="502920"/>
          </a:xfrm>
          <a:prstGeom prst="rect">
            <a:avLst/>
          </a:prstGeom>
          <a:noFill/>
          <a:ln/>
        </p:spPr>
        <p:txBody>
          <a:bodyPr wrap="square" lIns="0" tIns="0" rIns="0" bIns="0" rtlCol="0" anchor="ctr"/>
          <a:lstStyle/>
          <a:p>
            <a:pPr algn="l" indent="0" marL="0">
              <a:buNone/>
            </a:pPr>
            <a:r>
              <a:rPr lang="en-US" sz="1900" i="1" dirty="0">
                <a:solidFill>
                  <a:schemeClr val="tx1"/>
                </a:solidFill>
              </a:rPr>
              <a:t>Rijhuis met een tuin </a:t>
            </a:r>
            <a:r>
              <a:rPr lang="en-US" sz="1900" b="1" i="1" dirty="0">
                <a:solidFill>
                  <a:schemeClr val="accent2"/>
                </a:solidFill>
              </a:rPr>
              <a:t>die</a:t>
            </a:r>
            <a:r>
              <a:rPr lang="en-US" sz="1900" i="1" dirty="0">
                <a:solidFill>
                  <a:schemeClr val="tx1"/>
                </a:solidFill>
              </a:rPr>
              <a:t> op het zuiden </a:t>
            </a:r>
            <a:r>
              <a:rPr lang="en-US" sz="1900" b="1" i="1" dirty="0">
                <a:solidFill>
                  <a:schemeClr val="accent6"/>
                </a:solidFill>
              </a:rPr>
              <a:t>ligt</a:t>
            </a:r>
            <a:r>
              <a:rPr lang="en-US" sz="1900" i="1" dirty="0">
                <a:solidFill>
                  <a:schemeClr val="tx1"/>
                </a:solidFill>
              </a:rPr>
              <a:t>.</a:t>
            </a:r>
            <a:endParaRPr lang="en-US" sz="1900" dirty="0"/>
          </a:p>
        </p:txBody>
      </p:sp>
      <p:sp>
        <p:nvSpPr>
          <p:cNvPr id="15" name="Text 10"/>
          <p:cNvSpPr txBox="1"/>
          <p:nvPr/>
        </p:nvSpPr>
        <p:spPr>
          <a:xfrm>
            <a:off x="548640" y="4434840"/>
            <a:ext cx="5760720" cy="457200"/>
          </a:xfrm>
          <a:prstGeom prst="rect">
            <a:avLst/>
          </a:prstGeom>
          <a:noFill/>
          <a:ln/>
        </p:spPr>
        <p:txBody>
          <a:bodyPr wrap="square" lIns="0" tIns="0" rIns="0" bIns="0" rtlCol="0" anchor="ctr"/>
          <a:lstStyle/>
          <a:p>
            <a:pPr algn="l" indent="0" marL="0">
              <a:buNone/>
            </a:pPr>
            <a:r>
              <a:rPr lang="en-US" sz="1500" i="1" dirty="0">
                <a:solidFill>
                  <a:schemeClr val="accent5"/>
                </a:solidFill>
              </a:rPr>
              <a:t>Le pronom relatif relie les informations : c’est l’</a:t>
            </a:r>
            <a:r>
              <a:rPr lang="en-US" sz="1500" b="1" i="1" dirty="0">
                <a:solidFill>
                  <a:schemeClr val="accent5"/>
                </a:solidFill>
              </a:rPr>
              <a:t>outil n° 1</a:t>
            </a:r>
            <a:r>
              <a:rPr lang="en-US" sz="1500" i="1" dirty="0">
                <a:solidFill>
                  <a:schemeClr val="accent5"/>
                </a:solidFill>
              </a:rPr>
              <a:t> de l’annonce.</a:t>
            </a:r>
            <a:endParaRPr lang="en-US" sz="1500" dirty="0"/>
          </a:p>
        </p:txBody>
      </p:sp>
      <p:sp>
        <p:nvSpPr>
          <p:cNvPr id="16" name="Text 11"/>
          <p:cNvSpPr txBox="1"/>
          <p:nvPr/>
        </p:nvSpPr>
        <p:spPr>
          <a:xfrm>
            <a:off x="6720840" y="1481328"/>
            <a:ext cx="4937760" cy="274320"/>
          </a:xfrm>
          <a:prstGeom prst="rect">
            <a:avLst/>
          </a:prstGeom>
          <a:noFill/>
          <a:ln/>
        </p:spPr>
        <p:txBody>
          <a:bodyPr wrap="square" lIns="0" tIns="0" rIns="0" bIns="0" rtlCol="0" anchor="ctr"/>
          <a:lstStyle/>
          <a:p>
            <a:pPr algn="l" indent="0" marL="0">
              <a:buNone/>
            </a:pPr>
            <a:r>
              <a:rPr lang="en-US" sz="1200" b="1" spc="150" kern="0" dirty="0">
                <a:solidFill>
                  <a:schemeClr val="accent5"/>
                </a:solidFill>
              </a:rPr>
              <a:t>À LA FIN DE LA SÉANCE, JE SAIS…</a:t>
            </a:r>
            <a:endParaRPr lang="en-US" sz="1200" dirty="0"/>
          </a:p>
        </p:txBody>
      </p:sp>
      <p:sp>
        <p:nvSpPr>
          <p:cNvPr id="17" name="Shape 12"/>
          <p:cNvSpPr/>
          <p:nvPr/>
        </p:nvSpPr>
        <p:spPr>
          <a:xfrm>
            <a:off x="6720840" y="1901952"/>
            <a:ext cx="603504" cy="603504"/>
          </a:xfrm>
          <a:prstGeom prst="ellipse">
            <a:avLst/>
          </a:prstGeom>
          <a:solidFill>
            <a:schemeClr val="accent3"/>
          </a:solidFill>
          <a:ln/>
        </p:spPr>
      </p:sp>
      <p:pic>
        <p:nvPicPr>
          <p:cNvPr id="18" name="Image 2" descr="preencoded.png">    </p:cNvPr>
          <p:cNvPicPr>
            <a:picLocks noChangeAspect="1"/>
          </p:cNvPicPr>
          <p:nvPr/>
        </p:nvPicPr>
        <p:blipFill>
          <a:blip r:embed="rId3"/>
          <a:stretch>
            <a:fillRect/>
          </a:stretch>
        </p:blipFill>
        <p:spPr>
          <a:xfrm>
            <a:off x="6871716" y="2052828"/>
            <a:ext cx="301752" cy="301752"/>
          </a:xfrm>
          <a:prstGeom prst="rect">
            <a:avLst/>
          </a:prstGeom>
        </p:spPr>
      </p:pic>
      <p:sp>
        <p:nvSpPr>
          <p:cNvPr id="19" name="Text 13"/>
          <p:cNvSpPr txBox="1"/>
          <p:nvPr/>
        </p:nvSpPr>
        <p:spPr>
          <a:xfrm>
            <a:off x="7498080" y="1828800"/>
            <a:ext cx="4114800" cy="438912"/>
          </a:xfrm>
          <a:prstGeom prst="rect">
            <a:avLst/>
          </a:prstGeom>
          <a:noFill/>
          <a:ln/>
        </p:spPr>
        <p:txBody>
          <a:bodyPr wrap="square" lIns="0" tIns="0" rIns="0" bIns="0" rtlCol="0" anchor="ctr"/>
          <a:lstStyle/>
          <a:p>
            <a:pPr algn="l" indent="0" marL="0">
              <a:buNone/>
            </a:pPr>
            <a:r>
              <a:rPr lang="en-US" sz="1900" b="1" dirty="0">
                <a:solidFill>
                  <a:schemeClr val="tx2"/>
                </a:solidFill>
              </a:rPr>
              <a:t>lire une annonce comme un pro</a:t>
            </a:r>
            <a:endParaRPr lang="en-US" sz="1900" dirty="0"/>
          </a:p>
        </p:txBody>
      </p:sp>
      <p:sp>
        <p:nvSpPr>
          <p:cNvPr id="20" name="Text 14"/>
          <p:cNvSpPr txBox="1"/>
          <p:nvPr/>
        </p:nvSpPr>
        <p:spPr>
          <a:xfrm>
            <a:off x="7498080" y="2249424"/>
            <a:ext cx="4114800" cy="329184"/>
          </a:xfrm>
          <a:prstGeom prst="rect">
            <a:avLst/>
          </a:prstGeom>
          <a:noFill/>
          <a:ln/>
        </p:spPr>
        <p:txBody>
          <a:bodyPr wrap="square" lIns="0" tIns="0" rIns="0" bIns="0" rtlCol="0" anchor="ctr"/>
          <a:lstStyle/>
          <a:p>
            <a:pPr algn="l" indent="0" marL="0">
              <a:buNone/>
            </a:pPr>
            <a:r>
              <a:rPr lang="en-US" sz="1400" i="1" dirty="0">
                <a:solidFill>
                  <a:schemeClr val="accent5"/>
                </a:solidFill>
              </a:rPr>
              <a:t>à vendre ou à louer · prix · slpk. · EPC</a:t>
            </a:r>
            <a:endParaRPr lang="en-US" sz="1400" dirty="0"/>
          </a:p>
        </p:txBody>
      </p:sp>
      <p:sp>
        <p:nvSpPr>
          <p:cNvPr id="21" name="Shape 15"/>
          <p:cNvSpPr/>
          <p:nvPr/>
        </p:nvSpPr>
        <p:spPr>
          <a:xfrm>
            <a:off x="6720840" y="2816352"/>
            <a:ext cx="603504" cy="603504"/>
          </a:xfrm>
          <a:prstGeom prst="ellipse">
            <a:avLst/>
          </a:prstGeom>
          <a:solidFill>
            <a:schemeClr val="accent2"/>
          </a:solidFill>
          <a:ln/>
        </p:spPr>
      </p:sp>
      <p:pic>
        <p:nvPicPr>
          <p:cNvPr id="22" name="Image 3" descr="preencoded.png">    </p:cNvPr>
          <p:cNvPicPr>
            <a:picLocks noChangeAspect="1"/>
          </p:cNvPicPr>
          <p:nvPr/>
        </p:nvPicPr>
        <p:blipFill>
          <a:blip r:embed="rId4"/>
          <a:stretch>
            <a:fillRect/>
          </a:stretch>
        </p:blipFill>
        <p:spPr>
          <a:xfrm>
            <a:off x="6871716" y="2967228"/>
            <a:ext cx="301752" cy="301752"/>
          </a:xfrm>
          <a:prstGeom prst="rect">
            <a:avLst/>
          </a:prstGeom>
        </p:spPr>
      </p:pic>
      <p:sp>
        <p:nvSpPr>
          <p:cNvPr id="23" name="Text 16"/>
          <p:cNvSpPr txBox="1"/>
          <p:nvPr/>
        </p:nvSpPr>
        <p:spPr>
          <a:xfrm>
            <a:off x="7498080" y="2743200"/>
            <a:ext cx="4114800" cy="438912"/>
          </a:xfrm>
          <a:prstGeom prst="rect">
            <a:avLst/>
          </a:prstGeom>
          <a:noFill/>
          <a:ln/>
        </p:spPr>
        <p:txBody>
          <a:bodyPr wrap="square" lIns="0" tIns="0" rIns="0" bIns="0" rtlCol="0" anchor="ctr"/>
          <a:lstStyle/>
          <a:p>
            <a:pPr algn="l" indent="0" marL="0">
              <a:buNone/>
            </a:pPr>
            <a:r>
              <a:rPr lang="en-US" sz="1900" b="1" dirty="0">
                <a:solidFill>
                  <a:schemeClr val="tx2"/>
                </a:solidFill>
              </a:rPr>
              <a:t>choisir </a:t>
            </a:r>
            <a:r>
              <a:rPr lang="en-US" sz="1900" b="1" dirty="0">
                <a:solidFill>
                  <a:schemeClr val="accent2"/>
                </a:solidFill>
              </a:rPr>
              <a:t>die</a:t>
            </a:r>
            <a:r>
              <a:rPr lang="en-US" sz="1900" b="1" dirty="0">
                <a:solidFill>
                  <a:schemeClr val="tx2"/>
                </a:solidFill>
              </a:rPr>
              <a:t> ou </a:t>
            </a:r>
            <a:r>
              <a:rPr lang="en-US" sz="1900" b="1" dirty="0">
                <a:solidFill>
                  <a:schemeClr val="accent4"/>
                </a:solidFill>
              </a:rPr>
              <a:t>dat</a:t>
            </a:r>
            <a:endParaRPr lang="en-US" sz="1900" dirty="0"/>
          </a:p>
        </p:txBody>
      </p:sp>
      <p:sp>
        <p:nvSpPr>
          <p:cNvPr id="24" name="Text 17"/>
          <p:cNvSpPr txBox="1"/>
          <p:nvPr/>
        </p:nvSpPr>
        <p:spPr>
          <a:xfrm>
            <a:off x="7498080" y="3163824"/>
            <a:ext cx="4114800" cy="329184"/>
          </a:xfrm>
          <a:prstGeom prst="rect">
            <a:avLst/>
          </a:prstGeom>
          <a:noFill/>
          <a:ln/>
        </p:spPr>
        <p:txBody>
          <a:bodyPr wrap="square" lIns="0" tIns="0" rIns="0" bIns="0" rtlCol="0" anchor="ctr"/>
          <a:lstStyle/>
          <a:p>
            <a:pPr algn="l" indent="0" marL="0">
              <a:buNone/>
            </a:pPr>
            <a:r>
              <a:rPr lang="en-US" sz="1400" i="1" dirty="0">
                <a:solidFill>
                  <a:schemeClr val="accent5"/>
                </a:solidFill>
              </a:rPr>
              <a:t>et placer le verbe à la fin</a:t>
            </a:r>
            <a:endParaRPr lang="en-US" sz="1400" dirty="0"/>
          </a:p>
        </p:txBody>
      </p:sp>
      <p:sp>
        <p:nvSpPr>
          <p:cNvPr id="25" name="Shape 18"/>
          <p:cNvSpPr/>
          <p:nvPr/>
        </p:nvSpPr>
        <p:spPr>
          <a:xfrm>
            <a:off x="6720840" y="3730752"/>
            <a:ext cx="603504" cy="603504"/>
          </a:xfrm>
          <a:prstGeom prst="ellipse">
            <a:avLst/>
          </a:prstGeom>
          <a:solidFill>
            <a:schemeClr val="accent1"/>
          </a:solidFill>
          <a:ln/>
        </p:spPr>
      </p:sp>
      <p:pic>
        <p:nvPicPr>
          <p:cNvPr id="26" name="Image 4" descr="preencoded.png">    </p:cNvPr>
          <p:cNvPicPr>
            <a:picLocks noChangeAspect="1"/>
          </p:cNvPicPr>
          <p:nvPr/>
        </p:nvPicPr>
        <p:blipFill>
          <a:blip r:embed="rId5"/>
          <a:stretch>
            <a:fillRect/>
          </a:stretch>
        </p:blipFill>
        <p:spPr>
          <a:xfrm>
            <a:off x="6871716" y="3881628"/>
            <a:ext cx="301752" cy="301752"/>
          </a:xfrm>
          <a:prstGeom prst="rect">
            <a:avLst/>
          </a:prstGeom>
        </p:spPr>
      </p:pic>
      <p:sp>
        <p:nvSpPr>
          <p:cNvPr id="27" name="Text 19"/>
          <p:cNvSpPr txBox="1"/>
          <p:nvPr/>
        </p:nvSpPr>
        <p:spPr>
          <a:xfrm>
            <a:off x="7498080" y="3657600"/>
            <a:ext cx="4114800" cy="438912"/>
          </a:xfrm>
          <a:prstGeom prst="rect">
            <a:avLst/>
          </a:prstGeom>
          <a:noFill/>
          <a:ln/>
        </p:spPr>
        <p:txBody>
          <a:bodyPr wrap="square" lIns="0" tIns="0" rIns="0" bIns="0" rtlCol="0" anchor="ctr"/>
          <a:lstStyle/>
          <a:p>
            <a:pPr algn="l" indent="0" marL="0">
              <a:buNone/>
            </a:pPr>
            <a:r>
              <a:rPr lang="en-US" sz="1900" b="1" dirty="0">
                <a:solidFill>
                  <a:schemeClr val="tx2"/>
                </a:solidFill>
              </a:rPr>
              <a:t>rédiger un zoekertje</a:t>
            </a:r>
            <a:endParaRPr lang="en-US" sz="1900" dirty="0"/>
          </a:p>
        </p:txBody>
      </p:sp>
      <p:sp>
        <p:nvSpPr>
          <p:cNvPr id="28" name="Text 20"/>
          <p:cNvSpPr txBox="1"/>
          <p:nvPr/>
        </p:nvSpPr>
        <p:spPr>
          <a:xfrm>
            <a:off x="7498080" y="4078224"/>
            <a:ext cx="4114800" cy="329184"/>
          </a:xfrm>
          <a:prstGeom prst="rect">
            <a:avLst/>
          </a:prstGeom>
          <a:noFill/>
          <a:ln/>
        </p:spPr>
        <p:txBody>
          <a:bodyPr wrap="square" lIns="0" tIns="0" rIns="0" bIns="0" rtlCol="0" anchor="ctr"/>
          <a:lstStyle/>
          <a:p>
            <a:pPr algn="l" indent="0" marL="0">
              <a:buNone/>
            </a:pPr>
            <a:r>
              <a:rPr lang="en-US" sz="1400" i="1" dirty="0">
                <a:solidFill>
                  <a:schemeClr val="accent5"/>
                </a:solidFill>
              </a:rPr>
              <a:t>TAAK 2 · 60 à 80 mots</a:t>
            </a:r>
            <a:endParaRPr lang="en-US" sz="1400" dirty="0"/>
          </a:p>
        </p:txBody>
      </p:sp>
      <p:sp>
        <p:nvSpPr>
          <p:cNvPr id="29" name="Shape 21"/>
          <p:cNvSpPr/>
          <p:nvPr/>
        </p:nvSpPr>
        <p:spPr>
          <a:xfrm>
            <a:off x="548640" y="5166360"/>
            <a:ext cx="1984248" cy="914400"/>
          </a:xfrm>
          <a:prstGeom prst="roundRect">
            <a:avLst>
              <a:gd name="adj" fmla="val 10000"/>
            </a:avLst>
          </a:prstGeom>
          <a:solidFill>
            <a:schemeClr val="bg2"/>
          </a:solidFill>
          <a:ln w="12700">
            <a:solidFill>
              <a:srgbClr val="D5DCE6"/>
            </a:solidFill>
            <a:prstDash val="solid"/>
          </a:ln>
        </p:spPr>
      </p:sp>
      <p:sp>
        <p:nvSpPr>
          <p:cNvPr id="30" name="Shape 22"/>
          <p:cNvSpPr/>
          <p:nvPr/>
        </p:nvSpPr>
        <p:spPr>
          <a:xfrm>
            <a:off x="685800" y="5349240"/>
            <a:ext cx="548640" cy="548640"/>
          </a:xfrm>
          <a:prstGeom prst="ellipse">
            <a:avLst/>
          </a:prstGeom>
          <a:solidFill>
            <a:schemeClr val="tx2"/>
          </a:solidFill>
          <a:ln/>
        </p:spPr>
      </p:sp>
      <p:sp>
        <p:nvSpPr>
          <p:cNvPr id="31" name="Text 23"/>
          <p:cNvSpPr txBox="1"/>
          <p:nvPr/>
        </p:nvSpPr>
        <p:spPr>
          <a:xfrm>
            <a:off x="685800" y="5349240"/>
            <a:ext cx="548640" cy="548640"/>
          </a:xfrm>
          <a:prstGeom prst="rect">
            <a:avLst/>
          </a:prstGeom>
          <a:noFill/>
          <a:ln/>
        </p:spPr>
        <p:txBody>
          <a:bodyPr wrap="square" lIns="0" tIns="0" rIns="0" bIns="0" rtlCol="0" anchor="ctr"/>
          <a:lstStyle/>
          <a:p>
            <a:pPr algn="ctr" indent="0" marL="0">
              <a:buNone/>
            </a:pPr>
            <a:r>
              <a:rPr lang="en-US" sz="1800" b="1" dirty="0">
                <a:solidFill>
                  <a:schemeClr val="bg1"/>
                </a:solidFill>
              </a:rPr>
              <a:t>1</a:t>
            </a:r>
            <a:endParaRPr lang="en-US" sz="1800" dirty="0"/>
          </a:p>
        </p:txBody>
      </p:sp>
      <p:sp>
        <p:nvSpPr>
          <p:cNvPr id="32" name="Text 24"/>
          <p:cNvSpPr txBox="1"/>
          <p:nvPr/>
        </p:nvSpPr>
        <p:spPr>
          <a:xfrm>
            <a:off x="1325880" y="5193792"/>
            <a:ext cx="1115568" cy="859536"/>
          </a:xfrm>
          <a:prstGeom prst="rect">
            <a:avLst/>
          </a:prstGeom>
          <a:noFill/>
          <a:ln/>
        </p:spPr>
        <p:txBody>
          <a:bodyPr wrap="square" lIns="0" tIns="0" rIns="0" bIns="0" rtlCol="0" anchor="ctr"/>
          <a:lstStyle/>
          <a:p>
            <a:pPr algn="l" indent="0" marL="0">
              <a:buNone/>
            </a:pPr>
            <a:r>
              <a:rPr lang="en-US" sz="1500" b="1" dirty="0">
                <a:solidFill>
                  <a:schemeClr val="tx2"/>
                </a:solidFill>
              </a:rPr>
              <a:t>Découvrir</a:t>
            </a:r>
            <a:endParaRPr lang="en-US" sz="1500" dirty="0"/>
          </a:p>
          <a:p>
            <a:pPr algn="l" indent="0" marL="0">
              <a:buNone/>
            </a:pPr>
            <a:r>
              <a:rPr lang="en-US" sz="1500" i="1" dirty="0">
                <a:solidFill>
                  <a:schemeClr val="tx2"/>
                </a:solidFill>
              </a:rPr>
              <a:t>p. 7</a:t>
            </a:r>
            <a:endParaRPr lang="en-US" sz="1500" dirty="0"/>
          </a:p>
        </p:txBody>
      </p:sp>
      <p:sp>
        <p:nvSpPr>
          <p:cNvPr id="33" name="Shape 25"/>
          <p:cNvSpPr/>
          <p:nvPr/>
        </p:nvSpPr>
        <p:spPr>
          <a:xfrm>
            <a:off x="2569464" y="5623560"/>
            <a:ext cx="219456" cy="914"/>
          </a:xfrm>
          <a:prstGeom prst="line">
            <a:avLst/>
          </a:prstGeom>
          <a:noFill/>
          <a:ln w="25400">
            <a:solidFill>
              <a:srgbClr val="4A5A70"/>
            </a:solidFill>
            <a:prstDash val="solid"/>
            <a:tailEnd type="triangle"/>
          </a:ln>
        </p:spPr>
      </p:sp>
      <p:sp>
        <p:nvSpPr>
          <p:cNvPr id="34" name="Shape 26"/>
          <p:cNvSpPr/>
          <p:nvPr/>
        </p:nvSpPr>
        <p:spPr>
          <a:xfrm>
            <a:off x="2825496" y="5166360"/>
            <a:ext cx="1984248" cy="914400"/>
          </a:xfrm>
          <a:prstGeom prst="roundRect">
            <a:avLst>
              <a:gd name="adj" fmla="val 10000"/>
            </a:avLst>
          </a:prstGeom>
          <a:solidFill>
            <a:schemeClr val="bg2"/>
          </a:solidFill>
          <a:ln w="12700">
            <a:solidFill>
              <a:srgbClr val="D5DCE6"/>
            </a:solidFill>
            <a:prstDash val="solid"/>
          </a:ln>
        </p:spPr>
      </p:sp>
      <p:sp>
        <p:nvSpPr>
          <p:cNvPr id="35" name="Shape 27"/>
          <p:cNvSpPr/>
          <p:nvPr/>
        </p:nvSpPr>
        <p:spPr>
          <a:xfrm>
            <a:off x="2962656" y="5349240"/>
            <a:ext cx="548640" cy="548640"/>
          </a:xfrm>
          <a:prstGeom prst="ellipse">
            <a:avLst/>
          </a:prstGeom>
          <a:solidFill>
            <a:schemeClr val="tx2"/>
          </a:solidFill>
          <a:ln/>
        </p:spPr>
      </p:sp>
      <p:sp>
        <p:nvSpPr>
          <p:cNvPr id="36" name="Text 28"/>
          <p:cNvSpPr txBox="1"/>
          <p:nvPr/>
        </p:nvSpPr>
        <p:spPr>
          <a:xfrm>
            <a:off x="2962656" y="5349240"/>
            <a:ext cx="548640" cy="548640"/>
          </a:xfrm>
          <a:prstGeom prst="rect">
            <a:avLst/>
          </a:prstGeom>
          <a:noFill/>
          <a:ln/>
        </p:spPr>
        <p:txBody>
          <a:bodyPr wrap="square" lIns="0" tIns="0" rIns="0" bIns="0" rtlCol="0" anchor="ctr"/>
          <a:lstStyle/>
          <a:p>
            <a:pPr algn="ctr" indent="0" marL="0">
              <a:buNone/>
            </a:pPr>
            <a:r>
              <a:rPr lang="en-US" sz="1800" b="1" dirty="0">
                <a:solidFill>
                  <a:schemeClr val="bg1"/>
                </a:solidFill>
              </a:rPr>
              <a:t>2</a:t>
            </a:r>
            <a:endParaRPr lang="en-US" sz="1800" dirty="0"/>
          </a:p>
        </p:txBody>
      </p:sp>
      <p:sp>
        <p:nvSpPr>
          <p:cNvPr id="37" name="Text 29"/>
          <p:cNvSpPr txBox="1"/>
          <p:nvPr/>
        </p:nvSpPr>
        <p:spPr>
          <a:xfrm>
            <a:off x="3602736" y="5193792"/>
            <a:ext cx="1115568" cy="859536"/>
          </a:xfrm>
          <a:prstGeom prst="rect">
            <a:avLst/>
          </a:prstGeom>
          <a:noFill/>
          <a:ln/>
        </p:spPr>
        <p:txBody>
          <a:bodyPr wrap="square" lIns="0" tIns="0" rIns="0" bIns="0" rtlCol="0" anchor="ctr"/>
          <a:lstStyle/>
          <a:p>
            <a:pPr algn="l" indent="0" marL="0">
              <a:buNone/>
            </a:pPr>
            <a:r>
              <a:rPr lang="en-US" sz="1500" b="1" dirty="0">
                <a:solidFill>
                  <a:schemeClr val="tx2"/>
                </a:solidFill>
              </a:rPr>
              <a:t>La règle</a:t>
            </a:r>
            <a:endParaRPr lang="en-US" sz="1500" dirty="0"/>
          </a:p>
          <a:p>
            <a:pPr algn="l" indent="0" marL="0">
              <a:buNone/>
            </a:pPr>
            <a:r>
              <a:rPr lang="en-US" sz="1500" i="1" dirty="0">
                <a:solidFill>
                  <a:schemeClr val="tx2"/>
                </a:solidFill>
              </a:rPr>
              <a:t>p. 8</a:t>
            </a:r>
            <a:endParaRPr lang="en-US" sz="1500" dirty="0"/>
          </a:p>
        </p:txBody>
      </p:sp>
      <p:sp>
        <p:nvSpPr>
          <p:cNvPr id="38" name="Shape 30"/>
          <p:cNvSpPr/>
          <p:nvPr/>
        </p:nvSpPr>
        <p:spPr>
          <a:xfrm>
            <a:off x="4846320" y="5623560"/>
            <a:ext cx="219456" cy="914"/>
          </a:xfrm>
          <a:prstGeom prst="line">
            <a:avLst/>
          </a:prstGeom>
          <a:noFill/>
          <a:ln w="25400">
            <a:solidFill>
              <a:srgbClr val="4A5A70"/>
            </a:solidFill>
            <a:prstDash val="solid"/>
            <a:tailEnd type="triangle"/>
          </a:ln>
        </p:spPr>
      </p:sp>
      <p:sp>
        <p:nvSpPr>
          <p:cNvPr id="39" name="Shape 31"/>
          <p:cNvSpPr/>
          <p:nvPr/>
        </p:nvSpPr>
        <p:spPr>
          <a:xfrm>
            <a:off x="5102352" y="5166360"/>
            <a:ext cx="1984248" cy="914400"/>
          </a:xfrm>
          <a:prstGeom prst="roundRect">
            <a:avLst>
              <a:gd name="adj" fmla="val 10000"/>
            </a:avLst>
          </a:prstGeom>
          <a:solidFill>
            <a:schemeClr val="bg2"/>
          </a:solidFill>
          <a:ln w="12700">
            <a:solidFill>
              <a:srgbClr val="D5DCE6"/>
            </a:solidFill>
            <a:prstDash val="solid"/>
          </a:ln>
        </p:spPr>
      </p:sp>
      <p:sp>
        <p:nvSpPr>
          <p:cNvPr id="40" name="Shape 32"/>
          <p:cNvSpPr/>
          <p:nvPr/>
        </p:nvSpPr>
        <p:spPr>
          <a:xfrm>
            <a:off x="5239512" y="5349240"/>
            <a:ext cx="548640" cy="548640"/>
          </a:xfrm>
          <a:prstGeom prst="ellipse">
            <a:avLst/>
          </a:prstGeom>
          <a:solidFill>
            <a:schemeClr val="tx2"/>
          </a:solidFill>
          <a:ln/>
        </p:spPr>
      </p:sp>
      <p:sp>
        <p:nvSpPr>
          <p:cNvPr id="41" name="Text 33"/>
          <p:cNvSpPr txBox="1"/>
          <p:nvPr/>
        </p:nvSpPr>
        <p:spPr>
          <a:xfrm>
            <a:off x="5239512" y="5349240"/>
            <a:ext cx="548640" cy="548640"/>
          </a:xfrm>
          <a:prstGeom prst="rect">
            <a:avLst/>
          </a:prstGeom>
          <a:noFill/>
          <a:ln/>
        </p:spPr>
        <p:txBody>
          <a:bodyPr wrap="square" lIns="0" tIns="0" rIns="0" bIns="0" rtlCol="0" anchor="ctr"/>
          <a:lstStyle/>
          <a:p>
            <a:pPr algn="ctr" indent="0" marL="0">
              <a:buNone/>
            </a:pPr>
            <a:r>
              <a:rPr lang="en-US" sz="1800" b="1" dirty="0">
                <a:solidFill>
                  <a:schemeClr val="bg1"/>
                </a:solidFill>
              </a:rPr>
              <a:t>3</a:t>
            </a:r>
            <a:endParaRPr lang="en-US" sz="1800" dirty="0"/>
          </a:p>
        </p:txBody>
      </p:sp>
      <p:sp>
        <p:nvSpPr>
          <p:cNvPr id="42" name="Text 34"/>
          <p:cNvSpPr txBox="1"/>
          <p:nvPr/>
        </p:nvSpPr>
        <p:spPr>
          <a:xfrm>
            <a:off x="5879592" y="5193792"/>
            <a:ext cx="1115568" cy="859536"/>
          </a:xfrm>
          <a:prstGeom prst="rect">
            <a:avLst/>
          </a:prstGeom>
          <a:noFill/>
          <a:ln/>
        </p:spPr>
        <p:txBody>
          <a:bodyPr wrap="square" lIns="0" tIns="0" rIns="0" bIns="0" rtlCol="0" anchor="ctr"/>
          <a:lstStyle/>
          <a:p>
            <a:pPr algn="l" indent="0" marL="0">
              <a:buNone/>
            </a:pPr>
            <a:r>
              <a:rPr lang="en-US" sz="1500" b="1" dirty="0">
                <a:solidFill>
                  <a:schemeClr val="tx2"/>
                </a:solidFill>
              </a:rPr>
              <a:t>Lire</a:t>
            </a:r>
            <a:endParaRPr lang="en-US" sz="1500" dirty="0"/>
          </a:p>
          <a:p>
            <a:pPr algn="l" indent="0" marL="0">
              <a:buNone/>
            </a:pPr>
            <a:r>
              <a:rPr lang="en-US" sz="1500" i="1" dirty="0">
                <a:solidFill>
                  <a:schemeClr val="tx2"/>
                </a:solidFill>
              </a:rPr>
              <a:t>p. 8–10</a:t>
            </a:r>
            <a:endParaRPr lang="en-US" sz="1500" dirty="0"/>
          </a:p>
        </p:txBody>
      </p:sp>
      <p:sp>
        <p:nvSpPr>
          <p:cNvPr id="43" name="Shape 35"/>
          <p:cNvSpPr/>
          <p:nvPr/>
        </p:nvSpPr>
        <p:spPr>
          <a:xfrm>
            <a:off x="7123176" y="5623560"/>
            <a:ext cx="219456" cy="914"/>
          </a:xfrm>
          <a:prstGeom prst="line">
            <a:avLst/>
          </a:prstGeom>
          <a:noFill/>
          <a:ln w="25400">
            <a:solidFill>
              <a:srgbClr val="4A5A70"/>
            </a:solidFill>
            <a:prstDash val="solid"/>
            <a:tailEnd type="triangle"/>
          </a:ln>
        </p:spPr>
      </p:sp>
      <p:sp>
        <p:nvSpPr>
          <p:cNvPr id="44" name="Shape 36"/>
          <p:cNvSpPr/>
          <p:nvPr/>
        </p:nvSpPr>
        <p:spPr>
          <a:xfrm>
            <a:off x="7379208" y="5166360"/>
            <a:ext cx="1984248" cy="914400"/>
          </a:xfrm>
          <a:prstGeom prst="roundRect">
            <a:avLst>
              <a:gd name="adj" fmla="val 10000"/>
            </a:avLst>
          </a:prstGeom>
          <a:solidFill>
            <a:schemeClr val="bg2"/>
          </a:solidFill>
          <a:ln w="12700">
            <a:solidFill>
              <a:srgbClr val="D5DCE6"/>
            </a:solidFill>
            <a:prstDash val="solid"/>
          </a:ln>
        </p:spPr>
      </p:sp>
      <p:sp>
        <p:nvSpPr>
          <p:cNvPr id="45" name="Shape 37"/>
          <p:cNvSpPr/>
          <p:nvPr/>
        </p:nvSpPr>
        <p:spPr>
          <a:xfrm>
            <a:off x="7516368" y="5349240"/>
            <a:ext cx="548640" cy="548640"/>
          </a:xfrm>
          <a:prstGeom prst="ellipse">
            <a:avLst/>
          </a:prstGeom>
          <a:solidFill>
            <a:schemeClr val="tx2"/>
          </a:solidFill>
          <a:ln/>
        </p:spPr>
      </p:sp>
      <p:sp>
        <p:nvSpPr>
          <p:cNvPr id="46" name="Text 38"/>
          <p:cNvSpPr txBox="1"/>
          <p:nvPr/>
        </p:nvSpPr>
        <p:spPr>
          <a:xfrm>
            <a:off x="7516368" y="5349240"/>
            <a:ext cx="548640" cy="548640"/>
          </a:xfrm>
          <a:prstGeom prst="rect">
            <a:avLst/>
          </a:prstGeom>
          <a:noFill/>
          <a:ln/>
        </p:spPr>
        <p:txBody>
          <a:bodyPr wrap="square" lIns="0" tIns="0" rIns="0" bIns="0" rtlCol="0" anchor="ctr"/>
          <a:lstStyle/>
          <a:p>
            <a:pPr algn="ctr" indent="0" marL="0">
              <a:buNone/>
            </a:pPr>
            <a:r>
              <a:rPr lang="en-US" sz="1800" b="1" dirty="0">
                <a:solidFill>
                  <a:schemeClr val="bg1"/>
                </a:solidFill>
              </a:rPr>
              <a:t>4</a:t>
            </a:r>
            <a:endParaRPr lang="en-US" sz="1800" dirty="0"/>
          </a:p>
        </p:txBody>
      </p:sp>
      <p:sp>
        <p:nvSpPr>
          <p:cNvPr id="47" name="Text 39"/>
          <p:cNvSpPr txBox="1"/>
          <p:nvPr/>
        </p:nvSpPr>
        <p:spPr>
          <a:xfrm>
            <a:off x="8156448" y="5193792"/>
            <a:ext cx="1115568" cy="859536"/>
          </a:xfrm>
          <a:prstGeom prst="rect">
            <a:avLst/>
          </a:prstGeom>
          <a:noFill/>
          <a:ln/>
        </p:spPr>
        <p:txBody>
          <a:bodyPr wrap="square" lIns="0" tIns="0" rIns="0" bIns="0" rtlCol="0" anchor="ctr"/>
          <a:lstStyle/>
          <a:p>
            <a:pPr algn="l" indent="0" marL="0">
              <a:buNone/>
            </a:pPr>
            <a:r>
              <a:rPr lang="en-US" sz="1500" b="1" dirty="0">
                <a:solidFill>
                  <a:schemeClr val="tx2"/>
                </a:solidFill>
              </a:rPr>
              <a:t>Écrire</a:t>
            </a:r>
            <a:endParaRPr lang="en-US" sz="1500" dirty="0"/>
          </a:p>
          <a:p>
            <a:pPr algn="l" indent="0" marL="0">
              <a:buNone/>
            </a:pPr>
            <a:r>
              <a:rPr lang="en-US" sz="1500" i="1" dirty="0">
                <a:solidFill>
                  <a:schemeClr val="tx2"/>
                </a:solidFill>
              </a:rPr>
              <a:t>TAAK 2 · p. 10</a:t>
            </a:r>
            <a:endParaRPr lang="en-US" sz="1500" dirty="0"/>
          </a:p>
        </p:txBody>
      </p:sp>
      <p:sp>
        <p:nvSpPr>
          <p:cNvPr id="48" name="Shape 40"/>
          <p:cNvSpPr/>
          <p:nvPr/>
        </p:nvSpPr>
        <p:spPr>
          <a:xfrm>
            <a:off x="9400032" y="5623560"/>
            <a:ext cx="219456" cy="914"/>
          </a:xfrm>
          <a:prstGeom prst="line">
            <a:avLst/>
          </a:prstGeom>
          <a:noFill/>
          <a:ln w="25400">
            <a:solidFill>
              <a:srgbClr val="4A5A70"/>
            </a:solidFill>
            <a:prstDash val="solid"/>
            <a:tailEnd type="triangle"/>
          </a:ln>
        </p:spPr>
      </p:sp>
      <p:sp>
        <p:nvSpPr>
          <p:cNvPr id="49" name="Shape 41"/>
          <p:cNvSpPr/>
          <p:nvPr/>
        </p:nvSpPr>
        <p:spPr>
          <a:xfrm>
            <a:off x="9656064" y="5166360"/>
            <a:ext cx="1984248" cy="914400"/>
          </a:xfrm>
          <a:prstGeom prst="roundRect">
            <a:avLst>
              <a:gd name="adj" fmla="val 10000"/>
            </a:avLst>
          </a:prstGeom>
          <a:solidFill>
            <a:schemeClr val="bg2"/>
          </a:solidFill>
          <a:ln w="12700">
            <a:solidFill>
              <a:srgbClr val="D5DCE6"/>
            </a:solidFill>
            <a:prstDash val="solid"/>
          </a:ln>
        </p:spPr>
      </p:sp>
      <p:sp>
        <p:nvSpPr>
          <p:cNvPr id="50" name="Shape 42"/>
          <p:cNvSpPr/>
          <p:nvPr/>
        </p:nvSpPr>
        <p:spPr>
          <a:xfrm>
            <a:off x="9793224" y="5349240"/>
            <a:ext cx="548640" cy="548640"/>
          </a:xfrm>
          <a:prstGeom prst="ellipse">
            <a:avLst/>
          </a:prstGeom>
          <a:solidFill>
            <a:schemeClr val="tx2"/>
          </a:solidFill>
          <a:ln/>
        </p:spPr>
      </p:sp>
      <p:sp>
        <p:nvSpPr>
          <p:cNvPr id="51" name="Text 43"/>
          <p:cNvSpPr txBox="1"/>
          <p:nvPr/>
        </p:nvSpPr>
        <p:spPr>
          <a:xfrm>
            <a:off x="9793224" y="5349240"/>
            <a:ext cx="548640" cy="548640"/>
          </a:xfrm>
          <a:prstGeom prst="rect">
            <a:avLst/>
          </a:prstGeom>
          <a:noFill/>
          <a:ln/>
        </p:spPr>
        <p:txBody>
          <a:bodyPr wrap="square" lIns="0" tIns="0" rIns="0" bIns="0" rtlCol="0" anchor="ctr"/>
          <a:lstStyle/>
          <a:p>
            <a:pPr algn="ctr" indent="0" marL="0">
              <a:buNone/>
            </a:pPr>
            <a:r>
              <a:rPr lang="en-US" sz="1800" b="1" dirty="0">
                <a:solidFill>
                  <a:schemeClr val="bg1"/>
                </a:solidFill>
              </a:rPr>
              <a:t>5</a:t>
            </a:r>
            <a:endParaRPr lang="en-US" sz="1800" dirty="0"/>
          </a:p>
        </p:txBody>
      </p:sp>
      <p:sp>
        <p:nvSpPr>
          <p:cNvPr id="52" name="Text 44"/>
          <p:cNvSpPr txBox="1"/>
          <p:nvPr/>
        </p:nvSpPr>
        <p:spPr>
          <a:xfrm>
            <a:off x="10433304" y="5193792"/>
            <a:ext cx="1115568" cy="859536"/>
          </a:xfrm>
          <a:prstGeom prst="rect">
            <a:avLst/>
          </a:prstGeom>
          <a:noFill/>
          <a:ln/>
        </p:spPr>
        <p:txBody>
          <a:bodyPr wrap="square" lIns="0" tIns="0" rIns="0" bIns="0" rtlCol="0" anchor="ctr"/>
          <a:lstStyle/>
          <a:p>
            <a:pPr algn="l" indent="0" marL="0">
              <a:buNone/>
            </a:pPr>
            <a:r>
              <a:rPr lang="en-US" sz="1500" b="1" dirty="0">
                <a:solidFill>
                  <a:schemeClr val="tx2"/>
                </a:solidFill>
              </a:rPr>
              <a:t>Transférer</a:t>
            </a:r>
            <a:endParaRPr lang="en-US" sz="1500" dirty="0"/>
          </a:p>
          <a:p>
            <a:pPr algn="l" indent="0" marL="0">
              <a:buNone/>
            </a:pPr>
            <a:r>
              <a:rPr lang="en-US" sz="1500" i="1" dirty="0">
                <a:solidFill>
                  <a:schemeClr val="tx2"/>
                </a:solidFill>
              </a:rPr>
              <a:t>D2 · p. 10a</a:t>
            </a:r>
            <a:endParaRPr lang="en-US" sz="15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200" b="1" dirty="0">
                <a:solidFill>
                  <a:schemeClr val="tx2"/>
                </a:solidFill>
              </a:rPr>
              <a:t>Séquence 5.2 : décrire le bien</a:t>
            </a:r>
            <a:endParaRPr lang="en-US" sz="3200" dirty="0"/>
          </a:p>
        </p:txBody>
      </p:sp>
      <p:sp>
        <p:nvSpPr>
          <p:cNvPr id="3" name="tag"/>
          <p:cNvSpPr/>
          <p:nvPr/>
        </p:nvSpPr>
        <p:spPr>
          <a:xfrm>
            <a:off x="548640" y="237744"/>
            <a:ext cx="937260" cy="310896"/>
          </a:xfrm>
          <a:prstGeom prst="roundRect">
            <a:avLst>
              <a:gd name="adj" fmla="val 14706"/>
            </a:avLst>
          </a:prstGeom>
          <a:solidFill>
            <a:schemeClr val="accent2"/>
          </a:solidFill>
          <a:ln/>
        </p:spPr>
        <p:txBody>
          <a:bodyPr wrap="square" lIns="0" tIns="0" rIns="0" bIns="0" rtlCol="0" anchor="ctr"/>
          <a:lstStyle/>
          <a:p>
            <a:pPr algn="ctr" indent="0" marL="0">
              <a:buNone/>
            </a:pPr>
            <a:r>
              <a:rPr lang="en-US" sz="1200" b="1" spc="100" kern="0" dirty="0">
                <a:solidFill>
                  <a:schemeClr val="bg1"/>
                </a:solidFill>
              </a:rPr>
              <a:t>FOCUS</a:t>
            </a:r>
            <a:endParaRPr lang="en-US" sz="1200" dirty="0"/>
          </a:p>
        </p:txBody>
      </p:sp>
      <p:sp>
        <p:nvSpPr>
          <p:cNvPr id="4" name="Text 2"/>
          <p:cNvSpPr txBox="1"/>
          <p:nvPr/>
        </p:nvSpPr>
        <p:spPr>
          <a:xfrm>
            <a:off x="8897112" y="219456"/>
            <a:ext cx="2743200" cy="347472"/>
          </a:xfrm>
          <a:prstGeom prst="rect">
            <a:avLst/>
          </a:prstGeom>
          <a:noFill/>
          <a:ln/>
        </p:spPr>
        <p:txBody>
          <a:bodyPr wrap="square" lIns="0" tIns="0" rIns="0" bIns="0" rtlCol="0" anchor="ctr"/>
          <a:lstStyle/>
          <a:p>
            <a:pPr algn="r" indent="0" marL="0">
              <a:buNone/>
            </a:pPr>
            <a:r>
              <a:rPr lang="en-US" sz="1200" i="1" dirty="0">
                <a:solidFill>
                  <a:schemeClr val="accent5"/>
                </a:solidFill>
              </a:rPr>
              <a:t>Livret p. 7</a:t>
            </a:r>
            <a:endParaRPr lang="en-US" sz="1200" dirty="0"/>
          </a:p>
        </p:txBody>
      </p:sp>
      <p:pic>
        <p:nvPicPr>
          <p:cNvPr id="6" name="illustration" descr="Illustration du syllabus">    </p:cNvPr>
          <p:cNvPicPr>
            <a:picLocks noChangeAspect="1"/>
          </p:cNvPicPr>
          <p:nvPr/>
        </p:nvPicPr>
        <p:blipFill>
          <a:blip r:embed="rId1"/>
          <a:stretch>
            <a:fillRect/>
          </a:stretch>
        </p:blipFill>
        <p:spPr>
          <a:xfrm>
            <a:off x="548640" y="1508760"/>
            <a:ext cx="6035040" cy="4025372"/>
          </a:xfrm>
          <a:prstGeom prst="rect">
            <a:avLst/>
          </a:prstGeom>
          <a:effectLst>
            <a:outerShdw sx="100000" sy="100000" kx="0" ky="0" algn="bl" rotWithShape="0" blurRad="101600" dist="25400" dir="3600000">
              <a:srgbClr val="000000">
                <a:alpha val="18000"/>
              </a:srgbClr>
            </a:outerShdw>
          </a:effectLst>
        </p:spPr>
      </p:pic>
      <p:sp>
        <p:nvSpPr>
          <p:cNvPr id="7" name="Shape 3"/>
          <p:cNvSpPr/>
          <p:nvPr/>
        </p:nvSpPr>
        <p:spPr>
          <a:xfrm>
            <a:off x="6995160" y="1508760"/>
            <a:ext cx="1600200" cy="868680"/>
          </a:xfrm>
          <a:prstGeom prst="roundRect">
            <a:avLst>
              <a:gd name="adj" fmla="val 8421"/>
            </a:avLst>
          </a:prstGeom>
          <a:solidFill>
            <a:schemeClr val="tx2"/>
          </a:solidFill>
          <a:ln/>
        </p:spPr>
      </p:sp>
      <p:sp>
        <p:nvSpPr>
          <p:cNvPr id="8" name="Text 4"/>
          <p:cNvSpPr txBox="1"/>
          <p:nvPr/>
        </p:nvSpPr>
        <p:spPr>
          <a:xfrm>
            <a:off x="6995160" y="1554480"/>
            <a:ext cx="1600200" cy="777240"/>
          </a:xfrm>
          <a:prstGeom prst="rect">
            <a:avLst/>
          </a:prstGeom>
          <a:noFill/>
          <a:ln/>
        </p:spPr>
        <p:txBody>
          <a:bodyPr wrap="square" lIns="0" tIns="0" rIns="0" bIns="0" rtlCol="0" anchor="ctr"/>
          <a:lstStyle/>
          <a:p>
            <a:pPr algn="ctr" indent="0" marL="0">
              <a:buNone/>
            </a:pPr>
            <a:r>
              <a:rPr lang="en-US" sz="1100" b="1" spc="200" kern="0" dirty="0">
                <a:solidFill>
                  <a:schemeClr val="bg2"/>
                </a:solidFill>
              </a:rPr>
              <a:t>SÉQUENCE</a:t>
            </a:r>
            <a:endParaRPr lang="en-US" sz="1100" dirty="0"/>
          </a:p>
          <a:p>
            <a:pPr algn="ctr" indent="0" marL="0">
              <a:buNone/>
            </a:pPr>
            <a:r>
              <a:rPr lang="en-US" sz="2400" b="1" dirty="0">
                <a:solidFill>
                  <a:schemeClr val="bg1"/>
                </a:solidFill>
                <a:latin typeface="+mj-lt" pitchFamily="34" charset="0"/>
                <a:ea typeface="+mj-lt" pitchFamily="34" charset="-122"/>
                <a:cs typeface="+mj-lt" pitchFamily="34" charset="-120"/>
              </a:rPr>
              <a:t>5.2</a:t>
            </a:r>
            <a:endParaRPr lang="en-US" sz="1100" dirty="0"/>
          </a:p>
        </p:txBody>
      </p:sp>
      <p:sp>
        <p:nvSpPr>
          <p:cNvPr id="9" name="Text 5"/>
          <p:cNvSpPr txBox="1"/>
          <p:nvPr/>
        </p:nvSpPr>
        <p:spPr>
          <a:xfrm>
            <a:off x="6995160" y="2560320"/>
            <a:ext cx="4645152" cy="2121408"/>
          </a:xfrm>
          <a:prstGeom prst="rect">
            <a:avLst/>
          </a:prstGeom>
          <a:noFill/>
          <a:ln/>
        </p:spPr>
        <p:txBody>
          <a:bodyPr wrap="square" lIns="0" tIns="0" rIns="0" bIns="0" rtlCol="0" anchor="t"/>
          <a:lstStyle/>
          <a:p>
            <a:pPr indent="0" marL="0">
              <a:spcAft>
                <a:spcPts val="1000"/>
              </a:spcAft>
              <a:buNone/>
            </a:pPr>
            <a:r>
              <a:rPr lang="en-US" sz="1700" b="1" dirty="0">
                <a:solidFill>
                  <a:schemeClr val="tx1"/>
                </a:solidFill>
              </a:rPr>
              <a:t>Focus : lignes 1, 3 et 5</a:t>
            </a:r>
            <a:endParaRPr lang="en-US" sz="1700" dirty="0"/>
          </a:p>
          <a:p>
            <a:pPr indent="0" marL="0">
              <a:spcAft>
                <a:spcPts val="1000"/>
              </a:spcAft>
              <a:buNone/>
            </a:pPr>
            <a:r>
              <a:rPr lang="en-US" sz="1700" dirty="0">
                <a:solidFill>
                  <a:schemeClr val="tx1"/>
                </a:solidFill>
              </a:rPr>
              <a:t>«Jij bent toch de stagiair </a:t>
            </a:r>
            <a:r>
              <a:rPr lang="en-US" sz="1700" b="1" dirty="0">
                <a:solidFill>
                  <a:schemeClr val="tx1"/>
                </a:solidFill>
              </a:rPr>
              <a:t>die</a:t>
            </a:r>
            <a:r>
              <a:rPr lang="en-US" sz="1700" dirty="0">
                <a:solidFill>
                  <a:schemeClr val="tx1"/>
                </a:solidFill>
              </a:rPr>
              <a:t> vorig jaar de opleiding vastgoed heeft gevolgd?»</a:t>
            </a:r>
            <a:endParaRPr lang="en-US" sz="1700" dirty="0"/>
          </a:p>
          <a:p>
            <a:pPr indent="0" marL="0">
              <a:spcAft>
                <a:spcPts val="1000"/>
              </a:spcAft>
              <a:buNone/>
            </a:pPr>
            <a:r>
              <a:rPr lang="en-US" sz="1700" dirty="0">
                <a:solidFill>
                  <a:schemeClr val="tx1"/>
                </a:solidFill>
              </a:rPr>
              <a:t>«Het is een woning </a:t>
            </a:r>
            <a:r>
              <a:rPr lang="en-US" sz="1700" b="1" dirty="0">
                <a:solidFill>
                  <a:schemeClr val="tx1"/>
                </a:solidFill>
              </a:rPr>
              <a:t>die</a:t>
            </a:r>
            <a:r>
              <a:rPr lang="en-US" sz="1700" dirty="0">
                <a:solidFill>
                  <a:schemeClr val="tx1"/>
                </a:solidFill>
              </a:rPr>
              <a:t> net gerenoveerd is.»</a:t>
            </a:r>
            <a:endParaRPr lang="en-US" sz="1700" dirty="0"/>
          </a:p>
          <a:p>
            <a:pPr indent="0" marL="0">
              <a:spcAft>
                <a:spcPts val="1000"/>
              </a:spcAft>
              <a:buNone/>
            </a:pPr>
            <a:r>
              <a:rPr lang="en-US" sz="1700" dirty="0">
                <a:solidFill>
                  <a:schemeClr val="tx1"/>
                </a:solidFill>
              </a:rPr>
              <a:t>«Dat is de man </a:t>
            </a:r>
            <a:r>
              <a:rPr lang="en-US" sz="1700" b="1" dirty="0">
                <a:solidFill>
                  <a:schemeClr val="tx1"/>
                </a:solidFill>
              </a:rPr>
              <a:t>die</a:t>
            </a:r>
            <a:r>
              <a:rPr lang="en-US" sz="1700" dirty="0">
                <a:solidFill>
                  <a:schemeClr val="tx1"/>
                </a:solidFill>
              </a:rPr>
              <a:t> ons vorige maand heeft gebeld.»</a:t>
            </a:r>
            <a:endParaRPr lang="en-US" sz="1700" dirty="0"/>
          </a:p>
        </p:txBody>
      </p:sp>
      <p:sp>
        <p:nvSpPr>
          <p:cNvPr id="10" name="Shape 6"/>
          <p:cNvSpPr/>
          <p:nvPr/>
        </p:nvSpPr>
        <p:spPr>
          <a:xfrm>
            <a:off x="6995160" y="4864608"/>
            <a:ext cx="4645152" cy="1426464"/>
          </a:xfrm>
          <a:prstGeom prst="roundRect">
            <a:avLst>
              <a:gd name="adj" fmla="val 5128"/>
            </a:avLst>
          </a:prstGeom>
          <a:solidFill>
            <a:schemeClr val="accent1">
              <a:alpha val="12000"/>
            </a:schemeClr>
          </a:solidFill>
          <a:ln w="12700">
            <a:solidFill>
              <a:srgbClr val="D9700F"/>
            </a:solidFill>
            <a:prstDash val="solid"/>
          </a:ln>
        </p:spPr>
      </p:sp>
      <p:sp>
        <p:nvSpPr>
          <p:cNvPr id="11" name="Text 7"/>
          <p:cNvSpPr txBox="1"/>
          <p:nvPr/>
        </p:nvSpPr>
        <p:spPr>
          <a:xfrm>
            <a:off x="7178040" y="4956048"/>
            <a:ext cx="4279392" cy="292608"/>
          </a:xfrm>
          <a:prstGeom prst="rect">
            <a:avLst/>
          </a:prstGeom>
          <a:noFill/>
          <a:ln/>
        </p:spPr>
        <p:txBody>
          <a:bodyPr wrap="square" lIns="0" tIns="0" rIns="0" bIns="0" rtlCol="0" anchor="ctr"/>
          <a:lstStyle/>
          <a:p>
            <a:pPr indent="0" marL="0">
              <a:buNone/>
            </a:pPr>
            <a:r>
              <a:rPr lang="en-US" sz="1200" b="1" spc="100" kern="0" dirty="0">
                <a:solidFill>
                  <a:schemeClr val="accent1"/>
                </a:solidFill>
              </a:rPr>
              <a:t>QUESTION À LA CLASSE</a:t>
            </a:r>
            <a:endParaRPr lang="en-US" sz="1200" dirty="0"/>
          </a:p>
        </p:txBody>
      </p:sp>
      <p:sp>
        <p:nvSpPr>
          <p:cNvPr id="12" name="Text 8"/>
          <p:cNvSpPr txBox="1"/>
          <p:nvPr/>
        </p:nvSpPr>
        <p:spPr>
          <a:xfrm>
            <a:off x="7178040" y="5248656"/>
            <a:ext cx="4279392" cy="969264"/>
          </a:xfrm>
          <a:prstGeom prst="rect">
            <a:avLst/>
          </a:prstGeom>
          <a:noFill/>
          <a:ln/>
        </p:spPr>
        <p:txBody>
          <a:bodyPr wrap="square" lIns="0" tIns="0" rIns="0" bIns="0" rtlCol="0" anchor="t"/>
          <a:lstStyle/>
          <a:p>
            <a:pPr indent="0" marL="0">
              <a:buNone/>
            </a:pPr>
            <a:r>
              <a:rPr lang="en-US" sz="1700" b="1" dirty="0">
                <a:solidFill>
                  <a:schemeClr val="tx1"/>
                </a:solidFill>
              </a:rPr>
              <a:t>①</a:t>
            </a:r>
            <a:r>
              <a:rPr lang="en-US" sz="1700" dirty="0">
                <a:solidFill>
                  <a:schemeClr val="tx1"/>
                </a:solidFill>
              </a:rPr>
              <a:t> Quel petit mot relie la 2e partie de la phrase au nom ?  </a:t>
            </a:r>
            <a:r>
              <a:rPr lang="en-US" sz="1700" b="1" dirty="0">
                <a:solidFill>
                  <a:schemeClr val="tx1"/>
                </a:solidFill>
              </a:rPr>
              <a:t>②</a:t>
            </a:r>
            <a:r>
              <a:rPr lang="en-US" sz="1700" dirty="0">
                <a:solidFill>
                  <a:schemeClr val="tx1"/>
                </a:solidFill>
              </a:rPr>
              <a:t> Où se trouve le verbe conjugué ?</a:t>
            </a:r>
            <a:endParaRPr lang="en-US" sz="17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200" b="1" dirty="0">
                <a:solidFill>
                  <a:schemeClr val="tx2"/>
                </a:solidFill>
              </a:rPr>
              <a:t>Die ou dat ? La règle des articles</a:t>
            </a:r>
            <a:endParaRPr lang="en-US" sz="3200" dirty="0"/>
          </a:p>
        </p:txBody>
      </p:sp>
      <p:sp>
        <p:nvSpPr>
          <p:cNvPr id="3" name="tag"/>
          <p:cNvSpPr/>
          <p:nvPr/>
        </p:nvSpPr>
        <p:spPr>
          <a:xfrm>
            <a:off x="548640" y="237744"/>
            <a:ext cx="1508760" cy="310896"/>
          </a:xfrm>
          <a:prstGeom prst="roundRect">
            <a:avLst>
              <a:gd name="adj" fmla="val 14706"/>
            </a:avLst>
          </a:prstGeom>
          <a:solidFill>
            <a:schemeClr val="tx2"/>
          </a:solidFill>
          <a:ln/>
        </p:spPr>
        <p:txBody>
          <a:bodyPr wrap="square" lIns="0" tIns="0" rIns="0" bIns="0" rtlCol="0" anchor="ctr"/>
          <a:lstStyle/>
          <a:p>
            <a:pPr algn="ctr" indent="0" marL="0">
              <a:buNone/>
            </a:pPr>
            <a:r>
              <a:rPr lang="en-US" sz="1200" b="1" spc="100" kern="0" dirty="0">
                <a:solidFill>
                  <a:schemeClr val="bg1"/>
                </a:solidFill>
              </a:rPr>
              <a:t>GRAMMATICA</a:t>
            </a:r>
            <a:endParaRPr lang="en-US" sz="1200" dirty="0"/>
          </a:p>
        </p:txBody>
      </p:sp>
      <p:sp>
        <p:nvSpPr>
          <p:cNvPr id="4" name="Text 2"/>
          <p:cNvSpPr txBox="1"/>
          <p:nvPr/>
        </p:nvSpPr>
        <p:spPr>
          <a:xfrm>
            <a:off x="8897112" y="219456"/>
            <a:ext cx="2743200" cy="347472"/>
          </a:xfrm>
          <a:prstGeom prst="rect">
            <a:avLst/>
          </a:prstGeom>
          <a:noFill/>
          <a:ln/>
        </p:spPr>
        <p:txBody>
          <a:bodyPr wrap="square" lIns="0" tIns="0" rIns="0" bIns="0" rtlCol="0" anchor="ctr"/>
          <a:lstStyle/>
          <a:p>
            <a:pPr algn="r" indent="0" marL="0">
              <a:buNone/>
            </a:pPr>
            <a:r>
              <a:rPr lang="en-US" sz="1200" i="1" dirty="0">
                <a:solidFill>
                  <a:schemeClr val="accent5"/>
                </a:solidFill>
              </a:rPr>
              <a:t>Livret p. 8</a:t>
            </a:r>
            <a:endParaRPr lang="en-US" sz="1200" dirty="0"/>
          </a:p>
        </p:txBody>
      </p:sp>
      <p:pic>
        <p:nvPicPr>
          <p:cNvPr id="6" name="illustration" descr="Die : mots de et pluriels ; dat : mots het au singulier">    </p:cNvPr>
          <p:cNvPicPr>
            <a:picLocks noChangeAspect="1"/>
          </p:cNvPicPr>
          <p:nvPr/>
        </p:nvPicPr>
        <p:blipFill>
          <a:blip r:embed="rId1"/>
          <a:stretch>
            <a:fillRect/>
          </a:stretch>
        </p:blipFill>
        <p:spPr>
          <a:xfrm>
            <a:off x="1819148" y="1481328"/>
            <a:ext cx="8550656" cy="4809744"/>
          </a:xfrm>
          <a:prstGeom prst="rect">
            <a:avLst/>
          </a:prstGeom>
          <a:effectLst>
            <a:outerShdw sx="100000" sy="100000" kx="0" ky="0" algn="bl" rotWithShape="0" blurRad="101600" dist="25400" dir="3600000">
              <a:srgbClr val="000000">
                <a:alpha val="18000"/>
              </a:srgbClr>
            </a:outerShdw>
          </a:effectLst>
        </p:spPr>
      </p:pic>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200" b="1" dirty="0">
                <a:solidFill>
                  <a:schemeClr val="tx2"/>
                </a:solidFill>
              </a:rPr>
              <a:t>Le réflexe : de ou het ?</a:t>
            </a:r>
            <a:endParaRPr lang="en-US" sz="3200" dirty="0"/>
          </a:p>
        </p:txBody>
      </p:sp>
      <p:sp>
        <p:nvSpPr>
          <p:cNvPr id="3" name="tag"/>
          <p:cNvSpPr/>
          <p:nvPr/>
        </p:nvSpPr>
        <p:spPr>
          <a:xfrm>
            <a:off x="548640" y="237744"/>
            <a:ext cx="1303020" cy="310896"/>
          </a:xfrm>
          <a:prstGeom prst="roundRect">
            <a:avLst>
              <a:gd name="adj" fmla="val 14706"/>
            </a:avLst>
          </a:prstGeom>
          <a:solidFill>
            <a:schemeClr val="accent5"/>
          </a:solidFill>
          <a:ln/>
        </p:spPr>
        <p:txBody>
          <a:bodyPr wrap="square" lIns="0" tIns="0" rIns="0" bIns="0" rtlCol="0" anchor="ctr"/>
          <a:lstStyle/>
          <a:p>
            <a:pPr algn="ctr" indent="0" marL="0">
              <a:buNone/>
            </a:pPr>
            <a:r>
              <a:rPr lang="en-US" sz="1200" b="1" spc="100" kern="0" dirty="0">
                <a:solidFill>
                  <a:schemeClr val="bg1"/>
                </a:solidFill>
              </a:rPr>
              <a:t>MÉTHODE</a:t>
            </a:r>
            <a:endParaRPr lang="en-US" sz="1200" dirty="0"/>
          </a:p>
        </p:txBody>
      </p:sp>
      <p:sp>
        <p:nvSpPr>
          <p:cNvPr id="4" name="Text 2"/>
          <p:cNvSpPr txBox="1"/>
          <p:nvPr/>
        </p:nvSpPr>
        <p:spPr>
          <a:xfrm>
            <a:off x="8897112" y="219456"/>
            <a:ext cx="2743200" cy="347472"/>
          </a:xfrm>
          <a:prstGeom prst="rect">
            <a:avLst/>
          </a:prstGeom>
          <a:noFill/>
          <a:ln/>
        </p:spPr>
        <p:txBody>
          <a:bodyPr wrap="square" lIns="0" tIns="0" rIns="0" bIns="0" rtlCol="0" anchor="ctr"/>
          <a:lstStyle/>
          <a:p>
            <a:pPr algn="r" indent="0" marL="0">
              <a:buNone/>
            </a:pPr>
            <a:r>
              <a:rPr lang="en-US" sz="1200" i="1" dirty="0">
                <a:solidFill>
                  <a:schemeClr val="accent5"/>
                </a:solidFill>
              </a:rPr>
              <a:t>Hors syllabus</a:t>
            </a:r>
            <a:endParaRPr lang="en-US" sz="1200" dirty="0"/>
          </a:p>
        </p:txBody>
      </p:sp>
      <p:sp>
        <p:nvSpPr>
          <p:cNvPr id="6" name="Text 3"/>
          <p:cNvSpPr txBox="1"/>
          <p:nvPr/>
        </p:nvSpPr>
        <p:spPr>
          <a:xfrm>
            <a:off x="548640" y="1481328"/>
            <a:ext cx="2377440" cy="274320"/>
          </a:xfrm>
          <a:prstGeom prst="rect">
            <a:avLst/>
          </a:prstGeom>
          <a:noFill/>
          <a:ln/>
        </p:spPr>
        <p:txBody>
          <a:bodyPr wrap="square" lIns="0" tIns="0" rIns="0" bIns="0" rtlCol="0" anchor="ctr"/>
          <a:lstStyle/>
          <a:p>
            <a:pPr algn="l" indent="0" marL="0">
              <a:buNone/>
            </a:pPr>
            <a:r>
              <a:rPr lang="en-US" sz="1200" b="1" spc="150" kern="0" dirty="0">
                <a:solidFill>
                  <a:schemeClr val="accent5"/>
                </a:solidFill>
              </a:rPr>
              <a:t>LE NOM</a:t>
            </a:r>
            <a:endParaRPr lang="en-US" sz="1200" dirty="0"/>
          </a:p>
        </p:txBody>
      </p:sp>
      <p:sp>
        <p:nvSpPr>
          <p:cNvPr id="7" name="Text 4"/>
          <p:cNvSpPr txBox="1"/>
          <p:nvPr/>
        </p:nvSpPr>
        <p:spPr>
          <a:xfrm>
            <a:off x="3246120" y="1481328"/>
            <a:ext cx="2377440" cy="274320"/>
          </a:xfrm>
          <a:prstGeom prst="rect">
            <a:avLst/>
          </a:prstGeom>
          <a:noFill/>
          <a:ln/>
        </p:spPr>
        <p:txBody>
          <a:bodyPr wrap="square" lIns="0" tIns="0" rIns="0" bIns="0" rtlCol="0" anchor="ctr"/>
          <a:lstStyle/>
          <a:p>
            <a:pPr algn="l" indent="0" marL="0">
              <a:buNone/>
            </a:pPr>
            <a:r>
              <a:rPr lang="en-US" sz="1200" b="1" spc="150" kern="0" dirty="0">
                <a:solidFill>
                  <a:schemeClr val="accent5"/>
                </a:solidFill>
              </a:rPr>
              <a:t>SON ARTICLE</a:t>
            </a:r>
            <a:endParaRPr lang="en-US" sz="1200" dirty="0"/>
          </a:p>
        </p:txBody>
      </p:sp>
      <p:sp>
        <p:nvSpPr>
          <p:cNvPr id="8" name="Text 5"/>
          <p:cNvSpPr txBox="1"/>
          <p:nvPr/>
        </p:nvSpPr>
        <p:spPr>
          <a:xfrm>
            <a:off x="5897880" y="1481328"/>
            <a:ext cx="1280160" cy="274320"/>
          </a:xfrm>
          <a:prstGeom prst="rect">
            <a:avLst/>
          </a:prstGeom>
          <a:noFill/>
          <a:ln/>
        </p:spPr>
        <p:txBody>
          <a:bodyPr wrap="square" lIns="0" tIns="0" rIns="0" bIns="0" rtlCol="0" anchor="ctr"/>
          <a:lstStyle/>
          <a:p>
            <a:pPr algn="ctr" indent="0" marL="0">
              <a:buNone/>
            </a:pPr>
            <a:r>
              <a:rPr lang="en-US" sz="1200" b="1" spc="150" kern="0" dirty="0">
                <a:solidFill>
                  <a:schemeClr val="accent5"/>
                </a:solidFill>
              </a:rPr>
              <a:t>LE RELATIF</a:t>
            </a:r>
            <a:endParaRPr lang="en-US" sz="1200" dirty="0"/>
          </a:p>
        </p:txBody>
      </p:sp>
      <p:sp>
        <p:nvSpPr>
          <p:cNvPr id="9" name="Text 6"/>
          <p:cNvSpPr txBox="1"/>
          <p:nvPr/>
        </p:nvSpPr>
        <p:spPr>
          <a:xfrm>
            <a:off x="7498080" y="1481328"/>
            <a:ext cx="4114800" cy="274320"/>
          </a:xfrm>
          <a:prstGeom prst="rect">
            <a:avLst/>
          </a:prstGeom>
          <a:noFill/>
          <a:ln/>
        </p:spPr>
        <p:txBody>
          <a:bodyPr wrap="square" lIns="0" tIns="0" rIns="0" bIns="0" rtlCol="0" anchor="ctr"/>
          <a:lstStyle/>
          <a:p>
            <a:pPr algn="l" indent="0" marL="0">
              <a:buNone/>
            </a:pPr>
            <a:r>
              <a:rPr lang="en-US" sz="1200" b="1" spc="150" kern="0" dirty="0">
                <a:solidFill>
                  <a:schemeClr val="accent5"/>
                </a:solidFill>
              </a:rPr>
              <a:t>DANS L’ANNONCE</a:t>
            </a:r>
            <a:endParaRPr lang="en-US" sz="1200" dirty="0"/>
          </a:p>
        </p:txBody>
      </p:sp>
      <p:sp>
        <p:nvSpPr>
          <p:cNvPr id="10" name="Shape 7"/>
          <p:cNvSpPr/>
          <p:nvPr/>
        </p:nvSpPr>
        <p:spPr>
          <a:xfrm>
            <a:off x="548640" y="1874520"/>
            <a:ext cx="2377440" cy="768096"/>
          </a:xfrm>
          <a:prstGeom prst="roundRect">
            <a:avLst>
              <a:gd name="adj" fmla="val 11905"/>
            </a:avLst>
          </a:prstGeom>
          <a:solidFill>
            <a:schemeClr val="accent2">
              <a:alpha val="12000"/>
            </a:schemeClr>
          </a:solidFill>
          <a:ln w="19050">
            <a:solidFill>
              <a:srgbClr val="2A6FB0"/>
            </a:solidFill>
            <a:prstDash val="solid"/>
          </a:ln>
        </p:spPr>
      </p:sp>
      <p:sp>
        <p:nvSpPr>
          <p:cNvPr id="11" name="Text 8"/>
          <p:cNvSpPr txBox="1"/>
          <p:nvPr/>
        </p:nvSpPr>
        <p:spPr>
          <a:xfrm>
            <a:off x="548640" y="1874520"/>
            <a:ext cx="2377440" cy="768096"/>
          </a:xfrm>
          <a:prstGeom prst="rect">
            <a:avLst/>
          </a:prstGeom>
          <a:noFill/>
          <a:ln/>
        </p:spPr>
        <p:txBody>
          <a:bodyPr wrap="square" lIns="0" tIns="0" rIns="0" bIns="0" rtlCol="0" anchor="ctr"/>
          <a:lstStyle/>
          <a:p>
            <a:pPr algn="ctr" indent="0" marL="0">
              <a:buNone/>
            </a:pPr>
            <a:r>
              <a:rPr lang="en-US" sz="2100" b="1" i="1" dirty="0">
                <a:solidFill>
                  <a:schemeClr val="accent2"/>
                </a:solidFill>
              </a:rPr>
              <a:t>de woning</a:t>
            </a:r>
            <a:endParaRPr lang="en-US" sz="2100" dirty="0"/>
          </a:p>
        </p:txBody>
      </p:sp>
      <p:sp>
        <p:nvSpPr>
          <p:cNvPr id="12" name="Shape 9"/>
          <p:cNvSpPr/>
          <p:nvPr/>
        </p:nvSpPr>
        <p:spPr>
          <a:xfrm>
            <a:off x="2971800" y="2258568"/>
            <a:ext cx="228600" cy="914"/>
          </a:xfrm>
          <a:prstGeom prst="line">
            <a:avLst/>
          </a:prstGeom>
          <a:noFill/>
          <a:ln w="25400">
            <a:solidFill>
              <a:srgbClr val="4A5A70"/>
            </a:solidFill>
            <a:prstDash val="solid"/>
            <a:tailEnd type="triangle"/>
          </a:ln>
        </p:spPr>
      </p:sp>
      <p:sp>
        <p:nvSpPr>
          <p:cNvPr id="13" name="Text 10"/>
          <p:cNvSpPr txBox="1"/>
          <p:nvPr/>
        </p:nvSpPr>
        <p:spPr>
          <a:xfrm>
            <a:off x="3246120" y="1874520"/>
            <a:ext cx="2331720" cy="768096"/>
          </a:xfrm>
          <a:prstGeom prst="rect">
            <a:avLst/>
          </a:prstGeom>
          <a:noFill/>
          <a:ln/>
        </p:spPr>
        <p:txBody>
          <a:bodyPr wrap="square" lIns="0" tIns="0" rIns="0" bIns="0" rtlCol="0" anchor="ctr"/>
          <a:lstStyle/>
          <a:p>
            <a:pPr algn="l" indent="0" marL="0">
              <a:buNone/>
            </a:pPr>
            <a:r>
              <a:rPr lang="en-US" sz="1700" b="1" dirty="0">
                <a:solidFill>
                  <a:schemeClr val="tx2"/>
                </a:solidFill>
              </a:rPr>
              <a:t>mot </a:t>
            </a:r>
            <a:r>
              <a:rPr lang="en-US" sz="1700" b="1" i="1" dirty="0">
                <a:solidFill>
                  <a:schemeClr val="tx2"/>
                </a:solidFill>
              </a:rPr>
              <a:t>de</a:t>
            </a:r>
            <a:endParaRPr lang="en-US" sz="1700" dirty="0"/>
          </a:p>
        </p:txBody>
      </p:sp>
      <p:sp>
        <p:nvSpPr>
          <p:cNvPr id="14" name="Shape 11"/>
          <p:cNvSpPr/>
          <p:nvPr/>
        </p:nvSpPr>
        <p:spPr>
          <a:xfrm>
            <a:off x="5577840" y="2258568"/>
            <a:ext cx="457200" cy="914"/>
          </a:xfrm>
          <a:prstGeom prst="line">
            <a:avLst/>
          </a:prstGeom>
          <a:noFill/>
          <a:ln w="25400">
            <a:solidFill>
              <a:srgbClr val="2A6FB0"/>
            </a:solidFill>
            <a:prstDash val="solid"/>
            <a:tailEnd type="triangle"/>
          </a:ln>
        </p:spPr>
      </p:sp>
      <p:sp>
        <p:nvSpPr>
          <p:cNvPr id="15" name="Shape 12"/>
          <p:cNvSpPr/>
          <p:nvPr/>
        </p:nvSpPr>
        <p:spPr>
          <a:xfrm>
            <a:off x="6108192" y="1847088"/>
            <a:ext cx="822960" cy="822960"/>
          </a:xfrm>
          <a:prstGeom prst="ellipse">
            <a:avLst/>
          </a:prstGeom>
          <a:solidFill>
            <a:schemeClr val="accent2"/>
          </a:solidFill>
          <a:ln/>
          <a:effectLst>
            <a:outerShdw sx="100000" sy="100000" kx="0" ky="0" algn="bl" rotWithShape="0" blurRad="101600" dist="25400" dir="3600000">
              <a:srgbClr val="000000">
                <a:alpha val="18000"/>
              </a:srgbClr>
            </a:outerShdw>
          </a:effectLst>
        </p:spPr>
      </p:sp>
      <p:sp>
        <p:nvSpPr>
          <p:cNvPr id="16" name="Text 13"/>
          <p:cNvSpPr txBox="1"/>
          <p:nvPr/>
        </p:nvSpPr>
        <p:spPr>
          <a:xfrm>
            <a:off x="6108192" y="1847088"/>
            <a:ext cx="822960" cy="822960"/>
          </a:xfrm>
          <a:prstGeom prst="rect">
            <a:avLst/>
          </a:prstGeom>
          <a:noFill/>
          <a:ln/>
        </p:spPr>
        <p:txBody>
          <a:bodyPr wrap="square" lIns="0" tIns="0" rIns="0" bIns="0" rtlCol="0" anchor="ctr"/>
          <a:lstStyle/>
          <a:p>
            <a:pPr algn="ctr" indent="0" marL="0">
              <a:buNone/>
            </a:pPr>
            <a:r>
              <a:rPr lang="en-US" sz="2100" b="1" dirty="0">
                <a:solidFill>
                  <a:schemeClr val="bg1"/>
                </a:solidFill>
              </a:rPr>
              <a:t>die</a:t>
            </a:r>
            <a:endParaRPr lang="en-US" sz="2100" dirty="0"/>
          </a:p>
        </p:txBody>
      </p:sp>
      <p:sp>
        <p:nvSpPr>
          <p:cNvPr id="17" name="Text 14"/>
          <p:cNvSpPr txBox="1"/>
          <p:nvPr/>
        </p:nvSpPr>
        <p:spPr>
          <a:xfrm>
            <a:off x="7498080" y="1874520"/>
            <a:ext cx="4160520" cy="768096"/>
          </a:xfrm>
          <a:prstGeom prst="rect">
            <a:avLst/>
          </a:prstGeom>
          <a:noFill/>
          <a:ln/>
        </p:spPr>
        <p:txBody>
          <a:bodyPr wrap="square" lIns="0" tIns="0" rIns="0" bIns="0" rtlCol="0" anchor="ctr"/>
          <a:lstStyle/>
          <a:p>
            <a:pPr algn="l" indent="0" marL="0">
              <a:buNone/>
            </a:pPr>
            <a:r>
              <a:rPr lang="en-US" sz="1900" i="1" dirty="0">
                <a:solidFill>
                  <a:schemeClr val="tx1"/>
                </a:solidFill>
              </a:rPr>
              <a:t>de woning </a:t>
            </a:r>
            <a:r>
              <a:rPr lang="en-US" sz="1900" b="1" i="1" dirty="0">
                <a:solidFill>
                  <a:schemeClr val="accent2"/>
                </a:solidFill>
              </a:rPr>
              <a:t>die</a:t>
            </a:r>
            <a:r>
              <a:rPr lang="en-US" sz="1900" i="1" dirty="0">
                <a:solidFill>
                  <a:schemeClr val="tx1"/>
                </a:solidFill>
              </a:rPr>
              <a:t> net gerenoveerd </a:t>
            </a:r>
            <a:r>
              <a:rPr lang="en-US" sz="1900" b="1" i="1" dirty="0">
                <a:solidFill>
                  <a:schemeClr val="accent6"/>
                </a:solidFill>
              </a:rPr>
              <a:t>is</a:t>
            </a:r>
            <a:endParaRPr lang="en-US" sz="1900" dirty="0"/>
          </a:p>
        </p:txBody>
      </p:sp>
      <p:sp>
        <p:nvSpPr>
          <p:cNvPr id="18" name="Shape 15"/>
          <p:cNvSpPr/>
          <p:nvPr/>
        </p:nvSpPr>
        <p:spPr>
          <a:xfrm>
            <a:off x="548640" y="2898648"/>
            <a:ext cx="2377440" cy="768096"/>
          </a:xfrm>
          <a:prstGeom prst="roundRect">
            <a:avLst>
              <a:gd name="adj" fmla="val 11905"/>
            </a:avLst>
          </a:prstGeom>
          <a:solidFill>
            <a:schemeClr val="accent4">
              <a:alpha val="12000"/>
            </a:schemeClr>
          </a:solidFill>
          <a:ln w="19050">
            <a:solidFill>
              <a:srgbClr val="B4236A"/>
            </a:solidFill>
            <a:prstDash val="solid"/>
          </a:ln>
        </p:spPr>
      </p:sp>
      <p:sp>
        <p:nvSpPr>
          <p:cNvPr id="19" name="Text 16"/>
          <p:cNvSpPr txBox="1"/>
          <p:nvPr/>
        </p:nvSpPr>
        <p:spPr>
          <a:xfrm>
            <a:off x="548640" y="2898648"/>
            <a:ext cx="2377440" cy="768096"/>
          </a:xfrm>
          <a:prstGeom prst="rect">
            <a:avLst/>
          </a:prstGeom>
          <a:noFill/>
          <a:ln/>
        </p:spPr>
        <p:txBody>
          <a:bodyPr wrap="square" lIns="0" tIns="0" rIns="0" bIns="0" rtlCol="0" anchor="ctr"/>
          <a:lstStyle/>
          <a:p>
            <a:pPr algn="ctr" indent="0" marL="0">
              <a:buNone/>
            </a:pPr>
            <a:r>
              <a:rPr lang="en-US" sz="2100" b="1" i="1" dirty="0">
                <a:solidFill>
                  <a:schemeClr val="accent4"/>
                </a:solidFill>
              </a:rPr>
              <a:t>het huis</a:t>
            </a:r>
            <a:endParaRPr lang="en-US" sz="2100" dirty="0"/>
          </a:p>
        </p:txBody>
      </p:sp>
      <p:sp>
        <p:nvSpPr>
          <p:cNvPr id="20" name="Shape 17"/>
          <p:cNvSpPr/>
          <p:nvPr/>
        </p:nvSpPr>
        <p:spPr>
          <a:xfrm>
            <a:off x="2971800" y="3282696"/>
            <a:ext cx="228600" cy="914"/>
          </a:xfrm>
          <a:prstGeom prst="line">
            <a:avLst/>
          </a:prstGeom>
          <a:noFill/>
          <a:ln w="25400">
            <a:solidFill>
              <a:srgbClr val="4A5A70"/>
            </a:solidFill>
            <a:prstDash val="solid"/>
            <a:tailEnd type="triangle"/>
          </a:ln>
        </p:spPr>
      </p:sp>
      <p:sp>
        <p:nvSpPr>
          <p:cNvPr id="21" name="Text 18"/>
          <p:cNvSpPr txBox="1"/>
          <p:nvPr/>
        </p:nvSpPr>
        <p:spPr>
          <a:xfrm>
            <a:off x="3246120" y="2898648"/>
            <a:ext cx="2331720" cy="768096"/>
          </a:xfrm>
          <a:prstGeom prst="rect">
            <a:avLst/>
          </a:prstGeom>
          <a:noFill/>
          <a:ln/>
        </p:spPr>
        <p:txBody>
          <a:bodyPr wrap="square" lIns="0" tIns="0" rIns="0" bIns="0" rtlCol="0" anchor="ctr"/>
          <a:lstStyle/>
          <a:p>
            <a:pPr algn="l" indent="0" marL="0">
              <a:buNone/>
            </a:pPr>
            <a:r>
              <a:rPr lang="en-US" sz="1700" b="1" dirty="0">
                <a:solidFill>
                  <a:schemeClr val="tx2"/>
                </a:solidFill>
              </a:rPr>
              <a:t>mot </a:t>
            </a:r>
            <a:r>
              <a:rPr lang="en-US" sz="1700" b="1" i="1" dirty="0">
                <a:solidFill>
                  <a:schemeClr val="tx2"/>
                </a:solidFill>
              </a:rPr>
              <a:t>het</a:t>
            </a:r>
            <a:r>
              <a:rPr lang="en-US" sz="1700" b="1" dirty="0">
                <a:solidFill>
                  <a:schemeClr val="tx2"/>
                </a:solidFill>
              </a:rPr>
              <a:t>, singulier</a:t>
            </a:r>
            <a:endParaRPr lang="en-US" sz="1700" dirty="0"/>
          </a:p>
        </p:txBody>
      </p:sp>
      <p:sp>
        <p:nvSpPr>
          <p:cNvPr id="22" name="Shape 19"/>
          <p:cNvSpPr/>
          <p:nvPr/>
        </p:nvSpPr>
        <p:spPr>
          <a:xfrm>
            <a:off x="5577840" y="3282696"/>
            <a:ext cx="457200" cy="914"/>
          </a:xfrm>
          <a:prstGeom prst="line">
            <a:avLst/>
          </a:prstGeom>
          <a:noFill/>
          <a:ln w="25400">
            <a:solidFill>
              <a:srgbClr val="B4236A"/>
            </a:solidFill>
            <a:prstDash val="solid"/>
            <a:tailEnd type="triangle"/>
          </a:ln>
        </p:spPr>
      </p:sp>
      <p:sp>
        <p:nvSpPr>
          <p:cNvPr id="23" name="Shape 20"/>
          <p:cNvSpPr/>
          <p:nvPr/>
        </p:nvSpPr>
        <p:spPr>
          <a:xfrm>
            <a:off x="6108192" y="2871216"/>
            <a:ext cx="822960" cy="822960"/>
          </a:xfrm>
          <a:prstGeom prst="ellipse">
            <a:avLst/>
          </a:prstGeom>
          <a:solidFill>
            <a:schemeClr val="accent4"/>
          </a:solidFill>
          <a:ln/>
          <a:effectLst>
            <a:outerShdw sx="100000" sy="100000" kx="0" ky="0" algn="bl" rotWithShape="0" blurRad="101600" dist="25400" dir="3600000">
              <a:srgbClr val="000000">
                <a:alpha val="18000"/>
              </a:srgbClr>
            </a:outerShdw>
          </a:effectLst>
        </p:spPr>
      </p:sp>
      <p:sp>
        <p:nvSpPr>
          <p:cNvPr id="24" name="Text 21"/>
          <p:cNvSpPr txBox="1"/>
          <p:nvPr/>
        </p:nvSpPr>
        <p:spPr>
          <a:xfrm>
            <a:off x="6108192" y="2871216"/>
            <a:ext cx="822960" cy="822960"/>
          </a:xfrm>
          <a:prstGeom prst="rect">
            <a:avLst/>
          </a:prstGeom>
          <a:noFill/>
          <a:ln/>
        </p:spPr>
        <p:txBody>
          <a:bodyPr wrap="square" lIns="0" tIns="0" rIns="0" bIns="0" rtlCol="0" anchor="ctr"/>
          <a:lstStyle/>
          <a:p>
            <a:pPr algn="ctr" indent="0" marL="0">
              <a:buNone/>
            </a:pPr>
            <a:r>
              <a:rPr lang="en-US" sz="2100" b="1" dirty="0">
                <a:solidFill>
                  <a:schemeClr val="bg1"/>
                </a:solidFill>
              </a:rPr>
              <a:t>dat</a:t>
            </a:r>
            <a:endParaRPr lang="en-US" sz="2100" dirty="0"/>
          </a:p>
        </p:txBody>
      </p:sp>
      <p:sp>
        <p:nvSpPr>
          <p:cNvPr id="25" name="Text 22"/>
          <p:cNvSpPr txBox="1"/>
          <p:nvPr/>
        </p:nvSpPr>
        <p:spPr>
          <a:xfrm>
            <a:off x="7498080" y="2898648"/>
            <a:ext cx="4160520" cy="768096"/>
          </a:xfrm>
          <a:prstGeom prst="rect">
            <a:avLst/>
          </a:prstGeom>
          <a:noFill/>
          <a:ln/>
        </p:spPr>
        <p:txBody>
          <a:bodyPr wrap="square" lIns="0" tIns="0" rIns="0" bIns="0" rtlCol="0" anchor="ctr"/>
          <a:lstStyle/>
          <a:p>
            <a:pPr algn="l" indent="0" marL="0">
              <a:buNone/>
            </a:pPr>
            <a:r>
              <a:rPr lang="en-US" sz="1900" i="1" dirty="0">
                <a:solidFill>
                  <a:schemeClr val="tx1"/>
                </a:solidFill>
              </a:rPr>
              <a:t>het huis </a:t>
            </a:r>
            <a:r>
              <a:rPr lang="en-US" sz="1900" b="1" i="1" dirty="0">
                <a:solidFill>
                  <a:schemeClr val="accent4"/>
                </a:solidFill>
              </a:rPr>
              <a:t>dat</a:t>
            </a:r>
            <a:r>
              <a:rPr lang="en-US" sz="1900" i="1" dirty="0">
                <a:solidFill>
                  <a:schemeClr val="tx1"/>
                </a:solidFill>
              </a:rPr>
              <a:t> te koop </a:t>
            </a:r>
            <a:r>
              <a:rPr lang="en-US" sz="1900" b="1" i="1" dirty="0">
                <a:solidFill>
                  <a:schemeClr val="accent6"/>
                </a:solidFill>
              </a:rPr>
              <a:t>staat</a:t>
            </a:r>
            <a:endParaRPr lang="en-US" sz="1900" dirty="0"/>
          </a:p>
        </p:txBody>
      </p:sp>
      <p:sp>
        <p:nvSpPr>
          <p:cNvPr id="26" name="Shape 23"/>
          <p:cNvSpPr/>
          <p:nvPr/>
        </p:nvSpPr>
        <p:spPr>
          <a:xfrm>
            <a:off x="548640" y="3922776"/>
            <a:ext cx="2377440" cy="768096"/>
          </a:xfrm>
          <a:prstGeom prst="roundRect">
            <a:avLst>
              <a:gd name="adj" fmla="val 11905"/>
            </a:avLst>
          </a:prstGeom>
          <a:solidFill>
            <a:schemeClr val="accent2">
              <a:alpha val="12000"/>
            </a:schemeClr>
          </a:solidFill>
          <a:ln w="19050">
            <a:solidFill>
              <a:srgbClr val="2A6FB0"/>
            </a:solidFill>
            <a:prstDash val="solid"/>
          </a:ln>
        </p:spPr>
      </p:sp>
      <p:sp>
        <p:nvSpPr>
          <p:cNvPr id="27" name="Text 24"/>
          <p:cNvSpPr txBox="1"/>
          <p:nvPr/>
        </p:nvSpPr>
        <p:spPr>
          <a:xfrm>
            <a:off x="548640" y="3922776"/>
            <a:ext cx="2377440" cy="768096"/>
          </a:xfrm>
          <a:prstGeom prst="rect">
            <a:avLst/>
          </a:prstGeom>
          <a:noFill/>
          <a:ln/>
        </p:spPr>
        <p:txBody>
          <a:bodyPr wrap="square" lIns="0" tIns="0" rIns="0" bIns="0" rtlCol="0" anchor="ctr"/>
          <a:lstStyle/>
          <a:p>
            <a:pPr algn="ctr" indent="0" marL="0">
              <a:buNone/>
            </a:pPr>
            <a:r>
              <a:rPr lang="en-US" sz="2100" b="1" i="1" dirty="0">
                <a:solidFill>
                  <a:schemeClr val="accent2"/>
                </a:solidFill>
              </a:rPr>
              <a:t>de huizen</a:t>
            </a:r>
            <a:endParaRPr lang="en-US" sz="2100" dirty="0"/>
          </a:p>
        </p:txBody>
      </p:sp>
      <p:sp>
        <p:nvSpPr>
          <p:cNvPr id="28" name="Shape 25"/>
          <p:cNvSpPr/>
          <p:nvPr/>
        </p:nvSpPr>
        <p:spPr>
          <a:xfrm>
            <a:off x="2971800" y="4306824"/>
            <a:ext cx="228600" cy="914"/>
          </a:xfrm>
          <a:prstGeom prst="line">
            <a:avLst/>
          </a:prstGeom>
          <a:noFill/>
          <a:ln w="25400">
            <a:solidFill>
              <a:srgbClr val="4A5A70"/>
            </a:solidFill>
            <a:prstDash val="solid"/>
            <a:tailEnd type="triangle"/>
          </a:ln>
        </p:spPr>
      </p:sp>
      <p:sp>
        <p:nvSpPr>
          <p:cNvPr id="29" name="Text 26"/>
          <p:cNvSpPr txBox="1"/>
          <p:nvPr/>
        </p:nvSpPr>
        <p:spPr>
          <a:xfrm>
            <a:off x="3246120" y="3922776"/>
            <a:ext cx="2331720" cy="768096"/>
          </a:xfrm>
          <a:prstGeom prst="rect">
            <a:avLst/>
          </a:prstGeom>
          <a:noFill/>
          <a:ln/>
        </p:spPr>
        <p:txBody>
          <a:bodyPr wrap="square" lIns="0" tIns="0" rIns="0" bIns="0" rtlCol="0" anchor="ctr"/>
          <a:lstStyle/>
          <a:p>
            <a:pPr algn="l" indent="0" marL="0">
              <a:buNone/>
            </a:pPr>
            <a:r>
              <a:rPr lang="en-US" sz="1700" b="1" dirty="0">
                <a:solidFill>
                  <a:schemeClr val="tx2"/>
                </a:solidFill>
              </a:rPr>
              <a:t>pluriel (même d’un mot </a:t>
            </a:r>
            <a:r>
              <a:rPr lang="en-US" sz="1700" b="1" i="1" dirty="0">
                <a:solidFill>
                  <a:schemeClr val="tx2"/>
                </a:solidFill>
              </a:rPr>
              <a:t>het</a:t>
            </a:r>
            <a:r>
              <a:rPr lang="en-US" sz="1700" b="1" dirty="0">
                <a:solidFill>
                  <a:schemeClr val="tx2"/>
                </a:solidFill>
              </a:rPr>
              <a:t>)</a:t>
            </a:r>
            <a:endParaRPr lang="en-US" sz="1700" dirty="0"/>
          </a:p>
        </p:txBody>
      </p:sp>
      <p:sp>
        <p:nvSpPr>
          <p:cNvPr id="30" name="Shape 27"/>
          <p:cNvSpPr/>
          <p:nvPr/>
        </p:nvSpPr>
        <p:spPr>
          <a:xfrm>
            <a:off x="5577840" y="4306824"/>
            <a:ext cx="457200" cy="914"/>
          </a:xfrm>
          <a:prstGeom prst="line">
            <a:avLst/>
          </a:prstGeom>
          <a:noFill/>
          <a:ln w="25400">
            <a:solidFill>
              <a:srgbClr val="2A6FB0"/>
            </a:solidFill>
            <a:prstDash val="solid"/>
            <a:tailEnd type="triangle"/>
          </a:ln>
        </p:spPr>
      </p:sp>
      <p:sp>
        <p:nvSpPr>
          <p:cNvPr id="31" name="Shape 28"/>
          <p:cNvSpPr/>
          <p:nvPr/>
        </p:nvSpPr>
        <p:spPr>
          <a:xfrm>
            <a:off x="6108192" y="3895344"/>
            <a:ext cx="822960" cy="822960"/>
          </a:xfrm>
          <a:prstGeom prst="ellipse">
            <a:avLst/>
          </a:prstGeom>
          <a:solidFill>
            <a:schemeClr val="accent2"/>
          </a:solidFill>
          <a:ln/>
          <a:effectLst>
            <a:outerShdw sx="100000" sy="100000" kx="0" ky="0" algn="bl" rotWithShape="0" blurRad="101600" dist="25400" dir="3600000">
              <a:srgbClr val="000000">
                <a:alpha val="18000"/>
              </a:srgbClr>
            </a:outerShdw>
          </a:effectLst>
        </p:spPr>
      </p:sp>
      <p:sp>
        <p:nvSpPr>
          <p:cNvPr id="32" name="Text 29"/>
          <p:cNvSpPr txBox="1"/>
          <p:nvPr/>
        </p:nvSpPr>
        <p:spPr>
          <a:xfrm>
            <a:off x="6108192" y="3895344"/>
            <a:ext cx="822960" cy="822960"/>
          </a:xfrm>
          <a:prstGeom prst="rect">
            <a:avLst/>
          </a:prstGeom>
          <a:noFill/>
          <a:ln/>
        </p:spPr>
        <p:txBody>
          <a:bodyPr wrap="square" lIns="0" tIns="0" rIns="0" bIns="0" rtlCol="0" anchor="ctr"/>
          <a:lstStyle/>
          <a:p>
            <a:pPr algn="ctr" indent="0" marL="0">
              <a:buNone/>
            </a:pPr>
            <a:r>
              <a:rPr lang="en-US" sz="2100" b="1" dirty="0">
                <a:solidFill>
                  <a:schemeClr val="bg1"/>
                </a:solidFill>
              </a:rPr>
              <a:t>die</a:t>
            </a:r>
            <a:endParaRPr lang="en-US" sz="2100" dirty="0"/>
          </a:p>
        </p:txBody>
      </p:sp>
      <p:sp>
        <p:nvSpPr>
          <p:cNvPr id="33" name="Text 30"/>
          <p:cNvSpPr txBox="1"/>
          <p:nvPr/>
        </p:nvSpPr>
        <p:spPr>
          <a:xfrm>
            <a:off x="7498080" y="3922776"/>
            <a:ext cx="4160520" cy="768096"/>
          </a:xfrm>
          <a:prstGeom prst="rect">
            <a:avLst/>
          </a:prstGeom>
          <a:noFill/>
          <a:ln/>
        </p:spPr>
        <p:txBody>
          <a:bodyPr wrap="square" lIns="0" tIns="0" rIns="0" bIns="0" rtlCol="0" anchor="ctr"/>
          <a:lstStyle/>
          <a:p>
            <a:pPr algn="l" indent="0" marL="0">
              <a:buNone/>
            </a:pPr>
            <a:r>
              <a:rPr lang="en-US" sz="1900" i="1" dirty="0">
                <a:solidFill>
                  <a:schemeClr val="tx1"/>
                </a:solidFill>
              </a:rPr>
              <a:t>de huizen </a:t>
            </a:r>
            <a:r>
              <a:rPr lang="en-US" sz="1900" b="1" i="1" dirty="0">
                <a:solidFill>
                  <a:schemeClr val="accent2"/>
                </a:solidFill>
              </a:rPr>
              <a:t>die</a:t>
            </a:r>
            <a:r>
              <a:rPr lang="en-US" sz="1900" i="1" dirty="0">
                <a:solidFill>
                  <a:schemeClr val="tx1"/>
                </a:solidFill>
              </a:rPr>
              <a:t> te koop </a:t>
            </a:r>
            <a:r>
              <a:rPr lang="en-US" sz="1900" b="1" i="1" dirty="0">
                <a:solidFill>
                  <a:schemeClr val="accent6"/>
                </a:solidFill>
              </a:rPr>
              <a:t>staan</a:t>
            </a:r>
            <a:endParaRPr lang="en-US" sz="1900" dirty="0"/>
          </a:p>
        </p:txBody>
      </p:sp>
      <p:sp>
        <p:nvSpPr>
          <p:cNvPr id="34" name="Shape 31"/>
          <p:cNvSpPr/>
          <p:nvPr/>
        </p:nvSpPr>
        <p:spPr>
          <a:xfrm>
            <a:off x="548640" y="5120640"/>
            <a:ext cx="11091672" cy="914400"/>
          </a:xfrm>
          <a:prstGeom prst="roundRect">
            <a:avLst>
              <a:gd name="adj" fmla="val 8000"/>
            </a:avLst>
          </a:prstGeom>
          <a:solidFill>
            <a:schemeClr val="accent6">
              <a:alpha val="10000"/>
            </a:schemeClr>
          </a:solidFill>
          <a:ln w="9525">
            <a:solidFill>
              <a:schemeClr val="accent6">
                <a:alpha val="70000"/>
              </a:schemeClr>
            </a:solidFill>
            <a:prstDash val="solid"/>
          </a:ln>
        </p:spPr>
      </p:sp>
      <p:pic>
        <p:nvPicPr>
          <p:cNvPr id="35" name="Image 0" descr="preencoded.png">    </p:cNvPr>
          <p:cNvPicPr>
            <a:picLocks noChangeAspect="1"/>
          </p:cNvPicPr>
          <p:nvPr/>
        </p:nvPicPr>
        <p:blipFill>
          <a:blip r:embed="rId1"/>
          <a:stretch>
            <a:fillRect/>
          </a:stretch>
        </p:blipFill>
        <p:spPr>
          <a:xfrm>
            <a:off x="749808" y="5413248"/>
            <a:ext cx="329184" cy="329184"/>
          </a:xfrm>
          <a:prstGeom prst="rect">
            <a:avLst/>
          </a:prstGeom>
        </p:spPr>
      </p:pic>
      <p:sp>
        <p:nvSpPr>
          <p:cNvPr id="36" name="Text 32"/>
          <p:cNvSpPr txBox="1"/>
          <p:nvPr/>
        </p:nvSpPr>
        <p:spPr>
          <a:xfrm>
            <a:off x="1234440" y="5157216"/>
            <a:ext cx="10287000" cy="841248"/>
          </a:xfrm>
          <a:prstGeom prst="rect">
            <a:avLst/>
          </a:prstGeom>
          <a:noFill/>
          <a:ln/>
        </p:spPr>
        <p:txBody>
          <a:bodyPr wrap="square" lIns="0" tIns="0" rIns="0" bIns="0" rtlCol="0" anchor="ctr"/>
          <a:lstStyle/>
          <a:p>
            <a:pPr indent="0" marL="0">
              <a:buNone/>
            </a:pPr>
            <a:r>
              <a:rPr lang="en-US" sz="1700" b="1" dirty="0">
                <a:solidFill>
                  <a:schemeClr val="accent6"/>
                </a:solidFill>
              </a:rPr>
              <a:t>Piège pour francophones — </a:t>
            </a:r>
            <a:r>
              <a:rPr lang="en-US" sz="1700" i="1" dirty="0">
                <a:solidFill>
                  <a:schemeClr val="tx1"/>
                </a:solidFill>
              </a:rPr>
              <a:t>qui</a:t>
            </a:r>
            <a:r>
              <a:rPr lang="en-US" sz="1700" dirty="0">
                <a:solidFill>
                  <a:schemeClr val="tx1"/>
                </a:solidFill>
              </a:rPr>
              <a:t> ou </a:t>
            </a:r>
            <a:r>
              <a:rPr lang="en-US" sz="1700" i="1" dirty="0">
                <a:solidFill>
                  <a:schemeClr val="tx1"/>
                </a:solidFill>
              </a:rPr>
              <a:t>que</a:t>
            </a:r>
            <a:r>
              <a:rPr lang="en-US" sz="1700" dirty="0">
                <a:solidFill>
                  <a:schemeClr val="tx1"/>
                </a:solidFill>
              </a:rPr>
              <a:t> ? Peu importe ! Le néerlandais regarde l’</a:t>
            </a:r>
            <a:r>
              <a:rPr lang="en-US" sz="1700" b="1" dirty="0">
                <a:solidFill>
                  <a:schemeClr val="tx1"/>
                </a:solidFill>
              </a:rPr>
              <a:t>article</a:t>
            </a:r>
            <a:r>
              <a:rPr lang="en-US" sz="1700" dirty="0">
                <a:solidFill>
                  <a:schemeClr val="tx1"/>
                </a:solidFill>
              </a:rPr>
              <a:t> : </a:t>
            </a:r>
            <a:r>
              <a:rPr lang="en-US" sz="1700" i="1" dirty="0">
                <a:solidFill>
                  <a:schemeClr val="tx1"/>
                </a:solidFill>
              </a:rPr>
              <a:t>de woning </a:t>
            </a:r>
            <a:r>
              <a:rPr lang="en-US" sz="1700" b="1" i="1" dirty="0">
                <a:solidFill>
                  <a:schemeClr val="accent2"/>
                </a:solidFill>
              </a:rPr>
              <a:t>die</a:t>
            </a:r>
            <a:r>
              <a:rPr lang="en-US" sz="1700" i="1" dirty="0">
                <a:solidFill>
                  <a:schemeClr val="tx1"/>
                </a:solidFill>
              </a:rPr>
              <a:t> u zoekt</a:t>
            </a:r>
            <a:r>
              <a:rPr lang="en-US" sz="1700" dirty="0">
                <a:solidFill>
                  <a:schemeClr val="tx1"/>
                </a:solidFill>
              </a:rPr>
              <a:t> (que vous cherchez) · </a:t>
            </a:r>
            <a:r>
              <a:rPr lang="en-US" sz="1700" i="1" dirty="0">
                <a:solidFill>
                  <a:schemeClr val="tx1"/>
                </a:solidFill>
              </a:rPr>
              <a:t>het huis </a:t>
            </a:r>
            <a:r>
              <a:rPr lang="en-US" sz="1700" b="1" i="1" dirty="0">
                <a:solidFill>
                  <a:schemeClr val="accent4"/>
                </a:solidFill>
              </a:rPr>
              <a:t>dat</a:t>
            </a:r>
            <a:r>
              <a:rPr lang="en-US" sz="1700" i="1" dirty="0">
                <a:solidFill>
                  <a:schemeClr val="tx1"/>
                </a:solidFill>
              </a:rPr>
              <a:t> u koopt</a:t>
            </a:r>
            <a:r>
              <a:rPr lang="en-US" sz="1700" dirty="0">
                <a:solidFill>
                  <a:schemeClr val="tx1"/>
                </a:solidFill>
              </a:rPr>
              <a:t> (que vous achetez).</a:t>
            </a:r>
            <a:endParaRPr lang="en-US" sz="17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200" b="1" dirty="0">
                <a:solidFill>
                  <a:schemeClr val="tx2"/>
                </a:solidFill>
              </a:rPr>
              <a:t>Le verbe de la relative part à la fin</a:t>
            </a:r>
            <a:endParaRPr lang="en-US" sz="3200" dirty="0"/>
          </a:p>
        </p:txBody>
      </p:sp>
      <p:sp>
        <p:nvSpPr>
          <p:cNvPr id="3" name="tag"/>
          <p:cNvSpPr/>
          <p:nvPr/>
        </p:nvSpPr>
        <p:spPr>
          <a:xfrm>
            <a:off x="548640" y="237744"/>
            <a:ext cx="1508760" cy="310896"/>
          </a:xfrm>
          <a:prstGeom prst="roundRect">
            <a:avLst>
              <a:gd name="adj" fmla="val 14706"/>
            </a:avLst>
          </a:prstGeom>
          <a:solidFill>
            <a:schemeClr val="tx2"/>
          </a:solidFill>
          <a:ln/>
        </p:spPr>
        <p:txBody>
          <a:bodyPr wrap="square" lIns="0" tIns="0" rIns="0" bIns="0" rtlCol="0" anchor="ctr"/>
          <a:lstStyle/>
          <a:p>
            <a:pPr algn="ctr" indent="0" marL="0">
              <a:buNone/>
            </a:pPr>
            <a:r>
              <a:rPr lang="en-US" sz="1200" b="1" spc="100" kern="0" dirty="0">
                <a:solidFill>
                  <a:schemeClr val="bg1"/>
                </a:solidFill>
              </a:rPr>
              <a:t>GRAMMATICA</a:t>
            </a:r>
            <a:endParaRPr lang="en-US" sz="1200" dirty="0"/>
          </a:p>
        </p:txBody>
      </p:sp>
      <p:sp>
        <p:nvSpPr>
          <p:cNvPr id="4" name="Text 2"/>
          <p:cNvSpPr txBox="1"/>
          <p:nvPr/>
        </p:nvSpPr>
        <p:spPr>
          <a:xfrm>
            <a:off x="8897112" y="219456"/>
            <a:ext cx="2743200" cy="347472"/>
          </a:xfrm>
          <a:prstGeom prst="rect">
            <a:avLst/>
          </a:prstGeom>
          <a:noFill/>
          <a:ln/>
        </p:spPr>
        <p:txBody>
          <a:bodyPr wrap="square" lIns="0" tIns="0" rIns="0" bIns="0" rtlCol="0" anchor="ctr"/>
          <a:lstStyle/>
          <a:p>
            <a:pPr algn="r" indent="0" marL="0">
              <a:buNone/>
            </a:pPr>
            <a:r>
              <a:rPr lang="en-US" sz="1200" i="1" dirty="0">
                <a:solidFill>
                  <a:schemeClr val="accent5"/>
                </a:solidFill>
              </a:rPr>
              <a:t>Livret p. 8</a:t>
            </a:r>
            <a:endParaRPr lang="en-US" sz="1200" dirty="0"/>
          </a:p>
        </p:txBody>
      </p:sp>
      <p:sp>
        <p:nvSpPr>
          <p:cNvPr id="6" name="Text 3"/>
          <p:cNvSpPr txBox="1"/>
          <p:nvPr/>
        </p:nvSpPr>
        <p:spPr>
          <a:xfrm>
            <a:off x="548640" y="1481328"/>
            <a:ext cx="11091672" cy="411480"/>
          </a:xfrm>
          <a:prstGeom prst="rect">
            <a:avLst/>
          </a:prstGeom>
          <a:noFill/>
          <a:ln/>
        </p:spPr>
        <p:txBody>
          <a:bodyPr wrap="square" lIns="0" tIns="0" rIns="0" bIns="0" rtlCol="0" anchor="ctr"/>
          <a:lstStyle/>
          <a:p>
            <a:pPr algn="l" indent="0" marL="0">
              <a:buNone/>
            </a:pPr>
            <a:r>
              <a:rPr lang="en-US" sz="1800" dirty="0">
                <a:solidFill>
                  <a:schemeClr val="tx1"/>
                </a:solidFill>
              </a:rPr>
              <a:t>Une relative est une </a:t>
            </a:r>
            <a:r>
              <a:rPr lang="en-US" sz="1800" b="1" dirty="0">
                <a:solidFill>
                  <a:schemeClr val="tx1"/>
                </a:solidFill>
              </a:rPr>
              <a:t>subordonnée</a:t>
            </a:r>
            <a:r>
              <a:rPr lang="en-US" sz="1800" dirty="0">
                <a:solidFill>
                  <a:schemeClr val="tx1"/>
                </a:solidFill>
              </a:rPr>
              <a:t> (palier 4) : le verbe conjugué part à la </a:t>
            </a:r>
            <a:r>
              <a:rPr lang="en-US" sz="1800" b="1" dirty="0">
                <a:solidFill>
                  <a:schemeClr val="tx1"/>
                </a:solidFill>
              </a:rPr>
              <a:t>fin</a:t>
            </a:r>
            <a:r>
              <a:rPr lang="en-US" sz="1800" dirty="0">
                <a:solidFill>
                  <a:schemeClr val="tx1"/>
                </a:solidFill>
              </a:rPr>
              <a:t>, comme après </a:t>
            </a:r>
            <a:r>
              <a:rPr lang="en-US" sz="1800" i="1" dirty="0">
                <a:solidFill>
                  <a:schemeClr val="tx1"/>
                </a:solidFill>
              </a:rPr>
              <a:t>omdat</a:t>
            </a:r>
            <a:r>
              <a:rPr lang="en-US" sz="1800" dirty="0">
                <a:solidFill>
                  <a:schemeClr val="tx1"/>
                </a:solidFill>
              </a:rPr>
              <a:t>.</a:t>
            </a:r>
            <a:endParaRPr lang="en-US" sz="1800" dirty="0"/>
          </a:p>
        </p:txBody>
      </p:sp>
      <p:sp>
        <p:nvSpPr>
          <p:cNvPr id="7" name="Text 4"/>
          <p:cNvSpPr txBox="1"/>
          <p:nvPr/>
        </p:nvSpPr>
        <p:spPr>
          <a:xfrm>
            <a:off x="548640" y="2459736"/>
            <a:ext cx="548640" cy="548640"/>
          </a:xfrm>
          <a:prstGeom prst="rect">
            <a:avLst/>
          </a:prstGeom>
          <a:noFill/>
          <a:ln/>
        </p:spPr>
        <p:txBody>
          <a:bodyPr wrap="square" lIns="0" tIns="0" rIns="0" bIns="0" rtlCol="0" anchor="ctr"/>
          <a:lstStyle/>
          <a:p>
            <a:pPr algn="ctr" indent="0" marL="0">
              <a:buNone/>
            </a:pPr>
            <a:r>
              <a:rPr lang="en-US" sz="2600" b="1" dirty="0">
                <a:solidFill>
                  <a:schemeClr val="accent3"/>
                </a:solidFill>
              </a:rPr>
              <a:t>✓</a:t>
            </a:r>
            <a:endParaRPr lang="en-US" sz="2600" dirty="0"/>
          </a:p>
        </p:txBody>
      </p:sp>
      <p:sp>
        <p:nvSpPr>
          <p:cNvPr id="8" name="Text 5"/>
          <p:cNvSpPr txBox="1"/>
          <p:nvPr/>
        </p:nvSpPr>
        <p:spPr>
          <a:xfrm>
            <a:off x="1234440" y="2240280"/>
            <a:ext cx="1417320" cy="219456"/>
          </a:xfrm>
          <a:prstGeom prst="rect">
            <a:avLst/>
          </a:prstGeom>
          <a:noFill/>
          <a:ln/>
        </p:spPr>
        <p:txBody>
          <a:bodyPr wrap="square" lIns="0" tIns="0" rIns="0" bIns="0" rtlCol="0" anchor="ctr"/>
          <a:lstStyle/>
          <a:p>
            <a:pPr algn="ctr" indent="0" marL="0">
              <a:buNone/>
            </a:pPr>
            <a:r>
              <a:rPr lang="en-US" sz="1100" b="1" dirty="0">
                <a:solidFill>
                  <a:schemeClr val="accent5"/>
                </a:solidFill>
              </a:rPr>
              <a:t>le nom</a:t>
            </a:r>
            <a:endParaRPr lang="en-US" sz="1100" dirty="0"/>
          </a:p>
        </p:txBody>
      </p:sp>
      <p:sp>
        <p:nvSpPr>
          <p:cNvPr id="9" name="Shape 6"/>
          <p:cNvSpPr/>
          <p:nvPr/>
        </p:nvSpPr>
        <p:spPr>
          <a:xfrm>
            <a:off x="1234440" y="2478024"/>
            <a:ext cx="1417320" cy="566928"/>
          </a:xfrm>
          <a:prstGeom prst="roundRect">
            <a:avLst>
              <a:gd name="adj" fmla="val 12903"/>
            </a:avLst>
          </a:prstGeom>
          <a:solidFill>
            <a:schemeClr val="bg2"/>
          </a:solidFill>
          <a:ln w="12700">
            <a:solidFill>
              <a:srgbClr val="D5DCE6"/>
            </a:solidFill>
            <a:prstDash val="solid"/>
          </a:ln>
        </p:spPr>
      </p:sp>
      <p:sp>
        <p:nvSpPr>
          <p:cNvPr id="10" name="Text 7"/>
          <p:cNvSpPr txBox="1"/>
          <p:nvPr/>
        </p:nvSpPr>
        <p:spPr>
          <a:xfrm>
            <a:off x="1234440" y="2478024"/>
            <a:ext cx="1417320" cy="566928"/>
          </a:xfrm>
          <a:prstGeom prst="rect">
            <a:avLst/>
          </a:prstGeom>
          <a:noFill/>
          <a:ln/>
        </p:spPr>
        <p:txBody>
          <a:bodyPr wrap="square" lIns="0" tIns="0" rIns="0" bIns="0" rtlCol="0" anchor="ctr"/>
          <a:lstStyle/>
          <a:p>
            <a:pPr algn="ctr" indent="0" marL="0">
              <a:buNone/>
            </a:pPr>
            <a:r>
              <a:rPr lang="en-US" sz="2100" b="1" i="1" dirty="0">
                <a:solidFill>
                  <a:schemeClr val="tx1"/>
                </a:solidFill>
              </a:rPr>
              <a:t>Rijhuis</a:t>
            </a:r>
            <a:endParaRPr lang="en-US" sz="2100" dirty="0"/>
          </a:p>
        </p:txBody>
      </p:sp>
      <p:sp>
        <p:nvSpPr>
          <p:cNvPr id="11" name="Text 8"/>
          <p:cNvSpPr txBox="1"/>
          <p:nvPr/>
        </p:nvSpPr>
        <p:spPr>
          <a:xfrm>
            <a:off x="2761488" y="2240280"/>
            <a:ext cx="868680" cy="219456"/>
          </a:xfrm>
          <a:prstGeom prst="rect">
            <a:avLst/>
          </a:prstGeom>
          <a:noFill/>
          <a:ln/>
        </p:spPr>
        <p:txBody>
          <a:bodyPr wrap="square" lIns="0" tIns="0" rIns="0" bIns="0" rtlCol="0" anchor="ctr"/>
          <a:lstStyle/>
          <a:p>
            <a:pPr algn="ctr" indent="0" marL="0">
              <a:buNone/>
            </a:pPr>
            <a:r>
              <a:rPr lang="en-US" sz="1100" b="1" dirty="0">
                <a:solidFill>
                  <a:schemeClr val="accent4"/>
                </a:solidFill>
              </a:rPr>
              <a:t>relatif</a:t>
            </a:r>
            <a:endParaRPr lang="en-US" sz="1100" dirty="0"/>
          </a:p>
        </p:txBody>
      </p:sp>
      <p:sp>
        <p:nvSpPr>
          <p:cNvPr id="12" name="Shape 9"/>
          <p:cNvSpPr/>
          <p:nvPr/>
        </p:nvSpPr>
        <p:spPr>
          <a:xfrm>
            <a:off x="2761488" y="2478024"/>
            <a:ext cx="868680" cy="566928"/>
          </a:xfrm>
          <a:prstGeom prst="roundRect">
            <a:avLst>
              <a:gd name="adj" fmla="val 12903"/>
            </a:avLst>
          </a:prstGeom>
          <a:solidFill>
            <a:schemeClr val="accent4"/>
          </a:solidFill>
          <a:ln w="12700">
            <a:solidFill>
              <a:srgbClr val="FFFFFF">
                <a:alpha val="0"/>
              </a:srgbClr>
            </a:solidFill>
            <a:prstDash val="solid"/>
          </a:ln>
        </p:spPr>
      </p:sp>
      <p:sp>
        <p:nvSpPr>
          <p:cNvPr id="13" name="Text 10"/>
          <p:cNvSpPr txBox="1"/>
          <p:nvPr/>
        </p:nvSpPr>
        <p:spPr>
          <a:xfrm>
            <a:off x="2761488" y="2478024"/>
            <a:ext cx="868680" cy="566928"/>
          </a:xfrm>
          <a:prstGeom prst="rect">
            <a:avLst/>
          </a:prstGeom>
          <a:noFill/>
          <a:ln/>
        </p:spPr>
        <p:txBody>
          <a:bodyPr wrap="square" lIns="0" tIns="0" rIns="0" bIns="0" rtlCol="0" anchor="ctr"/>
          <a:lstStyle/>
          <a:p>
            <a:pPr algn="ctr" indent="0" marL="0">
              <a:buNone/>
            </a:pPr>
            <a:r>
              <a:rPr lang="en-US" sz="2100" b="1" i="1" dirty="0">
                <a:solidFill>
                  <a:schemeClr val="bg1"/>
                </a:solidFill>
              </a:rPr>
              <a:t>dat</a:t>
            </a:r>
            <a:endParaRPr lang="en-US" sz="2100" dirty="0"/>
          </a:p>
        </p:txBody>
      </p:sp>
      <p:sp>
        <p:nvSpPr>
          <p:cNvPr id="14" name="Shape 11"/>
          <p:cNvSpPr/>
          <p:nvPr/>
        </p:nvSpPr>
        <p:spPr>
          <a:xfrm>
            <a:off x="3739896" y="2478024"/>
            <a:ext cx="3200400" cy="566928"/>
          </a:xfrm>
          <a:prstGeom prst="roundRect">
            <a:avLst>
              <a:gd name="adj" fmla="val 12903"/>
            </a:avLst>
          </a:prstGeom>
          <a:solidFill>
            <a:schemeClr val="bg2"/>
          </a:solidFill>
          <a:ln w="12700">
            <a:solidFill>
              <a:srgbClr val="D5DCE6"/>
            </a:solidFill>
            <a:prstDash val="solid"/>
          </a:ln>
        </p:spPr>
      </p:sp>
      <p:sp>
        <p:nvSpPr>
          <p:cNvPr id="15" name="Text 12"/>
          <p:cNvSpPr txBox="1"/>
          <p:nvPr/>
        </p:nvSpPr>
        <p:spPr>
          <a:xfrm>
            <a:off x="3739896" y="2478024"/>
            <a:ext cx="3200400" cy="566928"/>
          </a:xfrm>
          <a:prstGeom prst="rect">
            <a:avLst/>
          </a:prstGeom>
          <a:noFill/>
          <a:ln/>
        </p:spPr>
        <p:txBody>
          <a:bodyPr wrap="square" lIns="0" tIns="0" rIns="0" bIns="0" rtlCol="0" anchor="ctr"/>
          <a:lstStyle/>
          <a:p>
            <a:pPr algn="ctr" indent="0" marL="0">
              <a:buNone/>
            </a:pPr>
            <a:r>
              <a:rPr lang="en-US" sz="2100" b="1" i="1" dirty="0">
                <a:solidFill>
                  <a:schemeClr val="tx1"/>
                </a:solidFill>
              </a:rPr>
              <a:t>volledig gerenoveerd</a:t>
            </a:r>
            <a:endParaRPr lang="en-US" sz="2100" dirty="0"/>
          </a:p>
        </p:txBody>
      </p:sp>
      <p:sp>
        <p:nvSpPr>
          <p:cNvPr id="16" name="Text 13"/>
          <p:cNvSpPr txBox="1"/>
          <p:nvPr/>
        </p:nvSpPr>
        <p:spPr>
          <a:xfrm>
            <a:off x="7050024" y="2240280"/>
            <a:ext cx="822960" cy="219456"/>
          </a:xfrm>
          <a:prstGeom prst="rect">
            <a:avLst/>
          </a:prstGeom>
          <a:noFill/>
          <a:ln/>
        </p:spPr>
        <p:txBody>
          <a:bodyPr wrap="square" lIns="0" tIns="0" rIns="0" bIns="0" rtlCol="0" anchor="ctr"/>
          <a:lstStyle/>
          <a:p>
            <a:pPr algn="ctr" indent="0" marL="0">
              <a:buNone/>
            </a:pPr>
            <a:r>
              <a:rPr lang="en-US" sz="1100" b="1" dirty="0">
                <a:solidFill>
                  <a:schemeClr val="accent6"/>
                </a:solidFill>
              </a:rPr>
              <a:t>verbe → FIN</a:t>
            </a:r>
            <a:endParaRPr lang="en-US" sz="1100" dirty="0"/>
          </a:p>
        </p:txBody>
      </p:sp>
      <p:sp>
        <p:nvSpPr>
          <p:cNvPr id="17" name="Shape 14"/>
          <p:cNvSpPr/>
          <p:nvPr/>
        </p:nvSpPr>
        <p:spPr>
          <a:xfrm>
            <a:off x="7050024" y="2478024"/>
            <a:ext cx="822960" cy="566928"/>
          </a:xfrm>
          <a:prstGeom prst="roundRect">
            <a:avLst>
              <a:gd name="adj" fmla="val 12903"/>
            </a:avLst>
          </a:prstGeom>
          <a:solidFill>
            <a:schemeClr val="accent6"/>
          </a:solidFill>
          <a:ln w="12700">
            <a:solidFill>
              <a:srgbClr val="FFFFFF">
                <a:alpha val="0"/>
              </a:srgbClr>
            </a:solidFill>
            <a:prstDash val="solid"/>
          </a:ln>
        </p:spPr>
      </p:sp>
      <p:sp>
        <p:nvSpPr>
          <p:cNvPr id="18" name="Text 15"/>
          <p:cNvSpPr txBox="1"/>
          <p:nvPr/>
        </p:nvSpPr>
        <p:spPr>
          <a:xfrm>
            <a:off x="7050024" y="2478024"/>
            <a:ext cx="822960" cy="566928"/>
          </a:xfrm>
          <a:prstGeom prst="rect">
            <a:avLst/>
          </a:prstGeom>
          <a:noFill/>
          <a:ln/>
        </p:spPr>
        <p:txBody>
          <a:bodyPr wrap="square" lIns="0" tIns="0" rIns="0" bIns="0" rtlCol="0" anchor="ctr"/>
          <a:lstStyle/>
          <a:p>
            <a:pPr algn="ctr" indent="0" marL="0">
              <a:buNone/>
            </a:pPr>
            <a:r>
              <a:rPr lang="en-US" sz="2100" b="1" i="1" dirty="0">
                <a:solidFill>
                  <a:schemeClr val="bg1"/>
                </a:solidFill>
              </a:rPr>
              <a:t>is</a:t>
            </a:r>
            <a:endParaRPr lang="en-US" sz="2100" dirty="0"/>
          </a:p>
        </p:txBody>
      </p:sp>
      <p:sp>
        <p:nvSpPr>
          <p:cNvPr id="19" name="Text 16"/>
          <p:cNvSpPr txBox="1"/>
          <p:nvPr/>
        </p:nvSpPr>
        <p:spPr>
          <a:xfrm>
            <a:off x="8211312" y="2478024"/>
            <a:ext cx="3429000" cy="566928"/>
          </a:xfrm>
          <a:prstGeom prst="rect">
            <a:avLst/>
          </a:prstGeom>
          <a:noFill/>
          <a:ln/>
        </p:spPr>
        <p:txBody>
          <a:bodyPr wrap="square" lIns="0" tIns="0" rIns="0" bIns="0" rtlCol="0" anchor="ctr"/>
          <a:lstStyle/>
          <a:p>
            <a:pPr algn="l" indent="0" marL="0">
              <a:buNone/>
            </a:pPr>
            <a:r>
              <a:rPr lang="en-US" sz="1400" i="1" dirty="0">
                <a:solidFill>
                  <a:schemeClr val="accent5"/>
                </a:solidFill>
              </a:rPr>
              <a:t>Une maison qui est entièrement rénovée.</a:t>
            </a:r>
            <a:endParaRPr lang="en-US" sz="1400" dirty="0"/>
          </a:p>
        </p:txBody>
      </p:sp>
      <p:sp>
        <p:nvSpPr>
          <p:cNvPr id="20" name="Text 17"/>
          <p:cNvSpPr txBox="1"/>
          <p:nvPr/>
        </p:nvSpPr>
        <p:spPr>
          <a:xfrm>
            <a:off x="548640" y="3483864"/>
            <a:ext cx="548640" cy="548640"/>
          </a:xfrm>
          <a:prstGeom prst="rect">
            <a:avLst/>
          </a:prstGeom>
          <a:noFill/>
          <a:ln/>
        </p:spPr>
        <p:txBody>
          <a:bodyPr wrap="square" lIns="0" tIns="0" rIns="0" bIns="0" rtlCol="0" anchor="ctr"/>
          <a:lstStyle/>
          <a:p>
            <a:pPr algn="ctr" indent="0" marL="0">
              <a:buNone/>
            </a:pPr>
            <a:r>
              <a:rPr lang="en-US" sz="2600" b="1" dirty="0">
                <a:solidFill>
                  <a:schemeClr val="accent3"/>
                </a:solidFill>
              </a:rPr>
              <a:t>✓</a:t>
            </a:r>
            <a:endParaRPr lang="en-US" sz="2600" dirty="0"/>
          </a:p>
        </p:txBody>
      </p:sp>
      <p:sp>
        <p:nvSpPr>
          <p:cNvPr id="21" name="Text 18"/>
          <p:cNvSpPr txBox="1"/>
          <p:nvPr/>
        </p:nvSpPr>
        <p:spPr>
          <a:xfrm>
            <a:off x="1234440" y="3264408"/>
            <a:ext cx="1280160" cy="219456"/>
          </a:xfrm>
          <a:prstGeom prst="rect">
            <a:avLst/>
          </a:prstGeom>
          <a:noFill/>
          <a:ln/>
        </p:spPr>
        <p:txBody>
          <a:bodyPr wrap="square" lIns="0" tIns="0" rIns="0" bIns="0" rtlCol="0" anchor="ctr"/>
          <a:lstStyle/>
          <a:p>
            <a:pPr algn="ctr" indent="0" marL="0">
              <a:buNone/>
            </a:pPr>
            <a:r>
              <a:rPr lang="en-US" sz="1100" b="1" dirty="0">
                <a:solidFill>
                  <a:schemeClr val="accent5"/>
                </a:solidFill>
              </a:rPr>
              <a:t>le nom</a:t>
            </a:r>
            <a:endParaRPr lang="en-US" sz="1100" dirty="0"/>
          </a:p>
        </p:txBody>
      </p:sp>
      <p:sp>
        <p:nvSpPr>
          <p:cNvPr id="22" name="Shape 19"/>
          <p:cNvSpPr/>
          <p:nvPr/>
        </p:nvSpPr>
        <p:spPr>
          <a:xfrm>
            <a:off x="1234440" y="3502152"/>
            <a:ext cx="1280160" cy="566928"/>
          </a:xfrm>
          <a:prstGeom prst="roundRect">
            <a:avLst>
              <a:gd name="adj" fmla="val 12903"/>
            </a:avLst>
          </a:prstGeom>
          <a:solidFill>
            <a:schemeClr val="bg2"/>
          </a:solidFill>
          <a:ln w="12700">
            <a:solidFill>
              <a:srgbClr val="D5DCE6"/>
            </a:solidFill>
            <a:prstDash val="solid"/>
          </a:ln>
        </p:spPr>
      </p:sp>
      <p:sp>
        <p:nvSpPr>
          <p:cNvPr id="23" name="Text 20"/>
          <p:cNvSpPr txBox="1"/>
          <p:nvPr/>
        </p:nvSpPr>
        <p:spPr>
          <a:xfrm>
            <a:off x="1234440" y="3502152"/>
            <a:ext cx="1280160" cy="566928"/>
          </a:xfrm>
          <a:prstGeom prst="rect">
            <a:avLst/>
          </a:prstGeom>
          <a:noFill/>
          <a:ln/>
        </p:spPr>
        <p:txBody>
          <a:bodyPr wrap="square" lIns="0" tIns="0" rIns="0" bIns="0" rtlCol="0" anchor="ctr"/>
          <a:lstStyle/>
          <a:p>
            <a:pPr algn="ctr" indent="0" marL="0">
              <a:buNone/>
            </a:pPr>
            <a:r>
              <a:rPr lang="en-US" sz="2100" b="1" i="1" dirty="0">
                <a:solidFill>
                  <a:schemeClr val="tx1"/>
                </a:solidFill>
              </a:rPr>
              <a:t>De man</a:t>
            </a:r>
            <a:endParaRPr lang="en-US" sz="2100" dirty="0"/>
          </a:p>
        </p:txBody>
      </p:sp>
      <p:sp>
        <p:nvSpPr>
          <p:cNvPr id="24" name="Text 21"/>
          <p:cNvSpPr txBox="1"/>
          <p:nvPr/>
        </p:nvSpPr>
        <p:spPr>
          <a:xfrm>
            <a:off x="2624328" y="3264408"/>
            <a:ext cx="868680" cy="219456"/>
          </a:xfrm>
          <a:prstGeom prst="rect">
            <a:avLst/>
          </a:prstGeom>
          <a:noFill/>
          <a:ln/>
        </p:spPr>
        <p:txBody>
          <a:bodyPr wrap="square" lIns="0" tIns="0" rIns="0" bIns="0" rtlCol="0" anchor="ctr"/>
          <a:lstStyle/>
          <a:p>
            <a:pPr algn="ctr" indent="0" marL="0">
              <a:buNone/>
            </a:pPr>
            <a:r>
              <a:rPr lang="en-US" sz="1100" b="1" dirty="0">
                <a:solidFill>
                  <a:schemeClr val="accent2"/>
                </a:solidFill>
              </a:rPr>
              <a:t>relatif</a:t>
            </a:r>
            <a:endParaRPr lang="en-US" sz="1100" dirty="0"/>
          </a:p>
        </p:txBody>
      </p:sp>
      <p:sp>
        <p:nvSpPr>
          <p:cNvPr id="25" name="Shape 22"/>
          <p:cNvSpPr/>
          <p:nvPr/>
        </p:nvSpPr>
        <p:spPr>
          <a:xfrm>
            <a:off x="2624328" y="3502152"/>
            <a:ext cx="868680" cy="566928"/>
          </a:xfrm>
          <a:prstGeom prst="roundRect">
            <a:avLst>
              <a:gd name="adj" fmla="val 12903"/>
            </a:avLst>
          </a:prstGeom>
          <a:solidFill>
            <a:schemeClr val="accent2"/>
          </a:solidFill>
          <a:ln w="12700">
            <a:solidFill>
              <a:srgbClr val="FFFFFF">
                <a:alpha val="0"/>
              </a:srgbClr>
            </a:solidFill>
            <a:prstDash val="solid"/>
          </a:ln>
        </p:spPr>
      </p:sp>
      <p:sp>
        <p:nvSpPr>
          <p:cNvPr id="26" name="Text 23"/>
          <p:cNvSpPr txBox="1"/>
          <p:nvPr/>
        </p:nvSpPr>
        <p:spPr>
          <a:xfrm>
            <a:off x="2624328" y="3502152"/>
            <a:ext cx="868680" cy="566928"/>
          </a:xfrm>
          <a:prstGeom prst="rect">
            <a:avLst/>
          </a:prstGeom>
          <a:noFill/>
          <a:ln/>
        </p:spPr>
        <p:txBody>
          <a:bodyPr wrap="square" lIns="0" tIns="0" rIns="0" bIns="0" rtlCol="0" anchor="ctr"/>
          <a:lstStyle/>
          <a:p>
            <a:pPr algn="ctr" indent="0" marL="0">
              <a:buNone/>
            </a:pPr>
            <a:r>
              <a:rPr lang="en-US" sz="2100" b="1" i="1" dirty="0">
                <a:solidFill>
                  <a:schemeClr val="bg1"/>
                </a:solidFill>
              </a:rPr>
              <a:t>die</a:t>
            </a:r>
            <a:endParaRPr lang="en-US" sz="2100" dirty="0"/>
          </a:p>
        </p:txBody>
      </p:sp>
      <p:sp>
        <p:nvSpPr>
          <p:cNvPr id="27" name="Shape 24"/>
          <p:cNvSpPr/>
          <p:nvPr/>
        </p:nvSpPr>
        <p:spPr>
          <a:xfrm>
            <a:off x="3602736" y="3502152"/>
            <a:ext cx="2651760" cy="566928"/>
          </a:xfrm>
          <a:prstGeom prst="roundRect">
            <a:avLst>
              <a:gd name="adj" fmla="val 12903"/>
            </a:avLst>
          </a:prstGeom>
          <a:solidFill>
            <a:schemeClr val="bg2"/>
          </a:solidFill>
          <a:ln w="12700">
            <a:solidFill>
              <a:srgbClr val="D5DCE6"/>
            </a:solidFill>
            <a:prstDash val="solid"/>
          </a:ln>
        </p:spPr>
      </p:sp>
      <p:sp>
        <p:nvSpPr>
          <p:cNvPr id="28" name="Text 25"/>
          <p:cNvSpPr txBox="1"/>
          <p:nvPr/>
        </p:nvSpPr>
        <p:spPr>
          <a:xfrm>
            <a:off x="3602736" y="3502152"/>
            <a:ext cx="2651760" cy="566928"/>
          </a:xfrm>
          <a:prstGeom prst="rect">
            <a:avLst/>
          </a:prstGeom>
          <a:noFill/>
          <a:ln/>
        </p:spPr>
        <p:txBody>
          <a:bodyPr wrap="square" lIns="0" tIns="0" rIns="0" bIns="0" rtlCol="0" anchor="ctr"/>
          <a:lstStyle/>
          <a:p>
            <a:pPr algn="ctr" indent="0" marL="0">
              <a:buNone/>
            </a:pPr>
            <a:r>
              <a:rPr lang="en-US" sz="2100" b="1" i="1" dirty="0">
                <a:solidFill>
                  <a:schemeClr val="tx1"/>
                </a:solidFill>
              </a:rPr>
              <a:t>ons vorige maand</a:t>
            </a:r>
            <a:endParaRPr lang="en-US" sz="2100" dirty="0"/>
          </a:p>
        </p:txBody>
      </p:sp>
      <p:sp>
        <p:nvSpPr>
          <p:cNvPr id="29" name="Text 26"/>
          <p:cNvSpPr txBox="1"/>
          <p:nvPr/>
        </p:nvSpPr>
        <p:spPr>
          <a:xfrm>
            <a:off x="6364224" y="3264408"/>
            <a:ext cx="2103120" cy="219456"/>
          </a:xfrm>
          <a:prstGeom prst="rect">
            <a:avLst/>
          </a:prstGeom>
          <a:noFill/>
          <a:ln/>
        </p:spPr>
        <p:txBody>
          <a:bodyPr wrap="square" lIns="0" tIns="0" rIns="0" bIns="0" rtlCol="0" anchor="ctr"/>
          <a:lstStyle/>
          <a:p>
            <a:pPr algn="ctr" indent="0" marL="0">
              <a:buNone/>
            </a:pPr>
            <a:r>
              <a:rPr lang="en-US" sz="1100" b="1" dirty="0">
                <a:solidFill>
                  <a:schemeClr val="accent6"/>
                </a:solidFill>
              </a:rPr>
              <a:t>verbe → FIN</a:t>
            </a:r>
            <a:endParaRPr lang="en-US" sz="1100" dirty="0"/>
          </a:p>
        </p:txBody>
      </p:sp>
      <p:sp>
        <p:nvSpPr>
          <p:cNvPr id="30" name="Shape 27"/>
          <p:cNvSpPr/>
          <p:nvPr/>
        </p:nvSpPr>
        <p:spPr>
          <a:xfrm>
            <a:off x="6364224" y="3502152"/>
            <a:ext cx="2103120" cy="566928"/>
          </a:xfrm>
          <a:prstGeom prst="roundRect">
            <a:avLst>
              <a:gd name="adj" fmla="val 12903"/>
            </a:avLst>
          </a:prstGeom>
          <a:solidFill>
            <a:schemeClr val="accent6"/>
          </a:solidFill>
          <a:ln w="12700">
            <a:solidFill>
              <a:srgbClr val="FFFFFF">
                <a:alpha val="0"/>
              </a:srgbClr>
            </a:solidFill>
            <a:prstDash val="solid"/>
          </a:ln>
        </p:spPr>
      </p:sp>
      <p:sp>
        <p:nvSpPr>
          <p:cNvPr id="31" name="Text 28"/>
          <p:cNvSpPr txBox="1"/>
          <p:nvPr/>
        </p:nvSpPr>
        <p:spPr>
          <a:xfrm>
            <a:off x="6364224" y="3502152"/>
            <a:ext cx="2103120" cy="566928"/>
          </a:xfrm>
          <a:prstGeom prst="rect">
            <a:avLst/>
          </a:prstGeom>
          <a:noFill/>
          <a:ln/>
        </p:spPr>
        <p:txBody>
          <a:bodyPr wrap="square" lIns="0" tIns="0" rIns="0" bIns="0" rtlCol="0" anchor="ctr"/>
          <a:lstStyle/>
          <a:p>
            <a:pPr algn="ctr" indent="0" marL="0">
              <a:buNone/>
            </a:pPr>
            <a:r>
              <a:rPr lang="en-US" sz="2100" b="1" i="1" dirty="0">
                <a:solidFill>
                  <a:schemeClr val="bg1"/>
                </a:solidFill>
              </a:rPr>
              <a:t>heeft gebeld</a:t>
            </a:r>
            <a:endParaRPr lang="en-US" sz="2100" dirty="0"/>
          </a:p>
        </p:txBody>
      </p:sp>
      <p:sp>
        <p:nvSpPr>
          <p:cNvPr id="32" name="Text 29"/>
          <p:cNvSpPr txBox="1"/>
          <p:nvPr/>
        </p:nvSpPr>
        <p:spPr>
          <a:xfrm>
            <a:off x="8805672" y="3502152"/>
            <a:ext cx="2834640" cy="566928"/>
          </a:xfrm>
          <a:prstGeom prst="rect">
            <a:avLst/>
          </a:prstGeom>
          <a:noFill/>
          <a:ln/>
        </p:spPr>
        <p:txBody>
          <a:bodyPr wrap="square" lIns="0" tIns="0" rIns="0" bIns="0" rtlCol="0" anchor="ctr"/>
          <a:lstStyle/>
          <a:p>
            <a:pPr algn="l" indent="0" marL="0">
              <a:buNone/>
            </a:pPr>
            <a:r>
              <a:rPr lang="en-US" sz="1400" i="1" dirty="0">
                <a:solidFill>
                  <a:schemeClr val="accent5"/>
                </a:solidFill>
              </a:rPr>
              <a:t>L’homme qui nous a appelés le mois dernier.</a:t>
            </a:r>
            <a:endParaRPr lang="en-US" sz="1400" dirty="0"/>
          </a:p>
        </p:txBody>
      </p:sp>
      <p:sp>
        <p:nvSpPr>
          <p:cNvPr id="33" name="Text 30"/>
          <p:cNvSpPr txBox="1"/>
          <p:nvPr/>
        </p:nvSpPr>
        <p:spPr>
          <a:xfrm>
            <a:off x="548640" y="4507992"/>
            <a:ext cx="548640" cy="548640"/>
          </a:xfrm>
          <a:prstGeom prst="rect">
            <a:avLst/>
          </a:prstGeom>
          <a:noFill/>
          <a:ln/>
        </p:spPr>
        <p:txBody>
          <a:bodyPr wrap="square" lIns="0" tIns="0" rIns="0" bIns="0" rtlCol="0" anchor="ctr"/>
          <a:lstStyle/>
          <a:p>
            <a:pPr algn="ctr" indent="0" marL="0">
              <a:buNone/>
            </a:pPr>
            <a:r>
              <a:rPr lang="en-US" sz="2600" b="1" dirty="0">
                <a:solidFill>
                  <a:schemeClr val="accent6"/>
                </a:solidFill>
              </a:rPr>
              <a:t>✗</a:t>
            </a:r>
            <a:endParaRPr lang="en-US" sz="2600" dirty="0"/>
          </a:p>
        </p:txBody>
      </p:sp>
      <p:sp>
        <p:nvSpPr>
          <p:cNvPr id="34" name="Shape 31"/>
          <p:cNvSpPr/>
          <p:nvPr/>
        </p:nvSpPr>
        <p:spPr>
          <a:xfrm>
            <a:off x="1234440" y="4526280"/>
            <a:ext cx="1417320" cy="566928"/>
          </a:xfrm>
          <a:prstGeom prst="roundRect">
            <a:avLst>
              <a:gd name="adj" fmla="val 12903"/>
            </a:avLst>
          </a:prstGeom>
          <a:solidFill>
            <a:schemeClr val="bg2"/>
          </a:solidFill>
          <a:ln w="12700">
            <a:solidFill>
              <a:srgbClr val="D5DCE6"/>
            </a:solidFill>
            <a:prstDash val="solid"/>
          </a:ln>
        </p:spPr>
      </p:sp>
      <p:sp>
        <p:nvSpPr>
          <p:cNvPr id="35" name="Text 32"/>
          <p:cNvSpPr txBox="1"/>
          <p:nvPr/>
        </p:nvSpPr>
        <p:spPr>
          <a:xfrm>
            <a:off x="1234440" y="4526280"/>
            <a:ext cx="1417320" cy="566928"/>
          </a:xfrm>
          <a:prstGeom prst="rect">
            <a:avLst/>
          </a:prstGeom>
          <a:noFill/>
          <a:ln/>
        </p:spPr>
        <p:txBody>
          <a:bodyPr wrap="square" lIns="0" tIns="0" rIns="0" bIns="0" rtlCol="0" anchor="ctr"/>
          <a:lstStyle/>
          <a:p>
            <a:pPr algn="ctr" indent="0" marL="0">
              <a:buNone/>
            </a:pPr>
            <a:r>
              <a:rPr lang="en-US" sz="2100" b="1" i="1" dirty="0">
                <a:solidFill>
                  <a:schemeClr val="tx1"/>
                </a:solidFill>
              </a:rPr>
              <a:t>Rijhuis</a:t>
            </a:r>
            <a:endParaRPr lang="en-US" sz="2100" dirty="0"/>
          </a:p>
        </p:txBody>
      </p:sp>
      <p:sp>
        <p:nvSpPr>
          <p:cNvPr id="36" name="Shape 33"/>
          <p:cNvSpPr/>
          <p:nvPr/>
        </p:nvSpPr>
        <p:spPr>
          <a:xfrm>
            <a:off x="2761488" y="4526280"/>
            <a:ext cx="868680" cy="566928"/>
          </a:xfrm>
          <a:prstGeom prst="roundRect">
            <a:avLst>
              <a:gd name="adj" fmla="val 12903"/>
            </a:avLst>
          </a:prstGeom>
          <a:solidFill>
            <a:schemeClr val="accent4"/>
          </a:solidFill>
          <a:ln w="12700">
            <a:solidFill>
              <a:srgbClr val="FFFFFF">
                <a:alpha val="0"/>
              </a:srgbClr>
            </a:solidFill>
            <a:prstDash val="solid"/>
          </a:ln>
        </p:spPr>
      </p:sp>
      <p:sp>
        <p:nvSpPr>
          <p:cNvPr id="37" name="Text 34"/>
          <p:cNvSpPr txBox="1"/>
          <p:nvPr/>
        </p:nvSpPr>
        <p:spPr>
          <a:xfrm>
            <a:off x="2761488" y="4526280"/>
            <a:ext cx="868680" cy="566928"/>
          </a:xfrm>
          <a:prstGeom prst="rect">
            <a:avLst/>
          </a:prstGeom>
          <a:noFill/>
          <a:ln/>
        </p:spPr>
        <p:txBody>
          <a:bodyPr wrap="square" lIns="0" tIns="0" rIns="0" bIns="0" rtlCol="0" anchor="ctr"/>
          <a:lstStyle/>
          <a:p>
            <a:pPr algn="ctr" indent="0" marL="0">
              <a:buNone/>
            </a:pPr>
            <a:r>
              <a:rPr lang="en-US" sz="2100" b="1" i="1" dirty="0">
                <a:solidFill>
                  <a:schemeClr val="bg1"/>
                </a:solidFill>
              </a:rPr>
              <a:t>dat</a:t>
            </a:r>
            <a:endParaRPr lang="en-US" sz="2100" dirty="0"/>
          </a:p>
        </p:txBody>
      </p:sp>
      <p:sp>
        <p:nvSpPr>
          <p:cNvPr id="38" name="Text 35"/>
          <p:cNvSpPr txBox="1"/>
          <p:nvPr/>
        </p:nvSpPr>
        <p:spPr>
          <a:xfrm>
            <a:off x="3739896" y="4288536"/>
            <a:ext cx="822960" cy="219456"/>
          </a:xfrm>
          <a:prstGeom prst="rect">
            <a:avLst/>
          </a:prstGeom>
          <a:noFill/>
          <a:ln/>
        </p:spPr>
        <p:txBody>
          <a:bodyPr wrap="square" lIns="0" tIns="0" rIns="0" bIns="0" rtlCol="0" anchor="ctr"/>
          <a:lstStyle/>
          <a:p>
            <a:pPr algn="ctr" indent="0" marL="0">
              <a:buNone/>
            </a:pPr>
            <a:r>
              <a:rPr lang="en-US" sz="1100" b="1" dirty="0">
                <a:solidFill>
                  <a:schemeClr val="accent6"/>
                </a:solidFill>
              </a:rPr>
              <a:t>✗ trop tôt</a:t>
            </a:r>
            <a:endParaRPr lang="en-US" sz="1100" dirty="0"/>
          </a:p>
        </p:txBody>
      </p:sp>
      <p:sp>
        <p:nvSpPr>
          <p:cNvPr id="39" name="Shape 36"/>
          <p:cNvSpPr/>
          <p:nvPr/>
        </p:nvSpPr>
        <p:spPr>
          <a:xfrm>
            <a:off x="3739896" y="4526280"/>
            <a:ext cx="822960" cy="566928"/>
          </a:xfrm>
          <a:prstGeom prst="roundRect">
            <a:avLst>
              <a:gd name="adj" fmla="val 12903"/>
            </a:avLst>
          </a:prstGeom>
          <a:solidFill>
            <a:schemeClr val="accent6"/>
          </a:solidFill>
          <a:ln w="12700">
            <a:solidFill>
              <a:srgbClr val="FFFFFF">
                <a:alpha val="0"/>
              </a:srgbClr>
            </a:solidFill>
            <a:prstDash val="solid"/>
          </a:ln>
        </p:spPr>
      </p:sp>
      <p:sp>
        <p:nvSpPr>
          <p:cNvPr id="40" name="Text 37"/>
          <p:cNvSpPr txBox="1"/>
          <p:nvPr/>
        </p:nvSpPr>
        <p:spPr>
          <a:xfrm>
            <a:off x="3739896" y="4526280"/>
            <a:ext cx="822960" cy="566928"/>
          </a:xfrm>
          <a:prstGeom prst="rect">
            <a:avLst/>
          </a:prstGeom>
          <a:noFill/>
          <a:ln/>
        </p:spPr>
        <p:txBody>
          <a:bodyPr wrap="square" lIns="0" tIns="0" rIns="0" bIns="0" rtlCol="0" anchor="ctr"/>
          <a:lstStyle/>
          <a:p>
            <a:pPr algn="ctr" indent="0" marL="0">
              <a:buNone/>
            </a:pPr>
            <a:r>
              <a:rPr lang="en-US" sz="2100" b="1" i="1" strike="sngStrike" dirty="0">
                <a:solidFill>
                  <a:schemeClr val="bg1"/>
                </a:solidFill>
              </a:rPr>
              <a:t>is</a:t>
            </a:r>
            <a:endParaRPr lang="en-US" sz="2100" dirty="0"/>
          </a:p>
        </p:txBody>
      </p:sp>
      <p:sp>
        <p:nvSpPr>
          <p:cNvPr id="41" name="Shape 38"/>
          <p:cNvSpPr/>
          <p:nvPr/>
        </p:nvSpPr>
        <p:spPr>
          <a:xfrm>
            <a:off x="4672584" y="4526280"/>
            <a:ext cx="3200400" cy="566928"/>
          </a:xfrm>
          <a:prstGeom prst="roundRect">
            <a:avLst>
              <a:gd name="adj" fmla="val 12903"/>
            </a:avLst>
          </a:prstGeom>
          <a:solidFill>
            <a:schemeClr val="bg2"/>
          </a:solidFill>
          <a:ln w="12700">
            <a:solidFill>
              <a:srgbClr val="D5DCE6"/>
            </a:solidFill>
            <a:prstDash val="solid"/>
          </a:ln>
        </p:spPr>
      </p:sp>
      <p:sp>
        <p:nvSpPr>
          <p:cNvPr id="42" name="Text 39"/>
          <p:cNvSpPr txBox="1"/>
          <p:nvPr/>
        </p:nvSpPr>
        <p:spPr>
          <a:xfrm>
            <a:off x="4672584" y="4526280"/>
            <a:ext cx="3200400" cy="566928"/>
          </a:xfrm>
          <a:prstGeom prst="rect">
            <a:avLst/>
          </a:prstGeom>
          <a:noFill/>
          <a:ln/>
        </p:spPr>
        <p:txBody>
          <a:bodyPr wrap="square" lIns="0" tIns="0" rIns="0" bIns="0" rtlCol="0" anchor="ctr"/>
          <a:lstStyle/>
          <a:p>
            <a:pPr algn="ctr" indent="0" marL="0">
              <a:buNone/>
            </a:pPr>
            <a:r>
              <a:rPr lang="en-US" sz="2100" b="1" i="1" dirty="0">
                <a:solidFill>
                  <a:schemeClr val="tx1"/>
                </a:solidFill>
              </a:rPr>
              <a:t>volledig gerenoveerd</a:t>
            </a:r>
            <a:endParaRPr lang="en-US" sz="2100" dirty="0"/>
          </a:p>
        </p:txBody>
      </p:sp>
      <p:sp>
        <p:nvSpPr>
          <p:cNvPr id="43" name="Text 40"/>
          <p:cNvSpPr txBox="1"/>
          <p:nvPr/>
        </p:nvSpPr>
        <p:spPr>
          <a:xfrm>
            <a:off x="8211312" y="4526280"/>
            <a:ext cx="3429000" cy="566928"/>
          </a:xfrm>
          <a:prstGeom prst="rect">
            <a:avLst/>
          </a:prstGeom>
          <a:noFill/>
          <a:ln/>
        </p:spPr>
        <p:txBody>
          <a:bodyPr wrap="square" lIns="0" tIns="0" rIns="0" bIns="0" rtlCol="0" anchor="ctr"/>
          <a:lstStyle/>
          <a:p>
            <a:pPr algn="l" indent="0" marL="0">
              <a:buNone/>
            </a:pPr>
            <a:r>
              <a:rPr lang="en-US" sz="1400" i="1" dirty="0">
                <a:solidFill>
                  <a:schemeClr val="accent5"/>
                </a:solidFill>
              </a:rPr>
              <a:t>Impossible : c’est l’ordre de la phrase principale.</a:t>
            </a:r>
            <a:endParaRPr lang="en-US" sz="1400" dirty="0"/>
          </a:p>
        </p:txBody>
      </p:sp>
      <p:sp>
        <p:nvSpPr>
          <p:cNvPr id="44" name="Shape 41"/>
          <p:cNvSpPr/>
          <p:nvPr/>
        </p:nvSpPr>
        <p:spPr>
          <a:xfrm>
            <a:off x="548640" y="5440680"/>
            <a:ext cx="11091672" cy="822960"/>
          </a:xfrm>
          <a:prstGeom prst="roundRect">
            <a:avLst>
              <a:gd name="adj" fmla="val 8889"/>
            </a:avLst>
          </a:prstGeom>
          <a:solidFill>
            <a:schemeClr val="accent6">
              <a:alpha val="10000"/>
            </a:schemeClr>
          </a:solidFill>
          <a:ln w="9525">
            <a:solidFill>
              <a:schemeClr val="accent6">
                <a:alpha val="70000"/>
              </a:schemeClr>
            </a:solidFill>
            <a:prstDash val="solid"/>
          </a:ln>
        </p:spPr>
      </p:sp>
      <p:pic>
        <p:nvPicPr>
          <p:cNvPr id="45" name="Image 0" descr="preencoded.png">    </p:cNvPr>
          <p:cNvPicPr>
            <a:picLocks noChangeAspect="1"/>
          </p:cNvPicPr>
          <p:nvPr/>
        </p:nvPicPr>
        <p:blipFill>
          <a:blip r:embed="rId1"/>
          <a:stretch>
            <a:fillRect/>
          </a:stretch>
        </p:blipFill>
        <p:spPr>
          <a:xfrm>
            <a:off x="749808" y="5687568"/>
            <a:ext cx="329184" cy="329184"/>
          </a:xfrm>
          <a:prstGeom prst="rect">
            <a:avLst/>
          </a:prstGeom>
        </p:spPr>
      </p:pic>
      <p:sp>
        <p:nvSpPr>
          <p:cNvPr id="46" name="Text 42"/>
          <p:cNvSpPr txBox="1"/>
          <p:nvPr/>
        </p:nvSpPr>
        <p:spPr>
          <a:xfrm>
            <a:off x="1234440" y="5477256"/>
            <a:ext cx="10287000" cy="749808"/>
          </a:xfrm>
          <a:prstGeom prst="rect">
            <a:avLst/>
          </a:prstGeom>
          <a:noFill/>
          <a:ln/>
        </p:spPr>
        <p:txBody>
          <a:bodyPr wrap="square" lIns="0" tIns="0" rIns="0" bIns="0" rtlCol="0" anchor="ctr"/>
          <a:lstStyle/>
          <a:p>
            <a:pPr indent="0" marL="0">
              <a:buNone/>
            </a:pPr>
            <a:r>
              <a:rPr lang="en-US" sz="1700" b="1" dirty="0">
                <a:solidFill>
                  <a:schemeClr val="accent6"/>
                </a:solidFill>
              </a:rPr>
              <a:t>Piège pour francophones — </a:t>
            </a:r>
            <a:r>
              <a:rPr lang="en-US" sz="1700" dirty="0">
                <a:solidFill>
                  <a:schemeClr val="tx1"/>
                </a:solidFill>
              </a:rPr>
              <a:t>Le français place le verbe juste après </a:t>
            </a:r>
            <a:r>
              <a:rPr lang="en-US" sz="1700" i="1" dirty="0">
                <a:solidFill>
                  <a:schemeClr val="tx1"/>
                </a:solidFill>
              </a:rPr>
              <a:t>qui</a:t>
            </a:r>
            <a:r>
              <a:rPr lang="en-US" sz="1700" dirty="0">
                <a:solidFill>
                  <a:schemeClr val="tx1"/>
                </a:solidFill>
              </a:rPr>
              <a:t> : </a:t>
            </a:r>
            <a:r>
              <a:rPr lang="en-US" sz="1700" i="1" dirty="0">
                <a:solidFill>
                  <a:schemeClr val="tx1"/>
                </a:solidFill>
              </a:rPr>
              <a:t>la maison qui </a:t>
            </a:r>
            <a:r>
              <a:rPr lang="en-US" sz="1700" b="1" i="1" dirty="0">
                <a:solidFill>
                  <a:schemeClr val="tx1"/>
                </a:solidFill>
              </a:rPr>
              <a:t>est</a:t>
            </a:r>
            <a:r>
              <a:rPr lang="en-US" sz="1700" i="1" dirty="0">
                <a:solidFill>
                  <a:schemeClr val="tx1"/>
                </a:solidFill>
              </a:rPr>
              <a:t> rénovée</a:t>
            </a:r>
            <a:r>
              <a:rPr lang="en-US" sz="1700" dirty="0">
                <a:solidFill>
                  <a:schemeClr val="tx1"/>
                </a:solidFill>
              </a:rPr>
              <a:t>. Le néerlandais le repousse à la </a:t>
            </a:r>
            <a:r>
              <a:rPr lang="en-US" sz="1700" b="1" dirty="0">
                <a:solidFill>
                  <a:schemeClr val="tx1"/>
                </a:solidFill>
              </a:rPr>
              <a:t>fin</a:t>
            </a:r>
            <a:r>
              <a:rPr lang="en-US" sz="1700" dirty="0">
                <a:solidFill>
                  <a:schemeClr val="tx1"/>
                </a:solidFill>
              </a:rPr>
              <a:t> : </a:t>
            </a:r>
            <a:r>
              <a:rPr lang="en-US" sz="1700" i="1" dirty="0">
                <a:solidFill>
                  <a:schemeClr val="tx1"/>
                </a:solidFill>
              </a:rPr>
              <a:t>het huis </a:t>
            </a:r>
            <a:r>
              <a:rPr lang="en-US" sz="1700" b="1" i="1" dirty="0">
                <a:solidFill>
                  <a:schemeClr val="accent4"/>
                </a:solidFill>
              </a:rPr>
              <a:t>dat</a:t>
            </a:r>
            <a:r>
              <a:rPr lang="en-US" sz="1700" i="1" dirty="0">
                <a:solidFill>
                  <a:schemeClr val="tx1"/>
                </a:solidFill>
              </a:rPr>
              <a:t> gerenoveerd </a:t>
            </a:r>
            <a:r>
              <a:rPr lang="en-US" sz="1700" b="1" i="1" dirty="0">
                <a:solidFill>
                  <a:schemeClr val="accent6"/>
                </a:solidFill>
              </a:rPr>
              <a:t>is</a:t>
            </a:r>
            <a:r>
              <a:rPr lang="en-US" sz="1700" dirty="0">
                <a:solidFill>
                  <a:schemeClr val="tx1"/>
                </a:solidFill>
              </a:rPr>
              <a:t>.</a:t>
            </a:r>
            <a:endParaRPr lang="en-US" sz="17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200" b="1" dirty="0">
                <a:solidFill>
                  <a:schemeClr val="tx2"/>
                </a:solidFill>
              </a:rPr>
              <a:t>Die of dat ? Kies de juiste vorm</a:t>
            </a:r>
            <a:endParaRPr lang="en-US" sz="3200" dirty="0"/>
          </a:p>
        </p:txBody>
      </p:sp>
      <p:sp>
        <p:nvSpPr>
          <p:cNvPr id="3" name="tag"/>
          <p:cNvSpPr/>
          <p:nvPr/>
        </p:nvSpPr>
        <p:spPr>
          <a:xfrm>
            <a:off x="548640" y="237744"/>
            <a:ext cx="1165860" cy="310896"/>
          </a:xfrm>
          <a:prstGeom prst="roundRect">
            <a:avLst>
              <a:gd name="adj" fmla="val 14706"/>
            </a:avLst>
          </a:prstGeom>
          <a:solidFill>
            <a:schemeClr val="tx2"/>
          </a:solidFill>
          <a:ln/>
        </p:spPr>
        <p:txBody>
          <a:bodyPr wrap="square" lIns="0" tIns="0" rIns="0" bIns="0" rtlCol="0" anchor="ctr"/>
          <a:lstStyle/>
          <a:p>
            <a:pPr algn="ctr" indent="0" marL="0">
              <a:buNone/>
            </a:pPr>
            <a:r>
              <a:rPr lang="en-US" sz="1200" b="1" spc="100" kern="0" dirty="0">
                <a:solidFill>
                  <a:schemeClr val="bg1"/>
                </a:solidFill>
              </a:rPr>
              <a:t>+ BONUS</a:t>
            </a:r>
            <a:endParaRPr lang="en-US" sz="1200" dirty="0"/>
          </a:p>
        </p:txBody>
      </p:sp>
      <p:sp>
        <p:nvSpPr>
          <p:cNvPr id="4" name="Text 2"/>
          <p:cNvSpPr txBox="1"/>
          <p:nvPr/>
        </p:nvSpPr>
        <p:spPr>
          <a:xfrm>
            <a:off x="8897112" y="219456"/>
            <a:ext cx="2743200" cy="347472"/>
          </a:xfrm>
          <a:prstGeom prst="rect">
            <a:avLst/>
          </a:prstGeom>
          <a:noFill/>
          <a:ln/>
        </p:spPr>
        <p:txBody>
          <a:bodyPr wrap="square" lIns="0" tIns="0" rIns="0" bIns="0" rtlCol="0" anchor="ctr"/>
          <a:lstStyle/>
          <a:p>
            <a:pPr algn="r" indent="0" marL="0">
              <a:buNone/>
            </a:pPr>
            <a:r>
              <a:rPr lang="en-US" sz="1200" i="1" dirty="0">
                <a:solidFill>
                  <a:schemeClr val="accent5"/>
                </a:solidFill>
              </a:rPr>
              <a:t>Hors syllabus</a:t>
            </a:r>
            <a:endParaRPr lang="en-US" sz="1200" dirty="0"/>
          </a:p>
        </p:txBody>
      </p:sp>
      <p:sp>
        <p:nvSpPr>
          <p:cNvPr id="6" name="Text 3"/>
          <p:cNvSpPr txBox="1"/>
          <p:nvPr/>
        </p:nvSpPr>
        <p:spPr>
          <a:xfrm>
            <a:off x="548640" y="1481328"/>
            <a:ext cx="7178040" cy="615696"/>
          </a:xfrm>
          <a:prstGeom prst="rect">
            <a:avLst/>
          </a:prstGeom>
          <a:noFill/>
          <a:ln/>
        </p:spPr>
        <p:txBody>
          <a:bodyPr wrap="square" lIns="0" tIns="0" rIns="0" bIns="0" rtlCol="0" anchor="t"/>
          <a:lstStyle/>
          <a:p>
            <a:pPr indent="0" marL="0">
              <a:buNone/>
            </a:pPr>
            <a:r>
              <a:rPr lang="en-US" sz="1600" i="1" dirty="0">
                <a:solidFill>
                  <a:schemeClr val="accent5"/>
                </a:solidFill>
              </a:rPr>
              <a:t>Seul·e · 4 min. Choisissez le bon pronom. Dites d’abord </a:t>
            </a:r>
            <a:r>
              <a:rPr lang="en-US" sz="1600" b="1" i="1" dirty="0">
                <a:solidFill>
                  <a:schemeClr val="accent5"/>
                </a:solidFill>
              </a:rPr>
              <a:t>de ou het</a:t>
            </a:r>
            <a:r>
              <a:rPr lang="en-US" sz="1600" i="1" dirty="0">
                <a:solidFill>
                  <a:schemeClr val="accent5"/>
                </a:solidFill>
              </a:rPr>
              <a:t> pour le nom (et regardez s’il est au pluriel).</a:t>
            </a:r>
            <a:endParaRPr lang="en-US" sz="1600" dirty="0"/>
          </a:p>
        </p:txBody>
      </p:sp>
      <p:sp>
        <p:nvSpPr>
          <p:cNvPr id="7" name="exercise"/>
          <p:cNvSpPr txBox="1"/>
          <p:nvPr/>
        </p:nvSpPr>
        <p:spPr>
          <a:xfrm>
            <a:off x="548640" y="2170176"/>
            <a:ext cx="7178040" cy="4120896"/>
          </a:xfrm>
          <a:prstGeom prst="rect">
            <a:avLst/>
          </a:prstGeom>
          <a:noFill/>
          <a:ln/>
        </p:spPr>
        <p:txBody>
          <a:bodyPr wrap="square" lIns="0" tIns="0" rIns="0" bIns="0" rtlCol="0" anchor="t"/>
          <a:lstStyle/>
          <a:p>
            <a:pPr indent="0" marL="0">
              <a:spcAft>
                <a:spcPts val="1200"/>
              </a:spcAft>
              <a:buNone/>
            </a:pPr>
            <a:r>
              <a:rPr lang="en-US" sz="2200" b="1" dirty="0">
                <a:solidFill>
                  <a:schemeClr val="tx2"/>
                </a:solidFill>
              </a:rPr>
              <a:t>1.  </a:t>
            </a:r>
            <a:r>
              <a:rPr lang="en-US" sz="2200" dirty="0">
                <a:solidFill>
                  <a:schemeClr val="tx1"/>
                </a:solidFill>
              </a:rPr>
              <a:t>De makelaar </a:t>
            </a:r>
            <a:r>
              <a:rPr lang="en-US" sz="2200" dirty="0">
                <a:solidFill>
                  <a:schemeClr val="tx1"/>
                </a:solidFill>
              </a:rPr>
              <a:t>dat</a:t>
            </a:r>
            <a:r>
              <a:rPr lang="en-US" sz="2200" dirty="0">
                <a:solidFill>
                  <a:schemeClr val="tx1"/>
                </a:solidFill>
              </a:rPr>
              <a:t> / </a:t>
            </a:r>
            <a:r>
              <a:rPr lang="en-US" sz="2200" dirty="0">
                <a:solidFill>
                  <a:schemeClr val="tx1"/>
                </a:solidFill>
              </a:rPr>
              <a:t>die</a:t>
            </a:r>
            <a:r>
              <a:rPr lang="en-US" sz="2200" dirty="0">
                <a:solidFill>
                  <a:schemeClr val="tx1"/>
                </a:solidFill>
              </a:rPr>
              <a:t> de woning verkoopt, heet Janssens.</a:t>
            </a:r>
            <a:endParaRPr lang="en-US" sz="2200" dirty="0"/>
          </a:p>
          <a:p>
            <a:pPr indent="0" marL="0">
              <a:spcAft>
                <a:spcPts val="1200"/>
              </a:spcAft>
              <a:buNone/>
            </a:pPr>
            <a:r>
              <a:rPr lang="en-US" sz="2200" b="1" dirty="0">
                <a:solidFill>
                  <a:schemeClr val="tx2"/>
                </a:solidFill>
              </a:rPr>
              <a:t>2.  </a:t>
            </a:r>
            <a:r>
              <a:rPr lang="en-US" sz="2200" dirty="0">
                <a:solidFill>
                  <a:schemeClr val="tx1"/>
                </a:solidFill>
              </a:rPr>
              <a:t>Het huis </a:t>
            </a:r>
            <a:r>
              <a:rPr lang="en-US" sz="2200" dirty="0">
                <a:solidFill>
                  <a:schemeClr val="tx1"/>
                </a:solidFill>
              </a:rPr>
              <a:t>die</a:t>
            </a:r>
            <a:r>
              <a:rPr lang="en-US" sz="2200" dirty="0">
                <a:solidFill>
                  <a:schemeClr val="tx1"/>
                </a:solidFill>
              </a:rPr>
              <a:t> / </a:t>
            </a:r>
            <a:r>
              <a:rPr lang="en-US" sz="2200" dirty="0">
                <a:solidFill>
                  <a:schemeClr val="tx1"/>
                </a:solidFill>
              </a:rPr>
              <a:t>dat</a:t>
            </a:r>
            <a:r>
              <a:rPr lang="en-US" sz="2200" dirty="0">
                <a:solidFill>
                  <a:schemeClr val="tx1"/>
                </a:solidFill>
              </a:rPr>
              <a:t> naast de bakker staat, is te koop.</a:t>
            </a:r>
            <a:endParaRPr lang="en-US" sz="2200" dirty="0"/>
          </a:p>
          <a:p>
            <a:pPr indent="0" marL="0">
              <a:spcAft>
                <a:spcPts val="1200"/>
              </a:spcAft>
              <a:buNone/>
            </a:pPr>
            <a:r>
              <a:rPr lang="en-US" sz="2200" b="1" dirty="0">
                <a:solidFill>
                  <a:schemeClr val="tx2"/>
                </a:solidFill>
              </a:rPr>
              <a:t>3.  </a:t>
            </a:r>
            <a:r>
              <a:rPr lang="en-US" sz="2200" dirty="0">
                <a:solidFill>
                  <a:schemeClr val="tx1"/>
                </a:solidFill>
              </a:rPr>
              <a:t>De klanten </a:t>
            </a:r>
            <a:r>
              <a:rPr lang="en-US" sz="2200" dirty="0">
                <a:solidFill>
                  <a:schemeClr val="tx1"/>
                </a:solidFill>
              </a:rPr>
              <a:t>dat</a:t>
            </a:r>
            <a:r>
              <a:rPr lang="en-US" sz="2200" dirty="0">
                <a:solidFill>
                  <a:schemeClr val="tx1"/>
                </a:solidFill>
              </a:rPr>
              <a:t> / </a:t>
            </a:r>
            <a:r>
              <a:rPr lang="en-US" sz="2200" dirty="0">
                <a:solidFill>
                  <a:schemeClr val="tx1"/>
                </a:solidFill>
              </a:rPr>
              <a:t>die</a:t>
            </a:r>
            <a:r>
              <a:rPr lang="en-US" sz="2200" dirty="0">
                <a:solidFill>
                  <a:schemeClr val="tx1"/>
                </a:solidFill>
              </a:rPr>
              <a:t> morgen komen, zoeken een appartement.</a:t>
            </a:r>
            <a:endParaRPr lang="en-US" sz="2200" dirty="0"/>
          </a:p>
          <a:p>
            <a:pPr indent="0" marL="0">
              <a:spcAft>
                <a:spcPts val="1200"/>
              </a:spcAft>
              <a:buNone/>
            </a:pPr>
            <a:r>
              <a:rPr lang="en-US" sz="2200" b="1" dirty="0">
                <a:solidFill>
                  <a:schemeClr val="tx2"/>
                </a:solidFill>
              </a:rPr>
              <a:t>4.  </a:t>
            </a:r>
            <a:r>
              <a:rPr lang="en-US" sz="2200" dirty="0">
                <a:solidFill>
                  <a:schemeClr val="tx1"/>
                </a:solidFill>
              </a:rPr>
              <a:t>Dat is het contract </a:t>
            </a:r>
            <a:r>
              <a:rPr lang="en-US" sz="2200" dirty="0">
                <a:solidFill>
                  <a:schemeClr val="tx1"/>
                </a:solidFill>
              </a:rPr>
              <a:t>die</a:t>
            </a:r>
            <a:r>
              <a:rPr lang="en-US" sz="2200" dirty="0">
                <a:solidFill>
                  <a:schemeClr val="tx1"/>
                </a:solidFill>
              </a:rPr>
              <a:t> / </a:t>
            </a:r>
            <a:r>
              <a:rPr lang="en-US" sz="2200" dirty="0">
                <a:solidFill>
                  <a:schemeClr val="tx1"/>
                </a:solidFill>
              </a:rPr>
              <a:t>dat</a:t>
            </a:r>
            <a:r>
              <a:rPr lang="en-US" sz="2200" dirty="0">
                <a:solidFill>
                  <a:schemeClr val="tx1"/>
                </a:solidFill>
              </a:rPr>
              <a:t> de eigenaar moet tekenen.</a:t>
            </a:r>
            <a:endParaRPr lang="en-US" sz="2200" dirty="0"/>
          </a:p>
          <a:p>
            <a:pPr indent="0" marL="0">
              <a:spcAft>
                <a:spcPts val="1200"/>
              </a:spcAft>
              <a:buNone/>
            </a:pPr>
            <a:r>
              <a:rPr lang="en-US" sz="2200" b="1" dirty="0">
                <a:solidFill>
                  <a:schemeClr val="tx2"/>
                </a:solidFill>
              </a:rPr>
              <a:t>5.  </a:t>
            </a:r>
            <a:r>
              <a:rPr lang="en-US" sz="2200" dirty="0">
                <a:solidFill>
                  <a:schemeClr val="tx1"/>
                </a:solidFill>
              </a:rPr>
              <a:t>De sleutels </a:t>
            </a:r>
            <a:r>
              <a:rPr lang="en-US" sz="2200" dirty="0">
                <a:solidFill>
                  <a:schemeClr val="tx1"/>
                </a:solidFill>
              </a:rPr>
              <a:t>dat</a:t>
            </a:r>
            <a:r>
              <a:rPr lang="en-US" sz="2200" dirty="0">
                <a:solidFill>
                  <a:schemeClr val="tx1"/>
                </a:solidFill>
              </a:rPr>
              <a:t> / </a:t>
            </a:r>
            <a:r>
              <a:rPr lang="en-US" sz="2200" dirty="0">
                <a:solidFill>
                  <a:schemeClr val="tx1"/>
                </a:solidFill>
              </a:rPr>
              <a:t>die</a:t>
            </a:r>
            <a:r>
              <a:rPr lang="en-US" sz="2200" dirty="0">
                <a:solidFill>
                  <a:schemeClr val="tx1"/>
                </a:solidFill>
              </a:rPr>
              <a:t> u krijgt, zijn voor de kelder.</a:t>
            </a:r>
            <a:endParaRPr lang="en-US" sz="2200" dirty="0"/>
          </a:p>
          <a:p>
            <a:pPr indent="0" marL="0">
              <a:spcAft>
                <a:spcPts val="1200"/>
              </a:spcAft>
              <a:buNone/>
            </a:pPr>
            <a:r>
              <a:rPr lang="en-US" sz="2200" b="1" dirty="0">
                <a:solidFill>
                  <a:schemeClr val="tx2"/>
                </a:solidFill>
              </a:rPr>
              <a:t>6.  </a:t>
            </a:r>
            <a:r>
              <a:rPr lang="en-US" sz="2200" dirty="0">
                <a:solidFill>
                  <a:schemeClr val="tx1"/>
                </a:solidFill>
              </a:rPr>
              <a:t>Het bod </a:t>
            </a:r>
            <a:r>
              <a:rPr lang="en-US" sz="2200" dirty="0">
                <a:solidFill>
                  <a:schemeClr val="tx1"/>
                </a:solidFill>
              </a:rPr>
              <a:t>die</a:t>
            </a:r>
            <a:r>
              <a:rPr lang="en-US" sz="2200" dirty="0">
                <a:solidFill>
                  <a:schemeClr val="tx1"/>
                </a:solidFill>
              </a:rPr>
              <a:t> / </a:t>
            </a:r>
            <a:r>
              <a:rPr lang="en-US" sz="2200" dirty="0">
                <a:solidFill>
                  <a:schemeClr val="tx1"/>
                </a:solidFill>
              </a:rPr>
              <a:t>dat</a:t>
            </a:r>
            <a:r>
              <a:rPr lang="en-US" sz="2200" dirty="0">
                <a:solidFill>
                  <a:schemeClr val="tx1"/>
                </a:solidFill>
              </a:rPr>
              <a:t> de koper uitbrengt, is te laag.</a:t>
            </a:r>
            <a:endParaRPr lang="en-US" sz="22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200" b="1" dirty="0">
                <a:solidFill>
                  <a:schemeClr val="tx2"/>
                </a:solidFill>
              </a:rPr>
              <a:t>Die of dat ? Kies de juiste vorm</a:t>
            </a:r>
            <a:endParaRPr lang="en-US" sz="3200" dirty="0"/>
          </a:p>
        </p:txBody>
      </p:sp>
      <p:sp>
        <p:nvSpPr>
          <p:cNvPr id="3" name="tag"/>
          <p:cNvSpPr/>
          <p:nvPr/>
        </p:nvSpPr>
        <p:spPr>
          <a:xfrm>
            <a:off x="548640" y="237744"/>
            <a:ext cx="1165860" cy="310896"/>
          </a:xfrm>
          <a:prstGeom prst="roundRect">
            <a:avLst>
              <a:gd name="adj" fmla="val 14706"/>
            </a:avLst>
          </a:prstGeom>
          <a:solidFill>
            <a:schemeClr val="tx2"/>
          </a:solidFill>
          <a:ln/>
        </p:spPr>
        <p:txBody>
          <a:bodyPr wrap="square" lIns="0" tIns="0" rIns="0" bIns="0" rtlCol="0" anchor="ctr"/>
          <a:lstStyle/>
          <a:p>
            <a:pPr algn="ctr" indent="0" marL="0">
              <a:buNone/>
            </a:pPr>
            <a:r>
              <a:rPr lang="en-US" sz="1200" b="1" spc="100" kern="0" dirty="0">
                <a:solidFill>
                  <a:schemeClr val="bg1"/>
                </a:solidFill>
              </a:rPr>
              <a:t>+ BONUS</a:t>
            </a:r>
            <a:endParaRPr lang="en-US" sz="1200" dirty="0"/>
          </a:p>
        </p:txBody>
      </p:sp>
      <p:sp>
        <p:nvSpPr>
          <p:cNvPr id="4" name="tag"/>
          <p:cNvSpPr/>
          <p:nvPr/>
        </p:nvSpPr>
        <p:spPr>
          <a:xfrm>
            <a:off x="1824228" y="237744"/>
            <a:ext cx="1760220" cy="310896"/>
          </a:xfrm>
          <a:prstGeom prst="roundRect">
            <a:avLst>
              <a:gd name="adj" fmla="val 14706"/>
            </a:avLst>
          </a:prstGeom>
          <a:solidFill>
            <a:schemeClr val="accent3"/>
          </a:solidFill>
          <a:ln/>
        </p:spPr>
        <p:txBody>
          <a:bodyPr wrap="square" lIns="0" tIns="0" rIns="0" bIns="0" rtlCol="0" anchor="ctr"/>
          <a:lstStyle/>
          <a:p>
            <a:pPr algn="ctr" indent="0" marL="0">
              <a:buNone/>
            </a:pPr>
            <a:r>
              <a:rPr lang="en-US" sz="1200" b="1" spc="100" kern="0" dirty="0">
                <a:solidFill>
                  <a:schemeClr val="bg1"/>
                </a:solidFill>
              </a:rPr>
              <a:t>✓ CORRECTIE</a:t>
            </a:r>
            <a:endParaRPr lang="en-US" sz="1200" dirty="0"/>
          </a:p>
        </p:txBody>
      </p:sp>
      <p:sp>
        <p:nvSpPr>
          <p:cNvPr id="5" name="Text 3"/>
          <p:cNvSpPr txBox="1"/>
          <p:nvPr/>
        </p:nvSpPr>
        <p:spPr>
          <a:xfrm>
            <a:off x="8897112" y="219456"/>
            <a:ext cx="2743200" cy="347472"/>
          </a:xfrm>
          <a:prstGeom prst="rect">
            <a:avLst/>
          </a:prstGeom>
          <a:noFill/>
          <a:ln/>
        </p:spPr>
        <p:txBody>
          <a:bodyPr wrap="square" lIns="0" tIns="0" rIns="0" bIns="0" rtlCol="0" anchor="ctr"/>
          <a:lstStyle/>
          <a:p>
            <a:pPr algn="r" indent="0" marL="0">
              <a:buNone/>
            </a:pPr>
            <a:r>
              <a:rPr lang="en-US" sz="1200" i="1" dirty="0">
                <a:solidFill>
                  <a:schemeClr val="accent5"/>
                </a:solidFill>
              </a:rPr>
              <a:t>Hors syllabus</a:t>
            </a:r>
            <a:endParaRPr lang="en-US" sz="1200" dirty="0"/>
          </a:p>
        </p:txBody>
      </p:sp>
      <p:sp>
        <p:nvSpPr>
          <p:cNvPr id="7" name="Text 4"/>
          <p:cNvSpPr txBox="1"/>
          <p:nvPr/>
        </p:nvSpPr>
        <p:spPr>
          <a:xfrm>
            <a:off x="548640" y="1481328"/>
            <a:ext cx="7178040" cy="615696"/>
          </a:xfrm>
          <a:prstGeom prst="rect">
            <a:avLst/>
          </a:prstGeom>
          <a:noFill/>
          <a:ln/>
        </p:spPr>
        <p:txBody>
          <a:bodyPr wrap="square" lIns="0" tIns="0" rIns="0" bIns="0" rtlCol="0" anchor="t"/>
          <a:lstStyle/>
          <a:p>
            <a:pPr indent="0" marL="0">
              <a:buNone/>
            </a:pPr>
            <a:r>
              <a:rPr lang="en-US" sz="1600" i="1" dirty="0">
                <a:solidFill>
                  <a:schemeClr val="accent5"/>
                </a:solidFill>
              </a:rPr>
              <a:t>Seul·e · 4 min. Choisissez le bon pronom. Dites d’abord </a:t>
            </a:r>
            <a:r>
              <a:rPr lang="en-US" sz="1600" b="1" i="1" dirty="0">
                <a:solidFill>
                  <a:schemeClr val="accent5"/>
                </a:solidFill>
              </a:rPr>
              <a:t>de ou het</a:t>
            </a:r>
            <a:r>
              <a:rPr lang="en-US" sz="1600" i="1" dirty="0">
                <a:solidFill>
                  <a:schemeClr val="accent5"/>
                </a:solidFill>
              </a:rPr>
              <a:t> pour le nom (et regardez s’il est au pluriel).</a:t>
            </a:r>
            <a:endParaRPr lang="en-US" sz="1600" dirty="0"/>
          </a:p>
        </p:txBody>
      </p:sp>
      <p:sp>
        <p:nvSpPr>
          <p:cNvPr id="8" name="exercise"/>
          <p:cNvSpPr txBox="1"/>
          <p:nvPr/>
        </p:nvSpPr>
        <p:spPr>
          <a:xfrm>
            <a:off x="548640" y="2170176"/>
            <a:ext cx="7178040" cy="4120896"/>
          </a:xfrm>
          <a:prstGeom prst="rect">
            <a:avLst/>
          </a:prstGeom>
          <a:noFill/>
          <a:ln/>
        </p:spPr>
        <p:txBody>
          <a:bodyPr wrap="square" lIns="0" tIns="0" rIns="0" bIns="0" rtlCol="0" anchor="t"/>
          <a:lstStyle/>
          <a:p>
            <a:pPr indent="0" marL="0">
              <a:spcAft>
                <a:spcPts val="1200"/>
              </a:spcAft>
              <a:buNone/>
            </a:pPr>
            <a:r>
              <a:rPr lang="en-US" sz="2200" b="1" dirty="0">
                <a:solidFill>
                  <a:schemeClr val="tx2"/>
                </a:solidFill>
              </a:rPr>
              <a:t>1.  </a:t>
            </a:r>
            <a:r>
              <a:rPr lang="en-US" sz="2200" dirty="0">
                <a:solidFill>
                  <a:schemeClr val="tx1"/>
                </a:solidFill>
              </a:rPr>
              <a:t>De makelaar </a:t>
            </a:r>
            <a:r>
              <a:rPr lang="en-US" sz="2200" strike="sngStrike" dirty="0">
                <a:solidFill>
                  <a:schemeClr val="accent6"/>
                </a:solidFill>
              </a:rPr>
              <a:t>dat</a:t>
            </a:r>
            <a:r>
              <a:rPr lang="en-US" sz="2200" dirty="0">
                <a:solidFill>
                  <a:schemeClr val="tx1"/>
                </a:solidFill>
              </a:rPr>
              <a:t> / </a:t>
            </a:r>
            <a:r>
              <a:rPr lang="en-US" sz="2200" b="1" dirty="0">
                <a:solidFill>
                  <a:schemeClr val="accent3"/>
                </a:solidFill>
              </a:rPr>
              <a:t>die</a:t>
            </a:r>
            <a:r>
              <a:rPr lang="en-US" sz="2200" dirty="0">
                <a:solidFill>
                  <a:schemeClr val="tx1"/>
                </a:solidFill>
              </a:rPr>
              <a:t> de woning verkoopt, heet Janssens.</a:t>
            </a:r>
            <a:endParaRPr lang="en-US" sz="2200" dirty="0"/>
          </a:p>
          <a:p>
            <a:pPr indent="0" marL="0">
              <a:spcAft>
                <a:spcPts val="1200"/>
              </a:spcAft>
              <a:buNone/>
            </a:pPr>
            <a:r>
              <a:rPr lang="en-US" sz="2200" b="1" dirty="0">
                <a:solidFill>
                  <a:schemeClr val="tx2"/>
                </a:solidFill>
              </a:rPr>
              <a:t>2.  </a:t>
            </a:r>
            <a:r>
              <a:rPr lang="en-US" sz="2200" dirty="0">
                <a:solidFill>
                  <a:schemeClr val="tx1"/>
                </a:solidFill>
              </a:rPr>
              <a:t>Het huis </a:t>
            </a:r>
            <a:r>
              <a:rPr lang="en-US" sz="2200" strike="sngStrike" dirty="0">
                <a:solidFill>
                  <a:schemeClr val="accent6"/>
                </a:solidFill>
              </a:rPr>
              <a:t>die</a:t>
            </a:r>
            <a:r>
              <a:rPr lang="en-US" sz="2200" dirty="0">
                <a:solidFill>
                  <a:schemeClr val="tx1"/>
                </a:solidFill>
              </a:rPr>
              <a:t> / </a:t>
            </a:r>
            <a:r>
              <a:rPr lang="en-US" sz="2200" b="1" dirty="0">
                <a:solidFill>
                  <a:schemeClr val="accent3"/>
                </a:solidFill>
              </a:rPr>
              <a:t>dat</a:t>
            </a:r>
            <a:r>
              <a:rPr lang="en-US" sz="2200" dirty="0">
                <a:solidFill>
                  <a:schemeClr val="tx1"/>
                </a:solidFill>
              </a:rPr>
              <a:t> naast de bakker staat, is te koop.</a:t>
            </a:r>
            <a:endParaRPr lang="en-US" sz="2200" dirty="0"/>
          </a:p>
          <a:p>
            <a:pPr indent="0" marL="0">
              <a:spcAft>
                <a:spcPts val="1200"/>
              </a:spcAft>
              <a:buNone/>
            </a:pPr>
            <a:r>
              <a:rPr lang="en-US" sz="2200" b="1" dirty="0">
                <a:solidFill>
                  <a:schemeClr val="tx2"/>
                </a:solidFill>
              </a:rPr>
              <a:t>3.  </a:t>
            </a:r>
            <a:r>
              <a:rPr lang="en-US" sz="2200" dirty="0">
                <a:solidFill>
                  <a:schemeClr val="tx1"/>
                </a:solidFill>
              </a:rPr>
              <a:t>De klanten </a:t>
            </a:r>
            <a:r>
              <a:rPr lang="en-US" sz="2200" strike="sngStrike" dirty="0">
                <a:solidFill>
                  <a:schemeClr val="accent6"/>
                </a:solidFill>
              </a:rPr>
              <a:t>dat</a:t>
            </a:r>
            <a:r>
              <a:rPr lang="en-US" sz="2200" dirty="0">
                <a:solidFill>
                  <a:schemeClr val="tx1"/>
                </a:solidFill>
              </a:rPr>
              <a:t> / </a:t>
            </a:r>
            <a:r>
              <a:rPr lang="en-US" sz="2200" b="1" dirty="0">
                <a:solidFill>
                  <a:schemeClr val="accent3"/>
                </a:solidFill>
              </a:rPr>
              <a:t>die</a:t>
            </a:r>
            <a:r>
              <a:rPr lang="en-US" sz="2200" dirty="0">
                <a:solidFill>
                  <a:schemeClr val="tx1"/>
                </a:solidFill>
              </a:rPr>
              <a:t> morgen komen, zoeken een appartement.</a:t>
            </a:r>
            <a:endParaRPr lang="en-US" sz="2200" dirty="0"/>
          </a:p>
          <a:p>
            <a:pPr indent="0" marL="0">
              <a:spcAft>
                <a:spcPts val="1200"/>
              </a:spcAft>
              <a:buNone/>
            </a:pPr>
            <a:r>
              <a:rPr lang="en-US" sz="2200" b="1" dirty="0">
                <a:solidFill>
                  <a:schemeClr val="tx2"/>
                </a:solidFill>
              </a:rPr>
              <a:t>4.  </a:t>
            </a:r>
            <a:r>
              <a:rPr lang="en-US" sz="2200" dirty="0">
                <a:solidFill>
                  <a:schemeClr val="tx1"/>
                </a:solidFill>
              </a:rPr>
              <a:t>Dat is het contract </a:t>
            </a:r>
            <a:r>
              <a:rPr lang="en-US" sz="2200" strike="sngStrike" dirty="0">
                <a:solidFill>
                  <a:schemeClr val="accent6"/>
                </a:solidFill>
              </a:rPr>
              <a:t>die</a:t>
            </a:r>
            <a:r>
              <a:rPr lang="en-US" sz="2200" dirty="0">
                <a:solidFill>
                  <a:schemeClr val="tx1"/>
                </a:solidFill>
              </a:rPr>
              <a:t> / </a:t>
            </a:r>
            <a:r>
              <a:rPr lang="en-US" sz="2200" b="1" dirty="0">
                <a:solidFill>
                  <a:schemeClr val="accent3"/>
                </a:solidFill>
              </a:rPr>
              <a:t>dat</a:t>
            </a:r>
            <a:r>
              <a:rPr lang="en-US" sz="2200" dirty="0">
                <a:solidFill>
                  <a:schemeClr val="tx1"/>
                </a:solidFill>
              </a:rPr>
              <a:t> de eigenaar moet tekenen.</a:t>
            </a:r>
            <a:endParaRPr lang="en-US" sz="2200" dirty="0"/>
          </a:p>
          <a:p>
            <a:pPr indent="0" marL="0">
              <a:spcAft>
                <a:spcPts val="1200"/>
              </a:spcAft>
              <a:buNone/>
            </a:pPr>
            <a:r>
              <a:rPr lang="en-US" sz="2200" b="1" dirty="0">
                <a:solidFill>
                  <a:schemeClr val="tx2"/>
                </a:solidFill>
              </a:rPr>
              <a:t>5.  </a:t>
            </a:r>
            <a:r>
              <a:rPr lang="en-US" sz="2200" dirty="0">
                <a:solidFill>
                  <a:schemeClr val="tx1"/>
                </a:solidFill>
              </a:rPr>
              <a:t>De sleutels </a:t>
            </a:r>
            <a:r>
              <a:rPr lang="en-US" sz="2200" strike="sngStrike" dirty="0">
                <a:solidFill>
                  <a:schemeClr val="accent6"/>
                </a:solidFill>
              </a:rPr>
              <a:t>dat</a:t>
            </a:r>
            <a:r>
              <a:rPr lang="en-US" sz="2200" dirty="0">
                <a:solidFill>
                  <a:schemeClr val="tx1"/>
                </a:solidFill>
              </a:rPr>
              <a:t> / </a:t>
            </a:r>
            <a:r>
              <a:rPr lang="en-US" sz="2200" b="1" dirty="0">
                <a:solidFill>
                  <a:schemeClr val="accent3"/>
                </a:solidFill>
              </a:rPr>
              <a:t>die</a:t>
            </a:r>
            <a:r>
              <a:rPr lang="en-US" sz="2200" dirty="0">
                <a:solidFill>
                  <a:schemeClr val="tx1"/>
                </a:solidFill>
              </a:rPr>
              <a:t> u krijgt, zijn voor de kelder.</a:t>
            </a:r>
            <a:endParaRPr lang="en-US" sz="2200" dirty="0"/>
          </a:p>
          <a:p>
            <a:pPr indent="0" marL="0">
              <a:spcAft>
                <a:spcPts val="1200"/>
              </a:spcAft>
              <a:buNone/>
            </a:pPr>
            <a:r>
              <a:rPr lang="en-US" sz="2200" b="1" dirty="0">
                <a:solidFill>
                  <a:schemeClr val="tx2"/>
                </a:solidFill>
              </a:rPr>
              <a:t>6.  </a:t>
            </a:r>
            <a:r>
              <a:rPr lang="en-US" sz="2200" dirty="0">
                <a:solidFill>
                  <a:schemeClr val="tx1"/>
                </a:solidFill>
              </a:rPr>
              <a:t>Het bod </a:t>
            </a:r>
            <a:r>
              <a:rPr lang="en-US" sz="2200" strike="sngStrike" dirty="0">
                <a:solidFill>
                  <a:schemeClr val="accent6"/>
                </a:solidFill>
              </a:rPr>
              <a:t>die</a:t>
            </a:r>
            <a:r>
              <a:rPr lang="en-US" sz="2200" dirty="0">
                <a:solidFill>
                  <a:schemeClr val="tx1"/>
                </a:solidFill>
              </a:rPr>
              <a:t> / </a:t>
            </a:r>
            <a:r>
              <a:rPr lang="en-US" sz="2200" b="1" dirty="0">
                <a:solidFill>
                  <a:schemeClr val="accent3"/>
                </a:solidFill>
              </a:rPr>
              <a:t>dat</a:t>
            </a:r>
            <a:r>
              <a:rPr lang="en-US" sz="2200" dirty="0">
                <a:solidFill>
                  <a:schemeClr val="tx1"/>
                </a:solidFill>
              </a:rPr>
              <a:t> de koper uitbrengt, is te laag.</a:t>
            </a:r>
            <a:endParaRPr lang="en-US" sz="2200" dirty="0"/>
          </a:p>
        </p:txBody>
      </p:sp>
      <p:sp>
        <p:nvSpPr>
          <p:cNvPr id="9" name="aside"/>
          <p:cNvSpPr/>
          <p:nvPr/>
        </p:nvSpPr>
        <p:spPr>
          <a:xfrm>
            <a:off x="8046720" y="1481328"/>
            <a:ext cx="3593592" cy="4809744"/>
          </a:xfrm>
          <a:prstGeom prst="roundRect">
            <a:avLst>
              <a:gd name="adj" fmla="val 2036"/>
            </a:avLst>
          </a:prstGeom>
          <a:solidFill>
            <a:schemeClr val="accent6">
              <a:alpha val="10000"/>
            </a:schemeClr>
          </a:solidFill>
          <a:ln w="12700">
            <a:solidFill>
              <a:schemeClr val="accent6">
                <a:alpha val="60000"/>
              </a:schemeClr>
            </a:solidFill>
            <a:prstDash val="solid"/>
          </a:ln>
        </p:spPr>
      </p:sp>
      <p:pic>
        <p:nvPicPr>
          <p:cNvPr id="10" name="Image 0" descr="preencoded.png">    </p:cNvPr>
          <p:cNvPicPr>
            <a:picLocks noChangeAspect="1"/>
          </p:cNvPicPr>
          <p:nvPr/>
        </p:nvPicPr>
        <p:blipFill>
          <a:blip r:embed="rId1"/>
          <a:stretch>
            <a:fillRect/>
          </a:stretch>
        </p:blipFill>
        <p:spPr>
          <a:xfrm>
            <a:off x="8229600" y="1664208"/>
            <a:ext cx="292608" cy="292608"/>
          </a:xfrm>
          <a:prstGeom prst="rect">
            <a:avLst/>
          </a:prstGeom>
        </p:spPr>
      </p:pic>
      <p:sp>
        <p:nvSpPr>
          <p:cNvPr id="11" name="Text 7"/>
          <p:cNvSpPr txBox="1"/>
          <p:nvPr/>
        </p:nvSpPr>
        <p:spPr>
          <a:xfrm>
            <a:off x="8613648" y="1636776"/>
            <a:ext cx="2862072" cy="347472"/>
          </a:xfrm>
          <a:prstGeom prst="rect">
            <a:avLst/>
          </a:prstGeom>
          <a:noFill/>
          <a:ln/>
        </p:spPr>
        <p:txBody>
          <a:bodyPr wrap="square" lIns="0" tIns="0" rIns="0" bIns="0" rtlCol="0" anchor="ctr"/>
          <a:lstStyle/>
          <a:p>
            <a:pPr indent="0" marL="0">
              <a:buNone/>
            </a:pPr>
            <a:r>
              <a:rPr lang="en-US" sz="1400" b="1" spc="100" kern="0" dirty="0">
                <a:solidFill>
                  <a:schemeClr val="accent6"/>
                </a:solidFill>
              </a:rPr>
              <a:t>ATTENTION</a:t>
            </a:r>
            <a:endParaRPr lang="en-US" sz="1400" dirty="0"/>
          </a:p>
        </p:txBody>
      </p:sp>
      <p:sp>
        <p:nvSpPr>
          <p:cNvPr id="12" name="Text 8"/>
          <p:cNvSpPr txBox="1"/>
          <p:nvPr/>
        </p:nvSpPr>
        <p:spPr>
          <a:xfrm>
            <a:off x="8211312" y="2075688"/>
            <a:ext cx="3264408" cy="4078224"/>
          </a:xfrm>
          <a:prstGeom prst="rect">
            <a:avLst/>
          </a:prstGeom>
          <a:noFill/>
          <a:ln/>
        </p:spPr>
        <p:txBody>
          <a:bodyPr wrap="square" lIns="0" tIns="0" rIns="0" bIns="0" rtlCol="0" anchor="t"/>
          <a:lstStyle/>
          <a:p>
            <a:pPr marL="177800" indent="-177800">
              <a:spcAft>
                <a:spcPts val="600"/>
              </a:spcAft>
              <a:buSzPct val="100000"/>
              <a:buChar char="•"/>
            </a:pPr>
            <a:r>
              <a:rPr lang="en-US" sz="1800" b="1" dirty="0">
                <a:solidFill>
                  <a:schemeClr val="tx1"/>
                </a:solidFill>
              </a:rPr>
              <a:t>het contract</a:t>
            </a:r>
            <a:r>
              <a:rPr lang="en-US" sz="1800" dirty="0">
                <a:solidFill>
                  <a:schemeClr val="tx1"/>
                </a:solidFill>
              </a:rPr>
              <a:t>, </a:t>
            </a:r>
            <a:r>
              <a:rPr lang="en-US" sz="1800" b="1" dirty="0">
                <a:solidFill>
                  <a:schemeClr val="tx1"/>
                </a:solidFill>
              </a:rPr>
              <a:t>het huis</a:t>
            </a:r>
            <a:r>
              <a:rPr lang="en-US" sz="1800" dirty="0">
                <a:solidFill>
                  <a:schemeClr val="tx1"/>
                </a:solidFill>
              </a:rPr>
              <a:t>, </a:t>
            </a:r>
            <a:r>
              <a:rPr lang="en-US" sz="1800" b="1" dirty="0">
                <a:solidFill>
                  <a:schemeClr val="tx1"/>
                </a:solidFill>
              </a:rPr>
              <a:t>het bod</a:t>
            </a:r>
            <a:r>
              <a:rPr lang="en-US" sz="1800" dirty="0">
                <a:solidFill>
                  <a:schemeClr val="tx1"/>
                </a:solidFill>
              </a:rPr>
              <a:t> → </a:t>
            </a:r>
            <a:r>
              <a:rPr lang="en-US" sz="1800" b="1" dirty="0">
                <a:solidFill>
                  <a:schemeClr val="tx1"/>
                </a:solidFill>
              </a:rPr>
              <a:t>dat</a:t>
            </a:r>
            <a:r>
              <a:rPr lang="en-US" sz="1800" dirty="0">
                <a:solidFill>
                  <a:schemeClr val="tx1"/>
                </a:solidFill>
              </a:rPr>
              <a:t>.</a:t>
            </a:r>
            <a:endParaRPr lang="en-US" sz="1800" dirty="0"/>
          </a:p>
          <a:p>
            <a:pPr marL="177800" indent="-177800">
              <a:spcAft>
                <a:spcPts val="600"/>
              </a:spcAft>
              <a:buSzPct val="100000"/>
              <a:buChar char="•"/>
            </a:pPr>
            <a:r>
              <a:rPr lang="en-US" sz="1800" b="1" dirty="0">
                <a:solidFill>
                  <a:schemeClr val="tx1"/>
                </a:solidFill>
              </a:rPr>
              <a:t>de makelaar</a:t>
            </a:r>
            <a:r>
              <a:rPr lang="en-US" sz="1800" dirty="0">
                <a:solidFill>
                  <a:schemeClr val="tx1"/>
                </a:solidFill>
              </a:rPr>
              <a:t> → </a:t>
            </a:r>
            <a:r>
              <a:rPr lang="en-US" sz="1800" b="1" dirty="0">
                <a:solidFill>
                  <a:schemeClr val="tx1"/>
                </a:solidFill>
              </a:rPr>
              <a:t>die</a:t>
            </a:r>
            <a:r>
              <a:rPr lang="en-US" sz="1800" dirty="0">
                <a:solidFill>
                  <a:schemeClr val="tx1"/>
                </a:solidFill>
              </a:rPr>
              <a:t> ; </a:t>
            </a:r>
            <a:r>
              <a:rPr lang="en-US" sz="1800" b="1" dirty="0">
                <a:solidFill>
                  <a:schemeClr val="tx1"/>
                </a:solidFill>
              </a:rPr>
              <a:t>de klanten</a:t>
            </a:r>
            <a:r>
              <a:rPr lang="en-US" sz="1800" dirty="0">
                <a:solidFill>
                  <a:schemeClr val="tx1"/>
                </a:solidFill>
              </a:rPr>
              <a:t>, </a:t>
            </a:r>
            <a:r>
              <a:rPr lang="en-US" sz="1800" b="1" dirty="0">
                <a:solidFill>
                  <a:schemeClr val="tx1"/>
                </a:solidFill>
              </a:rPr>
              <a:t>de sleutels</a:t>
            </a:r>
            <a:r>
              <a:rPr lang="en-US" sz="1800" dirty="0">
                <a:solidFill>
                  <a:schemeClr val="tx1"/>
                </a:solidFill>
              </a:rPr>
              <a:t> (pluriels) → </a:t>
            </a:r>
            <a:r>
              <a:rPr lang="en-US" sz="1800" b="1" dirty="0">
                <a:solidFill>
                  <a:schemeClr val="tx1"/>
                </a:solidFill>
              </a:rPr>
              <a:t>die</a:t>
            </a:r>
            <a:r>
              <a:rPr lang="en-US" sz="1800" dirty="0">
                <a:solidFill>
                  <a:schemeClr val="tx1"/>
                </a:solidFill>
              </a:rPr>
              <a:t>.</a:t>
            </a:r>
            <a:endParaRPr lang="en-US" sz="1800" dirty="0"/>
          </a:p>
          <a:p>
            <a:pPr marL="177800" indent="-177800">
              <a:spcAft>
                <a:spcPts val="600"/>
              </a:spcAft>
              <a:buSzPct val="100000"/>
              <a:buChar char="•"/>
            </a:pPr>
            <a:r>
              <a:rPr lang="en-US" sz="1800" dirty="0">
                <a:solidFill>
                  <a:schemeClr val="tx1"/>
                </a:solidFill>
              </a:rPr>
              <a:t>Sujet ou objet : le </a:t>
            </a:r>
            <a:r>
              <a:rPr lang="en-US" sz="1800" b="1" dirty="0">
                <a:solidFill>
                  <a:schemeClr val="tx1"/>
                </a:solidFill>
              </a:rPr>
              <a:t>même</a:t>
            </a:r>
            <a:r>
              <a:rPr lang="en-US" sz="1800" dirty="0">
                <a:solidFill>
                  <a:schemeClr val="tx1"/>
                </a:solidFill>
              </a:rPr>
              <a:t> pronom (</a:t>
            </a:r>
            <a:r>
              <a:rPr lang="en-US" sz="1800" i="1" dirty="0">
                <a:solidFill>
                  <a:schemeClr val="tx1"/>
                </a:solidFill>
              </a:rPr>
              <a:t>het contract dat de eigenaar tekent</a:t>
            </a:r>
            <a:r>
              <a:rPr lang="en-US" sz="1800" dirty="0">
                <a:solidFill>
                  <a:schemeClr val="tx1"/>
                </a:solidFill>
              </a:rPr>
              <a:t>).</a:t>
            </a:r>
            <a:endParaRPr lang="en-US" sz="18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200" b="1" dirty="0">
                <a:solidFill>
                  <a:schemeClr val="tx2"/>
                </a:solidFill>
              </a:rPr>
              <a:t>4 Lezen — Drie zoekertjes onder de loep</a:t>
            </a:r>
            <a:endParaRPr lang="en-US" sz="3200" dirty="0"/>
          </a:p>
        </p:txBody>
      </p:sp>
      <p:sp>
        <p:nvSpPr>
          <p:cNvPr id="3" name="tag"/>
          <p:cNvSpPr/>
          <p:nvPr/>
        </p:nvSpPr>
        <p:spPr>
          <a:xfrm>
            <a:off x="548640" y="237744"/>
            <a:ext cx="1280160" cy="310896"/>
          </a:xfrm>
          <a:prstGeom prst="roundRect">
            <a:avLst>
              <a:gd name="adj" fmla="val 14706"/>
            </a:avLst>
          </a:prstGeom>
          <a:solidFill>
            <a:schemeClr val="accent3"/>
          </a:solidFill>
          <a:ln/>
        </p:spPr>
        <p:txBody>
          <a:bodyPr wrap="square" lIns="0" tIns="0" rIns="0" bIns="0" rtlCol="0" anchor="ctr"/>
          <a:lstStyle/>
          <a:p>
            <a:pPr algn="ctr" indent="0" marL="0">
              <a:buNone/>
            </a:pPr>
            <a:r>
              <a:rPr lang="en-US" sz="1200" b="1" spc="100" kern="0" dirty="0">
                <a:solidFill>
                  <a:schemeClr val="bg1"/>
                </a:solidFill>
              </a:rPr>
              <a:t>COUCHE 1</a:t>
            </a:r>
            <a:endParaRPr lang="en-US" sz="1200" dirty="0"/>
          </a:p>
        </p:txBody>
      </p:sp>
      <p:sp>
        <p:nvSpPr>
          <p:cNvPr id="4" name="Text 2"/>
          <p:cNvSpPr txBox="1"/>
          <p:nvPr/>
        </p:nvSpPr>
        <p:spPr>
          <a:xfrm>
            <a:off x="8897112" y="219456"/>
            <a:ext cx="2743200" cy="347472"/>
          </a:xfrm>
          <a:prstGeom prst="rect">
            <a:avLst/>
          </a:prstGeom>
          <a:noFill/>
          <a:ln/>
        </p:spPr>
        <p:txBody>
          <a:bodyPr wrap="square" lIns="0" tIns="0" rIns="0" bIns="0" rtlCol="0" anchor="ctr"/>
          <a:lstStyle/>
          <a:p>
            <a:pPr algn="r" indent="0" marL="0">
              <a:buNone/>
            </a:pPr>
            <a:r>
              <a:rPr lang="en-US" sz="1200" i="1" dirty="0">
                <a:solidFill>
                  <a:schemeClr val="accent5"/>
                </a:solidFill>
              </a:rPr>
              <a:t>Livret p. 8–9</a:t>
            </a:r>
            <a:endParaRPr lang="en-US" sz="1200" dirty="0"/>
          </a:p>
        </p:txBody>
      </p:sp>
      <p:sp>
        <p:nvSpPr>
          <p:cNvPr id="6" name="Text 3"/>
          <p:cNvSpPr txBox="1"/>
          <p:nvPr/>
        </p:nvSpPr>
        <p:spPr>
          <a:xfrm>
            <a:off x="548640" y="1481328"/>
            <a:ext cx="11091672" cy="365760"/>
          </a:xfrm>
          <a:prstGeom prst="rect">
            <a:avLst/>
          </a:prstGeom>
          <a:noFill/>
          <a:ln/>
        </p:spPr>
        <p:txBody>
          <a:bodyPr wrap="square" lIns="0" tIns="0" rIns="0" bIns="0" rtlCol="0" anchor="ctr"/>
          <a:lstStyle/>
          <a:p>
            <a:pPr algn="l" indent="0" marL="0">
              <a:buNone/>
            </a:pPr>
            <a:r>
              <a:rPr lang="en-US" sz="1600" i="1" dirty="0">
                <a:solidFill>
                  <a:schemeClr val="accent5"/>
                </a:solidFill>
              </a:rPr>
              <a:t>Seul·e · 5 min. Pour chaque annonce : </a:t>
            </a:r>
            <a:r>
              <a:rPr lang="en-US" sz="1600" b="1" i="1" dirty="0">
                <a:solidFill>
                  <a:schemeClr val="accent5"/>
                </a:solidFill>
              </a:rPr>
              <a:t>à vendre ou à louer ?</a:t>
            </a:r>
            <a:r>
              <a:rPr lang="en-US" sz="1600" i="1" dirty="0">
                <a:solidFill>
                  <a:schemeClr val="accent5"/>
                </a:solidFill>
              </a:rPr>
              <a:t> · </a:t>
            </a:r>
            <a:r>
              <a:rPr lang="en-US" sz="1600" b="1" i="1" dirty="0">
                <a:solidFill>
                  <a:schemeClr val="accent5"/>
                </a:solidFill>
              </a:rPr>
              <a:t>le prix ?</a:t>
            </a:r>
            <a:r>
              <a:rPr lang="en-US" sz="1600" i="1" dirty="0">
                <a:solidFill>
                  <a:schemeClr val="accent5"/>
                </a:solidFill>
              </a:rPr>
              <a:t> · </a:t>
            </a:r>
            <a:r>
              <a:rPr lang="en-US" sz="1600" b="1" i="1" dirty="0">
                <a:solidFill>
                  <a:schemeClr val="accent5"/>
                </a:solidFill>
              </a:rPr>
              <a:t>combien de chambres ?</a:t>
            </a:r>
            <a:endParaRPr lang="en-US" sz="1600" dirty="0"/>
          </a:p>
        </p:txBody>
      </p:sp>
      <p:sp>
        <p:nvSpPr>
          <p:cNvPr id="7" name="Shape 4"/>
          <p:cNvSpPr/>
          <p:nvPr/>
        </p:nvSpPr>
        <p:spPr>
          <a:xfrm>
            <a:off x="548640" y="2011680"/>
            <a:ext cx="3514344" cy="4251960"/>
          </a:xfrm>
          <a:prstGeom prst="roundRect">
            <a:avLst>
              <a:gd name="adj" fmla="val 2602"/>
            </a:avLst>
          </a:prstGeom>
          <a:solidFill>
            <a:schemeClr val="bg1"/>
          </a:solidFill>
          <a:ln w="12700">
            <a:solidFill>
              <a:srgbClr val="D5DCE6"/>
            </a:solidFill>
            <a:prstDash val="solid"/>
          </a:ln>
          <a:effectLst>
            <a:outerShdw sx="100000" sy="100000" kx="0" ky="0" algn="bl" rotWithShape="0" blurRad="101600" dist="25400" dir="3600000">
              <a:srgbClr val="000000">
                <a:alpha val="18000"/>
              </a:srgbClr>
            </a:outerShdw>
          </a:effectLst>
        </p:spPr>
      </p:sp>
      <p:sp>
        <p:nvSpPr>
          <p:cNvPr id="8" name="Shape 5"/>
          <p:cNvSpPr/>
          <p:nvPr/>
        </p:nvSpPr>
        <p:spPr>
          <a:xfrm>
            <a:off x="548640" y="2011680"/>
            <a:ext cx="3514344" cy="530352"/>
          </a:xfrm>
          <a:prstGeom prst="roundRect">
            <a:avLst>
              <a:gd name="adj" fmla="val 17241"/>
            </a:avLst>
          </a:prstGeom>
          <a:solidFill>
            <a:schemeClr val="accent1"/>
          </a:solidFill>
          <a:ln/>
        </p:spPr>
      </p:sp>
      <p:sp>
        <p:nvSpPr>
          <p:cNvPr id="9" name="Shape 6"/>
          <p:cNvSpPr/>
          <p:nvPr/>
        </p:nvSpPr>
        <p:spPr>
          <a:xfrm>
            <a:off x="548640" y="2359152"/>
            <a:ext cx="3514344" cy="182880"/>
          </a:xfrm>
          <a:prstGeom prst="rect">
            <a:avLst/>
          </a:prstGeom>
          <a:solidFill>
            <a:schemeClr val="accent1"/>
          </a:solidFill>
          <a:ln w="12700">
            <a:solidFill>
              <a:srgbClr val="D9700F"/>
            </a:solidFill>
            <a:prstDash val="solid"/>
          </a:ln>
        </p:spPr>
      </p:sp>
      <p:pic>
        <p:nvPicPr>
          <p:cNvPr id="10" name="Image 0" descr="preencoded.png">    </p:cNvPr>
          <p:cNvPicPr>
            <a:picLocks noChangeAspect="1"/>
          </p:cNvPicPr>
          <p:nvPr/>
        </p:nvPicPr>
        <p:blipFill>
          <a:blip r:embed="rId1"/>
          <a:stretch>
            <a:fillRect/>
          </a:stretch>
        </p:blipFill>
        <p:spPr>
          <a:xfrm>
            <a:off x="713232" y="2139696"/>
            <a:ext cx="274320" cy="274320"/>
          </a:xfrm>
          <a:prstGeom prst="rect">
            <a:avLst/>
          </a:prstGeom>
        </p:spPr>
      </p:pic>
      <p:sp>
        <p:nvSpPr>
          <p:cNvPr id="11" name="Text 7"/>
          <p:cNvSpPr txBox="1"/>
          <p:nvPr/>
        </p:nvSpPr>
        <p:spPr>
          <a:xfrm>
            <a:off x="1078992" y="2011680"/>
            <a:ext cx="1338072" cy="530352"/>
          </a:xfrm>
          <a:prstGeom prst="rect">
            <a:avLst/>
          </a:prstGeom>
          <a:noFill/>
          <a:ln/>
        </p:spPr>
        <p:txBody>
          <a:bodyPr wrap="square" lIns="0" tIns="0" rIns="0" bIns="0" rtlCol="0" anchor="ctr"/>
          <a:lstStyle/>
          <a:p>
            <a:pPr algn="l" indent="0" marL="0">
              <a:buNone/>
            </a:pPr>
            <a:r>
              <a:rPr lang="en-US" sz="1500" b="1" spc="100" kern="0" dirty="0">
                <a:solidFill>
                  <a:schemeClr val="bg1"/>
                </a:solidFill>
              </a:rPr>
              <a:t>A · TE KOOP</a:t>
            </a:r>
            <a:endParaRPr lang="en-US" sz="1500" dirty="0"/>
          </a:p>
        </p:txBody>
      </p:sp>
      <p:sp>
        <p:nvSpPr>
          <p:cNvPr id="12" name="Text 8"/>
          <p:cNvSpPr txBox="1"/>
          <p:nvPr/>
        </p:nvSpPr>
        <p:spPr>
          <a:xfrm>
            <a:off x="2371344" y="2011680"/>
            <a:ext cx="1508760" cy="530352"/>
          </a:xfrm>
          <a:prstGeom prst="rect">
            <a:avLst/>
          </a:prstGeom>
          <a:noFill/>
          <a:ln/>
        </p:spPr>
        <p:txBody>
          <a:bodyPr wrap="square" lIns="0" tIns="0" rIns="0" bIns="0" rtlCol="0" anchor="ctr"/>
          <a:lstStyle/>
          <a:p>
            <a:pPr algn="r" indent="0" marL="0">
              <a:buNone/>
            </a:pPr>
            <a:r>
              <a:rPr lang="en-US" sz="1300" i="1" dirty="0">
                <a:solidFill>
                  <a:schemeClr val="bg1"/>
                </a:solidFill>
              </a:rPr>
              <a:t>Sint-Gillis</a:t>
            </a:r>
            <a:endParaRPr lang="en-US" sz="1300" dirty="0"/>
          </a:p>
        </p:txBody>
      </p:sp>
      <p:sp>
        <p:nvSpPr>
          <p:cNvPr id="13" name="Text 9"/>
          <p:cNvSpPr txBox="1"/>
          <p:nvPr/>
        </p:nvSpPr>
        <p:spPr>
          <a:xfrm>
            <a:off x="777240" y="2697480"/>
            <a:ext cx="3057144" cy="2788920"/>
          </a:xfrm>
          <a:prstGeom prst="rect">
            <a:avLst/>
          </a:prstGeom>
          <a:noFill/>
          <a:ln/>
        </p:spPr>
        <p:txBody>
          <a:bodyPr wrap="square" lIns="0" tIns="0" rIns="0" bIns="0" rtlCol="0" anchor="t"/>
          <a:lstStyle/>
          <a:p>
            <a:pPr algn="l" indent="0" marL="0">
              <a:buNone/>
            </a:pPr>
            <a:r>
              <a:rPr lang="en-US" sz="2100" dirty="0">
                <a:solidFill>
                  <a:schemeClr val="tx1"/>
                </a:solidFill>
              </a:rPr>
              <a:t>Rijhuis (150 m²) dat volledig gerenoveerd is. 3 slpk., woonkamer met open keuken, stadstuin die op het zuiden ligt. EPC: B. Instapklaar.</a:t>
            </a:r>
            <a:endParaRPr lang="en-US" sz="2100" dirty="0"/>
          </a:p>
        </p:txBody>
      </p:sp>
      <p:sp>
        <p:nvSpPr>
          <p:cNvPr id="14" name="Shape 10"/>
          <p:cNvSpPr/>
          <p:nvPr/>
        </p:nvSpPr>
        <p:spPr>
          <a:xfrm>
            <a:off x="777240" y="5623560"/>
            <a:ext cx="3057144" cy="457200"/>
          </a:xfrm>
          <a:prstGeom prst="roundRect">
            <a:avLst>
              <a:gd name="adj" fmla="val 16000"/>
            </a:avLst>
          </a:prstGeom>
          <a:solidFill>
            <a:schemeClr val="tx2"/>
          </a:solidFill>
          <a:ln w="12700">
            <a:solidFill>
              <a:srgbClr val="FFFFFF">
                <a:alpha val="0"/>
              </a:srgbClr>
            </a:solidFill>
            <a:prstDash val="solid"/>
          </a:ln>
        </p:spPr>
      </p:sp>
      <p:sp>
        <p:nvSpPr>
          <p:cNvPr id="15" name="Text 11"/>
          <p:cNvSpPr txBox="1"/>
          <p:nvPr/>
        </p:nvSpPr>
        <p:spPr>
          <a:xfrm>
            <a:off x="777240" y="5623560"/>
            <a:ext cx="3057144" cy="457200"/>
          </a:xfrm>
          <a:prstGeom prst="rect">
            <a:avLst/>
          </a:prstGeom>
          <a:noFill/>
          <a:ln/>
        </p:spPr>
        <p:txBody>
          <a:bodyPr wrap="square" lIns="0" tIns="0" rIns="0" bIns="0" rtlCol="0" anchor="ctr"/>
          <a:lstStyle/>
          <a:p>
            <a:pPr algn="ctr" indent="0" marL="0">
              <a:buNone/>
            </a:pPr>
            <a:r>
              <a:rPr lang="en-US" sz="1600" b="1" dirty="0">
                <a:solidFill>
                  <a:schemeClr val="bg1"/>
                </a:solidFill>
              </a:rPr>
              <a:t>Vraagprijs € 425.000</a:t>
            </a:r>
            <a:endParaRPr lang="en-US" sz="1600" dirty="0"/>
          </a:p>
        </p:txBody>
      </p:sp>
      <p:sp>
        <p:nvSpPr>
          <p:cNvPr id="16" name="Shape 12"/>
          <p:cNvSpPr/>
          <p:nvPr/>
        </p:nvSpPr>
        <p:spPr>
          <a:xfrm>
            <a:off x="4337304" y="2011680"/>
            <a:ext cx="3514344" cy="4251960"/>
          </a:xfrm>
          <a:prstGeom prst="roundRect">
            <a:avLst>
              <a:gd name="adj" fmla="val 2602"/>
            </a:avLst>
          </a:prstGeom>
          <a:solidFill>
            <a:schemeClr val="bg1"/>
          </a:solidFill>
          <a:ln w="12700">
            <a:solidFill>
              <a:srgbClr val="D5DCE6"/>
            </a:solidFill>
            <a:prstDash val="solid"/>
          </a:ln>
          <a:effectLst>
            <a:outerShdw sx="100000" sy="100000" kx="0" ky="0" algn="bl" rotWithShape="0" blurRad="101600" dist="25400" dir="3600000">
              <a:srgbClr val="000000">
                <a:alpha val="18000"/>
              </a:srgbClr>
            </a:outerShdw>
          </a:effectLst>
        </p:spPr>
      </p:sp>
      <p:sp>
        <p:nvSpPr>
          <p:cNvPr id="17" name="Shape 13"/>
          <p:cNvSpPr/>
          <p:nvPr/>
        </p:nvSpPr>
        <p:spPr>
          <a:xfrm>
            <a:off x="4337304" y="2011680"/>
            <a:ext cx="3514344" cy="530352"/>
          </a:xfrm>
          <a:prstGeom prst="roundRect">
            <a:avLst>
              <a:gd name="adj" fmla="val 17241"/>
            </a:avLst>
          </a:prstGeom>
          <a:solidFill>
            <a:schemeClr val="accent3"/>
          </a:solidFill>
          <a:ln/>
        </p:spPr>
      </p:sp>
      <p:sp>
        <p:nvSpPr>
          <p:cNvPr id="18" name="Shape 14"/>
          <p:cNvSpPr/>
          <p:nvPr/>
        </p:nvSpPr>
        <p:spPr>
          <a:xfrm>
            <a:off x="4337304" y="2359152"/>
            <a:ext cx="3514344" cy="182880"/>
          </a:xfrm>
          <a:prstGeom prst="rect">
            <a:avLst/>
          </a:prstGeom>
          <a:solidFill>
            <a:schemeClr val="accent3"/>
          </a:solidFill>
          <a:ln w="12700">
            <a:solidFill>
              <a:srgbClr val="2E7D4F"/>
            </a:solidFill>
            <a:prstDash val="solid"/>
          </a:ln>
        </p:spPr>
      </p:sp>
      <p:pic>
        <p:nvPicPr>
          <p:cNvPr id="19" name="Image 1" descr="preencoded.png">    </p:cNvPr>
          <p:cNvPicPr>
            <a:picLocks noChangeAspect="1"/>
          </p:cNvPicPr>
          <p:nvPr/>
        </p:nvPicPr>
        <p:blipFill>
          <a:blip r:embed="rId2"/>
          <a:stretch>
            <a:fillRect/>
          </a:stretch>
        </p:blipFill>
        <p:spPr>
          <a:xfrm>
            <a:off x="4501896" y="2139696"/>
            <a:ext cx="274320" cy="274320"/>
          </a:xfrm>
          <a:prstGeom prst="rect">
            <a:avLst/>
          </a:prstGeom>
        </p:spPr>
      </p:pic>
      <p:sp>
        <p:nvSpPr>
          <p:cNvPr id="20" name="Text 15"/>
          <p:cNvSpPr txBox="1"/>
          <p:nvPr/>
        </p:nvSpPr>
        <p:spPr>
          <a:xfrm>
            <a:off x="4867656" y="2011680"/>
            <a:ext cx="1338072" cy="530352"/>
          </a:xfrm>
          <a:prstGeom prst="rect">
            <a:avLst/>
          </a:prstGeom>
          <a:noFill/>
          <a:ln/>
        </p:spPr>
        <p:txBody>
          <a:bodyPr wrap="square" lIns="0" tIns="0" rIns="0" bIns="0" rtlCol="0" anchor="ctr"/>
          <a:lstStyle/>
          <a:p>
            <a:pPr algn="l" indent="0" marL="0">
              <a:buNone/>
            </a:pPr>
            <a:r>
              <a:rPr lang="en-US" sz="1500" b="1" spc="100" kern="0" dirty="0">
                <a:solidFill>
                  <a:schemeClr val="bg1"/>
                </a:solidFill>
              </a:rPr>
              <a:t>B · TE HUUR</a:t>
            </a:r>
            <a:endParaRPr lang="en-US" sz="1500" dirty="0"/>
          </a:p>
        </p:txBody>
      </p:sp>
      <p:sp>
        <p:nvSpPr>
          <p:cNvPr id="21" name="Text 16"/>
          <p:cNvSpPr txBox="1"/>
          <p:nvPr/>
        </p:nvSpPr>
        <p:spPr>
          <a:xfrm>
            <a:off x="6160008" y="2011680"/>
            <a:ext cx="1508760" cy="530352"/>
          </a:xfrm>
          <a:prstGeom prst="rect">
            <a:avLst/>
          </a:prstGeom>
          <a:noFill/>
          <a:ln/>
        </p:spPr>
        <p:txBody>
          <a:bodyPr wrap="square" lIns="0" tIns="0" rIns="0" bIns="0" rtlCol="0" anchor="ctr"/>
          <a:lstStyle/>
          <a:p>
            <a:pPr algn="r" indent="0" marL="0">
              <a:buNone/>
            </a:pPr>
            <a:r>
              <a:rPr lang="en-US" sz="1300" i="1" dirty="0">
                <a:solidFill>
                  <a:schemeClr val="bg1"/>
                </a:solidFill>
              </a:rPr>
              <a:t>Elsene</a:t>
            </a:r>
            <a:endParaRPr lang="en-US" sz="1300" dirty="0"/>
          </a:p>
        </p:txBody>
      </p:sp>
      <p:sp>
        <p:nvSpPr>
          <p:cNvPr id="22" name="Text 17"/>
          <p:cNvSpPr txBox="1"/>
          <p:nvPr/>
        </p:nvSpPr>
        <p:spPr>
          <a:xfrm>
            <a:off x="4565904" y="2697480"/>
            <a:ext cx="3057144" cy="2788920"/>
          </a:xfrm>
          <a:prstGeom prst="rect">
            <a:avLst/>
          </a:prstGeom>
          <a:noFill/>
          <a:ln/>
        </p:spPr>
        <p:txBody>
          <a:bodyPr wrap="square" lIns="0" tIns="0" rIns="0" bIns="0" rtlCol="0" anchor="t"/>
          <a:lstStyle/>
          <a:p>
            <a:pPr algn="l" indent="0" marL="0">
              <a:buNone/>
            </a:pPr>
            <a:r>
              <a:rPr lang="en-US" sz="2100" dirty="0">
                <a:solidFill>
                  <a:schemeClr val="tx1"/>
                </a:solidFill>
              </a:rPr>
              <a:t>Licht appartement op de derde verdieping (geen lift). 2 slpk., badkamer die vernieuwd werd in 2024, kelder. Vrij vanaf 1 september.</a:t>
            </a:r>
            <a:endParaRPr lang="en-US" sz="2100" dirty="0"/>
          </a:p>
        </p:txBody>
      </p:sp>
      <p:sp>
        <p:nvSpPr>
          <p:cNvPr id="23" name="Shape 18"/>
          <p:cNvSpPr/>
          <p:nvPr/>
        </p:nvSpPr>
        <p:spPr>
          <a:xfrm>
            <a:off x="4565904" y="5623560"/>
            <a:ext cx="3057144" cy="457200"/>
          </a:xfrm>
          <a:prstGeom prst="roundRect">
            <a:avLst>
              <a:gd name="adj" fmla="val 16000"/>
            </a:avLst>
          </a:prstGeom>
          <a:solidFill>
            <a:schemeClr val="tx2"/>
          </a:solidFill>
          <a:ln w="12700">
            <a:solidFill>
              <a:srgbClr val="FFFFFF">
                <a:alpha val="0"/>
              </a:srgbClr>
            </a:solidFill>
            <a:prstDash val="solid"/>
          </a:ln>
        </p:spPr>
      </p:sp>
      <p:sp>
        <p:nvSpPr>
          <p:cNvPr id="24" name="Text 19"/>
          <p:cNvSpPr txBox="1"/>
          <p:nvPr/>
        </p:nvSpPr>
        <p:spPr>
          <a:xfrm>
            <a:off x="4565904" y="5623560"/>
            <a:ext cx="3057144" cy="457200"/>
          </a:xfrm>
          <a:prstGeom prst="rect">
            <a:avLst/>
          </a:prstGeom>
          <a:noFill/>
          <a:ln/>
        </p:spPr>
        <p:txBody>
          <a:bodyPr wrap="square" lIns="0" tIns="0" rIns="0" bIns="0" rtlCol="0" anchor="ctr"/>
          <a:lstStyle/>
          <a:p>
            <a:pPr algn="ctr" indent="0" marL="0">
              <a:buNone/>
            </a:pPr>
            <a:r>
              <a:rPr lang="en-US" sz="1600" b="1" dirty="0">
                <a:solidFill>
                  <a:schemeClr val="bg1"/>
                </a:solidFill>
              </a:rPr>
              <a:t>€ 1.250/maand + € 150</a:t>
            </a:r>
            <a:endParaRPr lang="en-US" sz="1600" dirty="0"/>
          </a:p>
        </p:txBody>
      </p:sp>
      <p:sp>
        <p:nvSpPr>
          <p:cNvPr id="25" name="Shape 20"/>
          <p:cNvSpPr/>
          <p:nvPr/>
        </p:nvSpPr>
        <p:spPr>
          <a:xfrm>
            <a:off x="8125968" y="2011680"/>
            <a:ext cx="3514344" cy="4251960"/>
          </a:xfrm>
          <a:prstGeom prst="roundRect">
            <a:avLst>
              <a:gd name="adj" fmla="val 2602"/>
            </a:avLst>
          </a:prstGeom>
          <a:solidFill>
            <a:schemeClr val="bg1"/>
          </a:solidFill>
          <a:ln w="12700">
            <a:solidFill>
              <a:srgbClr val="D5DCE6"/>
            </a:solidFill>
            <a:prstDash val="solid"/>
          </a:ln>
          <a:effectLst>
            <a:outerShdw sx="100000" sy="100000" kx="0" ky="0" algn="bl" rotWithShape="0" blurRad="101600" dist="25400" dir="3600000">
              <a:srgbClr val="000000">
                <a:alpha val="18000"/>
              </a:srgbClr>
            </a:outerShdw>
          </a:effectLst>
        </p:spPr>
      </p:sp>
      <p:sp>
        <p:nvSpPr>
          <p:cNvPr id="26" name="Shape 21"/>
          <p:cNvSpPr/>
          <p:nvPr/>
        </p:nvSpPr>
        <p:spPr>
          <a:xfrm>
            <a:off x="8125968" y="2011680"/>
            <a:ext cx="3514344" cy="530352"/>
          </a:xfrm>
          <a:prstGeom prst="roundRect">
            <a:avLst>
              <a:gd name="adj" fmla="val 17241"/>
            </a:avLst>
          </a:prstGeom>
          <a:solidFill>
            <a:schemeClr val="accent1"/>
          </a:solidFill>
          <a:ln/>
        </p:spPr>
      </p:sp>
      <p:sp>
        <p:nvSpPr>
          <p:cNvPr id="27" name="Shape 22"/>
          <p:cNvSpPr/>
          <p:nvPr/>
        </p:nvSpPr>
        <p:spPr>
          <a:xfrm>
            <a:off x="8125968" y="2359152"/>
            <a:ext cx="3514344" cy="182880"/>
          </a:xfrm>
          <a:prstGeom prst="rect">
            <a:avLst/>
          </a:prstGeom>
          <a:solidFill>
            <a:schemeClr val="accent1"/>
          </a:solidFill>
          <a:ln w="12700">
            <a:solidFill>
              <a:srgbClr val="D9700F"/>
            </a:solidFill>
            <a:prstDash val="solid"/>
          </a:ln>
        </p:spPr>
      </p:sp>
      <p:pic>
        <p:nvPicPr>
          <p:cNvPr id="28" name="Image 2" descr="preencoded.png">    </p:cNvPr>
          <p:cNvPicPr>
            <a:picLocks noChangeAspect="1"/>
          </p:cNvPicPr>
          <p:nvPr/>
        </p:nvPicPr>
        <p:blipFill>
          <a:blip r:embed="rId3"/>
          <a:stretch>
            <a:fillRect/>
          </a:stretch>
        </p:blipFill>
        <p:spPr>
          <a:xfrm>
            <a:off x="8290560" y="2139696"/>
            <a:ext cx="274320" cy="274320"/>
          </a:xfrm>
          <a:prstGeom prst="rect">
            <a:avLst/>
          </a:prstGeom>
        </p:spPr>
      </p:pic>
      <p:sp>
        <p:nvSpPr>
          <p:cNvPr id="29" name="Text 23"/>
          <p:cNvSpPr txBox="1"/>
          <p:nvPr/>
        </p:nvSpPr>
        <p:spPr>
          <a:xfrm>
            <a:off x="8656320" y="2011680"/>
            <a:ext cx="1338072" cy="530352"/>
          </a:xfrm>
          <a:prstGeom prst="rect">
            <a:avLst/>
          </a:prstGeom>
          <a:noFill/>
          <a:ln/>
        </p:spPr>
        <p:txBody>
          <a:bodyPr wrap="square" lIns="0" tIns="0" rIns="0" bIns="0" rtlCol="0" anchor="ctr"/>
          <a:lstStyle/>
          <a:p>
            <a:pPr algn="l" indent="0" marL="0">
              <a:buNone/>
            </a:pPr>
            <a:r>
              <a:rPr lang="en-US" sz="1500" b="1" spc="100" kern="0" dirty="0">
                <a:solidFill>
                  <a:schemeClr val="bg1"/>
                </a:solidFill>
              </a:rPr>
              <a:t>C · TE KOOP</a:t>
            </a:r>
            <a:endParaRPr lang="en-US" sz="1500" dirty="0"/>
          </a:p>
        </p:txBody>
      </p:sp>
      <p:sp>
        <p:nvSpPr>
          <p:cNvPr id="30" name="Text 24"/>
          <p:cNvSpPr txBox="1"/>
          <p:nvPr/>
        </p:nvSpPr>
        <p:spPr>
          <a:xfrm>
            <a:off x="9948672" y="2011680"/>
            <a:ext cx="1508760" cy="530352"/>
          </a:xfrm>
          <a:prstGeom prst="rect">
            <a:avLst/>
          </a:prstGeom>
          <a:noFill/>
          <a:ln/>
        </p:spPr>
        <p:txBody>
          <a:bodyPr wrap="square" lIns="0" tIns="0" rIns="0" bIns="0" rtlCol="0" anchor="ctr"/>
          <a:lstStyle/>
          <a:p>
            <a:pPr algn="r" indent="0" marL="0">
              <a:buNone/>
            </a:pPr>
            <a:r>
              <a:rPr lang="en-US" sz="1300" i="1" dirty="0">
                <a:solidFill>
                  <a:schemeClr val="bg1"/>
                </a:solidFill>
              </a:rPr>
              <a:t>Vorst</a:t>
            </a:r>
            <a:endParaRPr lang="en-US" sz="1300" dirty="0"/>
          </a:p>
        </p:txBody>
      </p:sp>
      <p:sp>
        <p:nvSpPr>
          <p:cNvPr id="31" name="Text 25"/>
          <p:cNvSpPr txBox="1"/>
          <p:nvPr/>
        </p:nvSpPr>
        <p:spPr>
          <a:xfrm>
            <a:off x="8354568" y="2697480"/>
            <a:ext cx="3057144" cy="2788920"/>
          </a:xfrm>
          <a:prstGeom prst="rect">
            <a:avLst/>
          </a:prstGeom>
          <a:noFill/>
          <a:ln/>
        </p:spPr>
        <p:txBody>
          <a:bodyPr wrap="square" lIns="0" tIns="0" rIns="0" bIns="0" rtlCol="0" anchor="t"/>
          <a:lstStyle/>
          <a:p>
            <a:pPr algn="l" indent="0" marL="0">
              <a:buNone/>
            </a:pPr>
            <a:r>
              <a:rPr lang="en-US" sz="2100" dirty="0">
                <a:solidFill>
                  <a:schemeClr val="tx1"/>
                </a:solidFill>
              </a:rPr>
              <a:t>Op te frissen appartement dat veel potentieel heeft. 1 slpk., terras van 8 m². Ideaal voor een investeerder die aan verhuren denkt.</a:t>
            </a:r>
            <a:endParaRPr lang="en-US" sz="2100" dirty="0"/>
          </a:p>
        </p:txBody>
      </p:sp>
      <p:sp>
        <p:nvSpPr>
          <p:cNvPr id="32" name="Shape 26"/>
          <p:cNvSpPr/>
          <p:nvPr/>
        </p:nvSpPr>
        <p:spPr>
          <a:xfrm>
            <a:off x="8354568" y="5623560"/>
            <a:ext cx="3057144" cy="457200"/>
          </a:xfrm>
          <a:prstGeom prst="roundRect">
            <a:avLst>
              <a:gd name="adj" fmla="val 16000"/>
            </a:avLst>
          </a:prstGeom>
          <a:solidFill>
            <a:schemeClr val="tx2"/>
          </a:solidFill>
          <a:ln w="12700">
            <a:solidFill>
              <a:srgbClr val="FFFFFF">
                <a:alpha val="0"/>
              </a:srgbClr>
            </a:solidFill>
            <a:prstDash val="solid"/>
          </a:ln>
        </p:spPr>
      </p:sp>
      <p:sp>
        <p:nvSpPr>
          <p:cNvPr id="33" name="Text 27"/>
          <p:cNvSpPr txBox="1"/>
          <p:nvPr/>
        </p:nvSpPr>
        <p:spPr>
          <a:xfrm>
            <a:off x="8354568" y="5623560"/>
            <a:ext cx="3057144" cy="457200"/>
          </a:xfrm>
          <a:prstGeom prst="rect">
            <a:avLst/>
          </a:prstGeom>
          <a:noFill/>
          <a:ln/>
        </p:spPr>
        <p:txBody>
          <a:bodyPr wrap="square" lIns="0" tIns="0" rIns="0" bIns="0" rtlCol="0" anchor="ctr"/>
          <a:lstStyle/>
          <a:p>
            <a:pPr algn="ctr" indent="0" marL="0">
              <a:buNone/>
            </a:pPr>
            <a:r>
              <a:rPr lang="en-US" sz="1600" b="1" dirty="0">
                <a:solidFill>
                  <a:schemeClr val="bg1"/>
                </a:solidFill>
              </a:rPr>
              <a:t>Vraagprijs € 189.000</a:t>
            </a:r>
            <a:endParaRPr lang="en-US" sz="16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200" b="1" dirty="0">
                <a:solidFill>
                  <a:schemeClr val="tx2"/>
                </a:solidFill>
              </a:rPr>
              <a:t>4 Questions 1, 3 et 4 — comprendre les annonces</a:t>
            </a:r>
            <a:endParaRPr lang="en-US" sz="3200" dirty="0"/>
          </a:p>
        </p:txBody>
      </p:sp>
      <p:sp>
        <p:nvSpPr>
          <p:cNvPr id="3" name="tag"/>
          <p:cNvSpPr/>
          <p:nvPr/>
        </p:nvSpPr>
        <p:spPr>
          <a:xfrm>
            <a:off x="548640" y="237744"/>
            <a:ext cx="1280160" cy="310896"/>
          </a:xfrm>
          <a:prstGeom prst="roundRect">
            <a:avLst>
              <a:gd name="adj" fmla="val 14706"/>
            </a:avLst>
          </a:prstGeom>
          <a:solidFill>
            <a:schemeClr val="accent3"/>
          </a:solidFill>
          <a:ln/>
        </p:spPr>
        <p:txBody>
          <a:bodyPr wrap="square" lIns="0" tIns="0" rIns="0" bIns="0" rtlCol="0" anchor="ctr"/>
          <a:lstStyle/>
          <a:p>
            <a:pPr algn="ctr" indent="0" marL="0">
              <a:buNone/>
            </a:pPr>
            <a:r>
              <a:rPr lang="en-US" sz="1200" b="1" spc="100" kern="0" dirty="0">
                <a:solidFill>
                  <a:schemeClr val="bg1"/>
                </a:solidFill>
              </a:rPr>
              <a:t>COUCHE 1</a:t>
            </a:r>
            <a:endParaRPr lang="en-US" sz="1200" dirty="0"/>
          </a:p>
        </p:txBody>
      </p:sp>
      <p:sp>
        <p:nvSpPr>
          <p:cNvPr id="4" name="Text 2"/>
          <p:cNvSpPr txBox="1"/>
          <p:nvPr/>
        </p:nvSpPr>
        <p:spPr>
          <a:xfrm>
            <a:off x="8897112" y="219456"/>
            <a:ext cx="2743200" cy="347472"/>
          </a:xfrm>
          <a:prstGeom prst="rect">
            <a:avLst/>
          </a:prstGeom>
          <a:noFill/>
          <a:ln/>
        </p:spPr>
        <p:txBody>
          <a:bodyPr wrap="square" lIns="0" tIns="0" rIns="0" bIns="0" rtlCol="0" anchor="ctr"/>
          <a:lstStyle/>
          <a:p>
            <a:pPr algn="r" indent="0" marL="0">
              <a:buNone/>
            </a:pPr>
            <a:r>
              <a:rPr lang="en-US" sz="1200" i="1" dirty="0">
                <a:solidFill>
                  <a:schemeClr val="accent5"/>
                </a:solidFill>
              </a:rPr>
              <a:t>Livret p. 9–10</a:t>
            </a:r>
            <a:endParaRPr lang="en-US" sz="1200" dirty="0"/>
          </a:p>
        </p:txBody>
      </p:sp>
      <p:sp>
        <p:nvSpPr>
          <p:cNvPr id="6" name="Text 3"/>
          <p:cNvSpPr txBox="1"/>
          <p:nvPr/>
        </p:nvSpPr>
        <p:spPr>
          <a:xfrm>
            <a:off x="548640" y="1481328"/>
            <a:ext cx="7205472" cy="371856"/>
          </a:xfrm>
          <a:prstGeom prst="rect">
            <a:avLst/>
          </a:prstGeom>
          <a:noFill/>
          <a:ln/>
        </p:spPr>
        <p:txBody>
          <a:bodyPr wrap="square" lIns="0" tIns="0" rIns="0" bIns="0" rtlCol="0" anchor="t"/>
          <a:lstStyle/>
          <a:p>
            <a:pPr indent="0" marL="0">
              <a:buNone/>
            </a:pPr>
            <a:r>
              <a:rPr lang="en-US" sz="1600" i="1" dirty="0">
                <a:solidFill>
                  <a:schemeClr val="accent5"/>
                </a:solidFill>
              </a:rPr>
              <a:t>Par deux · 6 min. Répondez en vous appuyant sur les annonces A, B et C.</a:t>
            </a:r>
            <a:endParaRPr lang="en-US" sz="1600" dirty="0"/>
          </a:p>
        </p:txBody>
      </p:sp>
      <p:sp>
        <p:nvSpPr>
          <p:cNvPr id="7" name="exercise"/>
          <p:cNvSpPr txBox="1"/>
          <p:nvPr/>
        </p:nvSpPr>
        <p:spPr>
          <a:xfrm>
            <a:off x="548640" y="1926336"/>
            <a:ext cx="7205472" cy="4364736"/>
          </a:xfrm>
          <a:prstGeom prst="rect">
            <a:avLst/>
          </a:prstGeom>
          <a:noFill/>
          <a:ln/>
        </p:spPr>
        <p:txBody>
          <a:bodyPr wrap="square" lIns="0" tIns="0" rIns="0" bIns="0" rtlCol="0" anchor="t"/>
          <a:lstStyle/>
          <a:p>
            <a:pPr indent="0" marL="0">
              <a:spcAft>
                <a:spcPts val="1800"/>
              </a:spcAft>
              <a:buNone/>
            </a:pPr>
            <a:r>
              <a:rPr lang="en-US" sz="2600" b="1" dirty="0">
                <a:solidFill>
                  <a:schemeClr val="tx1"/>
                </a:solidFill>
              </a:rPr>
              <a:t>1.</a:t>
            </a:r>
            <a:r>
              <a:rPr lang="en-US" sz="2600" dirty="0">
                <a:solidFill>
                  <a:schemeClr val="tx1"/>
                </a:solidFill>
              </a:rPr>
              <a:t> Welk zoekertje past bij mevrouw Claes ? Waarom ?</a:t>
            </a:r>
            <a:endParaRPr lang="en-US" sz="2600" dirty="0"/>
          </a:p>
          <a:p>
            <a:pPr indent="0" marL="0">
              <a:spcAft>
                <a:spcPts val="1800"/>
              </a:spcAft>
              <a:buNone/>
            </a:pPr>
            <a:r>
              <a:rPr lang="en-US" sz="2600" b="1" dirty="0">
                <a:solidFill>
                  <a:schemeClr val="tx1"/>
                </a:solidFill>
              </a:rPr>
              <a:t>3.</a:t>
            </a:r>
            <a:r>
              <a:rPr lang="en-US" sz="2600" dirty="0">
                <a:solidFill>
                  <a:schemeClr val="tx1"/>
                </a:solidFill>
              </a:rPr>
              <a:t> Décodez : </a:t>
            </a:r>
            <a:r>
              <a:rPr lang="en-US" sz="2600" b="1" dirty="0">
                <a:solidFill>
                  <a:schemeClr val="tx1"/>
                </a:solidFill>
              </a:rPr>
              <a:t>slpk.</a:t>
            </a:r>
            <a:r>
              <a:rPr lang="en-US" sz="2600" dirty="0">
                <a:solidFill>
                  <a:schemeClr val="tx1"/>
                </a:solidFill>
              </a:rPr>
              <a:t> · </a:t>
            </a:r>
            <a:r>
              <a:rPr lang="en-US" sz="2600" b="1" dirty="0">
                <a:solidFill>
                  <a:schemeClr val="tx1"/>
                </a:solidFill>
              </a:rPr>
              <a:t>EPC</a:t>
            </a:r>
            <a:r>
              <a:rPr lang="en-US" sz="2600" dirty="0">
                <a:solidFill>
                  <a:schemeClr val="tx1"/>
                </a:solidFill>
              </a:rPr>
              <a:t> · </a:t>
            </a:r>
            <a:r>
              <a:rPr lang="en-US" sz="2600" b="1" dirty="0">
                <a:solidFill>
                  <a:schemeClr val="tx1"/>
                </a:solidFill>
              </a:rPr>
              <a:t>instapklaar</a:t>
            </a:r>
            <a:endParaRPr lang="en-US" sz="2600" dirty="0"/>
          </a:p>
          <a:p>
            <a:pPr indent="0" marL="0">
              <a:spcAft>
                <a:spcPts val="1800"/>
              </a:spcAft>
              <a:buNone/>
            </a:pPr>
            <a:r>
              <a:rPr lang="en-US" sz="2600" b="1" dirty="0">
                <a:solidFill>
                  <a:schemeClr val="tx1"/>
                </a:solidFill>
              </a:rPr>
              <a:t>4.</a:t>
            </a:r>
            <a:r>
              <a:rPr lang="en-US" sz="2600" dirty="0">
                <a:solidFill>
                  <a:schemeClr val="tx1"/>
                </a:solidFill>
              </a:rPr>
              <a:t> Quel bien est « à rafraîchir » ? Quel mot l’indique ?</a:t>
            </a:r>
            <a:endParaRPr lang="en-US" sz="2600" dirty="0"/>
          </a:p>
        </p:txBody>
      </p:sp>
      <p:sp>
        <p:nvSpPr>
          <p:cNvPr id="8" name="aside"/>
          <p:cNvSpPr/>
          <p:nvPr/>
        </p:nvSpPr>
        <p:spPr>
          <a:xfrm>
            <a:off x="8074152" y="1481328"/>
            <a:ext cx="3566160" cy="4809744"/>
          </a:xfrm>
          <a:prstGeom prst="roundRect">
            <a:avLst>
              <a:gd name="adj" fmla="val 2051"/>
            </a:avLst>
          </a:prstGeom>
          <a:solidFill>
            <a:schemeClr val="accent5">
              <a:alpha val="10000"/>
            </a:schemeClr>
          </a:solidFill>
          <a:ln w="12700">
            <a:solidFill>
              <a:schemeClr val="accent5">
                <a:alpha val="60000"/>
              </a:schemeClr>
            </a:solidFill>
            <a:prstDash val="solid"/>
          </a:ln>
        </p:spPr>
      </p:sp>
      <p:pic>
        <p:nvPicPr>
          <p:cNvPr id="9" name="Image 0" descr="preencoded.png">    </p:cNvPr>
          <p:cNvPicPr>
            <a:picLocks noChangeAspect="1"/>
          </p:cNvPicPr>
          <p:nvPr/>
        </p:nvPicPr>
        <p:blipFill>
          <a:blip r:embed="rId1"/>
          <a:stretch>
            <a:fillRect/>
          </a:stretch>
        </p:blipFill>
        <p:spPr>
          <a:xfrm>
            <a:off x="8257032" y="1664208"/>
            <a:ext cx="292608" cy="292608"/>
          </a:xfrm>
          <a:prstGeom prst="rect">
            <a:avLst/>
          </a:prstGeom>
        </p:spPr>
      </p:pic>
      <p:sp>
        <p:nvSpPr>
          <p:cNvPr id="10" name="Text 6"/>
          <p:cNvSpPr txBox="1"/>
          <p:nvPr/>
        </p:nvSpPr>
        <p:spPr>
          <a:xfrm>
            <a:off x="8641080" y="1636776"/>
            <a:ext cx="2834640" cy="347472"/>
          </a:xfrm>
          <a:prstGeom prst="rect">
            <a:avLst/>
          </a:prstGeom>
          <a:noFill/>
          <a:ln/>
        </p:spPr>
        <p:txBody>
          <a:bodyPr wrap="square" lIns="0" tIns="0" rIns="0" bIns="0" rtlCol="0" anchor="ctr"/>
          <a:lstStyle/>
          <a:p>
            <a:pPr indent="0" marL="0">
              <a:buNone/>
            </a:pPr>
            <a:r>
              <a:rPr lang="en-US" sz="1400" b="1" spc="100" kern="0" dirty="0">
                <a:solidFill>
                  <a:schemeClr val="accent5"/>
                </a:solidFill>
              </a:rPr>
              <a:t>LES TROIS ANNONCES</a:t>
            </a:r>
            <a:endParaRPr lang="en-US" sz="1400" dirty="0"/>
          </a:p>
        </p:txBody>
      </p:sp>
      <p:sp>
        <p:nvSpPr>
          <p:cNvPr id="11" name="Text 7"/>
          <p:cNvSpPr txBox="1"/>
          <p:nvPr/>
        </p:nvSpPr>
        <p:spPr>
          <a:xfrm>
            <a:off x="8238744" y="2075688"/>
            <a:ext cx="3236976" cy="4078224"/>
          </a:xfrm>
          <a:prstGeom prst="rect">
            <a:avLst/>
          </a:prstGeom>
          <a:noFill/>
          <a:ln/>
        </p:spPr>
        <p:txBody>
          <a:bodyPr wrap="square" lIns="0" tIns="0" rIns="0" bIns="0" rtlCol="0" anchor="t"/>
          <a:lstStyle/>
          <a:p>
            <a:pPr marL="177800" indent="-177800">
              <a:spcAft>
                <a:spcPts val="600"/>
              </a:spcAft>
              <a:buSzPct val="100000"/>
              <a:buChar char="•"/>
            </a:pPr>
            <a:r>
              <a:rPr lang="en-US" sz="1800" b="1" dirty="0">
                <a:solidFill>
                  <a:schemeClr val="tx1"/>
                </a:solidFill>
              </a:rPr>
              <a:t>A</a:t>
            </a:r>
            <a:r>
              <a:rPr lang="en-US" sz="1800" dirty="0">
                <a:solidFill>
                  <a:schemeClr val="tx1"/>
                </a:solidFill>
              </a:rPr>
              <a:t> · à vendre · € 425.000 · 3 slpk. · Sint-Gillis</a:t>
            </a:r>
            <a:endParaRPr lang="en-US" sz="1800" dirty="0"/>
          </a:p>
          <a:p>
            <a:pPr marL="177800" indent="-177800">
              <a:spcAft>
                <a:spcPts val="600"/>
              </a:spcAft>
              <a:buSzPct val="100000"/>
              <a:buChar char="•"/>
            </a:pPr>
            <a:r>
              <a:rPr lang="en-US" sz="1800" b="1" dirty="0">
                <a:solidFill>
                  <a:schemeClr val="tx1"/>
                </a:solidFill>
              </a:rPr>
              <a:t>B</a:t>
            </a:r>
            <a:r>
              <a:rPr lang="en-US" sz="1800" dirty="0">
                <a:solidFill>
                  <a:schemeClr val="tx1"/>
                </a:solidFill>
              </a:rPr>
              <a:t> · à louer · € 1.250/maand · 2 slpk. · Elsene</a:t>
            </a:r>
            <a:endParaRPr lang="en-US" sz="1800" dirty="0"/>
          </a:p>
          <a:p>
            <a:pPr marL="177800" indent="-177800">
              <a:spcAft>
                <a:spcPts val="600"/>
              </a:spcAft>
              <a:buSzPct val="100000"/>
              <a:buChar char="•"/>
            </a:pPr>
            <a:r>
              <a:rPr lang="en-US" sz="1800" b="1" dirty="0">
                <a:solidFill>
                  <a:schemeClr val="tx1"/>
                </a:solidFill>
              </a:rPr>
              <a:t>C</a:t>
            </a:r>
            <a:r>
              <a:rPr lang="en-US" sz="1800" dirty="0">
                <a:solidFill>
                  <a:schemeClr val="tx1"/>
                </a:solidFill>
              </a:rPr>
              <a:t> · à vendre · € 189.000 · 1 slpk. · Vorst</a:t>
            </a:r>
            <a:endParaRPr lang="en-US" sz="18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200" b="1" dirty="0">
                <a:solidFill>
                  <a:schemeClr val="tx2"/>
                </a:solidFill>
              </a:rPr>
              <a:t>4 Questions 1, 3 et 4 — comprendre les annonces</a:t>
            </a:r>
            <a:endParaRPr lang="en-US" sz="3200" dirty="0"/>
          </a:p>
        </p:txBody>
      </p:sp>
      <p:sp>
        <p:nvSpPr>
          <p:cNvPr id="3" name="tag"/>
          <p:cNvSpPr/>
          <p:nvPr/>
        </p:nvSpPr>
        <p:spPr>
          <a:xfrm>
            <a:off x="548640" y="237744"/>
            <a:ext cx="1280160" cy="310896"/>
          </a:xfrm>
          <a:prstGeom prst="roundRect">
            <a:avLst>
              <a:gd name="adj" fmla="val 14706"/>
            </a:avLst>
          </a:prstGeom>
          <a:solidFill>
            <a:schemeClr val="accent3"/>
          </a:solidFill>
          <a:ln/>
        </p:spPr>
        <p:txBody>
          <a:bodyPr wrap="square" lIns="0" tIns="0" rIns="0" bIns="0" rtlCol="0" anchor="ctr"/>
          <a:lstStyle/>
          <a:p>
            <a:pPr algn="ctr" indent="0" marL="0">
              <a:buNone/>
            </a:pPr>
            <a:r>
              <a:rPr lang="en-US" sz="1200" b="1" spc="100" kern="0" dirty="0">
                <a:solidFill>
                  <a:schemeClr val="bg1"/>
                </a:solidFill>
              </a:rPr>
              <a:t>COUCHE 1</a:t>
            </a:r>
            <a:endParaRPr lang="en-US" sz="1200" dirty="0"/>
          </a:p>
        </p:txBody>
      </p:sp>
      <p:sp>
        <p:nvSpPr>
          <p:cNvPr id="4" name="tag"/>
          <p:cNvSpPr/>
          <p:nvPr/>
        </p:nvSpPr>
        <p:spPr>
          <a:xfrm>
            <a:off x="1938528" y="237744"/>
            <a:ext cx="1760220" cy="310896"/>
          </a:xfrm>
          <a:prstGeom prst="roundRect">
            <a:avLst>
              <a:gd name="adj" fmla="val 14706"/>
            </a:avLst>
          </a:prstGeom>
          <a:solidFill>
            <a:schemeClr val="accent3"/>
          </a:solidFill>
          <a:ln/>
        </p:spPr>
        <p:txBody>
          <a:bodyPr wrap="square" lIns="0" tIns="0" rIns="0" bIns="0" rtlCol="0" anchor="ctr"/>
          <a:lstStyle/>
          <a:p>
            <a:pPr algn="ctr" indent="0" marL="0">
              <a:buNone/>
            </a:pPr>
            <a:r>
              <a:rPr lang="en-US" sz="1200" b="1" spc="100" kern="0" dirty="0">
                <a:solidFill>
                  <a:schemeClr val="bg1"/>
                </a:solidFill>
              </a:rPr>
              <a:t>✓ CORRECTIE</a:t>
            </a:r>
            <a:endParaRPr lang="en-US" sz="1200" dirty="0"/>
          </a:p>
        </p:txBody>
      </p:sp>
      <p:sp>
        <p:nvSpPr>
          <p:cNvPr id="5" name="Text 3"/>
          <p:cNvSpPr txBox="1"/>
          <p:nvPr/>
        </p:nvSpPr>
        <p:spPr>
          <a:xfrm>
            <a:off x="8897112" y="219456"/>
            <a:ext cx="2743200" cy="347472"/>
          </a:xfrm>
          <a:prstGeom prst="rect">
            <a:avLst/>
          </a:prstGeom>
          <a:noFill/>
          <a:ln/>
        </p:spPr>
        <p:txBody>
          <a:bodyPr wrap="square" lIns="0" tIns="0" rIns="0" bIns="0" rtlCol="0" anchor="ctr"/>
          <a:lstStyle/>
          <a:p>
            <a:pPr algn="r" indent="0" marL="0">
              <a:buNone/>
            </a:pPr>
            <a:r>
              <a:rPr lang="en-US" sz="1200" i="1" dirty="0">
                <a:solidFill>
                  <a:schemeClr val="accent5"/>
                </a:solidFill>
              </a:rPr>
              <a:t>Livret p. 9–10</a:t>
            </a:r>
            <a:endParaRPr lang="en-US" sz="1200" dirty="0"/>
          </a:p>
        </p:txBody>
      </p:sp>
      <p:sp>
        <p:nvSpPr>
          <p:cNvPr id="7" name="Text 4"/>
          <p:cNvSpPr txBox="1"/>
          <p:nvPr/>
        </p:nvSpPr>
        <p:spPr>
          <a:xfrm>
            <a:off x="548640" y="1481328"/>
            <a:ext cx="7205472" cy="371856"/>
          </a:xfrm>
          <a:prstGeom prst="rect">
            <a:avLst/>
          </a:prstGeom>
          <a:noFill/>
          <a:ln/>
        </p:spPr>
        <p:txBody>
          <a:bodyPr wrap="square" lIns="0" tIns="0" rIns="0" bIns="0" rtlCol="0" anchor="t"/>
          <a:lstStyle/>
          <a:p>
            <a:pPr indent="0" marL="0">
              <a:buNone/>
            </a:pPr>
            <a:r>
              <a:rPr lang="en-US" sz="1600" i="1" dirty="0">
                <a:solidFill>
                  <a:schemeClr val="accent5"/>
                </a:solidFill>
              </a:rPr>
              <a:t>Par deux · 6 min. Répondez en vous appuyant sur les annonces A, B et C.</a:t>
            </a:r>
            <a:endParaRPr lang="en-US" sz="1600" dirty="0"/>
          </a:p>
        </p:txBody>
      </p:sp>
      <p:sp>
        <p:nvSpPr>
          <p:cNvPr id="8" name="exercise"/>
          <p:cNvSpPr txBox="1"/>
          <p:nvPr/>
        </p:nvSpPr>
        <p:spPr>
          <a:xfrm>
            <a:off x="548640" y="1926336"/>
            <a:ext cx="7205472" cy="4364736"/>
          </a:xfrm>
          <a:prstGeom prst="rect">
            <a:avLst/>
          </a:prstGeom>
          <a:noFill/>
          <a:ln/>
        </p:spPr>
        <p:txBody>
          <a:bodyPr wrap="square" lIns="0" tIns="0" rIns="0" bIns="0" rtlCol="0" anchor="t"/>
          <a:lstStyle/>
          <a:p>
            <a:pPr indent="0" marL="0">
              <a:spcAft>
                <a:spcPts val="400"/>
              </a:spcAft>
              <a:buNone/>
            </a:pPr>
            <a:r>
              <a:rPr lang="en-US" sz="2400" b="1" dirty="0">
                <a:solidFill>
                  <a:schemeClr val="tx1"/>
                </a:solidFill>
              </a:rPr>
              <a:t>1.</a:t>
            </a:r>
            <a:r>
              <a:rPr lang="en-US" sz="2400" dirty="0">
                <a:solidFill>
                  <a:schemeClr val="tx1"/>
                </a:solidFill>
              </a:rPr>
              <a:t> Welk zoekertje past bij mevrouw Claes ? Waarom ?</a:t>
            </a:r>
            <a:endParaRPr lang="en-US" sz="2400" dirty="0"/>
          </a:p>
          <a:p>
            <a:pPr indent="0" marL="0">
              <a:spcAft>
                <a:spcPts val="800"/>
              </a:spcAft>
              <a:buNone/>
            </a:pPr>
            <a:r>
              <a:rPr lang="en-US" sz="2400" b="1" dirty="0">
                <a:solidFill>
                  <a:schemeClr val="accent3"/>
                </a:solidFill>
              </a:rPr>
              <a:t>→ </a:t>
            </a:r>
            <a:r>
              <a:rPr lang="en-US" sz="2400" dirty="0">
                <a:solidFill>
                  <a:schemeClr val="accent3"/>
                </a:solidFill>
              </a:rPr>
              <a:t>Comparez avec sa </a:t>
            </a:r>
            <a:r>
              <a:rPr lang="en-US" sz="2400" b="1" dirty="0">
                <a:solidFill>
                  <a:schemeClr val="accent3"/>
                </a:solidFill>
              </a:rPr>
              <a:t>fiche d’appel</a:t>
            </a:r>
            <a:r>
              <a:rPr lang="en-US" sz="2400" dirty="0">
                <a:solidFill>
                  <a:schemeClr val="accent3"/>
                </a:solidFill>
              </a:rPr>
              <a:t> (séance 1, ex. 3) : huren ou kopen ? budget ? nombre de slpk. ?</a:t>
            </a:r>
            <a:endParaRPr lang="en-US" sz="2400" dirty="0"/>
          </a:p>
          <a:p>
            <a:pPr indent="0" marL="0">
              <a:spcAft>
                <a:spcPts val="400"/>
              </a:spcAft>
              <a:buNone/>
            </a:pPr>
            <a:r>
              <a:rPr lang="en-US" sz="2400" b="1" dirty="0">
                <a:solidFill>
                  <a:schemeClr val="tx1"/>
                </a:solidFill>
              </a:rPr>
              <a:t>3.</a:t>
            </a:r>
            <a:r>
              <a:rPr lang="en-US" sz="2400" dirty="0">
                <a:solidFill>
                  <a:schemeClr val="tx1"/>
                </a:solidFill>
              </a:rPr>
              <a:t> Décodez : </a:t>
            </a:r>
            <a:r>
              <a:rPr lang="en-US" sz="2400" b="1" dirty="0">
                <a:solidFill>
                  <a:schemeClr val="tx1"/>
                </a:solidFill>
              </a:rPr>
              <a:t>slpk.</a:t>
            </a:r>
            <a:r>
              <a:rPr lang="en-US" sz="2400" dirty="0">
                <a:solidFill>
                  <a:schemeClr val="tx1"/>
                </a:solidFill>
              </a:rPr>
              <a:t> · </a:t>
            </a:r>
            <a:r>
              <a:rPr lang="en-US" sz="2400" b="1" dirty="0">
                <a:solidFill>
                  <a:schemeClr val="tx1"/>
                </a:solidFill>
              </a:rPr>
              <a:t>EPC</a:t>
            </a:r>
            <a:r>
              <a:rPr lang="en-US" sz="2400" dirty="0">
                <a:solidFill>
                  <a:schemeClr val="tx1"/>
                </a:solidFill>
              </a:rPr>
              <a:t> · </a:t>
            </a:r>
            <a:r>
              <a:rPr lang="en-US" sz="2400" b="1" dirty="0">
                <a:solidFill>
                  <a:schemeClr val="tx1"/>
                </a:solidFill>
              </a:rPr>
              <a:t>instapklaar</a:t>
            </a:r>
            <a:endParaRPr lang="en-US" sz="2400" dirty="0"/>
          </a:p>
          <a:p>
            <a:pPr indent="0" marL="0">
              <a:spcAft>
                <a:spcPts val="800"/>
              </a:spcAft>
              <a:buNone/>
            </a:pPr>
            <a:r>
              <a:rPr lang="en-US" sz="2400" b="1" dirty="0">
                <a:solidFill>
                  <a:schemeClr val="accent3"/>
                </a:solidFill>
              </a:rPr>
              <a:t>→ </a:t>
            </a:r>
            <a:r>
              <a:rPr lang="en-US" sz="2400" b="1" dirty="0">
                <a:solidFill>
                  <a:schemeClr val="accent3"/>
                </a:solidFill>
              </a:rPr>
              <a:t>slaapkamers</a:t>
            </a:r>
            <a:r>
              <a:rPr lang="en-US" sz="2400" dirty="0">
                <a:solidFill>
                  <a:schemeClr val="accent3"/>
                </a:solidFill>
              </a:rPr>
              <a:t> (chambres) · </a:t>
            </a:r>
            <a:r>
              <a:rPr lang="en-US" sz="2400" b="1" dirty="0">
                <a:solidFill>
                  <a:schemeClr val="accent3"/>
                </a:solidFill>
              </a:rPr>
              <a:t>energieprestatiecertificaat</a:t>
            </a:r>
            <a:r>
              <a:rPr lang="en-US" sz="2400" dirty="0">
                <a:solidFill>
                  <a:schemeClr val="accent3"/>
                </a:solidFill>
              </a:rPr>
              <a:t> (certificat PEB) · </a:t>
            </a:r>
            <a:r>
              <a:rPr lang="en-US" sz="2400" b="1" dirty="0">
                <a:solidFill>
                  <a:schemeClr val="accent3"/>
                </a:solidFill>
              </a:rPr>
              <a:t>prêt à emménager</a:t>
            </a:r>
            <a:endParaRPr lang="en-US" sz="2400" dirty="0"/>
          </a:p>
          <a:p>
            <a:pPr indent="0" marL="0">
              <a:spcAft>
                <a:spcPts val="400"/>
              </a:spcAft>
              <a:buNone/>
            </a:pPr>
            <a:r>
              <a:rPr lang="en-US" sz="2400" b="1" dirty="0">
                <a:solidFill>
                  <a:schemeClr val="tx1"/>
                </a:solidFill>
              </a:rPr>
              <a:t>4.</a:t>
            </a:r>
            <a:r>
              <a:rPr lang="en-US" sz="2400" dirty="0">
                <a:solidFill>
                  <a:schemeClr val="tx1"/>
                </a:solidFill>
              </a:rPr>
              <a:t> Quel bien est « à rafraîchir » ? Quel mot l’indique ?</a:t>
            </a:r>
            <a:endParaRPr lang="en-US" sz="2400" dirty="0"/>
          </a:p>
          <a:p>
            <a:pPr indent="0" marL="0">
              <a:spcAft>
                <a:spcPts val="800"/>
              </a:spcAft>
              <a:buNone/>
            </a:pPr>
            <a:r>
              <a:rPr lang="en-US" sz="2400" b="1" dirty="0">
                <a:solidFill>
                  <a:schemeClr val="accent3"/>
                </a:solidFill>
              </a:rPr>
              <a:t>→ </a:t>
            </a:r>
            <a:r>
              <a:rPr lang="en-US" sz="2400" dirty="0">
                <a:solidFill>
                  <a:schemeClr val="accent3"/>
                </a:solidFill>
              </a:rPr>
              <a:t>Zoekertje </a:t>
            </a:r>
            <a:r>
              <a:rPr lang="en-US" sz="2400" b="1" dirty="0">
                <a:solidFill>
                  <a:schemeClr val="accent3"/>
                </a:solidFill>
              </a:rPr>
              <a:t>C</a:t>
            </a:r>
            <a:r>
              <a:rPr lang="en-US" sz="2400" dirty="0">
                <a:solidFill>
                  <a:schemeClr val="accent3"/>
                </a:solidFill>
              </a:rPr>
              <a:t> : </a:t>
            </a:r>
            <a:r>
              <a:rPr lang="en-US" sz="2400" b="1" dirty="0">
                <a:solidFill>
                  <a:schemeClr val="accent3"/>
                </a:solidFill>
              </a:rPr>
              <a:t>op te frissen</a:t>
            </a:r>
            <a:r>
              <a:rPr lang="en-US" sz="2400" dirty="0">
                <a:solidFill>
                  <a:schemeClr val="accent3"/>
                </a:solidFill>
              </a:rPr>
              <a:t>.</a:t>
            </a:r>
            <a:endParaRPr lang="en-US" sz="2400" dirty="0"/>
          </a:p>
        </p:txBody>
      </p:sp>
      <p:sp>
        <p:nvSpPr>
          <p:cNvPr id="9" name="aside"/>
          <p:cNvSpPr/>
          <p:nvPr/>
        </p:nvSpPr>
        <p:spPr>
          <a:xfrm>
            <a:off x="8074152" y="1481328"/>
            <a:ext cx="3566160" cy="4809744"/>
          </a:xfrm>
          <a:prstGeom prst="roundRect">
            <a:avLst>
              <a:gd name="adj" fmla="val 2051"/>
            </a:avLst>
          </a:prstGeom>
          <a:solidFill>
            <a:schemeClr val="accent5">
              <a:alpha val="10000"/>
            </a:schemeClr>
          </a:solidFill>
          <a:ln w="12700">
            <a:solidFill>
              <a:schemeClr val="accent5">
                <a:alpha val="60000"/>
              </a:schemeClr>
            </a:solidFill>
            <a:prstDash val="solid"/>
          </a:ln>
        </p:spPr>
      </p:sp>
      <p:pic>
        <p:nvPicPr>
          <p:cNvPr id="10" name="Image 0" descr="preencoded.png">    </p:cNvPr>
          <p:cNvPicPr>
            <a:picLocks noChangeAspect="1"/>
          </p:cNvPicPr>
          <p:nvPr/>
        </p:nvPicPr>
        <p:blipFill>
          <a:blip r:embed="rId1"/>
          <a:stretch>
            <a:fillRect/>
          </a:stretch>
        </p:blipFill>
        <p:spPr>
          <a:xfrm>
            <a:off x="8257032" y="1664208"/>
            <a:ext cx="292608" cy="292608"/>
          </a:xfrm>
          <a:prstGeom prst="rect">
            <a:avLst/>
          </a:prstGeom>
        </p:spPr>
      </p:pic>
      <p:sp>
        <p:nvSpPr>
          <p:cNvPr id="11" name="Text 7"/>
          <p:cNvSpPr txBox="1"/>
          <p:nvPr/>
        </p:nvSpPr>
        <p:spPr>
          <a:xfrm>
            <a:off x="8641080" y="1636776"/>
            <a:ext cx="2834640" cy="347472"/>
          </a:xfrm>
          <a:prstGeom prst="rect">
            <a:avLst/>
          </a:prstGeom>
          <a:noFill/>
          <a:ln/>
        </p:spPr>
        <p:txBody>
          <a:bodyPr wrap="square" lIns="0" tIns="0" rIns="0" bIns="0" rtlCol="0" anchor="ctr"/>
          <a:lstStyle/>
          <a:p>
            <a:pPr indent="0" marL="0">
              <a:buNone/>
            </a:pPr>
            <a:r>
              <a:rPr lang="en-US" sz="1400" b="1" spc="100" kern="0" dirty="0">
                <a:solidFill>
                  <a:schemeClr val="accent5"/>
                </a:solidFill>
              </a:rPr>
              <a:t>LES TROIS ANNONCES</a:t>
            </a:r>
            <a:endParaRPr lang="en-US" sz="1400" dirty="0"/>
          </a:p>
        </p:txBody>
      </p:sp>
      <p:sp>
        <p:nvSpPr>
          <p:cNvPr id="12" name="Text 8"/>
          <p:cNvSpPr txBox="1"/>
          <p:nvPr/>
        </p:nvSpPr>
        <p:spPr>
          <a:xfrm>
            <a:off x="8238744" y="2075688"/>
            <a:ext cx="3236976" cy="4078224"/>
          </a:xfrm>
          <a:prstGeom prst="rect">
            <a:avLst/>
          </a:prstGeom>
          <a:noFill/>
          <a:ln/>
        </p:spPr>
        <p:txBody>
          <a:bodyPr wrap="square" lIns="0" tIns="0" rIns="0" bIns="0" rtlCol="0" anchor="t"/>
          <a:lstStyle/>
          <a:p>
            <a:pPr marL="177800" indent="-177800">
              <a:spcAft>
                <a:spcPts val="600"/>
              </a:spcAft>
              <a:buSzPct val="100000"/>
              <a:buChar char="•"/>
            </a:pPr>
            <a:r>
              <a:rPr lang="en-US" sz="1800" b="1" dirty="0">
                <a:solidFill>
                  <a:schemeClr val="tx1"/>
                </a:solidFill>
              </a:rPr>
              <a:t>A</a:t>
            </a:r>
            <a:r>
              <a:rPr lang="en-US" sz="1800" dirty="0">
                <a:solidFill>
                  <a:schemeClr val="tx1"/>
                </a:solidFill>
              </a:rPr>
              <a:t> · à vendre · € 425.000 · 3 slpk. · Sint-Gillis</a:t>
            </a:r>
            <a:endParaRPr lang="en-US" sz="1800" dirty="0"/>
          </a:p>
          <a:p>
            <a:pPr marL="177800" indent="-177800">
              <a:spcAft>
                <a:spcPts val="600"/>
              </a:spcAft>
              <a:buSzPct val="100000"/>
              <a:buChar char="•"/>
            </a:pPr>
            <a:r>
              <a:rPr lang="en-US" sz="1800" b="1" dirty="0">
                <a:solidFill>
                  <a:schemeClr val="tx1"/>
                </a:solidFill>
              </a:rPr>
              <a:t>B</a:t>
            </a:r>
            <a:r>
              <a:rPr lang="en-US" sz="1800" dirty="0">
                <a:solidFill>
                  <a:schemeClr val="tx1"/>
                </a:solidFill>
              </a:rPr>
              <a:t> · à louer · € 1.250/maand · 2 slpk. · Elsene</a:t>
            </a:r>
            <a:endParaRPr lang="en-US" sz="1800" dirty="0"/>
          </a:p>
          <a:p>
            <a:pPr marL="177800" indent="-177800">
              <a:spcAft>
                <a:spcPts val="600"/>
              </a:spcAft>
              <a:buSzPct val="100000"/>
              <a:buChar char="•"/>
            </a:pPr>
            <a:r>
              <a:rPr lang="en-US" sz="1800" b="1" dirty="0">
                <a:solidFill>
                  <a:schemeClr val="tx1"/>
                </a:solidFill>
              </a:rPr>
              <a:t>C</a:t>
            </a:r>
            <a:r>
              <a:rPr lang="en-US" sz="1800" dirty="0">
                <a:solidFill>
                  <a:schemeClr val="tx1"/>
                </a:solidFill>
              </a:rPr>
              <a:t> · à vendre · € 189.000 · 1 slpk. · Vorst</a:t>
            </a:r>
            <a:endParaRPr lang="en-US" sz="18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200" b="1" dirty="0">
                <a:solidFill>
                  <a:schemeClr val="tx2"/>
                </a:solidFill>
              </a:rPr>
              <a:t>4 Question 2 — Les cinq relatives des annonces</a:t>
            </a:r>
            <a:endParaRPr lang="en-US" sz="3200" dirty="0"/>
          </a:p>
        </p:txBody>
      </p:sp>
      <p:sp>
        <p:nvSpPr>
          <p:cNvPr id="3" name="tag"/>
          <p:cNvSpPr/>
          <p:nvPr/>
        </p:nvSpPr>
        <p:spPr>
          <a:xfrm>
            <a:off x="548640" y="237744"/>
            <a:ext cx="1280160" cy="310896"/>
          </a:xfrm>
          <a:prstGeom prst="roundRect">
            <a:avLst>
              <a:gd name="adj" fmla="val 14706"/>
            </a:avLst>
          </a:prstGeom>
          <a:solidFill>
            <a:schemeClr val="accent2"/>
          </a:solidFill>
          <a:ln/>
        </p:spPr>
        <p:txBody>
          <a:bodyPr wrap="square" lIns="0" tIns="0" rIns="0" bIns="0" rtlCol="0" anchor="ctr"/>
          <a:lstStyle/>
          <a:p>
            <a:pPr algn="ctr" indent="0" marL="0">
              <a:buNone/>
            </a:pPr>
            <a:r>
              <a:rPr lang="en-US" sz="1200" b="1" spc="100" kern="0" dirty="0">
                <a:solidFill>
                  <a:schemeClr val="bg1"/>
                </a:solidFill>
              </a:rPr>
              <a:t>COUCHE 2</a:t>
            </a:r>
            <a:endParaRPr lang="en-US" sz="1200" dirty="0"/>
          </a:p>
        </p:txBody>
      </p:sp>
      <p:sp>
        <p:nvSpPr>
          <p:cNvPr id="4" name="Text 2"/>
          <p:cNvSpPr txBox="1"/>
          <p:nvPr/>
        </p:nvSpPr>
        <p:spPr>
          <a:xfrm>
            <a:off x="8897112" y="219456"/>
            <a:ext cx="2743200" cy="347472"/>
          </a:xfrm>
          <a:prstGeom prst="rect">
            <a:avLst/>
          </a:prstGeom>
          <a:noFill/>
          <a:ln/>
        </p:spPr>
        <p:txBody>
          <a:bodyPr wrap="square" lIns="0" tIns="0" rIns="0" bIns="0" rtlCol="0" anchor="ctr"/>
          <a:lstStyle/>
          <a:p>
            <a:pPr algn="r" indent="0" marL="0">
              <a:buNone/>
            </a:pPr>
            <a:r>
              <a:rPr lang="en-US" sz="1200" i="1" dirty="0">
                <a:solidFill>
                  <a:schemeClr val="accent5"/>
                </a:solidFill>
              </a:rPr>
              <a:t>Livret p. 9</a:t>
            </a:r>
            <a:endParaRPr lang="en-US" sz="1200" dirty="0"/>
          </a:p>
        </p:txBody>
      </p:sp>
      <p:sp>
        <p:nvSpPr>
          <p:cNvPr id="6" name="Text 3"/>
          <p:cNvSpPr txBox="1"/>
          <p:nvPr/>
        </p:nvSpPr>
        <p:spPr>
          <a:xfrm>
            <a:off x="548640" y="1481328"/>
            <a:ext cx="11091672" cy="344424"/>
          </a:xfrm>
          <a:prstGeom prst="rect">
            <a:avLst/>
          </a:prstGeom>
          <a:noFill/>
          <a:ln/>
        </p:spPr>
        <p:txBody>
          <a:bodyPr wrap="square" lIns="0" tIns="0" rIns="0" bIns="0" rtlCol="0" anchor="t"/>
          <a:lstStyle/>
          <a:p>
            <a:pPr indent="0" marL="0">
              <a:buNone/>
            </a:pPr>
            <a:r>
              <a:rPr lang="en-US" sz="1600" i="1" dirty="0">
                <a:solidFill>
                  <a:schemeClr val="accent5"/>
                </a:solidFill>
              </a:rPr>
              <a:t>Par deux · 5 min. Retrouvez les </a:t>
            </a:r>
            <a:r>
              <a:rPr lang="en-US" sz="1600" b="1" i="1" dirty="0">
                <a:solidFill>
                  <a:schemeClr val="accent5"/>
                </a:solidFill>
              </a:rPr>
              <a:t>cinq relatives</a:t>
            </a:r>
            <a:r>
              <a:rPr lang="en-US" sz="1600" i="1" dirty="0">
                <a:solidFill>
                  <a:schemeClr val="accent5"/>
                </a:solidFill>
              </a:rPr>
              <a:t> : </a:t>
            </a:r>
            <a:r>
              <a:rPr lang="en-US" sz="1600" b="1" i="1" dirty="0">
                <a:solidFill>
                  <a:schemeClr val="accent5"/>
                </a:solidFill>
              </a:rPr>
              <a:t>die</a:t>
            </a:r>
            <a:r>
              <a:rPr lang="en-US" sz="1600" i="1" dirty="0">
                <a:solidFill>
                  <a:schemeClr val="accent5"/>
                </a:solidFill>
              </a:rPr>
              <a:t> ou </a:t>
            </a:r>
            <a:r>
              <a:rPr lang="en-US" sz="1600" b="1" i="1" dirty="0">
                <a:solidFill>
                  <a:schemeClr val="accent5"/>
                </a:solidFill>
              </a:rPr>
              <a:t>dat</a:t>
            </a:r>
            <a:r>
              <a:rPr lang="en-US" sz="1600" i="1" dirty="0">
                <a:solidFill>
                  <a:schemeClr val="accent5"/>
                </a:solidFill>
              </a:rPr>
              <a:t> — et </a:t>
            </a:r>
            <a:r>
              <a:rPr lang="en-US" sz="1600" b="1" i="1" dirty="0">
                <a:solidFill>
                  <a:schemeClr val="accent5"/>
                </a:solidFill>
              </a:rPr>
              <a:t>pourquoi</a:t>
            </a:r>
            <a:r>
              <a:rPr lang="en-US" sz="1600" i="1" dirty="0">
                <a:solidFill>
                  <a:schemeClr val="accent5"/>
                </a:solidFill>
              </a:rPr>
              <a:t> ?</a:t>
            </a:r>
            <a:endParaRPr lang="en-US" sz="16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548640" y="1917192"/>
          <a:ext cx="11091672" cy="914400"/>
        </p:xfrm>
        <a:graphic>
          <a:graphicData uri="http://schemas.openxmlformats.org/drawingml/2006/table">
            <a:tbl>
              <a:tblPr/>
              <a:tblGrid>
                <a:gridCol w="640080"/>
                <a:gridCol w="5852160"/>
                <a:gridCol w="4599432"/>
              </a:tblGrid>
              <a:tr h="619963">
                <a:tc>
                  <a:txBody>
                    <a:bodyPr/>
                    <a:lstStyle/>
                    <a:p>
                      <a:pPr algn="l" indent="0" marL="0">
                        <a:buNone/>
                      </a:pPr>
                      <a:endParaRPr lang="en-US" sz="18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tx2"/>
                    </a:solidFill>
                  </a:tcPr>
                </a:tc>
                <a:tc>
                  <a:txBody>
                    <a:bodyPr/>
                    <a:lstStyle/>
                    <a:p>
                      <a:pPr algn="l" indent="0" marL="0">
                        <a:buNone/>
                      </a:pPr>
                      <a:r>
                        <a:rPr lang="en-US" sz="1800" b="1" dirty="0">
                          <a:solidFill>
                            <a:schemeClr val="bg1"/>
                          </a:solidFill>
                        </a:rPr>
                        <a:t>EXTRAIT DE L’ANNONCE</a:t>
                      </a:r>
                      <a:endParaRPr lang="en-US" sz="18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tx2"/>
                    </a:solidFill>
                  </a:tcPr>
                </a:tc>
                <a:tc>
                  <a:txBody>
                    <a:bodyPr/>
                    <a:lstStyle/>
                    <a:p>
                      <a:pPr algn="l" indent="0" marL="0">
                        <a:buNone/>
                      </a:pPr>
                      <a:r>
                        <a:rPr lang="en-US" sz="1800" b="1" dirty="0">
                          <a:solidFill>
                            <a:schemeClr val="bg1"/>
                          </a:solidFill>
                        </a:rPr>
                        <a:t>POURQUOI ?</a:t>
                      </a:r>
                      <a:endParaRPr lang="en-US" sz="18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tx2"/>
                    </a:solidFill>
                  </a:tcPr>
                </a:tc>
              </a:tr>
              <a:tr h="521208">
                <a:tc>
                  <a:txBody>
                    <a:bodyPr/>
                    <a:lstStyle/>
                    <a:p>
                      <a:pPr algn="ctr" indent="0" marL="0">
                        <a:buNone/>
                      </a:pPr>
                      <a:r>
                        <a:rPr lang="en-US" sz="2000" b="1" dirty="0">
                          <a:solidFill>
                            <a:schemeClr val="tx1"/>
                          </a:solidFill>
                        </a:rPr>
                        <a:t>A</a:t>
                      </a:r>
                      <a:endParaRPr lang="en-US" sz="20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1"/>
                    </a:solidFill>
                  </a:tcPr>
                </a:tc>
                <a:tc>
                  <a:txBody>
                    <a:bodyPr/>
                    <a:lstStyle/>
                    <a:p>
                      <a:pPr algn="l" indent="0" marL="0">
                        <a:buNone/>
                      </a:pPr>
                      <a:r>
                        <a:rPr lang="en-US" sz="2000" dirty="0">
                          <a:solidFill>
                            <a:schemeClr val="tx1"/>
                          </a:solidFill>
                        </a:rPr>
                        <a:t>Rijhuis (150 m²) </a:t>
                      </a:r>
                      <a:r>
                        <a:rPr lang="en-US" sz="2000" dirty="0">
                          <a:solidFill>
                            <a:schemeClr val="accent5"/>
                          </a:solidFill>
                        </a:rPr>
                        <a:t>……………</a:t>
                      </a:r>
                      <a:r>
                        <a:rPr lang="en-US" sz="2000" dirty="0">
                          <a:solidFill>
                            <a:schemeClr val="tx1"/>
                          </a:solidFill>
                        </a:rPr>
                        <a:t> volledig gerenoveerd is.</a:t>
                      </a:r>
                      <a:endParaRPr lang="en-US" sz="20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1"/>
                    </a:solidFill>
                  </a:tcPr>
                </a:tc>
                <a:tc>
                  <a:txBody>
                    <a:bodyPr/>
                    <a:lstStyle/>
                    <a:p>
                      <a:pPr algn="l" indent="0" marL="0">
                        <a:buNone/>
                      </a:pPr>
                      <a:r>
                        <a:rPr lang="en-US" sz="2000" dirty="0">
                          <a:solidFill>
                            <a:schemeClr val="accent5"/>
                          </a:solidFill>
                        </a:rPr>
                        <a:t>……………………………………</a:t>
                      </a:r>
                      <a:endParaRPr lang="en-US" sz="20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1"/>
                    </a:solidFill>
                  </a:tcPr>
                </a:tc>
              </a:tr>
              <a:tr h="521208">
                <a:tc>
                  <a:txBody>
                    <a:bodyPr/>
                    <a:lstStyle/>
                    <a:p>
                      <a:pPr algn="ctr" indent="0" marL="0">
                        <a:buNone/>
                      </a:pPr>
                      <a:r>
                        <a:rPr lang="en-US" sz="2000" b="1" dirty="0">
                          <a:solidFill>
                            <a:schemeClr val="tx1"/>
                          </a:solidFill>
                        </a:rPr>
                        <a:t>A</a:t>
                      </a:r>
                      <a:endParaRPr lang="en-US" sz="20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2"/>
                    </a:solidFill>
                  </a:tcPr>
                </a:tc>
                <a:tc>
                  <a:txBody>
                    <a:bodyPr/>
                    <a:lstStyle/>
                    <a:p>
                      <a:pPr algn="l" indent="0" marL="0">
                        <a:buNone/>
                      </a:pPr>
                      <a:r>
                        <a:rPr lang="en-US" sz="2000" dirty="0">
                          <a:solidFill>
                            <a:schemeClr val="tx1"/>
                          </a:solidFill>
                        </a:rPr>
                        <a:t>Stadstuin </a:t>
                      </a:r>
                      <a:r>
                        <a:rPr lang="en-US" sz="2000" dirty="0">
                          <a:solidFill>
                            <a:schemeClr val="accent5"/>
                          </a:solidFill>
                        </a:rPr>
                        <a:t>……………</a:t>
                      </a:r>
                      <a:r>
                        <a:rPr lang="en-US" sz="2000" dirty="0">
                          <a:solidFill>
                            <a:schemeClr val="tx1"/>
                          </a:solidFill>
                        </a:rPr>
                        <a:t> op het zuiden ligt.</a:t>
                      </a:r>
                      <a:endParaRPr lang="en-US" sz="20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2"/>
                    </a:solidFill>
                  </a:tcPr>
                </a:tc>
                <a:tc>
                  <a:txBody>
                    <a:bodyPr/>
                    <a:lstStyle/>
                    <a:p>
                      <a:pPr algn="l" indent="0" marL="0">
                        <a:buNone/>
                      </a:pPr>
                      <a:r>
                        <a:rPr lang="en-US" sz="2000" dirty="0">
                          <a:solidFill>
                            <a:schemeClr val="accent5"/>
                          </a:solidFill>
                        </a:rPr>
                        <a:t>………………………</a:t>
                      </a:r>
                      <a:endParaRPr lang="en-US" sz="20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2"/>
                    </a:solidFill>
                  </a:tcPr>
                </a:tc>
              </a:tr>
              <a:tr h="521208">
                <a:tc>
                  <a:txBody>
                    <a:bodyPr/>
                    <a:lstStyle/>
                    <a:p>
                      <a:pPr algn="ctr" indent="0" marL="0">
                        <a:buNone/>
                      </a:pPr>
                      <a:r>
                        <a:rPr lang="en-US" sz="2000" b="1" dirty="0">
                          <a:solidFill>
                            <a:schemeClr val="tx1"/>
                          </a:solidFill>
                        </a:rPr>
                        <a:t>B</a:t>
                      </a:r>
                      <a:endParaRPr lang="en-US" sz="20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1"/>
                    </a:solidFill>
                  </a:tcPr>
                </a:tc>
                <a:tc>
                  <a:txBody>
                    <a:bodyPr/>
                    <a:lstStyle/>
                    <a:p>
                      <a:pPr algn="l" indent="0" marL="0">
                        <a:buNone/>
                      </a:pPr>
                      <a:r>
                        <a:rPr lang="en-US" sz="2000" dirty="0">
                          <a:solidFill>
                            <a:schemeClr val="tx1"/>
                          </a:solidFill>
                        </a:rPr>
                        <a:t>Badkamer </a:t>
                      </a:r>
                      <a:r>
                        <a:rPr lang="en-US" sz="2000" dirty="0">
                          <a:solidFill>
                            <a:schemeClr val="accent5"/>
                          </a:solidFill>
                        </a:rPr>
                        <a:t>……………</a:t>
                      </a:r>
                      <a:r>
                        <a:rPr lang="en-US" sz="2000" dirty="0">
                          <a:solidFill>
                            <a:schemeClr val="tx1"/>
                          </a:solidFill>
                        </a:rPr>
                        <a:t> vernieuwd werd in 2024.</a:t>
                      </a:r>
                      <a:endParaRPr lang="en-US" sz="20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1"/>
                    </a:solidFill>
                  </a:tcPr>
                </a:tc>
                <a:tc>
                  <a:txBody>
                    <a:bodyPr/>
                    <a:lstStyle/>
                    <a:p>
                      <a:pPr algn="l" indent="0" marL="0">
                        <a:buNone/>
                      </a:pPr>
                      <a:r>
                        <a:rPr lang="en-US" sz="2000" dirty="0">
                          <a:solidFill>
                            <a:schemeClr val="accent5"/>
                          </a:solidFill>
                        </a:rPr>
                        <a:t>………………………</a:t>
                      </a:r>
                      <a:endParaRPr lang="en-US" sz="20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1"/>
                    </a:solidFill>
                  </a:tcPr>
                </a:tc>
              </a:tr>
              <a:tr h="830275">
                <a:tc>
                  <a:txBody>
                    <a:bodyPr/>
                    <a:lstStyle/>
                    <a:p>
                      <a:pPr algn="ctr" indent="0" marL="0">
                        <a:buNone/>
                      </a:pPr>
                      <a:r>
                        <a:rPr lang="en-US" sz="2000" b="1" dirty="0">
                          <a:solidFill>
                            <a:schemeClr val="tx1"/>
                          </a:solidFill>
                        </a:rPr>
                        <a:t>C</a:t>
                      </a:r>
                      <a:endParaRPr lang="en-US" sz="20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2"/>
                    </a:solidFill>
                  </a:tcPr>
                </a:tc>
                <a:tc>
                  <a:txBody>
                    <a:bodyPr/>
                    <a:lstStyle/>
                    <a:p>
                      <a:pPr algn="l" indent="0" marL="0">
                        <a:buNone/>
                      </a:pPr>
                      <a:r>
                        <a:rPr lang="en-US" sz="2000" dirty="0">
                          <a:solidFill>
                            <a:schemeClr val="tx1"/>
                          </a:solidFill>
                        </a:rPr>
                        <a:t>Op te frissen appartement </a:t>
                      </a:r>
                      <a:r>
                        <a:rPr lang="en-US" sz="2000" dirty="0">
                          <a:solidFill>
                            <a:schemeClr val="accent5"/>
                          </a:solidFill>
                        </a:rPr>
                        <a:t>……………</a:t>
                      </a:r>
                      <a:r>
                        <a:rPr lang="en-US" sz="2000" dirty="0">
                          <a:solidFill>
                            <a:schemeClr val="tx1"/>
                          </a:solidFill>
                        </a:rPr>
                        <a:t> veel potentieel heeft.</a:t>
                      </a:r>
                      <a:endParaRPr lang="en-US" sz="20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2"/>
                    </a:solidFill>
                  </a:tcPr>
                </a:tc>
                <a:tc>
                  <a:txBody>
                    <a:bodyPr/>
                    <a:lstStyle/>
                    <a:p>
                      <a:pPr algn="l" indent="0" marL="0">
                        <a:buNone/>
                      </a:pPr>
                      <a:r>
                        <a:rPr lang="en-US" sz="2000" dirty="0">
                          <a:solidFill>
                            <a:schemeClr val="accent5"/>
                          </a:solidFill>
                        </a:rPr>
                        <a:t>……………………………………</a:t>
                      </a:r>
                      <a:endParaRPr lang="en-US" sz="20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2"/>
                    </a:solidFill>
                  </a:tcPr>
                </a:tc>
              </a:tr>
              <a:tr h="830275">
                <a:tc>
                  <a:txBody>
                    <a:bodyPr/>
                    <a:lstStyle/>
                    <a:p>
                      <a:pPr algn="ctr" indent="0" marL="0">
                        <a:buNone/>
                      </a:pPr>
                      <a:r>
                        <a:rPr lang="en-US" sz="2000" b="1" dirty="0">
                          <a:solidFill>
                            <a:schemeClr val="tx1"/>
                          </a:solidFill>
                        </a:rPr>
                        <a:t>C</a:t>
                      </a:r>
                      <a:endParaRPr lang="en-US" sz="20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1"/>
                    </a:solidFill>
                  </a:tcPr>
                </a:tc>
                <a:tc>
                  <a:txBody>
                    <a:bodyPr/>
                    <a:lstStyle/>
                    <a:p>
                      <a:pPr algn="l" indent="0" marL="0">
                        <a:buNone/>
                      </a:pPr>
                      <a:r>
                        <a:rPr lang="en-US" sz="2000" dirty="0">
                          <a:solidFill>
                            <a:schemeClr val="tx1"/>
                          </a:solidFill>
                        </a:rPr>
                        <a:t>Ideaal voor een investeerder </a:t>
                      </a:r>
                      <a:r>
                        <a:rPr lang="en-US" sz="2000" dirty="0">
                          <a:solidFill>
                            <a:schemeClr val="accent5"/>
                          </a:solidFill>
                        </a:rPr>
                        <a:t>……………</a:t>
                      </a:r>
                      <a:r>
                        <a:rPr lang="en-US" sz="2000" dirty="0">
                          <a:solidFill>
                            <a:schemeClr val="tx1"/>
                          </a:solidFill>
                        </a:rPr>
                        <a:t> aan verhuren denkt.</a:t>
                      </a:r>
                      <a:endParaRPr lang="en-US" sz="20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1"/>
                    </a:solidFill>
                  </a:tcPr>
                </a:tc>
                <a:tc>
                  <a:txBody>
                    <a:bodyPr/>
                    <a:lstStyle/>
                    <a:p>
                      <a:pPr algn="l" indent="0" marL="0">
                        <a:buNone/>
                      </a:pPr>
                      <a:r>
                        <a:rPr lang="en-US" sz="2000" dirty="0">
                          <a:solidFill>
                            <a:schemeClr val="accent5"/>
                          </a:solidFill>
                        </a:rPr>
                        <a:t>……………………………</a:t>
                      </a:r>
                      <a:endParaRPr lang="en-US" sz="20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1"/>
                    </a:solidFill>
                  </a:tcPr>
                </a:tc>
              </a:tr>
            </a:tbl>
          </a:graphicData>
        </a:graphic>
      </p:graphicFrame>
      <p:sp>
        <p:nvSpPr>
          <p:cNvPr id="8" name="Text 4"/>
          <p:cNvSpPr txBox="1"/>
          <p:nvPr/>
        </p:nvSpPr>
        <p:spPr>
          <a:xfrm>
            <a:off x="548640" y="5897880"/>
            <a:ext cx="11091672" cy="393192"/>
          </a:xfrm>
          <a:prstGeom prst="rect">
            <a:avLst/>
          </a:prstGeom>
          <a:noFill/>
          <a:ln/>
        </p:spPr>
        <p:txBody>
          <a:bodyPr wrap="square" lIns="0" tIns="0" rIns="0" bIns="0" rtlCol="0" anchor="b"/>
          <a:lstStyle/>
          <a:p>
            <a:pPr indent="0" marL="0">
              <a:buNone/>
            </a:pPr>
            <a:r>
              <a:rPr lang="en-US" sz="1500" i="1" dirty="0">
                <a:solidFill>
                  <a:schemeClr val="accent5"/>
                </a:solidFill>
              </a:rPr>
              <a:t>Dans chaque relative, entourez le </a:t>
            </a:r>
            <a:r>
              <a:rPr lang="en-US" sz="1500" b="1" i="1" dirty="0">
                <a:solidFill>
                  <a:schemeClr val="accent5"/>
                </a:solidFill>
              </a:rPr>
              <a:t>verbe</a:t>
            </a:r>
            <a:r>
              <a:rPr lang="en-US" sz="1500" i="1" dirty="0">
                <a:solidFill>
                  <a:schemeClr val="accent5"/>
                </a:solidFill>
              </a:rPr>
              <a:t> : il est </a:t>
            </a:r>
            <a:r>
              <a:rPr lang="en-US" sz="1500" b="1" i="1" dirty="0">
                <a:solidFill>
                  <a:schemeClr val="accent5"/>
                </a:solidFill>
              </a:rPr>
              <a:t>à la fin</a:t>
            </a:r>
            <a:r>
              <a:rPr lang="en-US" sz="1500" i="1" dirty="0">
                <a:solidFill>
                  <a:schemeClr val="accent5"/>
                </a:solidFill>
              </a:rPr>
              <a:t> (is · ligt · werd · heeft · denkt).</a:t>
            </a:r>
            <a:endParaRPr lang="en-US" sz="15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200" b="1" dirty="0">
                <a:solidFill>
                  <a:schemeClr val="tx2"/>
                </a:solidFill>
              </a:rPr>
              <a:t>4 Question 2 — Les cinq relatives des annonces</a:t>
            </a:r>
            <a:endParaRPr lang="en-US" sz="3200" dirty="0"/>
          </a:p>
        </p:txBody>
      </p:sp>
      <p:sp>
        <p:nvSpPr>
          <p:cNvPr id="3" name="tag"/>
          <p:cNvSpPr/>
          <p:nvPr/>
        </p:nvSpPr>
        <p:spPr>
          <a:xfrm>
            <a:off x="548640" y="237744"/>
            <a:ext cx="1280160" cy="310896"/>
          </a:xfrm>
          <a:prstGeom prst="roundRect">
            <a:avLst>
              <a:gd name="adj" fmla="val 14706"/>
            </a:avLst>
          </a:prstGeom>
          <a:solidFill>
            <a:schemeClr val="accent2"/>
          </a:solidFill>
          <a:ln/>
        </p:spPr>
        <p:txBody>
          <a:bodyPr wrap="square" lIns="0" tIns="0" rIns="0" bIns="0" rtlCol="0" anchor="ctr"/>
          <a:lstStyle/>
          <a:p>
            <a:pPr algn="ctr" indent="0" marL="0">
              <a:buNone/>
            </a:pPr>
            <a:r>
              <a:rPr lang="en-US" sz="1200" b="1" spc="100" kern="0" dirty="0">
                <a:solidFill>
                  <a:schemeClr val="bg1"/>
                </a:solidFill>
              </a:rPr>
              <a:t>COUCHE 2</a:t>
            </a:r>
            <a:endParaRPr lang="en-US" sz="1200" dirty="0"/>
          </a:p>
        </p:txBody>
      </p:sp>
      <p:sp>
        <p:nvSpPr>
          <p:cNvPr id="4" name="tag"/>
          <p:cNvSpPr/>
          <p:nvPr/>
        </p:nvSpPr>
        <p:spPr>
          <a:xfrm>
            <a:off x="1938528" y="237744"/>
            <a:ext cx="1760220" cy="310896"/>
          </a:xfrm>
          <a:prstGeom prst="roundRect">
            <a:avLst>
              <a:gd name="adj" fmla="val 14706"/>
            </a:avLst>
          </a:prstGeom>
          <a:solidFill>
            <a:schemeClr val="accent3"/>
          </a:solidFill>
          <a:ln/>
        </p:spPr>
        <p:txBody>
          <a:bodyPr wrap="square" lIns="0" tIns="0" rIns="0" bIns="0" rtlCol="0" anchor="ctr"/>
          <a:lstStyle/>
          <a:p>
            <a:pPr algn="ctr" indent="0" marL="0">
              <a:buNone/>
            </a:pPr>
            <a:r>
              <a:rPr lang="en-US" sz="1200" b="1" spc="100" kern="0" dirty="0">
                <a:solidFill>
                  <a:schemeClr val="bg1"/>
                </a:solidFill>
              </a:rPr>
              <a:t>✓ CORRECTIE</a:t>
            </a:r>
            <a:endParaRPr lang="en-US" sz="1200" dirty="0"/>
          </a:p>
        </p:txBody>
      </p:sp>
      <p:sp>
        <p:nvSpPr>
          <p:cNvPr id="5" name="Text 3"/>
          <p:cNvSpPr txBox="1"/>
          <p:nvPr/>
        </p:nvSpPr>
        <p:spPr>
          <a:xfrm>
            <a:off x="8897112" y="219456"/>
            <a:ext cx="2743200" cy="347472"/>
          </a:xfrm>
          <a:prstGeom prst="rect">
            <a:avLst/>
          </a:prstGeom>
          <a:noFill/>
          <a:ln/>
        </p:spPr>
        <p:txBody>
          <a:bodyPr wrap="square" lIns="0" tIns="0" rIns="0" bIns="0" rtlCol="0" anchor="ctr"/>
          <a:lstStyle/>
          <a:p>
            <a:pPr algn="r" indent="0" marL="0">
              <a:buNone/>
            </a:pPr>
            <a:r>
              <a:rPr lang="en-US" sz="1200" i="1" dirty="0">
                <a:solidFill>
                  <a:schemeClr val="accent5"/>
                </a:solidFill>
              </a:rPr>
              <a:t>Livret p. 9</a:t>
            </a:r>
            <a:endParaRPr lang="en-US" sz="1200" dirty="0"/>
          </a:p>
        </p:txBody>
      </p:sp>
      <p:sp>
        <p:nvSpPr>
          <p:cNvPr id="7" name="Text 4"/>
          <p:cNvSpPr txBox="1"/>
          <p:nvPr/>
        </p:nvSpPr>
        <p:spPr>
          <a:xfrm>
            <a:off x="548640" y="1481328"/>
            <a:ext cx="11091672" cy="344424"/>
          </a:xfrm>
          <a:prstGeom prst="rect">
            <a:avLst/>
          </a:prstGeom>
          <a:noFill/>
          <a:ln/>
        </p:spPr>
        <p:txBody>
          <a:bodyPr wrap="square" lIns="0" tIns="0" rIns="0" bIns="0" rtlCol="0" anchor="t"/>
          <a:lstStyle/>
          <a:p>
            <a:pPr indent="0" marL="0">
              <a:buNone/>
            </a:pPr>
            <a:r>
              <a:rPr lang="en-US" sz="1600" i="1" dirty="0">
                <a:solidFill>
                  <a:schemeClr val="accent5"/>
                </a:solidFill>
              </a:rPr>
              <a:t>Par deux · 5 min. Retrouvez les </a:t>
            </a:r>
            <a:r>
              <a:rPr lang="en-US" sz="1600" b="1" i="1" dirty="0">
                <a:solidFill>
                  <a:schemeClr val="accent5"/>
                </a:solidFill>
              </a:rPr>
              <a:t>cinq relatives</a:t>
            </a:r>
            <a:r>
              <a:rPr lang="en-US" sz="1600" i="1" dirty="0">
                <a:solidFill>
                  <a:schemeClr val="accent5"/>
                </a:solidFill>
              </a:rPr>
              <a:t> : </a:t>
            </a:r>
            <a:r>
              <a:rPr lang="en-US" sz="1600" b="1" i="1" dirty="0">
                <a:solidFill>
                  <a:schemeClr val="accent5"/>
                </a:solidFill>
              </a:rPr>
              <a:t>die</a:t>
            </a:r>
            <a:r>
              <a:rPr lang="en-US" sz="1600" i="1" dirty="0">
                <a:solidFill>
                  <a:schemeClr val="accent5"/>
                </a:solidFill>
              </a:rPr>
              <a:t> ou </a:t>
            </a:r>
            <a:r>
              <a:rPr lang="en-US" sz="1600" b="1" i="1" dirty="0">
                <a:solidFill>
                  <a:schemeClr val="accent5"/>
                </a:solidFill>
              </a:rPr>
              <a:t>dat</a:t>
            </a:r>
            <a:r>
              <a:rPr lang="en-US" sz="1600" i="1" dirty="0">
                <a:solidFill>
                  <a:schemeClr val="accent5"/>
                </a:solidFill>
              </a:rPr>
              <a:t> — et </a:t>
            </a:r>
            <a:r>
              <a:rPr lang="en-US" sz="1600" b="1" i="1" dirty="0">
                <a:solidFill>
                  <a:schemeClr val="accent5"/>
                </a:solidFill>
              </a:rPr>
              <a:t>pourquoi</a:t>
            </a:r>
            <a:r>
              <a:rPr lang="en-US" sz="1600" i="1" dirty="0">
                <a:solidFill>
                  <a:schemeClr val="accent5"/>
                </a:solidFill>
              </a:rPr>
              <a:t> ?</a:t>
            </a:r>
            <a:endParaRPr lang="en-US" sz="16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548640" y="1917192"/>
          <a:ext cx="11091672" cy="914400"/>
        </p:xfrm>
        <a:graphic>
          <a:graphicData uri="http://schemas.openxmlformats.org/drawingml/2006/table">
            <a:tbl>
              <a:tblPr/>
              <a:tblGrid>
                <a:gridCol w="640080"/>
                <a:gridCol w="5852160"/>
                <a:gridCol w="4599432"/>
              </a:tblGrid>
              <a:tr h="619963">
                <a:tc>
                  <a:txBody>
                    <a:bodyPr/>
                    <a:lstStyle/>
                    <a:p>
                      <a:pPr algn="l" indent="0" marL="0">
                        <a:buNone/>
                      </a:pPr>
                      <a:endParaRPr lang="en-US" sz="18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tx2"/>
                    </a:solidFill>
                  </a:tcPr>
                </a:tc>
                <a:tc>
                  <a:txBody>
                    <a:bodyPr/>
                    <a:lstStyle/>
                    <a:p>
                      <a:pPr algn="l" indent="0" marL="0">
                        <a:buNone/>
                      </a:pPr>
                      <a:r>
                        <a:rPr lang="en-US" sz="1800" b="1" dirty="0">
                          <a:solidFill>
                            <a:schemeClr val="bg1"/>
                          </a:solidFill>
                        </a:rPr>
                        <a:t>EXTRAIT DE L’ANNONCE</a:t>
                      </a:r>
                      <a:endParaRPr lang="en-US" sz="18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tx2"/>
                    </a:solidFill>
                  </a:tcPr>
                </a:tc>
                <a:tc>
                  <a:txBody>
                    <a:bodyPr/>
                    <a:lstStyle/>
                    <a:p>
                      <a:pPr algn="l" indent="0" marL="0">
                        <a:buNone/>
                      </a:pPr>
                      <a:r>
                        <a:rPr lang="en-US" sz="1800" b="1" dirty="0">
                          <a:solidFill>
                            <a:schemeClr val="bg1"/>
                          </a:solidFill>
                        </a:rPr>
                        <a:t>POURQUOI ?</a:t>
                      </a:r>
                      <a:endParaRPr lang="en-US" sz="18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tx2"/>
                    </a:solidFill>
                  </a:tcPr>
                </a:tc>
              </a:tr>
              <a:tr h="521208">
                <a:tc>
                  <a:txBody>
                    <a:bodyPr/>
                    <a:lstStyle/>
                    <a:p>
                      <a:pPr algn="ctr" indent="0" marL="0">
                        <a:buNone/>
                      </a:pPr>
                      <a:r>
                        <a:rPr lang="en-US" sz="2000" b="1" dirty="0">
                          <a:solidFill>
                            <a:schemeClr val="tx1"/>
                          </a:solidFill>
                        </a:rPr>
                        <a:t>A</a:t>
                      </a:r>
                      <a:endParaRPr lang="en-US" sz="20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1"/>
                    </a:solidFill>
                  </a:tcPr>
                </a:tc>
                <a:tc>
                  <a:txBody>
                    <a:bodyPr/>
                    <a:lstStyle/>
                    <a:p>
                      <a:pPr algn="l" indent="0" marL="0">
                        <a:buNone/>
                      </a:pPr>
                      <a:r>
                        <a:rPr lang="en-US" sz="2000" dirty="0">
                          <a:solidFill>
                            <a:schemeClr val="tx1"/>
                          </a:solidFill>
                        </a:rPr>
                        <a:t>Rijhuis (150 m²) </a:t>
                      </a:r>
                      <a:r>
                        <a:rPr lang="en-US" sz="2000" b="1" dirty="0">
                          <a:solidFill>
                            <a:schemeClr val="accent3"/>
                          </a:solidFill>
                        </a:rPr>
                        <a:t>dat</a:t>
                      </a:r>
                      <a:r>
                        <a:rPr lang="en-US" sz="2000" dirty="0">
                          <a:solidFill>
                            <a:schemeClr val="tx1"/>
                          </a:solidFill>
                        </a:rPr>
                        <a:t> volledig gerenoveerd is.</a:t>
                      </a:r>
                      <a:endParaRPr lang="en-US" sz="20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1"/>
                    </a:solidFill>
                  </a:tcPr>
                </a:tc>
                <a:tc>
                  <a:txBody>
                    <a:bodyPr/>
                    <a:lstStyle/>
                    <a:p>
                      <a:pPr algn="l" indent="0" marL="0">
                        <a:buNone/>
                      </a:pPr>
                      <a:r>
                        <a:rPr lang="en-US" sz="2000" b="1" dirty="0">
                          <a:solidFill>
                            <a:schemeClr val="accent3"/>
                          </a:solidFill>
                        </a:rPr>
                        <a:t>het rijhuis : het, singulier</a:t>
                      </a:r>
                      <a:endParaRPr lang="en-US" sz="20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1"/>
                    </a:solidFill>
                  </a:tcPr>
                </a:tc>
              </a:tr>
              <a:tr h="521208">
                <a:tc>
                  <a:txBody>
                    <a:bodyPr/>
                    <a:lstStyle/>
                    <a:p>
                      <a:pPr algn="ctr" indent="0" marL="0">
                        <a:buNone/>
                      </a:pPr>
                      <a:r>
                        <a:rPr lang="en-US" sz="2000" b="1" dirty="0">
                          <a:solidFill>
                            <a:schemeClr val="tx1"/>
                          </a:solidFill>
                        </a:rPr>
                        <a:t>A</a:t>
                      </a:r>
                      <a:endParaRPr lang="en-US" sz="20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2"/>
                    </a:solidFill>
                  </a:tcPr>
                </a:tc>
                <a:tc>
                  <a:txBody>
                    <a:bodyPr/>
                    <a:lstStyle/>
                    <a:p>
                      <a:pPr algn="l" indent="0" marL="0">
                        <a:buNone/>
                      </a:pPr>
                      <a:r>
                        <a:rPr lang="en-US" sz="2000" dirty="0">
                          <a:solidFill>
                            <a:schemeClr val="tx1"/>
                          </a:solidFill>
                        </a:rPr>
                        <a:t>Stadstuin </a:t>
                      </a:r>
                      <a:r>
                        <a:rPr lang="en-US" sz="2000" b="1" dirty="0">
                          <a:solidFill>
                            <a:schemeClr val="accent3"/>
                          </a:solidFill>
                        </a:rPr>
                        <a:t>die</a:t>
                      </a:r>
                      <a:r>
                        <a:rPr lang="en-US" sz="2000" dirty="0">
                          <a:solidFill>
                            <a:schemeClr val="tx1"/>
                          </a:solidFill>
                        </a:rPr>
                        <a:t> op het zuiden ligt.</a:t>
                      </a:r>
                      <a:endParaRPr lang="en-US" sz="20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2"/>
                    </a:solidFill>
                  </a:tcPr>
                </a:tc>
                <a:tc>
                  <a:txBody>
                    <a:bodyPr/>
                    <a:lstStyle/>
                    <a:p>
                      <a:pPr algn="l" indent="0" marL="0">
                        <a:buNone/>
                      </a:pPr>
                      <a:r>
                        <a:rPr lang="en-US" sz="2000" b="1" dirty="0">
                          <a:solidFill>
                            <a:schemeClr val="accent3"/>
                          </a:solidFill>
                        </a:rPr>
                        <a:t>de stadstuin : de</a:t>
                      </a:r>
                      <a:endParaRPr lang="en-US" sz="20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2"/>
                    </a:solidFill>
                  </a:tcPr>
                </a:tc>
              </a:tr>
              <a:tr h="521208">
                <a:tc>
                  <a:txBody>
                    <a:bodyPr/>
                    <a:lstStyle/>
                    <a:p>
                      <a:pPr algn="ctr" indent="0" marL="0">
                        <a:buNone/>
                      </a:pPr>
                      <a:r>
                        <a:rPr lang="en-US" sz="2000" b="1" dirty="0">
                          <a:solidFill>
                            <a:schemeClr val="tx1"/>
                          </a:solidFill>
                        </a:rPr>
                        <a:t>B</a:t>
                      </a:r>
                      <a:endParaRPr lang="en-US" sz="20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1"/>
                    </a:solidFill>
                  </a:tcPr>
                </a:tc>
                <a:tc>
                  <a:txBody>
                    <a:bodyPr/>
                    <a:lstStyle/>
                    <a:p>
                      <a:pPr algn="l" indent="0" marL="0">
                        <a:buNone/>
                      </a:pPr>
                      <a:r>
                        <a:rPr lang="en-US" sz="2000" dirty="0">
                          <a:solidFill>
                            <a:schemeClr val="tx1"/>
                          </a:solidFill>
                        </a:rPr>
                        <a:t>Badkamer </a:t>
                      </a:r>
                      <a:r>
                        <a:rPr lang="en-US" sz="2000" b="1" dirty="0">
                          <a:solidFill>
                            <a:schemeClr val="accent3"/>
                          </a:solidFill>
                        </a:rPr>
                        <a:t>die</a:t>
                      </a:r>
                      <a:r>
                        <a:rPr lang="en-US" sz="2000" dirty="0">
                          <a:solidFill>
                            <a:schemeClr val="tx1"/>
                          </a:solidFill>
                        </a:rPr>
                        <a:t> vernieuwd werd in 2024.</a:t>
                      </a:r>
                      <a:endParaRPr lang="en-US" sz="20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1"/>
                    </a:solidFill>
                  </a:tcPr>
                </a:tc>
                <a:tc>
                  <a:txBody>
                    <a:bodyPr/>
                    <a:lstStyle/>
                    <a:p>
                      <a:pPr algn="l" indent="0" marL="0">
                        <a:buNone/>
                      </a:pPr>
                      <a:r>
                        <a:rPr lang="en-US" sz="2000" b="1" dirty="0">
                          <a:solidFill>
                            <a:schemeClr val="accent3"/>
                          </a:solidFill>
                        </a:rPr>
                        <a:t>de badkamer : de</a:t>
                      </a:r>
                      <a:endParaRPr lang="en-US" sz="20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1"/>
                    </a:solidFill>
                  </a:tcPr>
                </a:tc>
              </a:tr>
              <a:tr h="830275">
                <a:tc>
                  <a:txBody>
                    <a:bodyPr/>
                    <a:lstStyle/>
                    <a:p>
                      <a:pPr algn="ctr" indent="0" marL="0">
                        <a:buNone/>
                      </a:pPr>
                      <a:r>
                        <a:rPr lang="en-US" sz="2000" b="1" dirty="0">
                          <a:solidFill>
                            <a:schemeClr val="tx1"/>
                          </a:solidFill>
                        </a:rPr>
                        <a:t>C</a:t>
                      </a:r>
                      <a:endParaRPr lang="en-US" sz="20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2"/>
                    </a:solidFill>
                  </a:tcPr>
                </a:tc>
                <a:tc>
                  <a:txBody>
                    <a:bodyPr/>
                    <a:lstStyle/>
                    <a:p>
                      <a:pPr algn="l" indent="0" marL="0">
                        <a:buNone/>
                      </a:pPr>
                      <a:r>
                        <a:rPr lang="en-US" sz="2000" dirty="0">
                          <a:solidFill>
                            <a:schemeClr val="tx1"/>
                          </a:solidFill>
                        </a:rPr>
                        <a:t>Op te frissen appartement </a:t>
                      </a:r>
                      <a:r>
                        <a:rPr lang="en-US" sz="2000" b="1" dirty="0">
                          <a:solidFill>
                            <a:schemeClr val="accent3"/>
                          </a:solidFill>
                        </a:rPr>
                        <a:t>dat</a:t>
                      </a:r>
                      <a:r>
                        <a:rPr lang="en-US" sz="2000" dirty="0">
                          <a:solidFill>
                            <a:schemeClr val="tx1"/>
                          </a:solidFill>
                        </a:rPr>
                        <a:t> veel potentieel heeft.</a:t>
                      </a:r>
                      <a:endParaRPr lang="en-US" sz="20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2"/>
                    </a:solidFill>
                  </a:tcPr>
                </a:tc>
                <a:tc>
                  <a:txBody>
                    <a:bodyPr/>
                    <a:lstStyle/>
                    <a:p>
                      <a:pPr algn="l" indent="0" marL="0">
                        <a:buNone/>
                      </a:pPr>
                      <a:r>
                        <a:rPr lang="en-US" sz="2000" b="1" dirty="0">
                          <a:solidFill>
                            <a:schemeClr val="accent3"/>
                          </a:solidFill>
                        </a:rPr>
                        <a:t>het appartement : het, singulier</a:t>
                      </a:r>
                      <a:endParaRPr lang="en-US" sz="20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2"/>
                    </a:solidFill>
                  </a:tcPr>
                </a:tc>
              </a:tr>
              <a:tr h="830275">
                <a:tc>
                  <a:txBody>
                    <a:bodyPr/>
                    <a:lstStyle/>
                    <a:p>
                      <a:pPr algn="ctr" indent="0" marL="0">
                        <a:buNone/>
                      </a:pPr>
                      <a:r>
                        <a:rPr lang="en-US" sz="2000" b="1" dirty="0">
                          <a:solidFill>
                            <a:schemeClr val="tx1"/>
                          </a:solidFill>
                        </a:rPr>
                        <a:t>C</a:t>
                      </a:r>
                      <a:endParaRPr lang="en-US" sz="20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1"/>
                    </a:solidFill>
                  </a:tcPr>
                </a:tc>
                <a:tc>
                  <a:txBody>
                    <a:bodyPr/>
                    <a:lstStyle/>
                    <a:p>
                      <a:pPr algn="l" indent="0" marL="0">
                        <a:buNone/>
                      </a:pPr>
                      <a:r>
                        <a:rPr lang="en-US" sz="2000" dirty="0">
                          <a:solidFill>
                            <a:schemeClr val="tx1"/>
                          </a:solidFill>
                        </a:rPr>
                        <a:t>Ideaal voor een investeerder </a:t>
                      </a:r>
                      <a:r>
                        <a:rPr lang="en-US" sz="2000" b="1" dirty="0">
                          <a:solidFill>
                            <a:schemeClr val="accent3"/>
                          </a:solidFill>
                        </a:rPr>
                        <a:t>die</a:t>
                      </a:r>
                      <a:r>
                        <a:rPr lang="en-US" sz="2000" dirty="0">
                          <a:solidFill>
                            <a:schemeClr val="tx1"/>
                          </a:solidFill>
                        </a:rPr>
                        <a:t> aan verhuren denkt.</a:t>
                      </a:r>
                      <a:endParaRPr lang="en-US" sz="20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1"/>
                    </a:solidFill>
                  </a:tcPr>
                </a:tc>
                <a:tc>
                  <a:txBody>
                    <a:bodyPr/>
                    <a:lstStyle/>
                    <a:p>
                      <a:pPr algn="l" indent="0" marL="0">
                        <a:buNone/>
                      </a:pPr>
                      <a:r>
                        <a:rPr lang="en-US" sz="2000" b="1" dirty="0">
                          <a:solidFill>
                            <a:schemeClr val="accent3"/>
                          </a:solidFill>
                        </a:rPr>
                        <a:t>de investeerder : de</a:t>
                      </a:r>
                      <a:endParaRPr lang="en-US" sz="20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1"/>
                    </a:solidFill>
                  </a:tcPr>
                </a:tc>
              </a:tr>
            </a:tbl>
          </a:graphicData>
        </a:graphic>
      </p:graphicFrame>
      <p:sp>
        <p:nvSpPr>
          <p:cNvPr id="9" name="Text 5"/>
          <p:cNvSpPr txBox="1"/>
          <p:nvPr/>
        </p:nvSpPr>
        <p:spPr>
          <a:xfrm>
            <a:off x="548640" y="5897880"/>
            <a:ext cx="11091672" cy="393192"/>
          </a:xfrm>
          <a:prstGeom prst="rect">
            <a:avLst/>
          </a:prstGeom>
          <a:noFill/>
          <a:ln/>
        </p:spPr>
        <p:txBody>
          <a:bodyPr wrap="square" lIns="0" tIns="0" rIns="0" bIns="0" rtlCol="0" anchor="b"/>
          <a:lstStyle/>
          <a:p>
            <a:pPr indent="0" marL="0">
              <a:buNone/>
            </a:pPr>
            <a:r>
              <a:rPr lang="en-US" sz="1500" i="1" dirty="0">
                <a:solidFill>
                  <a:schemeClr val="accent5"/>
                </a:solidFill>
              </a:rPr>
              <a:t>Dans chaque relative, entourez le </a:t>
            </a:r>
            <a:r>
              <a:rPr lang="en-US" sz="1500" b="1" i="1" dirty="0">
                <a:solidFill>
                  <a:schemeClr val="accent5"/>
                </a:solidFill>
              </a:rPr>
              <a:t>verbe</a:t>
            </a:r>
            <a:r>
              <a:rPr lang="en-US" sz="1500" i="1" dirty="0">
                <a:solidFill>
                  <a:schemeClr val="accent5"/>
                </a:solidFill>
              </a:rPr>
              <a:t> : il est </a:t>
            </a:r>
            <a:r>
              <a:rPr lang="en-US" sz="1500" b="1" i="1" dirty="0">
                <a:solidFill>
                  <a:schemeClr val="accent5"/>
                </a:solidFill>
              </a:rPr>
              <a:t>à la fin</a:t>
            </a:r>
            <a:r>
              <a:rPr lang="en-US" sz="1500" i="1" dirty="0">
                <a:solidFill>
                  <a:schemeClr val="accent5"/>
                </a:solidFill>
              </a:rPr>
              <a:t> (is · ligt · werd · heeft · denkt).</a:t>
            </a:r>
            <a:endParaRPr lang="en-US" sz="15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200" b="1" dirty="0">
                <a:solidFill>
                  <a:schemeClr val="tx2"/>
                </a:solidFill>
              </a:rPr>
              <a:t>5 Combineer — Van fiche naar zin</a:t>
            </a:r>
            <a:endParaRPr lang="en-US" sz="3200" dirty="0"/>
          </a:p>
        </p:txBody>
      </p:sp>
      <p:sp>
        <p:nvSpPr>
          <p:cNvPr id="3" name="tag"/>
          <p:cNvSpPr/>
          <p:nvPr/>
        </p:nvSpPr>
        <p:spPr>
          <a:xfrm>
            <a:off x="548640" y="237744"/>
            <a:ext cx="1280160" cy="310896"/>
          </a:xfrm>
          <a:prstGeom prst="roundRect">
            <a:avLst>
              <a:gd name="adj" fmla="val 14706"/>
            </a:avLst>
          </a:prstGeom>
          <a:solidFill>
            <a:schemeClr val="accent2"/>
          </a:solidFill>
          <a:ln/>
        </p:spPr>
        <p:txBody>
          <a:bodyPr wrap="square" lIns="0" tIns="0" rIns="0" bIns="0" rtlCol="0" anchor="ctr"/>
          <a:lstStyle/>
          <a:p>
            <a:pPr algn="ctr" indent="0" marL="0">
              <a:buNone/>
            </a:pPr>
            <a:r>
              <a:rPr lang="en-US" sz="1200" b="1" spc="100" kern="0" dirty="0">
                <a:solidFill>
                  <a:schemeClr val="bg1"/>
                </a:solidFill>
              </a:rPr>
              <a:t>COUCHE 2</a:t>
            </a:r>
            <a:endParaRPr lang="en-US" sz="1200" dirty="0"/>
          </a:p>
        </p:txBody>
      </p:sp>
      <p:sp>
        <p:nvSpPr>
          <p:cNvPr id="4" name="Text 2"/>
          <p:cNvSpPr txBox="1"/>
          <p:nvPr/>
        </p:nvSpPr>
        <p:spPr>
          <a:xfrm>
            <a:off x="8897112" y="219456"/>
            <a:ext cx="2743200" cy="347472"/>
          </a:xfrm>
          <a:prstGeom prst="rect">
            <a:avLst/>
          </a:prstGeom>
          <a:noFill/>
          <a:ln/>
        </p:spPr>
        <p:txBody>
          <a:bodyPr wrap="square" lIns="0" tIns="0" rIns="0" bIns="0" rtlCol="0" anchor="ctr"/>
          <a:lstStyle/>
          <a:p>
            <a:pPr algn="r" indent="0" marL="0">
              <a:buNone/>
            </a:pPr>
            <a:r>
              <a:rPr lang="en-US" sz="1200" i="1" dirty="0">
                <a:solidFill>
                  <a:schemeClr val="accent5"/>
                </a:solidFill>
              </a:rPr>
              <a:t>Livret p. 10</a:t>
            </a:r>
            <a:endParaRPr lang="en-US" sz="1200" dirty="0"/>
          </a:p>
        </p:txBody>
      </p:sp>
      <p:sp>
        <p:nvSpPr>
          <p:cNvPr id="6" name="Text 3"/>
          <p:cNvSpPr txBox="1"/>
          <p:nvPr/>
        </p:nvSpPr>
        <p:spPr>
          <a:xfrm>
            <a:off x="548640" y="1481328"/>
            <a:ext cx="7205472" cy="615696"/>
          </a:xfrm>
          <a:prstGeom prst="rect">
            <a:avLst/>
          </a:prstGeom>
          <a:noFill/>
          <a:ln/>
        </p:spPr>
        <p:txBody>
          <a:bodyPr wrap="square" lIns="0" tIns="0" rIns="0" bIns="0" rtlCol="0" anchor="t"/>
          <a:lstStyle/>
          <a:p>
            <a:pPr indent="0" marL="0">
              <a:buNone/>
            </a:pPr>
            <a:r>
              <a:rPr lang="en-US" sz="1600" i="1" dirty="0">
                <a:solidFill>
                  <a:schemeClr val="accent5"/>
                </a:solidFill>
              </a:rPr>
              <a:t>Seul·e · 8 min. Fusionnez les deux phrases avec une </a:t>
            </a:r>
            <a:r>
              <a:rPr lang="en-US" sz="1600" b="1" i="1" dirty="0">
                <a:solidFill>
                  <a:schemeClr val="accent5"/>
                </a:solidFill>
              </a:rPr>
              <a:t>relative</a:t>
            </a:r>
            <a:r>
              <a:rPr lang="en-US" sz="1600" i="1" dirty="0">
                <a:solidFill>
                  <a:schemeClr val="accent5"/>
                </a:solidFill>
              </a:rPr>
              <a:t> : le verbe part à la </a:t>
            </a:r>
            <a:r>
              <a:rPr lang="en-US" sz="1600" b="1" i="1" dirty="0">
                <a:solidFill>
                  <a:schemeClr val="accent5"/>
                </a:solidFill>
              </a:rPr>
              <a:t>fin</a:t>
            </a:r>
            <a:r>
              <a:rPr lang="en-US" sz="1600" i="1" dirty="0">
                <a:solidFill>
                  <a:schemeClr val="accent5"/>
                </a:solidFill>
              </a:rPr>
              <a:t> !</a:t>
            </a:r>
            <a:endParaRPr lang="en-US" sz="1600" dirty="0"/>
          </a:p>
        </p:txBody>
      </p:sp>
      <p:sp>
        <p:nvSpPr>
          <p:cNvPr id="7" name="exercise"/>
          <p:cNvSpPr txBox="1"/>
          <p:nvPr/>
        </p:nvSpPr>
        <p:spPr>
          <a:xfrm>
            <a:off x="548640" y="2170176"/>
            <a:ext cx="7205472" cy="4120896"/>
          </a:xfrm>
          <a:prstGeom prst="rect">
            <a:avLst/>
          </a:prstGeom>
          <a:noFill/>
          <a:ln/>
        </p:spPr>
        <p:txBody>
          <a:bodyPr wrap="square" lIns="0" tIns="0" rIns="0" bIns="0" rtlCol="0" anchor="t"/>
          <a:lstStyle/>
          <a:p>
            <a:pPr indent="0" marL="0">
              <a:spcAft>
                <a:spcPts val="1600"/>
              </a:spcAft>
              <a:buNone/>
            </a:pPr>
            <a:r>
              <a:rPr lang="en-US" sz="2500" b="1" dirty="0">
                <a:solidFill>
                  <a:schemeClr val="tx2"/>
                </a:solidFill>
              </a:rPr>
              <a:t>1.  </a:t>
            </a:r>
            <a:r>
              <a:rPr lang="en-US" sz="2500" dirty="0">
                <a:solidFill>
                  <a:schemeClr val="tx1"/>
                </a:solidFill>
              </a:rPr>
              <a:t>Wij verkopen een rijhuis. + Het rijhuis heeft drie slaapkamers.</a:t>
            </a:r>
            <a:endParaRPr lang="en-US" sz="2500" dirty="0"/>
          </a:p>
          <a:p>
            <a:pPr indent="0" marL="0">
              <a:spcAft>
                <a:spcPts val="1600"/>
              </a:spcAft>
              <a:buNone/>
            </a:pPr>
            <a:r>
              <a:rPr lang="en-US" sz="2500" b="1" dirty="0">
                <a:solidFill>
                  <a:schemeClr val="tx2"/>
                </a:solidFill>
              </a:rPr>
              <a:t>2.  </a:t>
            </a:r>
            <a:r>
              <a:rPr lang="en-US" sz="2500" dirty="0">
                <a:solidFill>
                  <a:schemeClr val="tx1"/>
                </a:solidFill>
              </a:rPr>
              <a:t>Het appartement heeft een terras. + Het terras ligt op het zuiden.</a:t>
            </a:r>
            <a:endParaRPr lang="en-US" sz="2500" dirty="0"/>
          </a:p>
          <a:p>
            <a:pPr indent="0" marL="0">
              <a:spcAft>
                <a:spcPts val="1600"/>
              </a:spcAft>
              <a:buNone/>
            </a:pPr>
            <a:r>
              <a:rPr lang="en-US" sz="2500" b="1" dirty="0">
                <a:solidFill>
                  <a:schemeClr val="tx2"/>
                </a:solidFill>
              </a:rPr>
              <a:t>3.  </a:t>
            </a:r>
            <a:r>
              <a:rPr lang="en-US" sz="2500" dirty="0">
                <a:solidFill>
                  <a:schemeClr val="tx1"/>
                </a:solidFill>
              </a:rPr>
              <a:t>Dat is de eigenaar. + De eigenaar heeft ons gisteren gebeld.</a:t>
            </a:r>
            <a:endParaRPr lang="en-US" sz="2500" dirty="0"/>
          </a:p>
          <a:p>
            <a:pPr indent="0" marL="0">
              <a:spcAft>
                <a:spcPts val="1600"/>
              </a:spcAft>
              <a:buNone/>
            </a:pPr>
            <a:r>
              <a:rPr lang="en-US" sz="2500" b="1" dirty="0">
                <a:solidFill>
                  <a:schemeClr val="tx2"/>
                </a:solidFill>
              </a:rPr>
              <a:t>4.  </a:t>
            </a:r>
            <a:r>
              <a:rPr lang="en-US" sz="2500" dirty="0">
                <a:solidFill>
                  <a:schemeClr val="tx1"/>
                </a:solidFill>
              </a:rPr>
              <a:t>Ik zoek klanten. + De klanten willen investeren.</a:t>
            </a:r>
            <a:endParaRPr lang="en-US" sz="2500" dirty="0"/>
          </a:p>
        </p:txBody>
      </p:sp>
      <p:sp>
        <p:nvSpPr>
          <p:cNvPr id="8" name="aside"/>
          <p:cNvSpPr/>
          <p:nvPr/>
        </p:nvSpPr>
        <p:spPr>
          <a:xfrm>
            <a:off x="8074152" y="1481328"/>
            <a:ext cx="3566160" cy="4809744"/>
          </a:xfrm>
          <a:prstGeom prst="roundRect">
            <a:avLst>
              <a:gd name="adj" fmla="val 2051"/>
            </a:avLst>
          </a:prstGeom>
          <a:solidFill>
            <a:schemeClr val="accent5">
              <a:alpha val="10000"/>
            </a:schemeClr>
          </a:solidFill>
          <a:ln w="12700">
            <a:solidFill>
              <a:schemeClr val="accent5">
                <a:alpha val="60000"/>
              </a:schemeClr>
            </a:solidFill>
            <a:prstDash val="solid"/>
          </a:ln>
        </p:spPr>
      </p:sp>
      <p:pic>
        <p:nvPicPr>
          <p:cNvPr id="9" name="Image 0" descr="preencoded.png">    </p:cNvPr>
          <p:cNvPicPr>
            <a:picLocks noChangeAspect="1"/>
          </p:cNvPicPr>
          <p:nvPr/>
        </p:nvPicPr>
        <p:blipFill>
          <a:blip r:embed="rId1"/>
          <a:stretch>
            <a:fillRect/>
          </a:stretch>
        </p:blipFill>
        <p:spPr>
          <a:xfrm>
            <a:off x="8257032" y="1664208"/>
            <a:ext cx="292608" cy="292608"/>
          </a:xfrm>
          <a:prstGeom prst="rect">
            <a:avLst/>
          </a:prstGeom>
        </p:spPr>
      </p:pic>
      <p:sp>
        <p:nvSpPr>
          <p:cNvPr id="10" name="Text 6"/>
          <p:cNvSpPr txBox="1"/>
          <p:nvPr/>
        </p:nvSpPr>
        <p:spPr>
          <a:xfrm>
            <a:off x="8641080" y="1636776"/>
            <a:ext cx="2834640" cy="347472"/>
          </a:xfrm>
          <a:prstGeom prst="rect">
            <a:avLst/>
          </a:prstGeom>
          <a:noFill/>
          <a:ln/>
        </p:spPr>
        <p:txBody>
          <a:bodyPr wrap="square" lIns="0" tIns="0" rIns="0" bIns="0" rtlCol="0" anchor="ctr"/>
          <a:lstStyle/>
          <a:p>
            <a:pPr indent="0" marL="0">
              <a:buNone/>
            </a:pPr>
            <a:r>
              <a:rPr lang="en-US" sz="1400" b="1" spc="100" kern="0" dirty="0">
                <a:solidFill>
                  <a:schemeClr val="accent5"/>
                </a:solidFill>
              </a:rPr>
              <a:t>ATTENDU</a:t>
            </a:r>
            <a:endParaRPr lang="en-US" sz="1400" dirty="0"/>
          </a:p>
        </p:txBody>
      </p:sp>
      <p:sp>
        <p:nvSpPr>
          <p:cNvPr id="11" name="Text 7"/>
          <p:cNvSpPr txBox="1"/>
          <p:nvPr/>
        </p:nvSpPr>
        <p:spPr>
          <a:xfrm>
            <a:off x="8238744" y="2075688"/>
            <a:ext cx="3236976" cy="4078224"/>
          </a:xfrm>
          <a:prstGeom prst="rect">
            <a:avLst/>
          </a:prstGeom>
          <a:noFill/>
          <a:ln/>
        </p:spPr>
        <p:txBody>
          <a:bodyPr wrap="square" lIns="0" tIns="0" rIns="0" bIns="0" rtlCol="0" anchor="t"/>
          <a:lstStyle/>
          <a:p>
            <a:pPr marL="177800" indent="-177800">
              <a:spcAft>
                <a:spcPts val="600"/>
              </a:spcAft>
              <a:buSzPct val="100000"/>
              <a:buChar char="•"/>
            </a:pPr>
            <a:r>
              <a:rPr lang="en-US" sz="1800" dirty="0">
                <a:solidFill>
                  <a:schemeClr val="tx1"/>
                </a:solidFill>
              </a:rPr>
              <a:t>Le pronom </a:t>
            </a:r>
            <a:r>
              <a:rPr lang="en-US" sz="1800" b="1" dirty="0">
                <a:solidFill>
                  <a:schemeClr val="tx1"/>
                </a:solidFill>
              </a:rPr>
              <a:t>remplace</a:t>
            </a:r>
            <a:r>
              <a:rPr lang="en-US" sz="1800" dirty="0">
                <a:solidFill>
                  <a:schemeClr val="tx1"/>
                </a:solidFill>
              </a:rPr>
              <a:t> le nom répété.</a:t>
            </a:r>
            <a:endParaRPr lang="en-US" sz="1800" dirty="0"/>
          </a:p>
          <a:p>
            <a:pPr marL="177800" indent="-177800">
              <a:spcAft>
                <a:spcPts val="600"/>
              </a:spcAft>
              <a:buSzPct val="100000"/>
              <a:buChar char="•"/>
            </a:pPr>
            <a:r>
              <a:rPr lang="en-US" sz="1800" b="1" dirty="0">
                <a:solidFill>
                  <a:schemeClr val="tx1"/>
                </a:solidFill>
              </a:rPr>
              <a:t>het</a:t>
            </a:r>
            <a:r>
              <a:rPr lang="en-US" sz="1800" dirty="0">
                <a:solidFill>
                  <a:schemeClr val="tx1"/>
                </a:solidFill>
              </a:rPr>
              <a:t> rijhuis, </a:t>
            </a:r>
            <a:r>
              <a:rPr lang="en-US" sz="1800" b="1" dirty="0">
                <a:solidFill>
                  <a:schemeClr val="tx1"/>
                </a:solidFill>
              </a:rPr>
              <a:t>het</a:t>
            </a:r>
            <a:r>
              <a:rPr lang="en-US" sz="1800" dirty="0">
                <a:solidFill>
                  <a:schemeClr val="tx1"/>
                </a:solidFill>
              </a:rPr>
              <a:t> terras → </a:t>
            </a:r>
            <a:r>
              <a:rPr lang="en-US" sz="1800" b="1" dirty="0">
                <a:solidFill>
                  <a:schemeClr val="tx1"/>
                </a:solidFill>
              </a:rPr>
              <a:t>dat</a:t>
            </a:r>
            <a:endParaRPr lang="en-US" sz="1800" dirty="0"/>
          </a:p>
          <a:p>
            <a:pPr marL="177800" indent="-177800">
              <a:spcAft>
                <a:spcPts val="600"/>
              </a:spcAft>
              <a:buSzPct val="100000"/>
              <a:buChar char="•"/>
            </a:pPr>
            <a:r>
              <a:rPr lang="en-US" sz="1800" b="1" dirty="0">
                <a:solidFill>
                  <a:schemeClr val="tx1"/>
                </a:solidFill>
              </a:rPr>
              <a:t>de</a:t>
            </a:r>
            <a:r>
              <a:rPr lang="en-US" sz="1800" dirty="0">
                <a:solidFill>
                  <a:schemeClr val="tx1"/>
                </a:solidFill>
              </a:rPr>
              <a:t> eigenaar, klanten (pluriel) → </a:t>
            </a:r>
            <a:r>
              <a:rPr lang="en-US" sz="1800" b="1" dirty="0">
                <a:solidFill>
                  <a:schemeClr val="tx1"/>
                </a:solidFill>
              </a:rPr>
              <a:t>die</a:t>
            </a:r>
            <a:endParaRPr lang="en-US" sz="1800" dirty="0"/>
          </a:p>
          <a:p>
            <a:pPr marL="177800" indent="-177800">
              <a:spcAft>
                <a:spcPts val="600"/>
              </a:spcAft>
              <a:buSzPct val="100000"/>
              <a:buChar char="•"/>
            </a:pPr>
            <a:r>
              <a:rPr lang="en-US" sz="1800" dirty="0">
                <a:solidFill>
                  <a:schemeClr val="tx1"/>
                </a:solidFill>
              </a:rPr>
              <a:t>Le verbe conjugué en </a:t>
            </a:r>
            <a:r>
              <a:rPr lang="en-US" sz="1800" b="1" dirty="0">
                <a:solidFill>
                  <a:schemeClr val="tx1"/>
                </a:solidFill>
              </a:rPr>
              <a:t>dernière</a:t>
            </a:r>
            <a:r>
              <a:rPr lang="en-US" sz="1800" dirty="0">
                <a:solidFill>
                  <a:schemeClr val="tx1"/>
                </a:solidFill>
              </a:rPr>
              <a:t> position.</a:t>
            </a:r>
            <a:endParaRPr lang="en-US" sz="18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200" b="1" dirty="0">
                <a:solidFill>
                  <a:schemeClr val="tx2"/>
                </a:solidFill>
              </a:rPr>
              <a:t>5 Combineer — Van fiche naar zin</a:t>
            </a:r>
            <a:endParaRPr lang="en-US" sz="3200" dirty="0"/>
          </a:p>
        </p:txBody>
      </p:sp>
      <p:sp>
        <p:nvSpPr>
          <p:cNvPr id="3" name="tag"/>
          <p:cNvSpPr/>
          <p:nvPr/>
        </p:nvSpPr>
        <p:spPr>
          <a:xfrm>
            <a:off x="548640" y="237744"/>
            <a:ext cx="1280160" cy="310896"/>
          </a:xfrm>
          <a:prstGeom prst="roundRect">
            <a:avLst>
              <a:gd name="adj" fmla="val 14706"/>
            </a:avLst>
          </a:prstGeom>
          <a:solidFill>
            <a:schemeClr val="accent2"/>
          </a:solidFill>
          <a:ln/>
        </p:spPr>
        <p:txBody>
          <a:bodyPr wrap="square" lIns="0" tIns="0" rIns="0" bIns="0" rtlCol="0" anchor="ctr"/>
          <a:lstStyle/>
          <a:p>
            <a:pPr algn="ctr" indent="0" marL="0">
              <a:buNone/>
            </a:pPr>
            <a:r>
              <a:rPr lang="en-US" sz="1200" b="1" spc="100" kern="0" dirty="0">
                <a:solidFill>
                  <a:schemeClr val="bg1"/>
                </a:solidFill>
              </a:rPr>
              <a:t>COUCHE 2</a:t>
            </a:r>
            <a:endParaRPr lang="en-US" sz="1200" dirty="0"/>
          </a:p>
        </p:txBody>
      </p:sp>
      <p:sp>
        <p:nvSpPr>
          <p:cNvPr id="4" name="tag"/>
          <p:cNvSpPr/>
          <p:nvPr/>
        </p:nvSpPr>
        <p:spPr>
          <a:xfrm>
            <a:off x="1938528" y="237744"/>
            <a:ext cx="1760220" cy="310896"/>
          </a:xfrm>
          <a:prstGeom prst="roundRect">
            <a:avLst>
              <a:gd name="adj" fmla="val 14706"/>
            </a:avLst>
          </a:prstGeom>
          <a:solidFill>
            <a:schemeClr val="accent3"/>
          </a:solidFill>
          <a:ln/>
        </p:spPr>
        <p:txBody>
          <a:bodyPr wrap="square" lIns="0" tIns="0" rIns="0" bIns="0" rtlCol="0" anchor="ctr"/>
          <a:lstStyle/>
          <a:p>
            <a:pPr algn="ctr" indent="0" marL="0">
              <a:buNone/>
            </a:pPr>
            <a:r>
              <a:rPr lang="en-US" sz="1200" b="1" spc="100" kern="0" dirty="0">
                <a:solidFill>
                  <a:schemeClr val="bg1"/>
                </a:solidFill>
              </a:rPr>
              <a:t>✓ CORRECTIE</a:t>
            </a:r>
            <a:endParaRPr lang="en-US" sz="1200" dirty="0"/>
          </a:p>
        </p:txBody>
      </p:sp>
      <p:sp>
        <p:nvSpPr>
          <p:cNvPr id="5" name="Text 3"/>
          <p:cNvSpPr txBox="1"/>
          <p:nvPr/>
        </p:nvSpPr>
        <p:spPr>
          <a:xfrm>
            <a:off x="8897112" y="219456"/>
            <a:ext cx="2743200" cy="347472"/>
          </a:xfrm>
          <a:prstGeom prst="rect">
            <a:avLst/>
          </a:prstGeom>
          <a:noFill/>
          <a:ln/>
        </p:spPr>
        <p:txBody>
          <a:bodyPr wrap="square" lIns="0" tIns="0" rIns="0" bIns="0" rtlCol="0" anchor="ctr"/>
          <a:lstStyle/>
          <a:p>
            <a:pPr algn="r" indent="0" marL="0">
              <a:buNone/>
            </a:pPr>
            <a:r>
              <a:rPr lang="en-US" sz="1200" i="1" dirty="0">
                <a:solidFill>
                  <a:schemeClr val="accent5"/>
                </a:solidFill>
              </a:rPr>
              <a:t>Livret p. 10</a:t>
            </a:r>
            <a:endParaRPr lang="en-US" sz="1200" dirty="0"/>
          </a:p>
        </p:txBody>
      </p:sp>
      <p:sp>
        <p:nvSpPr>
          <p:cNvPr id="7" name="Text 4"/>
          <p:cNvSpPr txBox="1"/>
          <p:nvPr/>
        </p:nvSpPr>
        <p:spPr>
          <a:xfrm>
            <a:off x="548640" y="1481328"/>
            <a:ext cx="7205472" cy="615696"/>
          </a:xfrm>
          <a:prstGeom prst="rect">
            <a:avLst/>
          </a:prstGeom>
          <a:noFill/>
          <a:ln/>
        </p:spPr>
        <p:txBody>
          <a:bodyPr wrap="square" lIns="0" tIns="0" rIns="0" bIns="0" rtlCol="0" anchor="t"/>
          <a:lstStyle/>
          <a:p>
            <a:pPr indent="0" marL="0">
              <a:buNone/>
            </a:pPr>
            <a:r>
              <a:rPr lang="en-US" sz="1600" i="1" dirty="0">
                <a:solidFill>
                  <a:schemeClr val="accent5"/>
                </a:solidFill>
              </a:rPr>
              <a:t>Seul·e · 8 min. Fusionnez les deux phrases avec une </a:t>
            </a:r>
            <a:r>
              <a:rPr lang="en-US" sz="1600" b="1" i="1" dirty="0">
                <a:solidFill>
                  <a:schemeClr val="accent5"/>
                </a:solidFill>
              </a:rPr>
              <a:t>relative</a:t>
            </a:r>
            <a:r>
              <a:rPr lang="en-US" sz="1600" i="1" dirty="0">
                <a:solidFill>
                  <a:schemeClr val="accent5"/>
                </a:solidFill>
              </a:rPr>
              <a:t> : le verbe part à la </a:t>
            </a:r>
            <a:r>
              <a:rPr lang="en-US" sz="1600" b="1" i="1" dirty="0">
                <a:solidFill>
                  <a:schemeClr val="accent5"/>
                </a:solidFill>
              </a:rPr>
              <a:t>fin</a:t>
            </a:r>
            <a:r>
              <a:rPr lang="en-US" sz="1600" i="1" dirty="0">
                <a:solidFill>
                  <a:schemeClr val="accent5"/>
                </a:solidFill>
              </a:rPr>
              <a:t> !</a:t>
            </a:r>
            <a:endParaRPr lang="en-US" sz="1600" dirty="0"/>
          </a:p>
        </p:txBody>
      </p:sp>
      <p:sp>
        <p:nvSpPr>
          <p:cNvPr id="8" name="exercise"/>
          <p:cNvSpPr txBox="1"/>
          <p:nvPr/>
        </p:nvSpPr>
        <p:spPr>
          <a:xfrm>
            <a:off x="548640" y="2170176"/>
            <a:ext cx="7205472" cy="4120896"/>
          </a:xfrm>
          <a:prstGeom prst="rect">
            <a:avLst/>
          </a:prstGeom>
          <a:noFill/>
          <a:ln/>
        </p:spPr>
        <p:txBody>
          <a:bodyPr wrap="square" lIns="0" tIns="0" rIns="0" bIns="0" rtlCol="0" anchor="t"/>
          <a:lstStyle/>
          <a:p>
            <a:pPr indent="0" marL="0">
              <a:spcAft>
                <a:spcPts val="400"/>
              </a:spcAft>
              <a:buNone/>
            </a:pPr>
            <a:r>
              <a:rPr lang="en-US" sz="2000" b="1" dirty="0">
                <a:solidFill>
                  <a:schemeClr val="tx2"/>
                </a:solidFill>
              </a:rPr>
              <a:t>1.  </a:t>
            </a:r>
            <a:r>
              <a:rPr lang="en-US" sz="2000" dirty="0">
                <a:solidFill>
                  <a:schemeClr val="tx1"/>
                </a:solidFill>
              </a:rPr>
              <a:t>Wij verkopen een rijhuis. + Het rijhuis heeft drie slaapkamers.</a:t>
            </a:r>
            <a:endParaRPr lang="en-US" sz="2000" dirty="0"/>
          </a:p>
          <a:p>
            <a:pPr indent="0" marL="0">
              <a:spcAft>
                <a:spcPts val="600"/>
              </a:spcAft>
              <a:buNone/>
            </a:pPr>
            <a:r>
              <a:rPr lang="en-US" sz="2000" b="1" dirty="0">
                <a:solidFill>
                  <a:schemeClr val="accent3"/>
                </a:solidFill>
              </a:rPr>
              <a:t>→ </a:t>
            </a:r>
            <a:r>
              <a:rPr lang="en-US" sz="2000" dirty="0">
                <a:solidFill>
                  <a:schemeClr val="accent3"/>
                </a:solidFill>
              </a:rPr>
              <a:t>Wij verkopen een rijhuis </a:t>
            </a:r>
            <a:r>
              <a:rPr lang="en-US" sz="2000" b="1" dirty="0">
                <a:solidFill>
                  <a:schemeClr val="accent3"/>
                </a:solidFill>
              </a:rPr>
              <a:t>dat</a:t>
            </a:r>
            <a:r>
              <a:rPr lang="en-US" sz="2000" dirty="0">
                <a:solidFill>
                  <a:schemeClr val="accent3"/>
                </a:solidFill>
              </a:rPr>
              <a:t> drie slaapkamers heeft.</a:t>
            </a:r>
            <a:endParaRPr lang="en-US" sz="2000" dirty="0"/>
          </a:p>
          <a:p>
            <a:pPr indent="0" marL="0">
              <a:spcAft>
                <a:spcPts val="400"/>
              </a:spcAft>
              <a:buNone/>
            </a:pPr>
            <a:r>
              <a:rPr lang="en-US" sz="2000" b="1" dirty="0">
                <a:solidFill>
                  <a:schemeClr val="tx2"/>
                </a:solidFill>
              </a:rPr>
              <a:t>2.  </a:t>
            </a:r>
            <a:r>
              <a:rPr lang="en-US" sz="2000" dirty="0">
                <a:solidFill>
                  <a:schemeClr val="tx1"/>
                </a:solidFill>
              </a:rPr>
              <a:t>Het appartement heeft een terras. + Het terras ligt op het zuiden.</a:t>
            </a:r>
            <a:endParaRPr lang="en-US" sz="2000" dirty="0"/>
          </a:p>
          <a:p>
            <a:pPr indent="0" marL="0">
              <a:spcAft>
                <a:spcPts val="600"/>
              </a:spcAft>
              <a:buNone/>
            </a:pPr>
            <a:r>
              <a:rPr lang="en-US" sz="2000" b="1" dirty="0">
                <a:solidFill>
                  <a:schemeClr val="accent3"/>
                </a:solidFill>
              </a:rPr>
              <a:t>→ </a:t>
            </a:r>
            <a:r>
              <a:rPr lang="en-US" sz="2000" dirty="0">
                <a:solidFill>
                  <a:schemeClr val="accent3"/>
                </a:solidFill>
              </a:rPr>
              <a:t>Het appartement heeft een terras </a:t>
            </a:r>
            <a:r>
              <a:rPr lang="en-US" sz="2000" b="1" dirty="0">
                <a:solidFill>
                  <a:schemeClr val="accent3"/>
                </a:solidFill>
              </a:rPr>
              <a:t>dat</a:t>
            </a:r>
            <a:r>
              <a:rPr lang="en-US" sz="2000" dirty="0">
                <a:solidFill>
                  <a:schemeClr val="accent3"/>
                </a:solidFill>
              </a:rPr>
              <a:t> op het zuiden ligt.</a:t>
            </a:r>
            <a:endParaRPr lang="en-US" sz="2000" dirty="0"/>
          </a:p>
          <a:p>
            <a:pPr indent="0" marL="0">
              <a:spcAft>
                <a:spcPts val="400"/>
              </a:spcAft>
              <a:buNone/>
            </a:pPr>
            <a:r>
              <a:rPr lang="en-US" sz="2000" b="1" dirty="0">
                <a:solidFill>
                  <a:schemeClr val="tx2"/>
                </a:solidFill>
              </a:rPr>
              <a:t>3.  </a:t>
            </a:r>
            <a:r>
              <a:rPr lang="en-US" sz="2000" dirty="0">
                <a:solidFill>
                  <a:schemeClr val="tx1"/>
                </a:solidFill>
              </a:rPr>
              <a:t>Dat is de eigenaar. + De eigenaar heeft ons gisteren gebeld.</a:t>
            </a:r>
            <a:endParaRPr lang="en-US" sz="2000" dirty="0"/>
          </a:p>
          <a:p>
            <a:pPr indent="0" marL="0">
              <a:spcAft>
                <a:spcPts val="600"/>
              </a:spcAft>
              <a:buNone/>
            </a:pPr>
            <a:r>
              <a:rPr lang="en-US" sz="2000" b="1" dirty="0">
                <a:solidFill>
                  <a:schemeClr val="accent3"/>
                </a:solidFill>
              </a:rPr>
              <a:t>→ </a:t>
            </a:r>
            <a:r>
              <a:rPr lang="en-US" sz="2000" dirty="0">
                <a:solidFill>
                  <a:schemeClr val="accent3"/>
                </a:solidFill>
              </a:rPr>
              <a:t>Dat is de eigenaar </a:t>
            </a:r>
            <a:r>
              <a:rPr lang="en-US" sz="2000" b="1" dirty="0">
                <a:solidFill>
                  <a:schemeClr val="accent3"/>
                </a:solidFill>
              </a:rPr>
              <a:t>die</a:t>
            </a:r>
            <a:r>
              <a:rPr lang="en-US" sz="2000" dirty="0">
                <a:solidFill>
                  <a:schemeClr val="accent3"/>
                </a:solidFill>
              </a:rPr>
              <a:t> ons gisteren heeft gebeld.</a:t>
            </a:r>
            <a:endParaRPr lang="en-US" sz="2000" dirty="0"/>
          </a:p>
          <a:p>
            <a:pPr indent="0" marL="0">
              <a:spcAft>
                <a:spcPts val="400"/>
              </a:spcAft>
              <a:buNone/>
            </a:pPr>
            <a:r>
              <a:rPr lang="en-US" sz="2000" b="1" dirty="0">
                <a:solidFill>
                  <a:schemeClr val="tx2"/>
                </a:solidFill>
              </a:rPr>
              <a:t>4.  </a:t>
            </a:r>
            <a:r>
              <a:rPr lang="en-US" sz="2000" dirty="0">
                <a:solidFill>
                  <a:schemeClr val="tx1"/>
                </a:solidFill>
              </a:rPr>
              <a:t>Ik zoek klanten. + De klanten willen investeren.</a:t>
            </a:r>
            <a:endParaRPr lang="en-US" sz="2000" dirty="0"/>
          </a:p>
          <a:p>
            <a:pPr indent="0" marL="0">
              <a:spcAft>
                <a:spcPts val="600"/>
              </a:spcAft>
              <a:buNone/>
            </a:pPr>
            <a:r>
              <a:rPr lang="en-US" sz="2000" b="1" dirty="0">
                <a:solidFill>
                  <a:schemeClr val="accent3"/>
                </a:solidFill>
              </a:rPr>
              <a:t>→ </a:t>
            </a:r>
            <a:r>
              <a:rPr lang="en-US" sz="2000" dirty="0">
                <a:solidFill>
                  <a:schemeClr val="accent3"/>
                </a:solidFill>
              </a:rPr>
              <a:t>Ik zoek klanten </a:t>
            </a:r>
            <a:r>
              <a:rPr lang="en-US" sz="2000" b="1" dirty="0">
                <a:solidFill>
                  <a:schemeClr val="accent3"/>
                </a:solidFill>
              </a:rPr>
              <a:t>die</a:t>
            </a:r>
            <a:r>
              <a:rPr lang="en-US" sz="2000" dirty="0">
                <a:solidFill>
                  <a:schemeClr val="accent3"/>
                </a:solidFill>
              </a:rPr>
              <a:t> willen investeren.</a:t>
            </a:r>
            <a:endParaRPr lang="en-US" sz="2000" dirty="0"/>
          </a:p>
        </p:txBody>
      </p:sp>
      <p:sp>
        <p:nvSpPr>
          <p:cNvPr id="9" name="aside"/>
          <p:cNvSpPr/>
          <p:nvPr/>
        </p:nvSpPr>
        <p:spPr>
          <a:xfrm>
            <a:off x="8074152" y="1481328"/>
            <a:ext cx="3566160" cy="4809744"/>
          </a:xfrm>
          <a:prstGeom prst="roundRect">
            <a:avLst>
              <a:gd name="adj" fmla="val 2051"/>
            </a:avLst>
          </a:prstGeom>
          <a:solidFill>
            <a:schemeClr val="accent6">
              <a:alpha val="10000"/>
            </a:schemeClr>
          </a:solidFill>
          <a:ln w="12700">
            <a:solidFill>
              <a:schemeClr val="accent6">
                <a:alpha val="60000"/>
              </a:schemeClr>
            </a:solidFill>
            <a:prstDash val="solid"/>
          </a:ln>
        </p:spPr>
      </p:sp>
      <p:pic>
        <p:nvPicPr>
          <p:cNvPr id="10" name="Image 0" descr="preencoded.png">    </p:cNvPr>
          <p:cNvPicPr>
            <a:picLocks noChangeAspect="1"/>
          </p:cNvPicPr>
          <p:nvPr/>
        </p:nvPicPr>
        <p:blipFill>
          <a:blip r:embed="rId1"/>
          <a:stretch>
            <a:fillRect/>
          </a:stretch>
        </p:blipFill>
        <p:spPr>
          <a:xfrm>
            <a:off x="8257032" y="1664208"/>
            <a:ext cx="292608" cy="292608"/>
          </a:xfrm>
          <a:prstGeom prst="rect">
            <a:avLst/>
          </a:prstGeom>
        </p:spPr>
      </p:pic>
      <p:sp>
        <p:nvSpPr>
          <p:cNvPr id="11" name="Text 7"/>
          <p:cNvSpPr txBox="1"/>
          <p:nvPr/>
        </p:nvSpPr>
        <p:spPr>
          <a:xfrm>
            <a:off x="8641080" y="1636776"/>
            <a:ext cx="2834640" cy="347472"/>
          </a:xfrm>
          <a:prstGeom prst="rect">
            <a:avLst/>
          </a:prstGeom>
          <a:noFill/>
          <a:ln/>
        </p:spPr>
        <p:txBody>
          <a:bodyPr wrap="square" lIns="0" tIns="0" rIns="0" bIns="0" rtlCol="0" anchor="ctr"/>
          <a:lstStyle/>
          <a:p>
            <a:pPr indent="0" marL="0">
              <a:buNone/>
            </a:pPr>
            <a:r>
              <a:rPr lang="en-US" sz="1400" b="1" spc="100" kern="0" dirty="0">
                <a:solidFill>
                  <a:schemeClr val="accent6"/>
                </a:solidFill>
              </a:rPr>
              <a:t>ATTENTION</a:t>
            </a:r>
            <a:endParaRPr lang="en-US" sz="1400" dirty="0"/>
          </a:p>
        </p:txBody>
      </p:sp>
      <p:sp>
        <p:nvSpPr>
          <p:cNvPr id="12" name="Text 8"/>
          <p:cNvSpPr txBox="1"/>
          <p:nvPr/>
        </p:nvSpPr>
        <p:spPr>
          <a:xfrm>
            <a:off x="8238744" y="2075688"/>
            <a:ext cx="3236976" cy="4078224"/>
          </a:xfrm>
          <a:prstGeom prst="rect">
            <a:avLst/>
          </a:prstGeom>
          <a:noFill/>
          <a:ln/>
        </p:spPr>
        <p:txBody>
          <a:bodyPr wrap="square" lIns="0" tIns="0" rIns="0" bIns="0" rtlCol="0" anchor="t"/>
          <a:lstStyle/>
          <a:p>
            <a:pPr marL="177800" indent="-177800">
              <a:spcAft>
                <a:spcPts val="600"/>
              </a:spcAft>
              <a:buSzPct val="100000"/>
              <a:buChar char="•"/>
            </a:pPr>
            <a:r>
              <a:rPr lang="en-US" sz="1800" dirty="0">
                <a:solidFill>
                  <a:schemeClr val="tx1"/>
                </a:solidFill>
              </a:rPr>
              <a:t>Le pronom remplace le </a:t>
            </a:r>
            <a:r>
              <a:rPr lang="en-US" sz="1800" b="1" dirty="0">
                <a:solidFill>
                  <a:schemeClr val="tx1"/>
                </a:solidFill>
              </a:rPr>
              <a:t>2e nom</a:t>
            </a:r>
            <a:r>
              <a:rPr lang="en-US" sz="1800" dirty="0">
                <a:solidFill>
                  <a:schemeClr val="tx1"/>
                </a:solidFill>
              </a:rPr>
              <a:t> : het rijhuis → </a:t>
            </a:r>
            <a:r>
              <a:rPr lang="en-US" sz="1800" b="1" dirty="0">
                <a:solidFill>
                  <a:schemeClr val="tx1"/>
                </a:solidFill>
              </a:rPr>
              <a:t>dat</a:t>
            </a:r>
            <a:r>
              <a:rPr lang="en-US" sz="1800" dirty="0">
                <a:solidFill>
                  <a:schemeClr val="tx1"/>
                </a:solidFill>
              </a:rPr>
              <a:t> ; de eigenaar → </a:t>
            </a:r>
            <a:r>
              <a:rPr lang="en-US" sz="1800" b="1" dirty="0">
                <a:solidFill>
                  <a:schemeClr val="tx1"/>
                </a:solidFill>
              </a:rPr>
              <a:t>die</a:t>
            </a:r>
            <a:r>
              <a:rPr lang="en-US" sz="1800" dirty="0">
                <a:solidFill>
                  <a:schemeClr val="tx1"/>
                </a:solidFill>
              </a:rPr>
              <a:t> ; klanten (pluriel) → </a:t>
            </a:r>
            <a:r>
              <a:rPr lang="en-US" sz="1800" b="1" dirty="0">
                <a:solidFill>
                  <a:schemeClr val="tx1"/>
                </a:solidFill>
              </a:rPr>
              <a:t>die</a:t>
            </a:r>
            <a:r>
              <a:rPr lang="en-US" sz="1800" dirty="0">
                <a:solidFill>
                  <a:schemeClr val="tx1"/>
                </a:solidFill>
              </a:rPr>
              <a:t>.</a:t>
            </a:r>
            <a:endParaRPr lang="en-US" sz="1800" dirty="0"/>
          </a:p>
          <a:p>
            <a:pPr marL="177800" indent="-177800">
              <a:spcAft>
                <a:spcPts val="600"/>
              </a:spcAft>
              <a:buSzPct val="100000"/>
              <a:buChar char="•"/>
            </a:pPr>
            <a:r>
              <a:rPr lang="en-US" sz="1800" dirty="0">
                <a:solidFill>
                  <a:schemeClr val="tx1"/>
                </a:solidFill>
              </a:rPr>
              <a:t>Le verbe conjugué est en </a:t>
            </a:r>
            <a:r>
              <a:rPr lang="en-US" sz="1800" b="1" dirty="0">
                <a:solidFill>
                  <a:schemeClr val="tx1"/>
                </a:solidFill>
              </a:rPr>
              <a:t>dernière</a:t>
            </a:r>
            <a:r>
              <a:rPr lang="en-US" sz="1800" dirty="0">
                <a:solidFill>
                  <a:schemeClr val="tx1"/>
                </a:solidFill>
              </a:rPr>
              <a:t> position.</a:t>
            </a:r>
            <a:endParaRPr lang="en-US" sz="1800" dirty="0"/>
          </a:p>
          <a:p>
            <a:pPr marL="177800" indent="-177800">
              <a:spcAft>
                <a:spcPts val="600"/>
              </a:spcAft>
              <a:buSzPct val="100000"/>
              <a:buChar char="•"/>
            </a:pPr>
            <a:r>
              <a:rPr lang="en-US" sz="1800" dirty="0">
                <a:solidFill>
                  <a:schemeClr val="tx1"/>
                </a:solidFill>
              </a:rPr>
              <a:t>3 : </a:t>
            </a:r>
            <a:r>
              <a:rPr lang="en-US" sz="1800" i="1" dirty="0">
                <a:solidFill>
                  <a:schemeClr val="tx1"/>
                </a:solidFill>
              </a:rPr>
              <a:t>die ons gisteren gebeld heeft</a:t>
            </a:r>
            <a:r>
              <a:rPr lang="en-US" sz="1800" dirty="0">
                <a:solidFill>
                  <a:schemeClr val="tx1"/>
                </a:solidFill>
              </a:rPr>
              <a:t> est aussi correct.</a:t>
            </a:r>
            <a:endParaRPr lang="en-US" sz="18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200" b="1" dirty="0">
                <a:solidFill>
                  <a:schemeClr val="tx2"/>
                </a:solidFill>
              </a:rPr>
              <a:t>TAAK 2 — Schrijf het zoekertje</a:t>
            </a:r>
            <a:endParaRPr lang="en-US" sz="3200" dirty="0"/>
          </a:p>
        </p:txBody>
      </p:sp>
      <p:sp>
        <p:nvSpPr>
          <p:cNvPr id="3" name="tag"/>
          <p:cNvSpPr/>
          <p:nvPr/>
        </p:nvSpPr>
        <p:spPr>
          <a:xfrm>
            <a:off x="548640" y="237744"/>
            <a:ext cx="1074420" cy="310896"/>
          </a:xfrm>
          <a:prstGeom prst="roundRect">
            <a:avLst>
              <a:gd name="adj" fmla="val 14706"/>
            </a:avLst>
          </a:prstGeom>
          <a:solidFill>
            <a:schemeClr val="accent1"/>
          </a:solidFill>
          <a:ln/>
        </p:spPr>
        <p:txBody>
          <a:bodyPr wrap="square" lIns="0" tIns="0" rIns="0" bIns="0" rtlCol="0" anchor="ctr"/>
          <a:lstStyle/>
          <a:p>
            <a:pPr algn="ctr" indent="0" marL="0">
              <a:buNone/>
            </a:pPr>
            <a:r>
              <a:rPr lang="en-US" sz="1200" b="1" spc="100" kern="0" dirty="0">
                <a:solidFill>
                  <a:schemeClr val="bg1"/>
                </a:solidFill>
              </a:rPr>
              <a:t>ÉCRIT</a:t>
            </a:r>
            <a:endParaRPr lang="en-US" sz="1200" dirty="0"/>
          </a:p>
        </p:txBody>
      </p:sp>
      <p:sp>
        <p:nvSpPr>
          <p:cNvPr id="4" name="Text 2"/>
          <p:cNvSpPr txBox="1"/>
          <p:nvPr/>
        </p:nvSpPr>
        <p:spPr>
          <a:xfrm>
            <a:off x="8897112" y="219456"/>
            <a:ext cx="2743200" cy="347472"/>
          </a:xfrm>
          <a:prstGeom prst="rect">
            <a:avLst/>
          </a:prstGeom>
          <a:noFill/>
          <a:ln/>
        </p:spPr>
        <p:txBody>
          <a:bodyPr wrap="square" lIns="0" tIns="0" rIns="0" bIns="0" rtlCol="0" anchor="ctr"/>
          <a:lstStyle/>
          <a:p>
            <a:pPr algn="r" indent="0" marL="0">
              <a:buNone/>
            </a:pPr>
            <a:r>
              <a:rPr lang="en-US" sz="1200" i="1" dirty="0">
                <a:solidFill>
                  <a:schemeClr val="accent5"/>
                </a:solidFill>
              </a:rPr>
              <a:t>Livret p. 10</a:t>
            </a:r>
            <a:endParaRPr lang="en-US" sz="1200" dirty="0"/>
          </a:p>
        </p:txBody>
      </p:sp>
      <p:sp>
        <p:nvSpPr>
          <p:cNvPr id="6" name="Text 3"/>
          <p:cNvSpPr txBox="1"/>
          <p:nvPr/>
        </p:nvSpPr>
        <p:spPr>
          <a:xfrm>
            <a:off x="548640" y="1481328"/>
            <a:ext cx="11091672" cy="365760"/>
          </a:xfrm>
          <a:prstGeom prst="rect">
            <a:avLst/>
          </a:prstGeom>
          <a:noFill/>
          <a:ln/>
        </p:spPr>
        <p:txBody>
          <a:bodyPr wrap="square" lIns="0" tIns="0" rIns="0" bIns="0" rtlCol="0" anchor="ctr"/>
          <a:lstStyle/>
          <a:p>
            <a:pPr algn="l" indent="0" marL="0">
              <a:buNone/>
            </a:pPr>
            <a:r>
              <a:rPr lang="en-US" sz="1600" i="1" dirty="0">
                <a:solidFill>
                  <a:schemeClr val="accent5"/>
                </a:solidFill>
              </a:rPr>
              <a:t>Seul·e · 15 min · </a:t>
            </a:r>
            <a:r>
              <a:rPr lang="en-US" sz="1600" b="1" i="1" dirty="0">
                <a:solidFill>
                  <a:schemeClr val="accent5"/>
                </a:solidFill>
              </a:rPr>
              <a:t>60 à 80 mots</a:t>
            </a:r>
            <a:r>
              <a:rPr lang="en-US" sz="1600" i="1" dirty="0">
                <a:solidFill>
                  <a:schemeClr val="accent5"/>
                </a:solidFill>
              </a:rPr>
              <a:t>, dans le style des zoekertjes A à C.</a:t>
            </a:r>
            <a:endParaRPr lang="en-US" sz="1600" dirty="0"/>
          </a:p>
        </p:txBody>
      </p:sp>
      <p:sp>
        <p:nvSpPr>
          <p:cNvPr id="7" name="Shape 4"/>
          <p:cNvSpPr/>
          <p:nvPr/>
        </p:nvSpPr>
        <p:spPr>
          <a:xfrm>
            <a:off x="548640" y="2011680"/>
            <a:ext cx="3749040" cy="4251960"/>
          </a:xfrm>
          <a:prstGeom prst="roundRect">
            <a:avLst>
              <a:gd name="adj" fmla="val 2439"/>
            </a:avLst>
          </a:prstGeom>
          <a:solidFill>
            <a:schemeClr val="bg1"/>
          </a:solidFill>
          <a:ln w="12700">
            <a:solidFill>
              <a:srgbClr val="D5DCE6"/>
            </a:solidFill>
            <a:prstDash val="solid"/>
          </a:ln>
          <a:effectLst>
            <a:outerShdw sx="100000" sy="100000" kx="0" ky="0" algn="bl" rotWithShape="0" blurRad="101600" dist="25400" dir="3600000">
              <a:srgbClr val="000000">
                <a:alpha val="18000"/>
              </a:srgbClr>
            </a:outerShdw>
          </a:effectLst>
        </p:spPr>
      </p:sp>
      <p:sp>
        <p:nvSpPr>
          <p:cNvPr id="8" name="Shape 5"/>
          <p:cNvSpPr/>
          <p:nvPr/>
        </p:nvSpPr>
        <p:spPr>
          <a:xfrm>
            <a:off x="548640" y="2011680"/>
            <a:ext cx="3749040" cy="530352"/>
          </a:xfrm>
          <a:prstGeom prst="roundRect">
            <a:avLst>
              <a:gd name="adj" fmla="val 17241"/>
            </a:avLst>
          </a:prstGeom>
          <a:solidFill>
            <a:schemeClr val="accent1"/>
          </a:solidFill>
          <a:ln/>
        </p:spPr>
      </p:sp>
      <p:sp>
        <p:nvSpPr>
          <p:cNvPr id="9" name="Shape 6"/>
          <p:cNvSpPr/>
          <p:nvPr/>
        </p:nvSpPr>
        <p:spPr>
          <a:xfrm>
            <a:off x="548640" y="2359152"/>
            <a:ext cx="3749040" cy="182880"/>
          </a:xfrm>
          <a:prstGeom prst="rect">
            <a:avLst/>
          </a:prstGeom>
          <a:solidFill>
            <a:schemeClr val="accent1"/>
          </a:solidFill>
          <a:ln w="12700">
            <a:solidFill>
              <a:srgbClr val="D9700F"/>
            </a:solidFill>
            <a:prstDash val="solid"/>
          </a:ln>
        </p:spPr>
      </p:sp>
      <p:pic>
        <p:nvPicPr>
          <p:cNvPr id="10" name="Image 0" descr="preencoded.png">    </p:cNvPr>
          <p:cNvPicPr>
            <a:picLocks noChangeAspect="1"/>
          </p:cNvPicPr>
          <p:nvPr/>
        </p:nvPicPr>
        <p:blipFill>
          <a:blip r:embed="rId1"/>
          <a:stretch>
            <a:fillRect/>
          </a:stretch>
        </p:blipFill>
        <p:spPr>
          <a:xfrm>
            <a:off x="713232" y="2139696"/>
            <a:ext cx="274320" cy="274320"/>
          </a:xfrm>
          <a:prstGeom prst="rect">
            <a:avLst/>
          </a:prstGeom>
        </p:spPr>
      </p:pic>
      <p:sp>
        <p:nvSpPr>
          <p:cNvPr id="11" name="Text 7"/>
          <p:cNvSpPr txBox="1"/>
          <p:nvPr/>
        </p:nvSpPr>
        <p:spPr>
          <a:xfrm>
            <a:off x="1078992" y="2011680"/>
            <a:ext cx="3035808" cy="530352"/>
          </a:xfrm>
          <a:prstGeom prst="rect">
            <a:avLst/>
          </a:prstGeom>
          <a:noFill/>
          <a:ln/>
        </p:spPr>
        <p:txBody>
          <a:bodyPr wrap="square" lIns="0" tIns="0" rIns="0" bIns="0" rtlCol="0" anchor="ctr"/>
          <a:lstStyle/>
          <a:p>
            <a:pPr algn="l" indent="0" marL="0">
              <a:buNone/>
            </a:pPr>
            <a:r>
              <a:rPr lang="en-US" sz="1500" b="1" spc="100" kern="0" dirty="0">
                <a:solidFill>
                  <a:schemeClr val="bg1"/>
                </a:solidFill>
              </a:rPr>
              <a:t>FICHE TECHNIQUE</a:t>
            </a:r>
            <a:endParaRPr lang="en-US" sz="1500" dirty="0"/>
          </a:p>
        </p:txBody>
      </p:sp>
      <p:sp>
        <p:nvSpPr>
          <p:cNvPr id="12" name="Text 8"/>
          <p:cNvSpPr txBox="1"/>
          <p:nvPr/>
        </p:nvSpPr>
        <p:spPr>
          <a:xfrm>
            <a:off x="777240" y="2697480"/>
            <a:ext cx="3337560" cy="3474720"/>
          </a:xfrm>
          <a:prstGeom prst="rect">
            <a:avLst/>
          </a:prstGeom>
          <a:noFill/>
          <a:ln/>
        </p:spPr>
        <p:txBody>
          <a:bodyPr wrap="square" lIns="0" tIns="0" rIns="0" bIns="0" rtlCol="0" anchor="t"/>
          <a:lstStyle/>
          <a:p>
            <a:pPr algn="l" marL="177800" indent="-177800">
              <a:spcAft>
                <a:spcPts val="400"/>
              </a:spcAft>
              <a:buSzPct val="100000"/>
              <a:buChar char="•"/>
            </a:pPr>
            <a:r>
              <a:rPr lang="en-US" sz="1700" i="1" dirty="0">
                <a:solidFill>
                  <a:schemeClr val="tx1"/>
                </a:solidFill>
              </a:rPr>
              <a:t>rijhuis · Sint-Gillis</a:t>
            </a:r>
            <a:endParaRPr lang="en-US" sz="1700" dirty="0"/>
          </a:p>
          <a:p>
            <a:pPr algn="l" marL="177800" indent="-177800">
              <a:spcAft>
                <a:spcPts val="400"/>
              </a:spcAft>
              <a:buSzPct val="100000"/>
              <a:buChar char="•"/>
            </a:pPr>
            <a:r>
              <a:rPr lang="en-US" sz="1700" i="1" dirty="0">
                <a:solidFill>
                  <a:schemeClr val="tx1"/>
                </a:solidFill>
              </a:rPr>
              <a:t>150 m² · 3 slpk.</a:t>
            </a:r>
            <a:endParaRPr lang="en-US" sz="1700" dirty="0"/>
          </a:p>
          <a:p>
            <a:pPr algn="l" marL="177800" indent="-177800">
              <a:spcAft>
                <a:spcPts val="400"/>
              </a:spcAft>
              <a:buSzPct val="100000"/>
              <a:buChar char="•"/>
            </a:pPr>
            <a:r>
              <a:rPr lang="en-US" sz="1700" i="1" dirty="0">
                <a:solidFill>
                  <a:schemeClr val="tx1"/>
                </a:solidFill>
              </a:rPr>
              <a:t>gerenoveerd in 2025</a:t>
            </a:r>
            <a:endParaRPr lang="en-US" sz="1700" dirty="0"/>
          </a:p>
          <a:p>
            <a:pPr algn="l" marL="177800" indent="-177800">
              <a:spcAft>
                <a:spcPts val="400"/>
              </a:spcAft>
              <a:buSzPct val="100000"/>
              <a:buChar char="•"/>
            </a:pPr>
            <a:r>
              <a:rPr lang="en-US" sz="1700" i="1" dirty="0">
                <a:solidFill>
                  <a:schemeClr val="tx1"/>
                </a:solidFill>
              </a:rPr>
              <a:t>stadstuin (zuiden)</a:t>
            </a:r>
            <a:endParaRPr lang="en-US" sz="1700" dirty="0"/>
          </a:p>
          <a:p>
            <a:pPr algn="l" marL="177800" indent="-177800">
              <a:spcAft>
                <a:spcPts val="400"/>
              </a:spcAft>
              <a:buSzPct val="100000"/>
              <a:buChar char="•"/>
            </a:pPr>
            <a:r>
              <a:rPr lang="en-US" sz="1700" i="1" dirty="0">
                <a:solidFill>
                  <a:schemeClr val="tx1"/>
                </a:solidFill>
              </a:rPr>
              <a:t>open keuken</a:t>
            </a:r>
            <a:endParaRPr lang="en-US" sz="1700" dirty="0"/>
          </a:p>
          <a:p>
            <a:pPr algn="l" marL="177800" indent="-177800">
              <a:spcAft>
                <a:spcPts val="400"/>
              </a:spcAft>
              <a:buSzPct val="100000"/>
              <a:buChar char="•"/>
            </a:pPr>
            <a:r>
              <a:rPr lang="en-US" sz="1700" i="1" dirty="0">
                <a:solidFill>
                  <a:schemeClr val="tx1"/>
                </a:solidFill>
              </a:rPr>
              <a:t>EPC B</a:t>
            </a:r>
            <a:endParaRPr lang="en-US" sz="1700" dirty="0"/>
          </a:p>
          <a:p>
            <a:pPr algn="l" marL="177800" indent="-177800">
              <a:spcAft>
                <a:spcPts val="400"/>
              </a:spcAft>
              <a:buSzPct val="100000"/>
              <a:buChar char="•"/>
            </a:pPr>
            <a:r>
              <a:rPr lang="en-US" sz="1700" i="1" dirty="0">
                <a:solidFill>
                  <a:schemeClr val="tx1"/>
                </a:solidFill>
              </a:rPr>
              <a:t>€ 425.000 · vrij bij akte</a:t>
            </a:r>
            <a:endParaRPr lang="en-US" sz="1700" dirty="0"/>
          </a:p>
        </p:txBody>
      </p:sp>
      <p:sp>
        <p:nvSpPr>
          <p:cNvPr id="13" name="Shape 9"/>
          <p:cNvSpPr/>
          <p:nvPr/>
        </p:nvSpPr>
        <p:spPr>
          <a:xfrm>
            <a:off x="4526280" y="2011680"/>
            <a:ext cx="4160520" cy="4251960"/>
          </a:xfrm>
          <a:prstGeom prst="roundRect">
            <a:avLst>
              <a:gd name="adj" fmla="val 2198"/>
            </a:avLst>
          </a:prstGeom>
          <a:solidFill>
            <a:schemeClr val="bg1"/>
          </a:solidFill>
          <a:ln w="12700">
            <a:solidFill>
              <a:srgbClr val="D5DCE6"/>
            </a:solidFill>
            <a:prstDash val="solid"/>
          </a:ln>
          <a:effectLst>
            <a:outerShdw sx="100000" sy="100000" kx="0" ky="0" algn="bl" rotWithShape="0" blurRad="101600" dist="25400" dir="3600000">
              <a:srgbClr val="000000">
                <a:alpha val="18000"/>
              </a:srgbClr>
            </a:outerShdw>
          </a:effectLst>
        </p:spPr>
      </p:sp>
      <p:sp>
        <p:nvSpPr>
          <p:cNvPr id="14" name="Shape 10"/>
          <p:cNvSpPr/>
          <p:nvPr/>
        </p:nvSpPr>
        <p:spPr>
          <a:xfrm>
            <a:off x="4526280" y="2011680"/>
            <a:ext cx="4160520" cy="530352"/>
          </a:xfrm>
          <a:prstGeom prst="roundRect">
            <a:avLst>
              <a:gd name="adj" fmla="val 17241"/>
            </a:avLst>
          </a:prstGeom>
          <a:solidFill>
            <a:schemeClr val="tx2"/>
          </a:solidFill>
          <a:ln/>
        </p:spPr>
      </p:sp>
      <p:sp>
        <p:nvSpPr>
          <p:cNvPr id="15" name="Shape 11"/>
          <p:cNvSpPr/>
          <p:nvPr/>
        </p:nvSpPr>
        <p:spPr>
          <a:xfrm>
            <a:off x="4526280" y="2359152"/>
            <a:ext cx="4160520" cy="182880"/>
          </a:xfrm>
          <a:prstGeom prst="rect">
            <a:avLst/>
          </a:prstGeom>
          <a:solidFill>
            <a:schemeClr val="tx2"/>
          </a:solidFill>
          <a:ln w="12700">
            <a:solidFill>
              <a:srgbClr val="17375E"/>
            </a:solidFill>
            <a:prstDash val="solid"/>
          </a:ln>
        </p:spPr>
      </p:sp>
      <p:pic>
        <p:nvPicPr>
          <p:cNvPr id="16" name="Image 1" descr="preencoded.png">    </p:cNvPr>
          <p:cNvPicPr>
            <a:picLocks noChangeAspect="1"/>
          </p:cNvPicPr>
          <p:nvPr/>
        </p:nvPicPr>
        <p:blipFill>
          <a:blip r:embed="rId2"/>
          <a:stretch>
            <a:fillRect/>
          </a:stretch>
        </p:blipFill>
        <p:spPr>
          <a:xfrm>
            <a:off x="4690872" y="2139696"/>
            <a:ext cx="274320" cy="274320"/>
          </a:xfrm>
          <a:prstGeom prst="rect">
            <a:avLst/>
          </a:prstGeom>
        </p:spPr>
      </p:pic>
      <p:sp>
        <p:nvSpPr>
          <p:cNvPr id="17" name="Text 12"/>
          <p:cNvSpPr txBox="1"/>
          <p:nvPr/>
        </p:nvSpPr>
        <p:spPr>
          <a:xfrm>
            <a:off x="5056632" y="2011680"/>
            <a:ext cx="3447288" cy="530352"/>
          </a:xfrm>
          <a:prstGeom prst="rect">
            <a:avLst/>
          </a:prstGeom>
          <a:noFill/>
          <a:ln/>
        </p:spPr>
        <p:txBody>
          <a:bodyPr wrap="square" lIns="0" tIns="0" rIns="0" bIns="0" rtlCol="0" anchor="ctr"/>
          <a:lstStyle/>
          <a:p>
            <a:pPr algn="l" indent="0" marL="0">
              <a:buNone/>
            </a:pPr>
            <a:r>
              <a:rPr lang="en-US" sz="1500" b="1" spc="100" kern="0" dirty="0">
                <a:solidFill>
                  <a:schemeClr val="bg1"/>
                </a:solidFill>
              </a:rPr>
              <a:t>VOTRE ANNONCE</a:t>
            </a:r>
            <a:endParaRPr lang="en-US" sz="1500" dirty="0"/>
          </a:p>
        </p:txBody>
      </p:sp>
      <p:sp>
        <p:nvSpPr>
          <p:cNvPr id="18" name="Shape 13"/>
          <p:cNvSpPr/>
          <p:nvPr/>
        </p:nvSpPr>
        <p:spPr>
          <a:xfrm>
            <a:off x="4754880" y="2770632"/>
            <a:ext cx="420624" cy="420624"/>
          </a:xfrm>
          <a:prstGeom prst="ellipse">
            <a:avLst/>
          </a:prstGeom>
          <a:solidFill>
            <a:schemeClr val="tx2"/>
          </a:solidFill>
          <a:ln/>
        </p:spPr>
      </p:sp>
      <p:sp>
        <p:nvSpPr>
          <p:cNvPr id="19" name="Text 14"/>
          <p:cNvSpPr txBox="1"/>
          <p:nvPr/>
        </p:nvSpPr>
        <p:spPr>
          <a:xfrm>
            <a:off x="4754880" y="2770632"/>
            <a:ext cx="420624" cy="420624"/>
          </a:xfrm>
          <a:prstGeom prst="rect">
            <a:avLst/>
          </a:prstGeom>
          <a:noFill/>
          <a:ln/>
        </p:spPr>
        <p:txBody>
          <a:bodyPr wrap="square" lIns="0" tIns="0" rIns="0" bIns="0" rtlCol="0" anchor="ctr"/>
          <a:lstStyle/>
          <a:p>
            <a:pPr algn="ctr" indent="0" marL="0">
              <a:buNone/>
            </a:pPr>
            <a:r>
              <a:rPr lang="en-US" sz="1500" b="1" dirty="0">
                <a:solidFill>
                  <a:schemeClr val="bg1"/>
                </a:solidFill>
              </a:rPr>
              <a:t>1</a:t>
            </a:r>
            <a:endParaRPr lang="en-US" sz="1500" dirty="0"/>
          </a:p>
        </p:txBody>
      </p:sp>
      <p:sp>
        <p:nvSpPr>
          <p:cNvPr id="20" name="Text 15"/>
          <p:cNvSpPr txBox="1"/>
          <p:nvPr/>
        </p:nvSpPr>
        <p:spPr>
          <a:xfrm>
            <a:off x="5303520" y="2697480"/>
            <a:ext cx="3246120" cy="566928"/>
          </a:xfrm>
          <a:prstGeom prst="rect">
            <a:avLst/>
          </a:prstGeom>
          <a:noFill/>
          <a:ln/>
        </p:spPr>
        <p:txBody>
          <a:bodyPr wrap="square" lIns="0" tIns="0" rIns="0" bIns="0" rtlCol="0" anchor="ctr"/>
          <a:lstStyle/>
          <a:p>
            <a:pPr algn="l" indent="0" marL="0">
              <a:buNone/>
            </a:pPr>
            <a:r>
              <a:rPr lang="en-US" sz="1600" b="1" dirty="0">
                <a:solidFill>
                  <a:schemeClr val="tx1"/>
                </a:solidFill>
              </a:rPr>
              <a:t>Titre</a:t>
            </a:r>
            <a:r>
              <a:rPr lang="en-US" sz="1600" dirty="0">
                <a:solidFill>
                  <a:schemeClr val="tx1"/>
                </a:solidFill>
              </a:rPr>
              <a:t> : </a:t>
            </a:r>
            <a:r>
              <a:rPr lang="en-US" sz="1600" i="1" dirty="0">
                <a:solidFill>
                  <a:schemeClr val="tx1"/>
                </a:solidFill>
              </a:rPr>
              <a:t>TE KOOP — Sint-Gillis · rijhuis…</a:t>
            </a:r>
            <a:endParaRPr lang="en-US" sz="1600" dirty="0"/>
          </a:p>
        </p:txBody>
      </p:sp>
      <p:sp>
        <p:nvSpPr>
          <p:cNvPr id="21" name="Shape 16"/>
          <p:cNvSpPr/>
          <p:nvPr/>
        </p:nvSpPr>
        <p:spPr>
          <a:xfrm>
            <a:off x="4754880" y="3483864"/>
            <a:ext cx="420624" cy="420624"/>
          </a:xfrm>
          <a:prstGeom prst="ellipse">
            <a:avLst/>
          </a:prstGeom>
          <a:solidFill>
            <a:schemeClr val="tx2"/>
          </a:solidFill>
          <a:ln/>
        </p:spPr>
      </p:sp>
      <p:sp>
        <p:nvSpPr>
          <p:cNvPr id="22" name="Text 17"/>
          <p:cNvSpPr txBox="1"/>
          <p:nvPr/>
        </p:nvSpPr>
        <p:spPr>
          <a:xfrm>
            <a:off x="4754880" y="3483864"/>
            <a:ext cx="420624" cy="420624"/>
          </a:xfrm>
          <a:prstGeom prst="rect">
            <a:avLst/>
          </a:prstGeom>
          <a:noFill/>
          <a:ln/>
        </p:spPr>
        <p:txBody>
          <a:bodyPr wrap="square" lIns="0" tIns="0" rIns="0" bIns="0" rtlCol="0" anchor="ctr"/>
          <a:lstStyle/>
          <a:p>
            <a:pPr algn="ctr" indent="0" marL="0">
              <a:buNone/>
            </a:pPr>
            <a:r>
              <a:rPr lang="en-US" sz="1500" b="1" dirty="0">
                <a:solidFill>
                  <a:schemeClr val="bg1"/>
                </a:solidFill>
              </a:rPr>
              <a:t>2</a:t>
            </a:r>
            <a:endParaRPr lang="en-US" sz="1500" dirty="0"/>
          </a:p>
        </p:txBody>
      </p:sp>
      <p:sp>
        <p:nvSpPr>
          <p:cNvPr id="23" name="Text 18"/>
          <p:cNvSpPr txBox="1"/>
          <p:nvPr/>
        </p:nvSpPr>
        <p:spPr>
          <a:xfrm>
            <a:off x="5303520" y="3410712"/>
            <a:ext cx="3246120" cy="566928"/>
          </a:xfrm>
          <a:prstGeom prst="rect">
            <a:avLst/>
          </a:prstGeom>
          <a:noFill/>
          <a:ln/>
        </p:spPr>
        <p:txBody>
          <a:bodyPr wrap="square" lIns="0" tIns="0" rIns="0" bIns="0" rtlCol="0" anchor="ctr"/>
          <a:lstStyle/>
          <a:p>
            <a:pPr algn="l" indent="0" marL="0">
              <a:buNone/>
            </a:pPr>
            <a:r>
              <a:rPr lang="en-US" sz="1600" dirty="0">
                <a:solidFill>
                  <a:schemeClr val="tx1"/>
                </a:solidFill>
              </a:rPr>
              <a:t>au moins </a:t>
            </a:r>
            <a:r>
              <a:rPr lang="en-US" sz="1600" b="1" dirty="0">
                <a:solidFill>
                  <a:schemeClr val="tx1"/>
                </a:solidFill>
              </a:rPr>
              <a:t>3 relatives</a:t>
            </a:r>
            <a:r>
              <a:rPr lang="en-US" sz="1600" dirty="0">
                <a:solidFill>
                  <a:schemeClr val="tx1"/>
                </a:solidFill>
              </a:rPr>
              <a:t> (</a:t>
            </a:r>
            <a:r>
              <a:rPr lang="en-US" sz="1600" b="1" dirty="0">
                <a:solidFill>
                  <a:schemeClr val="accent2"/>
                </a:solidFill>
              </a:rPr>
              <a:t>die</a:t>
            </a:r>
            <a:r>
              <a:rPr lang="en-US" sz="1600" dirty="0">
                <a:solidFill>
                  <a:schemeClr val="tx1"/>
                </a:solidFill>
              </a:rPr>
              <a:t> / </a:t>
            </a:r>
            <a:r>
              <a:rPr lang="en-US" sz="1600" b="1" dirty="0">
                <a:solidFill>
                  <a:schemeClr val="accent4"/>
                </a:solidFill>
              </a:rPr>
              <a:t>dat</a:t>
            </a:r>
            <a:r>
              <a:rPr lang="en-US" sz="1600" dirty="0">
                <a:solidFill>
                  <a:schemeClr val="tx1"/>
                </a:solidFill>
              </a:rPr>
              <a:t>)</a:t>
            </a:r>
            <a:endParaRPr lang="en-US" sz="1600" dirty="0"/>
          </a:p>
        </p:txBody>
      </p:sp>
      <p:sp>
        <p:nvSpPr>
          <p:cNvPr id="24" name="Shape 19"/>
          <p:cNvSpPr/>
          <p:nvPr/>
        </p:nvSpPr>
        <p:spPr>
          <a:xfrm>
            <a:off x="4754880" y="4197096"/>
            <a:ext cx="420624" cy="420624"/>
          </a:xfrm>
          <a:prstGeom prst="ellipse">
            <a:avLst/>
          </a:prstGeom>
          <a:solidFill>
            <a:schemeClr val="tx2"/>
          </a:solidFill>
          <a:ln/>
        </p:spPr>
      </p:sp>
      <p:sp>
        <p:nvSpPr>
          <p:cNvPr id="25" name="Text 20"/>
          <p:cNvSpPr txBox="1"/>
          <p:nvPr/>
        </p:nvSpPr>
        <p:spPr>
          <a:xfrm>
            <a:off x="4754880" y="4197096"/>
            <a:ext cx="420624" cy="420624"/>
          </a:xfrm>
          <a:prstGeom prst="rect">
            <a:avLst/>
          </a:prstGeom>
          <a:noFill/>
          <a:ln/>
        </p:spPr>
        <p:txBody>
          <a:bodyPr wrap="square" lIns="0" tIns="0" rIns="0" bIns="0" rtlCol="0" anchor="ctr"/>
          <a:lstStyle/>
          <a:p>
            <a:pPr algn="ctr" indent="0" marL="0">
              <a:buNone/>
            </a:pPr>
            <a:r>
              <a:rPr lang="en-US" sz="1500" b="1" dirty="0">
                <a:solidFill>
                  <a:schemeClr val="bg1"/>
                </a:solidFill>
              </a:rPr>
              <a:t>3</a:t>
            </a:r>
            <a:endParaRPr lang="en-US" sz="1500" dirty="0"/>
          </a:p>
        </p:txBody>
      </p:sp>
      <p:sp>
        <p:nvSpPr>
          <p:cNvPr id="26" name="Text 21"/>
          <p:cNvSpPr txBox="1"/>
          <p:nvPr/>
        </p:nvSpPr>
        <p:spPr>
          <a:xfrm>
            <a:off x="5303520" y="4123944"/>
            <a:ext cx="3246120" cy="566928"/>
          </a:xfrm>
          <a:prstGeom prst="rect">
            <a:avLst/>
          </a:prstGeom>
          <a:noFill/>
          <a:ln/>
        </p:spPr>
        <p:txBody>
          <a:bodyPr wrap="square" lIns="0" tIns="0" rIns="0" bIns="0" rtlCol="0" anchor="ctr"/>
          <a:lstStyle/>
          <a:p>
            <a:pPr algn="l" indent="0" marL="0">
              <a:buNone/>
            </a:pPr>
            <a:r>
              <a:rPr lang="en-US" sz="1600" b="1" dirty="0">
                <a:solidFill>
                  <a:schemeClr val="tx1"/>
                </a:solidFill>
              </a:rPr>
              <a:t>2 abréviations</a:t>
            </a:r>
            <a:r>
              <a:rPr lang="en-US" sz="1600" dirty="0">
                <a:solidFill>
                  <a:schemeClr val="tx1"/>
                </a:solidFill>
              </a:rPr>
              <a:t> du métier (slpk., EPC…)</a:t>
            </a:r>
            <a:endParaRPr lang="en-US" sz="1600" dirty="0"/>
          </a:p>
        </p:txBody>
      </p:sp>
      <p:sp>
        <p:nvSpPr>
          <p:cNvPr id="27" name="Shape 22"/>
          <p:cNvSpPr/>
          <p:nvPr/>
        </p:nvSpPr>
        <p:spPr>
          <a:xfrm>
            <a:off x="4754880" y="4910328"/>
            <a:ext cx="420624" cy="420624"/>
          </a:xfrm>
          <a:prstGeom prst="ellipse">
            <a:avLst/>
          </a:prstGeom>
          <a:solidFill>
            <a:schemeClr val="tx2"/>
          </a:solidFill>
          <a:ln/>
        </p:spPr>
      </p:sp>
      <p:sp>
        <p:nvSpPr>
          <p:cNvPr id="28" name="Text 23"/>
          <p:cNvSpPr txBox="1"/>
          <p:nvPr/>
        </p:nvSpPr>
        <p:spPr>
          <a:xfrm>
            <a:off x="4754880" y="4910328"/>
            <a:ext cx="420624" cy="420624"/>
          </a:xfrm>
          <a:prstGeom prst="rect">
            <a:avLst/>
          </a:prstGeom>
          <a:noFill/>
          <a:ln/>
        </p:spPr>
        <p:txBody>
          <a:bodyPr wrap="square" lIns="0" tIns="0" rIns="0" bIns="0" rtlCol="0" anchor="ctr"/>
          <a:lstStyle/>
          <a:p>
            <a:pPr algn="ctr" indent="0" marL="0">
              <a:buNone/>
            </a:pPr>
            <a:r>
              <a:rPr lang="en-US" sz="1500" b="1" dirty="0">
                <a:solidFill>
                  <a:schemeClr val="bg1"/>
                </a:solidFill>
              </a:rPr>
              <a:t>4</a:t>
            </a:r>
            <a:endParaRPr lang="en-US" sz="1500" dirty="0"/>
          </a:p>
        </p:txBody>
      </p:sp>
      <p:sp>
        <p:nvSpPr>
          <p:cNvPr id="29" name="Text 24"/>
          <p:cNvSpPr txBox="1"/>
          <p:nvPr/>
        </p:nvSpPr>
        <p:spPr>
          <a:xfrm>
            <a:off x="5303520" y="4837176"/>
            <a:ext cx="3246120" cy="566928"/>
          </a:xfrm>
          <a:prstGeom prst="rect">
            <a:avLst/>
          </a:prstGeom>
          <a:noFill/>
          <a:ln/>
        </p:spPr>
        <p:txBody>
          <a:bodyPr wrap="square" lIns="0" tIns="0" rIns="0" bIns="0" rtlCol="0" anchor="ctr"/>
          <a:lstStyle/>
          <a:p>
            <a:pPr algn="l" indent="0" marL="0">
              <a:buNone/>
            </a:pPr>
            <a:r>
              <a:rPr lang="en-US" sz="1600" b="1" dirty="0">
                <a:solidFill>
                  <a:schemeClr val="tx1"/>
                </a:solidFill>
              </a:rPr>
              <a:t>prix</a:t>
            </a:r>
            <a:r>
              <a:rPr lang="en-US" sz="1600" dirty="0">
                <a:solidFill>
                  <a:schemeClr val="tx1"/>
                </a:solidFill>
              </a:rPr>
              <a:t> et disponibilité</a:t>
            </a:r>
            <a:endParaRPr lang="en-US" sz="1600" dirty="0"/>
          </a:p>
        </p:txBody>
      </p:sp>
      <p:sp>
        <p:nvSpPr>
          <p:cNvPr id="30" name="Text 25"/>
          <p:cNvSpPr txBox="1"/>
          <p:nvPr/>
        </p:nvSpPr>
        <p:spPr>
          <a:xfrm>
            <a:off x="4754880" y="5596128"/>
            <a:ext cx="3794760" cy="548640"/>
          </a:xfrm>
          <a:prstGeom prst="rect">
            <a:avLst/>
          </a:prstGeom>
          <a:noFill/>
          <a:ln/>
        </p:spPr>
        <p:txBody>
          <a:bodyPr wrap="square" lIns="0" tIns="0" rIns="0" bIns="0" rtlCol="0" anchor="ctr"/>
          <a:lstStyle/>
          <a:p>
            <a:pPr algn="l" indent="0" marL="0">
              <a:buNone/>
            </a:pPr>
            <a:r>
              <a:rPr lang="en-US" sz="1450" b="1" dirty="0">
                <a:solidFill>
                  <a:schemeClr val="accent6"/>
                </a:solidFill>
              </a:rPr>
              <a:t>Interdit</a:t>
            </a:r>
            <a:r>
              <a:rPr lang="en-US" sz="1450" dirty="0">
                <a:solidFill>
                  <a:schemeClr val="tx1"/>
                </a:solidFill>
              </a:rPr>
              <a:t> : les phrases courtes juxtaposées du palier 1. </a:t>
            </a:r>
            <a:r>
              <a:rPr lang="en-US" sz="1450" b="1" dirty="0">
                <a:solidFill>
                  <a:schemeClr val="tx1"/>
                </a:solidFill>
              </a:rPr>
              <a:t>Reliez !</a:t>
            </a:r>
            <a:endParaRPr lang="en-US" sz="1450" dirty="0"/>
          </a:p>
        </p:txBody>
      </p:sp>
      <p:pic>
        <p:nvPicPr>
          <p:cNvPr id="31" name="illustration" descr="Le rijhuis de Sint-Gillis">    </p:cNvPr>
          <p:cNvPicPr>
            <a:picLocks noChangeAspect="1"/>
          </p:cNvPicPr>
          <p:nvPr/>
        </p:nvPicPr>
        <p:blipFill>
          <a:blip r:embed="rId3"/>
          <a:stretch>
            <a:fillRect/>
          </a:stretch>
        </p:blipFill>
        <p:spPr>
          <a:xfrm>
            <a:off x="8915400" y="2011680"/>
            <a:ext cx="2724912" cy="4090261"/>
          </a:xfrm>
          <a:prstGeom prst="rect">
            <a:avLst/>
          </a:prstGeom>
          <a:effectLst>
            <a:outerShdw sx="100000" sy="100000" kx="0" ky="0" algn="bl" rotWithShape="0" blurRad="101600" dist="25400" dir="3600000">
              <a:srgbClr val="000000">
                <a:alpha val="18000"/>
              </a:srgbClr>
            </a:outerShdw>
          </a:effectLst>
        </p:spPr>
      </p:pic>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200" b="1" dirty="0">
                <a:solidFill>
                  <a:schemeClr val="tx2"/>
                </a:solidFill>
              </a:rPr>
              <a:t>TAAK 2 — Un zoekertje réussi (modèle)</a:t>
            </a:r>
            <a:endParaRPr lang="en-US" sz="3200" dirty="0"/>
          </a:p>
        </p:txBody>
      </p:sp>
      <p:sp>
        <p:nvSpPr>
          <p:cNvPr id="3" name="tag"/>
          <p:cNvSpPr/>
          <p:nvPr/>
        </p:nvSpPr>
        <p:spPr>
          <a:xfrm>
            <a:off x="548640" y="237744"/>
            <a:ext cx="1074420" cy="310896"/>
          </a:xfrm>
          <a:prstGeom prst="roundRect">
            <a:avLst>
              <a:gd name="adj" fmla="val 14706"/>
            </a:avLst>
          </a:prstGeom>
          <a:solidFill>
            <a:schemeClr val="accent1"/>
          </a:solidFill>
          <a:ln/>
        </p:spPr>
        <p:txBody>
          <a:bodyPr wrap="square" lIns="0" tIns="0" rIns="0" bIns="0" rtlCol="0" anchor="ctr"/>
          <a:lstStyle/>
          <a:p>
            <a:pPr algn="ctr" indent="0" marL="0">
              <a:buNone/>
            </a:pPr>
            <a:r>
              <a:rPr lang="en-US" sz="1200" b="1" spc="100" kern="0" dirty="0">
                <a:solidFill>
                  <a:schemeClr val="bg1"/>
                </a:solidFill>
              </a:rPr>
              <a:t>ÉCRIT</a:t>
            </a:r>
            <a:endParaRPr lang="en-US" sz="1200" dirty="0"/>
          </a:p>
        </p:txBody>
      </p:sp>
      <p:sp>
        <p:nvSpPr>
          <p:cNvPr id="4" name="Text 2"/>
          <p:cNvSpPr txBox="1"/>
          <p:nvPr/>
        </p:nvSpPr>
        <p:spPr>
          <a:xfrm>
            <a:off x="8897112" y="219456"/>
            <a:ext cx="2743200" cy="347472"/>
          </a:xfrm>
          <a:prstGeom prst="rect">
            <a:avLst/>
          </a:prstGeom>
          <a:noFill/>
          <a:ln/>
        </p:spPr>
        <p:txBody>
          <a:bodyPr wrap="square" lIns="0" tIns="0" rIns="0" bIns="0" rtlCol="0" anchor="ctr"/>
          <a:lstStyle/>
          <a:p>
            <a:pPr algn="r" indent="0" marL="0">
              <a:buNone/>
            </a:pPr>
            <a:r>
              <a:rPr lang="en-US" sz="1200" i="1" dirty="0">
                <a:solidFill>
                  <a:schemeClr val="accent5"/>
                </a:solidFill>
              </a:rPr>
              <a:t>Livret p. 10</a:t>
            </a:r>
            <a:endParaRPr lang="en-US" sz="1200" dirty="0"/>
          </a:p>
        </p:txBody>
      </p:sp>
      <p:sp>
        <p:nvSpPr>
          <p:cNvPr id="6" name="Shape 3"/>
          <p:cNvSpPr/>
          <p:nvPr/>
        </p:nvSpPr>
        <p:spPr>
          <a:xfrm>
            <a:off x="548640" y="1481328"/>
            <a:ext cx="6903720" cy="4809744"/>
          </a:xfrm>
          <a:prstGeom prst="roundRect">
            <a:avLst>
              <a:gd name="adj" fmla="val 1901"/>
            </a:avLst>
          </a:prstGeom>
          <a:solidFill>
            <a:schemeClr val="bg1"/>
          </a:solidFill>
          <a:ln w="12700">
            <a:solidFill>
              <a:srgbClr val="D5DCE6"/>
            </a:solidFill>
            <a:prstDash val="solid"/>
          </a:ln>
          <a:effectLst>
            <a:outerShdw sx="100000" sy="100000" kx="0" ky="0" algn="bl" rotWithShape="0" blurRad="101600" dist="25400" dir="3600000">
              <a:srgbClr val="000000">
                <a:alpha val="18000"/>
              </a:srgbClr>
            </a:outerShdw>
          </a:effectLst>
        </p:spPr>
      </p:sp>
      <p:sp>
        <p:nvSpPr>
          <p:cNvPr id="7" name="Shape 4"/>
          <p:cNvSpPr/>
          <p:nvPr/>
        </p:nvSpPr>
        <p:spPr>
          <a:xfrm>
            <a:off x="548640" y="1481328"/>
            <a:ext cx="6903720" cy="566928"/>
          </a:xfrm>
          <a:prstGeom prst="roundRect">
            <a:avLst>
              <a:gd name="adj" fmla="val 16129"/>
            </a:avLst>
          </a:prstGeom>
          <a:solidFill>
            <a:schemeClr val="accent1"/>
          </a:solidFill>
          <a:ln/>
        </p:spPr>
      </p:sp>
      <p:sp>
        <p:nvSpPr>
          <p:cNvPr id="8" name="Shape 5"/>
          <p:cNvSpPr/>
          <p:nvPr/>
        </p:nvSpPr>
        <p:spPr>
          <a:xfrm>
            <a:off x="548640" y="1865376"/>
            <a:ext cx="6903720" cy="182880"/>
          </a:xfrm>
          <a:prstGeom prst="rect">
            <a:avLst/>
          </a:prstGeom>
          <a:solidFill>
            <a:schemeClr val="accent1"/>
          </a:solidFill>
          <a:ln w="12700">
            <a:solidFill>
              <a:srgbClr val="D9700F"/>
            </a:solidFill>
            <a:prstDash val="solid"/>
          </a:ln>
        </p:spPr>
      </p:sp>
      <p:sp>
        <p:nvSpPr>
          <p:cNvPr id="9" name="Text 6"/>
          <p:cNvSpPr txBox="1"/>
          <p:nvPr/>
        </p:nvSpPr>
        <p:spPr>
          <a:xfrm>
            <a:off x="777240" y="1481328"/>
            <a:ext cx="6492240" cy="566928"/>
          </a:xfrm>
          <a:prstGeom prst="rect">
            <a:avLst/>
          </a:prstGeom>
          <a:noFill/>
          <a:ln/>
        </p:spPr>
        <p:txBody>
          <a:bodyPr wrap="square" lIns="0" tIns="0" rIns="0" bIns="0" rtlCol="0" anchor="ctr"/>
          <a:lstStyle/>
          <a:p>
            <a:pPr algn="l" indent="0" marL="0">
              <a:buNone/>
            </a:pPr>
            <a:r>
              <a:rPr lang="en-US" sz="1600" b="1" dirty="0">
                <a:solidFill>
                  <a:schemeClr val="bg1"/>
                </a:solidFill>
              </a:rPr>
              <a:t>TE KOOP — Sint-Gillis · Rijhuis 150 m² · 3 slpk. · EPC B</a:t>
            </a:r>
            <a:endParaRPr lang="en-US" sz="1600" dirty="0"/>
          </a:p>
        </p:txBody>
      </p:sp>
      <p:sp>
        <p:nvSpPr>
          <p:cNvPr id="10" name="Text 7"/>
          <p:cNvSpPr txBox="1"/>
          <p:nvPr/>
        </p:nvSpPr>
        <p:spPr>
          <a:xfrm>
            <a:off x="822960" y="2240280"/>
            <a:ext cx="6400800" cy="3383280"/>
          </a:xfrm>
          <a:prstGeom prst="rect">
            <a:avLst/>
          </a:prstGeom>
          <a:noFill/>
          <a:ln/>
        </p:spPr>
        <p:txBody>
          <a:bodyPr wrap="square" lIns="0" tIns="0" rIns="0" bIns="0" rtlCol="0" anchor="t"/>
          <a:lstStyle/>
          <a:p>
            <a:pPr algn="l" indent="0" marL="0">
              <a:spcAft>
                <a:spcPts val="1400"/>
              </a:spcAft>
              <a:buNone/>
            </a:pPr>
            <a:r>
              <a:rPr lang="en-US" sz="2100" dirty="0">
                <a:solidFill>
                  <a:schemeClr val="tx1"/>
                </a:solidFill>
              </a:rPr>
              <a:t>Rijhuis </a:t>
            </a:r>
            <a:r>
              <a:rPr lang="en-US" sz="2100" b="1" dirty="0">
                <a:solidFill>
                  <a:schemeClr val="accent4"/>
                </a:solidFill>
              </a:rPr>
              <a:t>dat</a:t>
            </a:r>
            <a:r>
              <a:rPr lang="en-US" sz="2100" dirty="0">
                <a:solidFill>
                  <a:schemeClr val="tx1"/>
                </a:solidFill>
              </a:rPr>
              <a:t> in 2025 volledig gerenoveerd </a:t>
            </a:r>
            <a:r>
              <a:rPr lang="en-US" sz="2100" b="1" dirty="0">
                <a:solidFill>
                  <a:schemeClr val="accent6"/>
                </a:solidFill>
              </a:rPr>
              <a:t>werd</a:t>
            </a:r>
            <a:r>
              <a:rPr lang="en-US" sz="2100" dirty="0">
                <a:solidFill>
                  <a:schemeClr val="tx1"/>
                </a:solidFill>
              </a:rPr>
              <a:t>. Het heeft drie slaapkamers, een open keuken </a:t>
            </a:r>
            <a:r>
              <a:rPr lang="en-US" sz="2100" b="1" dirty="0">
                <a:solidFill>
                  <a:schemeClr val="accent2"/>
                </a:solidFill>
              </a:rPr>
              <a:t>die</a:t>
            </a:r>
            <a:r>
              <a:rPr lang="en-US" sz="2100" dirty="0">
                <a:solidFill>
                  <a:schemeClr val="tx1"/>
                </a:solidFill>
              </a:rPr>
              <a:t> </a:t>
            </a:r>
            <a:r>
              <a:rPr lang="en-US" sz="2100" b="1" dirty="0">
                <a:solidFill>
                  <a:schemeClr val="accent6"/>
                </a:solidFill>
              </a:rPr>
              <a:t>aansluit</a:t>
            </a:r>
            <a:r>
              <a:rPr lang="en-US" sz="2100" dirty="0">
                <a:solidFill>
                  <a:schemeClr val="tx1"/>
                </a:solidFill>
              </a:rPr>
              <a:t> op de woonkamer en een stadstuin </a:t>
            </a:r>
            <a:r>
              <a:rPr lang="en-US" sz="2100" b="1" dirty="0">
                <a:solidFill>
                  <a:schemeClr val="accent2"/>
                </a:solidFill>
              </a:rPr>
              <a:t>die</a:t>
            </a:r>
            <a:r>
              <a:rPr lang="en-US" sz="2100" dirty="0">
                <a:solidFill>
                  <a:schemeClr val="tx1"/>
                </a:solidFill>
              </a:rPr>
              <a:t> op het zuiden </a:t>
            </a:r>
            <a:r>
              <a:rPr lang="en-US" sz="2100" b="1" dirty="0">
                <a:solidFill>
                  <a:schemeClr val="accent6"/>
                </a:solidFill>
              </a:rPr>
              <a:t>ligt</a:t>
            </a:r>
            <a:r>
              <a:rPr lang="en-US" sz="2100" dirty="0">
                <a:solidFill>
                  <a:schemeClr val="tx1"/>
                </a:solidFill>
              </a:rPr>
              <a:t>. Een instapklare woning </a:t>
            </a:r>
            <a:r>
              <a:rPr lang="en-US" sz="2100" b="1" dirty="0">
                <a:solidFill>
                  <a:schemeClr val="accent2"/>
                </a:solidFill>
              </a:rPr>
              <a:t>die</a:t>
            </a:r>
            <a:r>
              <a:rPr lang="en-US" sz="2100" dirty="0">
                <a:solidFill>
                  <a:schemeClr val="tx1"/>
                </a:solidFill>
              </a:rPr>
              <a:t> energiezuinig </a:t>
            </a:r>
            <a:r>
              <a:rPr lang="en-US" sz="2100" b="1" dirty="0">
                <a:solidFill>
                  <a:schemeClr val="accent6"/>
                </a:solidFill>
              </a:rPr>
              <a:t>is</a:t>
            </a:r>
            <a:r>
              <a:rPr lang="en-US" sz="2100" dirty="0">
                <a:solidFill>
                  <a:schemeClr val="tx1"/>
                </a:solidFill>
              </a:rPr>
              <a:t>, ideaal voor een gezin </a:t>
            </a:r>
            <a:r>
              <a:rPr lang="en-US" sz="2100" b="1" dirty="0">
                <a:solidFill>
                  <a:schemeClr val="accent4"/>
                </a:solidFill>
              </a:rPr>
              <a:t>dat</a:t>
            </a:r>
            <a:r>
              <a:rPr lang="en-US" sz="2100" dirty="0">
                <a:solidFill>
                  <a:schemeClr val="tx1"/>
                </a:solidFill>
              </a:rPr>
              <a:t> rust en ruimte </a:t>
            </a:r>
            <a:r>
              <a:rPr lang="en-US" sz="2100" b="1" dirty="0">
                <a:solidFill>
                  <a:schemeClr val="accent6"/>
                </a:solidFill>
              </a:rPr>
              <a:t>zoekt</a:t>
            </a:r>
            <a:r>
              <a:rPr lang="en-US" sz="2100" dirty="0">
                <a:solidFill>
                  <a:schemeClr val="tx1"/>
                </a:solidFill>
              </a:rPr>
              <a:t>.</a:t>
            </a:r>
            <a:endParaRPr lang="en-US" sz="2100" dirty="0"/>
          </a:p>
          <a:p>
            <a:pPr algn="l" indent="0" marL="0">
              <a:spcAft>
                <a:spcPts val="1400"/>
              </a:spcAft>
              <a:buNone/>
            </a:pPr>
            <a:r>
              <a:rPr lang="en-US" sz="2100" b="1" dirty="0">
                <a:solidFill>
                  <a:schemeClr val="tx1"/>
                </a:solidFill>
              </a:rPr>
              <a:t>Vraagprijs: € 425.000.</a:t>
            </a:r>
            <a:r>
              <a:rPr lang="en-US" sz="2100" dirty="0">
                <a:solidFill>
                  <a:schemeClr val="tx1"/>
                </a:solidFill>
              </a:rPr>
              <a:t> Vrij bij akte. Bezichtigen kan op afspraak.</a:t>
            </a:r>
            <a:endParaRPr lang="en-US" sz="2100" dirty="0"/>
          </a:p>
        </p:txBody>
      </p:sp>
      <p:sp>
        <p:nvSpPr>
          <p:cNvPr id="11" name="Text 8"/>
          <p:cNvSpPr txBox="1"/>
          <p:nvPr/>
        </p:nvSpPr>
        <p:spPr>
          <a:xfrm>
            <a:off x="822960" y="5715000"/>
            <a:ext cx="6400800" cy="411480"/>
          </a:xfrm>
          <a:prstGeom prst="rect">
            <a:avLst/>
          </a:prstGeom>
          <a:noFill/>
          <a:ln/>
        </p:spPr>
        <p:txBody>
          <a:bodyPr wrap="square" lIns="0" tIns="0" rIns="0" bIns="0" rtlCol="0" anchor="ctr"/>
          <a:lstStyle/>
          <a:p>
            <a:pPr algn="l" indent="0" marL="0">
              <a:buNone/>
            </a:pPr>
            <a:r>
              <a:rPr lang="en-US" sz="1400" b="1" dirty="0">
                <a:solidFill>
                  <a:schemeClr val="accent2"/>
                </a:solidFill>
              </a:rPr>
              <a:t>die</a:t>
            </a:r>
            <a:r>
              <a:rPr lang="en-US" sz="1400" dirty="0">
                <a:solidFill>
                  <a:schemeClr val="accent5"/>
                </a:solidFill>
              </a:rPr>
              <a:t> = mot </a:t>
            </a:r>
            <a:r>
              <a:rPr lang="en-US" sz="1400" i="1" dirty="0">
                <a:solidFill>
                  <a:schemeClr val="accent5"/>
                </a:solidFill>
              </a:rPr>
              <a:t>de</a:t>
            </a:r>
            <a:r>
              <a:rPr lang="en-US" sz="1400" dirty="0">
                <a:solidFill>
                  <a:schemeClr val="accent5"/>
                </a:solidFill>
              </a:rPr>
              <a:t> · </a:t>
            </a:r>
            <a:r>
              <a:rPr lang="en-US" sz="1400" b="1" dirty="0">
                <a:solidFill>
                  <a:schemeClr val="accent4"/>
                </a:solidFill>
              </a:rPr>
              <a:t>dat</a:t>
            </a:r>
            <a:r>
              <a:rPr lang="en-US" sz="1400" dirty="0">
                <a:solidFill>
                  <a:schemeClr val="accent5"/>
                </a:solidFill>
              </a:rPr>
              <a:t> = mot </a:t>
            </a:r>
            <a:r>
              <a:rPr lang="en-US" sz="1400" i="1" dirty="0">
                <a:solidFill>
                  <a:schemeClr val="accent5"/>
                </a:solidFill>
              </a:rPr>
              <a:t>het</a:t>
            </a:r>
            <a:r>
              <a:rPr lang="en-US" sz="1400" dirty="0">
                <a:solidFill>
                  <a:schemeClr val="accent5"/>
                </a:solidFill>
              </a:rPr>
              <a:t> · </a:t>
            </a:r>
            <a:r>
              <a:rPr lang="en-US" sz="1400" b="1" dirty="0">
                <a:solidFill>
                  <a:schemeClr val="accent6"/>
                </a:solidFill>
              </a:rPr>
              <a:t>verbe</a:t>
            </a:r>
            <a:r>
              <a:rPr lang="en-US" sz="1400" dirty="0">
                <a:solidFill>
                  <a:schemeClr val="accent5"/>
                </a:solidFill>
              </a:rPr>
              <a:t> à la fin</a:t>
            </a:r>
            <a:endParaRPr lang="en-US" sz="1400" dirty="0"/>
          </a:p>
        </p:txBody>
      </p:sp>
      <p:sp>
        <p:nvSpPr>
          <p:cNvPr id="12" name="Shape 9"/>
          <p:cNvSpPr/>
          <p:nvPr/>
        </p:nvSpPr>
        <p:spPr>
          <a:xfrm>
            <a:off x="7726680" y="1481328"/>
            <a:ext cx="3913632" cy="4809744"/>
          </a:xfrm>
          <a:prstGeom prst="roundRect">
            <a:avLst>
              <a:gd name="adj" fmla="val 2336"/>
            </a:avLst>
          </a:prstGeom>
          <a:solidFill>
            <a:schemeClr val="bg1"/>
          </a:solidFill>
          <a:ln w="12700">
            <a:solidFill>
              <a:srgbClr val="D5DCE6"/>
            </a:solidFill>
            <a:prstDash val="solid"/>
          </a:ln>
          <a:effectLst>
            <a:outerShdw sx="100000" sy="100000" kx="0" ky="0" algn="bl" rotWithShape="0" blurRad="101600" dist="25400" dir="3600000">
              <a:srgbClr val="000000">
                <a:alpha val="18000"/>
              </a:srgbClr>
            </a:outerShdw>
          </a:effectLst>
        </p:spPr>
      </p:sp>
      <p:sp>
        <p:nvSpPr>
          <p:cNvPr id="13" name="Shape 10"/>
          <p:cNvSpPr/>
          <p:nvPr/>
        </p:nvSpPr>
        <p:spPr>
          <a:xfrm>
            <a:off x="7726680" y="1481328"/>
            <a:ext cx="3913632" cy="530352"/>
          </a:xfrm>
          <a:prstGeom prst="roundRect">
            <a:avLst>
              <a:gd name="adj" fmla="val 17241"/>
            </a:avLst>
          </a:prstGeom>
          <a:solidFill>
            <a:schemeClr val="accent3"/>
          </a:solidFill>
          <a:ln/>
        </p:spPr>
      </p:sp>
      <p:sp>
        <p:nvSpPr>
          <p:cNvPr id="14" name="Shape 11"/>
          <p:cNvSpPr/>
          <p:nvPr/>
        </p:nvSpPr>
        <p:spPr>
          <a:xfrm>
            <a:off x="7726680" y="1828800"/>
            <a:ext cx="3913632" cy="182880"/>
          </a:xfrm>
          <a:prstGeom prst="rect">
            <a:avLst/>
          </a:prstGeom>
          <a:solidFill>
            <a:schemeClr val="accent3"/>
          </a:solidFill>
          <a:ln w="12700">
            <a:solidFill>
              <a:srgbClr val="2E7D4F"/>
            </a:solidFill>
            <a:prstDash val="solid"/>
          </a:ln>
        </p:spPr>
      </p:sp>
      <p:pic>
        <p:nvPicPr>
          <p:cNvPr id="15" name="Image 0" descr="preencoded.png">    </p:cNvPr>
          <p:cNvPicPr>
            <a:picLocks noChangeAspect="1"/>
          </p:cNvPicPr>
          <p:nvPr/>
        </p:nvPicPr>
        <p:blipFill>
          <a:blip r:embed="rId1"/>
          <a:stretch>
            <a:fillRect/>
          </a:stretch>
        </p:blipFill>
        <p:spPr>
          <a:xfrm>
            <a:off x="7891272" y="1609344"/>
            <a:ext cx="274320" cy="274320"/>
          </a:xfrm>
          <a:prstGeom prst="rect">
            <a:avLst/>
          </a:prstGeom>
        </p:spPr>
      </p:pic>
      <p:sp>
        <p:nvSpPr>
          <p:cNvPr id="16" name="Text 12"/>
          <p:cNvSpPr txBox="1"/>
          <p:nvPr/>
        </p:nvSpPr>
        <p:spPr>
          <a:xfrm>
            <a:off x="8257032" y="1481328"/>
            <a:ext cx="3200400" cy="530352"/>
          </a:xfrm>
          <a:prstGeom prst="rect">
            <a:avLst/>
          </a:prstGeom>
          <a:noFill/>
          <a:ln/>
        </p:spPr>
        <p:txBody>
          <a:bodyPr wrap="square" lIns="0" tIns="0" rIns="0" bIns="0" rtlCol="0" anchor="ctr"/>
          <a:lstStyle/>
          <a:p>
            <a:pPr algn="l" indent="0" marL="0">
              <a:buNone/>
            </a:pPr>
            <a:r>
              <a:rPr lang="en-US" sz="1400" b="1" spc="100" kern="0" dirty="0">
                <a:solidFill>
                  <a:schemeClr val="bg1"/>
                </a:solidFill>
              </a:rPr>
              <a:t>LES 5 RELATIVES</a:t>
            </a:r>
            <a:endParaRPr lang="en-US" sz="1400" dirty="0"/>
          </a:p>
        </p:txBody>
      </p:sp>
      <p:sp>
        <p:nvSpPr>
          <p:cNvPr id="17" name="Text 13"/>
          <p:cNvSpPr txBox="1"/>
          <p:nvPr/>
        </p:nvSpPr>
        <p:spPr>
          <a:xfrm>
            <a:off x="7955280" y="2121408"/>
            <a:ext cx="3566160" cy="365760"/>
          </a:xfrm>
          <a:prstGeom prst="rect">
            <a:avLst/>
          </a:prstGeom>
          <a:noFill/>
          <a:ln/>
        </p:spPr>
        <p:txBody>
          <a:bodyPr wrap="square" lIns="0" tIns="0" rIns="0" bIns="0" rtlCol="0" anchor="ctr"/>
          <a:lstStyle/>
          <a:p>
            <a:pPr algn="l" indent="0" marL="0">
              <a:buNone/>
            </a:pPr>
            <a:r>
              <a:rPr lang="en-US" sz="1400" i="1" dirty="0">
                <a:solidFill>
                  <a:schemeClr val="accent5"/>
                </a:solidFill>
              </a:rPr>
              <a:t>Le nom décide du relatif :</a:t>
            </a:r>
            <a:endParaRPr lang="en-US" sz="1400" dirty="0"/>
          </a:p>
        </p:txBody>
      </p:sp>
      <p:sp>
        <p:nvSpPr>
          <p:cNvPr id="18" name="Shape 14"/>
          <p:cNvSpPr/>
          <p:nvPr/>
        </p:nvSpPr>
        <p:spPr>
          <a:xfrm>
            <a:off x="7955280" y="2606040"/>
            <a:ext cx="3456432" cy="493776"/>
          </a:xfrm>
          <a:prstGeom prst="roundRect">
            <a:avLst>
              <a:gd name="adj" fmla="val 11111"/>
            </a:avLst>
          </a:prstGeom>
          <a:solidFill>
            <a:schemeClr val="bg2"/>
          </a:solidFill>
          <a:ln w="12700">
            <a:solidFill>
              <a:srgbClr val="FFFFFF">
                <a:alpha val="0"/>
              </a:srgbClr>
            </a:solidFill>
            <a:prstDash val="solid"/>
          </a:ln>
        </p:spPr>
      </p:sp>
      <p:sp>
        <p:nvSpPr>
          <p:cNvPr id="19" name="Text 15"/>
          <p:cNvSpPr txBox="1"/>
          <p:nvPr/>
        </p:nvSpPr>
        <p:spPr>
          <a:xfrm>
            <a:off x="8092440" y="2606040"/>
            <a:ext cx="1691640" cy="493776"/>
          </a:xfrm>
          <a:prstGeom prst="rect">
            <a:avLst/>
          </a:prstGeom>
          <a:noFill/>
          <a:ln/>
        </p:spPr>
        <p:txBody>
          <a:bodyPr wrap="square" lIns="0" tIns="0" rIns="0" bIns="0" rtlCol="0" anchor="ctr"/>
          <a:lstStyle/>
          <a:p>
            <a:pPr algn="l" indent="0" marL="0">
              <a:buNone/>
            </a:pPr>
            <a:r>
              <a:rPr lang="en-US" sz="1700" b="1" i="1" dirty="0">
                <a:solidFill>
                  <a:schemeClr val="accent4"/>
                </a:solidFill>
              </a:rPr>
              <a:t>het</a:t>
            </a:r>
            <a:r>
              <a:rPr lang="en-US" sz="1700" i="1" dirty="0">
                <a:solidFill>
                  <a:schemeClr val="tx1"/>
                </a:solidFill>
              </a:rPr>
              <a:t> rijhuis</a:t>
            </a:r>
            <a:endParaRPr lang="en-US" sz="1700" dirty="0"/>
          </a:p>
        </p:txBody>
      </p:sp>
      <p:sp>
        <p:nvSpPr>
          <p:cNvPr id="20" name="Text 16"/>
          <p:cNvSpPr txBox="1"/>
          <p:nvPr/>
        </p:nvSpPr>
        <p:spPr>
          <a:xfrm>
            <a:off x="9738360" y="2606040"/>
            <a:ext cx="1645920" cy="493776"/>
          </a:xfrm>
          <a:prstGeom prst="rect">
            <a:avLst/>
          </a:prstGeom>
          <a:noFill/>
          <a:ln/>
        </p:spPr>
        <p:txBody>
          <a:bodyPr wrap="square" lIns="0" tIns="0" rIns="0" bIns="0" rtlCol="0" anchor="ctr"/>
          <a:lstStyle/>
          <a:p>
            <a:pPr algn="l" indent="0" marL="0">
              <a:buNone/>
            </a:pPr>
            <a:r>
              <a:rPr lang="en-US" sz="1700" dirty="0">
                <a:solidFill>
                  <a:schemeClr val="tx1"/>
                </a:solidFill>
              </a:rPr>
              <a:t>→ </a:t>
            </a:r>
            <a:r>
              <a:rPr lang="en-US" sz="1700" b="1" i="1" dirty="0">
                <a:solidFill>
                  <a:schemeClr val="accent4"/>
                </a:solidFill>
              </a:rPr>
              <a:t>dat</a:t>
            </a:r>
            <a:r>
              <a:rPr lang="en-US" sz="1700" dirty="0">
                <a:solidFill>
                  <a:schemeClr val="tx1"/>
                </a:solidFill>
              </a:rPr>
              <a:t> … </a:t>
            </a:r>
            <a:r>
              <a:rPr lang="en-US" sz="1700" b="1" dirty="0">
                <a:solidFill>
                  <a:schemeClr val="accent6"/>
                </a:solidFill>
              </a:rPr>
              <a:t>werd</a:t>
            </a:r>
            <a:endParaRPr lang="en-US" sz="1700" dirty="0"/>
          </a:p>
        </p:txBody>
      </p:sp>
      <p:sp>
        <p:nvSpPr>
          <p:cNvPr id="21" name="Shape 17"/>
          <p:cNvSpPr/>
          <p:nvPr/>
        </p:nvSpPr>
        <p:spPr>
          <a:xfrm>
            <a:off x="7955280" y="3209544"/>
            <a:ext cx="3456432" cy="493776"/>
          </a:xfrm>
          <a:prstGeom prst="roundRect">
            <a:avLst>
              <a:gd name="adj" fmla="val 11111"/>
            </a:avLst>
          </a:prstGeom>
          <a:solidFill>
            <a:schemeClr val="bg1"/>
          </a:solidFill>
          <a:ln w="12700">
            <a:solidFill>
              <a:srgbClr val="FFFFFF">
                <a:alpha val="0"/>
              </a:srgbClr>
            </a:solidFill>
            <a:prstDash val="solid"/>
          </a:ln>
        </p:spPr>
      </p:sp>
      <p:sp>
        <p:nvSpPr>
          <p:cNvPr id="22" name="Text 18"/>
          <p:cNvSpPr txBox="1"/>
          <p:nvPr/>
        </p:nvSpPr>
        <p:spPr>
          <a:xfrm>
            <a:off x="8092440" y="3209544"/>
            <a:ext cx="1691640" cy="493776"/>
          </a:xfrm>
          <a:prstGeom prst="rect">
            <a:avLst/>
          </a:prstGeom>
          <a:noFill/>
          <a:ln/>
        </p:spPr>
        <p:txBody>
          <a:bodyPr wrap="square" lIns="0" tIns="0" rIns="0" bIns="0" rtlCol="0" anchor="ctr"/>
          <a:lstStyle/>
          <a:p>
            <a:pPr algn="l" indent="0" marL="0">
              <a:buNone/>
            </a:pPr>
            <a:r>
              <a:rPr lang="en-US" sz="1700" b="1" i="1" dirty="0">
                <a:solidFill>
                  <a:schemeClr val="accent2"/>
                </a:solidFill>
              </a:rPr>
              <a:t>de</a:t>
            </a:r>
            <a:r>
              <a:rPr lang="en-US" sz="1700" i="1" dirty="0">
                <a:solidFill>
                  <a:schemeClr val="tx1"/>
                </a:solidFill>
              </a:rPr>
              <a:t> keuken</a:t>
            </a:r>
            <a:endParaRPr lang="en-US" sz="1700" dirty="0"/>
          </a:p>
        </p:txBody>
      </p:sp>
      <p:sp>
        <p:nvSpPr>
          <p:cNvPr id="23" name="Text 19"/>
          <p:cNvSpPr txBox="1"/>
          <p:nvPr/>
        </p:nvSpPr>
        <p:spPr>
          <a:xfrm>
            <a:off x="9738360" y="3209544"/>
            <a:ext cx="1645920" cy="493776"/>
          </a:xfrm>
          <a:prstGeom prst="rect">
            <a:avLst/>
          </a:prstGeom>
          <a:noFill/>
          <a:ln/>
        </p:spPr>
        <p:txBody>
          <a:bodyPr wrap="square" lIns="0" tIns="0" rIns="0" bIns="0" rtlCol="0" anchor="ctr"/>
          <a:lstStyle/>
          <a:p>
            <a:pPr algn="l" indent="0" marL="0">
              <a:buNone/>
            </a:pPr>
            <a:r>
              <a:rPr lang="en-US" sz="1700" dirty="0">
                <a:solidFill>
                  <a:schemeClr val="tx1"/>
                </a:solidFill>
              </a:rPr>
              <a:t>→ </a:t>
            </a:r>
            <a:r>
              <a:rPr lang="en-US" sz="1700" b="1" i="1" dirty="0">
                <a:solidFill>
                  <a:schemeClr val="accent2"/>
                </a:solidFill>
              </a:rPr>
              <a:t>die</a:t>
            </a:r>
            <a:r>
              <a:rPr lang="en-US" sz="1700" dirty="0">
                <a:solidFill>
                  <a:schemeClr val="tx1"/>
                </a:solidFill>
              </a:rPr>
              <a:t> … </a:t>
            </a:r>
            <a:r>
              <a:rPr lang="en-US" sz="1700" b="1" dirty="0">
                <a:solidFill>
                  <a:schemeClr val="accent6"/>
                </a:solidFill>
              </a:rPr>
              <a:t>aansluit</a:t>
            </a:r>
            <a:endParaRPr lang="en-US" sz="1700" dirty="0"/>
          </a:p>
        </p:txBody>
      </p:sp>
      <p:sp>
        <p:nvSpPr>
          <p:cNvPr id="24" name="Shape 20"/>
          <p:cNvSpPr/>
          <p:nvPr/>
        </p:nvSpPr>
        <p:spPr>
          <a:xfrm>
            <a:off x="7955280" y="3813048"/>
            <a:ext cx="3456432" cy="493776"/>
          </a:xfrm>
          <a:prstGeom prst="roundRect">
            <a:avLst>
              <a:gd name="adj" fmla="val 11111"/>
            </a:avLst>
          </a:prstGeom>
          <a:solidFill>
            <a:schemeClr val="bg2"/>
          </a:solidFill>
          <a:ln w="12700">
            <a:solidFill>
              <a:srgbClr val="FFFFFF">
                <a:alpha val="0"/>
              </a:srgbClr>
            </a:solidFill>
            <a:prstDash val="solid"/>
          </a:ln>
        </p:spPr>
      </p:sp>
      <p:sp>
        <p:nvSpPr>
          <p:cNvPr id="25" name="Text 21"/>
          <p:cNvSpPr txBox="1"/>
          <p:nvPr/>
        </p:nvSpPr>
        <p:spPr>
          <a:xfrm>
            <a:off x="8092440" y="3813048"/>
            <a:ext cx="1691640" cy="493776"/>
          </a:xfrm>
          <a:prstGeom prst="rect">
            <a:avLst/>
          </a:prstGeom>
          <a:noFill/>
          <a:ln/>
        </p:spPr>
        <p:txBody>
          <a:bodyPr wrap="square" lIns="0" tIns="0" rIns="0" bIns="0" rtlCol="0" anchor="ctr"/>
          <a:lstStyle/>
          <a:p>
            <a:pPr algn="l" indent="0" marL="0">
              <a:buNone/>
            </a:pPr>
            <a:r>
              <a:rPr lang="en-US" sz="1700" b="1" i="1" dirty="0">
                <a:solidFill>
                  <a:schemeClr val="accent2"/>
                </a:solidFill>
              </a:rPr>
              <a:t>de</a:t>
            </a:r>
            <a:r>
              <a:rPr lang="en-US" sz="1700" i="1" dirty="0">
                <a:solidFill>
                  <a:schemeClr val="tx1"/>
                </a:solidFill>
              </a:rPr>
              <a:t> stadstuin</a:t>
            </a:r>
            <a:endParaRPr lang="en-US" sz="1700" dirty="0"/>
          </a:p>
        </p:txBody>
      </p:sp>
      <p:sp>
        <p:nvSpPr>
          <p:cNvPr id="26" name="Text 22"/>
          <p:cNvSpPr txBox="1"/>
          <p:nvPr/>
        </p:nvSpPr>
        <p:spPr>
          <a:xfrm>
            <a:off x="9738360" y="3813048"/>
            <a:ext cx="1645920" cy="493776"/>
          </a:xfrm>
          <a:prstGeom prst="rect">
            <a:avLst/>
          </a:prstGeom>
          <a:noFill/>
          <a:ln/>
        </p:spPr>
        <p:txBody>
          <a:bodyPr wrap="square" lIns="0" tIns="0" rIns="0" bIns="0" rtlCol="0" anchor="ctr"/>
          <a:lstStyle/>
          <a:p>
            <a:pPr algn="l" indent="0" marL="0">
              <a:buNone/>
            </a:pPr>
            <a:r>
              <a:rPr lang="en-US" sz="1700" dirty="0">
                <a:solidFill>
                  <a:schemeClr val="tx1"/>
                </a:solidFill>
              </a:rPr>
              <a:t>→ </a:t>
            </a:r>
            <a:r>
              <a:rPr lang="en-US" sz="1700" b="1" i="1" dirty="0">
                <a:solidFill>
                  <a:schemeClr val="accent2"/>
                </a:solidFill>
              </a:rPr>
              <a:t>die</a:t>
            </a:r>
            <a:r>
              <a:rPr lang="en-US" sz="1700" dirty="0">
                <a:solidFill>
                  <a:schemeClr val="tx1"/>
                </a:solidFill>
              </a:rPr>
              <a:t> … </a:t>
            </a:r>
            <a:r>
              <a:rPr lang="en-US" sz="1700" b="1" dirty="0">
                <a:solidFill>
                  <a:schemeClr val="accent6"/>
                </a:solidFill>
              </a:rPr>
              <a:t>ligt</a:t>
            </a:r>
            <a:endParaRPr lang="en-US" sz="1700" dirty="0"/>
          </a:p>
        </p:txBody>
      </p:sp>
      <p:sp>
        <p:nvSpPr>
          <p:cNvPr id="27" name="Shape 23"/>
          <p:cNvSpPr/>
          <p:nvPr/>
        </p:nvSpPr>
        <p:spPr>
          <a:xfrm>
            <a:off x="7955280" y="4416552"/>
            <a:ext cx="3456432" cy="493776"/>
          </a:xfrm>
          <a:prstGeom prst="roundRect">
            <a:avLst>
              <a:gd name="adj" fmla="val 11111"/>
            </a:avLst>
          </a:prstGeom>
          <a:solidFill>
            <a:schemeClr val="bg1"/>
          </a:solidFill>
          <a:ln w="12700">
            <a:solidFill>
              <a:srgbClr val="FFFFFF">
                <a:alpha val="0"/>
              </a:srgbClr>
            </a:solidFill>
            <a:prstDash val="solid"/>
          </a:ln>
        </p:spPr>
      </p:sp>
      <p:sp>
        <p:nvSpPr>
          <p:cNvPr id="28" name="Text 24"/>
          <p:cNvSpPr txBox="1"/>
          <p:nvPr/>
        </p:nvSpPr>
        <p:spPr>
          <a:xfrm>
            <a:off x="8092440" y="4416552"/>
            <a:ext cx="1691640" cy="493776"/>
          </a:xfrm>
          <a:prstGeom prst="rect">
            <a:avLst/>
          </a:prstGeom>
          <a:noFill/>
          <a:ln/>
        </p:spPr>
        <p:txBody>
          <a:bodyPr wrap="square" lIns="0" tIns="0" rIns="0" bIns="0" rtlCol="0" anchor="ctr"/>
          <a:lstStyle/>
          <a:p>
            <a:pPr algn="l" indent="0" marL="0">
              <a:buNone/>
            </a:pPr>
            <a:r>
              <a:rPr lang="en-US" sz="1700" b="1" i="1" dirty="0">
                <a:solidFill>
                  <a:schemeClr val="accent2"/>
                </a:solidFill>
              </a:rPr>
              <a:t>de</a:t>
            </a:r>
            <a:r>
              <a:rPr lang="en-US" sz="1700" i="1" dirty="0">
                <a:solidFill>
                  <a:schemeClr val="tx1"/>
                </a:solidFill>
              </a:rPr>
              <a:t> woning</a:t>
            </a:r>
            <a:endParaRPr lang="en-US" sz="1700" dirty="0"/>
          </a:p>
        </p:txBody>
      </p:sp>
      <p:sp>
        <p:nvSpPr>
          <p:cNvPr id="29" name="Text 25"/>
          <p:cNvSpPr txBox="1"/>
          <p:nvPr/>
        </p:nvSpPr>
        <p:spPr>
          <a:xfrm>
            <a:off x="9738360" y="4416552"/>
            <a:ext cx="1645920" cy="493776"/>
          </a:xfrm>
          <a:prstGeom prst="rect">
            <a:avLst/>
          </a:prstGeom>
          <a:noFill/>
          <a:ln/>
        </p:spPr>
        <p:txBody>
          <a:bodyPr wrap="square" lIns="0" tIns="0" rIns="0" bIns="0" rtlCol="0" anchor="ctr"/>
          <a:lstStyle/>
          <a:p>
            <a:pPr algn="l" indent="0" marL="0">
              <a:buNone/>
            </a:pPr>
            <a:r>
              <a:rPr lang="en-US" sz="1700" dirty="0">
                <a:solidFill>
                  <a:schemeClr val="tx1"/>
                </a:solidFill>
              </a:rPr>
              <a:t>→ </a:t>
            </a:r>
            <a:r>
              <a:rPr lang="en-US" sz="1700" b="1" i="1" dirty="0">
                <a:solidFill>
                  <a:schemeClr val="accent2"/>
                </a:solidFill>
              </a:rPr>
              <a:t>die</a:t>
            </a:r>
            <a:r>
              <a:rPr lang="en-US" sz="1700" dirty="0">
                <a:solidFill>
                  <a:schemeClr val="tx1"/>
                </a:solidFill>
              </a:rPr>
              <a:t> … </a:t>
            </a:r>
            <a:r>
              <a:rPr lang="en-US" sz="1700" b="1" dirty="0">
                <a:solidFill>
                  <a:schemeClr val="accent6"/>
                </a:solidFill>
              </a:rPr>
              <a:t>is</a:t>
            </a:r>
            <a:endParaRPr lang="en-US" sz="1700" dirty="0"/>
          </a:p>
        </p:txBody>
      </p:sp>
      <p:sp>
        <p:nvSpPr>
          <p:cNvPr id="30" name="Shape 26"/>
          <p:cNvSpPr/>
          <p:nvPr/>
        </p:nvSpPr>
        <p:spPr>
          <a:xfrm>
            <a:off x="7955280" y="5020056"/>
            <a:ext cx="3456432" cy="493776"/>
          </a:xfrm>
          <a:prstGeom prst="roundRect">
            <a:avLst>
              <a:gd name="adj" fmla="val 11111"/>
            </a:avLst>
          </a:prstGeom>
          <a:solidFill>
            <a:schemeClr val="bg2"/>
          </a:solidFill>
          <a:ln w="12700">
            <a:solidFill>
              <a:srgbClr val="FFFFFF">
                <a:alpha val="0"/>
              </a:srgbClr>
            </a:solidFill>
            <a:prstDash val="solid"/>
          </a:ln>
        </p:spPr>
      </p:sp>
      <p:sp>
        <p:nvSpPr>
          <p:cNvPr id="31" name="Text 27"/>
          <p:cNvSpPr txBox="1"/>
          <p:nvPr/>
        </p:nvSpPr>
        <p:spPr>
          <a:xfrm>
            <a:off x="8092440" y="5020056"/>
            <a:ext cx="1691640" cy="493776"/>
          </a:xfrm>
          <a:prstGeom prst="rect">
            <a:avLst/>
          </a:prstGeom>
          <a:noFill/>
          <a:ln/>
        </p:spPr>
        <p:txBody>
          <a:bodyPr wrap="square" lIns="0" tIns="0" rIns="0" bIns="0" rtlCol="0" anchor="ctr"/>
          <a:lstStyle/>
          <a:p>
            <a:pPr algn="l" indent="0" marL="0">
              <a:buNone/>
            </a:pPr>
            <a:r>
              <a:rPr lang="en-US" sz="1700" b="1" i="1" dirty="0">
                <a:solidFill>
                  <a:schemeClr val="accent4"/>
                </a:solidFill>
              </a:rPr>
              <a:t>het</a:t>
            </a:r>
            <a:r>
              <a:rPr lang="en-US" sz="1700" i="1" dirty="0">
                <a:solidFill>
                  <a:schemeClr val="tx1"/>
                </a:solidFill>
              </a:rPr>
              <a:t> gezin</a:t>
            </a:r>
            <a:endParaRPr lang="en-US" sz="1700" dirty="0"/>
          </a:p>
        </p:txBody>
      </p:sp>
      <p:sp>
        <p:nvSpPr>
          <p:cNvPr id="32" name="Text 28"/>
          <p:cNvSpPr txBox="1"/>
          <p:nvPr/>
        </p:nvSpPr>
        <p:spPr>
          <a:xfrm>
            <a:off x="9738360" y="5020056"/>
            <a:ext cx="1645920" cy="493776"/>
          </a:xfrm>
          <a:prstGeom prst="rect">
            <a:avLst/>
          </a:prstGeom>
          <a:noFill/>
          <a:ln/>
        </p:spPr>
        <p:txBody>
          <a:bodyPr wrap="square" lIns="0" tIns="0" rIns="0" bIns="0" rtlCol="0" anchor="ctr"/>
          <a:lstStyle/>
          <a:p>
            <a:pPr algn="l" indent="0" marL="0">
              <a:buNone/>
            </a:pPr>
            <a:r>
              <a:rPr lang="en-US" sz="1700" dirty="0">
                <a:solidFill>
                  <a:schemeClr val="tx1"/>
                </a:solidFill>
              </a:rPr>
              <a:t>→ </a:t>
            </a:r>
            <a:r>
              <a:rPr lang="en-US" sz="1700" b="1" i="1" dirty="0">
                <a:solidFill>
                  <a:schemeClr val="accent4"/>
                </a:solidFill>
              </a:rPr>
              <a:t>dat</a:t>
            </a:r>
            <a:r>
              <a:rPr lang="en-US" sz="1700" dirty="0">
                <a:solidFill>
                  <a:schemeClr val="tx1"/>
                </a:solidFill>
              </a:rPr>
              <a:t> … </a:t>
            </a:r>
            <a:r>
              <a:rPr lang="en-US" sz="1700" b="1" dirty="0">
                <a:solidFill>
                  <a:schemeClr val="accent6"/>
                </a:solidFill>
              </a:rPr>
              <a:t>zoekt</a:t>
            </a:r>
            <a:endParaRPr lang="en-US" sz="17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200" b="1" dirty="0">
                <a:solidFill>
                  <a:schemeClr val="tx2"/>
                </a:solidFill>
              </a:rPr>
              <a:t>D2 Dagelijks leven — Drie advertenties op 2dehands</a:t>
            </a:r>
            <a:endParaRPr lang="en-US" sz="3200" dirty="0"/>
          </a:p>
        </p:txBody>
      </p:sp>
      <p:sp>
        <p:nvSpPr>
          <p:cNvPr id="3" name="tag"/>
          <p:cNvSpPr/>
          <p:nvPr/>
        </p:nvSpPr>
        <p:spPr>
          <a:xfrm>
            <a:off x="548640" y="237744"/>
            <a:ext cx="1280160" cy="310896"/>
          </a:xfrm>
          <a:prstGeom prst="roundRect">
            <a:avLst>
              <a:gd name="adj" fmla="val 14706"/>
            </a:avLst>
          </a:prstGeom>
          <a:solidFill>
            <a:schemeClr val="accent3"/>
          </a:solidFill>
          <a:ln/>
        </p:spPr>
        <p:txBody>
          <a:bodyPr wrap="square" lIns="0" tIns="0" rIns="0" bIns="0" rtlCol="0" anchor="ctr"/>
          <a:lstStyle/>
          <a:p>
            <a:pPr algn="ctr" indent="0" marL="0">
              <a:buNone/>
            </a:pPr>
            <a:r>
              <a:rPr lang="en-US" sz="1200" b="1" spc="100" kern="0" dirty="0">
                <a:solidFill>
                  <a:schemeClr val="bg1"/>
                </a:solidFill>
              </a:rPr>
              <a:t>COUCHE 1</a:t>
            </a:r>
            <a:endParaRPr lang="en-US" sz="1200" dirty="0"/>
          </a:p>
        </p:txBody>
      </p:sp>
      <p:sp>
        <p:nvSpPr>
          <p:cNvPr id="4" name="Text 2"/>
          <p:cNvSpPr txBox="1"/>
          <p:nvPr/>
        </p:nvSpPr>
        <p:spPr>
          <a:xfrm>
            <a:off x="8897112" y="219456"/>
            <a:ext cx="2743200" cy="347472"/>
          </a:xfrm>
          <a:prstGeom prst="rect">
            <a:avLst/>
          </a:prstGeom>
          <a:noFill/>
          <a:ln/>
        </p:spPr>
        <p:txBody>
          <a:bodyPr wrap="square" lIns="0" tIns="0" rIns="0" bIns="0" rtlCol="0" anchor="ctr"/>
          <a:lstStyle/>
          <a:p>
            <a:pPr algn="r" indent="0" marL="0">
              <a:buNone/>
            </a:pPr>
            <a:r>
              <a:rPr lang="en-US" sz="1200" i="1" dirty="0">
                <a:solidFill>
                  <a:schemeClr val="accent5"/>
                </a:solidFill>
              </a:rPr>
              <a:t>Livret p. 10a</a:t>
            </a:r>
            <a:endParaRPr lang="en-US" sz="1200" dirty="0"/>
          </a:p>
        </p:txBody>
      </p:sp>
      <p:pic>
        <p:nvPicPr>
          <p:cNvPr id="6" name="illustration" descr="Trois vélos d’occasion">    </p:cNvPr>
          <p:cNvPicPr>
            <a:picLocks noChangeAspect="1"/>
          </p:cNvPicPr>
          <p:nvPr/>
        </p:nvPicPr>
        <p:blipFill>
          <a:blip r:embed="rId1"/>
          <a:stretch>
            <a:fillRect/>
          </a:stretch>
        </p:blipFill>
        <p:spPr>
          <a:xfrm>
            <a:off x="1110119" y="1481328"/>
            <a:ext cx="1894562" cy="2514600"/>
          </a:xfrm>
          <a:prstGeom prst="rect">
            <a:avLst/>
          </a:prstGeom>
          <a:effectLst>
            <a:outerShdw sx="100000" sy="100000" kx="0" ky="0" algn="bl" rotWithShape="0" blurRad="101600" dist="25400" dir="3600000">
              <a:srgbClr val="000000">
                <a:alpha val="18000"/>
              </a:srgbClr>
            </a:outerShdw>
          </a:effectLst>
        </p:spPr>
      </p:pic>
      <p:sp>
        <p:nvSpPr>
          <p:cNvPr id="7" name="Shape 3"/>
          <p:cNvSpPr/>
          <p:nvPr/>
        </p:nvSpPr>
        <p:spPr>
          <a:xfrm>
            <a:off x="548640" y="4206240"/>
            <a:ext cx="3017520" cy="2084832"/>
          </a:xfrm>
          <a:prstGeom prst="roundRect">
            <a:avLst>
              <a:gd name="adj" fmla="val 4386"/>
            </a:avLst>
          </a:prstGeom>
          <a:solidFill>
            <a:schemeClr val="accent2">
              <a:alpha val="10000"/>
            </a:schemeClr>
          </a:solidFill>
          <a:ln w="15875">
            <a:solidFill>
              <a:srgbClr val="2A6FB0"/>
            </a:solidFill>
            <a:prstDash val="solid"/>
          </a:ln>
        </p:spPr>
      </p:sp>
      <p:sp>
        <p:nvSpPr>
          <p:cNvPr id="8" name="Shape 4"/>
          <p:cNvSpPr/>
          <p:nvPr/>
        </p:nvSpPr>
        <p:spPr>
          <a:xfrm>
            <a:off x="731520" y="4370832"/>
            <a:ext cx="512064" cy="512064"/>
          </a:xfrm>
          <a:prstGeom prst="ellipse">
            <a:avLst/>
          </a:prstGeom>
          <a:solidFill>
            <a:schemeClr val="accent2"/>
          </a:solidFill>
          <a:ln/>
        </p:spPr>
      </p:sp>
      <p:pic>
        <p:nvPicPr>
          <p:cNvPr id="9" name="Image 1" descr="preencoded.png">    </p:cNvPr>
          <p:cNvPicPr>
            <a:picLocks noChangeAspect="1"/>
          </p:cNvPicPr>
          <p:nvPr/>
        </p:nvPicPr>
        <p:blipFill>
          <a:blip r:embed="rId2"/>
          <a:stretch>
            <a:fillRect/>
          </a:stretch>
        </p:blipFill>
        <p:spPr>
          <a:xfrm>
            <a:off x="859536" y="4498848"/>
            <a:ext cx="256032" cy="256032"/>
          </a:xfrm>
          <a:prstGeom prst="rect">
            <a:avLst/>
          </a:prstGeom>
        </p:spPr>
      </p:pic>
      <p:sp>
        <p:nvSpPr>
          <p:cNvPr id="10" name="Text 5"/>
          <p:cNvSpPr txBox="1"/>
          <p:nvPr/>
        </p:nvSpPr>
        <p:spPr>
          <a:xfrm>
            <a:off x="1371600" y="4370832"/>
            <a:ext cx="2103120" cy="512064"/>
          </a:xfrm>
          <a:prstGeom prst="rect">
            <a:avLst/>
          </a:prstGeom>
          <a:noFill/>
          <a:ln/>
        </p:spPr>
        <p:txBody>
          <a:bodyPr wrap="square" lIns="0" tIns="0" rIns="0" bIns="0" rtlCol="0" anchor="ctr"/>
          <a:lstStyle/>
          <a:p>
            <a:pPr algn="l" indent="0" marL="0">
              <a:buNone/>
            </a:pPr>
            <a:r>
              <a:rPr lang="en-US" sz="1600" b="1" dirty="0">
                <a:solidFill>
                  <a:schemeClr val="accent2"/>
                </a:solidFill>
              </a:rPr>
              <a:t>Stef cherche un vélo</a:t>
            </a:r>
            <a:endParaRPr lang="en-US" sz="1600" dirty="0"/>
          </a:p>
        </p:txBody>
      </p:sp>
      <p:sp>
        <p:nvSpPr>
          <p:cNvPr id="11" name="Text 6"/>
          <p:cNvSpPr txBox="1"/>
          <p:nvPr/>
        </p:nvSpPr>
        <p:spPr>
          <a:xfrm>
            <a:off x="777240" y="4983480"/>
            <a:ext cx="2697480" cy="1234440"/>
          </a:xfrm>
          <a:prstGeom prst="rect">
            <a:avLst/>
          </a:prstGeom>
          <a:noFill/>
          <a:ln/>
        </p:spPr>
        <p:txBody>
          <a:bodyPr wrap="square" lIns="0" tIns="0" rIns="0" bIns="0" rtlCol="0" anchor="t"/>
          <a:lstStyle/>
          <a:p>
            <a:pPr algn="l" marL="177800" indent="-177800">
              <a:spcAft>
                <a:spcPts val="300"/>
              </a:spcAft>
              <a:buSzPct val="100000"/>
              <a:buChar char="•"/>
            </a:pPr>
            <a:r>
              <a:rPr lang="en-US" sz="1500" dirty="0">
                <a:solidFill>
                  <a:schemeClr val="tx1"/>
                </a:solidFill>
              </a:rPr>
              <a:t>budget : </a:t>
            </a:r>
            <a:r>
              <a:rPr lang="en-US" sz="1500" b="1" dirty="0">
                <a:solidFill>
                  <a:schemeClr val="tx1"/>
                </a:solidFill>
              </a:rPr>
              <a:t>€ 200</a:t>
            </a:r>
            <a:r>
              <a:rPr lang="en-US" sz="1500" dirty="0">
                <a:solidFill>
                  <a:schemeClr val="tx1"/>
                </a:solidFill>
              </a:rPr>
              <a:t> maximum</a:t>
            </a:r>
            <a:endParaRPr lang="en-US" sz="1500" dirty="0"/>
          </a:p>
          <a:p>
            <a:pPr algn="l" marL="177800" indent="-177800">
              <a:spcAft>
                <a:spcPts val="300"/>
              </a:spcAft>
              <a:buSzPct val="100000"/>
              <a:buChar char="•"/>
            </a:pPr>
            <a:r>
              <a:rPr lang="en-US" sz="1500" dirty="0">
                <a:solidFill>
                  <a:schemeClr val="tx1"/>
                </a:solidFill>
              </a:rPr>
              <a:t>habite à </a:t>
            </a:r>
            <a:r>
              <a:rPr lang="en-US" sz="1500" b="1" dirty="0">
                <a:solidFill>
                  <a:schemeClr val="tx1"/>
                </a:solidFill>
              </a:rPr>
              <a:t>Vorst</a:t>
            </a:r>
            <a:r>
              <a:rPr lang="en-US" sz="1500" dirty="0">
                <a:solidFill>
                  <a:schemeClr val="tx1"/>
                </a:solidFill>
              </a:rPr>
              <a:t> (Forest)</a:t>
            </a:r>
            <a:endParaRPr lang="en-US" sz="1500" dirty="0"/>
          </a:p>
          <a:p>
            <a:pPr algn="l" marL="177800" indent="-177800">
              <a:spcAft>
                <a:spcPts val="300"/>
              </a:spcAft>
              <a:buSzPct val="100000"/>
              <a:buChar char="•"/>
            </a:pPr>
            <a:r>
              <a:rPr lang="en-US" sz="1500" dirty="0">
                <a:solidFill>
                  <a:schemeClr val="tx1"/>
                </a:solidFill>
              </a:rPr>
              <a:t>va au bureau à vélo</a:t>
            </a:r>
            <a:endParaRPr lang="en-US" sz="1500" dirty="0"/>
          </a:p>
        </p:txBody>
      </p:sp>
      <p:sp>
        <p:nvSpPr>
          <p:cNvPr id="12" name="Shape 7"/>
          <p:cNvSpPr/>
          <p:nvPr/>
        </p:nvSpPr>
        <p:spPr>
          <a:xfrm>
            <a:off x="3840480" y="1481328"/>
            <a:ext cx="2447544" cy="4809744"/>
          </a:xfrm>
          <a:prstGeom prst="roundRect">
            <a:avLst>
              <a:gd name="adj" fmla="val 3736"/>
            </a:avLst>
          </a:prstGeom>
          <a:solidFill>
            <a:schemeClr val="bg1"/>
          </a:solidFill>
          <a:ln w="12700">
            <a:solidFill>
              <a:srgbClr val="D5DCE6"/>
            </a:solidFill>
            <a:prstDash val="solid"/>
          </a:ln>
          <a:effectLst>
            <a:outerShdw sx="100000" sy="100000" kx="0" ky="0" algn="bl" rotWithShape="0" blurRad="101600" dist="25400" dir="3600000">
              <a:srgbClr val="000000">
                <a:alpha val="18000"/>
              </a:srgbClr>
            </a:outerShdw>
          </a:effectLst>
        </p:spPr>
      </p:sp>
      <p:sp>
        <p:nvSpPr>
          <p:cNvPr id="13" name="Shape 8"/>
          <p:cNvSpPr/>
          <p:nvPr/>
        </p:nvSpPr>
        <p:spPr>
          <a:xfrm>
            <a:off x="3840480" y="1481328"/>
            <a:ext cx="2447544" cy="530352"/>
          </a:xfrm>
          <a:prstGeom prst="roundRect">
            <a:avLst>
              <a:gd name="adj" fmla="val 17241"/>
            </a:avLst>
          </a:prstGeom>
          <a:solidFill>
            <a:schemeClr val="accent1"/>
          </a:solidFill>
          <a:ln/>
        </p:spPr>
      </p:sp>
      <p:sp>
        <p:nvSpPr>
          <p:cNvPr id="14" name="Shape 9"/>
          <p:cNvSpPr/>
          <p:nvPr/>
        </p:nvSpPr>
        <p:spPr>
          <a:xfrm>
            <a:off x="3840480" y="1828800"/>
            <a:ext cx="2447544" cy="182880"/>
          </a:xfrm>
          <a:prstGeom prst="rect">
            <a:avLst/>
          </a:prstGeom>
          <a:solidFill>
            <a:schemeClr val="accent1"/>
          </a:solidFill>
          <a:ln w="12700">
            <a:solidFill>
              <a:srgbClr val="D9700F"/>
            </a:solidFill>
            <a:prstDash val="solid"/>
          </a:ln>
        </p:spPr>
      </p:sp>
      <p:sp>
        <p:nvSpPr>
          <p:cNvPr id="15" name="Text 10"/>
          <p:cNvSpPr txBox="1"/>
          <p:nvPr/>
        </p:nvSpPr>
        <p:spPr>
          <a:xfrm>
            <a:off x="4023360" y="1481328"/>
            <a:ext cx="2081784" cy="530352"/>
          </a:xfrm>
          <a:prstGeom prst="rect">
            <a:avLst/>
          </a:prstGeom>
          <a:noFill/>
          <a:ln/>
        </p:spPr>
        <p:txBody>
          <a:bodyPr wrap="square" lIns="0" tIns="0" rIns="0" bIns="0" rtlCol="0" anchor="ctr"/>
          <a:lstStyle/>
          <a:p>
            <a:pPr algn="l" indent="0" marL="0">
              <a:buNone/>
            </a:pPr>
            <a:r>
              <a:rPr lang="en-US" sz="1400" b="1" spc="100" kern="0" dirty="0">
                <a:solidFill>
                  <a:schemeClr val="bg1"/>
                </a:solidFill>
              </a:rPr>
              <a:t>A · TE KOOP</a:t>
            </a:r>
            <a:endParaRPr lang="en-US" sz="1400" dirty="0"/>
          </a:p>
        </p:txBody>
      </p:sp>
      <p:sp>
        <p:nvSpPr>
          <p:cNvPr id="16" name="Text 11"/>
          <p:cNvSpPr txBox="1"/>
          <p:nvPr/>
        </p:nvSpPr>
        <p:spPr>
          <a:xfrm>
            <a:off x="4023360" y="2194560"/>
            <a:ext cx="2081784" cy="3383280"/>
          </a:xfrm>
          <a:prstGeom prst="rect">
            <a:avLst/>
          </a:prstGeom>
          <a:noFill/>
          <a:ln/>
        </p:spPr>
        <p:txBody>
          <a:bodyPr wrap="square" lIns="0" tIns="0" rIns="0" bIns="0" rtlCol="0" anchor="t"/>
          <a:lstStyle/>
          <a:p>
            <a:pPr algn="l" indent="0" marL="0">
              <a:buNone/>
            </a:pPr>
            <a:r>
              <a:rPr lang="en-US" sz="1750" dirty="0">
                <a:solidFill>
                  <a:schemeClr val="tx1"/>
                </a:solidFill>
              </a:rPr>
              <a:t>Stadsfiets, z.g.a.n. Herenfiets met 7 versnellingen en een slot dat erbij hoort. Ideaal voor iemand die dagelijks naar het werk fietst. Ophalen in Vorst.</a:t>
            </a:r>
            <a:endParaRPr lang="en-US" sz="1750" dirty="0"/>
          </a:p>
        </p:txBody>
      </p:sp>
      <p:sp>
        <p:nvSpPr>
          <p:cNvPr id="17" name="Shape 12"/>
          <p:cNvSpPr/>
          <p:nvPr/>
        </p:nvSpPr>
        <p:spPr>
          <a:xfrm>
            <a:off x="4023360" y="5669280"/>
            <a:ext cx="2081784" cy="457200"/>
          </a:xfrm>
          <a:prstGeom prst="roundRect">
            <a:avLst>
              <a:gd name="adj" fmla="val 16000"/>
            </a:avLst>
          </a:prstGeom>
          <a:solidFill>
            <a:schemeClr val="tx2"/>
          </a:solidFill>
          <a:ln w="12700">
            <a:solidFill>
              <a:srgbClr val="FFFFFF">
                <a:alpha val="0"/>
              </a:srgbClr>
            </a:solidFill>
            <a:prstDash val="solid"/>
          </a:ln>
        </p:spPr>
      </p:sp>
      <p:sp>
        <p:nvSpPr>
          <p:cNvPr id="18" name="Text 13"/>
          <p:cNvSpPr txBox="1"/>
          <p:nvPr/>
        </p:nvSpPr>
        <p:spPr>
          <a:xfrm>
            <a:off x="4023360" y="5669280"/>
            <a:ext cx="2081784" cy="457200"/>
          </a:xfrm>
          <a:prstGeom prst="rect">
            <a:avLst/>
          </a:prstGeom>
          <a:noFill/>
          <a:ln/>
        </p:spPr>
        <p:txBody>
          <a:bodyPr wrap="square" lIns="0" tIns="0" rIns="0" bIns="0" rtlCol="0" anchor="ctr"/>
          <a:lstStyle/>
          <a:p>
            <a:pPr algn="ctr" indent="0" marL="0">
              <a:buNone/>
            </a:pPr>
            <a:r>
              <a:rPr lang="en-US" sz="1600" b="1" dirty="0">
                <a:solidFill>
                  <a:schemeClr val="bg1"/>
                </a:solidFill>
              </a:rPr>
              <a:t>€ 180 · bespreekbaar</a:t>
            </a:r>
            <a:endParaRPr lang="en-US" sz="1600" dirty="0"/>
          </a:p>
        </p:txBody>
      </p:sp>
      <p:sp>
        <p:nvSpPr>
          <p:cNvPr id="19" name="Shape 14"/>
          <p:cNvSpPr/>
          <p:nvPr/>
        </p:nvSpPr>
        <p:spPr>
          <a:xfrm>
            <a:off x="6516624" y="1481328"/>
            <a:ext cx="2447544" cy="4809744"/>
          </a:xfrm>
          <a:prstGeom prst="roundRect">
            <a:avLst>
              <a:gd name="adj" fmla="val 3736"/>
            </a:avLst>
          </a:prstGeom>
          <a:solidFill>
            <a:schemeClr val="bg1"/>
          </a:solidFill>
          <a:ln w="12700">
            <a:solidFill>
              <a:srgbClr val="D5DCE6"/>
            </a:solidFill>
            <a:prstDash val="solid"/>
          </a:ln>
          <a:effectLst>
            <a:outerShdw sx="100000" sy="100000" kx="0" ky="0" algn="bl" rotWithShape="0" blurRad="101600" dist="25400" dir="3600000">
              <a:srgbClr val="000000">
                <a:alpha val="18000"/>
              </a:srgbClr>
            </a:outerShdw>
          </a:effectLst>
        </p:spPr>
      </p:sp>
      <p:sp>
        <p:nvSpPr>
          <p:cNvPr id="20" name="Shape 15"/>
          <p:cNvSpPr/>
          <p:nvPr/>
        </p:nvSpPr>
        <p:spPr>
          <a:xfrm>
            <a:off x="6516624" y="1481328"/>
            <a:ext cx="2447544" cy="530352"/>
          </a:xfrm>
          <a:prstGeom prst="roundRect">
            <a:avLst>
              <a:gd name="adj" fmla="val 17241"/>
            </a:avLst>
          </a:prstGeom>
          <a:solidFill>
            <a:schemeClr val="accent1"/>
          </a:solidFill>
          <a:ln/>
        </p:spPr>
      </p:sp>
      <p:sp>
        <p:nvSpPr>
          <p:cNvPr id="21" name="Shape 16"/>
          <p:cNvSpPr/>
          <p:nvPr/>
        </p:nvSpPr>
        <p:spPr>
          <a:xfrm>
            <a:off x="6516624" y="1828800"/>
            <a:ext cx="2447544" cy="182880"/>
          </a:xfrm>
          <a:prstGeom prst="rect">
            <a:avLst/>
          </a:prstGeom>
          <a:solidFill>
            <a:schemeClr val="accent1"/>
          </a:solidFill>
          <a:ln w="12700">
            <a:solidFill>
              <a:srgbClr val="D9700F"/>
            </a:solidFill>
            <a:prstDash val="solid"/>
          </a:ln>
        </p:spPr>
      </p:sp>
      <p:sp>
        <p:nvSpPr>
          <p:cNvPr id="22" name="Text 17"/>
          <p:cNvSpPr txBox="1"/>
          <p:nvPr/>
        </p:nvSpPr>
        <p:spPr>
          <a:xfrm>
            <a:off x="6699504" y="1481328"/>
            <a:ext cx="2081784" cy="530352"/>
          </a:xfrm>
          <a:prstGeom prst="rect">
            <a:avLst/>
          </a:prstGeom>
          <a:noFill/>
          <a:ln/>
        </p:spPr>
        <p:txBody>
          <a:bodyPr wrap="square" lIns="0" tIns="0" rIns="0" bIns="0" rtlCol="0" anchor="ctr"/>
          <a:lstStyle/>
          <a:p>
            <a:pPr algn="l" indent="0" marL="0">
              <a:buNone/>
            </a:pPr>
            <a:r>
              <a:rPr lang="en-US" sz="1400" b="1" spc="100" kern="0" dirty="0">
                <a:solidFill>
                  <a:schemeClr val="bg1"/>
                </a:solidFill>
              </a:rPr>
              <a:t>B · TE KOOP</a:t>
            </a:r>
            <a:endParaRPr lang="en-US" sz="1400" dirty="0"/>
          </a:p>
        </p:txBody>
      </p:sp>
      <p:sp>
        <p:nvSpPr>
          <p:cNvPr id="23" name="Text 18"/>
          <p:cNvSpPr txBox="1"/>
          <p:nvPr/>
        </p:nvSpPr>
        <p:spPr>
          <a:xfrm>
            <a:off x="6699504" y="2194560"/>
            <a:ext cx="2081784" cy="3383280"/>
          </a:xfrm>
          <a:prstGeom prst="rect">
            <a:avLst/>
          </a:prstGeom>
          <a:noFill/>
          <a:ln/>
        </p:spPr>
        <p:txBody>
          <a:bodyPr wrap="square" lIns="0" tIns="0" rIns="0" bIns="0" rtlCol="0" anchor="t"/>
          <a:lstStyle/>
          <a:p>
            <a:pPr algn="l" indent="0" marL="0">
              <a:buNone/>
            </a:pPr>
            <a:r>
              <a:rPr lang="en-US" sz="1750" dirty="0">
                <a:solidFill>
                  <a:schemeClr val="tx1"/>
                </a:solidFill>
              </a:rPr>
              <a:t>Racefiets in carbon, twee jaar oud. Voor sportievelingen die snelheid zoeken. Verzending mogelijk.</a:t>
            </a:r>
            <a:endParaRPr lang="en-US" sz="1750" dirty="0"/>
          </a:p>
        </p:txBody>
      </p:sp>
      <p:sp>
        <p:nvSpPr>
          <p:cNvPr id="24" name="Shape 19"/>
          <p:cNvSpPr/>
          <p:nvPr/>
        </p:nvSpPr>
        <p:spPr>
          <a:xfrm>
            <a:off x="6699504" y="5669280"/>
            <a:ext cx="2081784" cy="457200"/>
          </a:xfrm>
          <a:prstGeom prst="roundRect">
            <a:avLst>
              <a:gd name="adj" fmla="val 16000"/>
            </a:avLst>
          </a:prstGeom>
          <a:solidFill>
            <a:schemeClr val="tx2"/>
          </a:solidFill>
          <a:ln w="12700">
            <a:solidFill>
              <a:srgbClr val="FFFFFF">
                <a:alpha val="0"/>
              </a:srgbClr>
            </a:solidFill>
            <a:prstDash val="solid"/>
          </a:ln>
        </p:spPr>
      </p:sp>
      <p:sp>
        <p:nvSpPr>
          <p:cNvPr id="25" name="Text 20"/>
          <p:cNvSpPr txBox="1"/>
          <p:nvPr/>
        </p:nvSpPr>
        <p:spPr>
          <a:xfrm>
            <a:off x="6699504" y="5669280"/>
            <a:ext cx="2081784" cy="457200"/>
          </a:xfrm>
          <a:prstGeom prst="rect">
            <a:avLst/>
          </a:prstGeom>
          <a:noFill/>
          <a:ln/>
        </p:spPr>
        <p:txBody>
          <a:bodyPr wrap="square" lIns="0" tIns="0" rIns="0" bIns="0" rtlCol="0" anchor="ctr"/>
          <a:lstStyle/>
          <a:p>
            <a:pPr algn="ctr" indent="0" marL="0">
              <a:buNone/>
            </a:pPr>
            <a:r>
              <a:rPr lang="en-US" sz="1600" b="1" dirty="0">
                <a:solidFill>
                  <a:schemeClr val="bg1"/>
                </a:solidFill>
              </a:rPr>
              <a:t>€ 650 · vaste prijs</a:t>
            </a:r>
            <a:endParaRPr lang="en-US" sz="1600" dirty="0"/>
          </a:p>
        </p:txBody>
      </p:sp>
      <p:sp>
        <p:nvSpPr>
          <p:cNvPr id="26" name="Shape 21"/>
          <p:cNvSpPr/>
          <p:nvPr/>
        </p:nvSpPr>
        <p:spPr>
          <a:xfrm>
            <a:off x="9192768" y="1481328"/>
            <a:ext cx="2447544" cy="4809744"/>
          </a:xfrm>
          <a:prstGeom prst="roundRect">
            <a:avLst>
              <a:gd name="adj" fmla="val 3736"/>
            </a:avLst>
          </a:prstGeom>
          <a:solidFill>
            <a:schemeClr val="bg1"/>
          </a:solidFill>
          <a:ln w="12700">
            <a:solidFill>
              <a:srgbClr val="D5DCE6"/>
            </a:solidFill>
            <a:prstDash val="solid"/>
          </a:ln>
          <a:effectLst>
            <a:outerShdw sx="100000" sy="100000" kx="0" ky="0" algn="bl" rotWithShape="0" blurRad="101600" dist="25400" dir="3600000">
              <a:srgbClr val="000000">
                <a:alpha val="18000"/>
              </a:srgbClr>
            </a:outerShdw>
          </a:effectLst>
        </p:spPr>
      </p:sp>
      <p:sp>
        <p:nvSpPr>
          <p:cNvPr id="27" name="Shape 22"/>
          <p:cNvSpPr/>
          <p:nvPr/>
        </p:nvSpPr>
        <p:spPr>
          <a:xfrm>
            <a:off x="9192768" y="1481328"/>
            <a:ext cx="2447544" cy="530352"/>
          </a:xfrm>
          <a:prstGeom prst="roundRect">
            <a:avLst>
              <a:gd name="adj" fmla="val 17241"/>
            </a:avLst>
          </a:prstGeom>
          <a:solidFill>
            <a:schemeClr val="accent3"/>
          </a:solidFill>
          <a:ln/>
        </p:spPr>
      </p:sp>
      <p:sp>
        <p:nvSpPr>
          <p:cNvPr id="28" name="Shape 23"/>
          <p:cNvSpPr/>
          <p:nvPr/>
        </p:nvSpPr>
        <p:spPr>
          <a:xfrm>
            <a:off x="9192768" y="1828800"/>
            <a:ext cx="2447544" cy="182880"/>
          </a:xfrm>
          <a:prstGeom prst="rect">
            <a:avLst/>
          </a:prstGeom>
          <a:solidFill>
            <a:schemeClr val="accent3"/>
          </a:solidFill>
          <a:ln w="12700">
            <a:solidFill>
              <a:srgbClr val="2E7D4F"/>
            </a:solidFill>
            <a:prstDash val="solid"/>
          </a:ln>
        </p:spPr>
      </p:sp>
      <p:sp>
        <p:nvSpPr>
          <p:cNvPr id="29" name="Text 24"/>
          <p:cNvSpPr txBox="1"/>
          <p:nvPr/>
        </p:nvSpPr>
        <p:spPr>
          <a:xfrm>
            <a:off x="9375648" y="1481328"/>
            <a:ext cx="2081784" cy="530352"/>
          </a:xfrm>
          <a:prstGeom prst="rect">
            <a:avLst/>
          </a:prstGeom>
          <a:noFill/>
          <a:ln/>
        </p:spPr>
        <p:txBody>
          <a:bodyPr wrap="square" lIns="0" tIns="0" rIns="0" bIns="0" rtlCol="0" anchor="ctr"/>
          <a:lstStyle/>
          <a:p>
            <a:pPr algn="l" indent="0" marL="0">
              <a:buNone/>
            </a:pPr>
            <a:r>
              <a:rPr lang="en-US" sz="1400" b="1" spc="100" kern="0" dirty="0">
                <a:solidFill>
                  <a:schemeClr val="bg1"/>
                </a:solidFill>
              </a:rPr>
              <a:t>C · GRATIS</a:t>
            </a:r>
            <a:endParaRPr lang="en-US" sz="1400" dirty="0"/>
          </a:p>
        </p:txBody>
      </p:sp>
      <p:sp>
        <p:nvSpPr>
          <p:cNvPr id="30" name="Text 25"/>
          <p:cNvSpPr txBox="1"/>
          <p:nvPr/>
        </p:nvSpPr>
        <p:spPr>
          <a:xfrm>
            <a:off x="9375648" y="2194560"/>
            <a:ext cx="2081784" cy="3383280"/>
          </a:xfrm>
          <a:prstGeom prst="rect">
            <a:avLst/>
          </a:prstGeom>
          <a:noFill/>
          <a:ln/>
        </p:spPr>
        <p:txBody>
          <a:bodyPr wrap="square" lIns="0" tIns="0" rIns="0" bIns="0" rtlCol="0" anchor="t"/>
          <a:lstStyle/>
          <a:p>
            <a:pPr algn="l" indent="0" marL="0">
              <a:buNone/>
            </a:pPr>
            <a:r>
              <a:rPr lang="en-US" sz="1750" dirty="0">
                <a:solidFill>
                  <a:schemeClr val="tx1"/>
                </a:solidFill>
              </a:rPr>
              <a:t>Oude kinderfiets die een nieuwe band nodig heeft. Ideaal voor ouders die graag knutselen. Ophalen in Anderlecht, enkel dit weekend.</a:t>
            </a:r>
            <a:endParaRPr lang="en-US" sz="1750" dirty="0"/>
          </a:p>
        </p:txBody>
      </p:sp>
      <p:sp>
        <p:nvSpPr>
          <p:cNvPr id="31" name="Shape 26"/>
          <p:cNvSpPr/>
          <p:nvPr/>
        </p:nvSpPr>
        <p:spPr>
          <a:xfrm>
            <a:off x="9375648" y="5669280"/>
            <a:ext cx="2081784" cy="457200"/>
          </a:xfrm>
          <a:prstGeom prst="roundRect">
            <a:avLst>
              <a:gd name="adj" fmla="val 16000"/>
            </a:avLst>
          </a:prstGeom>
          <a:solidFill>
            <a:schemeClr val="tx2"/>
          </a:solidFill>
          <a:ln w="12700">
            <a:solidFill>
              <a:srgbClr val="FFFFFF">
                <a:alpha val="0"/>
              </a:srgbClr>
            </a:solidFill>
            <a:prstDash val="solid"/>
          </a:ln>
        </p:spPr>
      </p:sp>
      <p:sp>
        <p:nvSpPr>
          <p:cNvPr id="32" name="Text 27"/>
          <p:cNvSpPr txBox="1"/>
          <p:nvPr/>
        </p:nvSpPr>
        <p:spPr>
          <a:xfrm>
            <a:off x="9375648" y="5669280"/>
            <a:ext cx="2081784" cy="457200"/>
          </a:xfrm>
          <a:prstGeom prst="rect">
            <a:avLst/>
          </a:prstGeom>
          <a:noFill/>
          <a:ln/>
        </p:spPr>
        <p:txBody>
          <a:bodyPr wrap="square" lIns="0" tIns="0" rIns="0" bIns="0" rtlCol="0" anchor="ctr"/>
          <a:lstStyle/>
          <a:p>
            <a:pPr algn="ctr" indent="0" marL="0">
              <a:buNone/>
            </a:pPr>
            <a:r>
              <a:rPr lang="en-US" sz="1600" b="1" dirty="0">
                <a:solidFill>
                  <a:schemeClr val="bg1"/>
                </a:solidFill>
              </a:rPr>
              <a:t>gratis</a:t>
            </a:r>
            <a:endParaRPr lang="en-US" sz="16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200" b="1" dirty="0">
                <a:solidFill>
                  <a:schemeClr val="tx2"/>
                </a:solidFill>
              </a:rPr>
              <a:t>D2 Questions 1 à 3 — lire les petites annonces</a:t>
            </a:r>
            <a:endParaRPr lang="en-US" sz="3200" dirty="0"/>
          </a:p>
        </p:txBody>
      </p:sp>
      <p:sp>
        <p:nvSpPr>
          <p:cNvPr id="3" name="tag"/>
          <p:cNvSpPr/>
          <p:nvPr/>
        </p:nvSpPr>
        <p:spPr>
          <a:xfrm>
            <a:off x="548640" y="237744"/>
            <a:ext cx="1280160" cy="310896"/>
          </a:xfrm>
          <a:prstGeom prst="roundRect">
            <a:avLst>
              <a:gd name="adj" fmla="val 14706"/>
            </a:avLst>
          </a:prstGeom>
          <a:solidFill>
            <a:schemeClr val="accent2"/>
          </a:solidFill>
          <a:ln/>
        </p:spPr>
        <p:txBody>
          <a:bodyPr wrap="square" lIns="0" tIns="0" rIns="0" bIns="0" rtlCol="0" anchor="ctr"/>
          <a:lstStyle/>
          <a:p>
            <a:pPr algn="ctr" indent="0" marL="0">
              <a:buNone/>
            </a:pPr>
            <a:r>
              <a:rPr lang="en-US" sz="1200" b="1" spc="100" kern="0" dirty="0">
                <a:solidFill>
                  <a:schemeClr val="bg1"/>
                </a:solidFill>
              </a:rPr>
              <a:t>COUCHE 2</a:t>
            </a:r>
            <a:endParaRPr lang="en-US" sz="1200" dirty="0"/>
          </a:p>
        </p:txBody>
      </p:sp>
      <p:sp>
        <p:nvSpPr>
          <p:cNvPr id="4" name="Text 2"/>
          <p:cNvSpPr txBox="1"/>
          <p:nvPr/>
        </p:nvSpPr>
        <p:spPr>
          <a:xfrm>
            <a:off x="8897112" y="219456"/>
            <a:ext cx="2743200" cy="347472"/>
          </a:xfrm>
          <a:prstGeom prst="rect">
            <a:avLst/>
          </a:prstGeom>
          <a:noFill/>
          <a:ln/>
        </p:spPr>
        <p:txBody>
          <a:bodyPr wrap="square" lIns="0" tIns="0" rIns="0" bIns="0" rtlCol="0" anchor="ctr"/>
          <a:lstStyle/>
          <a:p>
            <a:pPr algn="r" indent="0" marL="0">
              <a:buNone/>
            </a:pPr>
            <a:r>
              <a:rPr lang="en-US" sz="1200" i="1" dirty="0">
                <a:solidFill>
                  <a:schemeClr val="accent5"/>
                </a:solidFill>
              </a:rPr>
              <a:t>Livret p. 10a</a:t>
            </a:r>
            <a:endParaRPr lang="en-US" sz="1200" dirty="0"/>
          </a:p>
        </p:txBody>
      </p:sp>
      <p:sp>
        <p:nvSpPr>
          <p:cNvPr id="6" name="Text 3"/>
          <p:cNvSpPr txBox="1"/>
          <p:nvPr/>
        </p:nvSpPr>
        <p:spPr>
          <a:xfrm>
            <a:off x="548640" y="1481328"/>
            <a:ext cx="7205472" cy="371856"/>
          </a:xfrm>
          <a:prstGeom prst="rect">
            <a:avLst/>
          </a:prstGeom>
          <a:noFill/>
          <a:ln/>
        </p:spPr>
        <p:txBody>
          <a:bodyPr wrap="square" lIns="0" tIns="0" rIns="0" bIns="0" rtlCol="0" anchor="t"/>
          <a:lstStyle/>
          <a:p>
            <a:pPr indent="0" marL="0">
              <a:buNone/>
            </a:pPr>
            <a:r>
              <a:rPr lang="en-US" sz="1600" i="1" dirty="0">
                <a:solidFill>
                  <a:schemeClr val="accent5"/>
                </a:solidFill>
              </a:rPr>
              <a:t>Par deux · 8 min. Répondez, puis soulignez les relatives.</a:t>
            </a:r>
            <a:endParaRPr lang="en-US" sz="1600" dirty="0"/>
          </a:p>
        </p:txBody>
      </p:sp>
      <p:sp>
        <p:nvSpPr>
          <p:cNvPr id="7" name="exercise"/>
          <p:cNvSpPr txBox="1"/>
          <p:nvPr/>
        </p:nvSpPr>
        <p:spPr>
          <a:xfrm>
            <a:off x="548640" y="1926336"/>
            <a:ext cx="7205472" cy="4364736"/>
          </a:xfrm>
          <a:prstGeom prst="rect">
            <a:avLst/>
          </a:prstGeom>
          <a:noFill/>
          <a:ln/>
        </p:spPr>
        <p:txBody>
          <a:bodyPr wrap="square" lIns="0" tIns="0" rIns="0" bIns="0" rtlCol="0" anchor="t"/>
          <a:lstStyle/>
          <a:p>
            <a:pPr indent="0" marL="0">
              <a:spcAft>
                <a:spcPts val="1800"/>
              </a:spcAft>
              <a:buNone/>
            </a:pPr>
            <a:r>
              <a:rPr lang="en-US" sz="2600" b="1" dirty="0">
                <a:solidFill>
                  <a:schemeClr val="tx1"/>
                </a:solidFill>
              </a:rPr>
              <a:t>1.</a:t>
            </a:r>
            <a:r>
              <a:rPr lang="en-US" sz="2600" dirty="0">
                <a:solidFill>
                  <a:schemeClr val="tx1"/>
                </a:solidFill>
              </a:rPr>
              <a:t> Welke advertentie past bij Stef ? Waarom ?</a:t>
            </a:r>
            <a:endParaRPr lang="en-US" sz="2600" dirty="0"/>
          </a:p>
          <a:p>
            <a:pPr indent="0" marL="0">
              <a:spcAft>
                <a:spcPts val="1800"/>
              </a:spcAft>
              <a:buNone/>
            </a:pPr>
            <a:r>
              <a:rPr lang="en-US" sz="2600" b="1" dirty="0">
                <a:solidFill>
                  <a:schemeClr val="tx1"/>
                </a:solidFill>
              </a:rPr>
              <a:t>2.</a:t>
            </a:r>
            <a:r>
              <a:rPr lang="en-US" sz="2600" dirty="0">
                <a:solidFill>
                  <a:schemeClr val="tx1"/>
                </a:solidFill>
              </a:rPr>
              <a:t> Soulignez les </a:t>
            </a:r>
            <a:r>
              <a:rPr lang="en-US" sz="2600" b="1" dirty="0">
                <a:solidFill>
                  <a:schemeClr val="tx1"/>
                </a:solidFill>
              </a:rPr>
              <a:t>cinq relatives</a:t>
            </a:r>
            <a:r>
              <a:rPr lang="en-US" sz="2600" dirty="0">
                <a:solidFill>
                  <a:schemeClr val="tx1"/>
                </a:solidFill>
              </a:rPr>
              <a:t> : die ou dat ?</a:t>
            </a:r>
            <a:endParaRPr lang="en-US" sz="2600" dirty="0"/>
          </a:p>
          <a:p>
            <a:pPr indent="0" marL="0">
              <a:spcAft>
                <a:spcPts val="1800"/>
              </a:spcAft>
              <a:buNone/>
            </a:pPr>
            <a:r>
              <a:rPr lang="en-US" sz="2600" b="1" dirty="0">
                <a:solidFill>
                  <a:schemeClr val="tx1"/>
                </a:solidFill>
              </a:rPr>
              <a:t>3.</a:t>
            </a:r>
            <a:r>
              <a:rPr lang="en-US" sz="2600" dirty="0">
                <a:solidFill>
                  <a:schemeClr val="tx1"/>
                </a:solidFill>
              </a:rPr>
              <a:t> Décodez : </a:t>
            </a:r>
            <a:r>
              <a:rPr lang="en-US" sz="2600" b="1" dirty="0">
                <a:solidFill>
                  <a:schemeClr val="tx1"/>
                </a:solidFill>
              </a:rPr>
              <a:t>z.g.a.n.</a:t>
            </a:r>
            <a:r>
              <a:rPr lang="en-US" sz="2600" dirty="0">
                <a:solidFill>
                  <a:schemeClr val="tx1"/>
                </a:solidFill>
              </a:rPr>
              <a:t> · </a:t>
            </a:r>
            <a:r>
              <a:rPr lang="en-US" sz="2600" b="1" dirty="0">
                <a:solidFill>
                  <a:schemeClr val="tx1"/>
                </a:solidFill>
              </a:rPr>
              <a:t>ophalen</a:t>
            </a:r>
            <a:r>
              <a:rPr lang="en-US" sz="2600" dirty="0">
                <a:solidFill>
                  <a:schemeClr val="tx1"/>
                </a:solidFill>
              </a:rPr>
              <a:t> · </a:t>
            </a:r>
            <a:r>
              <a:rPr lang="en-US" sz="2600" b="1" dirty="0">
                <a:solidFill>
                  <a:schemeClr val="tx1"/>
                </a:solidFill>
              </a:rPr>
              <a:t>prijs bespreekbaar ≠ vaste prijs</a:t>
            </a:r>
            <a:endParaRPr lang="en-US" sz="2600" dirty="0"/>
          </a:p>
        </p:txBody>
      </p:sp>
      <p:sp>
        <p:nvSpPr>
          <p:cNvPr id="8" name="aside"/>
          <p:cNvSpPr/>
          <p:nvPr/>
        </p:nvSpPr>
        <p:spPr>
          <a:xfrm>
            <a:off x="8074152" y="1481328"/>
            <a:ext cx="3566160" cy="4809744"/>
          </a:xfrm>
          <a:prstGeom prst="roundRect">
            <a:avLst>
              <a:gd name="adj" fmla="val 2051"/>
            </a:avLst>
          </a:prstGeom>
          <a:solidFill>
            <a:schemeClr val="accent2">
              <a:alpha val="10000"/>
            </a:schemeClr>
          </a:solidFill>
          <a:ln w="12700">
            <a:solidFill>
              <a:schemeClr val="accent2">
                <a:alpha val="60000"/>
              </a:schemeClr>
            </a:solidFill>
            <a:prstDash val="solid"/>
          </a:ln>
        </p:spPr>
      </p:sp>
      <p:pic>
        <p:nvPicPr>
          <p:cNvPr id="9" name="Image 0" descr="preencoded.png">    </p:cNvPr>
          <p:cNvPicPr>
            <a:picLocks noChangeAspect="1"/>
          </p:cNvPicPr>
          <p:nvPr/>
        </p:nvPicPr>
        <p:blipFill>
          <a:blip r:embed="rId1"/>
          <a:stretch>
            <a:fillRect/>
          </a:stretch>
        </p:blipFill>
        <p:spPr>
          <a:xfrm>
            <a:off x="8257032" y="1664208"/>
            <a:ext cx="292608" cy="292608"/>
          </a:xfrm>
          <a:prstGeom prst="rect">
            <a:avLst/>
          </a:prstGeom>
        </p:spPr>
      </p:pic>
      <p:sp>
        <p:nvSpPr>
          <p:cNvPr id="10" name="Text 6"/>
          <p:cNvSpPr txBox="1"/>
          <p:nvPr/>
        </p:nvSpPr>
        <p:spPr>
          <a:xfrm>
            <a:off x="8641080" y="1636776"/>
            <a:ext cx="2834640" cy="347472"/>
          </a:xfrm>
          <a:prstGeom prst="rect">
            <a:avLst/>
          </a:prstGeom>
          <a:noFill/>
          <a:ln/>
        </p:spPr>
        <p:txBody>
          <a:bodyPr wrap="square" lIns="0" tIns="0" rIns="0" bIns="0" rtlCol="0" anchor="ctr"/>
          <a:lstStyle/>
          <a:p>
            <a:pPr indent="0" marL="0">
              <a:buNone/>
            </a:pPr>
            <a:r>
              <a:rPr lang="en-US" sz="1400" b="1" spc="100" kern="0" dirty="0">
                <a:solidFill>
                  <a:schemeClr val="accent2"/>
                </a:solidFill>
              </a:rPr>
              <a:t>STEF</a:t>
            </a:r>
            <a:endParaRPr lang="en-US" sz="1400" dirty="0"/>
          </a:p>
        </p:txBody>
      </p:sp>
      <p:sp>
        <p:nvSpPr>
          <p:cNvPr id="11" name="Text 7"/>
          <p:cNvSpPr txBox="1"/>
          <p:nvPr/>
        </p:nvSpPr>
        <p:spPr>
          <a:xfrm>
            <a:off x="8238744" y="2075688"/>
            <a:ext cx="3236976" cy="4078224"/>
          </a:xfrm>
          <a:prstGeom prst="rect">
            <a:avLst/>
          </a:prstGeom>
          <a:noFill/>
          <a:ln/>
        </p:spPr>
        <p:txBody>
          <a:bodyPr wrap="square" lIns="0" tIns="0" rIns="0" bIns="0" rtlCol="0" anchor="t"/>
          <a:lstStyle/>
          <a:p>
            <a:pPr marL="177800" indent="-177800">
              <a:spcAft>
                <a:spcPts val="600"/>
              </a:spcAft>
              <a:buSzPct val="100000"/>
              <a:buChar char="•"/>
            </a:pPr>
            <a:r>
              <a:rPr lang="en-US" sz="1800" dirty="0">
                <a:solidFill>
                  <a:schemeClr val="tx1"/>
                </a:solidFill>
              </a:rPr>
              <a:t>budget : </a:t>
            </a:r>
            <a:r>
              <a:rPr lang="en-US" sz="1800" b="1" dirty="0">
                <a:solidFill>
                  <a:schemeClr val="tx1"/>
                </a:solidFill>
              </a:rPr>
              <a:t>€ 200</a:t>
            </a:r>
            <a:r>
              <a:rPr lang="en-US" sz="1800" dirty="0">
                <a:solidFill>
                  <a:schemeClr val="tx1"/>
                </a:solidFill>
              </a:rPr>
              <a:t> max</a:t>
            </a:r>
            <a:endParaRPr lang="en-US" sz="1800" dirty="0"/>
          </a:p>
          <a:p>
            <a:pPr marL="177800" indent="-177800">
              <a:spcAft>
                <a:spcPts val="600"/>
              </a:spcAft>
              <a:buSzPct val="100000"/>
              <a:buChar char="•"/>
            </a:pPr>
            <a:r>
              <a:rPr lang="en-US" sz="1800" dirty="0">
                <a:solidFill>
                  <a:schemeClr val="tx1"/>
                </a:solidFill>
              </a:rPr>
              <a:t>habite à </a:t>
            </a:r>
            <a:r>
              <a:rPr lang="en-US" sz="1800" b="1" dirty="0">
                <a:solidFill>
                  <a:schemeClr val="tx1"/>
                </a:solidFill>
              </a:rPr>
              <a:t>Vorst</a:t>
            </a:r>
            <a:endParaRPr lang="en-US" sz="1800" dirty="0"/>
          </a:p>
          <a:p>
            <a:pPr marL="177800" indent="-177800">
              <a:spcAft>
                <a:spcPts val="600"/>
              </a:spcAft>
              <a:buSzPct val="100000"/>
              <a:buChar char="•"/>
            </a:pPr>
            <a:r>
              <a:rPr lang="en-US" sz="1800" dirty="0">
                <a:solidFill>
                  <a:schemeClr val="tx1"/>
                </a:solidFill>
              </a:rPr>
              <a:t>va au bureau à vélo</a:t>
            </a:r>
            <a:endParaRPr lang="en-US" sz="18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200" b="1" dirty="0">
                <a:solidFill>
                  <a:schemeClr val="tx2"/>
                </a:solidFill>
              </a:rPr>
              <a:t>D2 Questions 1 à 3 — lire les petites annonces</a:t>
            </a:r>
            <a:endParaRPr lang="en-US" sz="3200" dirty="0"/>
          </a:p>
        </p:txBody>
      </p:sp>
      <p:sp>
        <p:nvSpPr>
          <p:cNvPr id="3" name="tag"/>
          <p:cNvSpPr/>
          <p:nvPr/>
        </p:nvSpPr>
        <p:spPr>
          <a:xfrm>
            <a:off x="548640" y="237744"/>
            <a:ext cx="1280160" cy="310896"/>
          </a:xfrm>
          <a:prstGeom prst="roundRect">
            <a:avLst>
              <a:gd name="adj" fmla="val 14706"/>
            </a:avLst>
          </a:prstGeom>
          <a:solidFill>
            <a:schemeClr val="accent2"/>
          </a:solidFill>
          <a:ln/>
        </p:spPr>
        <p:txBody>
          <a:bodyPr wrap="square" lIns="0" tIns="0" rIns="0" bIns="0" rtlCol="0" anchor="ctr"/>
          <a:lstStyle/>
          <a:p>
            <a:pPr algn="ctr" indent="0" marL="0">
              <a:buNone/>
            </a:pPr>
            <a:r>
              <a:rPr lang="en-US" sz="1200" b="1" spc="100" kern="0" dirty="0">
                <a:solidFill>
                  <a:schemeClr val="bg1"/>
                </a:solidFill>
              </a:rPr>
              <a:t>COUCHE 2</a:t>
            </a:r>
            <a:endParaRPr lang="en-US" sz="1200" dirty="0"/>
          </a:p>
        </p:txBody>
      </p:sp>
      <p:sp>
        <p:nvSpPr>
          <p:cNvPr id="4" name="tag"/>
          <p:cNvSpPr/>
          <p:nvPr/>
        </p:nvSpPr>
        <p:spPr>
          <a:xfrm>
            <a:off x="1938528" y="237744"/>
            <a:ext cx="1760220" cy="310896"/>
          </a:xfrm>
          <a:prstGeom prst="roundRect">
            <a:avLst>
              <a:gd name="adj" fmla="val 14706"/>
            </a:avLst>
          </a:prstGeom>
          <a:solidFill>
            <a:schemeClr val="accent3"/>
          </a:solidFill>
          <a:ln/>
        </p:spPr>
        <p:txBody>
          <a:bodyPr wrap="square" lIns="0" tIns="0" rIns="0" bIns="0" rtlCol="0" anchor="ctr"/>
          <a:lstStyle/>
          <a:p>
            <a:pPr algn="ctr" indent="0" marL="0">
              <a:buNone/>
            </a:pPr>
            <a:r>
              <a:rPr lang="en-US" sz="1200" b="1" spc="100" kern="0" dirty="0">
                <a:solidFill>
                  <a:schemeClr val="bg1"/>
                </a:solidFill>
              </a:rPr>
              <a:t>✓ CORRECTIE</a:t>
            </a:r>
            <a:endParaRPr lang="en-US" sz="1200" dirty="0"/>
          </a:p>
        </p:txBody>
      </p:sp>
      <p:sp>
        <p:nvSpPr>
          <p:cNvPr id="5" name="Text 3"/>
          <p:cNvSpPr txBox="1"/>
          <p:nvPr/>
        </p:nvSpPr>
        <p:spPr>
          <a:xfrm>
            <a:off x="8897112" y="219456"/>
            <a:ext cx="2743200" cy="347472"/>
          </a:xfrm>
          <a:prstGeom prst="rect">
            <a:avLst/>
          </a:prstGeom>
          <a:noFill/>
          <a:ln/>
        </p:spPr>
        <p:txBody>
          <a:bodyPr wrap="square" lIns="0" tIns="0" rIns="0" bIns="0" rtlCol="0" anchor="ctr"/>
          <a:lstStyle/>
          <a:p>
            <a:pPr algn="r" indent="0" marL="0">
              <a:buNone/>
            </a:pPr>
            <a:r>
              <a:rPr lang="en-US" sz="1200" i="1" dirty="0">
                <a:solidFill>
                  <a:schemeClr val="accent5"/>
                </a:solidFill>
              </a:rPr>
              <a:t>Livret p. 10a</a:t>
            </a:r>
            <a:endParaRPr lang="en-US" sz="1200" dirty="0"/>
          </a:p>
        </p:txBody>
      </p:sp>
      <p:sp>
        <p:nvSpPr>
          <p:cNvPr id="7" name="Text 4"/>
          <p:cNvSpPr txBox="1"/>
          <p:nvPr/>
        </p:nvSpPr>
        <p:spPr>
          <a:xfrm>
            <a:off x="548640" y="1481328"/>
            <a:ext cx="7205472" cy="371856"/>
          </a:xfrm>
          <a:prstGeom prst="rect">
            <a:avLst/>
          </a:prstGeom>
          <a:noFill/>
          <a:ln/>
        </p:spPr>
        <p:txBody>
          <a:bodyPr wrap="square" lIns="0" tIns="0" rIns="0" bIns="0" rtlCol="0" anchor="t"/>
          <a:lstStyle/>
          <a:p>
            <a:pPr indent="0" marL="0">
              <a:buNone/>
            </a:pPr>
            <a:r>
              <a:rPr lang="en-US" sz="1600" i="1" dirty="0">
                <a:solidFill>
                  <a:schemeClr val="accent5"/>
                </a:solidFill>
              </a:rPr>
              <a:t>Par deux · 8 min. Répondez, puis soulignez les relatives.</a:t>
            </a:r>
            <a:endParaRPr lang="en-US" sz="1600" dirty="0"/>
          </a:p>
        </p:txBody>
      </p:sp>
      <p:sp>
        <p:nvSpPr>
          <p:cNvPr id="8" name="exercise"/>
          <p:cNvSpPr txBox="1"/>
          <p:nvPr/>
        </p:nvSpPr>
        <p:spPr>
          <a:xfrm>
            <a:off x="548640" y="1926336"/>
            <a:ext cx="7205472" cy="4364736"/>
          </a:xfrm>
          <a:prstGeom prst="rect">
            <a:avLst/>
          </a:prstGeom>
          <a:noFill/>
          <a:ln/>
        </p:spPr>
        <p:txBody>
          <a:bodyPr wrap="square" lIns="0" tIns="0" rIns="0" bIns="0" rtlCol="0" anchor="t"/>
          <a:lstStyle/>
          <a:p>
            <a:pPr indent="0" marL="0">
              <a:spcAft>
                <a:spcPts val="400"/>
              </a:spcAft>
              <a:buNone/>
            </a:pPr>
            <a:r>
              <a:rPr lang="en-US" sz="2100" b="1" dirty="0">
                <a:solidFill>
                  <a:schemeClr val="tx1"/>
                </a:solidFill>
              </a:rPr>
              <a:t>1.</a:t>
            </a:r>
            <a:r>
              <a:rPr lang="en-US" sz="2100" dirty="0">
                <a:solidFill>
                  <a:schemeClr val="tx1"/>
                </a:solidFill>
              </a:rPr>
              <a:t> Welke advertentie past bij Stef ? Waarom ?</a:t>
            </a:r>
            <a:endParaRPr lang="en-US" sz="2100" dirty="0"/>
          </a:p>
          <a:p>
            <a:pPr indent="0" marL="0">
              <a:spcAft>
                <a:spcPts val="800"/>
              </a:spcAft>
              <a:buNone/>
            </a:pPr>
            <a:r>
              <a:rPr lang="en-US" sz="2100" b="1" dirty="0">
                <a:solidFill>
                  <a:schemeClr val="accent3"/>
                </a:solidFill>
              </a:rPr>
              <a:t>→ </a:t>
            </a:r>
            <a:r>
              <a:rPr lang="en-US" sz="2100" b="1" dirty="0">
                <a:solidFill>
                  <a:schemeClr val="accent3"/>
                </a:solidFill>
              </a:rPr>
              <a:t>A</a:t>
            </a:r>
            <a:r>
              <a:rPr lang="en-US" sz="2100" dirty="0">
                <a:solidFill>
                  <a:schemeClr val="accent3"/>
                </a:solidFill>
              </a:rPr>
              <a:t> : stadsfiets à € 180 (≤ € 200), ophalen in Vorst. B coûte € 650 ; C est un vélo d’enfant.</a:t>
            </a:r>
            <a:endParaRPr lang="en-US" sz="2100" dirty="0"/>
          </a:p>
          <a:p>
            <a:pPr indent="0" marL="0">
              <a:spcAft>
                <a:spcPts val="400"/>
              </a:spcAft>
              <a:buNone/>
            </a:pPr>
            <a:r>
              <a:rPr lang="en-US" sz="2100" b="1" dirty="0">
                <a:solidFill>
                  <a:schemeClr val="tx1"/>
                </a:solidFill>
              </a:rPr>
              <a:t>2.</a:t>
            </a:r>
            <a:r>
              <a:rPr lang="en-US" sz="2100" dirty="0">
                <a:solidFill>
                  <a:schemeClr val="tx1"/>
                </a:solidFill>
              </a:rPr>
              <a:t> Soulignez les </a:t>
            </a:r>
            <a:r>
              <a:rPr lang="en-US" sz="2100" b="1" dirty="0">
                <a:solidFill>
                  <a:schemeClr val="tx1"/>
                </a:solidFill>
              </a:rPr>
              <a:t>cinq relatives</a:t>
            </a:r>
            <a:r>
              <a:rPr lang="en-US" sz="2100" dirty="0">
                <a:solidFill>
                  <a:schemeClr val="tx1"/>
                </a:solidFill>
              </a:rPr>
              <a:t> : die ou dat ?</a:t>
            </a:r>
            <a:endParaRPr lang="en-US" sz="2100" dirty="0"/>
          </a:p>
          <a:p>
            <a:pPr indent="0" marL="0">
              <a:spcAft>
                <a:spcPts val="800"/>
              </a:spcAft>
              <a:buNone/>
            </a:pPr>
            <a:r>
              <a:rPr lang="en-US" sz="2100" b="1" dirty="0">
                <a:solidFill>
                  <a:schemeClr val="accent3"/>
                </a:solidFill>
              </a:rPr>
              <a:t>→ </a:t>
            </a:r>
            <a:r>
              <a:rPr lang="en-US" sz="2100" b="1" dirty="0">
                <a:solidFill>
                  <a:schemeClr val="accent3"/>
                </a:solidFill>
              </a:rPr>
              <a:t>dat</a:t>
            </a:r>
            <a:r>
              <a:rPr lang="en-US" sz="2100" dirty="0">
                <a:solidFill>
                  <a:schemeClr val="accent3"/>
                </a:solidFill>
              </a:rPr>
              <a:t> erbij hoort (het slot) · </a:t>
            </a:r>
            <a:r>
              <a:rPr lang="en-US" sz="2100" b="1" dirty="0">
                <a:solidFill>
                  <a:schemeClr val="accent3"/>
                </a:solidFill>
              </a:rPr>
              <a:t>die</a:t>
            </a:r>
            <a:r>
              <a:rPr lang="en-US" sz="2100" dirty="0">
                <a:solidFill>
                  <a:schemeClr val="accent3"/>
                </a:solidFill>
              </a:rPr>
              <a:t> dagelijks… fietst (iemand) · </a:t>
            </a:r>
            <a:r>
              <a:rPr lang="en-US" sz="2100" b="1" dirty="0">
                <a:solidFill>
                  <a:schemeClr val="accent3"/>
                </a:solidFill>
              </a:rPr>
              <a:t>die</a:t>
            </a:r>
            <a:r>
              <a:rPr lang="en-US" sz="2100" dirty="0">
                <a:solidFill>
                  <a:schemeClr val="accent3"/>
                </a:solidFill>
              </a:rPr>
              <a:t> snelheid zoeken (pluriel) · </a:t>
            </a:r>
            <a:r>
              <a:rPr lang="en-US" sz="2100" b="1" dirty="0">
                <a:solidFill>
                  <a:schemeClr val="accent3"/>
                </a:solidFill>
              </a:rPr>
              <a:t>die</a:t>
            </a:r>
            <a:r>
              <a:rPr lang="en-US" sz="2100" dirty="0">
                <a:solidFill>
                  <a:schemeClr val="accent3"/>
                </a:solidFill>
              </a:rPr>
              <a:t> een nieuwe band… (de kinderfiets) · </a:t>
            </a:r>
            <a:r>
              <a:rPr lang="en-US" sz="2100" b="1" dirty="0">
                <a:solidFill>
                  <a:schemeClr val="accent3"/>
                </a:solidFill>
              </a:rPr>
              <a:t>die</a:t>
            </a:r>
            <a:r>
              <a:rPr lang="en-US" sz="2100" dirty="0">
                <a:solidFill>
                  <a:schemeClr val="accent3"/>
                </a:solidFill>
              </a:rPr>
              <a:t> graag knutselen (pluriel)</a:t>
            </a:r>
            <a:endParaRPr lang="en-US" sz="2100" dirty="0"/>
          </a:p>
          <a:p>
            <a:pPr indent="0" marL="0">
              <a:spcAft>
                <a:spcPts val="400"/>
              </a:spcAft>
              <a:buNone/>
            </a:pPr>
            <a:r>
              <a:rPr lang="en-US" sz="2100" b="1" dirty="0">
                <a:solidFill>
                  <a:schemeClr val="tx1"/>
                </a:solidFill>
              </a:rPr>
              <a:t>3.</a:t>
            </a:r>
            <a:r>
              <a:rPr lang="en-US" sz="2100" dirty="0">
                <a:solidFill>
                  <a:schemeClr val="tx1"/>
                </a:solidFill>
              </a:rPr>
              <a:t> Décodez : </a:t>
            </a:r>
            <a:r>
              <a:rPr lang="en-US" sz="2100" b="1" dirty="0">
                <a:solidFill>
                  <a:schemeClr val="tx1"/>
                </a:solidFill>
              </a:rPr>
              <a:t>z.g.a.n.</a:t>
            </a:r>
            <a:r>
              <a:rPr lang="en-US" sz="2100" dirty="0">
                <a:solidFill>
                  <a:schemeClr val="tx1"/>
                </a:solidFill>
              </a:rPr>
              <a:t> · </a:t>
            </a:r>
            <a:r>
              <a:rPr lang="en-US" sz="2100" b="1" dirty="0">
                <a:solidFill>
                  <a:schemeClr val="tx1"/>
                </a:solidFill>
              </a:rPr>
              <a:t>ophalen</a:t>
            </a:r>
            <a:r>
              <a:rPr lang="en-US" sz="2100" dirty="0">
                <a:solidFill>
                  <a:schemeClr val="tx1"/>
                </a:solidFill>
              </a:rPr>
              <a:t> · </a:t>
            </a:r>
            <a:r>
              <a:rPr lang="en-US" sz="2100" b="1" dirty="0">
                <a:solidFill>
                  <a:schemeClr val="tx1"/>
                </a:solidFill>
              </a:rPr>
              <a:t>prijs bespreekbaar ≠ vaste prijs</a:t>
            </a:r>
            <a:endParaRPr lang="en-US" sz="2100" dirty="0"/>
          </a:p>
          <a:p>
            <a:pPr indent="0" marL="0">
              <a:spcAft>
                <a:spcPts val="800"/>
              </a:spcAft>
              <a:buNone/>
            </a:pPr>
            <a:r>
              <a:rPr lang="en-US" sz="2100" b="1" dirty="0">
                <a:solidFill>
                  <a:schemeClr val="accent3"/>
                </a:solidFill>
              </a:rPr>
              <a:t>→ </a:t>
            </a:r>
            <a:r>
              <a:rPr lang="en-US" sz="2100" b="1" dirty="0">
                <a:solidFill>
                  <a:schemeClr val="accent3"/>
                </a:solidFill>
              </a:rPr>
              <a:t>zo goed als nieuw</a:t>
            </a:r>
            <a:r>
              <a:rPr lang="en-US" sz="2100" dirty="0">
                <a:solidFill>
                  <a:schemeClr val="accent3"/>
                </a:solidFill>
              </a:rPr>
              <a:t> (comme neuf) · </a:t>
            </a:r>
            <a:r>
              <a:rPr lang="en-US" sz="2100" b="1" dirty="0">
                <a:solidFill>
                  <a:schemeClr val="accent3"/>
                </a:solidFill>
              </a:rPr>
              <a:t>venir chercher sur place</a:t>
            </a:r>
            <a:r>
              <a:rPr lang="en-US" sz="2100" dirty="0">
                <a:solidFill>
                  <a:schemeClr val="accent3"/>
                </a:solidFill>
              </a:rPr>
              <a:t> · </a:t>
            </a:r>
            <a:r>
              <a:rPr lang="en-US" sz="2100" b="1" dirty="0">
                <a:solidFill>
                  <a:schemeClr val="accent3"/>
                </a:solidFill>
              </a:rPr>
              <a:t>négociable ≠ fixe</a:t>
            </a:r>
            <a:endParaRPr lang="en-US" sz="2100" dirty="0"/>
          </a:p>
        </p:txBody>
      </p:sp>
      <p:sp>
        <p:nvSpPr>
          <p:cNvPr id="9" name="aside"/>
          <p:cNvSpPr/>
          <p:nvPr/>
        </p:nvSpPr>
        <p:spPr>
          <a:xfrm>
            <a:off x="8074152" y="1481328"/>
            <a:ext cx="3566160" cy="4809744"/>
          </a:xfrm>
          <a:prstGeom prst="roundRect">
            <a:avLst>
              <a:gd name="adj" fmla="val 2051"/>
            </a:avLst>
          </a:prstGeom>
          <a:solidFill>
            <a:schemeClr val="accent2">
              <a:alpha val="10000"/>
            </a:schemeClr>
          </a:solidFill>
          <a:ln w="12700">
            <a:solidFill>
              <a:schemeClr val="accent2">
                <a:alpha val="60000"/>
              </a:schemeClr>
            </a:solidFill>
            <a:prstDash val="solid"/>
          </a:ln>
        </p:spPr>
      </p:sp>
      <p:pic>
        <p:nvPicPr>
          <p:cNvPr id="10" name="Image 0" descr="preencoded.png">    </p:cNvPr>
          <p:cNvPicPr>
            <a:picLocks noChangeAspect="1"/>
          </p:cNvPicPr>
          <p:nvPr/>
        </p:nvPicPr>
        <p:blipFill>
          <a:blip r:embed="rId1"/>
          <a:stretch>
            <a:fillRect/>
          </a:stretch>
        </p:blipFill>
        <p:spPr>
          <a:xfrm>
            <a:off x="8257032" y="1664208"/>
            <a:ext cx="292608" cy="292608"/>
          </a:xfrm>
          <a:prstGeom prst="rect">
            <a:avLst/>
          </a:prstGeom>
        </p:spPr>
      </p:pic>
      <p:sp>
        <p:nvSpPr>
          <p:cNvPr id="11" name="Text 7"/>
          <p:cNvSpPr txBox="1"/>
          <p:nvPr/>
        </p:nvSpPr>
        <p:spPr>
          <a:xfrm>
            <a:off x="8641080" y="1636776"/>
            <a:ext cx="2834640" cy="347472"/>
          </a:xfrm>
          <a:prstGeom prst="rect">
            <a:avLst/>
          </a:prstGeom>
          <a:noFill/>
          <a:ln/>
        </p:spPr>
        <p:txBody>
          <a:bodyPr wrap="square" lIns="0" tIns="0" rIns="0" bIns="0" rtlCol="0" anchor="ctr"/>
          <a:lstStyle/>
          <a:p>
            <a:pPr indent="0" marL="0">
              <a:buNone/>
            </a:pPr>
            <a:r>
              <a:rPr lang="en-US" sz="1400" b="1" spc="100" kern="0" dirty="0">
                <a:solidFill>
                  <a:schemeClr val="accent2"/>
                </a:solidFill>
              </a:rPr>
              <a:t>STEF</a:t>
            </a:r>
            <a:endParaRPr lang="en-US" sz="1400" dirty="0"/>
          </a:p>
        </p:txBody>
      </p:sp>
      <p:sp>
        <p:nvSpPr>
          <p:cNvPr id="12" name="Text 8"/>
          <p:cNvSpPr txBox="1"/>
          <p:nvPr/>
        </p:nvSpPr>
        <p:spPr>
          <a:xfrm>
            <a:off x="8238744" y="2075688"/>
            <a:ext cx="3236976" cy="4078224"/>
          </a:xfrm>
          <a:prstGeom prst="rect">
            <a:avLst/>
          </a:prstGeom>
          <a:noFill/>
          <a:ln/>
        </p:spPr>
        <p:txBody>
          <a:bodyPr wrap="square" lIns="0" tIns="0" rIns="0" bIns="0" rtlCol="0" anchor="t"/>
          <a:lstStyle/>
          <a:p>
            <a:pPr marL="177800" indent="-177800">
              <a:spcAft>
                <a:spcPts val="600"/>
              </a:spcAft>
              <a:buSzPct val="100000"/>
              <a:buChar char="•"/>
            </a:pPr>
            <a:r>
              <a:rPr lang="en-US" sz="1800" dirty="0">
                <a:solidFill>
                  <a:schemeClr val="tx1"/>
                </a:solidFill>
              </a:rPr>
              <a:t>budget : </a:t>
            </a:r>
            <a:r>
              <a:rPr lang="en-US" sz="1800" b="1" dirty="0">
                <a:solidFill>
                  <a:schemeClr val="tx1"/>
                </a:solidFill>
              </a:rPr>
              <a:t>€ 200</a:t>
            </a:r>
            <a:r>
              <a:rPr lang="en-US" sz="1800" dirty="0">
                <a:solidFill>
                  <a:schemeClr val="tx1"/>
                </a:solidFill>
              </a:rPr>
              <a:t> max</a:t>
            </a:r>
            <a:endParaRPr lang="en-US" sz="1800" dirty="0"/>
          </a:p>
          <a:p>
            <a:pPr marL="177800" indent="-177800">
              <a:spcAft>
                <a:spcPts val="600"/>
              </a:spcAft>
              <a:buSzPct val="100000"/>
              <a:buChar char="•"/>
            </a:pPr>
            <a:r>
              <a:rPr lang="en-US" sz="1800" dirty="0">
                <a:solidFill>
                  <a:schemeClr val="tx1"/>
                </a:solidFill>
              </a:rPr>
              <a:t>habite à </a:t>
            </a:r>
            <a:r>
              <a:rPr lang="en-US" sz="1800" b="1" dirty="0">
                <a:solidFill>
                  <a:schemeClr val="tx1"/>
                </a:solidFill>
              </a:rPr>
              <a:t>Vorst</a:t>
            </a:r>
            <a:endParaRPr lang="en-US" sz="1800" dirty="0"/>
          </a:p>
          <a:p>
            <a:pPr marL="177800" indent="-177800">
              <a:spcAft>
                <a:spcPts val="600"/>
              </a:spcAft>
              <a:buSzPct val="100000"/>
              <a:buChar char="•"/>
            </a:pPr>
            <a:r>
              <a:rPr lang="en-US" sz="1800" dirty="0">
                <a:solidFill>
                  <a:schemeClr val="tx1"/>
                </a:solidFill>
              </a:rPr>
              <a:t>va au bureau à vélo</a:t>
            </a:r>
            <a:endParaRPr lang="en-US" sz="18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200" b="1" dirty="0">
                <a:solidFill>
                  <a:schemeClr val="tx2"/>
                </a:solidFill>
              </a:rPr>
              <a:t>D2 Question 4 — À vous : votre annonce</a:t>
            </a:r>
            <a:endParaRPr lang="en-US" sz="3200" dirty="0"/>
          </a:p>
        </p:txBody>
      </p:sp>
      <p:sp>
        <p:nvSpPr>
          <p:cNvPr id="3" name="tag"/>
          <p:cNvSpPr/>
          <p:nvPr/>
        </p:nvSpPr>
        <p:spPr>
          <a:xfrm>
            <a:off x="548640" y="237744"/>
            <a:ext cx="1074420" cy="310896"/>
          </a:xfrm>
          <a:prstGeom prst="roundRect">
            <a:avLst>
              <a:gd name="adj" fmla="val 14706"/>
            </a:avLst>
          </a:prstGeom>
          <a:solidFill>
            <a:schemeClr val="accent1"/>
          </a:solidFill>
          <a:ln/>
        </p:spPr>
        <p:txBody>
          <a:bodyPr wrap="square" lIns="0" tIns="0" rIns="0" bIns="0" rtlCol="0" anchor="ctr"/>
          <a:lstStyle/>
          <a:p>
            <a:pPr algn="ctr" indent="0" marL="0">
              <a:buNone/>
            </a:pPr>
            <a:r>
              <a:rPr lang="en-US" sz="1200" b="1" spc="100" kern="0" dirty="0">
                <a:solidFill>
                  <a:schemeClr val="bg1"/>
                </a:solidFill>
              </a:rPr>
              <a:t>ÉCRIT</a:t>
            </a:r>
            <a:endParaRPr lang="en-US" sz="1200" dirty="0"/>
          </a:p>
        </p:txBody>
      </p:sp>
      <p:sp>
        <p:nvSpPr>
          <p:cNvPr id="4" name="Text 2"/>
          <p:cNvSpPr txBox="1"/>
          <p:nvPr/>
        </p:nvSpPr>
        <p:spPr>
          <a:xfrm>
            <a:off x="8897112" y="219456"/>
            <a:ext cx="2743200" cy="347472"/>
          </a:xfrm>
          <a:prstGeom prst="rect">
            <a:avLst/>
          </a:prstGeom>
          <a:noFill/>
          <a:ln/>
        </p:spPr>
        <p:txBody>
          <a:bodyPr wrap="square" lIns="0" tIns="0" rIns="0" bIns="0" rtlCol="0" anchor="ctr"/>
          <a:lstStyle/>
          <a:p>
            <a:pPr algn="r" indent="0" marL="0">
              <a:buNone/>
            </a:pPr>
            <a:r>
              <a:rPr lang="en-US" sz="1200" i="1" dirty="0">
                <a:solidFill>
                  <a:schemeClr val="accent5"/>
                </a:solidFill>
              </a:rPr>
              <a:t>Livret p. 10a</a:t>
            </a:r>
            <a:endParaRPr lang="en-US" sz="1200" dirty="0"/>
          </a:p>
        </p:txBody>
      </p:sp>
      <p:sp>
        <p:nvSpPr>
          <p:cNvPr id="6" name="Text 3"/>
          <p:cNvSpPr txBox="1"/>
          <p:nvPr/>
        </p:nvSpPr>
        <p:spPr>
          <a:xfrm>
            <a:off x="548640" y="1481328"/>
            <a:ext cx="7205472" cy="615696"/>
          </a:xfrm>
          <a:prstGeom prst="rect">
            <a:avLst/>
          </a:prstGeom>
          <a:noFill/>
          <a:ln/>
        </p:spPr>
        <p:txBody>
          <a:bodyPr wrap="square" lIns="0" tIns="0" rIns="0" bIns="0" rtlCol="0" anchor="t"/>
          <a:lstStyle/>
          <a:p>
            <a:pPr indent="0" marL="0">
              <a:buNone/>
            </a:pPr>
            <a:r>
              <a:rPr lang="en-US" sz="1600" i="1" dirty="0">
                <a:solidFill>
                  <a:schemeClr val="accent5"/>
                </a:solidFill>
              </a:rPr>
              <a:t>Seul·e · 7 min. Vous vendez un objet (meubel, toestel, kleren…) : une annonce en </a:t>
            </a:r>
            <a:r>
              <a:rPr lang="en-US" sz="1600" b="1" i="1" dirty="0">
                <a:solidFill>
                  <a:schemeClr val="accent5"/>
                </a:solidFill>
              </a:rPr>
              <a:t>3 phrases</a:t>
            </a:r>
            <a:r>
              <a:rPr lang="en-US" sz="1600" i="1" dirty="0">
                <a:solidFill>
                  <a:schemeClr val="accent5"/>
                </a:solidFill>
              </a:rPr>
              <a:t>, avec </a:t>
            </a:r>
            <a:r>
              <a:rPr lang="en-US" sz="1600" b="1" i="1" dirty="0">
                <a:solidFill>
                  <a:schemeClr val="accent5"/>
                </a:solidFill>
              </a:rPr>
              <a:t>2 relatives</a:t>
            </a:r>
            <a:r>
              <a:rPr lang="en-US" sz="1600" i="1" dirty="0">
                <a:solidFill>
                  <a:schemeClr val="accent5"/>
                </a:solidFill>
              </a:rPr>
              <a:t> et </a:t>
            </a:r>
            <a:r>
              <a:rPr lang="en-US" sz="1600" b="1" i="1" dirty="0">
                <a:solidFill>
                  <a:schemeClr val="accent5"/>
                </a:solidFill>
              </a:rPr>
              <a:t>une abréviation</a:t>
            </a:r>
            <a:r>
              <a:rPr lang="en-US" sz="1600" i="1" dirty="0">
                <a:solidFill>
                  <a:schemeClr val="accent5"/>
                </a:solidFill>
              </a:rPr>
              <a:t>.</a:t>
            </a:r>
            <a:endParaRPr lang="en-US" sz="1600" dirty="0"/>
          </a:p>
        </p:txBody>
      </p:sp>
      <p:sp>
        <p:nvSpPr>
          <p:cNvPr id="7" name="exercise"/>
          <p:cNvSpPr txBox="1"/>
          <p:nvPr/>
        </p:nvSpPr>
        <p:spPr>
          <a:xfrm>
            <a:off x="548640" y="2170176"/>
            <a:ext cx="7205472" cy="4120896"/>
          </a:xfrm>
          <a:prstGeom prst="rect">
            <a:avLst/>
          </a:prstGeom>
          <a:noFill/>
          <a:ln/>
        </p:spPr>
        <p:txBody>
          <a:bodyPr wrap="square" lIns="0" tIns="0" rIns="0" bIns="0" rtlCol="0" anchor="t"/>
          <a:lstStyle/>
          <a:p>
            <a:pPr indent="0" marL="0">
              <a:spcAft>
                <a:spcPts val="600"/>
              </a:spcAft>
              <a:buNone/>
            </a:pPr>
            <a:r>
              <a:rPr lang="en-US" sz="2400" b="1" dirty="0">
                <a:solidFill>
                  <a:schemeClr val="tx2"/>
                </a:solidFill>
              </a:rPr>
              <a:t>Modèle (à adapter)</a:t>
            </a:r>
            <a:endParaRPr lang="en-US" sz="2400" dirty="0"/>
          </a:p>
          <a:p>
            <a:pPr indent="0" marL="0">
              <a:spcAft>
                <a:spcPts val="800"/>
              </a:spcAft>
              <a:buNone/>
            </a:pPr>
            <a:r>
              <a:rPr lang="en-US" sz="2400" b="1" dirty="0">
                <a:solidFill>
                  <a:schemeClr val="tx1"/>
                </a:solidFill>
              </a:rPr>
              <a:t>TE KOOP</a:t>
            </a:r>
            <a:r>
              <a:rPr lang="en-US" sz="2400" dirty="0">
                <a:solidFill>
                  <a:schemeClr val="tx1"/>
                </a:solidFill>
              </a:rPr>
              <a:t> — Bureaulamp, z.g.a.n., </a:t>
            </a:r>
            <a:r>
              <a:rPr lang="en-US" sz="2400" b="1" dirty="0">
                <a:solidFill>
                  <a:schemeClr val="accent2"/>
                </a:solidFill>
              </a:rPr>
              <a:t>die</a:t>
            </a:r>
            <a:r>
              <a:rPr lang="en-US" sz="2400" dirty="0">
                <a:solidFill>
                  <a:schemeClr val="tx1"/>
                </a:solidFill>
              </a:rPr>
              <a:t> nog perfect werkt. Ideaal voor iemand </a:t>
            </a:r>
            <a:r>
              <a:rPr lang="en-US" sz="2400" b="1" dirty="0">
                <a:solidFill>
                  <a:schemeClr val="accent2"/>
                </a:solidFill>
              </a:rPr>
              <a:t>die</a:t>
            </a:r>
            <a:r>
              <a:rPr lang="en-US" sz="2400" dirty="0">
                <a:solidFill>
                  <a:schemeClr val="tx1"/>
                </a:solidFill>
              </a:rPr>
              <a:t> thuis werkt. Ophalen in Elsene: € 15, prijs bespreekbaar.</a:t>
            </a:r>
            <a:endParaRPr lang="en-US" sz="2400" dirty="0"/>
          </a:p>
          <a:p>
            <a:pPr indent="0" marL="0">
              <a:spcBef>
                <a:spcPts val="800"/>
              </a:spcBef>
              <a:spcAft>
                <a:spcPts val="600"/>
              </a:spcAft>
              <a:buNone/>
            </a:pPr>
            <a:r>
              <a:rPr lang="en-US" sz="2400" b="1" dirty="0">
                <a:solidFill>
                  <a:schemeClr val="tx2"/>
                </a:solidFill>
              </a:rPr>
              <a:t>Autre exemple</a:t>
            </a:r>
            <a:endParaRPr lang="en-US" sz="2400" dirty="0"/>
          </a:p>
          <a:p>
            <a:pPr indent="0" marL="0">
              <a:spcAft>
                <a:spcPts val="800"/>
              </a:spcAft>
              <a:buNone/>
            </a:pPr>
            <a:r>
              <a:rPr lang="en-US" sz="2400" b="1" dirty="0">
                <a:solidFill>
                  <a:schemeClr val="tx1"/>
                </a:solidFill>
              </a:rPr>
              <a:t>GRATIS</a:t>
            </a:r>
            <a:r>
              <a:rPr lang="en-US" sz="2400" dirty="0">
                <a:solidFill>
                  <a:schemeClr val="tx1"/>
                </a:solidFill>
              </a:rPr>
              <a:t> — Oude fauteuil </a:t>
            </a:r>
            <a:r>
              <a:rPr lang="en-US" sz="2400" b="1" dirty="0">
                <a:solidFill>
                  <a:schemeClr val="accent2"/>
                </a:solidFill>
              </a:rPr>
              <a:t>die</a:t>
            </a:r>
            <a:r>
              <a:rPr lang="en-US" sz="2400" dirty="0">
                <a:solidFill>
                  <a:schemeClr val="tx1"/>
                </a:solidFill>
              </a:rPr>
              <a:t> nog stevig is. Ideaal voor een student </a:t>
            </a:r>
            <a:r>
              <a:rPr lang="en-US" sz="2400" b="1" dirty="0">
                <a:solidFill>
                  <a:schemeClr val="accent2"/>
                </a:solidFill>
              </a:rPr>
              <a:t>die</a:t>
            </a:r>
            <a:r>
              <a:rPr lang="en-US" sz="2400" dirty="0">
                <a:solidFill>
                  <a:schemeClr val="tx1"/>
                </a:solidFill>
              </a:rPr>
              <a:t> een goedkope stoel zoekt. Ophalen in Vorst, enkel dit weekend.</a:t>
            </a:r>
            <a:endParaRPr lang="en-US" sz="2400" dirty="0"/>
          </a:p>
        </p:txBody>
      </p:sp>
      <p:pic>
        <p:nvPicPr>
          <p:cNvPr id="8" name="illustration" descr="Illustration du syllabus">    </p:cNvPr>
          <p:cNvPicPr>
            <a:picLocks noChangeAspect="1"/>
          </p:cNvPicPr>
          <p:nvPr/>
        </p:nvPicPr>
        <p:blipFill>
          <a:blip r:embed="rId1"/>
          <a:stretch>
            <a:fillRect/>
          </a:stretch>
        </p:blipFill>
        <p:spPr>
          <a:xfrm>
            <a:off x="8912352" y="1481328"/>
            <a:ext cx="1889760" cy="2834640"/>
          </a:xfrm>
          <a:prstGeom prst="rect">
            <a:avLst/>
          </a:prstGeom>
          <a:effectLst>
            <a:outerShdw sx="100000" sy="100000" kx="0" ky="0" algn="bl" rotWithShape="0" blurRad="101600" dist="25400" dir="3600000">
              <a:srgbClr val="000000">
                <a:alpha val="18000"/>
              </a:srgbClr>
            </a:outerShdw>
          </a:effectLst>
        </p:spPr>
      </p:pic>
      <p:sp>
        <p:nvSpPr>
          <p:cNvPr id="9" name="aside"/>
          <p:cNvSpPr/>
          <p:nvPr/>
        </p:nvSpPr>
        <p:spPr>
          <a:xfrm>
            <a:off x="8074152" y="4544568"/>
            <a:ext cx="3566160" cy="1746504"/>
          </a:xfrm>
          <a:prstGeom prst="roundRect">
            <a:avLst>
              <a:gd name="adj" fmla="val 4188"/>
            </a:avLst>
          </a:prstGeom>
          <a:solidFill>
            <a:schemeClr val="accent5">
              <a:alpha val="10000"/>
            </a:schemeClr>
          </a:solidFill>
          <a:ln w="12700">
            <a:solidFill>
              <a:schemeClr val="accent5">
                <a:alpha val="60000"/>
              </a:schemeClr>
            </a:solidFill>
            <a:prstDash val="solid"/>
          </a:ln>
        </p:spPr>
      </p:sp>
      <p:pic>
        <p:nvPicPr>
          <p:cNvPr id="10" name="Image 1" descr="preencoded.png">    </p:cNvPr>
          <p:cNvPicPr>
            <a:picLocks noChangeAspect="1"/>
          </p:cNvPicPr>
          <p:nvPr/>
        </p:nvPicPr>
        <p:blipFill>
          <a:blip r:embed="rId2"/>
          <a:stretch>
            <a:fillRect/>
          </a:stretch>
        </p:blipFill>
        <p:spPr>
          <a:xfrm>
            <a:off x="8257032" y="4727448"/>
            <a:ext cx="292608" cy="292608"/>
          </a:xfrm>
          <a:prstGeom prst="rect">
            <a:avLst/>
          </a:prstGeom>
        </p:spPr>
      </p:pic>
      <p:sp>
        <p:nvSpPr>
          <p:cNvPr id="11" name="Text 6"/>
          <p:cNvSpPr txBox="1"/>
          <p:nvPr/>
        </p:nvSpPr>
        <p:spPr>
          <a:xfrm>
            <a:off x="8641080" y="4700016"/>
            <a:ext cx="2834640" cy="347472"/>
          </a:xfrm>
          <a:prstGeom prst="rect">
            <a:avLst/>
          </a:prstGeom>
          <a:noFill/>
          <a:ln/>
        </p:spPr>
        <p:txBody>
          <a:bodyPr wrap="square" lIns="0" tIns="0" rIns="0" bIns="0" rtlCol="0" anchor="ctr"/>
          <a:lstStyle/>
          <a:p>
            <a:pPr indent="0" marL="0">
              <a:buNone/>
            </a:pPr>
            <a:r>
              <a:rPr lang="en-US" sz="1400" b="1" spc="100" kern="0" dirty="0">
                <a:solidFill>
                  <a:schemeClr val="accent5"/>
                </a:solidFill>
              </a:rPr>
              <a:t>ATTENDU</a:t>
            </a:r>
            <a:endParaRPr lang="en-US" sz="1400" dirty="0"/>
          </a:p>
        </p:txBody>
      </p:sp>
      <p:sp>
        <p:nvSpPr>
          <p:cNvPr id="12" name="Text 7"/>
          <p:cNvSpPr txBox="1"/>
          <p:nvPr/>
        </p:nvSpPr>
        <p:spPr>
          <a:xfrm>
            <a:off x="8238744" y="5138928"/>
            <a:ext cx="3236976" cy="1014984"/>
          </a:xfrm>
          <a:prstGeom prst="rect">
            <a:avLst/>
          </a:prstGeom>
          <a:noFill/>
          <a:ln/>
        </p:spPr>
        <p:txBody>
          <a:bodyPr wrap="square" lIns="0" tIns="0" rIns="0" bIns="0" rtlCol="0" anchor="t"/>
          <a:lstStyle/>
          <a:p>
            <a:pPr marL="177800" indent="-177800">
              <a:spcAft>
                <a:spcPts val="600"/>
              </a:spcAft>
              <a:buSzPct val="100000"/>
              <a:buChar char="•"/>
            </a:pPr>
            <a:r>
              <a:rPr lang="en-US" sz="1400" b="1" dirty="0">
                <a:solidFill>
                  <a:schemeClr val="tx1"/>
                </a:solidFill>
              </a:rPr>
              <a:t>3 phrases</a:t>
            </a:r>
            <a:r>
              <a:rPr lang="en-US" sz="1400" dirty="0">
                <a:solidFill>
                  <a:schemeClr val="tx1"/>
                </a:solidFill>
              </a:rPr>
              <a:t> (le titre compte)</a:t>
            </a:r>
            <a:endParaRPr lang="en-US" sz="1400" dirty="0"/>
          </a:p>
          <a:p>
            <a:pPr marL="177800" indent="-177800">
              <a:spcAft>
                <a:spcPts val="600"/>
              </a:spcAft>
              <a:buSzPct val="100000"/>
              <a:buChar char="•"/>
            </a:pPr>
            <a:r>
              <a:rPr lang="en-US" sz="1400" b="1" dirty="0">
                <a:solidFill>
                  <a:schemeClr val="tx1"/>
                </a:solidFill>
              </a:rPr>
              <a:t>2 relatives</a:t>
            </a:r>
            <a:r>
              <a:rPr lang="en-US" sz="1400" dirty="0">
                <a:solidFill>
                  <a:schemeClr val="tx1"/>
                </a:solidFill>
              </a:rPr>
              <a:t> : die / dat + verbe à la fin</a:t>
            </a:r>
            <a:endParaRPr lang="en-US" sz="1400" dirty="0"/>
          </a:p>
          <a:p>
            <a:pPr marL="177800" indent="-177800">
              <a:spcAft>
                <a:spcPts val="600"/>
              </a:spcAft>
              <a:buSzPct val="100000"/>
              <a:buChar char="•"/>
            </a:pPr>
            <a:r>
              <a:rPr lang="en-US" sz="1400" b="1" dirty="0">
                <a:solidFill>
                  <a:schemeClr val="tx1"/>
                </a:solidFill>
              </a:rPr>
              <a:t>1 abréviation</a:t>
            </a:r>
            <a:r>
              <a:rPr lang="en-US" sz="1400" dirty="0">
                <a:solidFill>
                  <a:schemeClr val="tx1"/>
                </a:solidFill>
              </a:rPr>
              <a:t> : z.g.a.n.…</a:t>
            </a:r>
            <a:endParaRPr lang="en-US" sz="14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200" b="1" dirty="0">
                <a:solidFill>
                  <a:schemeClr val="bg1"/>
                </a:solidFill>
              </a:rPr>
              <a:t>Bilan de la séance</a:t>
            </a:r>
            <a:endParaRPr lang="en-US" sz="3200" dirty="0"/>
          </a:p>
        </p:txBody>
      </p:sp>
      <p:sp>
        <p:nvSpPr>
          <p:cNvPr id="3" name="tag"/>
          <p:cNvSpPr/>
          <p:nvPr/>
        </p:nvSpPr>
        <p:spPr>
          <a:xfrm>
            <a:off x="548640" y="237744"/>
            <a:ext cx="1988820" cy="310896"/>
          </a:xfrm>
          <a:prstGeom prst="roundRect">
            <a:avLst>
              <a:gd name="adj" fmla="val 14706"/>
            </a:avLst>
          </a:prstGeom>
          <a:solidFill>
            <a:schemeClr val="accent1"/>
          </a:solidFill>
          <a:ln/>
        </p:spPr>
        <p:txBody>
          <a:bodyPr wrap="square" lIns="0" tIns="0" rIns="0" bIns="0" rtlCol="0" anchor="ctr"/>
          <a:lstStyle/>
          <a:p>
            <a:pPr algn="ctr" indent="0" marL="0">
              <a:buNone/>
            </a:pPr>
            <a:r>
              <a:rPr lang="en-US" sz="1200" b="1" spc="100" kern="0" dirty="0">
                <a:solidFill>
                  <a:schemeClr val="bg1"/>
                </a:solidFill>
              </a:rPr>
              <a:t>FIN DE SÉANCE</a:t>
            </a:r>
            <a:endParaRPr lang="en-US" sz="1200" dirty="0"/>
          </a:p>
        </p:txBody>
      </p:sp>
      <p:sp>
        <p:nvSpPr>
          <p:cNvPr id="4" name="Shape 2"/>
          <p:cNvSpPr/>
          <p:nvPr/>
        </p:nvSpPr>
        <p:spPr>
          <a:xfrm>
            <a:off x="548640" y="1554480"/>
            <a:ext cx="6035040" cy="3108960"/>
          </a:xfrm>
          <a:prstGeom prst="roundRect">
            <a:avLst>
              <a:gd name="adj" fmla="val 2941"/>
            </a:avLst>
          </a:prstGeom>
          <a:solidFill>
            <a:schemeClr val="bg1">
              <a:alpha val="10000"/>
            </a:schemeClr>
          </a:solidFill>
          <a:ln w="12700">
            <a:solidFill>
              <a:srgbClr val="EEF3F8"/>
            </a:solidFill>
            <a:prstDash val="solid"/>
          </a:ln>
        </p:spPr>
      </p:sp>
      <p:sp>
        <p:nvSpPr>
          <p:cNvPr id="5" name="Text 3"/>
          <p:cNvSpPr txBox="1"/>
          <p:nvPr/>
        </p:nvSpPr>
        <p:spPr>
          <a:xfrm>
            <a:off x="822960" y="1737360"/>
            <a:ext cx="5486400" cy="320040"/>
          </a:xfrm>
          <a:prstGeom prst="rect">
            <a:avLst/>
          </a:prstGeom>
          <a:noFill/>
          <a:ln/>
        </p:spPr>
        <p:txBody>
          <a:bodyPr wrap="square" lIns="0" tIns="0" rIns="0" bIns="0" rtlCol="0" anchor="ctr"/>
          <a:lstStyle/>
          <a:p>
            <a:pPr indent="0" marL="0">
              <a:buNone/>
            </a:pPr>
            <a:r>
              <a:rPr lang="en-US" sz="1300" b="1" spc="200" kern="0" dirty="0">
                <a:solidFill>
                  <a:schemeClr val="accent1"/>
                </a:solidFill>
              </a:rPr>
              <a:t>LA PROCHAINE FOIS</a:t>
            </a:r>
            <a:endParaRPr lang="en-US" sz="1300" dirty="0"/>
          </a:p>
        </p:txBody>
      </p:sp>
      <p:sp>
        <p:nvSpPr>
          <p:cNvPr id="6" name="Text 4"/>
          <p:cNvSpPr txBox="1"/>
          <p:nvPr/>
        </p:nvSpPr>
        <p:spPr>
          <a:xfrm>
            <a:off x="822960" y="2148840"/>
            <a:ext cx="5486400" cy="2377440"/>
          </a:xfrm>
          <a:prstGeom prst="rect">
            <a:avLst/>
          </a:prstGeom>
          <a:noFill/>
          <a:ln/>
        </p:spPr>
        <p:txBody>
          <a:bodyPr wrap="square" lIns="0" tIns="0" rIns="0" bIns="0" rtlCol="0" anchor="t"/>
          <a:lstStyle/>
          <a:p>
            <a:pPr indent="0" marL="0">
              <a:buNone/>
            </a:pPr>
            <a:r>
              <a:rPr lang="en-US" sz="2400" i="1" dirty="0">
                <a:solidFill>
                  <a:schemeClr val="bg1"/>
                </a:solidFill>
                <a:latin typeface="+mj-lt" pitchFamily="34" charset="0"/>
                <a:ea typeface="+mj-lt" pitchFamily="34" charset="-122"/>
                <a:cs typeface="+mj-lt" pitchFamily="34" charset="-120"/>
              </a:rPr>
              <a:t>Séance 3 : </a:t>
            </a:r>
            <a:r>
              <a:rPr lang="en-US" sz="2400" b="1" i="1" dirty="0">
                <a:solidFill>
                  <a:schemeClr val="bg1"/>
                </a:solidFill>
                <a:latin typeface="+mj-lt" pitchFamily="34" charset="0"/>
                <a:ea typeface="+mj-lt" pitchFamily="34" charset="-122"/>
                <a:cs typeface="+mj-lt" pitchFamily="34" charset="-120"/>
              </a:rPr>
              <a:t>met wie</a:t>
            </a:r>
            <a:r>
              <a:rPr lang="en-US" sz="2400" i="1" dirty="0">
                <a:solidFill>
                  <a:schemeClr val="bg1"/>
                </a:solidFill>
                <a:latin typeface="+mj-lt" pitchFamily="34" charset="0"/>
                <a:ea typeface="+mj-lt" pitchFamily="34" charset="-122"/>
                <a:cs typeface="+mj-lt" pitchFamily="34" charset="-120"/>
              </a:rPr>
              <a:t>, </a:t>
            </a:r>
            <a:r>
              <a:rPr lang="en-US" sz="2400" b="1" i="1" dirty="0">
                <a:solidFill>
                  <a:schemeClr val="bg1"/>
                </a:solidFill>
                <a:latin typeface="+mj-lt" pitchFamily="34" charset="0"/>
                <a:ea typeface="+mj-lt" pitchFamily="34" charset="-122"/>
                <a:cs typeface="+mj-lt" pitchFamily="34" charset="-120"/>
              </a:rPr>
              <a:t>waarover</a:t>
            </a:r>
            <a:r>
              <a:rPr lang="en-US" sz="2400" i="1" dirty="0">
                <a:solidFill>
                  <a:schemeClr val="bg1"/>
                </a:solidFill>
                <a:latin typeface="+mj-lt" pitchFamily="34" charset="0"/>
                <a:ea typeface="+mj-lt" pitchFamily="34" charset="-122"/>
                <a:cs typeface="+mj-lt" pitchFamily="34" charset="-120"/>
              </a:rPr>
              <a:t>, </a:t>
            </a:r>
            <a:r>
              <a:rPr lang="en-US" sz="2400" b="1" i="1" dirty="0">
                <a:solidFill>
                  <a:schemeClr val="bg1"/>
                </a:solidFill>
                <a:latin typeface="+mj-lt" pitchFamily="34" charset="0"/>
                <a:ea typeface="+mj-lt" pitchFamily="34" charset="-122"/>
                <a:cs typeface="+mj-lt" pitchFamily="34" charset="-120"/>
              </a:rPr>
              <a:t>eraan</a:t>
            </a:r>
            <a:r>
              <a:rPr lang="en-US" sz="2400" i="1" dirty="0">
                <a:solidFill>
                  <a:schemeClr val="bg1"/>
                </a:solidFill>
                <a:latin typeface="+mj-lt" pitchFamily="34" charset="0"/>
                <a:ea typeface="+mj-lt" pitchFamily="34" charset="-122"/>
                <a:cs typeface="+mj-lt" pitchFamily="34" charset="-120"/>
              </a:rPr>
              <a:t> — les relatives avec préposition et la visite guidée (TAAK 3).</a:t>
            </a:r>
            <a:endParaRPr lang="en-US" sz="2400" dirty="0"/>
          </a:p>
        </p:txBody>
      </p:sp>
      <p:sp>
        <p:nvSpPr>
          <p:cNvPr id="7" name="Shape 5"/>
          <p:cNvSpPr/>
          <p:nvPr/>
        </p:nvSpPr>
        <p:spPr>
          <a:xfrm>
            <a:off x="6903720" y="1554480"/>
            <a:ext cx="4736592" cy="4709160"/>
          </a:xfrm>
          <a:prstGeom prst="roundRect">
            <a:avLst>
              <a:gd name="adj" fmla="val 1942"/>
            </a:avLst>
          </a:prstGeom>
          <a:solidFill>
            <a:schemeClr val="bg1"/>
          </a:solidFill>
          <a:ln/>
        </p:spPr>
      </p:sp>
      <p:pic>
        <p:nvPicPr>
          <p:cNvPr id="8" name="Image 0" descr="preencoded.png">    </p:cNvPr>
          <p:cNvPicPr>
            <a:picLocks noChangeAspect="1"/>
          </p:cNvPicPr>
          <p:nvPr/>
        </p:nvPicPr>
        <p:blipFill>
          <a:blip r:embed="rId1"/>
          <a:stretch>
            <a:fillRect/>
          </a:stretch>
        </p:blipFill>
        <p:spPr>
          <a:xfrm>
            <a:off x="7132320" y="1755648"/>
            <a:ext cx="365760" cy="365760"/>
          </a:xfrm>
          <a:prstGeom prst="rect">
            <a:avLst/>
          </a:prstGeom>
        </p:spPr>
      </p:pic>
      <p:sp>
        <p:nvSpPr>
          <p:cNvPr id="9" name="Text 6"/>
          <p:cNvSpPr txBox="1"/>
          <p:nvPr/>
        </p:nvSpPr>
        <p:spPr>
          <a:xfrm>
            <a:off x="7635240" y="1737360"/>
            <a:ext cx="3840480" cy="384048"/>
          </a:xfrm>
          <a:prstGeom prst="rect">
            <a:avLst/>
          </a:prstGeom>
          <a:noFill/>
          <a:ln/>
        </p:spPr>
        <p:txBody>
          <a:bodyPr wrap="square" lIns="0" tIns="0" rIns="0" bIns="0" rtlCol="0" anchor="ctr"/>
          <a:lstStyle/>
          <a:p>
            <a:pPr indent="0" marL="0">
              <a:buNone/>
            </a:pPr>
            <a:r>
              <a:rPr lang="en-US" sz="1400" b="1" spc="100" kern="0" dirty="0">
                <a:solidFill>
                  <a:schemeClr val="tx2"/>
                </a:solidFill>
              </a:rPr>
              <a:t>POUR LA PROCHAINE SÉANCE</a:t>
            </a:r>
            <a:endParaRPr lang="en-US" sz="1400" dirty="0"/>
          </a:p>
        </p:txBody>
      </p:sp>
      <p:sp>
        <p:nvSpPr>
          <p:cNvPr id="10" name="Text 7"/>
          <p:cNvSpPr txBox="1"/>
          <p:nvPr/>
        </p:nvSpPr>
        <p:spPr>
          <a:xfrm>
            <a:off x="7132320" y="2286000"/>
            <a:ext cx="4297680" cy="3840480"/>
          </a:xfrm>
          <a:prstGeom prst="rect">
            <a:avLst/>
          </a:prstGeom>
          <a:noFill/>
          <a:ln/>
        </p:spPr>
        <p:txBody>
          <a:bodyPr wrap="square" lIns="0" tIns="0" rIns="0" bIns="0" rtlCol="0" anchor="t"/>
          <a:lstStyle/>
          <a:p>
            <a:pPr marL="190500" indent="-190500">
              <a:spcAft>
                <a:spcPts val="800"/>
              </a:spcAft>
              <a:buSzPct val="100000"/>
              <a:buChar char="•"/>
            </a:pPr>
            <a:r>
              <a:rPr lang="en-US" sz="1700" dirty="0">
                <a:solidFill>
                  <a:schemeClr val="tx1"/>
                </a:solidFill>
              </a:rPr>
              <a:t>Terminer la </a:t>
            </a:r>
            <a:r>
              <a:rPr lang="en-US" sz="1700" b="1" dirty="0">
                <a:solidFill>
                  <a:schemeClr val="tx1"/>
                </a:solidFill>
              </a:rPr>
              <a:t>TAAK 2</a:t>
            </a:r>
            <a:r>
              <a:rPr lang="en-US" sz="1700" dirty="0">
                <a:solidFill>
                  <a:schemeClr val="tx1"/>
                </a:solidFill>
              </a:rPr>
              <a:t> (60 à 80 mots) et la relire avec les </a:t>
            </a:r>
            <a:r>
              <a:rPr lang="en-US" sz="1700" b="1" dirty="0">
                <a:solidFill>
                  <a:schemeClr val="tx1"/>
                </a:solidFill>
              </a:rPr>
              <a:t>4 critères</a:t>
            </a:r>
            <a:r>
              <a:rPr lang="en-US" sz="1700" dirty="0">
                <a:solidFill>
                  <a:schemeClr val="tx1"/>
                </a:solidFill>
              </a:rPr>
              <a:t>.</a:t>
            </a:r>
            <a:endParaRPr lang="en-US" sz="1700" dirty="0"/>
          </a:p>
          <a:p>
            <a:pPr marL="190500" indent="-190500">
              <a:spcAft>
                <a:spcPts val="800"/>
              </a:spcAft>
              <a:buSzPct val="100000"/>
              <a:buChar char="•"/>
            </a:pPr>
            <a:r>
              <a:rPr lang="en-US" sz="1700" dirty="0">
                <a:solidFill>
                  <a:schemeClr val="tx1"/>
                </a:solidFill>
              </a:rPr>
              <a:t>Terminer </a:t>
            </a:r>
            <a:r>
              <a:rPr lang="en-US" sz="1700" b="1" dirty="0">
                <a:solidFill>
                  <a:schemeClr val="tx1"/>
                </a:solidFill>
              </a:rPr>
              <a:t>D2 question 4</a:t>
            </a:r>
            <a:r>
              <a:rPr lang="en-US" sz="1700" dirty="0">
                <a:solidFill>
                  <a:schemeClr val="tx1"/>
                </a:solidFill>
              </a:rPr>
              <a:t> : votre petite annonce.</a:t>
            </a:r>
            <a:endParaRPr lang="en-US" sz="1700" dirty="0"/>
          </a:p>
          <a:p>
            <a:pPr marL="190500" indent="-190500">
              <a:spcAft>
                <a:spcPts val="800"/>
              </a:spcAft>
              <a:buSzPct val="100000"/>
              <a:buChar char="•"/>
            </a:pPr>
            <a:r>
              <a:rPr lang="en-US" sz="1700" dirty="0">
                <a:solidFill>
                  <a:schemeClr val="tx1"/>
                </a:solidFill>
              </a:rPr>
              <a:t>Apprendre : </a:t>
            </a:r>
            <a:r>
              <a:rPr lang="en-US" sz="1700" b="1" dirty="0">
                <a:solidFill>
                  <a:schemeClr val="tx1"/>
                </a:solidFill>
              </a:rPr>
              <a:t>de / pluriel → die · het singulier → dat</a:t>
            </a:r>
            <a:r>
              <a:rPr lang="en-US" sz="1700" dirty="0">
                <a:solidFill>
                  <a:schemeClr val="tx1"/>
                </a:solidFill>
              </a:rPr>
              <a:t>.</a:t>
            </a:r>
            <a:endParaRPr lang="en-US" sz="1700" dirty="0"/>
          </a:p>
          <a:p>
            <a:pPr marL="190500" indent="-190500">
              <a:spcAft>
                <a:spcPts val="800"/>
              </a:spcAft>
              <a:buSzPct val="100000"/>
              <a:buChar char="•"/>
            </a:pPr>
            <a:r>
              <a:rPr lang="en-US" sz="1700" dirty="0">
                <a:solidFill>
                  <a:schemeClr val="tx1"/>
                </a:solidFill>
              </a:rPr>
              <a:t>Relire le </a:t>
            </a:r>
            <a:r>
              <a:rPr lang="en-US" sz="1700" b="1" dirty="0">
                <a:solidFill>
                  <a:schemeClr val="tx1"/>
                </a:solidFill>
              </a:rPr>
              <a:t>dialogue</a:t>
            </a:r>
            <a:r>
              <a:rPr lang="en-US" sz="1700" dirty="0">
                <a:solidFill>
                  <a:schemeClr val="tx1"/>
                </a:solidFill>
              </a:rPr>
              <a:t> p. 2 : repérer trois relatives.</a:t>
            </a:r>
            <a:endParaRPr lang="en-US" sz="1700" dirty="0"/>
          </a:p>
        </p:txBody>
      </p:sp>
      <p:sp>
        <p:nvSpPr>
          <p:cNvPr id="11" name="Shape 8"/>
          <p:cNvSpPr/>
          <p:nvPr/>
        </p:nvSpPr>
        <p:spPr>
          <a:xfrm>
            <a:off x="548640" y="4892040"/>
            <a:ext cx="6035040" cy="1371600"/>
          </a:xfrm>
          <a:prstGeom prst="roundRect">
            <a:avLst>
              <a:gd name="adj" fmla="val 6667"/>
            </a:avLst>
          </a:prstGeom>
          <a:solidFill>
            <a:schemeClr val="accent1"/>
          </a:solidFill>
          <a:ln/>
        </p:spPr>
      </p:sp>
      <p:sp>
        <p:nvSpPr>
          <p:cNvPr id="12" name="Text 9"/>
          <p:cNvSpPr txBox="1"/>
          <p:nvPr/>
        </p:nvSpPr>
        <p:spPr>
          <a:xfrm>
            <a:off x="777240" y="4983480"/>
            <a:ext cx="5623560" cy="1188720"/>
          </a:xfrm>
          <a:prstGeom prst="rect">
            <a:avLst/>
          </a:prstGeom>
          <a:noFill/>
          <a:ln/>
        </p:spPr>
        <p:txBody>
          <a:bodyPr wrap="square" lIns="0" tIns="0" rIns="0" bIns="0" rtlCol="0" anchor="ctr"/>
          <a:lstStyle/>
          <a:p>
            <a:pPr indent="0" marL="0">
              <a:buNone/>
            </a:pPr>
            <a:r>
              <a:rPr lang="en-US" sz="1300" b="1" spc="100" kern="0" dirty="0">
                <a:solidFill>
                  <a:schemeClr val="bg1"/>
                </a:solidFill>
              </a:rPr>
              <a:t>TICKET DE SORTIE  </a:t>
            </a:r>
            <a:endParaRPr lang="en-US" sz="1300" dirty="0"/>
          </a:p>
          <a:p>
            <a:pPr indent="0" marL="0">
              <a:buNone/>
            </a:pPr>
            <a:r>
              <a:rPr lang="en-US" sz="1600" dirty="0">
                <a:solidFill>
                  <a:schemeClr val="bg1"/>
                </a:solidFill>
              </a:rPr>
              <a:t>Complétez : </a:t>
            </a:r>
            <a:r>
              <a:rPr lang="en-US" sz="1600" i="1" dirty="0">
                <a:solidFill>
                  <a:schemeClr val="bg1"/>
                </a:solidFill>
              </a:rPr>
              <a:t>Het appartement </a:t>
            </a:r>
            <a:r>
              <a:rPr lang="en-US" sz="1600" i="1" dirty="0">
                <a:solidFill>
                  <a:schemeClr val="accent5"/>
                </a:solidFill>
              </a:rPr>
              <a:t>……………</a:t>
            </a:r>
            <a:r>
              <a:rPr lang="en-US" sz="1600" i="1" dirty="0">
                <a:solidFill>
                  <a:schemeClr val="bg1"/>
                </a:solidFill>
              </a:rPr>
              <a:t> te huur staat…</a:t>
            </a:r>
            <a:r>
              <a:rPr lang="en-US" sz="1600" dirty="0">
                <a:solidFill>
                  <a:schemeClr val="bg1"/>
                </a:solidFill>
              </a:rPr>
              <a:t> · </a:t>
            </a:r>
            <a:r>
              <a:rPr lang="en-US" sz="1600" i="1" dirty="0">
                <a:solidFill>
                  <a:schemeClr val="bg1"/>
                </a:solidFill>
              </a:rPr>
              <a:t>De klanten </a:t>
            </a:r>
            <a:r>
              <a:rPr lang="en-US" sz="1600" i="1" dirty="0">
                <a:solidFill>
                  <a:schemeClr val="accent5"/>
                </a:solidFill>
              </a:rPr>
              <a:t>……………</a:t>
            </a:r>
            <a:r>
              <a:rPr lang="en-US" sz="1600" i="1" dirty="0">
                <a:solidFill>
                  <a:schemeClr val="bg1"/>
                </a:solidFill>
              </a:rPr>
              <a:t> morgen komen…</a:t>
            </a:r>
            <a:r>
              <a:rPr lang="en-US" sz="1600" dirty="0">
                <a:solidFill>
                  <a:schemeClr val="bg1"/>
                </a:solidFill>
              </a:rPr>
              <a:t> (die ou dat ?)</a:t>
            </a:r>
            <a:endParaRPr lang="en-US" sz="13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EEF3F8"/>
                </a:solidFill>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98267CE-628B-4148-9B87-915488E77FCF}"/>
              </a:ext>
            </a:extLst>
          </p:cNvPr>
          <p:cNvSpPr txBox="1">
            <a:spLocks/>
          </p:cNvSpPr>
          <p:nvPr/>
        </p:nvSpPr>
        <p:spPr>
          <a:xfrm>
            <a:off x="997528" y="982132"/>
            <a:ext cx="4094017" cy="2823880"/>
          </a:xfrm>
          <a:prstGeom prst="rect">
            <a:avLst/>
          </a:prstGeom>
        </p:spPr>
        <p:txBody>
          <a:bodyPr vert="horz" lIns="91440" tIns="45720" rIns="91440" bIns="45720" rtlCol="0" anchor="b">
            <a:normAutofit/>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a:spcAft>
                <a:spcPts val="600"/>
              </a:spcAft>
            </a:pPr>
            <a:endParaRPr lang="en-US" sz="4800" b="1" dirty="0">
              <a:solidFill>
                <a:srgbClr val="262626"/>
              </a:solidFill>
            </a:endParaRPr>
          </a:p>
        </p:txBody>
      </p:sp>
      <p:pic>
        <p:nvPicPr>
          <p:cNvPr id="3" name="Image 2">
            <a:extLst>
              <a:ext uri="{FF2B5EF4-FFF2-40B4-BE49-F238E27FC236}">
                <a16:creationId xmlns:a16="http://schemas.microsoft.com/office/drawing/2014/main" id="{E5500070-179F-474D-938F-D1EE2986F843}"/>
              </a:ext>
            </a:extLst>
          </p:cNvPr>
          <p:cNvPicPr>
            <a:picLocks noChangeAspect="1"/>
          </p:cNvPicPr>
          <p:nvPr/>
        </p:nvPicPr>
        <p:blipFill>
          <a:blip r:embed="rIdKeep2">
            <a:extLst>
              <a:ext uri="{28A0092B-C50C-407E-A947-70E740481C1C}">
                <a14:useLocalDpi xmlns:a14="http://schemas.microsoft.com/office/drawing/2010/main" val="0"/>
              </a:ext>
              <a:ext uri="{837473B0-CC2E-450A-ABE3-18F120FF3D39}">
                <a1611:picAttrSrcUrl xmlns:a1611="http://schemas.microsoft.com/office/drawing/2016/11/main" r:id="rIdKeep1"/>
              </a:ext>
            </a:extLst>
          </a:blip>
          <a:stretch>
            <a:fillRect/>
          </a:stretch>
        </p:blipFill>
        <p:spPr>
          <a:xfrm>
            <a:off x="3405050" y="1894966"/>
            <a:ext cx="5469466" cy="3254331"/>
          </a:xfrm>
          <a:prstGeom prst="rect">
            <a:avLst/>
          </a:prstGeom>
          <a:ln w="57150" cmpd="thickThin">
            <a:noFill/>
            <a:miter lim="800000"/>
          </a:ln>
        </p:spPr>
      </p:pic>
    </p:spTree>
  </p:cSld>
  <p:clrMapOvr>
    <a:masterClrMapping/>
  </p:clrMapOvr>
</p:sld>
</file>

<file path=ppt/theme/theme1.xml><?xml version="1.0" encoding="utf-8"?>
<a:theme xmlns:a="http://schemas.openxmlformats.org/drawingml/2006/main" name="Nederlands B1 vastgoed">
  <a:themeElements>
    <a:clrScheme name="Nederlands B1 vastgoed">
      <a:dk1>
        <a:srgbClr val="1B2333"/>
      </a:dk1>
      <a:lt1>
        <a:srgbClr val="FFFFFF"/>
      </a:lt1>
      <a:dk2>
        <a:srgbClr val="17375E"/>
      </a:dk2>
      <a:lt2>
        <a:srgbClr val="EEF3F8"/>
      </a:lt2>
      <a:accent1>
        <a:srgbClr val="D9700F"/>
      </a:accent1>
      <a:accent2>
        <a:srgbClr val="2A6FB0"/>
      </a:accent2>
      <a:accent3>
        <a:srgbClr val="2E7D4F"/>
      </a:accent3>
      <a:accent4>
        <a:srgbClr val="B4236A"/>
      </a:accent4>
      <a:accent5>
        <a:srgbClr val="4A5A70"/>
      </a:accent5>
      <a:accent6>
        <a:srgbClr val="B83227"/>
      </a:accent6>
      <a:hlink>
        <a:srgbClr val="2A6FB0"/>
      </a:hlink>
      <a:folHlink>
        <a:srgbClr val="B4236A"/>
      </a:folHlink>
    </a:clrScheme>
    <a:fontScheme name="Nederlands B1 vastgoed">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23</Slides>
  <Notes>23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23</vt:i4>
      </vt:variant>
    </vt:vector>
  </HeadingPairs>
  <TitlesOfParts>
    <vt:vector size="2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vector>
  </TitlesOfParts>
  <Company>IRAM — Néerlandais 3 (B1)</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Séance 02 — De woning beschrijven</dc:title>
  <dc:subject>Néerlandais B1 — immobilier et vie quotidienne (Yasmina &amp; Stef)</dc:subject>
  <dc:creator>A. Jouniaux</dc:creator>
  <cp:lastModifiedBy>A. Jouniaux</cp:lastModifiedBy>
  <cp:revision>1</cp:revision>
  <dcterms:created xsi:type="dcterms:W3CDTF">2026-10-14T10:39:25Z</dcterms:created>
  <dcterms:modified xsi:type="dcterms:W3CDTF">2026-10-14T10:39:25Z</dcterms:modified>
</cp:coreProperties>
</file>