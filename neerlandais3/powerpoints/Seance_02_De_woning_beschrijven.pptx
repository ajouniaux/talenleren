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81a25f63-ba54-6a97-cf71-294967246391}">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Lst>
        </p14:section>
        <p14:section name="Clôture" id="{6875493a-d5b4-8b2e-c4ca-1e4cc23dc50a}">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Séance centrée sur les relatives die / dat. Objectifs : choisir die ou dat d’après l’article (de/pluriel → die ; het singulier → dat), placer le verbe à la fin, lire trois zoekertjes comme un professionnel, fusionner deux phrases, rédiger une annonce (TAAK 2), puis transférer la technique aux annonces 2dehands (D2).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Durées indicatives sur 90 minutes. La séance couvre les pages 7 à 10a du livret. Les relatives sont le cœur de l’annonce immobilière : insister sur la règle (article du mot) et sur la position du verbe. La TAAK 2 peut être terminée à la maison si le temps manque ; la fiche D2 (question 4) aussi.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Rappel de la séance 1 (collocations et faux-amis). Faire dire l’article de chaque nom : het appartement, de opdracht, de eigenaar, de verdieping, het bod. Réponses attendues : huren, getekend, verhuurt, verdieping, breng … 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Rappel de la séance 1 (collocations et faux-amis). Faire dire l’article de chaque nom : het appartement, de opdracht, de eigenaar, de verdieping, het bod. Réponses attendues : huren, getekend, verhuurt, verdieping, breng … 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 : « die » dans les trois cas. Les trois noms (de stagiair, een woning, de man) sont des mots de genre commun : on verra que « die » suit la logique de l’article de. Les verbes à la fin de chaque relative : heeft gevolgd, gerenoveerd is, heeft gebeld.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Comparaison du livret : « Maison. Elle a un jardin. Le jardin est orienté sud. » contre « Maison qui dispose d’un jardin orienté sud ». La seconde vend ; la première énumère. Demander aux étudiants de transformer une annonce « palier 1 » de leur choix en une seule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Règle de base : de-woord ou pluriel → die ; het-woord au singulier → dat. Le pluriel est toujours « die », même pour un het-woord (het huis → de huizen die). Piège pour francophones : le français distingue sujet (qui) et objet (que) ; le néerlandais ne distingue que par l’article du mot. Faire dire l’article de chaque nom avant de choisir : c’est pourquoi on l’a appris avec le vocabulaire.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Rappel : participe + verbe auxiliaire à la fin (gebeld heeft ou heeft gebeld sont tous deux corrects dans une subordonnée ; le livret utilise « heeft gebeld »). Cette règle ne change pas par rapport au palier 4 : seul le mot de tête change (die / dat à la place de omdat, hoewel…).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annonces à lire silencieusement, puis questions 1 à 4 du livret. Le vocabulaire est celui de la séance 1 (huren / kopen, slpk., verdieping). « Te koop » = à vendre ; « te huur » = à louer ; « vrij vanaf » = libre à partir de ; « geen lift » = sans ascenseur ; « Vraagprijs » = prix demandé.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des cinq relatives : A (2), B (1), C (2). Dans « Rijhuis … dat volledig gerenoveerd is » et « Op te frissen appartement dat veel potentieel heeft », les noms sont des het-woorden au singulier : dat. Les trois autres sont des de-woorden : die. Remarque : « werd » (imparfait de worden) est ici le verbe conjugué final après le participe « vernieuwd » : « die vernieuwd werd in 2024 » (le groupe prépositionnel « in 2024 » se place après le verbe : c’est permis).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des cinq relatives : A (2), B (1), C (2). Dans « Rijhuis … dat volledig gerenoveerd is » et « Op te frissen appartement dat veel potentieel heeft », les noms sont des het-woorden au singulier : dat. Les trois autres sont des de-woorden : die. Remarque : « werd » (imparfait de worden) est ici le verbe conjugué final après le participe « vernieuwd » : « die vernieuwd werd in 2024 » (le groupe prépositionnel « in 2024 » se place après le verbe : c’est permis).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la réponse dépend de la voicemail de mevrouw Claes (transcription n° 1 de l’annexe, non reproduite dans le livret) : comparer sa fiche d’appel avec les trois annonces (huren ou kopen, budget, nombre de slaapkamers). Ne pas improviser : demander aux étudiants de justifier avec les chiffres de leur fiche. Question 3 : « EPC » = Energieprestatiecertificaat (en Région bruxelloise on dit aussi PEB).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la réponse dépend de la voicemail de mevrouw Claes (transcription n° 1 de l’annexe, non reproduite dans le livret) : comparer sa fiche d’appel avec les trois annonces (huren ou kopen, budget, nombre de slaapkamers). Ne pas improviser : demander aux étudiants de justifier avec les chiffres de leur fiche. Question 3 : « EPC » = Energieprestatiecertificaat (en Région bruxelloise on dit aussi PEB).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Phrase 3 : deux ordres possibles dans la subordonnée : « heeft gebeld » ou « gebeld heeft ». Phrase 4 : « klanten » est un pluriel → die, même si l’on dit « de klant ». Demander à chaque étudiant de justifier le choix avec l’article du mot (het rijhuis, het terras, de eigenaar, de klanten).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Phrase 3 : deux ordres possibles dans la subordonnée : « heeft gebeld » ou « gebeld heeft ». Phrase 4 : « klanten » est un pluriel → die, même si l’on dit « de klant ». Demander à chaque étudiant de justifier le choix avec l’article du mot (het rijhuis, het terras, de eigenaar, de klanten).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Taak 2 (production écrite). Les étudiants reçoivent la fiche technique (ci-dessus). Critères de réussite : 60 à 80 mots, trois relatives correctes (die / dat + verbe à la fin), deux abréviations (slpk., EPC, enz.), prix. Relecture croisée : chacun souligne les relatives de l’autre et vérifie la position du verbe. Modèle sur la diapositive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Modèle de ≈ 65 mots (titre compris) avec cinq relatives : het rijhuis dat… (het-woord), de keuken die…, de stadstuin die…, de woning die…, het gezin dat… (het-woord). Les productions des étudiants peuvent être plus courtes (3 relatives suffisent). Vérifier les trois pièges : dat/die selon l’article, verbe final, pas de phrases « palier 1 » juxtaposées.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Même technique que les zoekertjes de l’exercice 4, autre marché. « Z.g.a.n. » = zo goed als nieuw. « Vorst » = Forest (Stef habite à Forest). Faire lire les trois annonces, puis ouvrir les questions 1 à 3 sur la diapositive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Question 1 : budget € 200 maximum, habite à Forest : l’annonce A (€ 180, prijs bespreekbaar, Vorst). Question 2 : un seul « dat » (het slot) ; « iemand » est suivi de « die » (mot désignant une personne) ; sportievelingen et ouders sont des pluriels. Question 3 : « ophalen » = venir chercher (l’objet est sur place) ; « prijs bespreekbaar » = on peut négocier (voir D5 Afdingen).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Question 1 : budget € 200 maximum, habite à Forest : l’annonce A (€ 180, prijs bespreekbaar, Vorst). Question 2 : un seul « dat » (het slot) ; « iemand » est suivi de « die » (mot désignant une personne) ; sportievelingen et ouders sont des pluriels. Question 3 : « ophalen » = venir chercher (l’objet est sur place) ; « prijs bespreekbaar » = on peut négocier (voir D5 Afdingen).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libre : pas de correction unique. Vérifier die/dat d’après l’article du nom (de lamp / bureaulamp → die ; de student → die) et le verbe final. Les annonces peuvent être échangées en binôme : l’autre souligne les relatives.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Exercice ajouté : choix die / dat avec des relatives dont le pronom est tantôt sujet (phrases 1, 2, 3) tantôt objet (4, 5, 6) — le français change de mot (qui / que), le néerlandais non. Phrase 4 : « moet tekenen » (modal + infinitif) : le verbe conjugué « moet » précède l’infinitif en fin de subordonnée.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Exercice ajouté : choix die / dat avec des relatives dont le pronom est tantôt sujet (phrases 1, 2, 3) tantôt objet (4, 5, 6) — le français change de mot (qui / que), le néerlandais non. Phrase 4 : « moet tekenen » (modal + infinitif) : le verbe conjugué « moet » précède l’infinitif en fin de subordonnée.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Ticket de sortie : « dat » puis « die ». Annoncer la séance 3 : les relatives avec préposition (de klant met wie…), waar + préposition (waaraan, waarover) et les adverbes pronominaux (erop, eraan) — la structure qui sépare un A2 solide d’un B1.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TLAS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3 · B1 · Yasmina &amp; Stef · Séance 02</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TLAS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3 · B1 · Yasmina &amp; Stef · Séance 02</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TLAS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7315200" cy="320040"/>
          </a:xfrm>
          <a:prstGeom prst="rect">
            <a:avLst/>
          </a:prstGeom>
          <a:noFill/>
          <a:ln/>
        </p:spPr>
        <p:txBody>
          <a:bodyPr wrap="square" lIns="0" tIns="0" rIns="0" bIns="0" rtlCol="0" anchor="ctr"/>
          <a:lstStyle/>
          <a:p>
            <a:pPr indent="0" marL="0">
              <a:buNone/>
            </a:pPr>
            <a:r>
              <a:rPr lang="en-US" sz="1200" dirty="0">
                <a:solidFill>
                  <a:schemeClr val="bg2"/>
                </a:solidFill>
              </a:rPr>
              <a:t>Néerlandais 3 · B1 · A. Jouniaux · IRAM — Enseignement pour adultes</a:t>
            </a:r>
            <a:endParaRPr lang="en-US" sz="1200" dirty="0"/>
          </a:p>
        </p:txBody>
      </p:sp>
      <p:sp>
        <p:nvSpPr>
          <p:cNvPr id="3" name="Text 1"/>
          <p:cNvSpPr/>
          <p:nvPr>
            <p:ph idx="101" type="title" hasCustomPrompt="1"/>
          </p:nvPr>
        </p:nvSpPr>
        <p:spPr>
          <a:xfrm>
            <a:off x="548640" y="1874520"/>
            <a:ext cx="576072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1"/>
          <p:cNvSpPr/>
          <p:nvPr>
            <p:ph idx="102" type="body" hasCustomPrompt="1"/>
          </p:nvPr>
        </p:nvSpPr>
        <p:spPr>
          <a:xfrm>
            <a:off x="548640" y="3794760"/>
            <a:ext cx="5760720" cy="137160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369820"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chemeClr val="bg1"/>
                </a:solidFill>
              </a:rPr>
              <a:t>SÉANCE 02 / 19</a:t>
            </a:r>
            <a:endParaRPr lang="en-US" sz="1400" dirty="0"/>
          </a:p>
        </p:txBody>
      </p:sp>
      <p:sp>
        <p:nvSpPr>
          <p:cNvPr id="3" name="Text 1"/>
          <p:cNvSpPr txBox="1"/>
          <p:nvPr/>
        </p:nvSpPr>
        <p:spPr>
          <a:xfrm>
            <a:off x="548640" y="1188720"/>
            <a:ext cx="2377440" cy="777240"/>
          </a:xfrm>
          <a:prstGeom prst="rect">
            <a:avLst/>
          </a:prstGeom>
          <a:noFill/>
          <a:ln/>
        </p:spPr>
        <p:txBody>
          <a:bodyPr wrap="square" lIns="0" tIns="0" rIns="0" bIns="0" rtlCol="0" anchor="t"/>
          <a:lstStyle/>
          <a:p>
            <a:pPr indent="0" marL="0">
              <a:buNone/>
            </a:pPr>
            <a:r>
              <a:rPr lang="en-US" sz="1300" b="1" spc="200" kern="0" dirty="0">
                <a:solidFill>
                  <a:schemeClr val="bg2"/>
                </a:solidFill>
              </a:rPr>
              <a:t>SÉQUENCE</a:t>
            </a:r>
            <a:endParaRPr lang="en-US" sz="1300" dirty="0"/>
          </a:p>
          <a:p>
            <a:pPr indent="0" marL="0">
              <a:buNone/>
            </a:pPr>
            <a:r>
              <a:rPr lang="en-US" sz="3000" b="1" dirty="0">
                <a:solidFill>
                  <a:schemeClr val="bg1"/>
                </a:solidFill>
                <a:latin typeface="+mj-lt" pitchFamily="34" charset="0"/>
                <a:ea typeface="+mj-lt" pitchFamily="34" charset="-122"/>
                <a:cs typeface="+mj-lt" pitchFamily="34" charset="-120"/>
              </a:rPr>
              <a:t>5.2</a:t>
            </a:r>
            <a:endParaRPr lang="en-US" sz="1300" dirty="0"/>
          </a:p>
        </p:txBody>
      </p:sp>
      <p:sp>
        <p:nvSpPr>
          <p:cNvPr id="4" name="Text 1"/>
          <p:cNvSpPr/>
          <p:nvPr>
            <p:ph idx="101" type="title" hasCustomPrompt="1"/>
          </p:nvPr>
        </p:nvSpPr>
        <p:spPr>
          <a:xfrm>
            <a:off x="548640" y="1874520"/>
            <a:ext cx="5760720" cy="1737360"/>
          </a:xfrm>
          <a:prstGeom prst="rect">
            <a:avLst/>
          </a:prstGeom>
          <a:noFill/>
          <a:ln/>
        </p:spPr>
        <p:txBody>
          <a:bodyPr wrap="square" lIns="0" tIns="0" rIns="0" bIns="0" rtlCol="0" anchor="b"/>
          <a:lstStyle/>
          <a:p>
            <a:pPr algn="l" indent="0" marL="0">
              <a:buNone/>
            </a:pPr>
            <a:r>
              <a:rPr lang="en-US" sz="4000" b="1" dirty="0">
                <a:solidFill>
                  <a:schemeClr val="bg1"/>
                </a:solidFill>
              </a:rPr>
              <a:t>De woning beschrijven</a:t>
            </a:r>
            <a:endParaRPr lang="en-US" sz="4000" dirty="0"/>
          </a:p>
        </p:txBody>
      </p:sp>
      <p:sp>
        <p:nvSpPr>
          <p:cNvPr id="5" name="Text 1"/>
          <p:cNvSpPr/>
          <p:nvPr>
            <p:ph idx="102" type="body" hasCustomPrompt="1"/>
          </p:nvPr>
        </p:nvSpPr>
        <p:spPr>
          <a:xfrm>
            <a:off x="548640" y="3794760"/>
            <a:ext cx="5760720" cy="1371600"/>
          </a:xfrm>
          <a:prstGeom prst="rect">
            <a:avLst/>
          </a:prstGeom>
          <a:noFill/>
          <a:ln/>
        </p:spPr>
        <p:txBody>
          <a:bodyPr wrap="square" lIns="0" tIns="0" rIns="0" bIns="0" rtlCol="0" anchor="t"/>
          <a:lstStyle/>
          <a:p>
            <a:pPr algn="l" indent="0" marL="0">
              <a:spcAft>
                <a:spcPts val="1000"/>
              </a:spcAft>
              <a:buNone/>
            </a:pPr>
            <a:r>
              <a:rPr lang="en-US" sz="1800" i="1" dirty="0">
                <a:solidFill>
                  <a:schemeClr val="bg2"/>
                </a:solidFill>
              </a:rPr>
              <a:t>Les pronoms relatifs die et dat — le moteur de l’annonce immobilière</a:t>
            </a:r>
            <a:endParaRPr lang="en-US" sz="1800" dirty="0"/>
          </a:p>
          <a:p>
            <a:pPr algn="l" indent="0" marL="0">
              <a:buNone/>
            </a:pPr>
            <a:r>
              <a:rPr lang="en-US" sz="1800" b="1" dirty="0">
                <a:solidFill>
                  <a:schemeClr val="bg2"/>
                </a:solidFill>
              </a:rPr>
              <a:t>Palier 5 · Van opdracht tot verkoop</a:t>
            </a:r>
            <a:endParaRPr lang="en-US" sz="1800" dirty="0"/>
          </a:p>
          <a:p>
            <a:pPr algn="l" indent="0" marL="0">
              <a:buNone/>
            </a:pPr>
            <a:r>
              <a:rPr lang="en-US" sz="1800" dirty="0">
                <a:solidFill>
                  <a:schemeClr val="bg2"/>
                </a:solidFill>
              </a:rPr>
              <a:t>Livret p. 7–10a</a:t>
            </a:r>
            <a:endParaRPr lang="en-US" sz="1800" dirty="0"/>
          </a:p>
        </p:txBody>
      </p:sp>
      <p:pic>
        <p:nvPicPr>
          <p:cNvPr id="6" name="illustration" descr="Illustration du syllabus">    </p:cNvPr>
          <p:cNvPicPr>
            <a:picLocks noChangeAspect="1"/>
          </p:cNvPicPr>
          <p:nvPr/>
        </p:nvPicPr>
        <p:blipFill>
          <a:blip r:embed="rId1"/>
          <a:stretch>
            <a:fillRect/>
          </a:stretch>
        </p:blipFill>
        <p:spPr>
          <a:xfrm>
            <a:off x="6583680" y="1721267"/>
            <a:ext cx="5120640" cy="3415467"/>
          </a:xfrm>
          <a:prstGeom prst="rect">
            <a:avLst/>
          </a:prstGeom>
          <a:effectLst>
            <a:outerShdw sx="100000" sy="100000" kx="0" ky="0" algn="bl" rotWithShape="0" blurRad="101600" dist="25400" dir="36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Mission du jour</a:t>
            </a:r>
            <a:endParaRPr lang="en-US" sz="3200" dirty="0"/>
          </a:p>
        </p:txBody>
      </p:sp>
      <p:sp>
        <p:nvSpPr>
          <p:cNvPr id="3" name="tag"/>
          <p:cNvSpPr/>
          <p:nvPr/>
        </p:nvSpPr>
        <p:spPr>
          <a:xfrm>
            <a:off x="548640" y="237744"/>
            <a:ext cx="822960"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chemeClr val="bg1"/>
                </a:solidFill>
              </a:rPr>
              <a:t>PLAN</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7–10a</a:t>
            </a:r>
            <a:endParaRPr lang="en-US" sz="1200" dirty="0"/>
          </a:p>
        </p:txBody>
      </p:sp>
      <p:sp>
        <p:nvSpPr>
          <p:cNvPr id="6" name="Shape 3"/>
          <p:cNvSpPr/>
          <p:nvPr/>
        </p:nvSpPr>
        <p:spPr>
          <a:xfrm>
            <a:off x="548640" y="1508760"/>
            <a:ext cx="5257800" cy="1463040"/>
          </a:xfrm>
          <a:prstGeom prst="roundRect">
            <a:avLst>
              <a:gd name="adj" fmla="val 5000"/>
            </a:avLst>
          </a:prstGeom>
          <a:solidFill>
            <a:schemeClr val="bg2"/>
          </a:solidFill>
          <a:ln w="9525">
            <a:solidFill>
              <a:srgbClr val="D5DCE6"/>
            </a:solidFill>
            <a:prstDash val="solid"/>
          </a:ln>
        </p:spPr>
      </p:sp>
      <p:sp>
        <p:nvSpPr>
          <p:cNvPr id="7" name="Shape 4"/>
          <p:cNvSpPr/>
          <p:nvPr/>
        </p:nvSpPr>
        <p:spPr>
          <a:xfrm>
            <a:off x="749808" y="1709928"/>
            <a:ext cx="566928" cy="566928"/>
          </a:xfrm>
          <a:prstGeom prst="ellipse">
            <a:avLst/>
          </a:prstGeom>
          <a:solidFill>
            <a:schemeClr val="accent1"/>
          </a:solidFill>
          <a:ln/>
        </p:spPr>
      </p:sp>
      <p:pic>
        <p:nvPicPr>
          <p:cNvPr id="8" name="Image 0" descr="preencoded.png">    </p:cNvPr>
          <p:cNvPicPr>
            <a:picLocks noChangeAspect="1"/>
          </p:cNvPicPr>
          <p:nvPr/>
        </p:nvPicPr>
        <p:blipFill>
          <a:blip r:embed="rId1"/>
          <a:stretch>
            <a:fillRect/>
          </a:stretch>
        </p:blipFill>
        <p:spPr>
          <a:xfrm>
            <a:off x="886968" y="1847088"/>
            <a:ext cx="292608" cy="292608"/>
          </a:xfrm>
          <a:prstGeom prst="rect">
            <a:avLst/>
          </a:prstGeom>
        </p:spPr>
      </p:pic>
      <p:sp>
        <p:nvSpPr>
          <p:cNvPr id="9" name="Text 5"/>
          <p:cNvSpPr txBox="1"/>
          <p:nvPr/>
        </p:nvSpPr>
        <p:spPr>
          <a:xfrm>
            <a:off x="1481328" y="1655064"/>
            <a:ext cx="4160520" cy="292608"/>
          </a:xfrm>
          <a:prstGeom prst="rect">
            <a:avLst/>
          </a:prstGeom>
          <a:noFill/>
          <a:ln/>
        </p:spPr>
        <p:txBody>
          <a:bodyPr wrap="square" lIns="0" tIns="0" rIns="0" bIns="0" rtlCol="0" anchor="ctr"/>
          <a:lstStyle/>
          <a:p>
            <a:pPr indent="0" marL="0">
              <a:buNone/>
            </a:pPr>
            <a:r>
              <a:rPr lang="en-US" sz="1200" b="1" spc="100" kern="0" dirty="0">
                <a:solidFill>
                  <a:schemeClr val="accent1"/>
                </a:solidFill>
              </a:rPr>
              <a:t>EN FIN DE SÉANCE, JE SAIS…</a:t>
            </a:r>
            <a:endParaRPr lang="en-US" sz="1200" dirty="0"/>
          </a:p>
        </p:txBody>
      </p:sp>
      <p:sp>
        <p:nvSpPr>
          <p:cNvPr id="10" name="Text 6"/>
          <p:cNvSpPr txBox="1"/>
          <p:nvPr/>
        </p:nvSpPr>
        <p:spPr>
          <a:xfrm>
            <a:off x="1481328" y="1947672"/>
            <a:ext cx="4160520" cy="932688"/>
          </a:xfrm>
          <a:prstGeom prst="rect">
            <a:avLst/>
          </a:prstGeom>
          <a:noFill/>
          <a:ln/>
        </p:spPr>
        <p:txBody>
          <a:bodyPr wrap="square" lIns="0" tIns="0" rIns="0" bIns="0" rtlCol="0" anchor="t"/>
          <a:lstStyle/>
          <a:p>
            <a:pPr indent="0" marL="0">
              <a:buNone/>
            </a:pPr>
            <a:r>
              <a:rPr lang="en-US" sz="1800" dirty="0">
                <a:solidFill>
                  <a:schemeClr val="tx1"/>
                </a:solidFill>
              </a:rPr>
              <a:t>Décrire un bien avec </a:t>
            </a:r>
            <a:r>
              <a:rPr lang="en-US" sz="1800" b="1" dirty="0">
                <a:solidFill>
                  <a:schemeClr val="tx1"/>
                </a:solidFill>
              </a:rPr>
              <a:t>die / dat</a:t>
            </a:r>
            <a:r>
              <a:rPr lang="en-US" sz="1800" dirty="0">
                <a:solidFill>
                  <a:schemeClr val="tx1"/>
                </a:solidFill>
              </a:rPr>
              <a:t>, lire des annonces comme un professionnel et </a:t>
            </a:r>
            <a:r>
              <a:rPr lang="en-US" sz="1800" b="1" dirty="0">
                <a:solidFill>
                  <a:schemeClr val="tx1"/>
                </a:solidFill>
              </a:rPr>
              <a:t>rédiger un zoekertje</a:t>
            </a:r>
            <a:r>
              <a:rPr lang="en-US" sz="1800" dirty="0">
                <a:solidFill>
                  <a:schemeClr val="tx1"/>
                </a:solidFill>
              </a:rPr>
              <a:t> (60 à 80 mots).</a:t>
            </a:r>
            <a:endParaRPr lang="en-US" sz="1800" dirty="0"/>
          </a:p>
        </p:txBody>
      </p:sp>
      <p:sp>
        <p:nvSpPr>
          <p:cNvPr id="11" name="Shape 7"/>
          <p:cNvSpPr/>
          <p:nvPr/>
        </p:nvSpPr>
        <p:spPr>
          <a:xfrm>
            <a:off x="548640" y="3136392"/>
            <a:ext cx="5257800" cy="1463040"/>
          </a:xfrm>
          <a:prstGeom prst="roundRect">
            <a:avLst>
              <a:gd name="adj" fmla="val 5000"/>
            </a:avLst>
          </a:prstGeom>
          <a:solidFill>
            <a:schemeClr val="bg2"/>
          </a:solidFill>
          <a:ln w="9525">
            <a:solidFill>
              <a:srgbClr val="D5DCE6"/>
            </a:solidFill>
            <a:prstDash val="solid"/>
          </a:ln>
        </p:spPr>
      </p:sp>
      <p:sp>
        <p:nvSpPr>
          <p:cNvPr id="12" name="Shape 8"/>
          <p:cNvSpPr/>
          <p:nvPr/>
        </p:nvSpPr>
        <p:spPr>
          <a:xfrm>
            <a:off x="749808" y="3337560"/>
            <a:ext cx="566928" cy="566928"/>
          </a:xfrm>
          <a:prstGeom prst="ellipse">
            <a:avLst/>
          </a:prstGeom>
          <a:solidFill>
            <a:schemeClr val="accent2"/>
          </a:solidFill>
          <a:ln/>
        </p:spPr>
      </p:sp>
      <p:pic>
        <p:nvPicPr>
          <p:cNvPr id="13" name="Image 1" descr="preencoded.png">    </p:cNvPr>
          <p:cNvPicPr>
            <a:picLocks noChangeAspect="1"/>
          </p:cNvPicPr>
          <p:nvPr/>
        </p:nvPicPr>
        <p:blipFill>
          <a:blip r:embed="rId2"/>
          <a:stretch>
            <a:fillRect/>
          </a:stretch>
        </p:blipFill>
        <p:spPr>
          <a:xfrm>
            <a:off x="886968" y="3474720"/>
            <a:ext cx="292608" cy="292608"/>
          </a:xfrm>
          <a:prstGeom prst="rect">
            <a:avLst/>
          </a:prstGeom>
        </p:spPr>
      </p:pic>
      <p:sp>
        <p:nvSpPr>
          <p:cNvPr id="14" name="Text 9"/>
          <p:cNvSpPr txBox="1"/>
          <p:nvPr/>
        </p:nvSpPr>
        <p:spPr>
          <a:xfrm>
            <a:off x="1481328" y="3282696"/>
            <a:ext cx="4160520" cy="292608"/>
          </a:xfrm>
          <a:prstGeom prst="rect">
            <a:avLst/>
          </a:prstGeom>
          <a:noFill/>
          <a:ln/>
        </p:spPr>
        <p:txBody>
          <a:bodyPr wrap="square" lIns="0" tIns="0" rIns="0" bIns="0" rtlCol="0" anchor="ctr"/>
          <a:lstStyle/>
          <a:p>
            <a:pPr indent="0" marL="0">
              <a:buNone/>
            </a:pPr>
            <a:r>
              <a:rPr lang="en-US" sz="1200" b="1" spc="100" kern="0" dirty="0">
                <a:solidFill>
                  <a:schemeClr val="accent2"/>
                </a:solidFill>
              </a:rPr>
              <a:t>LANGUE CIBLE</a:t>
            </a:r>
            <a:endParaRPr lang="en-US" sz="1200" dirty="0"/>
          </a:p>
        </p:txBody>
      </p:sp>
      <p:sp>
        <p:nvSpPr>
          <p:cNvPr id="15" name="Text 10"/>
          <p:cNvSpPr txBox="1"/>
          <p:nvPr/>
        </p:nvSpPr>
        <p:spPr>
          <a:xfrm>
            <a:off x="1481328" y="3575304"/>
            <a:ext cx="4160520" cy="932688"/>
          </a:xfrm>
          <a:prstGeom prst="rect">
            <a:avLst/>
          </a:prstGeom>
          <a:noFill/>
          <a:ln/>
        </p:spPr>
        <p:txBody>
          <a:bodyPr wrap="square" lIns="0" tIns="0" rIns="0" bIns="0" rtlCol="0" anchor="t"/>
          <a:lstStyle/>
          <a:p>
            <a:pPr indent="0" marL="0">
              <a:buNone/>
            </a:pPr>
            <a:r>
              <a:rPr lang="en-US" sz="1800" i="1" dirty="0">
                <a:solidFill>
                  <a:schemeClr val="tx1"/>
                </a:solidFill>
              </a:rPr>
              <a:t>de woning die… · het appartement dat… · de klanten die… · slpk. · EPC · instapklaar · ophalen</a:t>
            </a:r>
            <a:endParaRPr lang="en-US" sz="1800" dirty="0"/>
          </a:p>
        </p:txBody>
      </p:sp>
      <p:sp>
        <p:nvSpPr>
          <p:cNvPr id="16" name="Shape 11"/>
          <p:cNvSpPr/>
          <p:nvPr/>
        </p:nvSpPr>
        <p:spPr>
          <a:xfrm>
            <a:off x="548640" y="4764024"/>
            <a:ext cx="5257800" cy="1463040"/>
          </a:xfrm>
          <a:prstGeom prst="roundRect">
            <a:avLst>
              <a:gd name="adj" fmla="val 5000"/>
            </a:avLst>
          </a:prstGeom>
          <a:solidFill>
            <a:schemeClr val="bg2"/>
          </a:solidFill>
          <a:ln w="9525">
            <a:solidFill>
              <a:srgbClr val="D5DCE6"/>
            </a:solidFill>
            <a:prstDash val="solid"/>
          </a:ln>
        </p:spPr>
      </p:sp>
      <p:sp>
        <p:nvSpPr>
          <p:cNvPr id="17" name="Shape 12"/>
          <p:cNvSpPr/>
          <p:nvPr/>
        </p:nvSpPr>
        <p:spPr>
          <a:xfrm>
            <a:off x="749808" y="4965192"/>
            <a:ext cx="566928" cy="566928"/>
          </a:xfrm>
          <a:prstGeom prst="ellipse">
            <a:avLst/>
          </a:prstGeom>
          <a:solidFill>
            <a:schemeClr val="accent3"/>
          </a:solidFill>
          <a:ln/>
        </p:spPr>
      </p:sp>
      <p:pic>
        <p:nvPicPr>
          <p:cNvPr id="18" name="Image 2" descr="preencoded.png">    </p:cNvPr>
          <p:cNvPicPr>
            <a:picLocks noChangeAspect="1"/>
          </p:cNvPicPr>
          <p:nvPr/>
        </p:nvPicPr>
        <p:blipFill>
          <a:blip r:embed="rId3"/>
          <a:stretch>
            <a:fillRect/>
          </a:stretch>
        </p:blipFill>
        <p:spPr>
          <a:xfrm>
            <a:off x="886968" y="5102352"/>
            <a:ext cx="292608" cy="292608"/>
          </a:xfrm>
          <a:prstGeom prst="rect">
            <a:avLst/>
          </a:prstGeom>
        </p:spPr>
      </p:pic>
      <p:sp>
        <p:nvSpPr>
          <p:cNvPr id="19" name="Text 13"/>
          <p:cNvSpPr txBox="1"/>
          <p:nvPr/>
        </p:nvSpPr>
        <p:spPr>
          <a:xfrm>
            <a:off x="1481328" y="4910328"/>
            <a:ext cx="4160520" cy="292608"/>
          </a:xfrm>
          <a:prstGeom prst="rect">
            <a:avLst/>
          </a:prstGeom>
          <a:noFill/>
          <a:ln/>
        </p:spPr>
        <p:txBody>
          <a:bodyPr wrap="square" lIns="0" tIns="0" rIns="0" bIns="0" rtlCol="0" anchor="ctr"/>
          <a:lstStyle/>
          <a:p>
            <a:pPr indent="0" marL="0">
              <a:buNone/>
            </a:pPr>
            <a:r>
              <a:rPr lang="en-US" sz="1200" b="1" spc="100" kern="0" dirty="0">
                <a:solidFill>
                  <a:schemeClr val="accent3"/>
                </a:solidFill>
              </a:rPr>
              <a:t>COMPÉTENCES</a:t>
            </a:r>
            <a:endParaRPr lang="en-US" sz="1200" dirty="0"/>
          </a:p>
        </p:txBody>
      </p:sp>
      <p:sp>
        <p:nvSpPr>
          <p:cNvPr id="20" name="Text 14"/>
          <p:cNvSpPr txBox="1"/>
          <p:nvPr/>
        </p:nvSpPr>
        <p:spPr>
          <a:xfrm>
            <a:off x="1481328" y="5202936"/>
            <a:ext cx="4160520" cy="932688"/>
          </a:xfrm>
          <a:prstGeom prst="rect">
            <a:avLst/>
          </a:prstGeom>
          <a:noFill/>
          <a:ln/>
        </p:spPr>
        <p:txBody>
          <a:bodyPr wrap="square" lIns="0" tIns="0" rIns="0" bIns="0" rtlCol="0" anchor="t"/>
          <a:lstStyle/>
          <a:p>
            <a:pPr indent="0" marL="0">
              <a:buNone/>
            </a:pPr>
            <a:r>
              <a:rPr lang="en-US" sz="1800" dirty="0">
                <a:solidFill>
                  <a:schemeClr val="tx1"/>
                </a:solidFill>
              </a:rPr>
              <a:t>Lire des annonces · choisir die ou dat · fusionner deux phrases · placer le verbe à la fin · écrire une annonce</a:t>
            </a:r>
            <a:endParaRPr lang="en-US" sz="1800" dirty="0"/>
          </a:p>
        </p:txBody>
      </p:sp>
      <p:sp>
        <p:nvSpPr>
          <p:cNvPr id="21" name="Text 15"/>
          <p:cNvSpPr txBox="1"/>
          <p:nvPr/>
        </p:nvSpPr>
        <p:spPr>
          <a:xfrm>
            <a:off x="6263640" y="1463040"/>
            <a:ext cx="3657600" cy="320040"/>
          </a:xfrm>
          <a:prstGeom prst="rect">
            <a:avLst/>
          </a:prstGeom>
          <a:noFill/>
          <a:ln/>
        </p:spPr>
        <p:txBody>
          <a:bodyPr wrap="square" lIns="0" tIns="0" rIns="0" bIns="0" rtlCol="0" anchor="ctr"/>
          <a:lstStyle/>
          <a:p>
            <a:pPr indent="0" marL="0">
              <a:buNone/>
            </a:pPr>
            <a:r>
              <a:rPr lang="en-US" sz="1300" b="1" spc="200" kern="0" dirty="0">
                <a:solidFill>
                  <a:schemeClr val="accent5"/>
                </a:solidFill>
              </a:rPr>
              <a:t>DÉROULÉ</a:t>
            </a:r>
            <a:endParaRPr lang="en-US" sz="1300" dirty="0"/>
          </a:p>
        </p:txBody>
      </p:sp>
      <p:sp>
        <p:nvSpPr>
          <p:cNvPr id="22" name="Text 16"/>
          <p:cNvSpPr txBox="1"/>
          <p:nvPr/>
        </p:nvSpPr>
        <p:spPr>
          <a:xfrm>
            <a:off x="8897112" y="1463040"/>
            <a:ext cx="2743200" cy="320040"/>
          </a:xfrm>
          <a:prstGeom prst="rect">
            <a:avLst/>
          </a:prstGeom>
          <a:noFill/>
          <a:ln/>
        </p:spPr>
        <p:txBody>
          <a:bodyPr wrap="square" lIns="0" tIns="0" rIns="0" bIns="0" rtlCol="0" anchor="ctr"/>
          <a:lstStyle/>
          <a:p>
            <a:pPr algn="r" indent="0" marL="0">
              <a:buNone/>
            </a:pPr>
            <a:r>
              <a:rPr lang="en-US" sz="1200" i="1" dirty="0">
                <a:solidFill>
                  <a:schemeClr val="accent5"/>
                </a:solidFill>
              </a:rPr>
              <a:t>≈ 90 min (indicatif)</a:t>
            </a:r>
            <a:endParaRPr lang="en-US" sz="1200" dirty="0"/>
          </a:p>
        </p:txBody>
      </p:sp>
      <p:sp>
        <p:nvSpPr>
          <p:cNvPr id="23" name="Shape 17"/>
          <p:cNvSpPr/>
          <p:nvPr/>
        </p:nvSpPr>
        <p:spPr>
          <a:xfrm>
            <a:off x="6263640" y="1959674"/>
            <a:ext cx="384048" cy="384048"/>
          </a:xfrm>
          <a:prstGeom prst="ellipse">
            <a:avLst/>
          </a:prstGeom>
          <a:solidFill>
            <a:schemeClr val="tx2"/>
          </a:solidFill>
          <a:ln/>
        </p:spPr>
      </p:sp>
      <p:sp>
        <p:nvSpPr>
          <p:cNvPr id="24" name="Text 18"/>
          <p:cNvSpPr txBox="1"/>
          <p:nvPr/>
        </p:nvSpPr>
        <p:spPr>
          <a:xfrm>
            <a:off x="6263640" y="195967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5" name="Text 19"/>
          <p:cNvSpPr txBox="1"/>
          <p:nvPr/>
        </p:nvSpPr>
        <p:spPr>
          <a:xfrm>
            <a:off x="6784848" y="1874520"/>
            <a:ext cx="4114800" cy="554355"/>
          </a:xfrm>
          <a:prstGeom prst="rect">
            <a:avLst/>
          </a:prstGeom>
          <a:noFill/>
          <a:ln/>
        </p:spPr>
        <p:txBody>
          <a:bodyPr wrap="square" lIns="0" tIns="0" rIns="0" bIns="0" rtlCol="0" anchor="ctr"/>
          <a:lstStyle/>
          <a:p>
            <a:pPr indent="0" marL="0">
              <a:buNone/>
            </a:pPr>
            <a:r>
              <a:rPr lang="en-US" sz="1600" dirty="0">
                <a:solidFill>
                  <a:schemeClr val="tx1"/>
                </a:solidFill>
              </a:rPr>
              <a:t>Rappel de la séance 1</a:t>
            </a:r>
            <a:endParaRPr lang="en-US" sz="1600" dirty="0"/>
          </a:p>
        </p:txBody>
      </p:sp>
      <p:sp>
        <p:nvSpPr>
          <p:cNvPr id="26" name="Text 20"/>
          <p:cNvSpPr txBox="1"/>
          <p:nvPr/>
        </p:nvSpPr>
        <p:spPr>
          <a:xfrm>
            <a:off x="10972800" y="1874520"/>
            <a:ext cx="667512" cy="554355"/>
          </a:xfrm>
          <a:prstGeom prst="rect">
            <a:avLst/>
          </a:prstGeom>
          <a:noFill/>
          <a:ln/>
        </p:spPr>
        <p:txBody>
          <a:bodyPr wrap="square" lIns="0" tIns="0" rIns="0" bIns="0" rtlCol="0" anchor="ctr"/>
          <a:lstStyle/>
          <a:p>
            <a:pPr algn="r" indent="0" marL="0">
              <a:buNone/>
            </a:pPr>
            <a:r>
              <a:rPr lang="en-US" sz="1500" b="1" dirty="0">
                <a:solidFill>
                  <a:schemeClr val="accent1"/>
                </a:solidFill>
              </a:rPr>
              <a:t>5'</a:t>
            </a:r>
            <a:endParaRPr lang="en-US" sz="1500" dirty="0"/>
          </a:p>
        </p:txBody>
      </p:sp>
      <p:sp>
        <p:nvSpPr>
          <p:cNvPr id="27" name="Shape 21"/>
          <p:cNvSpPr/>
          <p:nvPr/>
        </p:nvSpPr>
        <p:spPr>
          <a:xfrm>
            <a:off x="6263640" y="2514029"/>
            <a:ext cx="384048" cy="384048"/>
          </a:xfrm>
          <a:prstGeom prst="ellipse">
            <a:avLst/>
          </a:prstGeom>
          <a:solidFill>
            <a:schemeClr val="tx2"/>
          </a:solidFill>
          <a:ln/>
        </p:spPr>
      </p:sp>
      <p:sp>
        <p:nvSpPr>
          <p:cNvPr id="28" name="Text 22"/>
          <p:cNvSpPr txBox="1"/>
          <p:nvPr/>
        </p:nvSpPr>
        <p:spPr>
          <a:xfrm>
            <a:off x="6263640" y="2514029"/>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9" name="Text 23"/>
          <p:cNvSpPr txBox="1"/>
          <p:nvPr/>
        </p:nvSpPr>
        <p:spPr>
          <a:xfrm>
            <a:off x="6784848" y="2428875"/>
            <a:ext cx="4114800" cy="554355"/>
          </a:xfrm>
          <a:prstGeom prst="rect">
            <a:avLst/>
          </a:prstGeom>
          <a:noFill/>
          <a:ln/>
        </p:spPr>
        <p:txBody>
          <a:bodyPr wrap="square" lIns="0" tIns="0" rIns="0" bIns="0" rtlCol="0" anchor="ctr"/>
          <a:lstStyle/>
          <a:p>
            <a:pPr indent="0" marL="0">
              <a:buNone/>
            </a:pPr>
            <a:r>
              <a:rPr lang="en-US" sz="1600" dirty="0">
                <a:solidFill>
                  <a:schemeClr val="tx1"/>
                </a:solidFill>
              </a:rPr>
              <a:t>5.2 · pourquoi les relatives ?</a:t>
            </a:r>
            <a:endParaRPr lang="en-US" sz="1600" dirty="0"/>
          </a:p>
        </p:txBody>
      </p:sp>
      <p:sp>
        <p:nvSpPr>
          <p:cNvPr id="30" name="Text 24"/>
          <p:cNvSpPr txBox="1"/>
          <p:nvPr/>
        </p:nvSpPr>
        <p:spPr>
          <a:xfrm>
            <a:off x="10972800" y="2428875"/>
            <a:ext cx="667512" cy="554355"/>
          </a:xfrm>
          <a:prstGeom prst="rect">
            <a:avLst/>
          </a:prstGeom>
          <a:noFill/>
          <a:ln/>
        </p:spPr>
        <p:txBody>
          <a:bodyPr wrap="square" lIns="0" tIns="0" rIns="0" bIns="0" rtlCol="0" anchor="ctr"/>
          <a:lstStyle/>
          <a:p>
            <a:pPr algn="r" indent="0" marL="0">
              <a:buNone/>
            </a:pPr>
            <a:r>
              <a:rPr lang="en-US" sz="1500" b="1" dirty="0">
                <a:solidFill>
                  <a:schemeClr val="accent1"/>
                </a:solidFill>
              </a:rPr>
              <a:t>10'</a:t>
            </a:r>
            <a:endParaRPr lang="en-US" sz="1500" dirty="0"/>
          </a:p>
        </p:txBody>
      </p:sp>
      <p:sp>
        <p:nvSpPr>
          <p:cNvPr id="31" name="Shape 25"/>
          <p:cNvSpPr/>
          <p:nvPr/>
        </p:nvSpPr>
        <p:spPr>
          <a:xfrm>
            <a:off x="6263640" y="3068384"/>
            <a:ext cx="384048" cy="384048"/>
          </a:xfrm>
          <a:prstGeom prst="ellipse">
            <a:avLst/>
          </a:prstGeom>
          <a:solidFill>
            <a:schemeClr val="tx2"/>
          </a:solidFill>
          <a:ln/>
        </p:spPr>
      </p:sp>
      <p:sp>
        <p:nvSpPr>
          <p:cNvPr id="32" name="Text 26"/>
          <p:cNvSpPr txBox="1"/>
          <p:nvPr/>
        </p:nvSpPr>
        <p:spPr>
          <a:xfrm>
            <a:off x="6263640" y="306838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3" name="Text 27"/>
          <p:cNvSpPr txBox="1"/>
          <p:nvPr/>
        </p:nvSpPr>
        <p:spPr>
          <a:xfrm>
            <a:off x="6784848" y="2983230"/>
            <a:ext cx="4114800" cy="554355"/>
          </a:xfrm>
          <a:prstGeom prst="rect">
            <a:avLst/>
          </a:prstGeom>
          <a:noFill/>
          <a:ln/>
        </p:spPr>
        <p:txBody>
          <a:bodyPr wrap="square" lIns="0" tIns="0" rIns="0" bIns="0" rtlCol="0" anchor="ctr"/>
          <a:lstStyle/>
          <a:p>
            <a:pPr indent="0" marL="0">
              <a:buNone/>
            </a:pPr>
            <a:r>
              <a:rPr lang="en-US" sz="1600" dirty="0">
                <a:solidFill>
                  <a:schemeClr val="tx1"/>
                </a:solidFill>
              </a:rPr>
              <a:t>Die ou dat · verbe à la fin</a:t>
            </a:r>
            <a:endParaRPr lang="en-US" sz="1600" dirty="0"/>
          </a:p>
        </p:txBody>
      </p:sp>
      <p:sp>
        <p:nvSpPr>
          <p:cNvPr id="34" name="Text 28"/>
          <p:cNvSpPr txBox="1"/>
          <p:nvPr/>
        </p:nvSpPr>
        <p:spPr>
          <a:xfrm>
            <a:off x="10972800" y="2983230"/>
            <a:ext cx="667512" cy="554355"/>
          </a:xfrm>
          <a:prstGeom prst="rect">
            <a:avLst/>
          </a:prstGeom>
          <a:noFill/>
          <a:ln/>
        </p:spPr>
        <p:txBody>
          <a:bodyPr wrap="square" lIns="0" tIns="0" rIns="0" bIns="0" rtlCol="0" anchor="ctr"/>
          <a:lstStyle/>
          <a:p>
            <a:pPr algn="r" indent="0" marL="0">
              <a:buNone/>
            </a:pPr>
            <a:r>
              <a:rPr lang="en-US" sz="1500" b="1" dirty="0">
                <a:solidFill>
                  <a:schemeClr val="accent1"/>
                </a:solidFill>
              </a:rPr>
              <a:t>10'</a:t>
            </a:r>
            <a:endParaRPr lang="en-US" sz="1500" dirty="0"/>
          </a:p>
        </p:txBody>
      </p:sp>
      <p:sp>
        <p:nvSpPr>
          <p:cNvPr id="35" name="Shape 29"/>
          <p:cNvSpPr/>
          <p:nvPr/>
        </p:nvSpPr>
        <p:spPr>
          <a:xfrm>
            <a:off x="6263640" y="3622738"/>
            <a:ext cx="384048" cy="384048"/>
          </a:xfrm>
          <a:prstGeom prst="ellipse">
            <a:avLst/>
          </a:prstGeom>
          <a:solidFill>
            <a:schemeClr val="tx2"/>
          </a:solidFill>
          <a:ln/>
        </p:spPr>
      </p:sp>
      <p:sp>
        <p:nvSpPr>
          <p:cNvPr id="36" name="Text 30"/>
          <p:cNvSpPr txBox="1"/>
          <p:nvPr/>
        </p:nvSpPr>
        <p:spPr>
          <a:xfrm>
            <a:off x="6263640" y="362273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7" name="Text 31"/>
          <p:cNvSpPr txBox="1"/>
          <p:nvPr/>
        </p:nvSpPr>
        <p:spPr>
          <a:xfrm>
            <a:off x="6784848" y="3537585"/>
            <a:ext cx="4114800" cy="554355"/>
          </a:xfrm>
          <a:prstGeom prst="rect">
            <a:avLst/>
          </a:prstGeom>
          <a:noFill/>
          <a:ln/>
        </p:spPr>
        <p:txBody>
          <a:bodyPr wrap="square" lIns="0" tIns="0" rIns="0" bIns="0" rtlCol="0" anchor="ctr"/>
          <a:lstStyle/>
          <a:p>
            <a:pPr indent="0" marL="0">
              <a:buNone/>
            </a:pPr>
            <a:r>
              <a:rPr lang="en-US" sz="1600" dirty="0">
                <a:solidFill>
                  <a:schemeClr val="tx1"/>
                </a:solidFill>
              </a:rPr>
              <a:t>4 Drie zoekertjes onder de loep</a:t>
            </a:r>
            <a:endParaRPr lang="en-US" sz="1600" dirty="0"/>
          </a:p>
        </p:txBody>
      </p:sp>
      <p:sp>
        <p:nvSpPr>
          <p:cNvPr id="38" name="Text 32"/>
          <p:cNvSpPr txBox="1"/>
          <p:nvPr/>
        </p:nvSpPr>
        <p:spPr>
          <a:xfrm>
            <a:off x="10972800" y="3537585"/>
            <a:ext cx="667512" cy="554355"/>
          </a:xfrm>
          <a:prstGeom prst="rect">
            <a:avLst/>
          </a:prstGeom>
          <a:noFill/>
          <a:ln/>
        </p:spPr>
        <p:txBody>
          <a:bodyPr wrap="square" lIns="0" tIns="0" rIns="0" bIns="0" rtlCol="0" anchor="ctr"/>
          <a:lstStyle/>
          <a:p>
            <a:pPr algn="r" indent="0" marL="0">
              <a:buNone/>
            </a:pPr>
            <a:r>
              <a:rPr lang="en-US" sz="1500" b="1" dirty="0">
                <a:solidFill>
                  <a:schemeClr val="accent1"/>
                </a:solidFill>
              </a:rPr>
              <a:t>20'</a:t>
            </a:r>
            <a:endParaRPr lang="en-US" sz="1500" dirty="0"/>
          </a:p>
        </p:txBody>
      </p:sp>
      <p:sp>
        <p:nvSpPr>
          <p:cNvPr id="39" name="Shape 33"/>
          <p:cNvSpPr/>
          <p:nvPr/>
        </p:nvSpPr>
        <p:spPr>
          <a:xfrm>
            <a:off x="6263640" y="4177093"/>
            <a:ext cx="384048" cy="384048"/>
          </a:xfrm>
          <a:prstGeom prst="ellipse">
            <a:avLst/>
          </a:prstGeom>
          <a:solidFill>
            <a:schemeClr val="tx2"/>
          </a:solidFill>
          <a:ln/>
        </p:spPr>
      </p:sp>
      <p:sp>
        <p:nvSpPr>
          <p:cNvPr id="40" name="Text 34"/>
          <p:cNvSpPr txBox="1"/>
          <p:nvPr/>
        </p:nvSpPr>
        <p:spPr>
          <a:xfrm>
            <a:off x="6263640" y="4177093"/>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1" name="Text 35"/>
          <p:cNvSpPr txBox="1"/>
          <p:nvPr/>
        </p:nvSpPr>
        <p:spPr>
          <a:xfrm>
            <a:off x="6784848" y="4091940"/>
            <a:ext cx="4114800" cy="554355"/>
          </a:xfrm>
          <a:prstGeom prst="rect">
            <a:avLst/>
          </a:prstGeom>
          <a:noFill/>
          <a:ln/>
        </p:spPr>
        <p:txBody>
          <a:bodyPr wrap="square" lIns="0" tIns="0" rIns="0" bIns="0" rtlCol="0" anchor="ctr"/>
          <a:lstStyle/>
          <a:p>
            <a:pPr indent="0" marL="0">
              <a:buNone/>
            </a:pPr>
            <a:r>
              <a:rPr lang="en-US" sz="1600" dirty="0">
                <a:solidFill>
                  <a:schemeClr val="tx1"/>
                </a:solidFill>
              </a:rPr>
              <a:t>5 Van fiche naar zin</a:t>
            </a:r>
            <a:endParaRPr lang="en-US" sz="1600" dirty="0"/>
          </a:p>
        </p:txBody>
      </p:sp>
      <p:sp>
        <p:nvSpPr>
          <p:cNvPr id="42" name="Text 36"/>
          <p:cNvSpPr txBox="1"/>
          <p:nvPr/>
        </p:nvSpPr>
        <p:spPr>
          <a:xfrm>
            <a:off x="10972800" y="4091940"/>
            <a:ext cx="667512" cy="554355"/>
          </a:xfrm>
          <a:prstGeom prst="rect">
            <a:avLst/>
          </a:prstGeom>
          <a:noFill/>
          <a:ln/>
        </p:spPr>
        <p:txBody>
          <a:bodyPr wrap="square" lIns="0" tIns="0" rIns="0" bIns="0" rtlCol="0" anchor="ctr"/>
          <a:lstStyle/>
          <a:p>
            <a:pPr algn="r" indent="0" marL="0">
              <a:buNone/>
            </a:pPr>
            <a:r>
              <a:rPr lang="en-US" sz="1500" b="1" dirty="0">
                <a:solidFill>
                  <a:schemeClr val="accent1"/>
                </a:solidFill>
              </a:rPr>
              <a:t>10'</a:t>
            </a:r>
            <a:endParaRPr lang="en-US" sz="1500" dirty="0"/>
          </a:p>
        </p:txBody>
      </p:sp>
      <p:sp>
        <p:nvSpPr>
          <p:cNvPr id="43" name="Shape 37"/>
          <p:cNvSpPr/>
          <p:nvPr/>
        </p:nvSpPr>
        <p:spPr>
          <a:xfrm>
            <a:off x="6263640" y="4731449"/>
            <a:ext cx="384048" cy="384048"/>
          </a:xfrm>
          <a:prstGeom prst="ellipse">
            <a:avLst/>
          </a:prstGeom>
          <a:solidFill>
            <a:schemeClr val="tx2"/>
          </a:solidFill>
          <a:ln/>
        </p:spPr>
      </p:sp>
      <p:sp>
        <p:nvSpPr>
          <p:cNvPr id="44" name="Text 38"/>
          <p:cNvSpPr txBox="1"/>
          <p:nvPr/>
        </p:nvSpPr>
        <p:spPr>
          <a:xfrm>
            <a:off x="6263640" y="4731449"/>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Text 39"/>
          <p:cNvSpPr txBox="1"/>
          <p:nvPr/>
        </p:nvSpPr>
        <p:spPr>
          <a:xfrm>
            <a:off x="6784848" y="4646295"/>
            <a:ext cx="4114800" cy="554355"/>
          </a:xfrm>
          <a:prstGeom prst="rect">
            <a:avLst/>
          </a:prstGeom>
          <a:noFill/>
          <a:ln/>
        </p:spPr>
        <p:txBody>
          <a:bodyPr wrap="square" lIns="0" tIns="0" rIns="0" bIns="0" rtlCol="0" anchor="ctr"/>
          <a:lstStyle/>
          <a:p>
            <a:pPr indent="0" marL="0">
              <a:buNone/>
            </a:pPr>
            <a:r>
              <a:rPr lang="en-US" sz="1600" dirty="0">
                <a:solidFill>
                  <a:schemeClr val="tx1"/>
                </a:solidFill>
              </a:rPr>
              <a:t>TAAK 2 · Schrijf het zoekertje</a:t>
            </a:r>
            <a:endParaRPr lang="en-US" sz="1600" dirty="0"/>
          </a:p>
        </p:txBody>
      </p:sp>
      <p:sp>
        <p:nvSpPr>
          <p:cNvPr id="46" name="Text 40"/>
          <p:cNvSpPr txBox="1"/>
          <p:nvPr/>
        </p:nvSpPr>
        <p:spPr>
          <a:xfrm>
            <a:off x="10972800" y="4646295"/>
            <a:ext cx="667512" cy="554355"/>
          </a:xfrm>
          <a:prstGeom prst="rect">
            <a:avLst/>
          </a:prstGeom>
          <a:noFill/>
          <a:ln/>
        </p:spPr>
        <p:txBody>
          <a:bodyPr wrap="square" lIns="0" tIns="0" rIns="0" bIns="0" rtlCol="0" anchor="ctr"/>
          <a:lstStyle/>
          <a:p>
            <a:pPr algn="r" indent="0" marL="0">
              <a:buNone/>
            </a:pPr>
            <a:r>
              <a:rPr lang="en-US" sz="1500" b="1" dirty="0">
                <a:solidFill>
                  <a:schemeClr val="accent1"/>
                </a:solidFill>
              </a:rPr>
              <a:t>15'</a:t>
            </a:r>
            <a:endParaRPr lang="en-US" sz="1500" dirty="0"/>
          </a:p>
        </p:txBody>
      </p:sp>
      <p:sp>
        <p:nvSpPr>
          <p:cNvPr id="47" name="Shape 41"/>
          <p:cNvSpPr/>
          <p:nvPr/>
        </p:nvSpPr>
        <p:spPr>
          <a:xfrm>
            <a:off x="6263640" y="5285804"/>
            <a:ext cx="384048" cy="384048"/>
          </a:xfrm>
          <a:prstGeom prst="ellipse">
            <a:avLst/>
          </a:prstGeom>
          <a:solidFill>
            <a:schemeClr val="tx2"/>
          </a:solidFill>
          <a:ln/>
        </p:spPr>
      </p:sp>
      <p:sp>
        <p:nvSpPr>
          <p:cNvPr id="48" name="Text 42"/>
          <p:cNvSpPr txBox="1"/>
          <p:nvPr/>
        </p:nvSpPr>
        <p:spPr>
          <a:xfrm>
            <a:off x="6263640" y="528580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49" name="Text 43"/>
          <p:cNvSpPr txBox="1"/>
          <p:nvPr/>
        </p:nvSpPr>
        <p:spPr>
          <a:xfrm>
            <a:off x="6784848" y="5200650"/>
            <a:ext cx="4114800" cy="554355"/>
          </a:xfrm>
          <a:prstGeom prst="rect">
            <a:avLst/>
          </a:prstGeom>
          <a:noFill/>
          <a:ln/>
        </p:spPr>
        <p:txBody>
          <a:bodyPr wrap="square" lIns="0" tIns="0" rIns="0" bIns="0" rtlCol="0" anchor="ctr"/>
          <a:lstStyle/>
          <a:p>
            <a:pPr indent="0" marL="0">
              <a:buNone/>
            </a:pPr>
            <a:r>
              <a:rPr lang="en-US" sz="1600" dirty="0">
                <a:solidFill>
                  <a:schemeClr val="tx1"/>
                </a:solidFill>
              </a:rPr>
              <a:t>D2 · Drie advertenties op 2dehands</a:t>
            </a:r>
            <a:endParaRPr lang="en-US" sz="1600" dirty="0"/>
          </a:p>
        </p:txBody>
      </p:sp>
      <p:sp>
        <p:nvSpPr>
          <p:cNvPr id="50" name="Text 44"/>
          <p:cNvSpPr txBox="1"/>
          <p:nvPr/>
        </p:nvSpPr>
        <p:spPr>
          <a:xfrm>
            <a:off x="10972800" y="5200650"/>
            <a:ext cx="667512" cy="554355"/>
          </a:xfrm>
          <a:prstGeom prst="rect">
            <a:avLst/>
          </a:prstGeom>
          <a:noFill/>
          <a:ln/>
        </p:spPr>
        <p:txBody>
          <a:bodyPr wrap="square" lIns="0" tIns="0" rIns="0" bIns="0" rtlCol="0" anchor="ctr"/>
          <a:lstStyle/>
          <a:p>
            <a:pPr algn="r" indent="0" marL="0">
              <a:buNone/>
            </a:pPr>
            <a:r>
              <a:rPr lang="en-US" sz="1500" b="1" dirty="0">
                <a:solidFill>
                  <a:schemeClr val="accent1"/>
                </a:solidFill>
              </a:rPr>
              <a:t>15'</a:t>
            </a:r>
            <a:endParaRPr lang="en-US" sz="1500" dirty="0"/>
          </a:p>
        </p:txBody>
      </p:sp>
      <p:sp>
        <p:nvSpPr>
          <p:cNvPr id="51" name="Shape 45"/>
          <p:cNvSpPr/>
          <p:nvPr/>
        </p:nvSpPr>
        <p:spPr>
          <a:xfrm>
            <a:off x="6263640" y="5840158"/>
            <a:ext cx="384048" cy="384048"/>
          </a:xfrm>
          <a:prstGeom prst="ellipse">
            <a:avLst/>
          </a:prstGeom>
          <a:solidFill>
            <a:schemeClr val="tx2"/>
          </a:solidFill>
          <a:ln/>
        </p:spPr>
      </p:sp>
      <p:sp>
        <p:nvSpPr>
          <p:cNvPr id="52" name="Text 46"/>
          <p:cNvSpPr txBox="1"/>
          <p:nvPr/>
        </p:nvSpPr>
        <p:spPr>
          <a:xfrm>
            <a:off x="6263640" y="584015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53" name="Text 47"/>
          <p:cNvSpPr txBox="1"/>
          <p:nvPr/>
        </p:nvSpPr>
        <p:spPr>
          <a:xfrm>
            <a:off x="6784848" y="5755005"/>
            <a:ext cx="4114800" cy="554355"/>
          </a:xfrm>
          <a:prstGeom prst="rect">
            <a:avLst/>
          </a:prstGeom>
          <a:noFill/>
          <a:ln/>
        </p:spPr>
        <p:txBody>
          <a:bodyPr wrap="square" lIns="0" tIns="0" rIns="0" bIns="0" rtlCol="0" anchor="ctr"/>
          <a:lstStyle/>
          <a:p>
            <a:pPr indent="0" marL="0">
              <a:buNone/>
            </a:pPr>
            <a:r>
              <a:rPr lang="en-US" sz="1600" dirty="0">
                <a:solidFill>
                  <a:schemeClr val="tx1"/>
                </a:solidFill>
              </a:rPr>
              <a:t>Bilan</a:t>
            </a:r>
            <a:endParaRPr lang="en-US" sz="1600" dirty="0"/>
          </a:p>
        </p:txBody>
      </p:sp>
      <p:sp>
        <p:nvSpPr>
          <p:cNvPr id="54" name="Text 48"/>
          <p:cNvSpPr txBox="1"/>
          <p:nvPr/>
        </p:nvSpPr>
        <p:spPr>
          <a:xfrm>
            <a:off x="10972800" y="5755005"/>
            <a:ext cx="667512" cy="554355"/>
          </a:xfrm>
          <a:prstGeom prst="rect">
            <a:avLst/>
          </a:prstGeom>
          <a:noFill/>
          <a:ln/>
        </p:spPr>
        <p:txBody>
          <a:bodyPr wrap="square" lIns="0" tIns="0" rIns="0" bIns="0" rtlCol="0" anchor="ctr"/>
          <a:lstStyle/>
          <a:p>
            <a:pPr algn="r" indent="0" marL="0">
              <a:buNone/>
            </a:pPr>
            <a:r>
              <a:rPr lang="en-US" sz="1500" b="1" dirty="0">
                <a:solidFill>
                  <a:schemeClr val="accent1"/>
                </a:solidFill>
              </a:rPr>
              <a:t>5'</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Échauffement : rappel du lexique du métier</a:t>
            </a:r>
            <a:endParaRPr lang="en-US" sz="3200" dirty="0"/>
          </a:p>
        </p:txBody>
      </p:sp>
      <p:sp>
        <p:nvSpPr>
          <p:cNvPr id="3" name="tag"/>
          <p:cNvSpPr/>
          <p:nvPr/>
        </p:nvSpPr>
        <p:spPr>
          <a:xfrm>
            <a:off x="548640" y="237744"/>
            <a:ext cx="1874520"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chemeClr val="bg1"/>
                </a:solidFill>
              </a:rPr>
              <a:t>ÉCHAUFFEMENT</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syllabus</a:t>
            </a:r>
            <a:endParaRPr lang="en-US" sz="1200" dirty="0"/>
          </a:p>
        </p:txBody>
      </p:sp>
      <p:sp>
        <p:nvSpPr>
          <p:cNvPr id="6" name="Text 3"/>
          <p:cNvSpPr txBox="1"/>
          <p:nvPr/>
        </p:nvSpPr>
        <p:spPr>
          <a:xfrm>
            <a:off x="548640" y="1481328"/>
            <a:ext cx="7178040" cy="615696"/>
          </a:xfrm>
          <a:prstGeom prst="rect">
            <a:avLst/>
          </a:prstGeom>
          <a:noFill/>
          <a:ln/>
        </p:spPr>
        <p:txBody>
          <a:bodyPr wrap="square" lIns="0" tIns="0" rIns="0" bIns="0" rtlCol="0" anchor="t"/>
          <a:lstStyle/>
          <a:p>
            <a:pPr indent="0" marL="0">
              <a:buNone/>
            </a:pPr>
            <a:r>
              <a:rPr lang="en-US" sz="1600" i="1" dirty="0">
                <a:solidFill>
                  <a:schemeClr val="accent5"/>
                </a:solidFill>
              </a:rPr>
              <a:t>Oral · par deux · 4 min. Complétez ; pour chaque phrase, dites </a:t>
            </a:r>
            <a:r>
              <a:rPr lang="en-US" sz="1600" b="1" i="1" dirty="0">
                <a:solidFill>
                  <a:schemeClr val="accent5"/>
                </a:solidFill>
              </a:rPr>
              <a:t>de ou het</a:t>
            </a:r>
            <a:r>
              <a:rPr lang="en-US" sz="1600" i="1" dirty="0">
                <a:solidFill>
                  <a:schemeClr val="accent5"/>
                </a:solidFill>
              </a:rPr>
              <a:t> devant le nom souligné.</a:t>
            </a:r>
            <a:endParaRPr lang="en-US" sz="1600" dirty="0"/>
          </a:p>
        </p:txBody>
      </p:sp>
      <p:sp>
        <p:nvSpPr>
          <p:cNvPr id="7" name="exercise"/>
          <p:cNvSpPr txBox="1"/>
          <p:nvPr/>
        </p:nvSpPr>
        <p:spPr>
          <a:xfrm>
            <a:off x="548640" y="2170176"/>
            <a:ext cx="7178040" cy="4120896"/>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dirty="0">
                <a:solidFill>
                  <a:schemeClr val="tx1"/>
                </a:solidFill>
              </a:rPr>
              <a:t>Wilt u </a:t>
            </a:r>
            <a:r>
              <a:rPr lang="en-US" sz="2400" dirty="0">
                <a:solidFill>
                  <a:schemeClr val="accent5"/>
                </a:solidFill>
              </a:rPr>
              <a:t>……………</a:t>
            </a:r>
            <a:r>
              <a:rPr lang="en-US" sz="2400" dirty="0">
                <a:solidFill>
                  <a:schemeClr val="tx1"/>
                </a:solidFill>
              </a:rPr>
              <a:t> of kopen?</a:t>
            </a:r>
            <a:endParaRPr lang="en-US" sz="2400" dirty="0"/>
          </a:p>
          <a:p>
            <a:pPr indent="0" marL="0">
              <a:spcAft>
                <a:spcPts val="1000"/>
              </a:spcAft>
              <a:buNone/>
            </a:pPr>
            <a:r>
              <a:rPr lang="en-US" sz="2400" b="1" dirty="0">
                <a:solidFill>
                  <a:schemeClr val="tx2"/>
                </a:solidFill>
              </a:rPr>
              <a:t>2.  </a:t>
            </a:r>
            <a:r>
              <a:rPr lang="en-US" sz="2400" dirty="0">
                <a:solidFill>
                  <a:schemeClr val="tx1"/>
                </a:solidFill>
              </a:rPr>
              <a:t>We hebben de opdracht </a:t>
            </a:r>
            <a:r>
              <a:rPr lang="en-US" sz="2400" dirty="0">
                <a:solidFill>
                  <a:schemeClr val="accent5"/>
                </a:solidFill>
              </a:rPr>
              <a:t>……………</a:t>
            </a:r>
            <a:r>
              <a:rPr lang="en-US" sz="2400" dirty="0">
                <a:solidFill>
                  <a:schemeClr val="tx1"/>
                </a:solidFill>
              </a:rPr>
              <a:t> met de eigenaar.</a:t>
            </a:r>
            <a:endParaRPr lang="en-US" sz="2400" dirty="0"/>
          </a:p>
          <a:p>
            <a:pPr indent="0" marL="0">
              <a:spcAft>
                <a:spcPts val="1000"/>
              </a:spcAft>
              <a:buNone/>
            </a:pPr>
            <a:r>
              <a:rPr lang="en-US" sz="2400" b="1" dirty="0">
                <a:solidFill>
                  <a:schemeClr val="tx2"/>
                </a:solidFill>
              </a:rPr>
              <a:t>3.  </a:t>
            </a:r>
            <a:r>
              <a:rPr lang="en-US" sz="2400" dirty="0">
                <a:solidFill>
                  <a:schemeClr val="tx1"/>
                </a:solidFill>
              </a:rPr>
              <a:t>De eigenaar </a:t>
            </a:r>
            <a:r>
              <a:rPr lang="en-US" sz="2400" dirty="0">
                <a:solidFill>
                  <a:schemeClr val="accent5"/>
                </a:solidFill>
              </a:rPr>
              <a:t>……………</a:t>
            </a:r>
            <a:r>
              <a:rPr lang="en-US" sz="2400" dirty="0">
                <a:solidFill>
                  <a:schemeClr val="tx1"/>
                </a:solidFill>
              </a:rPr>
              <a:t> zijn appartement aan een student.</a:t>
            </a:r>
            <a:endParaRPr lang="en-US" sz="2400" dirty="0"/>
          </a:p>
          <a:p>
            <a:pPr indent="0" marL="0">
              <a:spcAft>
                <a:spcPts val="1000"/>
              </a:spcAft>
              <a:buNone/>
            </a:pPr>
            <a:r>
              <a:rPr lang="en-US" sz="2400" b="1" dirty="0">
                <a:solidFill>
                  <a:schemeClr val="tx2"/>
                </a:solidFill>
              </a:rPr>
              <a:t>4.  </a:t>
            </a:r>
            <a:r>
              <a:rPr lang="en-US" sz="2400" dirty="0">
                <a:solidFill>
                  <a:schemeClr val="tx1"/>
                </a:solidFill>
              </a:rPr>
              <a:t>Het appartement ligt op de derde </a:t>
            </a:r>
            <a:r>
              <a:rPr lang="en-US" sz="2400" dirty="0">
                <a:solidFill>
                  <a:schemeClr val="accent5"/>
                </a:solidFill>
              </a:rPr>
              <a:t>………………</a:t>
            </a:r>
            <a:r>
              <a:rPr lang="en-US" sz="2400" dirty="0">
                <a:solidFill>
                  <a:schemeClr val="tx1"/>
                </a:solidFill>
              </a:rPr>
              <a:t>.</a:t>
            </a:r>
            <a:endParaRPr lang="en-US" sz="2400" dirty="0"/>
          </a:p>
          <a:p>
            <a:pPr indent="0" marL="0">
              <a:spcAft>
                <a:spcPts val="1000"/>
              </a:spcAft>
              <a:buNone/>
            </a:pPr>
            <a:r>
              <a:rPr lang="en-US" sz="2400" b="1" dirty="0">
                <a:solidFill>
                  <a:schemeClr val="tx2"/>
                </a:solidFill>
              </a:rPr>
              <a:t>5.  </a:t>
            </a:r>
            <a:r>
              <a:rPr lang="en-US" sz="2400" dirty="0">
                <a:solidFill>
                  <a:schemeClr val="tx1"/>
                </a:solidFill>
              </a:rPr>
              <a:t>Ik </a:t>
            </a:r>
            <a:r>
              <a:rPr lang="en-US" sz="2400" dirty="0">
                <a:solidFill>
                  <a:schemeClr val="accent5"/>
                </a:solidFill>
              </a:rPr>
              <a:t>……………</a:t>
            </a:r>
            <a:r>
              <a:rPr lang="en-US" sz="2400" dirty="0">
                <a:solidFill>
                  <a:schemeClr val="tx1"/>
                </a:solidFill>
              </a:rPr>
              <a:t> morgen een bod </a:t>
            </a:r>
            <a:r>
              <a:rPr lang="en-US" sz="2400" dirty="0">
                <a:solidFill>
                  <a:schemeClr val="accent5"/>
                </a:solidFill>
              </a:rPr>
              <a:t>……………</a:t>
            </a:r>
            <a:r>
              <a:rPr lang="en-US" sz="2400" dirty="0">
                <a:solidFill>
                  <a:schemeClr val="tx1"/>
                </a:solidFill>
              </a:rPr>
              <a:t>.</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Échauffement : rappel du lexique du métier</a:t>
            </a:r>
            <a:endParaRPr lang="en-US" sz="3200" dirty="0"/>
          </a:p>
        </p:txBody>
      </p:sp>
      <p:sp>
        <p:nvSpPr>
          <p:cNvPr id="3" name="tag"/>
          <p:cNvSpPr/>
          <p:nvPr/>
        </p:nvSpPr>
        <p:spPr>
          <a:xfrm>
            <a:off x="548640" y="237744"/>
            <a:ext cx="1874520"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chemeClr val="bg1"/>
                </a:solidFill>
              </a:rPr>
              <a:t>ÉCHAUFFEMENT</a:t>
            </a:r>
            <a:endParaRPr lang="en-US" sz="1200" dirty="0"/>
          </a:p>
        </p:txBody>
      </p:sp>
      <p:sp>
        <p:nvSpPr>
          <p:cNvPr id="4" name="tag"/>
          <p:cNvSpPr/>
          <p:nvPr/>
        </p:nvSpPr>
        <p:spPr>
          <a:xfrm>
            <a:off x="2532888" y="237744"/>
            <a:ext cx="1760220"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chemeClr val="bg1"/>
                </a:solidFill>
              </a:rPr>
              <a:t>✓ CORRECTIE</a:t>
            </a:r>
            <a:endParaRPr lang="en-US" sz="1200" dirty="0"/>
          </a:p>
        </p:txBody>
      </p:sp>
      <p:sp>
        <p:nvSpPr>
          <p:cNvPr id="5" name="Text 3"/>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syllabus</a:t>
            </a:r>
            <a:endParaRPr lang="en-US" sz="1200" dirty="0"/>
          </a:p>
        </p:txBody>
      </p:sp>
      <p:sp>
        <p:nvSpPr>
          <p:cNvPr id="7" name="Text 4"/>
          <p:cNvSpPr txBox="1"/>
          <p:nvPr/>
        </p:nvSpPr>
        <p:spPr>
          <a:xfrm>
            <a:off x="548640" y="1481328"/>
            <a:ext cx="7178040" cy="615696"/>
          </a:xfrm>
          <a:prstGeom prst="rect">
            <a:avLst/>
          </a:prstGeom>
          <a:noFill/>
          <a:ln/>
        </p:spPr>
        <p:txBody>
          <a:bodyPr wrap="square" lIns="0" tIns="0" rIns="0" bIns="0" rtlCol="0" anchor="t"/>
          <a:lstStyle/>
          <a:p>
            <a:pPr indent="0" marL="0">
              <a:buNone/>
            </a:pPr>
            <a:r>
              <a:rPr lang="en-US" sz="1600" i="1" dirty="0">
                <a:solidFill>
                  <a:schemeClr val="accent5"/>
                </a:solidFill>
              </a:rPr>
              <a:t>Oral · par deux · 4 min. Complétez ; pour chaque phrase, dites </a:t>
            </a:r>
            <a:r>
              <a:rPr lang="en-US" sz="1600" b="1" i="1" dirty="0">
                <a:solidFill>
                  <a:schemeClr val="accent5"/>
                </a:solidFill>
              </a:rPr>
              <a:t>de ou het</a:t>
            </a:r>
            <a:r>
              <a:rPr lang="en-US" sz="1600" i="1" dirty="0">
                <a:solidFill>
                  <a:schemeClr val="accent5"/>
                </a:solidFill>
              </a:rPr>
              <a:t> devant le nom souligné.</a:t>
            </a:r>
            <a:endParaRPr lang="en-US" sz="1600" dirty="0"/>
          </a:p>
        </p:txBody>
      </p:sp>
      <p:sp>
        <p:nvSpPr>
          <p:cNvPr id="8" name="exercise"/>
          <p:cNvSpPr txBox="1"/>
          <p:nvPr/>
        </p:nvSpPr>
        <p:spPr>
          <a:xfrm>
            <a:off x="548640" y="2170176"/>
            <a:ext cx="7178040" cy="4120896"/>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dirty="0">
                <a:solidFill>
                  <a:schemeClr val="tx1"/>
                </a:solidFill>
              </a:rPr>
              <a:t>Wilt u </a:t>
            </a:r>
            <a:r>
              <a:rPr lang="en-US" sz="2400" b="1" dirty="0">
                <a:solidFill>
                  <a:schemeClr val="accent3"/>
                </a:solidFill>
              </a:rPr>
              <a:t>huren</a:t>
            </a:r>
            <a:r>
              <a:rPr lang="en-US" sz="2400" dirty="0">
                <a:solidFill>
                  <a:schemeClr val="tx1"/>
                </a:solidFill>
              </a:rPr>
              <a:t> of kopen?</a:t>
            </a:r>
            <a:endParaRPr lang="en-US" sz="2400" dirty="0"/>
          </a:p>
          <a:p>
            <a:pPr indent="0" marL="0">
              <a:spcAft>
                <a:spcPts val="1000"/>
              </a:spcAft>
              <a:buNone/>
            </a:pPr>
            <a:r>
              <a:rPr lang="en-US" sz="2400" b="1" dirty="0">
                <a:solidFill>
                  <a:schemeClr val="tx2"/>
                </a:solidFill>
              </a:rPr>
              <a:t>2.  </a:t>
            </a:r>
            <a:r>
              <a:rPr lang="en-US" sz="2400" dirty="0">
                <a:solidFill>
                  <a:schemeClr val="tx1"/>
                </a:solidFill>
              </a:rPr>
              <a:t>We hebben de opdracht </a:t>
            </a:r>
            <a:r>
              <a:rPr lang="en-US" sz="2400" b="1" dirty="0">
                <a:solidFill>
                  <a:schemeClr val="accent3"/>
                </a:solidFill>
              </a:rPr>
              <a:t>getekend</a:t>
            </a:r>
            <a:r>
              <a:rPr lang="en-US" sz="2400" dirty="0">
                <a:solidFill>
                  <a:schemeClr val="tx1"/>
                </a:solidFill>
              </a:rPr>
              <a:t> met de eigenaar.</a:t>
            </a:r>
            <a:endParaRPr lang="en-US" sz="2400" dirty="0"/>
          </a:p>
          <a:p>
            <a:pPr indent="0" marL="0">
              <a:spcAft>
                <a:spcPts val="1000"/>
              </a:spcAft>
              <a:buNone/>
            </a:pPr>
            <a:r>
              <a:rPr lang="en-US" sz="2400" b="1" dirty="0">
                <a:solidFill>
                  <a:schemeClr val="tx2"/>
                </a:solidFill>
              </a:rPr>
              <a:t>3.  </a:t>
            </a:r>
            <a:r>
              <a:rPr lang="en-US" sz="2400" dirty="0">
                <a:solidFill>
                  <a:schemeClr val="tx1"/>
                </a:solidFill>
              </a:rPr>
              <a:t>De eigenaar </a:t>
            </a:r>
            <a:r>
              <a:rPr lang="en-US" sz="2400" b="1" dirty="0">
                <a:solidFill>
                  <a:schemeClr val="accent3"/>
                </a:solidFill>
              </a:rPr>
              <a:t>verhuurt</a:t>
            </a:r>
            <a:r>
              <a:rPr lang="en-US" sz="2400" dirty="0">
                <a:solidFill>
                  <a:schemeClr val="tx1"/>
                </a:solidFill>
              </a:rPr>
              <a:t> zijn appartement aan een student.</a:t>
            </a:r>
            <a:endParaRPr lang="en-US" sz="2400" dirty="0"/>
          </a:p>
          <a:p>
            <a:pPr indent="0" marL="0">
              <a:spcAft>
                <a:spcPts val="1000"/>
              </a:spcAft>
              <a:buNone/>
            </a:pPr>
            <a:r>
              <a:rPr lang="en-US" sz="2400" b="1" dirty="0">
                <a:solidFill>
                  <a:schemeClr val="tx2"/>
                </a:solidFill>
              </a:rPr>
              <a:t>4.  </a:t>
            </a:r>
            <a:r>
              <a:rPr lang="en-US" sz="2400" dirty="0">
                <a:solidFill>
                  <a:schemeClr val="tx1"/>
                </a:solidFill>
              </a:rPr>
              <a:t>Het appartement ligt op de derde </a:t>
            </a:r>
            <a:r>
              <a:rPr lang="en-US" sz="2400" b="1" dirty="0">
                <a:solidFill>
                  <a:schemeClr val="accent3"/>
                </a:solidFill>
              </a:rPr>
              <a:t>verdieping</a:t>
            </a:r>
            <a:r>
              <a:rPr lang="en-US" sz="2400" dirty="0">
                <a:solidFill>
                  <a:schemeClr val="tx1"/>
                </a:solidFill>
              </a:rPr>
              <a:t>.</a:t>
            </a:r>
            <a:endParaRPr lang="en-US" sz="2400" dirty="0"/>
          </a:p>
          <a:p>
            <a:pPr indent="0" marL="0">
              <a:spcAft>
                <a:spcPts val="1000"/>
              </a:spcAft>
              <a:buNone/>
            </a:pPr>
            <a:r>
              <a:rPr lang="en-US" sz="2400" b="1" dirty="0">
                <a:solidFill>
                  <a:schemeClr val="tx2"/>
                </a:solidFill>
              </a:rPr>
              <a:t>5.  </a:t>
            </a:r>
            <a:r>
              <a:rPr lang="en-US" sz="2400" dirty="0">
                <a:solidFill>
                  <a:schemeClr val="tx1"/>
                </a:solidFill>
              </a:rPr>
              <a:t>Ik </a:t>
            </a:r>
            <a:r>
              <a:rPr lang="en-US" sz="2400" b="1" dirty="0">
                <a:solidFill>
                  <a:schemeClr val="accent3"/>
                </a:solidFill>
              </a:rPr>
              <a:t>breng</a:t>
            </a:r>
            <a:r>
              <a:rPr lang="en-US" sz="2400" dirty="0">
                <a:solidFill>
                  <a:schemeClr val="tx1"/>
                </a:solidFill>
              </a:rPr>
              <a:t> morgen een bod </a:t>
            </a:r>
            <a:r>
              <a:rPr lang="en-US" sz="2400" b="1" dirty="0">
                <a:solidFill>
                  <a:schemeClr val="accent3"/>
                </a:solidFill>
              </a:rPr>
              <a:t>uit</a:t>
            </a:r>
            <a:r>
              <a:rPr lang="en-US" sz="2400" dirty="0">
                <a:solidFill>
                  <a:schemeClr val="tx1"/>
                </a:solidFill>
              </a:rPr>
              <a:t>.</a:t>
            </a:r>
            <a:endParaRPr lang="en-US" sz="2400" dirty="0"/>
          </a:p>
        </p:txBody>
      </p:sp>
      <p:sp>
        <p:nvSpPr>
          <p:cNvPr id="9" name="aside"/>
          <p:cNvSpPr/>
          <p:nvPr/>
        </p:nvSpPr>
        <p:spPr>
          <a:xfrm>
            <a:off x="8046720" y="1481328"/>
            <a:ext cx="3593592" cy="4809744"/>
          </a:xfrm>
          <a:prstGeom prst="roundRect">
            <a:avLst>
              <a:gd name="adj" fmla="val 2036"/>
            </a:avLst>
          </a:prstGeom>
          <a:solidFill>
            <a:schemeClr val="accent6">
              <a:alpha val="10000"/>
            </a:schemeClr>
          </a:solidFill>
          <a:ln w="12700">
            <a:solidFill>
              <a:schemeClr val="accent6">
                <a:alpha val="60000"/>
              </a:schemeClr>
            </a:solidFill>
            <a:prstDash val="solid"/>
          </a:ln>
        </p:spPr>
      </p:sp>
      <p:pic>
        <p:nvPicPr>
          <p:cNvPr id="10" name="Image 0" descr="preencoded.png">    </p:cNvPr>
          <p:cNvPicPr>
            <a:picLocks noChangeAspect="1"/>
          </p:cNvPicPr>
          <p:nvPr/>
        </p:nvPicPr>
        <p:blipFill>
          <a:blip r:embed="rId1"/>
          <a:stretch>
            <a:fillRect/>
          </a:stretch>
        </p:blipFill>
        <p:spPr>
          <a:xfrm>
            <a:off x="8229600" y="1664208"/>
            <a:ext cx="292608" cy="292608"/>
          </a:xfrm>
          <a:prstGeom prst="rect">
            <a:avLst/>
          </a:prstGeom>
        </p:spPr>
      </p:pic>
      <p:sp>
        <p:nvSpPr>
          <p:cNvPr id="11" name="Text 7"/>
          <p:cNvSpPr txBox="1"/>
          <p:nvPr/>
        </p:nvSpPr>
        <p:spPr>
          <a:xfrm>
            <a:off x="8613648" y="1636776"/>
            <a:ext cx="2862072" cy="347472"/>
          </a:xfrm>
          <a:prstGeom prst="rect">
            <a:avLst/>
          </a:prstGeom>
          <a:noFill/>
          <a:ln/>
        </p:spPr>
        <p:txBody>
          <a:bodyPr wrap="square" lIns="0" tIns="0" rIns="0" bIns="0" rtlCol="0" anchor="ctr"/>
          <a:lstStyle/>
          <a:p>
            <a:pPr indent="0" marL="0">
              <a:buNone/>
            </a:pPr>
            <a:r>
              <a:rPr lang="en-US" sz="1400" b="1" spc="100" kern="0" dirty="0">
                <a:solidFill>
                  <a:schemeClr val="accent6"/>
                </a:solidFill>
              </a:rPr>
              <a:t>ATTENTION</a:t>
            </a:r>
            <a:endParaRPr lang="en-US" sz="1400" dirty="0"/>
          </a:p>
        </p:txBody>
      </p:sp>
      <p:sp>
        <p:nvSpPr>
          <p:cNvPr id="12" name="Text 8"/>
          <p:cNvSpPr txBox="1"/>
          <p:nvPr/>
        </p:nvSpPr>
        <p:spPr>
          <a:xfrm>
            <a:off x="8211312" y="2075688"/>
            <a:ext cx="3264408" cy="4078224"/>
          </a:xfrm>
          <a:prstGeom prst="rect">
            <a:avLst/>
          </a:prstGeom>
          <a:noFill/>
          <a:ln/>
        </p:spPr>
        <p:txBody>
          <a:bodyPr wrap="square" lIns="0" tIns="0" rIns="0" bIns="0" rtlCol="0" anchor="t"/>
          <a:lstStyle/>
          <a:p>
            <a:pPr marL="177800" indent="-177800">
              <a:spcAft>
                <a:spcPts val="600"/>
              </a:spcAft>
              <a:buSzPct val="100000"/>
              <a:buChar char="•"/>
            </a:pPr>
            <a:r>
              <a:rPr lang="en-US" sz="1800" b="1" dirty="0">
                <a:solidFill>
                  <a:schemeClr val="tx1"/>
                </a:solidFill>
              </a:rPr>
              <a:t>Qui loue à qui ?</a:t>
            </a:r>
            <a:r>
              <a:rPr lang="en-US" sz="1800" dirty="0">
                <a:solidFill>
                  <a:schemeClr val="tx1"/>
                </a:solidFill>
              </a:rPr>
              <a:t> </a:t>
            </a:r>
            <a:r>
              <a:rPr lang="en-US" sz="1800" i="1" dirty="0">
                <a:solidFill>
                  <a:schemeClr val="tx1"/>
                </a:solidFill>
              </a:rPr>
              <a:t>huren</a:t>
            </a:r>
            <a:r>
              <a:rPr lang="en-US" sz="1800" dirty="0">
                <a:solidFill>
                  <a:schemeClr val="tx1"/>
                </a:solidFill>
              </a:rPr>
              <a:t> ≠ </a:t>
            </a:r>
            <a:r>
              <a:rPr lang="en-US" sz="1800" i="1" dirty="0">
                <a:solidFill>
                  <a:schemeClr val="tx1"/>
                </a:solidFill>
              </a:rPr>
              <a:t>verhuren</a:t>
            </a:r>
            <a:r>
              <a:rPr lang="en-US" sz="1800" dirty="0">
                <a:solidFill>
                  <a:schemeClr val="tx1"/>
                </a:solidFill>
              </a:rPr>
              <a:t>.</a:t>
            </a:r>
            <a:endParaRPr lang="en-US" sz="1800" dirty="0"/>
          </a:p>
          <a:p>
            <a:pPr marL="177800" indent="-177800">
              <a:spcAft>
                <a:spcPts val="600"/>
              </a:spcAft>
              <a:buSzPct val="100000"/>
              <a:buChar char="•"/>
            </a:pPr>
            <a:r>
              <a:rPr lang="en-US" sz="1800" i="1" dirty="0">
                <a:solidFill>
                  <a:schemeClr val="tx1"/>
                </a:solidFill>
              </a:rPr>
              <a:t>uitbrengen</a:t>
            </a:r>
            <a:r>
              <a:rPr lang="en-US" sz="1800" dirty="0">
                <a:solidFill>
                  <a:schemeClr val="tx1"/>
                </a:solidFill>
              </a:rPr>
              <a:t> est séparable : </a:t>
            </a:r>
            <a:r>
              <a:rPr lang="en-US" sz="1800" i="1" dirty="0">
                <a:solidFill>
                  <a:schemeClr val="tx1"/>
                </a:solidFill>
              </a:rPr>
              <a:t>ik breng… uit</a:t>
            </a:r>
            <a:r>
              <a:rPr lang="en-US" sz="1800" dirty="0">
                <a:solidFill>
                  <a:schemeClr val="tx1"/>
                </a:solidFill>
              </a:rPr>
              <a:t>.</a:t>
            </a:r>
            <a:endParaRPr lang="en-US" sz="1800" dirty="0"/>
          </a:p>
          <a:p>
            <a:pPr marL="177800" indent="-177800">
              <a:spcAft>
                <a:spcPts val="600"/>
              </a:spcAft>
              <a:buSzPct val="100000"/>
              <a:buChar char="•"/>
            </a:pPr>
            <a:r>
              <a:rPr lang="en-US" sz="1800" i="1" dirty="0">
                <a:solidFill>
                  <a:schemeClr val="tx1"/>
                </a:solidFill>
              </a:rPr>
              <a:t>de opdracht</a:t>
            </a:r>
            <a:r>
              <a:rPr lang="en-US" sz="1800" dirty="0">
                <a:solidFill>
                  <a:schemeClr val="tx1"/>
                </a:solidFill>
              </a:rPr>
              <a:t> · </a:t>
            </a:r>
            <a:r>
              <a:rPr lang="en-US" sz="1800" i="1" dirty="0">
                <a:solidFill>
                  <a:schemeClr val="tx1"/>
                </a:solidFill>
              </a:rPr>
              <a:t>het appartement</a:t>
            </a:r>
            <a:r>
              <a:rPr lang="en-US" sz="1800" dirty="0">
                <a:solidFill>
                  <a:schemeClr val="tx1"/>
                </a:solidFill>
              </a:rPr>
              <a:t> · </a:t>
            </a:r>
            <a:r>
              <a:rPr lang="en-US" sz="1800" i="1" dirty="0">
                <a:solidFill>
                  <a:schemeClr val="tx1"/>
                </a:solidFill>
              </a:rPr>
              <a:t>de verdieping</a:t>
            </a:r>
            <a:r>
              <a:rPr lang="en-US" sz="1800" dirty="0">
                <a:solidFill>
                  <a:schemeClr val="tx1"/>
                </a:solidFill>
              </a:rPr>
              <a:t> : retenez l’article, il sert à choisir </a:t>
            </a:r>
            <a:r>
              <a:rPr lang="en-US" sz="1800" b="1" dirty="0">
                <a:solidFill>
                  <a:schemeClr val="tx1"/>
                </a:solidFill>
              </a:rPr>
              <a:t>die / dat</a:t>
            </a:r>
            <a:r>
              <a:rPr lang="en-US" sz="1800" dirty="0">
                <a:solidFill>
                  <a:schemeClr val="tx1"/>
                </a:solidFill>
              </a:rPr>
              <a:t> aujourd’hui.</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Séquence 5.2 : décrire le bien</a:t>
            </a:r>
            <a:endParaRPr lang="en-US" sz="3200" dirty="0"/>
          </a:p>
        </p:txBody>
      </p:sp>
      <p:sp>
        <p:nvSpPr>
          <p:cNvPr id="3" name="tag"/>
          <p:cNvSpPr/>
          <p:nvPr/>
        </p:nvSpPr>
        <p:spPr>
          <a:xfrm>
            <a:off x="548640" y="237744"/>
            <a:ext cx="937260"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chemeClr val="bg1"/>
                </a:solidFill>
              </a:rPr>
              <a:t>FOCUS</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7</a:t>
            </a:r>
            <a:endParaRPr lang="en-US" sz="1200" dirty="0"/>
          </a:p>
        </p:txBody>
      </p:sp>
      <p:pic>
        <p:nvPicPr>
          <p:cNvPr id="6" name="illustration" descr="Illustration du syllabus">    </p:cNvPr>
          <p:cNvPicPr>
            <a:picLocks noChangeAspect="1"/>
          </p:cNvPicPr>
          <p:nvPr/>
        </p:nvPicPr>
        <p:blipFill>
          <a:blip r:embed="rId1"/>
          <a:stretch>
            <a:fillRect/>
          </a:stretch>
        </p:blipFill>
        <p:spPr>
          <a:xfrm>
            <a:off x="548640" y="1508760"/>
            <a:ext cx="6035040" cy="4025372"/>
          </a:xfrm>
          <a:prstGeom prst="rect">
            <a:avLst/>
          </a:prstGeom>
          <a:effectLst>
            <a:outerShdw sx="100000" sy="100000" kx="0" ky="0" algn="bl" rotWithShape="0" blurRad="101600" dist="25400" dir="3600000">
              <a:srgbClr val="000000">
                <a:alpha val="18000"/>
              </a:srgbClr>
            </a:outerShdw>
          </a:effectLst>
        </p:spPr>
      </p:pic>
      <p:sp>
        <p:nvSpPr>
          <p:cNvPr id="7" name="Shape 3"/>
          <p:cNvSpPr/>
          <p:nvPr/>
        </p:nvSpPr>
        <p:spPr>
          <a:xfrm>
            <a:off x="6995160" y="1508760"/>
            <a:ext cx="1600200" cy="868680"/>
          </a:xfrm>
          <a:prstGeom prst="roundRect">
            <a:avLst>
              <a:gd name="adj" fmla="val 8421"/>
            </a:avLst>
          </a:prstGeom>
          <a:solidFill>
            <a:schemeClr val="tx2"/>
          </a:solidFill>
          <a:ln/>
        </p:spPr>
      </p:sp>
      <p:sp>
        <p:nvSpPr>
          <p:cNvPr id="8" name="Text 4"/>
          <p:cNvSpPr txBox="1"/>
          <p:nvPr/>
        </p:nvSpPr>
        <p:spPr>
          <a:xfrm>
            <a:off x="6995160" y="1554480"/>
            <a:ext cx="1600200" cy="777240"/>
          </a:xfrm>
          <a:prstGeom prst="rect">
            <a:avLst/>
          </a:prstGeom>
          <a:noFill/>
          <a:ln/>
        </p:spPr>
        <p:txBody>
          <a:bodyPr wrap="square" lIns="0" tIns="0" rIns="0" bIns="0" rtlCol="0" anchor="ctr"/>
          <a:lstStyle/>
          <a:p>
            <a:pPr algn="ctr" indent="0" marL="0">
              <a:buNone/>
            </a:pPr>
            <a:r>
              <a:rPr lang="en-US" sz="1100" b="1" spc="200" kern="0" dirty="0">
                <a:solidFill>
                  <a:schemeClr val="bg2"/>
                </a:solidFill>
              </a:rPr>
              <a:t>SÉQUENCE</a:t>
            </a:r>
            <a:endParaRPr lang="en-US" sz="1100" dirty="0"/>
          </a:p>
          <a:p>
            <a:pPr algn="ctr" indent="0" marL="0">
              <a:buNone/>
            </a:pPr>
            <a:r>
              <a:rPr lang="en-US" sz="2400" b="1" dirty="0">
                <a:solidFill>
                  <a:schemeClr val="bg1"/>
                </a:solidFill>
                <a:latin typeface="+mj-lt" pitchFamily="34" charset="0"/>
                <a:ea typeface="+mj-lt" pitchFamily="34" charset="-122"/>
                <a:cs typeface="+mj-lt" pitchFamily="34" charset="-120"/>
              </a:rPr>
              <a:t>5.2</a:t>
            </a:r>
            <a:endParaRPr lang="en-US" sz="1100" dirty="0"/>
          </a:p>
        </p:txBody>
      </p:sp>
      <p:sp>
        <p:nvSpPr>
          <p:cNvPr id="9" name="Text 5"/>
          <p:cNvSpPr txBox="1"/>
          <p:nvPr/>
        </p:nvSpPr>
        <p:spPr>
          <a:xfrm>
            <a:off x="6995160" y="2560320"/>
            <a:ext cx="4645152" cy="2380488"/>
          </a:xfrm>
          <a:prstGeom prst="rect">
            <a:avLst/>
          </a:prstGeom>
          <a:noFill/>
          <a:ln/>
        </p:spPr>
        <p:txBody>
          <a:bodyPr wrap="square" lIns="0" tIns="0" rIns="0" bIns="0" rtlCol="0" anchor="t"/>
          <a:lstStyle/>
          <a:p>
            <a:pPr indent="0" marL="0">
              <a:spcAft>
                <a:spcPts val="1000"/>
              </a:spcAft>
              <a:buNone/>
            </a:pPr>
            <a:r>
              <a:rPr lang="en-US" sz="1900" b="1" dirty="0">
                <a:solidFill>
                  <a:schemeClr val="tx1"/>
                </a:solidFill>
              </a:rPr>
              <a:t>Focus : lignes 1, 3 et 5</a:t>
            </a:r>
            <a:endParaRPr lang="en-US" sz="1900" dirty="0"/>
          </a:p>
          <a:p>
            <a:pPr indent="0" marL="0">
              <a:spcAft>
                <a:spcPts val="1000"/>
              </a:spcAft>
              <a:buNone/>
            </a:pPr>
            <a:r>
              <a:rPr lang="en-US" sz="1900" dirty="0">
                <a:solidFill>
                  <a:schemeClr val="tx1"/>
                </a:solidFill>
              </a:rPr>
              <a:t>«Jij bent toch de stagiair </a:t>
            </a:r>
            <a:r>
              <a:rPr lang="en-US" sz="1900" b="1" dirty="0">
                <a:solidFill>
                  <a:schemeClr val="tx1"/>
                </a:solidFill>
              </a:rPr>
              <a:t>die</a:t>
            </a:r>
            <a:r>
              <a:rPr lang="en-US" sz="1900" dirty="0">
                <a:solidFill>
                  <a:schemeClr val="tx1"/>
                </a:solidFill>
              </a:rPr>
              <a:t> vorig jaar de opleiding vastgoed heeft gevolgd?»</a:t>
            </a:r>
            <a:endParaRPr lang="en-US" sz="1900" dirty="0"/>
          </a:p>
          <a:p>
            <a:pPr indent="0" marL="0">
              <a:spcAft>
                <a:spcPts val="1000"/>
              </a:spcAft>
              <a:buNone/>
            </a:pPr>
            <a:r>
              <a:rPr lang="en-US" sz="1900" dirty="0">
                <a:solidFill>
                  <a:schemeClr val="tx1"/>
                </a:solidFill>
              </a:rPr>
              <a:t>«Het is een woning </a:t>
            </a:r>
            <a:r>
              <a:rPr lang="en-US" sz="1900" b="1" dirty="0">
                <a:solidFill>
                  <a:schemeClr val="tx1"/>
                </a:solidFill>
              </a:rPr>
              <a:t>die</a:t>
            </a:r>
            <a:r>
              <a:rPr lang="en-US" sz="1900" dirty="0">
                <a:solidFill>
                  <a:schemeClr val="tx1"/>
                </a:solidFill>
              </a:rPr>
              <a:t> net gerenoveerd is.»</a:t>
            </a:r>
            <a:endParaRPr lang="en-US" sz="1900" dirty="0"/>
          </a:p>
          <a:p>
            <a:pPr indent="0" marL="0">
              <a:spcAft>
                <a:spcPts val="1000"/>
              </a:spcAft>
              <a:buNone/>
            </a:pPr>
            <a:r>
              <a:rPr lang="en-US" sz="1900" dirty="0">
                <a:solidFill>
                  <a:schemeClr val="tx1"/>
                </a:solidFill>
              </a:rPr>
              <a:t>«Dat is de man </a:t>
            </a:r>
            <a:r>
              <a:rPr lang="en-US" sz="1900" b="1" dirty="0">
                <a:solidFill>
                  <a:schemeClr val="tx1"/>
                </a:solidFill>
              </a:rPr>
              <a:t>die</a:t>
            </a:r>
            <a:r>
              <a:rPr lang="en-US" sz="1900" dirty="0">
                <a:solidFill>
                  <a:schemeClr val="tx1"/>
                </a:solidFill>
              </a:rPr>
              <a:t> ons vorige maand heeft gebeld.»</a:t>
            </a:r>
            <a:endParaRPr lang="en-US" sz="1900" dirty="0"/>
          </a:p>
        </p:txBody>
      </p:sp>
      <p:sp>
        <p:nvSpPr>
          <p:cNvPr id="10" name="Shape 6"/>
          <p:cNvSpPr/>
          <p:nvPr/>
        </p:nvSpPr>
        <p:spPr>
          <a:xfrm>
            <a:off x="6995160" y="5123688"/>
            <a:ext cx="4645152" cy="1167384"/>
          </a:xfrm>
          <a:prstGeom prst="roundRect">
            <a:avLst>
              <a:gd name="adj" fmla="val 6266"/>
            </a:avLst>
          </a:prstGeom>
          <a:solidFill>
            <a:schemeClr val="accent1">
              <a:alpha val="12000"/>
            </a:schemeClr>
          </a:solidFill>
          <a:ln w="12700">
            <a:solidFill>
              <a:srgbClr val="D9700F"/>
            </a:solidFill>
            <a:prstDash val="solid"/>
          </a:ln>
        </p:spPr>
      </p:sp>
      <p:sp>
        <p:nvSpPr>
          <p:cNvPr id="11" name="Text 7"/>
          <p:cNvSpPr txBox="1"/>
          <p:nvPr/>
        </p:nvSpPr>
        <p:spPr>
          <a:xfrm>
            <a:off x="7178040" y="5215128"/>
            <a:ext cx="4279392" cy="292608"/>
          </a:xfrm>
          <a:prstGeom prst="rect">
            <a:avLst/>
          </a:prstGeom>
          <a:noFill/>
          <a:ln/>
        </p:spPr>
        <p:txBody>
          <a:bodyPr wrap="square" lIns="0" tIns="0" rIns="0" bIns="0" rtlCol="0" anchor="ctr"/>
          <a:lstStyle/>
          <a:p>
            <a:pPr indent="0" marL="0">
              <a:buNone/>
            </a:pPr>
            <a:r>
              <a:rPr lang="en-US" sz="1200" b="1" spc="100" kern="0" dirty="0">
                <a:solidFill>
                  <a:schemeClr val="accent1"/>
                </a:solidFill>
              </a:rPr>
              <a:t>QUESTION À LA CLASSE</a:t>
            </a:r>
            <a:endParaRPr lang="en-US" sz="1200" dirty="0"/>
          </a:p>
        </p:txBody>
      </p:sp>
      <p:sp>
        <p:nvSpPr>
          <p:cNvPr id="12" name="Text 8"/>
          <p:cNvSpPr txBox="1"/>
          <p:nvPr/>
        </p:nvSpPr>
        <p:spPr>
          <a:xfrm>
            <a:off x="7178040" y="5507736"/>
            <a:ext cx="4279392" cy="710184"/>
          </a:xfrm>
          <a:prstGeom prst="rect">
            <a:avLst/>
          </a:prstGeom>
          <a:noFill/>
          <a:ln/>
        </p:spPr>
        <p:txBody>
          <a:bodyPr wrap="square" lIns="0" tIns="0" rIns="0" bIns="0" rtlCol="0" anchor="t"/>
          <a:lstStyle/>
          <a:p>
            <a:pPr indent="0" marL="0">
              <a:buNone/>
            </a:pPr>
            <a:r>
              <a:rPr lang="en-US" sz="1700" dirty="0">
                <a:solidFill>
                  <a:schemeClr val="tx1"/>
                </a:solidFill>
              </a:rPr>
              <a:t>Quel mot relie chaque fois la deuxième partie de la phrase au nom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Pourquoi les relatives sont-elles VOTRE grammaire ?</a:t>
            </a:r>
            <a:endParaRPr lang="en-US" sz="3200" dirty="0"/>
          </a:p>
        </p:txBody>
      </p:sp>
      <p:sp>
        <p:nvSpPr>
          <p:cNvPr id="3" name="tag"/>
          <p:cNvSpPr/>
          <p:nvPr/>
        </p:nvSpPr>
        <p:spPr>
          <a:xfrm>
            <a:off x="548640" y="237744"/>
            <a:ext cx="937260"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chemeClr val="bg1"/>
                </a:solidFill>
              </a:rPr>
              <a:t>FOCUS</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7</a:t>
            </a:r>
            <a:endParaRPr lang="en-US" sz="1200" dirty="0"/>
          </a:p>
        </p:txBody>
      </p:sp>
      <p:sp>
        <p:nvSpPr>
          <p:cNvPr id="6" name="Shape 3"/>
          <p:cNvSpPr/>
          <p:nvPr/>
        </p:nvSpPr>
        <p:spPr>
          <a:xfrm>
            <a:off x="548640" y="1481328"/>
            <a:ext cx="5225796" cy="3922776"/>
          </a:xfrm>
          <a:prstGeom prst="roundRect">
            <a:avLst>
              <a:gd name="adj" fmla="val 2331"/>
            </a:avLst>
          </a:prstGeom>
          <a:solidFill>
            <a:schemeClr val="accent6">
              <a:alpha val="8000"/>
            </a:schemeClr>
          </a:solidFill>
          <a:ln w="15875">
            <a:solidFill>
              <a:schemeClr val="accent6"/>
            </a:solidFill>
            <a:prstDash val="solid"/>
          </a:ln>
        </p:spPr>
      </p:sp>
      <p:sp>
        <p:nvSpPr>
          <p:cNvPr id="7" name="Text 4"/>
          <p:cNvSpPr txBox="1"/>
          <p:nvPr/>
        </p:nvSpPr>
        <p:spPr>
          <a:xfrm>
            <a:off x="777240" y="1618488"/>
            <a:ext cx="4311396" cy="548640"/>
          </a:xfrm>
          <a:prstGeom prst="rect">
            <a:avLst/>
          </a:prstGeom>
          <a:noFill/>
          <a:ln/>
        </p:spPr>
        <p:txBody>
          <a:bodyPr wrap="square" lIns="0" tIns="0" rIns="0" bIns="0" rtlCol="0" anchor="ctr"/>
          <a:lstStyle/>
          <a:p>
            <a:pPr indent="0" marL="0">
              <a:buNone/>
            </a:pPr>
            <a:r>
              <a:rPr lang="en-US" sz="2000" b="1" dirty="0">
                <a:solidFill>
                  <a:schemeClr val="accent6"/>
                </a:solidFill>
                <a:latin typeface="+mj-lt" pitchFamily="34" charset="0"/>
                <a:ea typeface="+mj-lt" pitchFamily="34" charset="-122"/>
                <a:cs typeface="+mj-lt" pitchFamily="34" charset="-120"/>
              </a:rPr>
              <a:t>✗ Qui énumère (palier 1)</a:t>
            </a:r>
            <a:endParaRPr lang="en-US" sz="2000" dirty="0"/>
          </a:p>
        </p:txBody>
      </p:sp>
      <p:sp>
        <p:nvSpPr>
          <p:cNvPr id="8" name="Text 5"/>
          <p:cNvSpPr txBox="1"/>
          <p:nvPr/>
        </p:nvSpPr>
        <p:spPr>
          <a:xfrm>
            <a:off x="777240" y="2304288"/>
            <a:ext cx="4768596" cy="2962656"/>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chemeClr val="tx1"/>
                </a:solidFill>
              </a:rPr>
              <a:t>Rijhuis. Het heeft een tuin.</a:t>
            </a:r>
            <a:endParaRPr lang="en-US" sz="2000" dirty="0"/>
          </a:p>
          <a:p>
            <a:pPr marL="203200" indent="-203200">
              <a:spcAft>
                <a:spcPts val="800"/>
              </a:spcAft>
              <a:buSzPct val="100000"/>
              <a:buChar char="•"/>
            </a:pPr>
            <a:r>
              <a:rPr lang="en-US" sz="2000" dirty="0">
                <a:solidFill>
                  <a:schemeClr val="tx1"/>
                </a:solidFill>
              </a:rPr>
              <a:t>De tuin ligt op het zuiden.</a:t>
            </a:r>
            <a:endParaRPr lang="en-US" sz="2000" dirty="0"/>
          </a:p>
          <a:p>
            <a:pPr marL="203200" indent="-203200">
              <a:spcAft>
                <a:spcPts val="800"/>
              </a:spcAft>
              <a:buSzPct val="100000"/>
              <a:buChar char="•"/>
            </a:pPr>
            <a:r>
              <a:rPr lang="en-US" sz="2000" dirty="0">
                <a:solidFill>
                  <a:schemeClr val="tx1"/>
                </a:solidFill>
              </a:rPr>
              <a:t>Trois phrases courtes : on </a:t>
            </a:r>
            <a:r>
              <a:rPr lang="en-US" sz="2000" b="1" dirty="0">
                <a:solidFill>
                  <a:schemeClr val="tx1"/>
                </a:solidFill>
              </a:rPr>
              <a:t>énumère</a:t>
            </a:r>
            <a:r>
              <a:rPr lang="en-US" sz="2000" dirty="0">
                <a:solidFill>
                  <a:schemeClr val="tx1"/>
                </a:solidFill>
              </a:rPr>
              <a:t>.</a:t>
            </a:r>
            <a:endParaRPr lang="en-US" sz="2000" dirty="0"/>
          </a:p>
        </p:txBody>
      </p:sp>
      <p:sp>
        <p:nvSpPr>
          <p:cNvPr id="9" name="Shape 6"/>
          <p:cNvSpPr/>
          <p:nvPr/>
        </p:nvSpPr>
        <p:spPr>
          <a:xfrm>
            <a:off x="6414516" y="1481328"/>
            <a:ext cx="5225796" cy="3922776"/>
          </a:xfrm>
          <a:prstGeom prst="roundRect">
            <a:avLst>
              <a:gd name="adj" fmla="val 2331"/>
            </a:avLst>
          </a:prstGeom>
          <a:solidFill>
            <a:schemeClr val="accent3">
              <a:alpha val="8000"/>
            </a:schemeClr>
          </a:solidFill>
          <a:ln w="15875">
            <a:solidFill>
              <a:schemeClr val="accent3"/>
            </a:solidFill>
            <a:prstDash val="solid"/>
          </a:ln>
        </p:spPr>
      </p:sp>
      <p:sp>
        <p:nvSpPr>
          <p:cNvPr id="10" name="Text 7"/>
          <p:cNvSpPr txBox="1"/>
          <p:nvPr/>
        </p:nvSpPr>
        <p:spPr>
          <a:xfrm>
            <a:off x="6643116" y="1618488"/>
            <a:ext cx="4311396" cy="548640"/>
          </a:xfrm>
          <a:prstGeom prst="rect">
            <a:avLst/>
          </a:prstGeom>
          <a:noFill/>
          <a:ln/>
        </p:spPr>
        <p:txBody>
          <a:bodyPr wrap="square" lIns="0" tIns="0" rIns="0" bIns="0" rtlCol="0" anchor="ctr"/>
          <a:lstStyle/>
          <a:p>
            <a:pPr indent="0" marL="0">
              <a:buNone/>
            </a:pPr>
            <a:r>
              <a:rPr lang="en-US" sz="2000" b="1" dirty="0">
                <a:solidFill>
                  <a:schemeClr val="accent3"/>
                </a:solidFill>
                <a:latin typeface="+mj-lt" pitchFamily="34" charset="0"/>
                <a:ea typeface="+mj-lt" pitchFamily="34" charset="-122"/>
                <a:cs typeface="+mj-lt" pitchFamily="34" charset="-120"/>
              </a:rPr>
              <a:t>✓ Qui vend (palier 5)</a:t>
            </a:r>
            <a:endParaRPr lang="en-US" sz="2000" dirty="0"/>
          </a:p>
        </p:txBody>
      </p:sp>
      <p:sp>
        <p:nvSpPr>
          <p:cNvPr id="11" name="Text 8"/>
          <p:cNvSpPr txBox="1"/>
          <p:nvPr/>
        </p:nvSpPr>
        <p:spPr>
          <a:xfrm>
            <a:off x="6643116" y="2304288"/>
            <a:ext cx="4768596" cy="2962656"/>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chemeClr val="tx1"/>
                </a:solidFill>
              </a:rPr>
              <a:t>Rijhuis met een tuin </a:t>
            </a:r>
            <a:r>
              <a:rPr lang="en-US" sz="2000" b="1" dirty="0">
                <a:solidFill>
                  <a:schemeClr val="tx1"/>
                </a:solidFill>
              </a:rPr>
              <a:t>die</a:t>
            </a:r>
            <a:r>
              <a:rPr lang="en-US" sz="2000" dirty="0">
                <a:solidFill>
                  <a:schemeClr val="tx1"/>
                </a:solidFill>
              </a:rPr>
              <a:t> op het zuiden ligt.</a:t>
            </a:r>
            <a:endParaRPr lang="en-US" sz="2000" dirty="0"/>
          </a:p>
          <a:p>
            <a:pPr marL="203200" indent="-203200">
              <a:spcAft>
                <a:spcPts val="800"/>
              </a:spcAft>
              <a:buSzPct val="100000"/>
              <a:buChar char="•"/>
            </a:pPr>
            <a:r>
              <a:rPr lang="en-US" sz="2000" dirty="0">
                <a:solidFill>
                  <a:schemeClr val="tx1"/>
                </a:solidFill>
              </a:rPr>
              <a:t>Une seule phrase, une relative : on </a:t>
            </a:r>
            <a:r>
              <a:rPr lang="en-US" sz="2000" b="1" dirty="0">
                <a:solidFill>
                  <a:schemeClr val="tx1"/>
                </a:solidFill>
              </a:rPr>
              <a:t>vend</a:t>
            </a:r>
            <a:r>
              <a:rPr lang="en-US" sz="2000" dirty="0">
                <a:solidFill>
                  <a:schemeClr val="tx1"/>
                </a:solidFill>
              </a:rPr>
              <a:t>.</a:t>
            </a:r>
            <a:endParaRPr lang="en-US" sz="2000" dirty="0"/>
          </a:p>
          <a:p>
            <a:pPr marL="203200" indent="-203200">
              <a:spcAft>
                <a:spcPts val="800"/>
              </a:spcAft>
              <a:buSzPct val="100000"/>
              <a:buChar char="•"/>
            </a:pPr>
            <a:r>
              <a:rPr lang="en-US" sz="2000" dirty="0">
                <a:solidFill>
                  <a:schemeClr val="tx1"/>
                </a:solidFill>
              </a:rPr>
              <a:t>Le pronom relatif est l’</a:t>
            </a:r>
            <a:r>
              <a:rPr lang="en-US" sz="2000" b="1" dirty="0">
                <a:solidFill>
                  <a:schemeClr val="tx1"/>
                </a:solidFill>
              </a:rPr>
              <a:t>outil n° 1</a:t>
            </a:r>
            <a:r>
              <a:rPr lang="en-US" sz="2000" dirty="0">
                <a:solidFill>
                  <a:schemeClr val="tx1"/>
                </a:solidFill>
              </a:rPr>
              <a:t> de l’annonce.</a:t>
            </a:r>
            <a:endParaRPr lang="en-US" sz="2000" dirty="0"/>
          </a:p>
        </p:txBody>
      </p:sp>
      <p:sp>
        <p:nvSpPr>
          <p:cNvPr id="12" name="Shape 9"/>
          <p:cNvSpPr/>
          <p:nvPr/>
        </p:nvSpPr>
        <p:spPr>
          <a:xfrm>
            <a:off x="5838444" y="3186684"/>
            <a:ext cx="512064" cy="512064"/>
          </a:xfrm>
          <a:prstGeom prst="ellipse">
            <a:avLst/>
          </a:prstGeom>
          <a:solidFill>
            <a:schemeClr val="tx2"/>
          </a:solidFill>
          <a:ln/>
        </p:spPr>
      </p:sp>
      <p:sp>
        <p:nvSpPr>
          <p:cNvPr id="13" name="Text 10"/>
          <p:cNvSpPr txBox="1"/>
          <p:nvPr/>
        </p:nvSpPr>
        <p:spPr>
          <a:xfrm>
            <a:off x="5838444" y="3186684"/>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vs</a:t>
            </a:r>
            <a:endParaRPr lang="en-US" sz="1400" dirty="0"/>
          </a:p>
        </p:txBody>
      </p:sp>
      <p:sp>
        <p:nvSpPr>
          <p:cNvPr id="14" name="Shape 11"/>
          <p:cNvSpPr/>
          <p:nvPr/>
        </p:nvSpPr>
        <p:spPr>
          <a:xfrm>
            <a:off x="548640" y="5605272"/>
            <a:ext cx="11091672" cy="685800"/>
          </a:xfrm>
          <a:prstGeom prst="roundRect">
            <a:avLst>
              <a:gd name="adj" fmla="val 10667"/>
            </a:avLst>
          </a:prstGeom>
          <a:solidFill>
            <a:schemeClr val="accent3">
              <a:alpha val="10000"/>
            </a:schemeClr>
          </a:solidFill>
          <a:ln w="9525">
            <a:solidFill>
              <a:schemeClr val="accent3">
                <a:alpha val="70000"/>
              </a:schemeClr>
            </a:solidFill>
            <a:prstDash val="solid"/>
          </a:ln>
        </p:spPr>
      </p:sp>
      <p:pic>
        <p:nvPicPr>
          <p:cNvPr id="15" name="Image 0" descr="preencoded.png">    </p:cNvPr>
          <p:cNvPicPr>
            <a:picLocks noChangeAspect="1"/>
          </p:cNvPicPr>
          <p:nvPr/>
        </p:nvPicPr>
        <p:blipFill>
          <a:blip r:embed="rId1"/>
          <a:stretch>
            <a:fillRect/>
          </a:stretch>
        </p:blipFill>
        <p:spPr>
          <a:xfrm>
            <a:off x="749808" y="5783580"/>
            <a:ext cx="329184" cy="329184"/>
          </a:xfrm>
          <a:prstGeom prst="rect">
            <a:avLst/>
          </a:prstGeom>
        </p:spPr>
      </p:pic>
      <p:sp>
        <p:nvSpPr>
          <p:cNvPr id="16" name="Text 12"/>
          <p:cNvSpPr txBox="1"/>
          <p:nvPr/>
        </p:nvSpPr>
        <p:spPr>
          <a:xfrm>
            <a:off x="1234440" y="5641848"/>
            <a:ext cx="10287000" cy="612648"/>
          </a:xfrm>
          <a:prstGeom prst="rect">
            <a:avLst/>
          </a:prstGeom>
          <a:noFill/>
          <a:ln/>
        </p:spPr>
        <p:txBody>
          <a:bodyPr wrap="square" lIns="0" tIns="0" rIns="0" bIns="0" rtlCol="0" anchor="ctr"/>
          <a:lstStyle/>
          <a:p>
            <a:pPr indent="0" marL="0">
              <a:buNone/>
            </a:pPr>
            <a:r>
              <a:rPr lang="en-US" sz="1700" b="1" dirty="0">
                <a:solidFill>
                  <a:schemeClr val="accent3"/>
                </a:solidFill>
              </a:rPr>
              <a:t>À retenir — </a:t>
            </a:r>
            <a:r>
              <a:rPr lang="en-US" sz="1700" dirty="0">
                <a:solidFill>
                  <a:schemeClr val="tx1"/>
                </a:solidFill>
              </a:rPr>
              <a:t>Le choix entre </a:t>
            </a:r>
            <a:r>
              <a:rPr lang="en-US" sz="1700" b="1" dirty="0">
                <a:solidFill>
                  <a:schemeClr val="tx1"/>
                </a:solidFill>
              </a:rPr>
              <a:t>die</a:t>
            </a:r>
            <a:r>
              <a:rPr lang="en-US" sz="1700" dirty="0">
                <a:solidFill>
                  <a:schemeClr val="tx1"/>
                </a:solidFill>
              </a:rPr>
              <a:t> et </a:t>
            </a:r>
            <a:r>
              <a:rPr lang="en-US" sz="1700" b="1" dirty="0">
                <a:solidFill>
                  <a:schemeClr val="tx1"/>
                </a:solidFill>
              </a:rPr>
              <a:t>dat</a:t>
            </a:r>
            <a:r>
              <a:rPr lang="en-US" sz="1700" dirty="0">
                <a:solidFill>
                  <a:schemeClr val="tx1"/>
                </a:solidFill>
              </a:rPr>
              <a:t> suit la logique des articles </a:t>
            </a:r>
            <a:r>
              <a:rPr lang="en-US" sz="1700" b="1" dirty="0">
                <a:solidFill>
                  <a:schemeClr val="accent2"/>
                </a:solidFill>
              </a:rPr>
              <a:t>de</a:t>
            </a:r>
            <a:r>
              <a:rPr lang="en-US" sz="1700" dirty="0">
                <a:solidFill>
                  <a:schemeClr val="tx1"/>
                </a:solidFill>
              </a:rPr>
              <a:t> / </a:t>
            </a:r>
            <a:r>
              <a:rPr lang="en-US" sz="1700" b="1" dirty="0">
                <a:solidFill>
                  <a:schemeClr val="accent4"/>
                </a:solidFill>
              </a:rPr>
              <a:t>het</a:t>
            </a:r>
            <a:r>
              <a:rPr lang="en-US" sz="1700" dirty="0">
                <a:solidFill>
                  <a:schemeClr val="tx1"/>
                </a:solidFill>
              </a:rPr>
              <a:t> du palier 2.</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Die ou dat ? La règle des articles</a:t>
            </a:r>
            <a:endParaRPr lang="en-US" sz="3200" dirty="0"/>
          </a:p>
        </p:txBody>
      </p:sp>
      <p:sp>
        <p:nvSpPr>
          <p:cNvPr id="3" name="tag"/>
          <p:cNvSpPr/>
          <p:nvPr/>
        </p:nvSpPr>
        <p:spPr>
          <a:xfrm>
            <a:off x="548640" y="237744"/>
            <a:ext cx="1508760"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chemeClr val="bg1"/>
                </a:solidFill>
              </a:rPr>
              <a:t>GRAMMATICA</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a:t>
            </a:r>
            <a:endParaRPr lang="en-US" sz="1200" dirty="0"/>
          </a:p>
        </p:txBody>
      </p:sp>
      <p:sp>
        <p:nvSpPr>
          <p:cNvPr id="6" name="Shape 3"/>
          <p:cNvSpPr/>
          <p:nvPr/>
        </p:nvSpPr>
        <p:spPr>
          <a:xfrm>
            <a:off x="548640" y="1481328"/>
            <a:ext cx="5408676" cy="3883152"/>
          </a:xfrm>
          <a:prstGeom prst="roundRect">
            <a:avLst>
              <a:gd name="adj" fmla="val 2355"/>
            </a:avLst>
          </a:prstGeom>
          <a:solidFill>
            <a:schemeClr val="bg1"/>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7" name="Shape 4"/>
          <p:cNvSpPr/>
          <p:nvPr/>
        </p:nvSpPr>
        <p:spPr>
          <a:xfrm>
            <a:off x="548640" y="1481328"/>
            <a:ext cx="5408676" cy="502920"/>
          </a:xfrm>
          <a:prstGeom prst="roundRect">
            <a:avLst>
              <a:gd name="adj" fmla="val 18182"/>
            </a:avLst>
          </a:prstGeom>
          <a:solidFill>
            <a:schemeClr val="accent2"/>
          </a:solidFill>
          <a:ln/>
        </p:spPr>
      </p:sp>
      <p:sp>
        <p:nvSpPr>
          <p:cNvPr id="8" name="Shape 5"/>
          <p:cNvSpPr/>
          <p:nvPr/>
        </p:nvSpPr>
        <p:spPr>
          <a:xfrm>
            <a:off x="548640" y="1801368"/>
            <a:ext cx="5408676" cy="182880"/>
          </a:xfrm>
          <a:prstGeom prst="rect">
            <a:avLst/>
          </a:prstGeom>
          <a:solidFill>
            <a:schemeClr val="accent2"/>
          </a:solidFill>
          <a:ln w="12700">
            <a:solidFill>
              <a:schemeClr val="accent2"/>
            </a:solidFill>
            <a:prstDash val="solid"/>
          </a:ln>
        </p:spPr>
      </p:sp>
      <p:sp>
        <p:nvSpPr>
          <p:cNvPr id="9" name="Text 6"/>
          <p:cNvSpPr txBox="1"/>
          <p:nvPr/>
        </p:nvSpPr>
        <p:spPr>
          <a:xfrm>
            <a:off x="731520" y="1481328"/>
            <a:ext cx="5042916" cy="502920"/>
          </a:xfrm>
          <a:prstGeom prst="rect">
            <a:avLst/>
          </a:prstGeom>
          <a:noFill/>
          <a:ln/>
        </p:spPr>
        <p:txBody>
          <a:bodyPr wrap="square" lIns="0" tIns="0" rIns="0" bIns="0" rtlCol="0" anchor="ctr"/>
          <a:lstStyle/>
          <a:p>
            <a:pPr indent="0" marL="0">
              <a:buNone/>
            </a:pPr>
            <a:r>
              <a:rPr lang="en-US" sz="1500" b="1" spc="100" kern="0" dirty="0">
                <a:solidFill>
                  <a:schemeClr val="bg1"/>
                </a:solidFill>
              </a:rPr>
              <a:t>✓ DIE — mots de + tous les pluriels</a:t>
            </a:r>
            <a:endParaRPr lang="en-US" sz="1500" dirty="0"/>
          </a:p>
        </p:txBody>
      </p:sp>
      <p:sp>
        <p:nvSpPr>
          <p:cNvPr id="10" name="Text 7"/>
          <p:cNvSpPr txBox="1"/>
          <p:nvPr/>
        </p:nvSpPr>
        <p:spPr>
          <a:xfrm>
            <a:off x="731520" y="2084832"/>
            <a:ext cx="5042916" cy="405384"/>
          </a:xfrm>
          <a:prstGeom prst="rect">
            <a:avLst/>
          </a:prstGeom>
          <a:noFill/>
          <a:ln/>
        </p:spPr>
        <p:txBody>
          <a:bodyPr wrap="square" lIns="0" tIns="0" rIns="0" bIns="0" rtlCol="0" anchor="t"/>
          <a:lstStyle/>
          <a:p>
            <a:pPr indent="0" marL="0">
              <a:buNone/>
            </a:pPr>
            <a:r>
              <a:rPr lang="en-US" sz="2400" b="1" dirty="0">
                <a:solidFill>
                  <a:schemeClr val="accent2"/>
                </a:solidFill>
                <a:latin typeface="+mj-lt" pitchFamily="34" charset="0"/>
                <a:ea typeface="+mj-lt" pitchFamily="34" charset="-122"/>
                <a:cs typeface="+mj-lt" pitchFamily="34" charset="-120"/>
              </a:rPr>
              <a:t>de</a:t>
            </a:r>
            <a:r>
              <a:rPr lang="en-US" sz="2400" b="1" dirty="0">
                <a:solidFill>
                  <a:schemeClr val="accent2"/>
                </a:solidFill>
                <a:latin typeface="+mj-lt" pitchFamily="34" charset="0"/>
                <a:ea typeface="+mj-lt" pitchFamily="34" charset="-122"/>
                <a:cs typeface="+mj-lt" pitchFamily="34" charset="-120"/>
              </a:rPr>
              <a:t> woning </a:t>
            </a:r>
            <a:r>
              <a:rPr lang="en-US" sz="2400" b="1" dirty="0">
                <a:solidFill>
                  <a:schemeClr val="accent2"/>
                </a:solidFill>
                <a:latin typeface="+mj-lt" pitchFamily="34" charset="0"/>
                <a:ea typeface="+mj-lt" pitchFamily="34" charset="-122"/>
                <a:cs typeface="+mj-lt" pitchFamily="34" charset="-120"/>
              </a:rPr>
              <a:t>die</a:t>
            </a:r>
            <a:r>
              <a:rPr lang="en-US" sz="2400" b="1" dirty="0">
                <a:solidFill>
                  <a:schemeClr val="accent2"/>
                </a:solidFill>
                <a:latin typeface="+mj-lt" pitchFamily="34" charset="0"/>
                <a:ea typeface="+mj-lt" pitchFamily="34" charset="-122"/>
                <a:cs typeface="+mj-lt" pitchFamily="34" charset="-120"/>
              </a:rPr>
              <a:t> net gerenoveerd is</a:t>
            </a:r>
            <a:endParaRPr lang="en-US" sz="2400" dirty="0"/>
          </a:p>
        </p:txBody>
      </p:sp>
      <p:sp>
        <p:nvSpPr>
          <p:cNvPr id="11" name="Text 8"/>
          <p:cNvSpPr txBox="1"/>
          <p:nvPr/>
        </p:nvSpPr>
        <p:spPr>
          <a:xfrm>
            <a:off x="731520" y="2627376"/>
            <a:ext cx="5042916" cy="2627376"/>
          </a:xfrm>
          <a:prstGeom prst="rect">
            <a:avLst/>
          </a:prstGeom>
          <a:noFill/>
          <a:ln/>
        </p:spPr>
        <p:txBody>
          <a:bodyPr wrap="square" lIns="0" tIns="0" rIns="0" bIns="0" rtlCol="0" anchor="t"/>
          <a:lstStyle/>
          <a:p>
            <a:pPr marL="177800" indent="-177800">
              <a:spcAft>
                <a:spcPts val="600"/>
              </a:spcAft>
              <a:buSzPct val="100000"/>
              <a:buChar char="•"/>
            </a:pPr>
            <a:r>
              <a:rPr lang="en-US" sz="2000" dirty="0">
                <a:solidFill>
                  <a:schemeClr val="tx1"/>
                </a:solidFill>
              </a:rPr>
              <a:t>→ le bien qui vient d’être rénové</a:t>
            </a:r>
            <a:endParaRPr lang="en-US" sz="2000" dirty="0"/>
          </a:p>
          <a:p>
            <a:pPr marL="177800" indent="-177800">
              <a:spcAft>
                <a:spcPts val="600"/>
              </a:spcAft>
              <a:buSzPct val="100000"/>
              <a:buChar char="•"/>
            </a:pPr>
            <a:r>
              <a:rPr lang="en-US" sz="2000" b="1" dirty="0">
                <a:solidFill>
                  <a:schemeClr val="accent2"/>
                </a:solidFill>
              </a:rPr>
              <a:t>de</a:t>
            </a:r>
            <a:r>
              <a:rPr lang="en-US" sz="2000" dirty="0">
                <a:solidFill>
                  <a:schemeClr val="tx1"/>
                </a:solidFill>
              </a:rPr>
              <a:t> klanten </a:t>
            </a:r>
            <a:r>
              <a:rPr lang="en-US" sz="2000" b="1" dirty="0">
                <a:solidFill>
                  <a:schemeClr val="tx1"/>
                </a:solidFill>
              </a:rPr>
              <a:t>die</a:t>
            </a:r>
            <a:r>
              <a:rPr lang="en-US" sz="2000" dirty="0">
                <a:solidFill>
                  <a:schemeClr val="tx1"/>
                </a:solidFill>
              </a:rPr>
              <a:t> morgen komen</a:t>
            </a:r>
            <a:endParaRPr lang="en-US" sz="2000" dirty="0"/>
          </a:p>
          <a:p>
            <a:pPr marL="177800" indent="-177800">
              <a:spcAft>
                <a:spcPts val="600"/>
              </a:spcAft>
              <a:buSzPct val="100000"/>
              <a:buChar char="•"/>
            </a:pPr>
            <a:r>
              <a:rPr lang="en-US" sz="2000" dirty="0">
                <a:solidFill>
                  <a:schemeClr val="tx1"/>
                </a:solidFill>
              </a:rPr>
              <a:t>→ les clients qui viennent demain</a:t>
            </a:r>
            <a:endParaRPr lang="en-US" sz="2000" dirty="0"/>
          </a:p>
          <a:p>
            <a:pPr marL="177800" indent="-177800">
              <a:spcAft>
                <a:spcPts val="600"/>
              </a:spcAft>
              <a:buSzPct val="100000"/>
              <a:buChar char="•"/>
            </a:pPr>
            <a:r>
              <a:rPr lang="en-US" sz="2000" b="1" dirty="0">
                <a:solidFill>
                  <a:schemeClr val="accent2"/>
                </a:solidFill>
              </a:rPr>
              <a:t>de</a:t>
            </a:r>
            <a:r>
              <a:rPr lang="en-US" sz="2000" dirty="0">
                <a:solidFill>
                  <a:schemeClr val="tx1"/>
                </a:solidFill>
              </a:rPr>
              <a:t> appartementen </a:t>
            </a:r>
            <a:r>
              <a:rPr lang="en-US" sz="2000" b="1" dirty="0">
                <a:solidFill>
                  <a:schemeClr val="tx1"/>
                </a:solidFill>
              </a:rPr>
              <a:t>die</a:t>
            </a:r>
            <a:r>
              <a:rPr lang="en-US" sz="2000" dirty="0">
                <a:solidFill>
                  <a:schemeClr val="tx1"/>
                </a:solidFill>
              </a:rPr>
              <a:t> te huur staan (pluriel de </a:t>
            </a:r>
            <a:r>
              <a:rPr lang="en-US" sz="2000" i="1" dirty="0">
                <a:solidFill>
                  <a:schemeClr val="tx1"/>
                </a:solidFill>
              </a:rPr>
              <a:t>het appartement</a:t>
            </a:r>
            <a:r>
              <a:rPr lang="en-US" sz="2000" dirty="0">
                <a:solidFill>
                  <a:schemeClr val="tx1"/>
                </a:solidFill>
              </a:rPr>
              <a:t>)</a:t>
            </a:r>
            <a:endParaRPr lang="en-US" sz="2000" dirty="0"/>
          </a:p>
        </p:txBody>
      </p:sp>
      <p:sp>
        <p:nvSpPr>
          <p:cNvPr id="12" name="Shape 9"/>
          <p:cNvSpPr/>
          <p:nvPr/>
        </p:nvSpPr>
        <p:spPr>
          <a:xfrm>
            <a:off x="6231636" y="1481328"/>
            <a:ext cx="5408676" cy="3883152"/>
          </a:xfrm>
          <a:prstGeom prst="roundRect">
            <a:avLst>
              <a:gd name="adj" fmla="val 2355"/>
            </a:avLst>
          </a:prstGeom>
          <a:solidFill>
            <a:schemeClr val="bg1"/>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13" name="Shape 10"/>
          <p:cNvSpPr/>
          <p:nvPr/>
        </p:nvSpPr>
        <p:spPr>
          <a:xfrm>
            <a:off x="6231636" y="1481328"/>
            <a:ext cx="5408676" cy="502920"/>
          </a:xfrm>
          <a:prstGeom prst="roundRect">
            <a:avLst>
              <a:gd name="adj" fmla="val 18182"/>
            </a:avLst>
          </a:prstGeom>
          <a:solidFill>
            <a:schemeClr val="accent4"/>
          </a:solidFill>
          <a:ln/>
        </p:spPr>
      </p:sp>
      <p:sp>
        <p:nvSpPr>
          <p:cNvPr id="14" name="Shape 11"/>
          <p:cNvSpPr/>
          <p:nvPr/>
        </p:nvSpPr>
        <p:spPr>
          <a:xfrm>
            <a:off x="6231636" y="1801368"/>
            <a:ext cx="5408676" cy="182880"/>
          </a:xfrm>
          <a:prstGeom prst="rect">
            <a:avLst/>
          </a:prstGeom>
          <a:solidFill>
            <a:schemeClr val="accent4"/>
          </a:solidFill>
          <a:ln w="12700">
            <a:solidFill>
              <a:schemeClr val="accent4"/>
            </a:solidFill>
            <a:prstDash val="solid"/>
          </a:ln>
        </p:spPr>
      </p:sp>
      <p:sp>
        <p:nvSpPr>
          <p:cNvPr id="15" name="Text 12"/>
          <p:cNvSpPr txBox="1"/>
          <p:nvPr/>
        </p:nvSpPr>
        <p:spPr>
          <a:xfrm>
            <a:off x="6414516" y="1481328"/>
            <a:ext cx="5042916" cy="502920"/>
          </a:xfrm>
          <a:prstGeom prst="rect">
            <a:avLst/>
          </a:prstGeom>
          <a:noFill/>
          <a:ln/>
        </p:spPr>
        <p:txBody>
          <a:bodyPr wrap="square" lIns="0" tIns="0" rIns="0" bIns="0" rtlCol="0" anchor="ctr"/>
          <a:lstStyle/>
          <a:p>
            <a:pPr indent="0" marL="0">
              <a:buNone/>
            </a:pPr>
            <a:r>
              <a:rPr lang="en-US" sz="1500" b="1" spc="100" kern="0" dirty="0">
                <a:solidFill>
                  <a:schemeClr val="bg1"/>
                </a:solidFill>
              </a:rPr>
              <a:t>✓ DAT — mots het au singulier seulement</a:t>
            </a:r>
            <a:endParaRPr lang="en-US" sz="1500" dirty="0"/>
          </a:p>
        </p:txBody>
      </p:sp>
      <p:sp>
        <p:nvSpPr>
          <p:cNvPr id="16" name="Text 13"/>
          <p:cNvSpPr txBox="1"/>
          <p:nvPr/>
        </p:nvSpPr>
        <p:spPr>
          <a:xfrm>
            <a:off x="6414516" y="2084832"/>
            <a:ext cx="5042916" cy="405384"/>
          </a:xfrm>
          <a:prstGeom prst="rect">
            <a:avLst/>
          </a:prstGeom>
          <a:noFill/>
          <a:ln/>
        </p:spPr>
        <p:txBody>
          <a:bodyPr wrap="square" lIns="0" tIns="0" rIns="0" bIns="0" rtlCol="0" anchor="t"/>
          <a:lstStyle/>
          <a:p>
            <a:pPr indent="0" marL="0">
              <a:buNone/>
            </a:pPr>
            <a:r>
              <a:rPr lang="en-US" sz="2400" b="1" dirty="0">
                <a:solidFill>
                  <a:schemeClr val="accent4"/>
                </a:solidFill>
                <a:latin typeface="+mj-lt" pitchFamily="34" charset="0"/>
                <a:ea typeface="+mj-lt" pitchFamily="34" charset="-122"/>
                <a:cs typeface="+mj-lt" pitchFamily="34" charset="-120"/>
              </a:rPr>
              <a:t>het</a:t>
            </a:r>
            <a:r>
              <a:rPr lang="en-US" sz="2400" b="1" dirty="0">
                <a:solidFill>
                  <a:schemeClr val="accent4"/>
                </a:solidFill>
                <a:latin typeface="+mj-lt" pitchFamily="34" charset="0"/>
                <a:ea typeface="+mj-lt" pitchFamily="34" charset="-122"/>
                <a:cs typeface="+mj-lt" pitchFamily="34" charset="-120"/>
              </a:rPr>
              <a:t> appartement </a:t>
            </a:r>
            <a:r>
              <a:rPr lang="en-US" sz="2400" b="1" dirty="0">
                <a:solidFill>
                  <a:schemeClr val="accent4"/>
                </a:solidFill>
                <a:latin typeface="+mj-lt" pitchFamily="34" charset="0"/>
                <a:ea typeface="+mj-lt" pitchFamily="34" charset="-122"/>
                <a:cs typeface="+mj-lt" pitchFamily="34" charset="-120"/>
              </a:rPr>
              <a:t>dat</a:t>
            </a:r>
            <a:r>
              <a:rPr lang="en-US" sz="2400" b="1" dirty="0">
                <a:solidFill>
                  <a:schemeClr val="accent4"/>
                </a:solidFill>
                <a:latin typeface="+mj-lt" pitchFamily="34" charset="0"/>
                <a:ea typeface="+mj-lt" pitchFamily="34" charset="-122"/>
                <a:cs typeface="+mj-lt" pitchFamily="34" charset="-120"/>
              </a:rPr>
              <a:t> te huur staat</a:t>
            </a:r>
            <a:endParaRPr lang="en-US" sz="2400" dirty="0"/>
          </a:p>
        </p:txBody>
      </p:sp>
      <p:sp>
        <p:nvSpPr>
          <p:cNvPr id="17" name="Text 14"/>
          <p:cNvSpPr txBox="1"/>
          <p:nvPr/>
        </p:nvSpPr>
        <p:spPr>
          <a:xfrm>
            <a:off x="6414516" y="2627376"/>
            <a:ext cx="5042916" cy="2627376"/>
          </a:xfrm>
          <a:prstGeom prst="rect">
            <a:avLst/>
          </a:prstGeom>
          <a:noFill/>
          <a:ln/>
        </p:spPr>
        <p:txBody>
          <a:bodyPr wrap="square" lIns="0" tIns="0" rIns="0" bIns="0" rtlCol="0" anchor="t"/>
          <a:lstStyle/>
          <a:p>
            <a:pPr marL="177800" indent="-177800">
              <a:spcAft>
                <a:spcPts val="600"/>
              </a:spcAft>
              <a:buSzPct val="100000"/>
              <a:buChar char="•"/>
            </a:pPr>
            <a:r>
              <a:rPr lang="en-US" sz="2000" dirty="0">
                <a:solidFill>
                  <a:schemeClr val="tx1"/>
                </a:solidFill>
              </a:rPr>
              <a:t>→ l’appartement qui est à louer</a:t>
            </a:r>
            <a:endParaRPr lang="en-US" sz="2000" dirty="0"/>
          </a:p>
          <a:p>
            <a:pPr marL="177800" indent="-177800">
              <a:spcAft>
                <a:spcPts val="600"/>
              </a:spcAft>
              <a:buSzPct val="100000"/>
              <a:buChar char="•"/>
            </a:pPr>
            <a:r>
              <a:rPr lang="en-US" sz="2000" b="1" dirty="0">
                <a:solidFill>
                  <a:schemeClr val="accent4"/>
                </a:solidFill>
              </a:rPr>
              <a:t>het</a:t>
            </a:r>
            <a:r>
              <a:rPr lang="en-US" sz="2000" dirty="0">
                <a:solidFill>
                  <a:schemeClr val="tx1"/>
                </a:solidFill>
              </a:rPr>
              <a:t> terras </a:t>
            </a:r>
            <a:r>
              <a:rPr lang="en-US" sz="2000" b="1" dirty="0">
                <a:solidFill>
                  <a:schemeClr val="tx1"/>
                </a:solidFill>
              </a:rPr>
              <a:t>dat</a:t>
            </a:r>
            <a:r>
              <a:rPr lang="en-US" sz="2000" dirty="0">
                <a:solidFill>
                  <a:schemeClr val="tx1"/>
                </a:solidFill>
              </a:rPr>
              <a:t> op het zuiden ligt</a:t>
            </a:r>
            <a:endParaRPr lang="en-US" sz="2000" dirty="0"/>
          </a:p>
          <a:p>
            <a:pPr marL="177800" indent="-177800">
              <a:spcAft>
                <a:spcPts val="600"/>
              </a:spcAft>
              <a:buSzPct val="100000"/>
              <a:buChar char="•"/>
            </a:pPr>
            <a:r>
              <a:rPr lang="en-US" sz="2000" dirty="0">
                <a:solidFill>
                  <a:schemeClr val="tx1"/>
                </a:solidFill>
              </a:rPr>
              <a:t>→ la terrasse orientée sud</a:t>
            </a:r>
            <a:endParaRPr lang="en-US" sz="2000" dirty="0"/>
          </a:p>
        </p:txBody>
      </p:sp>
      <p:sp>
        <p:nvSpPr>
          <p:cNvPr id="18" name="Shape 15"/>
          <p:cNvSpPr/>
          <p:nvPr/>
        </p:nvSpPr>
        <p:spPr>
          <a:xfrm>
            <a:off x="548640" y="5565648"/>
            <a:ext cx="11091672" cy="725424"/>
          </a:xfrm>
          <a:prstGeom prst="roundRect">
            <a:avLst>
              <a:gd name="adj" fmla="val 10084"/>
            </a:avLst>
          </a:prstGeom>
          <a:solidFill>
            <a:schemeClr val="accent6">
              <a:alpha val="10000"/>
            </a:schemeClr>
          </a:solidFill>
          <a:ln w="9525">
            <a:solidFill>
              <a:schemeClr val="accent6">
                <a:alpha val="70000"/>
              </a:schemeClr>
            </a:solidFill>
            <a:prstDash val="solid"/>
          </a:ln>
        </p:spPr>
      </p:sp>
      <p:pic>
        <p:nvPicPr>
          <p:cNvPr id="19" name="Image 0" descr="preencoded.png">    </p:cNvPr>
          <p:cNvPicPr>
            <a:picLocks noChangeAspect="1"/>
          </p:cNvPicPr>
          <p:nvPr/>
        </p:nvPicPr>
        <p:blipFill>
          <a:blip r:embed="rId1"/>
          <a:stretch>
            <a:fillRect/>
          </a:stretch>
        </p:blipFill>
        <p:spPr>
          <a:xfrm>
            <a:off x="749808" y="5763768"/>
            <a:ext cx="329184" cy="329184"/>
          </a:xfrm>
          <a:prstGeom prst="rect">
            <a:avLst/>
          </a:prstGeom>
        </p:spPr>
      </p:pic>
      <p:sp>
        <p:nvSpPr>
          <p:cNvPr id="20" name="Text 16"/>
          <p:cNvSpPr txBox="1"/>
          <p:nvPr/>
        </p:nvSpPr>
        <p:spPr>
          <a:xfrm>
            <a:off x="1234440" y="5602224"/>
            <a:ext cx="10287000" cy="652272"/>
          </a:xfrm>
          <a:prstGeom prst="rect">
            <a:avLst/>
          </a:prstGeom>
          <a:noFill/>
          <a:ln/>
        </p:spPr>
        <p:txBody>
          <a:bodyPr wrap="square" lIns="0" tIns="0" rIns="0" bIns="0" rtlCol="0" anchor="ctr"/>
          <a:lstStyle/>
          <a:p>
            <a:pPr indent="0" marL="0">
              <a:buNone/>
            </a:pPr>
            <a:r>
              <a:rPr lang="en-US" sz="1700" b="1" dirty="0">
                <a:solidFill>
                  <a:schemeClr val="accent6"/>
                </a:solidFill>
              </a:rPr>
              <a:t>Piège pour francophones — </a:t>
            </a:r>
            <a:r>
              <a:rPr lang="en-US" sz="1700" dirty="0">
                <a:solidFill>
                  <a:schemeClr val="tx1"/>
                </a:solidFill>
              </a:rPr>
              <a:t>En français : </a:t>
            </a:r>
            <a:r>
              <a:rPr lang="en-US" sz="1700" i="1" dirty="0">
                <a:solidFill>
                  <a:schemeClr val="tx1"/>
                </a:solidFill>
              </a:rPr>
              <a:t>qui</a:t>
            </a:r>
            <a:r>
              <a:rPr lang="en-US" sz="1700" dirty="0">
                <a:solidFill>
                  <a:schemeClr val="tx1"/>
                </a:solidFill>
              </a:rPr>
              <a:t> (sujet) et </a:t>
            </a:r>
            <a:r>
              <a:rPr lang="en-US" sz="1700" i="1" dirty="0">
                <a:solidFill>
                  <a:schemeClr val="tx1"/>
                </a:solidFill>
              </a:rPr>
              <a:t>que</a:t>
            </a:r>
            <a:r>
              <a:rPr lang="en-US" sz="1700" dirty="0">
                <a:solidFill>
                  <a:schemeClr val="tx1"/>
                </a:solidFill>
              </a:rPr>
              <a:t> (objet) sont deux mots. En néerlandais, </a:t>
            </a:r>
            <a:r>
              <a:rPr lang="en-US" sz="1700" b="1" dirty="0">
                <a:solidFill>
                  <a:schemeClr val="tx1"/>
                </a:solidFill>
              </a:rPr>
              <a:t>un seul</a:t>
            </a:r>
            <a:r>
              <a:rPr lang="en-US" sz="1700" dirty="0">
                <a:solidFill>
                  <a:schemeClr val="tx1"/>
                </a:solidFill>
              </a:rPr>
              <a:t> : </a:t>
            </a:r>
            <a:r>
              <a:rPr lang="en-US" sz="1700" i="1" dirty="0">
                <a:solidFill>
                  <a:schemeClr val="tx1"/>
                </a:solidFill>
              </a:rPr>
              <a:t>de woning die ligt…</a:t>
            </a:r>
            <a:r>
              <a:rPr lang="en-US" sz="1700" dirty="0">
                <a:solidFill>
                  <a:schemeClr val="tx1"/>
                </a:solidFill>
              </a:rPr>
              <a:t> et </a:t>
            </a:r>
            <a:r>
              <a:rPr lang="en-US" sz="1700" i="1" dirty="0">
                <a:solidFill>
                  <a:schemeClr val="tx1"/>
                </a:solidFill>
              </a:rPr>
              <a:t>de woning die u zoekt</a:t>
            </a:r>
            <a:r>
              <a:rPr lang="en-US" sz="1700" dirty="0">
                <a:solidFill>
                  <a:schemeClr val="tx1"/>
                </a:solidFill>
              </a:rPr>
              <a:t> (la maison que vous cherchez). ✗ </a:t>
            </a:r>
            <a:r>
              <a:rPr lang="en-US" sz="1700" i="1" dirty="0">
                <a:solidFill>
                  <a:schemeClr val="tx1"/>
                </a:solidFill>
              </a:rPr>
              <a:t>het huis die</a:t>
            </a:r>
            <a:r>
              <a:rPr lang="en-US" sz="1700" dirty="0">
                <a:solidFill>
                  <a:schemeClr val="tx1"/>
                </a:solidFill>
              </a:rPr>
              <a:t> · ✗ </a:t>
            </a:r>
            <a:r>
              <a:rPr lang="en-US" sz="1700" i="1" dirty="0">
                <a:solidFill>
                  <a:schemeClr val="tx1"/>
                </a:solidFill>
              </a:rPr>
              <a:t>de woning dat</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Le verbe de la relative part à la fin</a:t>
            </a:r>
            <a:endParaRPr lang="en-US" sz="3200" dirty="0"/>
          </a:p>
        </p:txBody>
      </p:sp>
      <p:sp>
        <p:nvSpPr>
          <p:cNvPr id="3" name="tag"/>
          <p:cNvSpPr/>
          <p:nvPr/>
        </p:nvSpPr>
        <p:spPr>
          <a:xfrm>
            <a:off x="548640" y="237744"/>
            <a:ext cx="1508760"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chemeClr val="bg1"/>
                </a:solidFill>
              </a:rPr>
              <a:t>GRAMMATICA</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a:t>
            </a:r>
            <a:endParaRPr lang="en-US" sz="1200" dirty="0"/>
          </a:p>
        </p:txBody>
      </p:sp>
      <p:sp>
        <p:nvSpPr>
          <p:cNvPr id="6" name="Text 3"/>
          <p:cNvSpPr txBox="1"/>
          <p:nvPr/>
        </p:nvSpPr>
        <p:spPr>
          <a:xfrm>
            <a:off x="548640" y="1481328"/>
            <a:ext cx="11091672" cy="329184"/>
          </a:xfrm>
          <a:prstGeom prst="rect">
            <a:avLst/>
          </a:prstGeom>
          <a:noFill/>
          <a:ln/>
        </p:spPr>
        <p:txBody>
          <a:bodyPr wrap="square" lIns="0" tIns="0" rIns="0" bIns="0" rtlCol="0" anchor="t"/>
          <a:lstStyle/>
          <a:p>
            <a:pPr indent="0" marL="0">
              <a:buNone/>
            </a:pPr>
            <a:r>
              <a:rPr lang="en-US" sz="1800" dirty="0">
                <a:solidFill>
                  <a:schemeClr val="tx1"/>
                </a:solidFill>
              </a:rPr>
              <a:t>Une relative est une </a:t>
            </a:r>
            <a:r>
              <a:rPr lang="en-US" sz="1800" b="1" dirty="0">
                <a:solidFill>
                  <a:schemeClr val="tx1"/>
                </a:solidFill>
              </a:rPr>
              <a:t>subordonnée</a:t>
            </a:r>
            <a:r>
              <a:rPr lang="en-US" sz="1800" dirty="0">
                <a:solidFill>
                  <a:schemeClr val="tx1"/>
                </a:solidFill>
              </a:rPr>
              <a:t> comme celles du palier 4 : son verbe conjugué part à la </a:t>
            </a:r>
            <a:r>
              <a:rPr lang="en-US" sz="1800" b="1" dirty="0">
                <a:solidFill>
                  <a:schemeClr val="tx1"/>
                </a:solidFill>
              </a:rPr>
              <a:t>FIN</a:t>
            </a:r>
            <a:r>
              <a:rPr lang="en-US" sz="1800" dirty="0">
                <a:solidFill>
                  <a:schemeClr val="tx1"/>
                </a:solidFill>
              </a:rPr>
              <a:t> !</a:t>
            </a:r>
            <a:endParaRPr lang="en-US" sz="1800" dirty="0"/>
          </a:p>
        </p:txBody>
      </p:sp>
      <p:sp>
        <p:nvSpPr>
          <p:cNvPr id="7" name="Text 4"/>
          <p:cNvSpPr txBox="1"/>
          <p:nvPr/>
        </p:nvSpPr>
        <p:spPr>
          <a:xfrm>
            <a:off x="548640" y="2185416"/>
            <a:ext cx="1463040" cy="329184"/>
          </a:xfrm>
          <a:prstGeom prst="rect">
            <a:avLst/>
          </a:prstGeom>
          <a:noFill/>
          <a:ln/>
        </p:spPr>
        <p:txBody>
          <a:bodyPr wrap="square" lIns="0" tIns="0" rIns="0" bIns="0" rtlCol="0" anchor="ctr"/>
          <a:lstStyle/>
          <a:p>
            <a:pPr indent="0" marL="0">
              <a:buNone/>
            </a:pPr>
            <a:r>
              <a:rPr lang="en-US" sz="1400" b="1" dirty="0">
                <a:solidFill>
                  <a:schemeClr val="accent5"/>
                </a:solidFill>
              </a:rPr>
              <a:t>✓ Relative</a:t>
            </a:r>
            <a:endParaRPr lang="en-US" sz="1400" dirty="0"/>
          </a:p>
        </p:txBody>
      </p:sp>
      <p:sp>
        <p:nvSpPr>
          <p:cNvPr id="8" name="Text 5"/>
          <p:cNvSpPr txBox="1"/>
          <p:nvPr/>
        </p:nvSpPr>
        <p:spPr>
          <a:xfrm>
            <a:off x="2103120" y="1947672"/>
            <a:ext cx="1280160" cy="219456"/>
          </a:xfrm>
          <a:prstGeom prst="rect">
            <a:avLst/>
          </a:prstGeom>
          <a:noFill/>
          <a:ln/>
        </p:spPr>
        <p:txBody>
          <a:bodyPr wrap="square" lIns="0" tIns="0" rIns="0" bIns="0" rtlCol="0" anchor="b"/>
          <a:lstStyle/>
          <a:p>
            <a:pPr algn="ctr" indent="0" marL="0">
              <a:buNone/>
            </a:pPr>
            <a:r>
              <a:rPr lang="en-US" sz="1000" b="1" dirty="0">
                <a:solidFill>
                  <a:schemeClr val="accent5"/>
                </a:solidFill>
              </a:rPr>
              <a:t>objet</a:t>
            </a:r>
            <a:endParaRPr lang="en-US" sz="1000" dirty="0"/>
          </a:p>
        </p:txBody>
      </p:sp>
      <p:sp>
        <p:nvSpPr>
          <p:cNvPr id="9" name="Shape 6"/>
          <p:cNvSpPr/>
          <p:nvPr/>
        </p:nvSpPr>
        <p:spPr>
          <a:xfrm>
            <a:off x="2103120" y="2185416"/>
            <a:ext cx="1280160" cy="329184"/>
          </a:xfrm>
          <a:prstGeom prst="roundRect">
            <a:avLst>
              <a:gd name="adj" fmla="val 16667"/>
            </a:avLst>
          </a:prstGeom>
          <a:solidFill>
            <a:schemeClr val="accent5">
              <a:alpha val="25000"/>
            </a:schemeClr>
          </a:solidFill>
          <a:ln w="12700">
            <a:solidFill>
              <a:srgbClr val="4A5A70"/>
            </a:solidFill>
            <a:prstDash val="solid"/>
          </a:ln>
        </p:spPr>
      </p:sp>
      <p:sp>
        <p:nvSpPr>
          <p:cNvPr id="10" name="Text 7"/>
          <p:cNvSpPr txBox="1"/>
          <p:nvPr/>
        </p:nvSpPr>
        <p:spPr>
          <a:xfrm>
            <a:off x="2139696" y="2185416"/>
            <a:ext cx="1207008" cy="329184"/>
          </a:xfrm>
          <a:prstGeom prst="rect">
            <a:avLst/>
          </a:prstGeom>
          <a:noFill/>
          <a:ln/>
        </p:spPr>
        <p:txBody>
          <a:bodyPr wrap="square" lIns="0" tIns="0" rIns="0" bIns="0" rtlCol="0" anchor="ctr"/>
          <a:lstStyle/>
          <a:p>
            <a:pPr algn="ctr" indent="0" marL="0">
              <a:buNone/>
            </a:pPr>
            <a:r>
              <a:rPr lang="en-US" sz="1600" b="1" dirty="0">
                <a:solidFill>
                  <a:schemeClr val="tx1"/>
                </a:solidFill>
              </a:rPr>
              <a:t>De woning</a:t>
            </a:r>
            <a:endParaRPr lang="en-US" sz="1600" dirty="0"/>
          </a:p>
        </p:txBody>
      </p:sp>
      <p:sp>
        <p:nvSpPr>
          <p:cNvPr id="11" name="Text 8"/>
          <p:cNvSpPr txBox="1"/>
          <p:nvPr/>
        </p:nvSpPr>
        <p:spPr>
          <a:xfrm>
            <a:off x="3493008" y="1947672"/>
            <a:ext cx="685800" cy="219456"/>
          </a:xfrm>
          <a:prstGeom prst="rect">
            <a:avLst/>
          </a:prstGeom>
          <a:noFill/>
          <a:ln/>
        </p:spPr>
        <p:txBody>
          <a:bodyPr wrap="square" lIns="0" tIns="0" rIns="0" bIns="0" rtlCol="0" anchor="b"/>
          <a:lstStyle/>
          <a:p>
            <a:pPr algn="ctr" indent="0" marL="0">
              <a:buNone/>
            </a:pPr>
            <a:r>
              <a:rPr lang="en-US" sz="1000" b="1" dirty="0">
                <a:solidFill>
                  <a:srgbClr val="6E4A9E"/>
                </a:solidFill>
              </a:rPr>
              <a:t>relatif</a:t>
            </a:r>
            <a:endParaRPr lang="en-US" sz="1000" dirty="0"/>
          </a:p>
        </p:txBody>
      </p:sp>
      <p:sp>
        <p:nvSpPr>
          <p:cNvPr id="12" name="Shape 9"/>
          <p:cNvSpPr/>
          <p:nvPr/>
        </p:nvSpPr>
        <p:spPr>
          <a:xfrm>
            <a:off x="3493008" y="2185416"/>
            <a:ext cx="685800" cy="329184"/>
          </a:xfrm>
          <a:prstGeom prst="roundRect">
            <a:avLst>
              <a:gd name="adj" fmla="val 16667"/>
            </a:avLst>
          </a:prstGeom>
          <a:solidFill>
            <a:srgbClr val="6E4A9E">
              <a:alpha val="88000"/>
            </a:srgbClr>
          </a:solidFill>
          <a:ln w="12700">
            <a:solidFill>
              <a:srgbClr val="6E4A9E"/>
            </a:solidFill>
            <a:prstDash val="solid"/>
          </a:ln>
        </p:spPr>
      </p:sp>
      <p:sp>
        <p:nvSpPr>
          <p:cNvPr id="13" name="Text 10"/>
          <p:cNvSpPr txBox="1"/>
          <p:nvPr/>
        </p:nvSpPr>
        <p:spPr>
          <a:xfrm>
            <a:off x="3529584" y="2185416"/>
            <a:ext cx="612648" cy="329184"/>
          </a:xfrm>
          <a:prstGeom prst="rect">
            <a:avLst/>
          </a:prstGeom>
          <a:noFill/>
          <a:ln/>
        </p:spPr>
        <p:txBody>
          <a:bodyPr wrap="square" lIns="0" tIns="0" rIns="0" bIns="0" rtlCol="0" anchor="ctr"/>
          <a:lstStyle/>
          <a:p>
            <a:pPr algn="ctr" indent="0" marL="0">
              <a:buNone/>
            </a:pPr>
            <a:r>
              <a:rPr lang="en-US" sz="1600" b="1" dirty="0">
                <a:solidFill>
                  <a:schemeClr val="bg1"/>
                </a:solidFill>
              </a:rPr>
              <a:t>die</a:t>
            </a:r>
            <a:endParaRPr lang="en-US" sz="1600" dirty="0"/>
          </a:p>
        </p:txBody>
      </p:sp>
      <p:sp>
        <p:nvSpPr>
          <p:cNvPr id="14" name="Text 11"/>
          <p:cNvSpPr txBox="1"/>
          <p:nvPr/>
        </p:nvSpPr>
        <p:spPr>
          <a:xfrm>
            <a:off x="4288536" y="1947672"/>
            <a:ext cx="2442464" cy="219456"/>
          </a:xfrm>
          <a:prstGeom prst="rect">
            <a:avLst/>
          </a:prstGeom>
          <a:noFill/>
          <a:ln/>
        </p:spPr>
        <p:txBody>
          <a:bodyPr wrap="square" lIns="0" tIns="0" rIns="0" bIns="0" rtlCol="0" anchor="b"/>
          <a:lstStyle/>
          <a:p>
            <a:pPr algn="ctr" indent="0" marL="0">
              <a:buNone/>
            </a:pPr>
            <a:r>
              <a:rPr lang="en-US" sz="1000" b="1" dirty="0">
                <a:solidFill>
                  <a:schemeClr val="accent4"/>
                </a:solidFill>
              </a:rPr>
              <a:t>plaats · où</a:t>
            </a:r>
            <a:endParaRPr lang="en-US" sz="1000" dirty="0"/>
          </a:p>
        </p:txBody>
      </p:sp>
      <p:sp>
        <p:nvSpPr>
          <p:cNvPr id="15" name="Shape 12"/>
          <p:cNvSpPr/>
          <p:nvPr/>
        </p:nvSpPr>
        <p:spPr>
          <a:xfrm>
            <a:off x="4288536" y="2185416"/>
            <a:ext cx="2442464" cy="329184"/>
          </a:xfrm>
          <a:prstGeom prst="roundRect">
            <a:avLst>
              <a:gd name="adj" fmla="val 16667"/>
            </a:avLst>
          </a:prstGeom>
          <a:solidFill>
            <a:schemeClr val="accent4">
              <a:alpha val="88000"/>
            </a:schemeClr>
          </a:solidFill>
          <a:ln w="12700">
            <a:solidFill>
              <a:srgbClr val="B4236A"/>
            </a:solidFill>
            <a:prstDash val="solid"/>
          </a:ln>
        </p:spPr>
      </p:sp>
      <p:sp>
        <p:nvSpPr>
          <p:cNvPr id="16" name="Text 13"/>
          <p:cNvSpPr txBox="1"/>
          <p:nvPr/>
        </p:nvSpPr>
        <p:spPr>
          <a:xfrm>
            <a:off x="4325112" y="2185416"/>
            <a:ext cx="2369312" cy="329184"/>
          </a:xfrm>
          <a:prstGeom prst="rect">
            <a:avLst/>
          </a:prstGeom>
          <a:noFill/>
          <a:ln/>
        </p:spPr>
        <p:txBody>
          <a:bodyPr wrap="square" lIns="0" tIns="0" rIns="0" bIns="0" rtlCol="0" anchor="ctr"/>
          <a:lstStyle/>
          <a:p>
            <a:pPr algn="ctr" indent="0" marL="0">
              <a:buNone/>
            </a:pPr>
            <a:r>
              <a:rPr lang="en-US" sz="1600" b="1" dirty="0">
                <a:solidFill>
                  <a:schemeClr val="bg1"/>
                </a:solidFill>
              </a:rPr>
              <a:t>vlak bij het station</a:t>
            </a:r>
            <a:endParaRPr lang="en-US" sz="1600" dirty="0"/>
          </a:p>
        </p:txBody>
      </p:sp>
      <p:sp>
        <p:nvSpPr>
          <p:cNvPr id="17" name="Text 14"/>
          <p:cNvSpPr txBox="1"/>
          <p:nvPr/>
        </p:nvSpPr>
        <p:spPr>
          <a:xfrm>
            <a:off x="6840728" y="1947672"/>
            <a:ext cx="751840" cy="219456"/>
          </a:xfrm>
          <a:prstGeom prst="rect">
            <a:avLst/>
          </a:prstGeom>
          <a:noFill/>
          <a:ln/>
        </p:spPr>
        <p:txBody>
          <a:bodyPr wrap="square" lIns="0" tIns="0" rIns="0" bIns="0" rtlCol="0" anchor="b"/>
          <a:lstStyle/>
          <a:p>
            <a:pPr algn="ctr" indent="0" marL="0">
              <a:buNone/>
            </a:pPr>
            <a:r>
              <a:rPr lang="en-US" sz="1000" b="1" dirty="0">
                <a:solidFill>
                  <a:schemeClr val="accent6"/>
                </a:solidFill>
              </a:rPr>
              <a:t>verbe → FIN</a:t>
            </a:r>
            <a:endParaRPr lang="en-US" sz="1000" dirty="0"/>
          </a:p>
        </p:txBody>
      </p:sp>
      <p:sp>
        <p:nvSpPr>
          <p:cNvPr id="18" name="Shape 15"/>
          <p:cNvSpPr/>
          <p:nvPr/>
        </p:nvSpPr>
        <p:spPr>
          <a:xfrm>
            <a:off x="6840728" y="2185416"/>
            <a:ext cx="751840" cy="329184"/>
          </a:xfrm>
          <a:prstGeom prst="roundRect">
            <a:avLst>
              <a:gd name="adj" fmla="val 16667"/>
            </a:avLst>
          </a:prstGeom>
          <a:solidFill>
            <a:schemeClr val="accent6">
              <a:alpha val="88000"/>
            </a:schemeClr>
          </a:solidFill>
          <a:ln w="12700">
            <a:solidFill>
              <a:srgbClr val="B83227"/>
            </a:solidFill>
            <a:prstDash val="solid"/>
          </a:ln>
        </p:spPr>
      </p:sp>
      <p:sp>
        <p:nvSpPr>
          <p:cNvPr id="19" name="Text 16"/>
          <p:cNvSpPr txBox="1"/>
          <p:nvPr/>
        </p:nvSpPr>
        <p:spPr>
          <a:xfrm>
            <a:off x="6877304" y="2185416"/>
            <a:ext cx="678688" cy="329184"/>
          </a:xfrm>
          <a:prstGeom prst="rect">
            <a:avLst/>
          </a:prstGeom>
          <a:noFill/>
          <a:ln/>
        </p:spPr>
        <p:txBody>
          <a:bodyPr wrap="square" lIns="0" tIns="0" rIns="0" bIns="0" rtlCol="0" anchor="ctr"/>
          <a:lstStyle/>
          <a:p>
            <a:pPr algn="ctr" indent="0" marL="0">
              <a:buNone/>
            </a:pPr>
            <a:r>
              <a:rPr lang="en-US" sz="1600" b="1" dirty="0">
                <a:solidFill>
                  <a:schemeClr val="bg1"/>
                </a:solidFill>
              </a:rPr>
              <a:t>ligt</a:t>
            </a:r>
            <a:endParaRPr lang="en-US" sz="1600" dirty="0"/>
          </a:p>
        </p:txBody>
      </p:sp>
      <p:sp>
        <p:nvSpPr>
          <p:cNvPr id="20" name="Text 17"/>
          <p:cNvSpPr txBox="1"/>
          <p:nvPr/>
        </p:nvSpPr>
        <p:spPr>
          <a:xfrm>
            <a:off x="2103120" y="2542032"/>
            <a:ext cx="9537192" cy="274320"/>
          </a:xfrm>
          <a:prstGeom prst="rect">
            <a:avLst/>
          </a:prstGeom>
          <a:noFill/>
          <a:ln/>
        </p:spPr>
        <p:txBody>
          <a:bodyPr wrap="square" lIns="0" tIns="0" rIns="0" bIns="0" rtlCol="0" anchor="ctr"/>
          <a:lstStyle/>
          <a:p>
            <a:pPr indent="0" marL="0">
              <a:buNone/>
            </a:pPr>
            <a:r>
              <a:rPr lang="en-US" sz="1400" i="1" dirty="0">
                <a:solidFill>
                  <a:schemeClr val="accent5"/>
                </a:solidFill>
              </a:rPr>
              <a:t>Le bien qui se trouve tout près de la gare.</a:t>
            </a:r>
            <a:endParaRPr lang="en-US" sz="1400" dirty="0"/>
          </a:p>
        </p:txBody>
      </p:sp>
      <p:sp>
        <p:nvSpPr>
          <p:cNvPr id="21" name="Text 18"/>
          <p:cNvSpPr txBox="1"/>
          <p:nvPr/>
        </p:nvSpPr>
        <p:spPr>
          <a:xfrm>
            <a:off x="548640" y="3039618"/>
            <a:ext cx="1463040" cy="329184"/>
          </a:xfrm>
          <a:prstGeom prst="rect">
            <a:avLst/>
          </a:prstGeom>
          <a:noFill/>
          <a:ln/>
        </p:spPr>
        <p:txBody>
          <a:bodyPr wrap="square" lIns="0" tIns="0" rIns="0" bIns="0" rtlCol="0" anchor="ctr"/>
          <a:lstStyle/>
          <a:p>
            <a:pPr indent="0" marL="0">
              <a:buNone/>
            </a:pPr>
            <a:r>
              <a:rPr lang="en-US" sz="1400" b="1" dirty="0">
                <a:solidFill>
                  <a:schemeClr val="accent5"/>
                </a:solidFill>
              </a:rPr>
              <a:t>✗ Principale</a:t>
            </a:r>
            <a:endParaRPr lang="en-US" sz="1400" dirty="0"/>
          </a:p>
        </p:txBody>
      </p:sp>
      <p:sp>
        <p:nvSpPr>
          <p:cNvPr id="22" name="Text 19"/>
          <p:cNvSpPr txBox="1"/>
          <p:nvPr/>
        </p:nvSpPr>
        <p:spPr>
          <a:xfrm>
            <a:off x="2103120" y="2801874"/>
            <a:ext cx="1280160" cy="219456"/>
          </a:xfrm>
          <a:prstGeom prst="rect">
            <a:avLst/>
          </a:prstGeom>
          <a:noFill/>
          <a:ln/>
        </p:spPr>
        <p:txBody>
          <a:bodyPr wrap="square" lIns="0" tIns="0" rIns="0" bIns="0" rtlCol="0" anchor="b"/>
          <a:lstStyle/>
          <a:p>
            <a:pPr algn="ctr" indent="0" marL="0">
              <a:buNone/>
            </a:pPr>
            <a:r>
              <a:rPr lang="en-US" sz="1000" b="1" dirty="0">
                <a:solidFill>
                  <a:schemeClr val="accent5"/>
                </a:solidFill>
              </a:rPr>
              <a:t>objet</a:t>
            </a:r>
            <a:endParaRPr lang="en-US" sz="1000" dirty="0"/>
          </a:p>
        </p:txBody>
      </p:sp>
      <p:sp>
        <p:nvSpPr>
          <p:cNvPr id="23" name="Shape 20"/>
          <p:cNvSpPr/>
          <p:nvPr/>
        </p:nvSpPr>
        <p:spPr>
          <a:xfrm>
            <a:off x="2103120" y="3039618"/>
            <a:ext cx="1280160" cy="329184"/>
          </a:xfrm>
          <a:prstGeom prst="roundRect">
            <a:avLst>
              <a:gd name="adj" fmla="val 16667"/>
            </a:avLst>
          </a:prstGeom>
          <a:solidFill>
            <a:schemeClr val="accent5">
              <a:alpha val="25000"/>
            </a:schemeClr>
          </a:solidFill>
          <a:ln w="12700">
            <a:solidFill>
              <a:srgbClr val="4A5A70"/>
            </a:solidFill>
            <a:prstDash val="solid"/>
          </a:ln>
        </p:spPr>
      </p:sp>
      <p:sp>
        <p:nvSpPr>
          <p:cNvPr id="24" name="Text 21"/>
          <p:cNvSpPr txBox="1"/>
          <p:nvPr/>
        </p:nvSpPr>
        <p:spPr>
          <a:xfrm>
            <a:off x="2139696" y="3039618"/>
            <a:ext cx="1207008" cy="329184"/>
          </a:xfrm>
          <a:prstGeom prst="rect">
            <a:avLst/>
          </a:prstGeom>
          <a:noFill/>
          <a:ln/>
        </p:spPr>
        <p:txBody>
          <a:bodyPr wrap="square" lIns="0" tIns="0" rIns="0" bIns="0" rtlCol="0" anchor="ctr"/>
          <a:lstStyle/>
          <a:p>
            <a:pPr algn="ctr" indent="0" marL="0">
              <a:buNone/>
            </a:pPr>
            <a:r>
              <a:rPr lang="en-US" sz="1600" b="1" dirty="0">
                <a:solidFill>
                  <a:schemeClr val="tx1"/>
                </a:solidFill>
              </a:rPr>
              <a:t>De woning</a:t>
            </a:r>
            <a:endParaRPr lang="en-US" sz="1600" dirty="0"/>
          </a:p>
        </p:txBody>
      </p:sp>
      <p:sp>
        <p:nvSpPr>
          <p:cNvPr id="25" name="Text 22"/>
          <p:cNvSpPr txBox="1"/>
          <p:nvPr/>
        </p:nvSpPr>
        <p:spPr>
          <a:xfrm>
            <a:off x="3493008" y="2801874"/>
            <a:ext cx="685800" cy="219456"/>
          </a:xfrm>
          <a:prstGeom prst="rect">
            <a:avLst/>
          </a:prstGeom>
          <a:noFill/>
          <a:ln/>
        </p:spPr>
        <p:txBody>
          <a:bodyPr wrap="square" lIns="0" tIns="0" rIns="0" bIns="0" rtlCol="0" anchor="b"/>
          <a:lstStyle/>
          <a:p>
            <a:pPr algn="ctr" indent="0" marL="0">
              <a:buNone/>
            </a:pPr>
            <a:r>
              <a:rPr lang="en-US" sz="1000" b="1" dirty="0">
                <a:solidFill>
                  <a:srgbClr val="6E4A9E"/>
                </a:solidFill>
              </a:rPr>
              <a:t>relatif</a:t>
            </a:r>
            <a:endParaRPr lang="en-US" sz="1000" dirty="0"/>
          </a:p>
        </p:txBody>
      </p:sp>
      <p:sp>
        <p:nvSpPr>
          <p:cNvPr id="26" name="Shape 23"/>
          <p:cNvSpPr/>
          <p:nvPr/>
        </p:nvSpPr>
        <p:spPr>
          <a:xfrm>
            <a:off x="3493008" y="3039618"/>
            <a:ext cx="685800" cy="329184"/>
          </a:xfrm>
          <a:prstGeom prst="roundRect">
            <a:avLst>
              <a:gd name="adj" fmla="val 16667"/>
            </a:avLst>
          </a:prstGeom>
          <a:solidFill>
            <a:srgbClr val="6E4A9E">
              <a:alpha val="88000"/>
            </a:srgbClr>
          </a:solidFill>
          <a:ln w="12700">
            <a:solidFill>
              <a:srgbClr val="6E4A9E"/>
            </a:solidFill>
            <a:prstDash val="solid"/>
          </a:ln>
        </p:spPr>
      </p:sp>
      <p:sp>
        <p:nvSpPr>
          <p:cNvPr id="27" name="Text 24"/>
          <p:cNvSpPr txBox="1"/>
          <p:nvPr/>
        </p:nvSpPr>
        <p:spPr>
          <a:xfrm>
            <a:off x="3529584" y="3039618"/>
            <a:ext cx="612648" cy="329184"/>
          </a:xfrm>
          <a:prstGeom prst="rect">
            <a:avLst/>
          </a:prstGeom>
          <a:noFill/>
          <a:ln/>
        </p:spPr>
        <p:txBody>
          <a:bodyPr wrap="square" lIns="0" tIns="0" rIns="0" bIns="0" rtlCol="0" anchor="ctr"/>
          <a:lstStyle/>
          <a:p>
            <a:pPr algn="ctr" indent="0" marL="0">
              <a:buNone/>
            </a:pPr>
            <a:r>
              <a:rPr lang="en-US" sz="1600" b="1" dirty="0">
                <a:solidFill>
                  <a:schemeClr val="bg1"/>
                </a:solidFill>
              </a:rPr>
              <a:t>die</a:t>
            </a:r>
            <a:endParaRPr lang="en-US" sz="1600" dirty="0"/>
          </a:p>
        </p:txBody>
      </p:sp>
      <p:sp>
        <p:nvSpPr>
          <p:cNvPr id="28" name="Text 25"/>
          <p:cNvSpPr txBox="1"/>
          <p:nvPr/>
        </p:nvSpPr>
        <p:spPr>
          <a:xfrm>
            <a:off x="4288536" y="2801874"/>
            <a:ext cx="751840" cy="219456"/>
          </a:xfrm>
          <a:prstGeom prst="rect">
            <a:avLst/>
          </a:prstGeom>
          <a:noFill/>
          <a:ln/>
        </p:spPr>
        <p:txBody>
          <a:bodyPr wrap="square" lIns="0" tIns="0" rIns="0" bIns="0" rtlCol="0" anchor="b"/>
          <a:lstStyle/>
          <a:p>
            <a:pPr algn="ctr" indent="0" marL="0">
              <a:buNone/>
            </a:pPr>
            <a:r>
              <a:rPr lang="en-US" sz="1000" b="1" dirty="0">
                <a:solidFill>
                  <a:schemeClr val="accent6"/>
                </a:solidFill>
              </a:rPr>
              <a:t>✗ trop tôt</a:t>
            </a:r>
            <a:endParaRPr lang="en-US" sz="1000" dirty="0"/>
          </a:p>
        </p:txBody>
      </p:sp>
      <p:sp>
        <p:nvSpPr>
          <p:cNvPr id="29" name="Shape 26"/>
          <p:cNvSpPr/>
          <p:nvPr/>
        </p:nvSpPr>
        <p:spPr>
          <a:xfrm>
            <a:off x="4288536" y="3039618"/>
            <a:ext cx="751840" cy="329184"/>
          </a:xfrm>
          <a:prstGeom prst="roundRect">
            <a:avLst>
              <a:gd name="adj" fmla="val 16667"/>
            </a:avLst>
          </a:prstGeom>
          <a:solidFill>
            <a:schemeClr val="accent6">
              <a:alpha val="88000"/>
            </a:schemeClr>
          </a:solidFill>
          <a:ln w="12700">
            <a:solidFill>
              <a:srgbClr val="B83227"/>
            </a:solidFill>
            <a:prstDash val="solid"/>
          </a:ln>
        </p:spPr>
      </p:sp>
      <p:sp>
        <p:nvSpPr>
          <p:cNvPr id="30" name="Text 27"/>
          <p:cNvSpPr txBox="1"/>
          <p:nvPr/>
        </p:nvSpPr>
        <p:spPr>
          <a:xfrm>
            <a:off x="4325112" y="3039618"/>
            <a:ext cx="678688" cy="329184"/>
          </a:xfrm>
          <a:prstGeom prst="rect">
            <a:avLst/>
          </a:prstGeom>
          <a:noFill/>
          <a:ln/>
        </p:spPr>
        <p:txBody>
          <a:bodyPr wrap="square" lIns="0" tIns="0" rIns="0" bIns="0" rtlCol="0" anchor="ctr"/>
          <a:lstStyle/>
          <a:p>
            <a:pPr algn="ctr" indent="0" marL="0">
              <a:buNone/>
            </a:pPr>
            <a:r>
              <a:rPr lang="en-US" sz="1600" b="1" dirty="0">
                <a:solidFill>
                  <a:schemeClr val="bg1"/>
                </a:solidFill>
              </a:rPr>
              <a:t>ligt</a:t>
            </a:r>
            <a:endParaRPr lang="en-US" sz="1600" dirty="0"/>
          </a:p>
        </p:txBody>
      </p:sp>
      <p:sp>
        <p:nvSpPr>
          <p:cNvPr id="31" name="Text 28"/>
          <p:cNvSpPr txBox="1"/>
          <p:nvPr/>
        </p:nvSpPr>
        <p:spPr>
          <a:xfrm>
            <a:off x="5150104" y="2801874"/>
            <a:ext cx="2442464" cy="219456"/>
          </a:xfrm>
          <a:prstGeom prst="rect">
            <a:avLst/>
          </a:prstGeom>
          <a:noFill/>
          <a:ln/>
        </p:spPr>
        <p:txBody>
          <a:bodyPr wrap="square" lIns="0" tIns="0" rIns="0" bIns="0" rtlCol="0" anchor="b"/>
          <a:lstStyle/>
          <a:p>
            <a:pPr algn="ctr" indent="0" marL="0">
              <a:buNone/>
            </a:pPr>
            <a:r>
              <a:rPr lang="en-US" sz="1000" b="1" dirty="0">
                <a:solidFill>
                  <a:schemeClr val="accent4"/>
                </a:solidFill>
              </a:rPr>
              <a:t>plaats · où</a:t>
            </a:r>
            <a:endParaRPr lang="en-US" sz="1000" dirty="0"/>
          </a:p>
        </p:txBody>
      </p:sp>
      <p:sp>
        <p:nvSpPr>
          <p:cNvPr id="32" name="Shape 29"/>
          <p:cNvSpPr/>
          <p:nvPr/>
        </p:nvSpPr>
        <p:spPr>
          <a:xfrm>
            <a:off x="5150104" y="3039618"/>
            <a:ext cx="2442464" cy="329184"/>
          </a:xfrm>
          <a:prstGeom prst="roundRect">
            <a:avLst>
              <a:gd name="adj" fmla="val 16667"/>
            </a:avLst>
          </a:prstGeom>
          <a:solidFill>
            <a:schemeClr val="accent4">
              <a:alpha val="88000"/>
            </a:schemeClr>
          </a:solidFill>
          <a:ln w="12700">
            <a:solidFill>
              <a:srgbClr val="B4236A"/>
            </a:solidFill>
            <a:prstDash val="solid"/>
          </a:ln>
        </p:spPr>
      </p:sp>
      <p:sp>
        <p:nvSpPr>
          <p:cNvPr id="33" name="Text 30"/>
          <p:cNvSpPr txBox="1"/>
          <p:nvPr/>
        </p:nvSpPr>
        <p:spPr>
          <a:xfrm>
            <a:off x="5186680" y="3039618"/>
            <a:ext cx="2369312" cy="329184"/>
          </a:xfrm>
          <a:prstGeom prst="rect">
            <a:avLst/>
          </a:prstGeom>
          <a:noFill/>
          <a:ln/>
        </p:spPr>
        <p:txBody>
          <a:bodyPr wrap="square" lIns="0" tIns="0" rIns="0" bIns="0" rtlCol="0" anchor="ctr"/>
          <a:lstStyle/>
          <a:p>
            <a:pPr algn="ctr" indent="0" marL="0">
              <a:buNone/>
            </a:pPr>
            <a:r>
              <a:rPr lang="en-US" sz="1600" b="1" dirty="0">
                <a:solidFill>
                  <a:schemeClr val="bg1"/>
                </a:solidFill>
              </a:rPr>
              <a:t>vlak bij het station</a:t>
            </a:r>
            <a:endParaRPr lang="en-US" sz="1600" dirty="0"/>
          </a:p>
        </p:txBody>
      </p:sp>
      <p:sp>
        <p:nvSpPr>
          <p:cNvPr id="34" name="Text 31"/>
          <p:cNvSpPr txBox="1"/>
          <p:nvPr/>
        </p:nvSpPr>
        <p:spPr>
          <a:xfrm>
            <a:off x="2103120" y="3396234"/>
            <a:ext cx="9537192" cy="274320"/>
          </a:xfrm>
          <a:prstGeom prst="rect">
            <a:avLst/>
          </a:prstGeom>
          <a:noFill/>
          <a:ln/>
        </p:spPr>
        <p:txBody>
          <a:bodyPr wrap="square" lIns="0" tIns="0" rIns="0" bIns="0" rtlCol="0" anchor="ctr"/>
          <a:lstStyle/>
          <a:p>
            <a:pPr indent="0" marL="0">
              <a:buNone/>
            </a:pPr>
            <a:r>
              <a:rPr lang="en-US" sz="1400" i="1" dirty="0">
                <a:solidFill>
                  <a:schemeClr val="accent5"/>
                </a:solidFill>
              </a:rPr>
              <a:t>Impossible : c’est l’ordre de la phrase principale.</a:t>
            </a:r>
            <a:endParaRPr lang="en-US" sz="1400" dirty="0"/>
          </a:p>
        </p:txBody>
      </p:sp>
      <p:sp>
        <p:nvSpPr>
          <p:cNvPr id="35" name="Text 32"/>
          <p:cNvSpPr txBox="1"/>
          <p:nvPr/>
        </p:nvSpPr>
        <p:spPr>
          <a:xfrm>
            <a:off x="548640" y="3893820"/>
            <a:ext cx="1463040" cy="329184"/>
          </a:xfrm>
          <a:prstGeom prst="rect">
            <a:avLst/>
          </a:prstGeom>
          <a:noFill/>
          <a:ln/>
        </p:spPr>
        <p:txBody>
          <a:bodyPr wrap="square" lIns="0" tIns="0" rIns="0" bIns="0" rtlCol="0" anchor="ctr"/>
          <a:lstStyle/>
          <a:p>
            <a:pPr indent="0" marL="0">
              <a:buNone/>
            </a:pPr>
            <a:r>
              <a:rPr lang="en-US" sz="1400" b="1" dirty="0">
                <a:solidFill>
                  <a:schemeClr val="accent5"/>
                </a:solidFill>
              </a:rPr>
              <a:t>Perfectum</a:t>
            </a:r>
            <a:endParaRPr lang="en-US" sz="1400" dirty="0"/>
          </a:p>
        </p:txBody>
      </p:sp>
      <p:sp>
        <p:nvSpPr>
          <p:cNvPr id="36" name="Text 33"/>
          <p:cNvSpPr txBox="1"/>
          <p:nvPr/>
        </p:nvSpPr>
        <p:spPr>
          <a:xfrm>
            <a:off x="2103120" y="3656076"/>
            <a:ext cx="963168" cy="219456"/>
          </a:xfrm>
          <a:prstGeom prst="rect">
            <a:avLst/>
          </a:prstGeom>
          <a:noFill/>
          <a:ln/>
        </p:spPr>
        <p:txBody>
          <a:bodyPr wrap="square" lIns="0" tIns="0" rIns="0" bIns="0" rtlCol="0" anchor="b"/>
          <a:lstStyle/>
          <a:p>
            <a:pPr algn="ctr" indent="0" marL="0">
              <a:buNone/>
            </a:pPr>
            <a:r>
              <a:rPr lang="en-US" sz="1000" b="1" dirty="0">
                <a:solidFill>
                  <a:schemeClr val="accent5"/>
                </a:solidFill>
              </a:rPr>
              <a:t>objet</a:t>
            </a:r>
            <a:endParaRPr lang="en-US" sz="1000" dirty="0"/>
          </a:p>
        </p:txBody>
      </p:sp>
      <p:sp>
        <p:nvSpPr>
          <p:cNvPr id="37" name="Shape 34"/>
          <p:cNvSpPr/>
          <p:nvPr/>
        </p:nvSpPr>
        <p:spPr>
          <a:xfrm>
            <a:off x="2103120" y="3893820"/>
            <a:ext cx="963168" cy="329184"/>
          </a:xfrm>
          <a:prstGeom prst="roundRect">
            <a:avLst>
              <a:gd name="adj" fmla="val 16667"/>
            </a:avLst>
          </a:prstGeom>
          <a:solidFill>
            <a:schemeClr val="accent5">
              <a:alpha val="25000"/>
            </a:schemeClr>
          </a:solidFill>
          <a:ln w="12700">
            <a:solidFill>
              <a:srgbClr val="4A5A70"/>
            </a:solidFill>
            <a:prstDash val="solid"/>
          </a:ln>
        </p:spPr>
      </p:sp>
      <p:sp>
        <p:nvSpPr>
          <p:cNvPr id="38" name="Text 35"/>
          <p:cNvSpPr txBox="1"/>
          <p:nvPr/>
        </p:nvSpPr>
        <p:spPr>
          <a:xfrm>
            <a:off x="2139696" y="3893820"/>
            <a:ext cx="890016" cy="329184"/>
          </a:xfrm>
          <a:prstGeom prst="rect">
            <a:avLst/>
          </a:prstGeom>
          <a:noFill/>
          <a:ln/>
        </p:spPr>
        <p:txBody>
          <a:bodyPr wrap="square" lIns="0" tIns="0" rIns="0" bIns="0" rtlCol="0" anchor="ctr"/>
          <a:lstStyle/>
          <a:p>
            <a:pPr algn="ctr" indent="0" marL="0">
              <a:buNone/>
            </a:pPr>
            <a:r>
              <a:rPr lang="en-US" sz="1600" b="1" dirty="0">
                <a:solidFill>
                  <a:schemeClr val="tx1"/>
                </a:solidFill>
              </a:rPr>
              <a:t>De man</a:t>
            </a:r>
            <a:endParaRPr lang="en-US" sz="1600" dirty="0"/>
          </a:p>
        </p:txBody>
      </p:sp>
      <p:sp>
        <p:nvSpPr>
          <p:cNvPr id="39" name="Text 36"/>
          <p:cNvSpPr txBox="1"/>
          <p:nvPr/>
        </p:nvSpPr>
        <p:spPr>
          <a:xfrm>
            <a:off x="3176016" y="3656076"/>
            <a:ext cx="685800" cy="219456"/>
          </a:xfrm>
          <a:prstGeom prst="rect">
            <a:avLst/>
          </a:prstGeom>
          <a:noFill/>
          <a:ln/>
        </p:spPr>
        <p:txBody>
          <a:bodyPr wrap="square" lIns="0" tIns="0" rIns="0" bIns="0" rtlCol="0" anchor="b"/>
          <a:lstStyle/>
          <a:p>
            <a:pPr algn="ctr" indent="0" marL="0">
              <a:buNone/>
            </a:pPr>
            <a:r>
              <a:rPr lang="en-US" sz="1000" b="1" dirty="0">
                <a:solidFill>
                  <a:srgbClr val="6E4A9E"/>
                </a:solidFill>
              </a:rPr>
              <a:t>relatif</a:t>
            </a:r>
            <a:endParaRPr lang="en-US" sz="1000" dirty="0"/>
          </a:p>
        </p:txBody>
      </p:sp>
      <p:sp>
        <p:nvSpPr>
          <p:cNvPr id="40" name="Shape 37"/>
          <p:cNvSpPr/>
          <p:nvPr/>
        </p:nvSpPr>
        <p:spPr>
          <a:xfrm>
            <a:off x="3176016" y="3893820"/>
            <a:ext cx="685800" cy="329184"/>
          </a:xfrm>
          <a:prstGeom prst="roundRect">
            <a:avLst>
              <a:gd name="adj" fmla="val 16667"/>
            </a:avLst>
          </a:prstGeom>
          <a:solidFill>
            <a:srgbClr val="6E4A9E">
              <a:alpha val="88000"/>
            </a:srgbClr>
          </a:solidFill>
          <a:ln w="12700">
            <a:solidFill>
              <a:srgbClr val="6E4A9E"/>
            </a:solidFill>
            <a:prstDash val="solid"/>
          </a:ln>
        </p:spPr>
      </p:sp>
      <p:sp>
        <p:nvSpPr>
          <p:cNvPr id="41" name="Text 38"/>
          <p:cNvSpPr txBox="1"/>
          <p:nvPr/>
        </p:nvSpPr>
        <p:spPr>
          <a:xfrm>
            <a:off x="3212592" y="3893820"/>
            <a:ext cx="612648" cy="329184"/>
          </a:xfrm>
          <a:prstGeom prst="rect">
            <a:avLst/>
          </a:prstGeom>
          <a:noFill/>
          <a:ln/>
        </p:spPr>
        <p:txBody>
          <a:bodyPr wrap="square" lIns="0" tIns="0" rIns="0" bIns="0" rtlCol="0" anchor="ctr"/>
          <a:lstStyle/>
          <a:p>
            <a:pPr algn="ctr" indent="0" marL="0">
              <a:buNone/>
            </a:pPr>
            <a:r>
              <a:rPr lang="en-US" sz="1600" b="1" dirty="0">
                <a:solidFill>
                  <a:schemeClr val="bg1"/>
                </a:solidFill>
              </a:rPr>
              <a:t>die</a:t>
            </a:r>
            <a:endParaRPr lang="en-US" sz="1600" dirty="0"/>
          </a:p>
        </p:txBody>
      </p:sp>
      <p:sp>
        <p:nvSpPr>
          <p:cNvPr id="42" name="Text 39"/>
          <p:cNvSpPr txBox="1"/>
          <p:nvPr/>
        </p:nvSpPr>
        <p:spPr>
          <a:xfrm>
            <a:off x="3971544" y="3656076"/>
            <a:ext cx="685800" cy="219456"/>
          </a:xfrm>
          <a:prstGeom prst="rect">
            <a:avLst/>
          </a:prstGeom>
          <a:noFill/>
          <a:ln/>
        </p:spPr>
        <p:txBody>
          <a:bodyPr wrap="square" lIns="0" tIns="0" rIns="0" bIns="0" rtlCol="0" anchor="b"/>
          <a:lstStyle/>
          <a:p>
            <a:pPr algn="ctr" indent="0" marL="0">
              <a:buNone/>
            </a:pPr>
            <a:r>
              <a:rPr lang="en-US" sz="1000" b="1" dirty="0">
                <a:solidFill>
                  <a:schemeClr val="accent5"/>
                </a:solidFill>
              </a:rPr>
              <a:t>objet</a:t>
            </a:r>
            <a:endParaRPr lang="en-US" sz="1000" dirty="0"/>
          </a:p>
        </p:txBody>
      </p:sp>
      <p:sp>
        <p:nvSpPr>
          <p:cNvPr id="43" name="Shape 40"/>
          <p:cNvSpPr/>
          <p:nvPr/>
        </p:nvSpPr>
        <p:spPr>
          <a:xfrm>
            <a:off x="3971544" y="3893820"/>
            <a:ext cx="685800" cy="329184"/>
          </a:xfrm>
          <a:prstGeom prst="roundRect">
            <a:avLst>
              <a:gd name="adj" fmla="val 16667"/>
            </a:avLst>
          </a:prstGeom>
          <a:solidFill>
            <a:schemeClr val="accent5">
              <a:alpha val="25000"/>
            </a:schemeClr>
          </a:solidFill>
          <a:ln w="12700">
            <a:solidFill>
              <a:srgbClr val="4A5A70"/>
            </a:solidFill>
            <a:prstDash val="solid"/>
          </a:ln>
        </p:spPr>
      </p:sp>
      <p:sp>
        <p:nvSpPr>
          <p:cNvPr id="44" name="Text 41"/>
          <p:cNvSpPr txBox="1"/>
          <p:nvPr/>
        </p:nvSpPr>
        <p:spPr>
          <a:xfrm>
            <a:off x="4008120" y="3893820"/>
            <a:ext cx="612648" cy="329184"/>
          </a:xfrm>
          <a:prstGeom prst="rect">
            <a:avLst/>
          </a:prstGeom>
          <a:noFill/>
          <a:ln/>
        </p:spPr>
        <p:txBody>
          <a:bodyPr wrap="square" lIns="0" tIns="0" rIns="0" bIns="0" rtlCol="0" anchor="ctr"/>
          <a:lstStyle/>
          <a:p>
            <a:pPr algn="ctr" indent="0" marL="0">
              <a:buNone/>
            </a:pPr>
            <a:r>
              <a:rPr lang="en-US" sz="1600" b="1" dirty="0">
                <a:solidFill>
                  <a:schemeClr val="tx1"/>
                </a:solidFill>
              </a:rPr>
              <a:t>ons</a:t>
            </a:r>
            <a:endParaRPr lang="en-US" sz="1600" dirty="0"/>
          </a:p>
        </p:txBody>
      </p:sp>
      <p:sp>
        <p:nvSpPr>
          <p:cNvPr id="45" name="Text 42"/>
          <p:cNvSpPr txBox="1"/>
          <p:nvPr/>
        </p:nvSpPr>
        <p:spPr>
          <a:xfrm>
            <a:off x="4767072" y="3656076"/>
            <a:ext cx="1597152" cy="219456"/>
          </a:xfrm>
          <a:prstGeom prst="rect">
            <a:avLst/>
          </a:prstGeom>
          <a:noFill/>
          <a:ln/>
        </p:spPr>
        <p:txBody>
          <a:bodyPr wrap="square" lIns="0" tIns="0" rIns="0" bIns="0" rtlCol="0" anchor="b"/>
          <a:lstStyle/>
          <a:p>
            <a:pPr algn="ctr" indent="0" marL="0">
              <a:buNone/>
            </a:pPr>
            <a:r>
              <a:rPr lang="en-US" sz="1000" b="1" dirty="0">
                <a:solidFill>
                  <a:schemeClr val="accent2"/>
                </a:solidFill>
              </a:rPr>
              <a:t>tijd · quand</a:t>
            </a:r>
            <a:endParaRPr lang="en-US" sz="1000" dirty="0"/>
          </a:p>
        </p:txBody>
      </p:sp>
      <p:sp>
        <p:nvSpPr>
          <p:cNvPr id="46" name="Shape 43"/>
          <p:cNvSpPr/>
          <p:nvPr/>
        </p:nvSpPr>
        <p:spPr>
          <a:xfrm>
            <a:off x="4767072" y="3893820"/>
            <a:ext cx="1597152" cy="329184"/>
          </a:xfrm>
          <a:prstGeom prst="roundRect">
            <a:avLst>
              <a:gd name="adj" fmla="val 16667"/>
            </a:avLst>
          </a:prstGeom>
          <a:solidFill>
            <a:schemeClr val="accent2">
              <a:alpha val="88000"/>
            </a:schemeClr>
          </a:solidFill>
          <a:ln w="12700">
            <a:solidFill>
              <a:srgbClr val="2A6FB0"/>
            </a:solidFill>
            <a:prstDash val="solid"/>
          </a:ln>
        </p:spPr>
      </p:sp>
      <p:sp>
        <p:nvSpPr>
          <p:cNvPr id="47" name="Text 44"/>
          <p:cNvSpPr txBox="1"/>
          <p:nvPr/>
        </p:nvSpPr>
        <p:spPr>
          <a:xfrm>
            <a:off x="4803648" y="3893820"/>
            <a:ext cx="1524000" cy="329184"/>
          </a:xfrm>
          <a:prstGeom prst="rect">
            <a:avLst/>
          </a:prstGeom>
          <a:noFill/>
          <a:ln/>
        </p:spPr>
        <p:txBody>
          <a:bodyPr wrap="square" lIns="0" tIns="0" rIns="0" bIns="0" rtlCol="0" anchor="ctr"/>
          <a:lstStyle/>
          <a:p>
            <a:pPr algn="ctr" indent="0" marL="0">
              <a:buNone/>
            </a:pPr>
            <a:r>
              <a:rPr lang="en-US" sz="1600" b="1" dirty="0">
                <a:solidFill>
                  <a:schemeClr val="bg1"/>
                </a:solidFill>
              </a:rPr>
              <a:t>vorige maand</a:t>
            </a:r>
            <a:endParaRPr lang="en-US" sz="1600" dirty="0"/>
          </a:p>
        </p:txBody>
      </p:sp>
      <p:sp>
        <p:nvSpPr>
          <p:cNvPr id="48" name="Text 45"/>
          <p:cNvSpPr txBox="1"/>
          <p:nvPr/>
        </p:nvSpPr>
        <p:spPr>
          <a:xfrm>
            <a:off x="6473952" y="3656076"/>
            <a:ext cx="857504" cy="219456"/>
          </a:xfrm>
          <a:prstGeom prst="rect">
            <a:avLst/>
          </a:prstGeom>
          <a:noFill/>
          <a:ln/>
        </p:spPr>
        <p:txBody>
          <a:bodyPr wrap="square" lIns="0" tIns="0" rIns="0" bIns="0" rtlCol="0" anchor="b"/>
          <a:lstStyle/>
          <a:p>
            <a:pPr algn="ctr" indent="0" marL="0">
              <a:buNone/>
            </a:pPr>
            <a:r>
              <a:rPr lang="en-US" sz="1000" b="1" dirty="0">
                <a:solidFill>
                  <a:schemeClr val="accent6"/>
                </a:solidFill>
              </a:rPr>
              <a:t>verbe</a:t>
            </a:r>
            <a:endParaRPr lang="en-US" sz="1000" dirty="0"/>
          </a:p>
        </p:txBody>
      </p:sp>
      <p:sp>
        <p:nvSpPr>
          <p:cNvPr id="49" name="Shape 46"/>
          <p:cNvSpPr/>
          <p:nvPr/>
        </p:nvSpPr>
        <p:spPr>
          <a:xfrm>
            <a:off x="6473952" y="3893820"/>
            <a:ext cx="857504" cy="329184"/>
          </a:xfrm>
          <a:prstGeom prst="roundRect">
            <a:avLst>
              <a:gd name="adj" fmla="val 16667"/>
            </a:avLst>
          </a:prstGeom>
          <a:solidFill>
            <a:schemeClr val="accent6">
              <a:alpha val="88000"/>
            </a:schemeClr>
          </a:solidFill>
          <a:ln w="12700">
            <a:solidFill>
              <a:srgbClr val="B83227"/>
            </a:solidFill>
            <a:prstDash val="solid"/>
          </a:ln>
        </p:spPr>
      </p:sp>
      <p:sp>
        <p:nvSpPr>
          <p:cNvPr id="50" name="Text 47"/>
          <p:cNvSpPr txBox="1"/>
          <p:nvPr/>
        </p:nvSpPr>
        <p:spPr>
          <a:xfrm>
            <a:off x="6510528" y="3893820"/>
            <a:ext cx="784352" cy="329184"/>
          </a:xfrm>
          <a:prstGeom prst="rect">
            <a:avLst/>
          </a:prstGeom>
          <a:noFill/>
          <a:ln/>
        </p:spPr>
        <p:txBody>
          <a:bodyPr wrap="square" lIns="0" tIns="0" rIns="0" bIns="0" rtlCol="0" anchor="ctr"/>
          <a:lstStyle/>
          <a:p>
            <a:pPr algn="ctr" indent="0" marL="0">
              <a:buNone/>
            </a:pPr>
            <a:r>
              <a:rPr lang="en-US" sz="1600" b="1" dirty="0">
                <a:solidFill>
                  <a:schemeClr val="bg1"/>
                </a:solidFill>
              </a:rPr>
              <a:t>heeft</a:t>
            </a:r>
            <a:endParaRPr lang="en-US" sz="1600" dirty="0"/>
          </a:p>
        </p:txBody>
      </p:sp>
      <p:sp>
        <p:nvSpPr>
          <p:cNvPr id="51" name="Text 48"/>
          <p:cNvSpPr txBox="1"/>
          <p:nvPr/>
        </p:nvSpPr>
        <p:spPr>
          <a:xfrm>
            <a:off x="7441184" y="3656076"/>
            <a:ext cx="963168" cy="219456"/>
          </a:xfrm>
          <a:prstGeom prst="rect">
            <a:avLst/>
          </a:prstGeom>
          <a:noFill/>
          <a:ln/>
        </p:spPr>
        <p:txBody>
          <a:bodyPr wrap="square" lIns="0" tIns="0" rIns="0" bIns="0" rtlCol="0" anchor="b"/>
          <a:lstStyle/>
          <a:p>
            <a:pPr algn="ctr" indent="0" marL="0">
              <a:buNone/>
            </a:pPr>
            <a:r>
              <a:rPr lang="en-US" sz="1000" b="1" dirty="0">
                <a:solidFill>
                  <a:schemeClr val="accent1"/>
                </a:solidFill>
              </a:rPr>
              <a:t>participe</a:t>
            </a:r>
            <a:endParaRPr lang="en-US" sz="1000" dirty="0"/>
          </a:p>
        </p:txBody>
      </p:sp>
      <p:sp>
        <p:nvSpPr>
          <p:cNvPr id="52" name="Shape 49"/>
          <p:cNvSpPr/>
          <p:nvPr/>
        </p:nvSpPr>
        <p:spPr>
          <a:xfrm>
            <a:off x="7441184" y="3893820"/>
            <a:ext cx="963168" cy="329184"/>
          </a:xfrm>
          <a:prstGeom prst="roundRect">
            <a:avLst>
              <a:gd name="adj" fmla="val 16667"/>
            </a:avLst>
          </a:prstGeom>
          <a:solidFill>
            <a:schemeClr val="accent1">
              <a:alpha val="88000"/>
            </a:schemeClr>
          </a:solidFill>
          <a:ln w="12700">
            <a:solidFill>
              <a:srgbClr val="D9700F"/>
            </a:solidFill>
            <a:prstDash val="solid"/>
          </a:ln>
        </p:spPr>
      </p:sp>
      <p:sp>
        <p:nvSpPr>
          <p:cNvPr id="53" name="Text 50"/>
          <p:cNvSpPr txBox="1"/>
          <p:nvPr/>
        </p:nvSpPr>
        <p:spPr>
          <a:xfrm>
            <a:off x="7477760" y="3893820"/>
            <a:ext cx="890016" cy="329184"/>
          </a:xfrm>
          <a:prstGeom prst="rect">
            <a:avLst/>
          </a:prstGeom>
          <a:noFill/>
          <a:ln/>
        </p:spPr>
        <p:txBody>
          <a:bodyPr wrap="square" lIns="0" tIns="0" rIns="0" bIns="0" rtlCol="0" anchor="ctr"/>
          <a:lstStyle/>
          <a:p>
            <a:pPr algn="ctr" indent="0" marL="0">
              <a:buNone/>
            </a:pPr>
            <a:r>
              <a:rPr lang="en-US" sz="1600" b="1" dirty="0">
                <a:solidFill>
                  <a:schemeClr val="bg1"/>
                </a:solidFill>
              </a:rPr>
              <a:t>gebeld</a:t>
            </a:r>
            <a:endParaRPr lang="en-US" sz="1600" dirty="0"/>
          </a:p>
        </p:txBody>
      </p:sp>
      <p:sp>
        <p:nvSpPr>
          <p:cNvPr id="54" name="Text 51"/>
          <p:cNvSpPr txBox="1"/>
          <p:nvPr/>
        </p:nvSpPr>
        <p:spPr>
          <a:xfrm>
            <a:off x="2103120" y="4250436"/>
            <a:ext cx="9537192" cy="274320"/>
          </a:xfrm>
          <a:prstGeom prst="rect">
            <a:avLst/>
          </a:prstGeom>
          <a:noFill/>
          <a:ln/>
        </p:spPr>
        <p:txBody>
          <a:bodyPr wrap="square" lIns="0" tIns="0" rIns="0" bIns="0" rtlCol="0" anchor="ctr"/>
          <a:lstStyle/>
          <a:p>
            <a:pPr indent="0" marL="0">
              <a:buNone/>
            </a:pPr>
            <a:r>
              <a:rPr lang="en-US" sz="1400" i="1" dirty="0">
                <a:solidFill>
                  <a:schemeClr val="accent5"/>
                </a:solidFill>
              </a:rPr>
              <a:t>L’homme qui nous a appelés le mois dernier.</a:t>
            </a:r>
            <a:endParaRPr lang="en-US" sz="1400" dirty="0"/>
          </a:p>
        </p:txBody>
      </p:sp>
      <p:sp>
        <p:nvSpPr>
          <p:cNvPr id="55" name="Text 52"/>
          <p:cNvSpPr txBox="1"/>
          <p:nvPr/>
        </p:nvSpPr>
        <p:spPr>
          <a:xfrm>
            <a:off x="548640" y="4748022"/>
            <a:ext cx="1463040" cy="329184"/>
          </a:xfrm>
          <a:prstGeom prst="rect">
            <a:avLst/>
          </a:prstGeom>
          <a:noFill/>
          <a:ln/>
        </p:spPr>
        <p:txBody>
          <a:bodyPr wrap="square" lIns="0" tIns="0" rIns="0" bIns="0" rtlCol="0" anchor="ctr"/>
          <a:lstStyle/>
          <a:p>
            <a:pPr indent="0" marL="0">
              <a:buNone/>
            </a:pPr>
            <a:r>
              <a:rPr lang="en-US" sz="1400" b="1" dirty="0">
                <a:solidFill>
                  <a:schemeClr val="accent5"/>
                </a:solidFill>
              </a:rPr>
              <a:t>Passif / état</a:t>
            </a:r>
            <a:endParaRPr lang="en-US" sz="1400" dirty="0"/>
          </a:p>
        </p:txBody>
      </p:sp>
      <p:sp>
        <p:nvSpPr>
          <p:cNvPr id="56" name="Text 53"/>
          <p:cNvSpPr txBox="1"/>
          <p:nvPr/>
        </p:nvSpPr>
        <p:spPr>
          <a:xfrm>
            <a:off x="2103120" y="4510278"/>
            <a:ext cx="1385824" cy="219456"/>
          </a:xfrm>
          <a:prstGeom prst="rect">
            <a:avLst/>
          </a:prstGeom>
          <a:noFill/>
          <a:ln/>
        </p:spPr>
        <p:txBody>
          <a:bodyPr wrap="square" lIns="0" tIns="0" rIns="0" bIns="0" rtlCol="0" anchor="b"/>
          <a:lstStyle/>
          <a:p>
            <a:pPr algn="ctr" indent="0" marL="0">
              <a:buNone/>
            </a:pPr>
            <a:r>
              <a:rPr lang="en-US" sz="1000" b="1" dirty="0">
                <a:solidFill>
                  <a:schemeClr val="accent5"/>
                </a:solidFill>
              </a:rPr>
              <a:t>objet</a:t>
            </a:r>
            <a:endParaRPr lang="en-US" sz="1000" dirty="0"/>
          </a:p>
        </p:txBody>
      </p:sp>
      <p:sp>
        <p:nvSpPr>
          <p:cNvPr id="57" name="Shape 54"/>
          <p:cNvSpPr/>
          <p:nvPr/>
        </p:nvSpPr>
        <p:spPr>
          <a:xfrm>
            <a:off x="2103120" y="4748022"/>
            <a:ext cx="1385824" cy="329184"/>
          </a:xfrm>
          <a:prstGeom prst="roundRect">
            <a:avLst>
              <a:gd name="adj" fmla="val 16667"/>
            </a:avLst>
          </a:prstGeom>
          <a:solidFill>
            <a:schemeClr val="accent5">
              <a:alpha val="25000"/>
            </a:schemeClr>
          </a:solidFill>
          <a:ln w="12700">
            <a:solidFill>
              <a:srgbClr val="4A5A70"/>
            </a:solidFill>
            <a:prstDash val="solid"/>
          </a:ln>
        </p:spPr>
      </p:sp>
      <p:sp>
        <p:nvSpPr>
          <p:cNvPr id="58" name="Text 55"/>
          <p:cNvSpPr txBox="1"/>
          <p:nvPr/>
        </p:nvSpPr>
        <p:spPr>
          <a:xfrm>
            <a:off x="2139696" y="4748022"/>
            <a:ext cx="1312672" cy="329184"/>
          </a:xfrm>
          <a:prstGeom prst="rect">
            <a:avLst/>
          </a:prstGeom>
          <a:noFill/>
          <a:ln/>
        </p:spPr>
        <p:txBody>
          <a:bodyPr wrap="square" lIns="0" tIns="0" rIns="0" bIns="0" rtlCol="0" anchor="ctr"/>
          <a:lstStyle/>
          <a:p>
            <a:pPr algn="ctr" indent="0" marL="0">
              <a:buNone/>
            </a:pPr>
            <a:r>
              <a:rPr lang="en-US" sz="1600" b="1" dirty="0">
                <a:solidFill>
                  <a:schemeClr val="tx1"/>
                </a:solidFill>
              </a:rPr>
              <a:t>Een woning</a:t>
            </a:r>
            <a:endParaRPr lang="en-US" sz="1600" dirty="0"/>
          </a:p>
        </p:txBody>
      </p:sp>
      <p:sp>
        <p:nvSpPr>
          <p:cNvPr id="59" name="Text 56"/>
          <p:cNvSpPr txBox="1"/>
          <p:nvPr/>
        </p:nvSpPr>
        <p:spPr>
          <a:xfrm>
            <a:off x="3598672" y="4510278"/>
            <a:ext cx="685800" cy="219456"/>
          </a:xfrm>
          <a:prstGeom prst="rect">
            <a:avLst/>
          </a:prstGeom>
          <a:noFill/>
          <a:ln/>
        </p:spPr>
        <p:txBody>
          <a:bodyPr wrap="square" lIns="0" tIns="0" rIns="0" bIns="0" rtlCol="0" anchor="b"/>
          <a:lstStyle/>
          <a:p>
            <a:pPr algn="ctr" indent="0" marL="0">
              <a:buNone/>
            </a:pPr>
            <a:r>
              <a:rPr lang="en-US" sz="1000" b="1" dirty="0">
                <a:solidFill>
                  <a:srgbClr val="6E4A9E"/>
                </a:solidFill>
              </a:rPr>
              <a:t>relatif</a:t>
            </a:r>
            <a:endParaRPr lang="en-US" sz="1000" dirty="0"/>
          </a:p>
        </p:txBody>
      </p:sp>
      <p:sp>
        <p:nvSpPr>
          <p:cNvPr id="60" name="Shape 57"/>
          <p:cNvSpPr/>
          <p:nvPr/>
        </p:nvSpPr>
        <p:spPr>
          <a:xfrm>
            <a:off x="3598672" y="4748022"/>
            <a:ext cx="685800" cy="329184"/>
          </a:xfrm>
          <a:prstGeom prst="roundRect">
            <a:avLst>
              <a:gd name="adj" fmla="val 16667"/>
            </a:avLst>
          </a:prstGeom>
          <a:solidFill>
            <a:srgbClr val="6E4A9E">
              <a:alpha val="88000"/>
            </a:srgbClr>
          </a:solidFill>
          <a:ln w="12700">
            <a:solidFill>
              <a:srgbClr val="6E4A9E"/>
            </a:solidFill>
            <a:prstDash val="solid"/>
          </a:ln>
        </p:spPr>
      </p:sp>
      <p:sp>
        <p:nvSpPr>
          <p:cNvPr id="61" name="Text 58"/>
          <p:cNvSpPr txBox="1"/>
          <p:nvPr/>
        </p:nvSpPr>
        <p:spPr>
          <a:xfrm>
            <a:off x="3635248" y="4748022"/>
            <a:ext cx="612648" cy="329184"/>
          </a:xfrm>
          <a:prstGeom prst="rect">
            <a:avLst/>
          </a:prstGeom>
          <a:noFill/>
          <a:ln/>
        </p:spPr>
        <p:txBody>
          <a:bodyPr wrap="square" lIns="0" tIns="0" rIns="0" bIns="0" rtlCol="0" anchor="ctr"/>
          <a:lstStyle/>
          <a:p>
            <a:pPr algn="ctr" indent="0" marL="0">
              <a:buNone/>
            </a:pPr>
            <a:r>
              <a:rPr lang="en-US" sz="1600" b="1" dirty="0">
                <a:solidFill>
                  <a:schemeClr val="bg1"/>
                </a:solidFill>
              </a:rPr>
              <a:t>die</a:t>
            </a:r>
            <a:endParaRPr lang="en-US" sz="1600" dirty="0"/>
          </a:p>
        </p:txBody>
      </p:sp>
      <p:sp>
        <p:nvSpPr>
          <p:cNvPr id="62" name="Text 59"/>
          <p:cNvSpPr txBox="1"/>
          <p:nvPr/>
        </p:nvSpPr>
        <p:spPr>
          <a:xfrm>
            <a:off x="4394200" y="4510278"/>
            <a:ext cx="685800" cy="219456"/>
          </a:xfrm>
          <a:prstGeom prst="rect">
            <a:avLst/>
          </a:prstGeom>
          <a:noFill/>
          <a:ln/>
        </p:spPr>
        <p:txBody>
          <a:bodyPr wrap="square" lIns="0" tIns="0" rIns="0" bIns="0" rtlCol="0" anchor="b"/>
          <a:lstStyle/>
          <a:p>
            <a:pPr algn="ctr" indent="0" marL="0">
              <a:buNone/>
            </a:pPr>
            <a:r>
              <a:rPr lang="en-US" sz="1000" b="1" dirty="0">
                <a:solidFill>
                  <a:schemeClr val="accent2"/>
                </a:solidFill>
              </a:rPr>
              <a:t>tijd · quand</a:t>
            </a:r>
            <a:endParaRPr lang="en-US" sz="1000" dirty="0"/>
          </a:p>
        </p:txBody>
      </p:sp>
      <p:sp>
        <p:nvSpPr>
          <p:cNvPr id="63" name="Shape 60"/>
          <p:cNvSpPr/>
          <p:nvPr/>
        </p:nvSpPr>
        <p:spPr>
          <a:xfrm>
            <a:off x="4394200" y="4748022"/>
            <a:ext cx="685800" cy="329184"/>
          </a:xfrm>
          <a:prstGeom prst="roundRect">
            <a:avLst>
              <a:gd name="adj" fmla="val 16667"/>
            </a:avLst>
          </a:prstGeom>
          <a:solidFill>
            <a:schemeClr val="accent2">
              <a:alpha val="88000"/>
            </a:schemeClr>
          </a:solidFill>
          <a:ln w="12700">
            <a:solidFill>
              <a:srgbClr val="2A6FB0"/>
            </a:solidFill>
            <a:prstDash val="solid"/>
          </a:ln>
        </p:spPr>
      </p:sp>
      <p:sp>
        <p:nvSpPr>
          <p:cNvPr id="64" name="Text 61"/>
          <p:cNvSpPr txBox="1"/>
          <p:nvPr/>
        </p:nvSpPr>
        <p:spPr>
          <a:xfrm>
            <a:off x="4430776" y="4748022"/>
            <a:ext cx="612648" cy="329184"/>
          </a:xfrm>
          <a:prstGeom prst="rect">
            <a:avLst/>
          </a:prstGeom>
          <a:noFill/>
          <a:ln/>
        </p:spPr>
        <p:txBody>
          <a:bodyPr wrap="square" lIns="0" tIns="0" rIns="0" bIns="0" rtlCol="0" anchor="ctr"/>
          <a:lstStyle/>
          <a:p>
            <a:pPr algn="ctr" indent="0" marL="0">
              <a:buNone/>
            </a:pPr>
            <a:r>
              <a:rPr lang="en-US" sz="1600" b="1" dirty="0">
                <a:solidFill>
                  <a:schemeClr val="bg1"/>
                </a:solidFill>
              </a:rPr>
              <a:t>net</a:t>
            </a:r>
            <a:endParaRPr lang="en-US" sz="1600" dirty="0"/>
          </a:p>
        </p:txBody>
      </p:sp>
      <p:sp>
        <p:nvSpPr>
          <p:cNvPr id="65" name="Text 62"/>
          <p:cNvSpPr txBox="1"/>
          <p:nvPr/>
        </p:nvSpPr>
        <p:spPr>
          <a:xfrm>
            <a:off x="5189728" y="4510278"/>
            <a:ext cx="1491488" cy="219456"/>
          </a:xfrm>
          <a:prstGeom prst="rect">
            <a:avLst/>
          </a:prstGeom>
          <a:noFill/>
          <a:ln/>
        </p:spPr>
        <p:txBody>
          <a:bodyPr wrap="square" lIns="0" tIns="0" rIns="0" bIns="0" rtlCol="0" anchor="b"/>
          <a:lstStyle/>
          <a:p>
            <a:pPr algn="ctr" indent="0" marL="0">
              <a:buNone/>
            </a:pPr>
            <a:r>
              <a:rPr lang="en-US" sz="1000" b="1" dirty="0">
                <a:solidFill>
                  <a:schemeClr val="accent1"/>
                </a:solidFill>
              </a:rPr>
              <a:t>participe</a:t>
            </a:r>
            <a:endParaRPr lang="en-US" sz="1000" dirty="0"/>
          </a:p>
        </p:txBody>
      </p:sp>
      <p:sp>
        <p:nvSpPr>
          <p:cNvPr id="66" name="Shape 63"/>
          <p:cNvSpPr/>
          <p:nvPr/>
        </p:nvSpPr>
        <p:spPr>
          <a:xfrm>
            <a:off x="5189728" y="4748022"/>
            <a:ext cx="1491488" cy="329184"/>
          </a:xfrm>
          <a:prstGeom prst="roundRect">
            <a:avLst>
              <a:gd name="adj" fmla="val 16667"/>
            </a:avLst>
          </a:prstGeom>
          <a:solidFill>
            <a:schemeClr val="accent1">
              <a:alpha val="88000"/>
            </a:schemeClr>
          </a:solidFill>
          <a:ln w="12700">
            <a:solidFill>
              <a:srgbClr val="D9700F"/>
            </a:solidFill>
            <a:prstDash val="solid"/>
          </a:ln>
        </p:spPr>
      </p:sp>
      <p:sp>
        <p:nvSpPr>
          <p:cNvPr id="67" name="Text 64"/>
          <p:cNvSpPr txBox="1"/>
          <p:nvPr/>
        </p:nvSpPr>
        <p:spPr>
          <a:xfrm>
            <a:off x="5226304" y="4748022"/>
            <a:ext cx="1418336" cy="329184"/>
          </a:xfrm>
          <a:prstGeom prst="rect">
            <a:avLst/>
          </a:prstGeom>
          <a:noFill/>
          <a:ln/>
        </p:spPr>
        <p:txBody>
          <a:bodyPr wrap="square" lIns="0" tIns="0" rIns="0" bIns="0" rtlCol="0" anchor="ctr"/>
          <a:lstStyle/>
          <a:p>
            <a:pPr algn="ctr" indent="0" marL="0">
              <a:buNone/>
            </a:pPr>
            <a:r>
              <a:rPr lang="en-US" sz="1600" b="1" dirty="0">
                <a:solidFill>
                  <a:schemeClr val="bg1"/>
                </a:solidFill>
              </a:rPr>
              <a:t>gerenoveerd</a:t>
            </a:r>
            <a:endParaRPr lang="en-US" sz="1600" dirty="0"/>
          </a:p>
        </p:txBody>
      </p:sp>
      <p:sp>
        <p:nvSpPr>
          <p:cNvPr id="68" name="Text 65"/>
          <p:cNvSpPr txBox="1"/>
          <p:nvPr/>
        </p:nvSpPr>
        <p:spPr>
          <a:xfrm>
            <a:off x="6790944" y="4510278"/>
            <a:ext cx="685800" cy="219456"/>
          </a:xfrm>
          <a:prstGeom prst="rect">
            <a:avLst/>
          </a:prstGeom>
          <a:noFill/>
          <a:ln/>
        </p:spPr>
        <p:txBody>
          <a:bodyPr wrap="square" lIns="0" tIns="0" rIns="0" bIns="0" rtlCol="0" anchor="b"/>
          <a:lstStyle/>
          <a:p>
            <a:pPr algn="ctr" indent="0" marL="0">
              <a:buNone/>
            </a:pPr>
            <a:r>
              <a:rPr lang="en-US" sz="1000" b="1" dirty="0">
                <a:solidFill>
                  <a:schemeClr val="accent6"/>
                </a:solidFill>
              </a:rPr>
              <a:t>verbe → FIN</a:t>
            </a:r>
            <a:endParaRPr lang="en-US" sz="1000" dirty="0"/>
          </a:p>
        </p:txBody>
      </p:sp>
      <p:sp>
        <p:nvSpPr>
          <p:cNvPr id="69" name="Shape 66"/>
          <p:cNvSpPr/>
          <p:nvPr/>
        </p:nvSpPr>
        <p:spPr>
          <a:xfrm>
            <a:off x="6790944" y="4748022"/>
            <a:ext cx="685800" cy="329184"/>
          </a:xfrm>
          <a:prstGeom prst="roundRect">
            <a:avLst>
              <a:gd name="adj" fmla="val 16667"/>
            </a:avLst>
          </a:prstGeom>
          <a:solidFill>
            <a:schemeClr val="accent6">
              <a:alpha val="88000"/>
            </a:schemeClr>
          </a:solidFill>
          <a:ln w="12700">
            <a:solidFill>
              <a:srgbClr val="B83227"/>
            </a:solidFill>
            <a:prstDash val="solid"/>
          </a:ln>
        </p:spPr>
      </p:sp>
      <p:sp>
        <p:nvSpPr>
          <p:cNvPr id="70" name="Text 67"/>
          <p:cNvSpPr txBox="1"/>
          <p:nvPr/>
        </p:nvSpPr>
        <p:spPr>
          <a:xfrm>
            <a:off x="6827520" y="4748022"/>
            <a:ext cx="612648" cy="329184"/>
          </a:xfrm>
          <a:prstGeom prst="rect">
            <a:avLst/>
          </a:prstGeom>
          <a:noFill/>
          <a:ln/>
        </p:spPr>
        <p:txBody>
          <a:bodyPr wrap="square" lIns="0" tIns="0" rIns="0" bIns="0" rtlCol="0" anchor="ctr"/>
          <a:lstStyle/>
          <a:p>
            <a:pPr algn="ctr" indent="0" marL="0">
              <a:buNone/>
            </a:pPr>
            <a:r>
              <a:rPr lang="en-US" sz="1600" b="1" dirty="0">
                <a:solidFill>
                  <a:schemeClr val="bg1"/>
                </a:solidFill>
              </a:rPr>
              <a:t>is</a:t>
            </a:r>
            <a:endParaRPr lang="en-US" sz="1600" dirty="0"/>
          </a:p>
        </p:txBody>
      </p:sp>
      <p:sp>
        <p:nvSpPr>
          <p:cNvPr id="71" name="Text 68"/>
          <p:cNvSpPr txBox="1"/>
          <p:nvPr/>
        </p:nvSpPr>
        <p:spPr>
          <a:xfrm>
            <a:off x="2103120" y="5104638"/>
            <a:ext cx="9537192" cy="274320"/>
          </a:xfrm>
          <a:prstGeom prst="rect">
            <a:avLst/>
          </a:prstGeom>
          <a:noFill/>
          <a:ln/>
        </p:spPr>
        <p:txBody>
          <a:bodyPr wrap="square" lIns="0" tIns="0" rIns="0" bIns="0" rtlCol="0" anchor="ctr"/>
          <a:lstStyle/>
          <a:p>
            <a:pPr indent="0" marL="0">
              <a:buNone/>
            </a:pPr>
            <a:r>
              <a:rPr lang="en-US" sz="1400" i="1" dirty="0">
                <a:solidFill>
                  <a:schemeClr val="accent5"/>
                </a:solidFill>
              </a:rPr>
              <a:t>Un bien qui vient d’être rénové.</a:t>
            </a:r>
            <a:endParaRPr lang="en-US" sz="1400" dirty="0"/>
          </a:p>
        </p:txBody>
      </p:sp>
      <p:sp>
        <p:nvSpPr>
          <p:cNvPr id="72" name="Shape 69"/>
          <p:cNvSpPr/>
          <p:nvPr/>
        </p:nvSpPr>
        <p:spPr>
          <a:xfrm>
            <a:off x="548640" y="5565648"/>
            <a:ext cx="11091672" cy="725424"/>
          </a:xfrm>
          <a:prstGeom prst="roundRect">
            <a:avLst>
              <a:gd name="adj" fmla="val 10084"/>
            </a:avLst>
          </a:prstGeom>
          <a:solidFill>
            <a:schemeClr val="accent6">
              <a:alpha val="10000"/>
            </a:schemeClr>
          </a:solidFill>
          <a:ln w="9525">
            <a:solidFill>
              <a:schemeClr val="accent6">
                <a:alpha val="70000"/>
              </a:schemeClr>
            </a:solidFill>
            <a:prstDash val="solid"/>
          </a:ln>
        </p:spPr>
      </p:sp>
      <p:pic>
        <p:nvPicPr>
          <p:cNvPr id="73" name="Image 0" descr="preencoded.png">    </p:cNvPr>
          <p:cNvPicPr>
            <a:picLocks noChangeAspect="1"/>
          </p:cNvPicPr>
          <p:nvPr/>
        </p:nvPicPr>
        <p:blipFill>
          <a:blip r:embed="rId1"/>
          <a:stretch>
            <a:fillRect/>
          </a:stretch>
        </p:blipFill>
        <p:spPr>
          <a:xfrm>
            <a:off x="749808" y="5763768"/>
            <a:ext cx="329184" cy="329184"/>
          </a:xfrm>
          <a:prstGeom prst="rect">
            <a:avLst/>
          </a:prstGeom>
        </p:spPr>
      </p:pic>
      <p:sp>
        <p:nvSpPr>
          <p:cNvPr id="74" name="Text 70"/>
          <p:cNvSpPr txBox="1"/>
          <p:nvPr/>
        </p:nvSpPr>
        <p:spPr>
          <a:xfrm>
            <a:off x="1234440" y="5602224"/>
            <a:ext cx="10287000" cy="652272"/>
          </a:xfrm>
          <a:prstGeom prst="rect">
            <a:avLst/>
          </a:prstGeom>
          <a:noFill/>
          <a:ln/>
        </p:spPr>
        <p:txBody>
          <a:bodyPr wrap="square" lIns="0" tIns="0" rIns="0" bIns="0" rtlCol="0" anchor="ctr"/>
          <a:lstStyle/>
          <a:p>
            <a:pPr indent="0" marL="0">
              <a:buNone/>
            </a:pPr>
            <a:r>
              <a:rPr lang="en-US" sz="1700" b="1" dirty="0">
                <a:solidFill>
                  <a:schemeClr val="accent6"/>
                </a:solidFill>
              </a:rPr>
              <a:t>Piège pour francophones — </a:t>
            </a:r>
            <a:r>
              <a:rPr lang="en-US" sz="1700" dirty="0">
                <a:solidFill>
                  <a:schemeClr val="tx1"/>
                </a:solidFill>
              </a:rPr>
              <a:t>Le français place le verbe juste après </a:t>
            </a:r>
            <a:r>
              <a:rPr lang="en-US" sz="1700" i="1" dirty="0">
                <a:solidFill>
                  <a:schemeClr val="tx1"/>
                </a:solidFill>
              </a:rPr>
              <a:t>qui</a:t>
            </a:r>
            <a:r>
              <a:rPr lang="en-US" sz="1700" dirty="0">
                <a:solidFill>
                  <a:schemeClr val="tx1"/>
                </a:solidFill>
              </a:rPr>
              <a:t> : </a:t>
            </a:r>
            <a:r>
              <a:rPr lang="en-US" sz="1700" i="1" dirty="0">
                <a:solidFill>
                  <a:schemeClr val="tx1"/>
                </a:solidFill>
              </a:rPr>
              <a:t>la maison </a:t>
            </a:r>
            <a:r>
              <a:rPr lang="en-US" sz="1700" b="1" i="1" dirty="0">
                <a:solidFill>
                  <a:schemeClr val="tx1"/>
                </a:solidFill>
              </a:rPr>
              <a:t>qui est</a:t>
            </a:r>
            <a:r>
              <a:rPr lang="en-US" sz="1700" i="1" dirty="0">
                <a:solidFill>
                  <a:schemeClr val="tx1"/>
                </a:solidFill>
              </a:rPr>
              <a:t> près de la gare</a:t>
            </a:r>
            <a:r>
              <a:rPr lang="en-US" sz="1700" dirty="0">
                <a:solidFill>
                  <a:schemeClr val="tx1"/>
                </a:solidFill>
              </a:rPr>
              <a:t>. Le néerlandais le </a:t>
            </a:r>
            <a:r>
              <a:rPr lang="en-US" sz="1700" b="1" dirty="0">
                <a:solidFill>
                  <a:schemeClr val="tx1"/>
                </a:solidFill>
              </a:rPr>
              <a:t>repousse en fin de relative</a:t>
            </a:r>
            <a:r>
              <a:rPr lang="en-US" sz="1700" dirty="0">
                <a:solidFill>
                  <a:schemeClr val="tx1"/>
                </a:solidFill>
              </a:rPr>
              <a:t> : </a:t>
            </a:r>
            <a:r>
              <a:rPr lang="en-US" sz="1700" i="1" dirty="0">
                <a:solidFill>
                  <a:schemeClr val="tx1"/>
                </a:solidFill>
              </a:rPr>
              <a:t>de woning die vlak bij het station </a:t>
            </a:r>
            <a:r>
              <a:rPr lang="en-US" sz="1700" b="1" i="1" dirty="0">
                <a:solidFill>
                  <a:schemeClr val="tx1"/>
                </a:solidFill>
              </a:rPr>
              <a:t>ligt</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4 Lezen — Drie zoekertjes onder de loep</a:t>
            </a:r>
            <a:endParaRPr lang="en-US" sz="3200" dirty="0"/>
          </a:p>
        </p:txBody>
      </p:sp>
      <p:sp>
        <p:nvSpPr>
          <p:cNvPr id="3" name="tag"/>
          <p:cNvSpPr/>
          <p:nvPr/>
        </p:nvSpPr>
        <p:spPr>
          <a:xfrm>
            <a:off x="548640" y="237744"/>
            <a:ext cx="1280160"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chemeClr val="bg1"/>
                </a:solidFill>
              </a:rPr>
              <a:t>COUCHE 1</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6" name="Shape 3"/>
          <p:cNvSpPr/>
          <p:nvPr/>
        </p:nvSpPr>
        <p:spPr>
          <a:xfrm>
            <a:off x="548640" y="1481328"/>
            <a:ext cx="7406640" cy="4809744"/>
          </a:xfrm>
          <a:prstGeom prst="rect">
            <a:avLst/>
          </a:prstGeom>
          <a:solidFill>
            <a:schemeClr val="bg1"/>
          </a:solidFill>
          <a:ln w="12700">
            <a:solidFill>
              <a:srgbClr val="4A5A70"/>
            </a:solidFill>
            <a:prstDash val="dash"/>
          </a:ln>
        </p:spPr>
      </p:sp>
      <p:sp>
        <p:nvSpPr>
          <p:cNvPr id="7" name="tag"/>
          <p:cNvSpPr/>
          <p:nvPr/>
        </p:nvSpPr>
        <p:spPr>
          <a:xfrm>
            <a:off x="777240" y="1645920"/>
            <a:ext cx="1508760"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chemeClr val="bg1"/>
                </a:solidFill>
              </a:rPr>
              <a:t>ZOEKERTJES</a:t>
            </a:r>
            <a:endParaRPr lang="en-US" sz="1200" dirty="0"/>
          </a:p>
        </p:txBody>
      </p:sp>
      <p:sp>
        <p:nvSpPr>
          <p:cNvPr id="8" name="Text 5"/>
          <p:cNvSpPr txBox="1"/>
          <p:nvPr/>
        </p:nvSpPr>
        <p:spPr>
          <a:xfrm>
            <a:off x="2514600" y="1609344"/>
            <a:ext cx="5349240" cy="384048"/>
          </a:xfrm>
          <a:prstGeom prst="rect">
            <a:avLst/>
          </a:prstGeom>
          <a:noFill/>
          <a:ln/>
        </p:spPr>
        <p:txBody>
          <a:bodyPr wrap="square" lIns="0" tIns="0" rIns="0" bIns="0" rtlCol="0" anchor="ctr"/>
          <a:lstStyle/>
          <a:p>
            <a:pPr indent="0" marL="0">
              <a:buNone/>
            </a:pPr>
            <a:r>
              <a:rPr lang="en-US" sz="1800" b="1" dirty="0">
                <a:solidFill>
                  <a:schemeClr val="accent5"/>
                </a:solidFill>
                <a:latin typeface="+mj-lt" pitchFamily="34" charset="0"/>
                <a:ea typeface="+mj-lt" pitchFamily="34" charset="-122"/>
                <a:cs typeface="+mj-lt" pitchFamily="34" charset="-120"/>
              </a:rPr>
              <a:t>Drie annonces : Sint-Gillis · Elsene · Vorst</a:t>
            </a:r>
            <a:endParaRPr lang="en-US" sz="1800" dirty="0"/>
          </a:p>
        </p:txBody>
      </p:sp>
      <p:sp>
        <p:nvSpPr>
          <p:cNvPr id="9" name="Text 6"/>
          <p:cNvSpPr txBox="1"/>
          <p:nvPr/>
        </p:nvSpPr>
        <p:spPr>
          <a:xfrm>
            <a:off x="777240" y="2148840"/>
            <a:ext cx="6949440" cy="4023360"/>
          </a:xfrm>
          <a:prstGeom prst="rect">
            <a:avLst/>
          </a:prstGeom>
          <a:noFill/>
          <a:ln/>
        </p:spPr>
        <p:txBody>
          <a:bodyPr wrap="square" lIns="0" tIns="0" rIns="0" bIns="0" rtlCol="0" anchor="t"/>
          <a:lstStyle/>
          <a:p>
            <a:pPr indent="0" marL="0">
              <a:spcAft>
                <a:spcPts val="800"/>
              </a:spcAft>
              <a:buNone/>
            </a:pPr>
            <a:r>
              <a:rPr lang="en-US" sz="2100" b="1" dirty="0">
                <a:solidFill>
                  <a:schemeClr val="tx2"/>
                </a:solidFill>
              </a:rPr>
              <a:t>A   </a:t>
            </a:r>
            <a:r>
              <a:rPr lang="en-US" sz="2100" dirty="0">
                <a:solidFill>
                  <a:schemeClr val="tx1"/>
                </a:solidFill>
              </a:rPr>
              <a:t>TE KOOP — Sint-Gillis. Rijhuis (150 m²) dat volledig gerenoveerd is. 3 slpk., woonkamer met open keuken, stadstuin die op het zuiden ligt. EPC: B. Instapklaar. Vraagprijs: € 425.000.</a:t>
            </a:r>
            <a:endParaRPr lang="en-US" sz="2100" dirty="0"/>
          </a:p>
          <a:p>
            <a:pPr indent="0" marL="0">
              <a:spcAft>
                <a:spcPts val="800"/>
              </a:spcAft>
              <a:buNone/>
            </a:pPr>
            <a:r>
              <a:rPr lang="en-US" sz="2100" b="1" dirty="0">
                <a:solidFill>
                  <a:schemeClr val="tx2"/>
                </a:solidFill>
              </a:rPr>
              <a:t>B   </a:t>
            </a:r>
            <a:r>
              <a:rPr lang="en-US" sz="2100" dirty="0">
                <a:solidFill>
                  <a:schemeClr val="tx1"/>
                </a:solidFill>
              </a:rPr>
              <a:t>TE HUUR — Elsene. Licht appartement op de derde verdieping (geen lift). 2 slpk., badkamer die vernieuwd werd in 2024, kelder. Huurprijs: € 1.250/maand + € 150 kosten. Vrij vanaf 1 september.</a:t>
            </a:r>
            <a:endParaRPr lang="en-US" sz="2100" dirty="0"/>
          </a:p>
          <a:p>
            <a:pPr indent="0" marL="0">
              <a:spcAft>
                <a:spcPts val="800"/>
              </a:spcAft>
              <a:buNone/>
            </a:pPr>
            <a:r>
              <a:rPr lang="en-US" sz="2100" b="1" dirty="0">
                <a:solidFill>
                  <a:schemeClr val="tx2"/>
                </a:solidFill>
              </a:rPr>
              <a:t>C   </a:t>
            </a:r>
            <a:r>
              <a:rPr lang="en-US" sz="2100" dirty="0">
                <a:solidFill>
                  <a:schemeClr val="tx1"/>
                </a:solidFill>
              </a:rPr>
              <a:t>TE KOOP — Vorst. Op te frissen appartement dat veel potentieel heeft. 1 slpk., terras van 8 m². Ideaal voor een investeerder die aan verhuren denkt. Vraagprijs: € 189.000.</a:t>
            </a:r>
            <a:endParaRPr lang="en-US" sz="2100" dirty="0"/>
          </a:p>
        </p:txBody>
      </p:sp>
      <p:sp>
        <p:nvSpPr>
          <p:cNvPr id="10" name="aside"/>
          <p:cNvSpPr/>
          <p:nvPr/>
        </p:nvSpPr>
        <p:spPr>
          <a:xfrm>
            <a:off x="8275320" y="1481328"/>
            <a:ext cx="3364992" cy="4809744"/>
          </a:xfrm>
          <a:prstGeom prst="roundRect">
            <a:avLst>
              <a:gd name="adj" fmla="val 2174"/>
            </a:avLst>
          </a:prstGeom>
          <a:solidFill>
            <a:schemeClr val="accent3">
              <a:alpha val="10000"/>
            </a:schemeClr>
          </a:solidFill>
          <a:ln w="12700">
            <a:solidFill>
              <a:schemeClr val="accent3">
                <a:alpha val="60000"/>
              </a:schemeClr>
            </a:solidFill>
            <a:prstDash val="solid"/>
          </a:ln>
        </p:spPr>
      </p:sp>
      <p:pic>
        <p:nvPicPr>
          <p:cNvPr id="11" name="Image 0" descr="preencoded.png">    </p:cNvPr>
          <p:cNvPicPr>
            <a:picLocks noChangeAspect="1"/>
          </p:cNvPicPr>
          <p:nvPr/>
        </p:nvPicPr>
        <p:blipFill>
          <a:blip r:embed="rId1"/>
          <a:stretch>
            <a:fillRect/>
          </a:stretch>
        </p:blipFill>
        <p:spPr>
          <a:xfrm>
            <a:off x="8458200" y="1664208"/>
            <a:ext cx="292608" cy="292608"/>
          </a:xfrm>
          <a:prstGeom prst="rect">
            <a:avLst/>
          </a:prstGeom>
        </p:spPr>
      </p:pic>
      <p:sp>
        <p:nvSpPr>
          <p:cNvPr id="12" name="Text 8"/>
          <p:cNvSpPr txBox="1"/>
          <p:nvPr/>
        </p:nvSpPr>
        <p:spPr>
          <a:xfrm>
            <a:off x="8842248" y="1636776"/>
            <a:ext cx="2633472" cy="347472"/>
          </a:xfrm>
          <a:prstGeom prst="rect">
            <a:avLst/>
          </a:prstGeom>
          <a:noFill/>
          <a:ln/>
        </p:spPr>
        <p:txBody>
          <a:bodyPr wrap="square" lIns="0" tIns="0" rIns="0" bIns="0" rtlCol="0" anchor="ctr"/>
          <a:lstStyle/>
          <a:p>
            <a:pPr indent="0" marL="0">
              <a:buNone/>
            </a:pPr>
            <a:r>
              <a:rPr lang="en-US" sz="1400" b="1" spc="100" kern="0" dirty="0">
                <a:solidFill>
                  <a:schemeClr val="accent3"/>
                </a:solidFill>
              </a:rPr>
              <a:t>LIRE COMME UN PRO</a:t>
            </a:r>
            <a:endParaRPr lang="en-US" sz="1400" dirty="0"/>
          </a:p>
        </p:txBody>
      </p:sp>
      <p:sp>
        <p:nvSpPr>
          <p:cNvPr id="13" name="Text 9"/>
          <p:cNvSpPr txBox="1"/>
          <p:nvPr/>
        </p:nvSpPr>
        <p:spPr>
          <a:xfrm>
            <a:off x="8439912" y="2075688"/>
            <a:ext cx="3035808" cy="4078224"/>
          </a:xfrm>
          <a:prstGeom prst="rect">
            <a:avLst/>
          </a:prstGeom>
          <a:noFill/>
          <a:ln/>
        </p:spPr>
        <p:txBody>
          <a:bodyPr wrap="square" lIns="0" tIns="0" rIns="0" bIns="0" rtlCol="0" anchor="t"/>
          <a:lstStyle/>
          <a:p>
            <a:pPr marL="177800" indent="-177800">
              <a:spcAft>
                <a:spcPts val="600"/>
              </a:spcAft>
              <a:buSzPct val="100000"/>
              <a:buChar char="•"/>
            </a:pPr>
            <a:r>
              <a:rPr lang="en-US" sz="1800" dirty="0">
                <a:solidFill>
                  <a:schemeClr val="tx1"/>
                </a:solidFill>
              </a:rPr>
              <a:t>Couche 1 · seul · 8 min</a:t>
            </a:r>
            <a:endParaRPr lang="en-US" sz="1800" dirty="0"/>
          </a:p>
          <a:p>
            <a:pPr marL="177800" indent="-177800">
              <a:spcAft>
                <a:spcPts val="600"/>
              </a:spcAft>
              <a:buSzPct val="100000"/>
              <a:buChar char="•"/>
            </a:pPr>
            <a:r>
              <a:rPr lang="en-US" sz="1800" dirty="0">
                <a:solidFill>
                  <a:schemeClr val="tx1"/>
                </a:solidFill>
              </a:rPr>
              <a:t>Repérez : </a:t>
            </a:r>
            <a:r>
              <a:rPr lang="en-US" sz="1800" b="1" dirty="0">
                <a:solidFill>
                  <a:schemeClr val="tx1"/>
                </a:solidFill>
              </a:rPr>
              <a:t>koop / huur</a:t>
            </a:r>
            <a:r>
              <a:rPr lang="en-US" sz="1800" dirty="0">
                <a:solidFill>
                  <a:schemeClr val="tx1"/>
                </a:solidFill>
              </a:rPr>
              <a:t>, prix, </a:t>
            </a:r>
            <a:r>
              <a:rPr lang="en-US" sz="1800" b="1" dirty="0">
                <a:solidFill>
                  <a:schemeClr val="tx1"/>
                </a:solidFill>
              </a:rPr>
              <a:t>slpk.</a:t>
            </a:r>
            <a:r>
              <a:rPr lang="en-US" sz="1800" dirty="0">
                <a:solidFill>
                  <a:schemeClr val="tx1"/>
                </a:solidFill>
              </a:rPr>
              <a:t>, relatives.</a:t>
            </a:r>
            <a:endParaRPr lang="en-US" sz="1800" dirty="0"/>
          </a:p>
          <a:p>
            <a:pPr marL="177800" indent="-177800">
              <a:spcAft>
                <a:spcPts val="600"/>
              </a:spcAft>
              <a:buSzPct val="100000"/>
              <a:buChar char="•"/>
            </a:pPr>
            <a:r>
              <a:rPr lang="en-US" sz="1800" dirty="0">
                <a:solidFill>
                  <a:schemeClr val="tx1"/>
                </a:solidFill>
              </a:rPr>
              <a:t>Questions 1 à 4 ensuite.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4 Les cinq relatives des trois annonces</a:t>
            </a:r>
            <a:endParaRPr lang="en-US" sz="3200" dirty="0"/>
          </a:p>
        </p:txBody>
      </p:sp>
      <p:sp>
        <p:nvSpPr>
          <p:cNvPr id="3" name="tag"/>
          <p:cNvSpPr/>
          <p:nvPr/>
        </p:nvSpPr>
        <p:spPr>
          <a:xfrm>
            <a:off x="548640" y="237744"/>
            <a:ext cx="1280160"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chemeClr val="bg1"/>
                </a:solidFill>
              </a:rPr>
              <a:t>COUCHE 2</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9</a:t>
            </a:r>
            <a:endParaRPr lang="en-US" sz="1200" dirty="0"/>
          </a:p>
        </p:txBody>
      </p:sp>
      <p:sp>
        <p:nvSpPr>
          <p:cNvPr id="6" name="Text 3"/>
          <p:cNvSpPr txBox="1"/>
          <p:nvPr/>
        </p:nvSpPr>
        <p:spPr>
          <a:xfrm>
            <a:off x="548640" y="1481328"/>
            <a:ext cx="11091672" cy="344424"/>
          </a:xfrm>
          <a:prstGeom prst="rect">
            <a:avLst/>
          </a:prstGeom>
          <a:noFill/>
          <a:ln/>
        </p:spPr>
        <p:txBody>
          <a:bodyPr wrap="square" lIns="0" tIns="0" rIns="0" bIns="0" rtlCol="0" anchor="t"/>
          <a:lstStyle/>
          <a:p>
            <a:pPr indent="0" marL="0">
              <a:buNone/>
            </a:pPr>
            <a:r>
              <a:rPr lang="en-US" sz="1600" i="1" dirty="0">
                <a:solidFill>
                  <a:schemeClr val="accent5"/>
                </a:solidFill>
              </a:rPr>
              <a:t>Soulignez les </a:t>
            </a:r>
            <a:r>
              <a:rPr lang="en-US" sz="1600" b="1" i="1" dirty="0">
                <a:solidFill>
                  <a:schemeClr val="accent5"/>
                </a:solidFill>
              </a:rPr>
              <a:t>cinq relatives</a:t>
            </a:r>
            <a:r>
              <a:rPr lang="en-US" sz="1600" i="1" dirty="0">
                <a:solidFill>
                  <a:schemeClr val="accent5"/>
                </a:solidFill>
              </a:rPr>
              <a:t> : pour chacune, </a:t>
            </a:r>
            <a:r>
              <a:rPr lang="en-US" sz="1600" b="1" i="1" dirty="0">
                <a:solidFill>
                  <a:schemeClr val="accent5"/>
                </a:solidFill>
              </a:rPr>
              <a:t>die ou dat</a:t>
            </a:r>
            <a:r>
              <a:rPr lang="en-US" sz="1600" i="1" dirty="0">
                <a:solidFill>
                  <a:schemeClr val="accent5"/>
                </a:solidFill>
              </a:rPr>
              <a:t> — et </a:t>
            </a:r>
            <a:r>
              <a:rPr lang="en-US" sz="1600" b="1" i="1" dirty="0">
                <a:solidFill>
                  <a:schemeClr val="accent5"/>
                </a:solidFill>
              </a:rPr>
              <a:t>pourquoi</a:t>
            </a:r>
            <a:r>
              <a:rPr lang="en-US" sz="1600" i="1" dirty="0">
                <a:solidFill>
                  <a:schemeClr val="accent5"/>
                </a:solidFill>
              </a:rPr>
              <a:t> ?</a:t>
            </a:r>
            <a:endParaRPr lang="en-US"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917192"/>
          <a:ext cx="11091672" cy="914400"/>
        </p:xfrm>
        <a:graphic>
          <a:graphicData uri="http://schemas.openxmlformats.org/drawingml/2006/table">
            <a:tbl>
              <a:tblPr/>
              <a:tblGrid>
                <a:gridCol w="640080"/>
                <a:gridCol w="5577840"/>
                <a:gridCol w="4873752"/>
              </a:tblGrid>
              <a:tr h="619963">
                <a:tc>
                  <a:txBody>
                    <a:bodyPr/>
                    <a:lstStyle/>
                    <a:p>
                      <a:pPr algn="l" indent="0" marL="0">
                        <a:buNone/>
                      </a:pP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EXTRAIT DE L’ANNONCE</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POURQUOI ?</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21208">
                <a:tc>
                  <a:txBody>
                    <a:bodyPr/>
                    <a:lstStyle/>
                    <a:p>
                      <a:pPr algn="ctr" indent="0" marL="0">
                        <a:buNone/>
                      </a:pPr>
                      <a:r>
                        <a:rPr lang="en-US" sz="2000" b="1" dirty="0">
                          <a:solidFill>
                            <a:schemeClr val="tx1"/>
                          </a:solidFill>
                        </a:rPr>
                        <a:t>A</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Rijhuis (150 m²) </a:t>
                      </a:r>
                      <a:r>
                        <a:rPr lang="en-US" sz="2000" dirty="0">
                          <a:solidFill>
                            <a:schemeClr val="accent5"/>
                          </a:solidFill>
                        </a:rPr>
                        <a:t>……………</a:t>
                      </a:r>
                      <a:r>
                        <a:rPr lang="en-US" sz="2000" dirty="0">
                          <a:solidFill>
                            <a:schemeClr val="tx1"/>
                          </a:solidFill>
                        </a:rPr>
                        <a:t> volledig gerenoveerd is.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521208">
                <a:tc>
                  <a:txBody>
                    <a:bodyPr/>
                    <a:lstStyle/>
                    <a:p>
                      <a:pPr algn="ctr" indent="0" marL="0">
                        <a:buNone/>
                      </a:pPr>
                      <a:r>
                        <a:rPr lang="en-US" sz="2000" b="1" dirty="0">
                          <a:solidFill>
                            <a:schemeClr val="tx1"/>
                          </a:solidFill>
                        </a:rPr>
                        <a:t>A</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Stadstuin </a:t>
                      </a:r>
                      <a:r>
                        <a:rPr lang="en-US" sz="2000" dirty="0">
                          <a:solidFill>
                            <a:schemeClr val="accent5"/>
                          </a:solidFill>
                        </a:rPr>
                        <a:t>……………</a:t>
                      </a:r>
                      <a:r>
                        <a:rPr lang="en-US" sz="2000" dirty="0">
                          <a:solidFill>
                            <a:schemeClr val="tx1"/>
                          </a:solidFill>
                        </a:rPr>
                        <a:t> op het zuiden ligt.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521208">
                <a:tc>
                  <a:txBody>
                    <a:bodyPr/>
                    <a:lstStyle/>
                    <a:p>
                      <a:pPr algn="ctr" indent="0" marL="0">
                        <a:buNone/>
                      </a:pPr>
                      <a:r>
                        <a:rPr lang="en-US" sz="2000" b="1" dirty="0">
                          <a:solidFill>
                            <a:schemeClr val="tx1"/>
                          </a:solidFill>
                        </a:rPr>
                        <a:t>B</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Badkamer </a:t>
                      </a:r>
                      <a:r>
                        <a:rPr lang="en-US" sz="2000" dirty="0">
                          <a:solidFill>
                            <a:schemeClr val="accent5"/>
                          </a:solidFill>
                        </a:rPr>
                        <a:t>……………</a:t>
                      </a:r>
                      <a:r>
                        <a:rPr lang="en-US" sz="2000" dirty="0">
                          <a:solidFill>
                            <a:schemeClr val="tx1"/>
                          </a:solidFill>
                        </a:rPr>
                        <a:t> vernieuwd werd in 2024.</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30275">
                <a:tc>
                  <a:txBody>
                    <a:bodyPr/>
                    <a:lstStyle/>
                    <a:p>
                      <a:pPr algn="ctr" indent="0" marL="0">
                        <a:buNone/>
                      </a:pPr>
                      <a:r>
                        <a:rPr lang="en-US" sz="2000" b="1" dirty="0">
                          <a:solidFill>
                            <a:schemeClr val="tx1"/>
                          </a:solidFill>
                        </a:rPr>
                        <a:t>C</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Op te frissen appartement </a:t>
                      </a:r>
                      <a:r>
                        <a:rPr lang="en-US" sz="2000" dirty="0">
                          <a:solidFill>
                            <a:schemeClr val="accent5"/>
                          </a:solidFill>
                        </a:rPr>
                        <a:t>……………</a:t>
                      </a:r>
                      <a:r>
                        <a:rPr lang="en-US" sz="2000" dirty="0">
                          <a:solidFill>
                            <a:schemeClr val="tx1"/>
                          </a:solidFill>
                        </a:rPr>
                        <a:t> veel potentieel heeft.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30275">
                <a:tc>
                  <a:txBody>
                    <a:bodyPr/>
                    <a:lstStyle/>
                    <a:p>
                      <a:pPr algn="ctr" indent="0" marL="0">
                        <a:buNone/>
                      </a:pPr>
                      <a:r>
                        <a:rPr lang="en-US" sz="2000" b="1" dirty="0">
                          <a:solidFill>
                            <a:schemeClr val="tx1"/>
                          </a:solidFill>
                        </a:rPr>
                        <a:t>C</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Ideaal voor een investeerder </a:t>
                      </a:r>
                      <a:r>
                        <a:rPr lang="en-US" sz="2000" dirty="0">
                          <a:solidFill>
                            <a:schemeClr val="accent5"/>
                          </a:solidFill>
                        </a:rPr>
                        <a:t>……………</a:t>
                      </a:r>
                      <a:r>
                        <a:rPr lang="en-US" sz="2000" dirty="0">
                          <a:solidFill>
                            <a:schemeClr val="tx1"/>
                          </a:solidFill>
                        </a:rPr>
                        <a:t> aan verhuren denkt.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8" name="Text 4"/>
          <p:cNvSpPr txBox="1"/>
          <p:nvPr/>
        </p:nvSpPr>
        <p:spPr>
          <a:xfrm>
            <a:off x="548640" y="5897880"/>
            <a:ext cx="11091672" cy="393192"/>
          </a:xfrm>
          <a:prstGeom prst="rect">
            <a:avLst/>
          </a:prstGeom>
          <a:noFill/>
          <a:ln/>
        </p:spPr>
        <p:txBody>
          <a:bodyPr wrap="square" lIns="0" tIns="0" rIns="0" bIns="0" rtlCol="0" anchor="b"/>
          <a:lstStyle/>
          <a:p>
            <a:pPr indent="0" marL="0">
              <a:buNone/>
            </a:pPr>
            <a:r>
              <a:rPr lang="en-US" sz="1500" i="1" dirty="0">
                <a:solidFill>
                  <a:schemeClr val="accent5"/>
                </a:solidFill>
              </a:rPr>
              <a:t>Dans chaque relative, entourez le </a:t>
            </a:r>
            <a:r>
              <a:rPr lang="en-US" sz="1500" b="1" i="1" dirty="0">
                <a:solidFill>
                  <a:schemeClr val="accent5"/>
                </a:solidFill>
              </a:rPr>
              <a:t>verbe</a:t>
            </a:r>
            <a:r>
              <a:rPr lang="en-US" sz="1500" i="1" dirty="0">
                <a:solidFill>
                  <a:schemeClr val="accent5"/>
                </a:solidFill>
              </a:rPr>
              <a:t> : il est </a:t>
            </a:r>
            <a:r>
              <a:rPr lang="en-US" sz="1500" b="1" i="1" dirty="0">
                <a:solidFill>
                  <a:schemeClr val="accent5"/>
                </a:solidFill>
              </a:rPr>
              <a:t>à la fin</a:t>
            </a:r>
            <a:r>
              <a:rPr lang="en-US" sz="1500" i="1" dirty="0">
                <a:solidFill>
                  <a:schemeClr val="accent5"/>
                </a:solidFill>
              </a:rPr>
              <a:t> (is · ligt · werd · heeft · denkt).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4 Les cinq relatives des trois annonces</a:t>
            </a:r>
            <a:endParaRPr lang="en-US" sz="3200" dirty="0"/>
          </a:p>
        </p:txBody>
      </p:sp>
      <p:sp>
        <p:nvSpPr>
          <p:cNvPr id="3" name="tag"/>
          <p:cNvSpPr/>
          <p:nvPr/>
        </p:nvSpPr>
        <p:spPr>
          <a:xfrm>
            <a:off x="548640" y="237744"/>
            <a:ext cx="1280160"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chemeClr val="bg1"/>
                </a:solidFill>
              </a:rPr>
              <a:t>COUCHE 2</a:t>
            </a:r>
            <a:endParaRPr lang="en-US" sz="1200" dirty="0"/>
          </a:p>
        </p:txBody>
      </p:sp>
      <p:sp>
        <p:nvSpPr>
          <p:cNvPr id="4" name="tag"/>
          <p:cNvSpPr/>
          <p:nvPr/>
        </p:nvSpPr>
        <p:spPr>
          <a:xfrm>
            <a:off x="1938528" y="237744"/>
            <a:ext cx="1760220"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chemeClr val="bg1"/>
                </a:solidFill>
              </a:rPr>
              <a:t>✓ CORRECTIE</a:t>
            </a:r>
            <a:endParaRPr lang="en-US" sz="1200" dirty="0"/>
          </a:p>
        </p:txBody>
      </p:sp>
      <p:sp>
        <p:nvSpPr>
          <p:cNvPr id="5" name="Text 3"/>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9</a:t>
            </a:r>
            <a:endParaRPr lang="en-US" sz="1200" dirty="0"/>
          </a:p>
        </p:txBody>
      </p:sp>
      <p:sp>
        <p:nvSpPr>
          <p:cNvPr id="7" name="Text 4"/>
          <p:cNvSpPr txBox="1"/>
          <p:nvPr/>
        </p:nvSpPr>
        <p:spPr>
          <a:xfrm>
            <a:off x="548640" y="1481328"/>
            <a:ext cx="11091672" cy="344424"/>
          </a:xfrm>
          <a:prstGeom prst="rect">
            <a:avLst/>
          </a:prstGeom>
          <a:noFill/>
          <a:ln/>
        </p:spPr>
        <p:txBody>
          <a:bodyPr wrap="square" lIns="0" tIns="0" rIns="0" bIns="0" rtlCol="0" anchor="t"/>
          <a:lstStyle/>
          <a:p>
            <a:pPr indent="0" marL="0">
              <a:buNone/>
            </a:pPr>
            <a:r>
              <a:rPr lang="en-US" sz="1600" i="1" dirty="0">
                <a:solidFill>
                  <a:schemeClr val="accent5"/>
                </a:solidFill>
              </a:rPr>
              <a:t>Soulignez les </a:t>
            </a:r>
            <a:r>
              <a:rPr lang="en-US" sz="1600" b="1" i="1" dirty="0">
                <a:solidFill>
                  <a:schemeClr val="accent5"/>
                </a:solidFill>
              </a:rPr>
              <a:t>cinq relatives</a:t>
            </a:r>
            <a:r>
              <a:rPr lang="en-US" sz="1600" i="1" dirty="0">
                <a:solidFill>
                  <a:schemeClr val="accent5"/>
                </a:solidFill>
              </a:rPr>
              <a:t> : pour chacune, </a:t>
            </a:r>
            <a:r>
              <a:rPr lang="en-US" sz="1600" b="1" i="1" dirty="0">
                <a:solidFill>
                  <a:schemeClr val="accent5"/>
                </a:solidFill>
              </a:rPr>
              <a:t>die ou dat</a:t>
            </a:r>
            <a:r>
              <a:rPr lang="en-US" sz="1600" i="1" dirty="0">
                <a:solidFill>
                  <a:schemeClr val="accent5"/>
                </a:solidFill>
              </a:rPr>
              <a:t> — et </a:t>
            </a:r>
            <a:r>
              <a:rPr lang="en-US" sz="1600" b="1" i="1" dirty="0">
                <a:solidFill>
                  <a:schemeClr val="accent5"/>
                </a:solidFill>
              </a:rPr>
              <a:t>pourquoi</a:t>
            </a:r>
            <a:r>
              <a:rPr lang="en-US" sz="1600" i="1" dirty="0">
                <a:solidFill>
                  <a:schemeClr val="accent5"/>
                </a:solidFill>
              </a:rPr>
              <a:t> ?</a:t>
            </a:r>
            <a:endParaRPr lang="en-US" sz="1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917192"/>
          <a:ext cx="11091672" cy="914400"/>
        </p:xfrm>
        <a:graphic>
          <a:graphicData uri="http://schemas.openxmlformats.org/drawingml/2006/table">
            <a:tbl>
              <a:tblPr/>
              <a:tblGrid>
                <a:gridCol w="640080"/>
                <a:gridCol w="5577840"/>
                <a:gridCol w="4873752"/>
              </a:tblGrid>
              <a:tr h="619963">
                <a:tc>
                  <a:txBody>
                    <a:bodyPr/>
                    <a:lstStyle/>
                    <a:p>
                      <a:pPr algn="l" indent="0" marL="0">
                        <a:buNone/>
                      </a:pP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EXTRAIT DE L’ANNONCE</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POURQUOI ?</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21208">
                <a:tc>
                  <a:txBody>
                    <a:bodyPr/>
                    <a:lstStyle/>
                    <a:p>
                      <a:pPr algn="ctr" indent="0" marL="0">
                        <a:buNone/>
                      </a:pPr>
                      <a:r>
                        <a:rPr lang="en-US" sz="2000" b="1" dirty="0">
                          <a:solidFill>
                            <a:schemeClr val="tx1"/>
                          </a:solidFill>
                        </a:rPr>
                        <a:t>A</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Rijhuis (150 m²) </a:t>
                      </a:r>
                      <a:r>
                        <a:rPr lang="en-US" sz="2000" b="1" dirty="0">
                          <a:solidFill>
                            <a:schemeClr val="accent3"/>
                          </a:solidFill>
                        </a:rPr>
                        <a:t>dat</a:t>
                      </a:r>
                      <a:r>
                        <a:rPr lang="en-US" sz="2000" dirty="0">
                          <a:solidFill>
                            <a:schemeClr val="tx1"/>
                          </a:solidFill>
                        </a:rPr>
                        <a:t> volledig gerenoveerd is.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het rijhuis : het-woord, singulier</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521208">
                <a:tc>
                  <a:txBody>
                    <a:bodyPr/>
                    <a:lstStyle/>
                    <a:p>
                      <a:pPr algn="ctr" indent="0" marL="0">
                        <a:buNone/>
                      </a:pPr>
                      <a:r>
                        <a:rPr lang="en-US" sz="2000" b="1" dirty="0">
                          <a:solidFill>
                            <a:schemeClr val="tx1"/>
                          </a:solidFill>
                        </a:rPr>
                        <a:t>A</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Stadstuin </a:t>
                      </a:r>
                      <a:r>
                        <a:rPr lang="en-US" sz="2000" b="1" dirty="0">
                          <a:solidFill>
                            <a:schemeClr val="accent3"/>
                          </a:solidFill>
                        </a:rPr>
                        <a:t>die</a:t>
                      </a:r>
                      <a:r>
                        <a:rPr lang="en-US" sz="2000" dirty="0">
                          <a:solidFill>
                            <a:schemeClr val="tx1"/>
                          </a:solidFill>
                        </a:rPr>
                        <a:t> op het zuiden ligt.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de stadstuin : de-woord</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521208">
                <a:tc>
                  <a:txBody>
                    <a:bodyPr/>
                    <a:lstStyle/>
                    <a:p>
                      <a:pPr algn="ctr" indent="0" marL="0">
                        <a:buNone/>
                      </a:pPr>
                      <a:r>
                        <a:rPr lang="en-US" sz="2000" b="1" dirty="0">
                          <a:solidFill>
                            <a:schemeClr val="tx1"/>
                          </a:solidFill>
                        </a:rPr>
                        <a:t>B</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Badkamer </a:t>
                      </a:r>
                      <a:r>
                        <a:rPr lang="en-US" sz="2000" b="1" dirty="0">
                          <a:solidFill>
                            <a:schemeClr val="accent3"/>
                          </a:solidFill>
                        </a:rPr>
                        <a:t>die</a:t>
                      </a:r>
                      <a:r>
                        <a:rPr lang="en-US" sz="2000" dirty="0">
                          <a:solidFill>
                            <a:schemeClr val="tx1"/>
                          </a:solidFill>
                        </a:rPr>
                        <a:t> vernieuwd werd in 2024.</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de badkamer : de-woord</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30275">
                <a:tc>
                  <a:txBody>
                    <a:bodyPr/>
                    <a:lstStyle/>
                    <a:p>
                      <a:pPr algn="ctr" indent="0" marL="0">
                        <a:buNone/>
                      </a:pPr>
                      <a:r>
                        <a:rPr lang="en-US" sz="2000" b="1" dirty="0">
                          <a:solidFill>
                            <a:schemeClr val="tx1"/>
                          </a:solidFill>
                        </a:rPr>
                        <a:t>C</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Op te frissen appartement </a:t>
                      </a:r>
                      <a:r>
                        <a:rPr lang="en-US" sz="2000" b="1" dirty="0">
                          <a:solidFill>
                            <a:schemeClr val="accent3"/>
                          </a:solidFill>
                        </a:rPr>
                        <a:t>dat</a:t>
                      </a:r>
                      <a:r>
                        <a:rPr lang="en-US" sz="2000" dirty="0">
                          <a:solidFill>
                            <a:schemeClr val="tx1"/>
                          </a:solidFill>
                        </a:rPr>
                        <a:t> veel potentieel heeft.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het appartement : het-woord, singulier</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30275">
                <a:tc>
                  <a:txBody>
                    <a:bodyPr/>
                    <a:lstStyle/>
                    <a:p>
                      <a:pPr algn="ctr" indent="0" marL="0">
                        <a:buNone/>
                      </a:pPr>
                      <a:r>
                        <a:rPr lang="en-US" sz="2000" b="1" dirty="0">
                          <a:solidFill>
                            <a:schemeClr val="tx1"/>
                          </a:solidFill>
                        </a:rPr>
                        <a:t>C</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Ideaal voor een investeerder </a:t>
                      </a:r>
                      <a:r>
                        <a:rPr lang="en-US" sz="2000" b="1" dirty="0">
                          <a:solidFill>
                            <a:schemeClr val="accent3"/>
                          </a:solidFill>
                        </a:rPr>
                        <a:t>die</a:t>
                      </a:r>
                      <a:r>
                        <a:rPr lang="en-US" sz="2000" dirty="0">
                          <a:solidFill>
                            <a:schemeClr val="tx1"/>
                          </a:solidFill>
                        </a:rPr>
                        <a:t> aan verhuren denkt.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de investeerder : de-woord</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9" name="Text 5"/>
          <p:cNvSpPr txBox="1"/>
          <p:nvPr/>
        </p:nvSpPr>
        <p:spPr>
          <a:xfrm>
            <a:off x="548640" y="5897880"/>
            <a:ext cx="11091672" cy="393192"/>
          </a:xfrm>
          <a:prstGeom prst="rect">
            <a:avLst/>
          </a:prstGeom>
          <a:noFill/>
          <a:ln/>
        </p:spPr>
        <p:txBody>
          <a:bodyPr wrap="square" lIns="0" tIns="0" rIns="0" bIns="0" rtlCol="0" anchor="b"/>
          <a:lstStyle/>
          <a:p>
            <a:pPr indent="0" marL="0">
              <a:buNone/>
            </a:pPr>
            <a:r>
              <a:rPr lang="en-US" sz="1500" i="1" dirty="0">
                <a:solidFill>
                  <a:schemeClr val="accent5"/>
                </a:solidFill>
              </a:rPr>
              <a:t>Dans chaque relative, entourez le </a:t>
            </a:r>
            <a:r>
              <a:rPr lang="en-US" sz="1500" b="1" i="1" dirty="0">
                <a:solidFill>
                  <a:schemeClr val="accent5"/>
                </a:solidFill>
              </a:rPr>
              <a:t>verbe</a:t>
            </a:r>
            <a:r>
              <a:rPr lang="en-US" sz="1500" i="1" dirty="0">
                <a:solidFill>
                  <a:schemeClr val="accent5"/>
                </a:solidFill>
              </a:rPr>
              <a:t> : il est </a:t>
            </a:r>
            <a:r>
              <a:rPr lang="en-US" sz="1500" b="1" i="1" dirty="0">
                <a:solidFill>
                  <a:schemeClr val="accent5"/>
                </a:solidFill>
              </a:rPr>
              <a:t>à la fin</a:t>
            </a:r>
            <a:r>
              <a:rPr lang="en-US" sz="1500" i="1" dirty="0">
                <a:solidFill>
                  <a:schemeClr val="accent5"/>
                </a:solidFill>
              </a:rPr>
              <a:t> (is · ligt · werd · heeft · denkt).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4 Questions 1, 3 et 4 — comprendre les annonces</a:t>
            </a:r>
            <a:endParaRPr lang="en-US" sz="3200" dirty="0"/>
          </a:p>
        </p:txBody>
      </p:sp>
      <p:sp>
        <p:nvSpPr>
          <p:cNvPr id="3" name="tag"/>
          <p:cNvSpPr/>
          <p:nvPr/>
        </p:nvSpPr>
        <p:spPr>
          <a:xfrm>
            <a:off x="548640" y="237744"/>
            <a:ext cx="1280160"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chemeClr val="bg1"/>
                </a:solidFill>
              </a:rPr>
              <a:t>COUCHE 1</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9–10</a:t>
            </a:r>
            <a:endParaRPr lang="en-US" sz="1200" dirty="0"/>
          </a:p>
        </p:txBody>
      </p:sp>
      <p:sp>
        <p:nvSpPr>
          <p:cNvPr id="6" name="Text 3"/>
          <p:cNvSpPr txBox="1"/>
          <p:nvPr/>
        </p:nvSpPr>
        <p:spPr>
          <a:xfrm>
            <a:off x="548640" y="1481328"/>
            <a:ext cx="11091672" cy="371856"/>
          </a:xfrm>
          <a:prstGeom prst="rect">
            <a:avLst/>
          </a:prstGeom>
          <a:noFill/>
          <a:ln/>
        </p:spPr>
        <p:txBody>
          <a:bodyPr wrap="square" lIns="0" tIns="0" rIns="0" bIns="0" rtlCol="0" anchor="t"/>
          <a:lstStyle/>
          <a:p>
            <a:pPr indent="0" marL="0">
              <a:buNone/>
            </a:pPr>
            <a:r>
              <a:rPr lang="en-US" sz="1600" i="1" dirty="0">
                <a:solidFill>
                  <a:schemeClr val="accent5"/>
                </a:solidFill>
              </a:rPr>
              <a:t>Couche 1 · par deux · 6 min. Répondez en vous appuyant sur les annonces A, B et C.</a:t>
            </a:r>
            <a:endParaRPr lang="en-US" sz="1600" dirty="0"/>
          </a:p>
        </p:txBody>
      </p:sp>
      <p:sp>
        <p:nvSpPr>
          <p:cNvPr id="7" name="exercise"/>
          <p:cNvSpPr txBox="1"/>
          <p:nvPr/>
        </p:nvSpPr>
        <p:spPr>
          <a:xfrm>
            <a:off x="548640" y="1926336"/>
            <a:ext cx="11091672" cy="4364736"/>
          </a:xfrm>
          <a:prstGeom prst="rect">
            <a:avLst/>
          </a:prstGeom>
          <a:noFill/>
          <a:ln/>
        </p:spPr>
        <p:txBody>
          <a:bodyPr wrap="square" lIns="0" tIns="0" rIns="0" bIns="0" rtlCol="0" anchor="t"/>
          <a:lstStyle/>
          <a:p>
            <a:pPr indent="0" marL="0">
              <a:spcAft>
                <a:spcPts val="1400"/>
              </a:spcAft>
              <a:buNone/>
            </a:pPr>
            <a:r>
              <a:rPr lang="en-US" sz="2600" b="1" dirty="0">
                <a:solidFill>
                  <a:schemeClr val="tx1"/>
                </a:solidFill>
              </a:rPr>
              <a:t>1.</a:t>
            </a:r>
            <a:r>
              <a:rPr lang="en-US" sz="2600" dirty="0">
                <a:solidFill>
                  <a:schemeClr val="tx1"/>
                </a:solidFill>
              </a:rPr>
              <a:t> Welk zoekertje past bij mevrouw Claes ? Waarom ?</a:t>
            </a:r>
            <a:endParaRPr lang="en-US" sz="2600" dirty="0"/>
          </a:p>
          <a:p>
            <a:pPr indent="0" marL="0">
              <a:spcAft>
                <a:spcPts val="1400"/>
              </a:spcAft>
              <a:buNone/>
            </a:pPr>
            <a:r>
              <a:rPr lang="en-US" sz="2600" b="1" dirty="0">
                <a:solidFill>
                  <a:schemeClr val="tx1"/>
                </a:solidFill>
              </a:rPr>
              <a:t>3.</a:t>
            </a:r>
            <a:r>
              <a:rPr lang="en-US" sz="2600" dirty="0">
                <a:solidFill>
                  <a:schemeClr val="tx1"/>
                </a:solidFill>
              </a:rPr>
              <a:t> Décodez : </a:t>
            </a:r>
            <a:r>
              <a:rPr lang="en-US" sz="2600" b="1" dirty="0">
                <a:solidFill>
                  <a:schemeClr val="tx1"/>
                </a:solidFill>
              </a:rPr>
              <a:t>slpk.</a:t>
            </a:r>
            <a:r>
              <a:rPr lang="en-US" sz="2600" dirty="0">
                <a:solidFill>
                  <a:schemeClr val="tx1"/>
                </a:solidFill>
              </a:rPr>
              <a:t> · </a:t>
            </a:r>
            <a:r>
              <a:rPr lang="en-US" sz="2600" b="1" dirty="0">
                <a:solidFill>
                  <a:schemeClr val="tx1"/>
                </a:solidFill>
              </a:rPr>
              <a:t>EPC</a:t>
            </a:r>
            <a:r>
              <a:rPr lang="en-US" sz="2600" dirty="0">
                <a:solidFill>
                  <a:schemeClr val="tx1"/>
                </a:solidFill>
              </a:rPr>
              <a:t> · </a:t>
            </a:r>
            <a:r>
              <a:rPr lang="en-US" sz="2600" b="1" dirty="0">
                <a:solidFill>
                  <a:schemeClr val="tx1"/>
                </a:solidFill>
              </a:rPr>
              <a:t>instapklaar</a:t>
            </a:r>
            <a:endParaRPr lang="en-US" sz="2600" dirty="0"/>
          </a:p>
          <a:p>
            <a:pPr indent="0" marL="0">
              <a:spcAft>
                <a:spcPts val="1400"/>
              </a:spcAft>
              <a:buNone/>
            </a:pPr>
            <a:r>
              <a:rPr lang="en-US" sz="2600" b="1" dirty="0">
                <a:solidFill>
                  <a:schemeClr val="tx1"/>
                </a:solidFill>
              </a:rPr>
              <a:t>4.</a:t>
            </a:r>
            <a:r>
              <a:rPr lang="en-US" sz="2600" dirty="0">
                <a:solidFill>
                  <a:schemeClr val="tx1"/>
                </a:solidFill>
              </a:rPr>
              <a:t> Quel bien est « à rafraîchir » ? Quel mot l’indique ?</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4 Questions 1, 3 et 4 — comprendre les annonces</a:t>
            </a:r>
            <a:endParaRPr lang="en-US" sz="3200" dirty="0"/>
          </a:p>
        </p:txBody>
      </p:sp>
      <p:sp>
        <p:nvSpPr>
          <p:cNvPr id="3" name="tag"/>
          <p:cNvSpPr/>
          <p:nvPr/>
        </p:nvSpPr>
        <p:spPr>
          <a:xfrm>
            <a:off x="548640" y="237744"/>
            <a:ext cx="1280160"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chemeClr val="bg1"/>
                </a:solidFill>
              </a:rPr>
              <a:t>COUCHE 1</a:t>
            </a:r>
            <a:endParaRPr lang="en-US" sz="1200" dirty="0"/>
          </a:p>
        </p:txBody>
      </p:sp>
      <p:sp>
        <p:nvSpPr>
          <p:cNvPr id="4" name="tag"/>
          <p:cNvSpPr/>
          <p:nvPr/>
        </p:nvSpPr>
        <p:spPr>
          <a:xfrm>
            <a:off x="1938528" y="237744"/>
            <a:ext cx="1760220"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chemeClr val="bg1"/>
                </a:solidFill>
              </a:rPr>
              <a:t>✓ CORRECTIE</a:t>
            </a:r>
            <a:endParaRPr lang="en-US" sz="1200" dirty="0"/>
          </a:p>
        </p:txBody>
      </p:sp>
      <p:sp>
        <p:nvSpPr>
          <p:cNvPr id="5" name="Text 3"/>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9–10</a:t>
            </a:r>
            <a:endParaRPr lang="en-US" sz="1200" dirty="0"/>
          </a:p>
        </p:txBody>
      </p:sp>
      <p:sp>
        <p:nvSpPr>
          <p:cNvPr id="7" name="Text 4"/>
          <p:cNvSpPr txBox="1"/>
          <p:nvPr/>
        </p:nvSpPr>
        <p:spPr>
          <a:xfrm>
            <a:off x="548640" y="1481328"/>
            <a:ext cx="11091672" cy="371856"/>
          </a:xfrm>
          <a:prstGeom prst="rect">
            <a:avLst/>
          </a:prstGeom>
          <a:noFill/>
          <a:ln/>
        </p:spPr>
        <p:txBody>
          <a:bodyPr wrap="square" lIns="0" tIns="0" rIns="0" bIns="0" rtlCol="0" anchor="t"/>
          <a:lstStyle/>
          <a:p>
            <a:pPr indent="0" marL="0">
              <a:buNone/>
            </a:pPr>
            <a:r>
              <a:rPr lang="en-US" sz="1600" i="1" dirty="0">
                <a:solidFill>
                  <a:schemeClr val="accent5"/>
                </a:solidFill>
              </a:rPr>
              <a:t>Couche 1 · par deux · 6 min. Répondez en vous appuyant sur les annonces A, B et C.</a:t>
            </a:r>
            <a:endParaRPr lang="en-US" sz="1600" dirty="0"/>
          </a:p>
        </p:txBody>
      </p:sp>
      <p:sp>
        <p:nvSpPr>
          <p:cNvPr id="8" name="exercise"/>
          <p:cNvSpPr txBox="1"/>
          <p:nvPr/>
        </p:nvSpPr>
        <p:spPr>
          <a:xfrm>
            <a:off x="548640" y="1926336"/>
            <a:ext cx="11091672" cy="4364736"/>
          </a:xfrm>
          <a:prstGeom prst="rect">
            <a:avLst/>
          </a:prstGeom>
          <a:noFill/>
          <a:ln/>
        </p:spPr>
        <p:txBody>
          <a:bodyPr wrap="square" lIns="0" tIns="0" rIns="0" bIns="0" rtlCol="0" anchor="t"/>
          <a:lstStyle/>
          <a:p>
            <a:pPr indent="0" marL="0">
              <a:spcAft>
                <a:spcPts val="400"/>
              </a:spcAft>
              <a:buNone/>
            </a:pPr>
            <a:r>
              <a:rPr lang="en-US" sz="2400" b="1" dirty="0">
                <a:solidFill>
                  <a:schemeClr val="tx1"/>
                </a:solidFill>
              </a:rPr>
              <a:t>1.</a:t>
            </a:r>
            <a:r>
              <a:rPr lang="en-US" sz="2400" dirty="0">
                <a:solidFill>
                  <a:schemeClr val="tx1"/>
                </a:solidFill>
              </a:rPr>
              <a:t> Welk zoekertje past bij mevrouw Claes ? Waarom ?</a:t>
            </a:r>
            <a:endParaRPr lang="en-US" sz="2400" dirty="0"/>
          </a:p>
          <a:p>
            <a:pPr indent="0" marL="0">
              <a:spcAft>
                <a:spcPts val="800"/>
              </a:spcAft>
              <a:buNone/>
            </a:pPr>
            <a:r>
              <a:rPr lang="en-US" sz="2400" b="1" dirty="0">
                <a:solidFill>
                  <a:schemeClr val="accent3"/>
                </a:solidFill>
              </a:rPr>
              <a:t>→ </a:t>
            </a:r>
            <a:r>
              <a:rPr lang="en-US" sz="2400" dirty="0">
                <a:solidFill>
                  <a:schemeClr val="accent3"/>
                </a:solidFill>
              </a:rPr>
              <a:t>Selon la </a:t>
            </a:r>
            <a:r>
              <a:rPr lang="en-US" sz="2400" b="1" dirty="0">
                <a:solidFill>
                  <a:schemeClr val="accent3"/>
                </a:solidFill>
              </a:rPr>
              <a:t>fiche d’appel</a:t>
            </a:r>
            <a:r>
              <a:rPr lang="en-US" sz="2400" dirty="0">
                <a:solidFill>
                  <a:schemeClr val="accent3"/>
                </a:solidFill>
              </a:rPr>
              <a:t> (ex. 3 de la séance 1) : comparer huren / kopen, budget et slpk. avec A (€ 425.000 · 3 slpk.), B (€ 1.250/maand · 2 slpk.), C (€ 189.000 · 1 slpk.).</a:t>
            </a:r>
            <a:endParaRPr lang="en-US" sz="2400" dirty="0"/>
          </a:p>
          <a:p>
            <a:pPr indent="0" marL="0">
              <a:spcAft>
                <a:spcPts val="400"/>
              </a:spcAft>
              <a:buNone/>
            </a:pPr>
            <a:r>
              <a:rPr lang="en-US" sz="2400" b="1" dirty="0">
                <a:solidFill>
                  <a:schemeClr val="tx1"/>
                </a:solidFill>
              </a:rPr>
              <a:t>3.</a:t>
            </a:r>
            <a:r>
              <a:rPr lang="en-US" sz="2400" dirty="0">
                <a:solidFill>
                  <a:schemeClr val="tx1"/>
                </a:solidFill>
              </a:rPr>
              <a:t> Décodez : </a:t>
            </a:r>
            <a:r>
              <a:rPr lang="en-US" sz="2400" b="1" dirty="0">
                <a:solidFill>
                  <a:schemeClr val="tx1"/>
                </a:solidFill>
              </a:rPr>
              <a:t>slpk.</a:t>
            </a:r>
            <a:r>
              <a:rPr lang="en-US" sz="2400" dirty="0">
                <a:solidFill>
                  <a:schemeClr val="tx1"/>
                </a:solidFill>
              </a:rPr>
              <a:t> · </a:t>
            </a:r>
            <a:r>
              <a:rPr lang="en-US" sz="2400" b="1" dirty="0">
                <a:solidFill>
                  <a:schemeClr val="tx1"/>
                </a:solidFill>
              </a:rPr>
              <a:t>EPC</a:t>
            </a:r>
            <a:r>
              <a:rPr lang="en-US" sz="2400" dirty="0">
                <a:solidFill>
                  <a:schemeClr val="tx1"/>
                </a:solidFill>
              </a:rPr>
              <a:t> · </a:t>
            </a:r>
            <a:r>
              <a:rPr lang="en-US" sz="2400" b="1" dirty="0">
                <a:solidFill>
                  <a:schemeClr val="tx1"/>
                </a:solidFill>
              </a:rPr>
              <a:t>instapklaar</a:t>
            </a:r>
            <a:endParaRPr lang="en-US" sz="2400" dirty="0"/>
          </a:p>
          <a:p>
            <a:pPr indent="0" marL="0">
              <a:spcAft>
                <a:spcPts val="800"/>
              </a:spcAft>
              <a:buNone/>
            </a:pPr>
            <a:r>
              <a:rPr lang="en-US" sz="2400" b="1" dirty="0">
                <a:solidFill>
                  <a:schemeClr val="accent3"/>
                </a:solidFill>
              </a:rPr>
              <a:t>→ </a:t>
            </a:r>
            <a:r>
              <a:rPr lang="en-US" sz="2400" b="1" dirty="0">
                <a:solidFill>
                  <a:schemeClr val="accent3"/>
                </a:solidFill>
              </a:rPr>
              <a:t>slaapkamers</a:t>
            </a:r>
            <a:r>
              <a:rPr lang="en-US" sz="2400" dirty="0">
                <a:solidFill>
                  <a:schemeClr val="accent3"/>
                </a:solidFill>
              </a:rPr>
              <a:t> (chambres) · </a:t>
            </a:r>
            <a:r>
              <a:rPr lang="en-US" sz="2400" b="1" dirty="0">
                <a:solidFill>
                  <a:schemeClr val="accent3"/>
                </a:solidFill>
              </a:rPr>
              <a:t>energieprestatiecertificaat</a:t>
            </a:r>
            <a:r>
              <a:rPr lang="en-US" sz="2400" dirty="0">
                <a:solidFill>
                  <a:schemeClr val="accent3"/>
                </a:solidFill>
              </a:rPr>
              <a:t> (certificat PEB) · </a:t>
            </a:r>
            <a:r>
              <a:rPr lang="en-US" sz="2400" b="1" dirty="0">
                <a:solidFill>
                  <a:schemeClr val="accent3"/>
                </a:solidFill>
              </a:rPr>
              <a:t>prêt à emménager</a:t>
            </a:r>
            <a:endParaRPr lang="en-US" sz="2400" dirty="0"/>
          </a:p>
          <a:p>
            <a:pPr indent="0" marL="0">
              <a:spcAft>
                <a:spcPts val="400"/>
              </a:spcAft>
              <a:buNone/>
            </a:pPr>
            <a:r>
              <a:rPr lang="en-US" sz="2400" b="1" dirty="0">
                <a:solidFill>
                  <a:schemeClr val="tx1"/>
                </a:solidFill>
              </a:rPr>
              <a:t>4.</a:t>
            </a:r>
            <a:r>
              <a:rPr lang="en-US" sz="2400" dirty="0">
                <a:solidFill>
                  <a:schemeClr val="tx1"/>
                </a:solidFill>
              </a:rPr>
              <a:t> Quel bien est « à rafraîchir » ? Quel mot l’indique ?</a:t>
            </a:r>
            <a:endParaRPr lang="en-US" sz="2400" dirty="0"/>
          </a:p>
          <a:p>
            <a:pPr indent="0" marL="0">
              <a:spcAft>
                <a:spcPts val="800"/>
              </a:spcAft>
              <a:buNone/>
            </a:pPr>
            <a:r>
              <a:rPr lang="en-US" sz="2400" b="1" dirty="0">
                <a:solidFill>
                  <a:schemeClr val="accent3"/>
                </a:solidFill>
              </a:rPr>
              <a:t>→ </a:t>
            </a:r>
            <a:r>
              <a:rPr lang="en-US" sz="2400" dirty="0">
                <a:solidFill>
                  <a:schemeClr val="accent3"/>
                </a:solidFill>
              </a:rPr>
              <a:t>Zoekertje </a:t>
            </a:r>
            <a:r>
              <a:rPr lang="en-US" sz="2400" b="1" dirty="0">
                <a:solidFill>
                  <a:schemeClr val="accent3"/>
                </a:solidFill>
              </a:rPr>
              <a:t>C</a:t>
            </a:r>
            <a:r>
              <a:rPr lang="en-US" sz="2400" dirty="0">
                <a:solidFill>
                  <a:schemeClr val="accent3"/>
                </a:solidFill>
              </a:rPr>
              <a:t> : </a:t>
            </a:r>
            <a:r>
              <a:rPr lang="en-US" sz="2400" b="1" dirty="0">
                <a:solidFill>
                  <a:schemeClr val="accent3"/>
                </a:solidFill>
              </a:rPr>
              <a:t>op te frissen</a:t>
            </a:r>
            <a:r>
              <a:rPr lang="en-US" sz="2400" dirty="0">
                <a:solidFill>
                  <a:schemeClr val="accent3"/>
                </a:solidFill>
              </a:rPr>
              <a:t> (appartement dat veel potentieel heeft).</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5 Combineer — Van fiche naar zin</a:t>
            </a:r>
            <a:endParaRPr lang="en-US" sz="3200" dirty="0"/>
          </a:p>
        </p:txBody>
      </p:sp>
      <p:sp>
        <p:nvSpPr>
          <p:cNvPr id="3" name="tag"/>
          <p:cNvSpPr/>
          <p:nvPr/>
        </p:nvSpPr>
        <p:spPr>
          <a:xfrm>
            <a:off x="548640" y="237744"/>
            <a:ext cx="1280160"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chemeClr val="bg1"/>
                </a:solidFill>
              </a:rPr>
              <a:t>COUCHE 2</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10</a:t>
            </a:r>
            <a:endParaRPr lang="en-US" sz="1200" dirty="0"/>
          </a:p>
        </p:txBody>
      </p:sp>
      <p:sp>
        <p:nvSpPr>
          <p:cNvPr id="6" name="Text 3"/>
          <p:cNvSpPr txBox="1"/>
          <p:nvPr/>
        </p:nvSpPr>
        <p:spPr>
          <a:xfrm>
            <a:off x="548640" y="1481328"/>
            <a:ext cx="7205472" cy="615696"/>
          </a:xfrm>
          <a:prstGeom prst="rect">
            <a:avLst/>
          </a:prstGeom>
          <a:noFill/>
          <a:ln/>
        </p:spPr>
        <p:txBody>
          <a:bodyPr wrap="square" lIns="0" tIns="0" rIns="0" bIns="0" rtlCol="0" anchor="t"/>
          <a:lstStyle/>
          <a:p>
            <a:pPr indent="0" marL="0">
              <a:buNone/>
            </a:pPr>
            <a:r>
              <a:rPr lang="en-US" sz="1600" i="1" dirty="0">
                <a:solidFill>
                  <a:schemeClr val="accent5"/>
                </a:solidFill>
              </a:rPr>
              <a:t>Couche 2 · seul·e · 8 min. Fusionnez les deux phrases en une seule avec une </a:t>
            </a:r>
            <a:r>
              <a:rPr lang="en-US" sz="1600" b="1" i="1" dirty="0">
                <a:solidFill>
                  <a:schemeClr val="accent5"/>
                </a:solidFill>
              </a:rPr>
              <a:t>relative</a:t>
            </a:r>
            <a:r>
              <a:rPr lang="en-US" sz="1600" i="1" dirty="0">
                <a:solidFill>
                  <a:schemeClr val="accent5"/>
                </a:solidFill>
              </a:rPr>
              <a:t> : le verbe part à la </a:t>
            </a:r>
            <a:r>
              <a:rPr lang="en-US" sz="1600" b="1" i="1" dirty="0">
                <a:solidFill>
                  <a:schemeClr val="accent5"/>
                </a:solidFill>
              </a:rPr>
              <a:t>fin</a:t>
            </a:r>
            <a:r>
              <a:rPr lang="en-US" sz="1600" i="1" dirty="0">
                <a:solidFill>
                  <a:schemeClr val="accent5"/>
                </a:solidFill>
              </a:rPr>
              <a:t> !</a:t>
            </a:r>
            <a:endParaRPr lang="en-US" sz="1600" dirty="0"/>
          </a:p>
        </p:txBody>
      </p:sp>
      <p:sp>
        <p:nvSpPr>
          <p:cNvPr id="7" name="exercise"/>
          <p:cNvSpPr txBox="1"/>
          <p:nvPr/>
        </p:nvSpPr>
        <p:spPr>
          <a:xfrm>
            <a:off x="548640" y="2170176"/>
            <a:ext cx="7205472" cy="4120896"/>
          </a:xfrm>
          <a:prstGeom prst="rect">
            <a:avLst/>
          </a:prstGeom>
          <a:noFill/>
          <a:ln/>
        </p:spPr>
        <p:txBody>
          <a:bodyPr wrap="square" lIns="0" tIns="0" rIns="0" bIns="0" rtlCol="0" anchor="t"/>
          <a:lstStyle/>
          <a:p>
            <a:pPr indent="0" marL="0">
              <a:spcAft>
                <a:spcPts val="1400"/>
              </a:spcAft>
              <a:buNone/>
            </a:pPr>
            <a:r>
              <a:rPr lang="en-US" sz="2600" b="1" dirty="0">
                <a:solidFill>
                  <a:schemeClr val="tx2"/>
                </a:solidFill>
              </a:rPr>
              <a:t>1.  </a:t>
            </a:r>
            <a:r>
              <a:rPr lang="en-US" sz="2600" dirty="0">
                <a:solidFill>
                  <a:schemeClr val="tx1"/>
                </a:solidFill>
              </a:rPr>
              <a:t>Wij verkopen een rijhuis. + Het rijhuis heeft drie slaapkamers.</a:t>
            </a:r>
            <a:endParaRPr lang="en-US" sz="2600" dirty="0"/>
          </a:p>
          <a:p>
            <a:pPr indent="0" marL="0">
              <a:spcAft>
                <a:spcPts val="1400"/>
              </a:spcAft>
              <a:buNone/>
            </a:pPr>
            <a:r>
              <a:rPr lang="en-US" sz="2600" b="1" dirty="0">
                <a:solidFill>
                  <a:schemeClr val="tx2"/>
                </a:solidFill>
              </a:rPr>
              <a:t>2.  </a:t>
            </a:r>
            <a:r>
              <a:rPr lang="en-US" sz="2600" dirty="0">
                <a:solidFill>
                  <a:schemeClr val="tx1"/>
                </a:solidFill>
              </a:rPr>
              <a:t>Het appartement heeft een terras. + Het terras ligt op het zuiden.</a:t>
            </a:r>
            <a:endParaRPr lang="en-US" sz="2600" dirty="0"/>
          </a:p>
          <a:p>
            <a:pPr indent="0" marL="0">
              <a:spcAft>
                <a:spcPts val="1400"/>
              </a:spcAft>
              <a:buNone/>
            </a:pPr>
            <a:r>
              <a:rPr lang="en-US" sz="2600" b="1" dirty="0">
                <a:solidFill>
                  <a:schemeClr val="tx2"/>
                </a:solidFill>
              </a:rPr>
              <a:t>3.  </a:t>
            </a:r>
            <a:r>
              <a:rPr lang="en-US" sz="2600" dirty="0">
                <a:solidFill>
                  <a:schemeClr val="tx1"/>
                </a:solidFill>
              </a:rPr>
              <a:t>Dat is de eigenaar. + De eigenaar heeft ons gisteren gebeld.</a:t>
            </a:r>
            <a:endParaRPr lang="en-US" sz="2600" dirty="0"/>
          </a:p>
          <a:p>
            <a:pPr indent="0" marL="0">
              <a:spcAft>
                <a:spcPts val="1400"/>
              </a:spcAft>
              <a:buNone/>
            </a:pPr>
            <a:r>
              <a:rPr lang="en-US" sz="2600" b="1" dirty="0">
                <a:solidFill>
                  <a:schemeClr val="tx2"/>
                </a:solidFill>
              </a:rPr>
              <a:t>4.  </a:t>
            </a:r>
            <a:r>
              <a:rPr lang="en-US" sz="2600" dirty="0">
                <a:solidFill>
                  <a:schemeClr val="tx1"/>
                </a:solidFill>
              </a:rPr>
              <a:t>Ik zoek klanten. + De klanten willen investeren.</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5 Combineer — Van fiche naar zin</a:t>
            </a:r>
            <a:endParaRPr lang="en-US" sz="3200" dirty="0"/>
          </a:p>
        </p:txBody>
      </p:sp>
      <p:sp>
        <p:nvSpPr>
          <p:cNvPr id="3" name="tag"/>
          <p:cNvSpPr/>
          <p:nvPr/>
        </p:nvSpPr>
        <p:spPr>
          <a:xfrm>
            <a:off x="548640" y="237744"/>
            <a:ext cx="1280160"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chemeClr val="bg1"/>
                </a:solidFill>
              </a:rPr>
              <a:t>COUCHE 2</a:t>
            </a:r>
            <a:endParaRPr lang="en-US" sz="1200" dirty="0"/>
          </a:p>
        </p:txBody>
      </p:sp>
      <p:sp>
        <p:nvSpPr>
          <p:cNvPr id="4" name="tag"/>
          <p:cNvSpPr/>
          <p:nvPr/>
        </p:nvSpPr>
        <p:spPr>
          <a:xfrm>
            <a:off x="1938528" y="237744"/>
            <a:ext cx="1760220"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chemeClr val="bg1"/>
                </a:solidFill>
              </a:rPr>
              <a:t>✓ CORRECTIE</a:t>
            </a:r>
            <a:endParaRPr lang="en-US" sz="1200" dirty="0"/>
          </a:p>
        </p:txBody>
      </p:sp>
      <p:sp>
        <p:nvSpPr>
          <p:cNvPr id="5" name="Text 3"/>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10</a:t>
            </a:r>
            <a:endParaRPr lang="en-US" sz="1200" dirty="0"/>
          </a:p>
        </p:txBody>
      </p:sp>
      <p:sp>
        <p:nvSpPr>
          <p:cNvPr id="7" name="Text 4"/>
          <p:cNvSpPr txBox="1"/>
          <p:nvPr/>
        </p:nvSpPr>
        <p:spPr>
          <a:xfrm>
            <a:off x="548640" y="1481328"/>
            <a:ext cx="7205472" cy="615696"/>
          </a:xfrm>
          <a:prstGeom prst="rect">
            <a:avLst/>
          </a:prstGeom>
          <a:noFill/>
          <a:ln/>
        </p:spPr>
        <p:txBody>
          <a:bodyPr wrap="square" lIns="0" tIns="0" rIns="0" bIns="0" rtlCol="0" anchor="t"/>
          <a:lstStyle/>
          <a:p>
            <a:pPr indent="0" marL="0">
              <a:buNone/>
            </a:pPr>
            <a:r>
              <a:rPr lang="en-US" sz="1600" i="1" dirty="0">
                <a:solidFill>
                  <a:schemeClr val="accent5"/>
                </a:solidFill>
              </a:rPr>
              <a:t>Couche 2 · seul·e · 8 min. Fusionnez les deux phrases en une seule avec une </a:t>
            </a:r>
            <a:r>
              <a:rPr lang="en-US" sz="1600" b="1" i="1" dirty="0">
                <a:solidFill>
                  <a:schemeClr val="accent5"/>
                </a:solidFill>
              </a:rPr>
              <a:t>relative</a:t>
            </a:r>
            <a:r>
              <a:rPr lang="en-US" sz="1600" i="1" dirty="0">
                <a:solidFill>
                  <a:schemeClr val="accent5"/>
                </a:solidFill>
              </a:rPr>
              <a:t> : le verbe part à la </a:t>
            </a:r>
            <a:r>
              <a:rPr lang="en-US" sz="1600" b="1" i="1" dirty="0">
                <a:solidFill>
                  <a:schemeClr val="accent5"/>
                </a:solidFill>
              </a:rPr>
              <a:t>fin</a:t>
            </a:r>
            <a:r>
              <a:rPr lang="en-US" sz="1600" i="1" dirty="0">
                <a:solidFill>
                  <a:schemeClr val="accent5"/>
                </a:solidFill>
              </a:rPr>
              <a:t> !</a:t>
            </a:r>
            <a:endParaRPr lang="en-US" sz="1600" dirty="0"/>
          </a:p>
        </p:txBody>
      </p:sp>
      <p:sp>
        <p:nvSpPr>
          <p:cNvPr id="8" name="exercise"/>
          <p:cNvSpPr txBox="1"/>
          <p:nvPr/>
        </p:nvSpPr>
        <p:spPr>
          <a:xfrm>
            <a:off x="548640" y="2170176"/>
            <a:ext cx="7205472" cy="4120896"/>
          </a:xfrm>
          <a:prstGeom prst="rect">
            <a:avLst/>
          </a:prstGeom>
          <a:noFill/>
          <a:ln/>
        </p:spPr>
        <p:txBody>
          <a:bodyPr wrap="square" lIns="0" tIns="0" rIns="0" bIns="0" rtlCol="0" anchor="t"/>
          <a:lstStyle/>
          <a:p>
            <a:pPr indent="0" marL="0">
              <a:spcAft>
                <a:spcPts val="400"/>
              </a:spcAft>
              <a:buNone/>
            </a:pPr>
            <a:r>
              <a:rPr lang="en-US" sz="2000" b="1" dirty="0">
                <a:solidFill>
                  <a:schemeClr val="tx2"/>
                </a:solidFill>
              </a:rPr>
              <a:t>1.  </a:t>
            </a:r>
            <a:r>
              <a:rPr lang="en-US" sz="2000" dirty="0">
                <a:solidFill>
                  <a:schemeClr val="tx1"/>
                </a:solidFill>
              </a:rPr>
              <a:t>Wij verkopen een rijhuis. + Het rijhuis heeft drie slaapkamers.</a:t>
            </a:r>
            <a:endParaRPr lang="en-US" sz="2000" dirty="0"/>
          </a:p>
          <a:p>
            <a:pPr indent="0" marL="0">
              <a:spcAft>
                <a:spcPts val="600"/>
              </a:spcAft>
              <a:buNone/>
            </a:pPr>
            <a:r>
              <a:rPr lang="en-US" sz="2000" b="1" dirty="0">
                <a:solidFill>
                  <a:schemeClr val="accent3"/>
                </a:solidFill>
              </a:rPr>
              <a:t>→ </a:t>
            </a:r>
            <a:r>
              <a:rPr lang="en-US" sz="2000" dirty="0">
                <a:solidFill>
                  <a:schemeClr val="accent3"/>
                </a:solidFill>
              </a:rPr>
              <a:t>Wij verkopen een rijhuis </a:t>
            </a:r>
            <a:r>
              <a:rPr lang="en-US" sz="2000" b="1" dirty="0">
                <a:solidFill>
                  <a:schemeClr val="accent3"/>
                </a:solidFill>
              </a:rPr>
              <a:t>dat</a:t>
            </a:r>
            <a:r>
              <a:rPr lang="en-US" sz="2000" dirty="0">
                <a:solidFill>
                  <a:schemeClr val="accent3"/>
                </a:solidFill>
              </a:rPr>
              <a:t> drie slaapkamers heeft.</a:t>
            </a:r>
            <a:endParaRPr lang="en-US" sz="2000" dirty="0"/>
          </a:p>
          <a:p>
            <a:pPr indent="0" marL="0">
              <a:spcAft>
                <a:spcPts val="400"/>
              </a:spcAft>
              <a:buNone/>
            </a:pPr>
            <a:r>
              <a:rPr lang="en-US" sz="2000" b="1" dirty="0">
                <a:solidFill>
                  <a:schemeClr val="tx2"/>
                </a:solidFill>
              </a:rPr>
              <a:t>2.  </a:t>
            </a:r>
            <a:r>
              <a:rPr lang="en-US" sz="2000" dirty="0">
                <a:solidFill>
                  <a:schemeClr val="tx1"/>
                </a:solidFill>
              </a:rPr>
              <a:t>Het appartement heeft een terras. + Het terras ligt op het zuiden.</a:t>
            </a:r>
            <a:endParaRPr lang="en-US" sz="2000" dirty="0"/>
          </a:p>
          <a:p>
            <a:pPr indent="0" marL="0">
              <a:spcAft>
                <a:spcPts val="600"/>
              </a:spcAft>
              <a:buNone/>
            </a:pPr>
            <a:r>
              <a:rPr lang="en-US" sz="2000" b="1" dirty="0">
                <a:solidFill>
                  <a:schemeClr val="accent3"/>
                </a:solidFill>
              </a:rPr>
              <a:t>→ </a:t>
            </a:r>
            <a:r>
              <a:rPr lang="en-US" sz="2000" dirty="0">
                <a:solidFill>
                  <a:schemeClr val="accent3"/>
                </a:solidFill>
              </a:rPr>
              <a:t>Het appartement heeft een terras </a:t>
            </a:r>
            <a:r>
              <a:rPr lang="en-US" sz="2000" b="1" dirty="0">
                <a:solidFill>
                  <a:schemeClr val="accent3"/>
                </a:solidFill>
              </a:rPr>
              <a:t>dat</a:t>
            </a:r>
            <a:r>
              <a:rPr lang="en-US" sz="2000" dirty="0">
                <a:solidFill>
                  <a:schemeClr val="accent3"/>
                </a:solidFill>
              </a:rPr>
              <a:t> op het zuiden ligt.</a:t>
            </a:r>
            <a:endParaRPr lang="en-US" sz="2000" dirty="0"/>
          </a:p>
          <a:p>
            <a:pPr indent="0" marL="0">
              <a:spcAft>
                <a:spcPts val="400"/>
              </a:spcAft>
              <a:buNone/>
            </a:pPr>
            <a:r>
              <a:rPr lang="en-US" sz="2000" b="1" dirty="0">
                <a:solidFill>
                  <a:schemeClr val="tx2"/>
                </a:solidFill>
              </a:rPr>
              <a:t>3.  </a:t>
            </a:r>
            <a:r>
              <a:rPr lang="en-US" sz="2000" dirty="0">
                <a:solidFill>
                  <a:schemeClr val="tx1"/>
                </a:solidFill>
              </a:rPr>
              <a:t>Dat is de eigenaar. + De eigenaar heeft ons gisteren gebeld.</a:t>
            </a:r>
            <a:endParaRPr lang="en-US" sz="2000" dirty="0"/>
          </a:p>
          <a:p>
            <a:pPr indent="0" marL="0">
              <a:spcAft>
                <a:spcPts val="600"/>
              </a:spcAft>
              <a:buNone/>
            </a:pPr>
            <a:r>
              <a:rPr lang="en-US" sz="2000" b="1" dirty="0">
                <a:solidFill>
                  <a:schemeClr val="accent3"/>
                </a:solidFill>
              </a:rPr>
              <a:t>→ </a:t>
            </a:r>
            <a:r>
              <a:rPr lang="en-US" sz="2000" dirty="0">
                <a:solidFill>
                  <a:schemeClr val="accent3"/>
                </a:solidFill>
              </a:rPr>
              <a:t>Dat is de eigenaar </a:t>
            </a:r>
            <a:r>
              <a:rPr lang="en-US" sz="2000" b="1" dirty="0">
                <a:solidFill>
                  <a:schemeClr val="accent3"/>
                </a:solidFill>
              </a:rPr>
              <a:t>die</a:t>
            </a:r>
            <a:r>
              <a:rPr lang="en-US" sz="2000" dirty="0">
                <a:solidFill>
                  <a:schemeClr val="accent3"/>
                </a:solidFill>
              </a:rPr>
              <a:t> ons gisteren heeft gebeld.</a:t>
            </a:r>
            <a:endParaRPr lang="en-US" sz="2000" dirty="0"/>
          </a:p>
          <a:p>
            <a:pPr indent="0" marL="0">
              <a:spcAft>
                <a:spcPts val="400"/>
              </a:spcAft>
              <a:buNone/>
            </a:pPr>
            <a:r>
              <a:rPr lang="en-US" sz="2000" b="1" dirty="0">
                <a:solidFill>
                  <a:schemeClr val="tx2"/>
                </a:solidFill>
              </a:rPr>
              <a:t>4.  </a:t>
            </a:r>
            <a:r>
              <a:rPr lang="en-US" sz="2000" dirty="0">
                <a:solidFill>
                  <a:schemeClr val="tx1"/>
                </a:solidFill>
              </a:rPr>
              <a:t>Ik zoek klanten. + De klanten willen investeren.</a:t>
            </a:r>
            <a:endParaRPr lang="en-US" sz="2000" dirty="0"/>
          </a:p>
          <a:p>
            <a:pPr indent="0" marL="0">
              <a:spcAft>
                <a:spcPts val="600"/>
              </a:spcAft>
              <a:buNone/>
            </a:pPr>
            <a:r>
              <a:rPr lang="en-US" sz="2000" b="1" dirty="0">
                <a:solidFill>
                  <a:schemeClr val="accent3"/>
                </a:solidFill>
              </a:rPr>
              <a:t>→ </a:t>
            </a:r>
            <a:r>
              <a:rPr lang="en-US" sz="2000" dirty="0">
                <a:solidFill>
                  <a:schemeClr val="accent3"/>
                </a:solidFill>
              </a:rPr>
              <a:t>Ik zoek klanten </a:t>
            </a:r>
            <a:r>
              <a:rPr lang="en-US" sz="2000" b="1" dirty="0">
                <a:solidFill>
                  <a:schemeClr val="accent3"/>
                </a:solidFill>
              </a:rPr>
              <a:t>die</a:t>
            </a:r>
            <a:r>
              <a:rPr lang="en-US" sz="2000" dirty="0">
                <a:solidFill>
                  <a:schemeClr val="accent3"/>
                </a:solidFill>
              </a:rPr>
              <a:t> willen investeren.</a:t>
            </a:r>
            <a:endParaRPr lang="en-US" sz="2000" dirty="0"/>
          </a:p>
        </p:txBody>
      </p:sp>
      <p:sp>
        <p:nvSpPr>
          <p:cNvPr id="9" name="aside"/>
          <p:cNvSpPr/>
          <p:nvPr/>
        </p:nvSpPr>
        <p:spPr>
          <a:xfrm>
            <a:off x="8074152" y="1481328"/>
            <a:ext cx="3566160" cy="4809744"/>
          </a:xfrm>
          <a:prstGeom prst="roundRect">
            <a:avLst>
              <a:gd name="adj" fmla="val 2051"/>
            </a:avLst>
          </a:prstGeom>
          <a:solidFill>
            <a:schemeClr val="accent6">
              <a:alpha val="10000"/>
            </a:schemeClr>
          </a:solidFill>
          <a:ln w="12700">
            <a:solidFill>
              <a:schemeClr val="accent6">
                <a:alpha val="60000"/>
              </a:schemeClr>
            </a:solidFill>
            <a:prstDash val="solid"/>
          </a:ln>
        </p:spPr>
      </p:sp>
      <p:pic>
        <p:nvPicPr>
          <p:cNvPr id="10" name="Image 0" descr="preencoded.png">    </p:cNvPr>
          <p:cNvPicPr>
            <a:picLocks noChangeAspect="1"/>
          </p:cNvPicPr>
          <p:nvPr/>
        </p:nvPicPr>
        <p:blipFill>
          <a:blip r:embed="rId1"/>
          <a:stretch>
            <a:fillRect/>
          </a:stretch>
        </p:blipFill>
        <p:spPr>
          <a:xfrm>
            <a:off x="8257032" y="1664208"/>
            <a:ext cx="292608" cy="292608"/>
          </a:xfrm>
          <a:prstGeom prst="rect">
            <a:avLst/>
          </a:prstGeom>
        </p:spPr>
      </p:pic>
      <p:sp>
        <p:nvSpPr>
          <p:cNvPr id="11" name="Text 7"/>
          <p:cNvSpPr txBox="1"/>
          <p:nvPr/>
        </p:nvSpPr>
        <p:spPr>
          <a:xfrm>
            <a:off x="8641080" y="1636776"/>
            <a:ext cx="2834640" cy="347472"/>
          </a:xfrm>
          <a:prstGeom prst="rect">
            <a:avLst/>
          </a:prstGeom>
          <a:noFill/>
          <a:ln/>
        </p:spPr>
        <p:txBody>
          <a:bodyPr wrap="square" lIns="0" tIns="0" rIns="0" bIns="0" rtlCol="0" anchor="ctr"/>
          <a:lstStyle/>
          <a:p>
            <a:pPr indent="0" marL="0">
              <a:buNone/>
            </a:pPr>
            <a:r>
              <a:rPr lang="en-US" sz="1400" b="1" spc="100" kern="0" dirty="0">
                <a:solidFill>
                  <a:schemeClr val="accent6"/>
                </a:solidFill>
              </a:rPr>
              <a:t>ATTENTION</a:t>
            </a:r>
            <a:endParaRPr lang="en-US" sz="1400" dirty="0"/>
          </a:p>
        </p:txBody>
      </p:sp>
      <p:sp>
        <p:nvSpPr>
          <p:cNvPr id="12" name="Text 8"/>
          <p:cNvSpPr txBox="1"/>
          <p:nvPr/>
        </p:nvSpPr>
        <p:spPr>
          <a:xfrm>
            <a:off x="8238744" y="2075688"/>
            <a:ext cx="3236976" cy="4078224"/>
          </a:xfrm>
          <a:prstGeom prst="rect">
            <a:avLst/>
          </a:prstGeom>
          <a:noFill/>
          <a:ln/>
        </p:spPr>
        <p:txBody>
          <a:bodyPr wrap="square" lIns="0" tIns="0" rIns="0" bIns="0" rtlCol="0" anchor="t"/>
          <a:lstStyle/>
          <a:p>
            <a:pPr marL="177800" indent="-177800">
              <a:spcAft>
                <a:spcPts val="600"/>
              </a:spcAft>
              <a:buSzPct val="100000"/>
              <a:buChar char="•"/>
            </a:pPr>
            <a:r>
              <a:rPr lang="en-US" sz="1800" dirty="0">
                <a:solidFill>
                  <a:schemeClr val="tx1"/>
                </a:solidFill>
              </a:rPr>
              <a:t>Le pronom remplace le </a:t>
            </a:r>
            <a:r>
              <a:rPr lang="en-US" sz="1800" b="1" dirty="0">
                <a:solidFill>
                  <a:schemeClr val="tx1"/>
                </a:solidFill>
              </a:rPr>
              <a:t>2e nom</a:t>
            </a:r>
            <a:r>
              <a:rPr lang="en-US" sz="1800" dirty="0">
                <a:solidFill>
                  <a:schemeClr val="tx1"/>
                </a:solidFill>
              </a:rPr>
              <a:t> : het rijhuis → </a:t>
            </a:r>
            <a:r>
              <a:rPr lang="en-US" sz="1800" b="1" dirty="0">
                <a:solidFill>
                  <a:schemeClr val="tx1"/>
                </a:solidFill>
              </a:rPr>
              <a:t>dat</a:t>
            </a:r>
            <a:r>
              <a:rPr lang="en-US" sz="1800" dirty="0">
                <a:solidFill>
                  <a:schemeClr val="tx1"/>
                </a:solidFill>
              </a:rPr>
              <a:t> ; de eigenaar → </a:t>
            </a:r>
            <a:r>
              <a:rPr lang="en-US" sz="1800" b="1" dirty="0">
                <a:solidFill>
                  <a:schemeClr val="tx1"/>
                </a:solidFill>
              </a:rPr>
              <a:t>die</a:t>
            </a:r>
            <a:r>
              <a:rPr lang="en-US" sz="1800" dirty="0">
                <a:solidFill>
                  <a:schemeClr val="tx1"/>
                </a:solidFill>
              </a:rPr>
              <a:t> ; klanten (pluriel) → </a:t>
            </a:r>
            <a:r>
              <a:rPr lang="en-US" sz="1800" b="1" dirty="0">
                <a:solidFill>
                  <a:schemeClr val="tx1"/>
                </a:solidFill>
              </a:rPr>
              <a:t>die</a:t>
            </a:r>
            <a:r>
              <a:rPr lang="en-US" sz="1800" dirty="0">
                <a:solidFill>
                  <a:schemeClr val="tx1"/>
                </a:solidFill>
              </a:rPr>
              <a:t>.</a:t>
            </a:r>
            <a:endParaRPr lang="en-US" sz="1800" dirty="0"/>
          </a:p>
          <a:p>
            <a:pPr marL="177800" indent="-177800">
              <a:spcAft>
                <a:spcPts val="600"/>
              </a:spcAft>
              <a:buSzPct val="100000"/>
              <a:buChar char="•"/>
            </a:pPr>
            <a:r>
              <a:rPr lang="en-US" sz="1800" dirty="0">
                <a:solidFill>
                  <a:schemeClr val="tx1"/>
                </a:solidFill>
              </a:rPr>
              <a:t>Le verbe conjugué est en </a:t>
            </a:r>
            <a:r>
              <a:rPr lang="en-US" sz="1800" b="1" dirty="0">
                <a:solidFill>
                  <a:schemeClr val="tx1"/>
                </a:solidFill>
              </a:rPr>
              <a:t>dernière</a:t>
            </a:r>
            <a:r>
              <a:rPr lang="en-US" sz="1800" dirty="0">
                <a:solidFill>
                  <a:schemeClr val="tx1"/>
                </a:solidFill>
              </a:rPr>
              <a:t> position.</a:t>
            </a:r>
            <a:endParaRPr lang="en-US" sz="1800" dirty="0"/>
          </a:p>
          <a:p>
            <a:pPr marL="177800" indent="-177800">
              <a:spcAft>
                <a:spcPts val="600"/>
              </a:spcAft>
              <a:buSzPct val="100000"/>
              <a:buChar char="•"/>
            </a:pPr>
            <a:r>
              <a:rPr lang="en-US" sz="1800" dirty="0">
                <a:solidFill>
                  <a:schemeClr val="tx1"/>
                </a:solidFill>
              </a:rPr>
              <a:t>3 : </a:t>
            </a:r>
            <a:r>
              <a:rPr lang="en-US" sz="1800" i="1" dirty="0">
                <a:solidFill>
                  <a:schemeClr val="tx1"/>
                </a:solidFill>
              </a:rPr>
              <a:t>die ons gisteren gebeld heeft</a:t>
            </a:r>
            <a:r>
              <a:rPr lang="en-US" sz="1800" dirty="0">
                <a:solidFill>
                  <a:schemeClr val="tx1"/>
                </a:solidFill>
              </a:rPr>
              <a:t> est aussi correct.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TAAK 2 — Schrijf het zoekertje</a:t>
            </a:r>
            <a:endParaRPr lang="en-US" sz="3200" dirty="0"/>
          </a:p>
        </p:txBody>
      </p:sp>
      <p:sp>
        <p:nvSpPr>
          <p:cNvPr id="3" name="tag"/>
          <p:cNvSpPr/>
          <p:nvPr/>
        </p:nvSpPr>
        <p:spPr>
          <a:xfrm>
            <a:off x="548640" y="237744"/>
            <a:ext cx="1074420"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chemeClr val="bg1"/>
                </a:solidFill>
              </a:rPr>
              <a:t>ÉCRIT</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10</a:t>
            </a:r>
            <a:endParaRPr lang="en-US" sz="1200" dirty="0"/>
          </a:p>
        </p:txBody>
      </p:sp>
      <p:sp>
        <p:nvSpPr>
          <p:cNvPr id="6" name="Text 3"/>
          <p:cNvSpPr txBox="1"/>
          <p:nvPr/>
        </p:nvSpPr>
        <p:spPr>
          <a:xfrm>
            <a:off x="548640" y="1481328"/>
            <a:ext cx="7178040" cy="615696"/>
          </a:xfrm>
          <a:prstGeom prst="rect">
            <a:avLst/>
          </a:prstGeom>
          <a:noFill/>
          <a:ln/>
        </p:spPr>
        <p:txBody>
          <a:bodyPr wrap="square" lIns="0" tIns="0" rIns="0" bIns="0" rtlCol="0" anchor="t"/>
          <a:lstStyle/>
          <a:p>
            <a:pPr indent="0" marL="0">
              <a:buNone/>
            </a:pPr>
            <a:r>
              <a:rPr lang="en-US" sz="1600" i="1" dirty="0">
                <a:solidFill>
                  <a:schemeClr val="accent5"/>
                </a:solidFill>
              </a:rPr>
              <a:t>Écrit · seul·e · 15 min. Rédigez l’annonce complète (</a:t>
            </a:r>
            <a:r>
              <a:rPr lang="en-US" sz="1600" b="1" i="1" dirty="0">
                <a:solidFill>
                  <a:schemeClr val="accent5"/>
                </a:solidFill>
              </a:rPr>
              <a:t>60 à 80 mots</a:t>
            </a:r>
            <a:r>
              <a:rPr lang="en-US" sz="1600" i="1" dirty="0">
                <a:solidFill>
                  <a:schemeClr val="accent5"/>
                </a:solidFill>
              </a:rPr>
              <a:t>) dans le style des zoekertjes A à C.</a:t>
            </a:r>
            <a:endParaRPr lang="en-US" sz="1600" dirty="0"/>
          </a:p>
        </p:txBody>
      </p:sp>
      <p:sp>
        <p:nvSpPr>
          <p:cNvPr id="7" name="exercise"/>
          <p:cNvSpPr txBox="1"/>
          <p:nvPr/>
        </p:nvSpPr>
        <p:spPr>
          <a:xfrm>
            <a:off x="548640" y="2170176"/>
            <a:ext cx="7178040" cy="4120896"/>
          </a:xfrm>
          <a:prstGeom prst="rect">
            <a:avLst/>
          </a:prstGeom>
          <a:noFill/>
          <a:ln/>
        </p:spPr>
        <p:txBody>
          <a:bodyPr wrap="square" lIns="0" tIns="0" rIns="0" bIns="0" rtlCol="0" anchor="t"/>
          <a:lstStyle/>
          <a:p>
            <a:pPr indent="0" marL="0">
              <a:spcAft>
                <a:spcPts val="600"/>
              </a:spcAft>
              <a:buNone/>
            </a:pPr>
            <a:r>
              <a:rPr lang="en-US" sz="2000" b="1" dirty="0">
                <a:solidFill>
                  <a:schemeClr val="tx2"/>
                </a:solidFill>
              </a:rPr>
              <a:t>Fiche technique du bien de Yasmina</a:t>
            </a:r>
            <a:endParaRPr lang="en-US" sz="2000" dirty="0"/>
          </a:p>
          <a:p>
            <a:pPr indent="0" marL="0">
              <a:spcAft>
                <a:spcPts val="800"/>
              </a:spcAft>
              <a:buNone/>
            </a:pPr>
            <a:r>
              <a:rPr lang="en-US" sz="2000" i="1" dirty="0">
                <a:solidFill>
                  <a:schemeClr val="tx1"/>
                </a:solidFill>
              </a:rPr>
              <a:t>rijhuis · Sint-Gillis · 150 m² · 3 slpk. · gerenoveerd in 2025 · stadstuin (zuiden) · open keuken · EPC B · € 425.000 · vrij bij akte</a:t>
            </a:r>
            <a:endParaRPr lang="en-US" sz="2000" dirty="0"/>
          </a:p>
          <a:p>
            <a:pPr indent="0" marL="0">
              <a:spcBef>
                <a:spcPts val="800"/>
              </a:spcBef>
              <a:spcAft>
                <a:spcPts val="600"/>
              </a:spcAft>
              <a:buNone/>
            </a:pPr>
            <a:r>
              <a:rPr lang="en-US" sz="2000" b="1" dirty="0">
                <a:solidFill>
                  <a:schemeClr val="tx2"/>
                </a:solidFill>
              </a:rPr>
              <a:t>Obligations</a:t>
            </a:r>
            <a:endParaRPr lang="en-US" sz="2000" dirty="0"/>
          </a:p>
          <a:p>
            <a:pPr indent="0" marL="0">
              <a:spcAft>
                <a:spcPts val="800"/>
              </a:spcAft>
              <a:buNone/>
            </a:pPr>
            <a:r>
              <a:rPr lang="en-US" sz="2000" b="1" dirty="0">
                <a:solidFill>
                  <a:schemeClr val="tx1"/>
                </a:solidFill>
              </a:rPr>
              <a:t>Format</a:t>
            </a:r>
            <a:r>
              <a:rPr lang="en-US" sz="2000" dirty="0">
                <a:solidFill>
                  <a:schemeClr val="tx1"/>
                </a:solidFill>
              </a:rPr>
              <a:t> : titre · caractéristiques · prix.</a:t>
            </a:r>
            <a:endParaRPr lang="en-US" sz="2000" dirty="0"/>
          </a:p>
          <a:p>
            <a:pPr indent="0" marL="0">
              <a:spcAft>
                <a:spcPts val="800"/>
              </a:spcAft>
              <a:buNone/>
            </a:pPr>
            <a:r>
              <a:rPr lang="en-US" sz="2000" b="1" dirty="0">
                <a:solidFill>
                  <a:schemeClr val="tx1"/>
                </a:solidFill>
              </a:rPr>
              <a:t>Au moins 3 relatives</a:t>
            </a:r>
            <a:r>
              <a:rPr lang="en-US" sz="2000" dirty="0">
                <a:solidFill>
                  <a:schemeClr val="tx1"/>
                </a:solidFill>
              </a:rPr>
              <a:t> + </a:t>
            </a:r>
            <a:r>
              <a:rPr lang="en-US" sz="2000" b="1" dirty="0">
                <a:solidFill>
                  <a:schemeClr val="tx1"/>
                </a:solidFill>
              </a:rPr>
              <a:t>2 abréviations</a:t>
            </a:r>
            <a:r>
              <a:rPr lang="en-US" sz="2000" dirty="0">
                <a:solidFill>
                  <a:schemeClr val="tx1"/>
                </a:solidFill>
              </a:rPr>
              <a:t> du métier.</a:t>
            </a:r>
            <a:endParaRPr lang="en-US" sz="2000" dirty="0"/>
          </a:p>
          <a:p>
            <a:pPr indent="0" marL="0">
              <a:spcAft>
                <a:spcPts val="800"/>
              </a:spcAft>
              <a:buNone/>
            </a:pPr>
            <a:r>
              <a:rPr lang="en-US" sz="2000" b="1" dirty="0">
                <a:solidFill>
                  <a:schemeClr val="tx1"/>
                </a:solidFill>
              </a:rPr>
              <a:t>Interdit</a:t>
            </a:r>
            <a:r>
              <a:rPr lang="en-US" sz="2000" dirty="0">
                <a:solidFill>
                  <a:schemeClr val="tx1"/>
                </a:solidFill>
              </a:rPr>
              <a:t> : les phrases « palier 1 » juxtaposées. Reliez !</a:t>
            </a:r>
            <a:endParaRPr lang="en-US" sz="2000" dirty="0"/>
          </a:p>
          <a:p>
            <a:pPr indent="0" marL="0">
              <a:spcAft>
                <a:spcPts val="800"/>
              </a:spcAft>
              <a:buNone/>
            </a:pPr>
            <a:r>
              <a:rPr lang="en-US" sz="2000" dirty="0">
                <a:solidFill>
                  <a:schemeClr val="tx1"/>
                </a:solidFill>
              </a:rPr>
              <a:t>Échange avec un binôme : soulignez ses relatives, vérifiez la place du verbe.</a:t>
            </a:r>
            <a:endParaRPr lang="en-US" sz="2000" dirty="0"/>
          </a:p>
        </p:txBody>
      </p:sp>
      <p:pic>
        <p:nvPicPr>
          <p:cNvPr id="8" name="illustration" descr="Illustration du syllabus">    </p:cNvPr>
          <p:cNvPicPr>
            <a:picLocks noChangeAspect="1"/>
          </p:cNvPicPr>
          <p:nvPr/>
        </p:nvPicPr>
        <p:blipFill>
          <a:blip r:embed="rId1"/>
          <a:stretch>
            <a:fillRect/>
          </a:stretch>
        </p:blipFill>
        <p:spPr>
          <a:xfrm>
            <a:off x="8503344" y="1481328"/>
            <a:ext cx="2680343" cy="4023360"/>
          </a:xfrm>
          <a:prstGeom prst="rect">
            <a:avLst/>
          </a:prstGeom>
          <a:effectLst>
            <a:outerShdw sx="100000" sy="100000" kx="0" ky="0" algn="bl" rotWithShape="0" blurRad="101600" dist="25400" dir="3600000">
              <a:srgbClr val="000000">
                <a:alpha val="18000"/>
              </a:srgbClr>
            </a:outerShdw>
          </a:effectLst>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TAAK 2 — Un zoekertje réussi (modèle)</a:t>
            </a:r>
            <a:endParaRPr lang="en-US" sz="3200" dirty="0"/>
          </a:p>
        </p:txBody>
      </p:sp>
      <p:sp>
        <p:nvSpPr>
          <p:cNvPr id="3" name="tag"/>
          <p:cNvSpPr/>
          <p:nvPr/>
        </p:nvSpPr>
        <p:spPr>
          <a:xfrm>
            <a:off x="548640" y="237744"/>
            <a:ext cx="1074420"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chemeClr val="bg1"/>
                </a:solidFill>
              </a:rPr>
              <a:t>ÉCRIT</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10</a:t>
            </a:r>
            <a:endParaRPr lang="en-US" sz="1200" dirty="0"/>
          </a:p>
        </p:txBody>
      </p:sp>
      <p:sp>
        <p:nvSpPr>
          <p:cNvPr id="6" name="Shape 3"/>
          <p:cNvSpPr/>
          <p:nvPr/>
        </p:nvSpPr>
        <p:spPr>
          <a:xfrm>
            <a:off x="548640" y="1481328"/>
            <a:ext cx="7406640" cy="4809744"/>
          </a:xfrm>
          <a:prstGeom prst="rect">
            <a:avLst/>
          </a:prstGeom>
          <a:solidFill>
            <a:schemeClr val="bg1"/>
          </a:solidFill>
          <a:ln w="12700">
            <a:solidFill>
              <a:srgbClr val="4A5A70"/>
            </a:solidFill>
            <a:prstDash val="dash"/>
          </a:ln>
        </p:spPr>
      </p:sp>
      <p:sp>
        <p:nvSpPr>
          <p:cNvPr id="7" name="tag"/>
          <p:cNvSpPr/>
          <p:nvPr/>
        </p:nvSpPr>
        <p:spPr>
          <a:xfrm>
            <a:off x="777240" y="1645920"/>
            <a:ext cx="1188720"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chemeClr val="bg1"/>
                </a:solidFill>
              </a:rPr>
              <a:t>MODÈLE</a:t>
            </a:r>
            <a:endParaRPr lang="en-US" sz="1200" dirty="0"/>
          </a:p>
        </p:txBody>
      </p:sp>
      <p:sp>
        <p:nvSpPr>
          <p:cNvPr id="8" name="Text 5"/>
          <p:cNvSpPr txBox="1"/>
          <p:nvPr/>
        </p:nvSpPr>
        <p:spPr>
          <a:xfrm>
            <a:off x="2194560" y="1609344"/>
            <a:ext cx="5669280" cy="384048"/>
          </a:xfrm>
          <a:prstGeom prst="rect">
            <a:avLst/>
          </a:prstGeom>
          <a:noFill/>
          <a:ln/>
        </p:spPr>
        <p:txBody>
          <a:bodyPr wrap="square" lIns="0" tIns="0" rIns="0" bIns="0" rtlCol="0" anchor="ctr"/>
          <a:lstStyle/>
          <a:p>
            <a:pPr indent="0" marL="0">
              <a:buNone/>
            </a:pPr>
            <a:r>
              <a:rPr lang="en-US" sz="1800" b="1" dirty="0">
                <a:solidFill>
                  <a:schemeClr val="accent5"/>
                </a:solidFill>
                <a:latin typeface="+mj-lt" pitchFamily="34" charset="0"/>
                <a:ea typeface="+mj-lt" pitchFamily="34" charset="-122"/>
                <a:cs typeface="+mj-lt" pitchFamily="34" charset="-120"/>
              </a:rPr>
              <a:t>Zoekertje — rijhuis Sint-Gillis</a:t>
            </a:r>
            <a:endParaRPr lang="en-US" sz="1800" dirty="0"/>
          </a:p>
        </p:txBody>
      </p:sp>
      <p:sp>
        <p:nvSpPr>
          <p:cNvPr id="9" name="Text 6"/>
          <p:cNvSpPr txBox="1"/>
          <p:nvPr/>
        </p:nvSpPr>
        <p:spPr>
          <a:xfrm>
            <a:off x="777240" y="2148840"/>
            <a:ext cx="6949440" cy="4023360"/>
          </a:xfrm>
          <a:prstGeom prst="rect">
            <a:avLst/>
          </a:prstGeom>
          <a:noFill/>
          <a:ln/>
        </p:spPr>
        <p:txBody>
          <a:bodyPr wrap="square" lIns="0" tIns="0" rIns="0" bIns="0" rtlCol="0" anchor="t"/>
          <a:lstStyle/>
          <a:p>
            <a:pPr indent="0" marL="0">
              <a:spcAft>
                <a:spcPts val="800"/>
              </a:spcAft>
              <a:buNone/>
            </a:pPr>
            <a:r>
              <a:rPr lang="en-US" sz="2100" b="1" dirty="0">
                <a:solidFill>
                  <a:schemeClr val="tx1"/>
                </a:solidFill>
              </a:rPr>
              <a:t>TE KOOP — Sint-Gillis · Rijhuis 150 m² · 3 slpk. · EPC B</a:t>
            </a:r>
            <a:endParaRPr lang="en-US" sz="2100" dirty="0"/>
          </a:p>
          <a:p>
            <a:pPr indent="0" marL="0">
              <a:spcAft>
                <a:spcPts val="800"/>
              </a:spcAft>
              <a:buNone/>
            </a:pPr>
            <a:r>
              <a:rPr lang="en-US" sz="2100" dirty="0">
                <a:solidFill>
                  <a:schemeClr val="tx1"/>
                </a:solidFill>
              </a:rPr>
              <a:t>Rijhuis dat in 2025 volledig gerenoveerd werd. Het heeft drie slaapkamers, een open keuken die aansluit op de woonkamer en een stadstuin die op het zuiden ligt. Een instapklare woning die energiezuinig is, ideaal voor een gezin dat rust en ruimte zoekt.</a:t>
            </a:r>
            <a:endParaRPr lang="en-US" sz="2100" dirty="0"/>
          </a:p>
          <a:p>
            <a:pPr indent="0" marL="0">
              <a:spcAft>
                <a:spcPts val="800"/>
              </a:spcAft>
              <a:buNone/>
            </a:pPr>
            <a:r>
              <a:rPr lang="en-US" sz="2100" dirty="0">
                <a:solidFill>
                  <a:schemeClr val="tx1"/>
                </a:solidFill>
              </a:rPr>
              <a:t>Vraagprijs: € 425.000. Vrij bij akte. Bezichtigen kan op afspraak.</a:t>
            </a:r>
            <a:endParaRPr lang="en-US" sz="2100" dirty="0"/>
          </a:p>
        </p:txBody>
      </p:sp>
      <p:sp>
        <p:nvSpPr>
          <p:cNvPr id="10" name="aside"/>
          <p:cNvSpPr/>
          <p:nvPr/>
        </p:nvSpPr>
        <p:spPr>
          <a:xfrm>
            <a:off x="8275320" y="1481328"/>
            <a:ext cx="3364992" cy="4809744"/>
          </a:xfrm>
          <a:prstGeom prst="roundRect">
            <a:avLst>
              <a:gd name="adj" fmla="val 2174"/>
            </a:avLst>
          </a:prstGeom>
          <a:solidFill>
            <a:schemeClr val="accent3">
              <a:alpha val="10000"/>
            </a:schemeClr>
          </a:solidFill>
          <a:ln w="12700">
            <a:solidFill>
              <a:schemeClr val="accent3">
                <a:alpha val="60000"/>
              </a:schemeClr>
            </a:solidFill>
            <a:prstDash val="solid"/>
          </a:ln>
        </p:spPr>
      </p:sp>
      <p:pic>
        <p:nvPicPr>
          <p:cNvPr id="11" name="Image 0" descr="preencoded.png">    </p:cNvPr>
          <p:cNvPicPr>
            <a:picLocks noChangeAspect="1"/>
          </p:cNvPicPr>
          <p:nvPr/>
        </p:nvPicPr>
        <p:blipFill>
          <a:blip r:embed="rId1"/>
          <a:stretch>
            <a:fillRect/>
          </a:stretch>
        </p:blipFill>
        <p:spPr>
          <a:xfrm>
            <a:off x="8458200" y="1664208"/>
            <a:ext cx="292608" cy="292608"/>
          </a:xfrm>
          <a:prstGeom prst="rect">
            <a:avLst/>
          </a:prstGeom>
        </p:spPr>
      </p:pic>
      <p:sp>
        <p:nvSpPr>
          <p:cNvPr id="12" name="Text 8"/>
          <p:cNvSpPr txBox="1"/>
          <p:nvPr/>
        </p:nvSpPr>
        <p:spPr>
          <a:xfrm>
            <a:off x="8842248" y="1636776"/>
            <a:ext cx="2633472" cy="347472"/>
          </a:xfrm>
          <a:prstGeom prst="rect">
            <a:avLst/>
          </a:prstGeom>
          <a:noFill/>
          <a:ln/>
        </p:spPr>
        <p:txBody>
          <a:bodyPr wrap="square" lIns="0" tIns="0" rIns="0" bIns="0" rtlCol="0" anchor="ctr"/>
          <a:lstStyle/>
          <a:p>
            <a:pPr indent="0" marL="0">
              <a:buNone/>
            </a:pPr>
            <a:r>
              <a:rPr lang="en-US" sz="1400" b="1" spc="100" kern="0" dirty="0">
                <a:solidFill>
                  <a:schemeClr val="accent3"/>
                </a:solidFill>
              </a:rPr>
              <a:t>RELATIVES (5)</a:t>
            </a:r>
            <a:endParaRPr lang="en-US" sz="1400" dirty="0"/>
          </a:p>
        </p:txBody>
      </p:sp>
      <p:sp>
        <p:nvSpPr>
          <p:cNvPr id="13" name="Text 9"/>
          <p:cNvSpPr txBox="1"/>
          <p:nvPr/>
        </p:nvSpPr>
        <p:spPr>
          <a:xfrm>
            <a:off x="8439912" y="2075688"/>
            <a:ext cx="3035808" cy="4078224"/>
          </a:xfrm>
          <a:prstGeom prst="rect">
            <a:avLst/>
          </a:prstGeom>
          <a:noFill/>
          <a:ln/>
        </p:spPr>
        <p:txBody>
          <a:bodyPr wrap="square" lIns="0" tIns="0" rIns="0" bIns="0" rtlCol="0" anchor="t"/>
          <a:lstStyle/>
          <a:p>
            <a:pPr marL="177800" indent="-177800">
              <a:spcAft>
                <a:spcPts val="600"/>
              </a:spcAft>
              <a:buSzPct val="100000"/>
              <a:buChar char="•"/>
            </a:pPr>
            <a:r>
              <a:rPr lang="en-US" sz="1800" b="1" dirty="0">
                <a:solidFill>
                  <a:schemeClr val="tx1"/>
                </a:solidFill>
              </a:rPr>
              <a:t>dat</a:t>
            </a:r>
            <a:r>
              <a:rPr lang="en-US" sz="1800" dirty="0">
                <a:solidFill>
                  <a:schemeClr val="tx1"/>
                </a:solidFill>
              </a:rPr>
              <a:t> … gerenoveerd werd</a:t>
            </a:r>
            <a:endParaRPr lang="en-US" sz="1800" dirty="0"/>
          </a:p>
          <a:p>
            <a:pPr marL="177800" indent="-177800">
              <a:spcAft>
                <a:spcPts val="600"/>
              </a:spcAft>
              <a:buSzPct val="100000"/>
              <a:buChar char="•"/>
            </a:pPr>
            <a:r>
              <a:rPr lang="en-US" sz="1800" b="1" dirty="0">
                <a:solidFill>
                  <a:schemeClr val="tx1"/>
                </a:solidFill>
              </a:rPr>
              <a:t>die</a:t>
            </a:r>
            <a:r>
              <a:rPr lang="en-US" sz="1800" dirty="0">
                <a:solidFill>
                  <a:schemeClr val="tx1"/>
                </a:solidFill>
              </a:rPr>
              <a:t> aansluit op…</a:t>
            </a:r>
            <a:endParaRPr lang="en-US" sz="1800" dirty="0"/>
          </a:p>
          <a:p>
            <a:pPr marL="177800" indent="-177800">
              <a:spcAft>
                <a:spcPts val="600"/>
              </a:spcAft>
              <a:buSzPct val="100000"/>
              <a:buChar char="•"/>
            </a:pPr>
            <a:r>
              <a:rPr lang="en-US" sz="1800" b="1" dirty="0">
                <a:solidFill>
                  <a:schemeClr val="tx1"/>
                </a:solidFill>
              </a:rPr>
              <a:t>die</a:t>
            </a:r>
            <a:r>
              <a:rPr lang="en-US" sz="1800" dirty="0">
                <a:solidFill>
                  <a:schemeClr val="tx1"/>
                </a:solidFill>
              </a:rPr>
              <a:t> op het zuiden ligt</a:t>
            </a:r>
            <a:endParaRPr lang="en-US" sz="1800" dirty="0"/>
          </a:p>
          <a:p>
            <a:pPr marL="177800" indent="-177800">
              <a:spcAft>
                <a:spcPts val="600"/>
              </a:spcAft>
              <a:buSzPct val="100000"/>
              <a:buChar char="•"/>
            </a:pPr>
            <a:r>
              <a:rPr lang="en-US" sz="1800" b="1" dirty="0">
                <a:solidFill>
                  <a:schemeClr val="tx1"/>
                </a:solidFill>
              </a:rPr>
              <a:t>die</a:t>
            </a:r>
            <a:r>
              <a:rPr lang="en-US" sz="1800" dirty="0">
                <a:solidFill>
                  <a:schemeClr val="tx1"/>
                </a:solidFill>
              </a:rPr>
              <a:t> energiezuinig is</a:t>
            </a:r>
            <a:endParaRPr lang="en-US" sz="1800" dirty="0"/>
          </a:p>
          <a:p>
            <a:pPr marL="177800" indent="-177800">
              <a:spcAft>
                <a:spcPts val="600"/>
              </a:spcAft>
              <a:buSzPct val="100000"/>
              <a:buChar char="•"/>
            </a:pPr>
            <a:r>
              <a:rPr lang="en-US" sz="1800" b="1" dirty="0">
                <a:solidFill>
                  <a:schemeClr val="tx1"/>
                </a:solidFill>
              </a:rPr>
              <a:t>dat</a:t>
            </a:r>
            <a:r>
              <a:rPr lang="en-US" sz="1800" dirty="0">
                <a:solidFill>
                  <a:schemeClr val="tx1"/>
                </a:solidFill>
              </a:rPr>
              <a:t> rust en ruimte zoekt</a:t>
            </a:r>
            <a:endParaRPr lang="en-US" sz="1800" dirty="0"/>
          </a:p>
          <a:p>
            <a:pPr marL="177800" indent="-177800">
              <a:spcAft>
                <a:spcPts val="600"/>
              </a:spcAft>
              <a:buSzPct val="100000"/>
              <a:buChar char="•"/>
            </a:pPr>
            <a:r>
              <a:rPr lang="en-US" sz="1800" dirty="0">
                <a:solidFill>
                  <a:schemeClr val="tx1"/>
                </a:solidFill>
              </a:rPr>
              <a:t>Abréviations : slpk. · EPC</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D2 Dagelijks leven — Drie advertenties op 2dehands</a:t>
            </a:r>
            <a:endParaRPr lang="en-US" sz="3200" dirty="0"/>
          </a:p>
        </p:txBody>
      </p:sp>
      <p:sp>
        <p:nvSpPr>
          <p:cNvPr id="3" name="tag"/>
          <p:cNvSpPr/>
          <p:nvPr/>
        </p:nvSpPr>
        <p:spPr>
          <a:xfrm>
            <a:off x="548640" y="237744"/>
            <a:ext cx="1280160"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chemeClr val="bg1"/>
                </a:solidFill>
              </a:rPr>
              <a:t>COUCHE 1</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10a</a:t>
            </a:r>
            <a:endParaRPr lang="en-US" sz="1200" dirty="0"/>
          </a:p>
        </p:txBody>
      </p:sp>
      <p:sp>
        <p:nvSpPr>
          <p:cNvPr id="6" name="Shape 3"/>
          <p:cNvSpPr/>
          <p:nvPr/>
        </p:nvSpPr>
        <p:spPr>
          <a:xfrm>
            <a:off x="548640" y="1481328"/>
            <a:ext cx="7406640" cy="4809744"/>
          </a:xfrm>
          <a:prstGeom prst="rect">
            <a:avLst/>
          </a:prstGeom>
          <a:solidFill>
            <a:schemeClr val="bg1"/>
          </a:solidFill>
          <a:ln w="12700">
            <a:solidFill>
              <a:srgbClr val="4A5A70"/>
            </a:solidFill>
            <a:prstDash val="dash"/>
          </a:ln>
        </p:spPr>
      </p:sp>
      <p:sp>
        <p:nvSpPr>
          <p:cNvPr id="7" name="tag"/>
          <p:cNvSpPr/>
          <p:nvPr/>
        </p:nvSpPr>
        <p:spPr>
          <a:xfrm>
            <a:off x="777240" y="1645920"/>
            <a:ext cx="1988820"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chemeClr val="bg1"/>
                </a:solidFill>
              </a:rPr>
              <a:t>D2 · 2DEHANDS</a:t>
            </a:r>
            <a:endParaRPr lang="en-US" sz="1200" dirty="0"/>
          </a:p>
        </p:txBody>
      </p:sp>
      <p:sp>
        <p:nvSpPr>
          <p:cNvPr id="8" name="Text 5"/>
          <p:cNvSpPr txBox="1"/>
          <p:nvPr/>
        </p:nvSpPr>
        <p:spPr>
          <a:xfrm>
            <a:off x="2994660" y="1609344"/>
            <a:ext cx="4869180" cy="384048"/>
          </a:xfrm>
          <a:prstGeom prst="rect">
            <a:avLst/>
          </a:prstGeom>
          <a:noFill/>
          <a:ln/>
        </p:spPr>
        <p:txBody>
          <a:bodyPr wrap="square" lIns="0" tIns="0" rIns="0" bIns="0" rtlCol="0" anchor="ctr"/>
          <a:lstStyle/>
          <a:p>
            <a:pPr indent="0" marL="0">
              <a:buNone/>
            </a:pPr>
            <a:r>
              <a:rPr lang="en-US" sz="1800" b="1" dirty="0">
                <a:solidFill>
                  <a:schemeClr val="accent5"/>
                </a:solidFill>
                <a:latin typeface="+mj-lt" pitchFamily="34" charset="0"/>
                <a:ea typeface="+mj-lt" pitchFamily="34" charset="-122"/>
                <a:cs typeface="+mj-lt" pitchFamily="34" charset="-120"/>
              </a:rPr>
              <a:t>Un vélo pour Stef (budget € 200 max · Forest)</a:t>
            </a:r>
            <a:endParaRPr lang="en-US" sz="1800" dirty="0"/>
          </a:p>
        </p:txBody>
      </p:sp>
      <p:sp>
        <p:nvSpPr>
          <p:cNvPr id="9" name="Text 6"/>
          <p:cNvSpPr txBox="1"/>
          <p:nvPr/>
        </p:nvSpPr>
        <p:spPr>
          <a:xfrm>
            <a:off x="777240" y="2148840"/>
            <a:ext cx="6949440" cy="4023360"/>
          </a:xfrm>
          <a:prstGeom prst="rect">
            <a:avLst/>
          </a:prstGeom>
          <a:noFill/>
          <a:ln/>
        </p:spPr>
        <p:txBody>
          <a:bodyPr wrap="square" lIns="0" tIns="0" rIns="0" bIns="0" rtlCol="0" anchor="t"/>
          <a:lstStyle/>
          <a:p>
            <a:pPr indent="0" marL="0">
              <a:spcAft>
                <a:spcPts val="800"/>
              </a:spcAft>
              <a:buNone/>
            </a:pPr>
            <a:r>
              <a:rPr lang="en-US" sz="2100" b="1" dirty="0">
                <a:solidFill>
                  <a:schemeClr val="tx2"/>
                </a:solidFill>
              </a:rPr>
              <a:t>A   </a:t>
            </a:r>
            <a:r>
              <a:rPr lang="en-US" sz="2100" dirty="0">
                <a:solidFill>
                  <a:schemeClr val="tx1"/>
                </a:solidFill>
              </a:rPr>
              <a:t>TE KOOP — Stadsfiets, z.g.a.n. Herenfiets met 7 versnellingen en een slot dat erbij hoort. Ideaal voor iemand die dagelijks naar het werk fietst. Ophalen in Vorst. € 180 — prijs bespreekbaar.</a:t>
            </a:r>
            <a:endParaRPr lang="en-US" sz="2100" dirty="0"/>
          </a:p>
          <a:p>
            <a:pPr indent="0" marL="0">
              <a:spcAft>
                <a:spcPts val="800"/>
              </a:spcAft>
              <a:buNone/>
            </a:pPr>
            <a:r>
              <a:rPr lang="en-US" sz="2100" b="1" dirty="0">
                <a:solidFill>
                  <a:schemeClr val="tx2"/>
                </a:solidFill>
              </a:rPr>
              <a:t>B   </a:t>
            </a:r>
            <a:r>
              <a:rPr lang="en-US" sz="2100" dirty="0">
                <a:solidFill>
                  <a:schemeClr val="tx1"/>
                </a:solidFill>
              </a:rPr>
              <a:t>TE KOOP — Racefiets in carbon, twee jaar oud. Voor sportievelingen die snelheid zoeken. Verzending mogelijk. € 650 — vaste prijs.</a:t>
            </a:r>
            <a:endParaRPr lang="en-US" sz="2100" dirty="0"/>
          </a:p>
          <a:p>
            <a:pPr indent="0" marL="0">
              <a:spcAft>
                <a:spcPts val="800"/>
              </a:spcAft>
              <a:buNone/>
            </a:pPr>
            <a:r>
              <a:rPr lang="en-US" sz="2100" b="1" dirty="0">
                <a:solidFill>
                  <a:schemeClr val="tx2"/>
                </a:solidFill>
              </a:rPr>
              <a:t>C   </a:t>
            </a:r>
            <a:r>
              <a:rPr lang="en-US" sz="2100" dirty="0">
                <a:solidFill>
                  <a:schemeClr val="tx1"/>
                </a:solidFill>
              </a:rPr>
              <a:t>GRATIS — Oude kinderfiets die een nieuwe band nodig heeft. Ideaal voor ouders die graag knutselen. Ophalen in Anderlecht, enkel dit weekend.</a:t>
            </a:r>
            <a:endParaRPr lang="en-US" sz="2100" dirty="0"/>
          </a:p>
        </p:txBody>
      </p:sp>
      <p:sp>
        <p:nvSpPr>
          <p:cNvPr id="10" name="aside"/>
          <p:cNvSpPr/>
          <p:nvPr/>
        </p:nvSpPr>
        <p:spPr>
          <a:xfrm>
            <a:off x="8275320" y="1481328"/>
            <a:ext cx="3364992" cy="4809744"/>
          </a:xfrm>
          <a:prstGeom prst="roundRect">
            <a:avLst>
              <a:gd name="adj" fmla="val 2174"/>
            </a:avLst>
          </a:prstGeom>
          <a:solidFill>
            <a:schemeClr val="accent2">
              <a:alpha val="10000"/>
            </a:schemeClr>
          </a:solidFill>
          <a:ln w="12700">
            <a:solidFill>
              <a:schemeClr val="accent2">
                <a:alpha val="60000"/>
              </a:schemeClr>
            </a:solidFill>
            <a:prstDash val="solid"/>
          </a:ln>
        </p:spPr>
      </p:sp>
      <p:pic>
        <p:nvPicPr>
          <p:cNvPr id="11" name="Image 0" descr="preencoded.png">    </p:cNvPr>
          <p:cNvPicPr>
            <a:picLocks noChangeAspect="1"/>
          </p:cNvPicPr>
          <p:nvPr/>
        </p:nvPicPr>
        <p:blipFill>
          <a:blip r:embed="rId1"/>
          <a:stretch>
            <a:fillRect/>
          </a:stretch>
        </p:blipFill>
        <p:spPr>
          <a:xfrm>
            <a:off x="8458200" y="1664208"/>
            <a:ext cx="292608" cy="292608"/>
          </a:xfrm>
          <a:prstGeom prst="rect">
            <a:avLst/>
          </a:prstGeom>
        </p:spPr>
      </p:pic>
      <p:sp>
        <p:nvSpPr>
          <p:cNvPr id="12" name="Text 8"/>
          <p:cNvSpPr txBox="1"/>
          <p:nvPr/>
        </p:nvSpPr>
        <p:spPr>
          <a:xfrm>
            <a:off x="8842248" y="1636776"/>
            <a:ext cx="2633472" cy="347472"/>
          </a:xfrm>
          <a:prstGeom prst="rect">
            <a:avLst/>
          </a:prstGeom>
          <a:noFill/>
          <a:ln/>
        </p:spPr>
        <p:txBody>
          <a:bodyPr wrap="square" lIns="0" tIns="0" rIns="0" bIns="0" rtlCol="0" anchor="ctr"/>
          <a:lstStyle/>
          <a:p>
            <a:pPr indent="0" marL="0">
              <a:buNone/>
            </a:pPr>
            <a:r>
              <a:rPr lang="en-US" sz="1400" b="1" spc="100" kern="0" dirty="0">
                <a:solidFill>
                  <a:schemeClr val="accent2"/>
                </a:solidFill>
              </a:rPr>
              <a:t>MÊME TECHNIQUE</a:t>
            </a:r>
            <a:endParaRPr lang="en-US" sz="1400" dirty="0"/>
          </a:p>
        </p:txBody>
      </p:sp>
      <p:sp>
        <p:nvSpPr>
          <p:cNvPr id="13" name="Text 9"/>
          <p:cNvSpPr txBox="1"/>
          <p:nvPr/>
        </p:nvSpPr>
        <p:spPr>
          <a:xfrm>
            <a:off x="8439912" y="2075688"/>
            <a:ext cx="3035808" cy="4078224"/>
          </a:xfrm>
          <a:prstGeom prst="rect">
            <a:avLst/>
          </a:prstGeom>
          <a:noFill/>
          <a:ln/>
        </p:spPr>
        <p:txBody>
          <a:bodyPr wrap="square" lIns="0" tIns="0" rIns="0" bIns="0" rtlCol="0" anchor="t"/>
          <a:lstStyle/>
          <a:p>
            <a:pPr marL="177800" indent="-177800">
              <a:spcAft>
                <a:spcPts val="600"/>
              </a:spcAft>
              <a:buSzPct val="100000"/>
              <a:buChar char="•"/>
            </a:pPr>
            <a:r>
              <a:rPr lang="en-US" sz="1800" dirty="0">
                <a:solidFill>
                  <a:schemeClr val="tx1"/>
                </a:solidFill>
              </a:rPr>
              <a:t>Autre marché : </a:t>
            </a:r>
            <a:r>
              <a:rPr lang="en-US" sz="1800" b="1" dirty="0">
                <a:solidFill>
                  <a:schemeClr val="tx1"/>
                </a:solidFill>
              </a:rPr>
              <a:t>l’occasion</a:t>
            </a:r>
            <a:r>
              <a:rPr lang="en-US" sz="1800" dirty="0">
                <a:solidFill>
                  <a:schemeClr val="tx1"/>
                </a:solidFill>
              </a:rPr>
              <a:t>.</a:t>
            </a:r>
            <a:endParaRPr lang="en-US" sz="1800" dirty="0"/>
          </a:p>
          <a:p>
            <a:pPr marL="177800" indent="-177800">
              <a:spcAft>
                <a:spcPts val="600"/>
              </a:spcAft>
              <a:buSzPct val="100000"/>
              <a:buChar char="•"/>
            </a:pPr>
            <a:r>
              <a:rPr lang="en-US" sz="1800" dirty="0">
                <a:solidFill>
                  <a:schemeClr val="tx1"/>
                </a:solidFill>
              </a:rPr>
              <a:t>Stef va </a:t>
            </a:r>
            <a:r>
              <a:rPr lang="en-US" sz="1800" b="1" dirty="0">
                <a:solidFill>
                  <a:schemeClr val="tx1"/>
                </a:solidFill>
              </a:rPr>
              <a:t>au bureau</a:t>
            </a:r>
            <a:r>
              <a:rPr lang="en-US" sz="1800" dirty="0">
                <a:solidFill>
                  <a:schemeClr val="tx1"/>
                </a:solidFill>
              </a:rPr>
              <a:t> à vélo.</a:t>
            </a:r>
            <a:endParaRPr lang="en-US" sz="1800" dirty="0"/>
          </a:p>
          <a:p>
            <a:pPr marL="177800" indent="-177800">
              <a:spcAft>
                <a:spcPts val="600"/>
              </a:spcAft>
              <a:buSzPct val="100000"/>
              <a:buChar char="•"/>
            </a:pPr>
            <a:r>
              <a:rPr lang="en-US" sz="1800" dirty="0">
                <a:solidFill>
                  <a:schemeClr val="tx1"/>
                </a:solidFill>
              </a:rPr>
              <a:t>Couche 1 · seul · 5 min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D2 Questions 1 à 3 — lire les petites annonces</a:t>
            </a:r>
            <a:endParaRPr lang="en-US" sz="3200" dirty="0"/>
          </a:p>
        </p:txBody>
      </p:sp>
      <p:sp>
        <p:nvSpPr>
          <p:cNvPr id="3" name="tag"/>
          <p:cNvSpPr/>
          <p:nvPr/>
        </p:nvSpPr>
        <p:spPr>
          <a:xfrm>
            <a:off x="548640" y="237744"/>
            <a:ext cx="1280160"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chemeClr val="bg1"/>
                </a:solidFill>
              </a:rPr>
              <a:t>COUCHE 2</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10a</a:t>
            </a:r>
            <a:endParaRPr lang="en-US" sz="1200" dirty="0"/>
          </a:p>
        </p:txBody>
      </p:sp>
      <p:sp>
        <p:nvSpPr>
          <p:cNvPr id="6" name="Text 3"/>
          <p:cNvSpPr txBox="1"/>
          <p:nvPr/>
        </p:nvSpPr>
        <p:spPr>
          <a:xfrm>
            <a:off x="548640" y="1481328"/>
            <a:ext cx="11091672" cy="371856"/>
          </a:xfrm>
          <a:prstGeom prst="rect">
            <a:avLst/>
          </a:prstGeom>
          <a:noFill/>
          <a:ln/>
        </p:spPr>
        <p:txBody>
          <a:bodyPr wrap="square" lIns="0" tIns="0" rIns="0" bIns="0" rtlCol="0" anchor="t"/>
          <a:lstStyle/>
          <a:p>
            <a:pPr indent="0" marL="0">
              <a:buNone/>
            </a:pPr>
            <a:r>
              <a:rPr lang="en-US" sz="1600" i="1" dirty="0">
                <a:solidFill>
                  <a:schemeClr val="accent5"/>
                </a:solidFill>
              </a:rPr>
              <a:t>Par deux · 8 min. Répondez, puis soulignez les relatives.</a:t>
            </a:r>
            <a:endParaRPr lang="en-US" sz="1600" dirty="0"/>
          </a:p>
        </p:txBody>
      </p:sp>
      <p:sp>
        <p:nvSpPr>
          <p:cNvPr id="7" name="exercise"/>
          <p:cNvSpPr txBox="1"/>
          <p:nvPr/>
        </p:nvSpPr>
        <p:spPr>
          <a:xfrm>
            <a:off x="548640" y="1926336"/>
            <a:ext cx="11091672" cy="4364736"/>
          </a:xfrm>
          <a:prstGeom prst="rect">
            <a:avLst/>
          </a:prstGeom>
          <a:noFill/>
          <a:ln/>
        </p:spPr>
        <p:txBody>
          <a:bodyPr wrap="square" lIns="0" tIns="0" rIns="0" bIns="0" rtlCol="0" anchor="t"/>
          <a:lstStyle/>
          <a:p>
            <a:pPr indent="0" marL="0">
              <a:spcAft>
                <a:spcPts val="1400"/>
              </a:spcAft>
              <a:buNone/>
            </a:pPr>
            <a:r>
              <a:rPr lang="en-US" sz="2600" b="1" dirty="0">
                <a:solidFill>
                  <a:schemeClr val="tx1"/>
                </a:solidFill>
              </a:rPr>
              <a:t>1.</a:t>
            </a:r>
            <a:r>
              <a:rPr lang="en-US" sz="2600" dirty="0">
                <a:solidFill>
                  <a:schemeClr val="tx1"/>
                </a:solidFill>
              </a:rPr>
              <a:t> Welke advertentie past bij Stef ? Waarom ?</a:t>
            </a:r>
            <a:endParaRPr lang="en-US" sz="2600" dirty="0"/>
          </a:p>
          <a:p>
            <a:pPr indent="0" marL="0">
              <a:spcAft>
                <a:spcPts val="1400"/>
              </a:spcAft>
              <a:buNone/>
            </a:pPr>
            <a:r>
              <a:rPr lang="en-US" sz="2600" b="1" dirty="0">
                <a:solidFill>
                  <a:schemeClr val="tx1"/>
                </a:solidFill>
              </a:rPr>
              <a:t>2.</a:t>
            </a:r>
            <a:r>
              <a:rPr lang="en-US" sz="2600" dirty="0">
                <a:solidFill>
                  <a:schemeClr val="tx1"/>
                </a:solidFill>
              </a:rPr>
              <a:t> Soulignez les </a:t>
            </a:r>
            <a:r>
              <a:rPr lang="en-US" sz="2600" b="1" dirty="0">
                <a:solidFill>
                  <a:schemeClr val="tx1"/>
                </a:solidFill>
              </a:rPr>
              <a:t>cinq relatives</a:t>
            </a:r>
            <a:r>
              <a:rPr lang="en-US" sz="2600" dirty="0">
                <a:solidFill>
                  <a:schemeClr val="tx1"/>
                </a:solidFill>
              </a:rPr>
              <a:t> : die ou dat ?</a:t>
            </a:r>
            <a:endParaRPr lang="en-US" sz="2600" dirty="0"/>
          </a:p>
          <a:p>
            <a:pPr indent="0" marL="0">
              <a:spcAft>
                <a:spcPts val="1400"/>
              </a:spcAft>
              <a:buNone/>
            </a:pPr>
            <a:r>
              <a:rPr lang="en-US" sz="2600" b="1" dirty="0">
                <a:solidFill>
                  <a:schemeClr val="tx1"/>
                </a:solidFill>
              </a:rPr>
              <a:t>3.</a:t>
            </a:r>
            <a:r>
              <a:rPr lang="en-US" sz="2600" dirty="0">
                <a:solidFill>
                  <a:schemeClr val="tx1"/>
                </a:solidFill>
              </a:rPr>
              <a:t> Décodez : </a:t>
            </a:r>
            <a:r>
              <a:rPr lang="en-US" sz="2600" b="1" dirty="0">
                <a:solidFill>
                  <a:schemeClr val="tx1"/>
                </a:solidFill>
              </a:rPr>
              <a:t>z.g.a.n.</a:t>
            </a:r>
            <a:r>
              <a:rPr lang="en-US" sz="2600" dirty="0">
                <a:solidFill>
                  <a:schemeClr val="tx1"/>
                </a:solidFill>
              </a:rPr>
              <a:t> · </a:t>
            </a:r>
            <a:r>
              <a:rPr lang="en-US" sz="2600" b="1" dirty="0">
                <a:solidFill>
                  <a:schemeClr val="tx1"/>
                </a:solidFill>
              </a:rPr>
              <a:t>ophalen</a:t>
            </a:r>
            <a:r>
              <a:rPr lang="en-US" sz="2600" dirty="0">
                <a:solidFill>
                  <a:schemeClr val="tx1"/>
                </a:solidFill>
              </a:rPr>
              <a:t> · </a:t>
            </a:r>
            <a:r>
              <a:rPr lang="en-US" sz="2600" b="1" dirty="0">
                <a:solidFill>
                  <a:schemeClr val="tx1"/>
                </a:solidFill>
              </a:rPr>
              <a:t>prijs bespreekbaar ≠ vaste prijs</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D2 Questions 1 à 3 — lire les petites annonces</a:t>
            </a:r>
            <a:endParaRPr lang="en-US" sz="3200" dirty="0"/>
          </a:p>
        </p:txBody>
      </p:sp>
      <p:sp>
        <p:nvSpPr>
          <p:cNvPr id="3" name="tag"/>
          <p:cNvSpPr/>
          <p:nvPr/>
        </p:nvSpPr>
        <p:spPr>
          <a:xfrm>
            <a:off x="548640" y="237744"/>
            <a:ext cx="1280160"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chemeClr val="bg1"/>
                </a:solidFill>
              </a:rPr>
              <a:t>COUCHE 2</a:t>
            </a:r>
            <a:endParaRPr lang="en-US" sz="1200" dirty="0"/>
          </a:p>
        </p:txBody>
      </p:sp>
      <p:sp>
        <p:nvSpPr>
          <p:cNvPr id="4" name="tag"/>
          <p:cNvSpPr/>
          <p:nvPr/>
        </p:nvSpPr>
        <p:spPr>
          <a:xfrm>
            <a:off x="1938528" y="237744"/>
            <a:ext cx="1760220"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chemeClr val="bg1"/>
                </a:solidFill>
              </a:rPr>
              <a:t>✓ CORRECTIE</a:t>
            </a:r>
            <a:endParaRPr lang="en-US" sz="1200" dirty="0"/>
          </a:p>
        </p:txBody>
      </p:sp>
      <p:sp>
        <p:nvSpPr>
          <p:cNvPr id="5" name="Text 3"/>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10a</a:t>
            </a:r>
            <a:endParaRPr lang="en-US" sz="1200" dirty="0"/>
          </a:p>
        </p:txBody>
      </p:sp>
      <p:sp>
        <p:nvSpPr>
          <p:cNvPr id="7" name="Text 4"/>
          <p:cNvSpPr txBox="1"/>
          <p:nvPr/>
        </p:nvSpPr>
        <p:spPr>
          <a:xfrm>
            <a:off x="548640" y="1481328"/>
            <a:ext cx="11091672" cy="371856"/>
          </a:xfrm>
          <a:prstGeom prst="rect">
            <a:avLst/>
          </a:prstGeom>
          <a:noFill/>
          <a:ln/>
        </p:spPr>
        <p:txBody>
          <a:bodyPr wrap="square" lIns="0" tIns="0" rIns="0" bIns="0" rtlCol="0" anchor="t"/>
          <a:lstStyle/>
          <a:p>
            <a:pPr indent="0" marL="0">
              <a:buNone/>
            </a:pPr>
            <a:r>
              <a:rPr lang="en-US" sz="1600" i="1" dirty="0">
                <a:solidFill>
                  <a:schemeClr val="accent5"/>
                </a:solidFill>
              </a:rPr>
              <a:t>Par deux · 8 min. Répondez, puis soulignez les relatives.</a:t>
            </a:r>
            <a:endParaRPr lang="en-US" sz="1600" dirty="0"/>
          </a:p>
        </p:txBody>
      </p:sp>
      <p:sp>
        <p:nvSpPr>
          <p:cNvPr id="8" name="exercise"/>
          <p:cNvSpPr txBox="1"/>
          <p:nvPr/>
        </p:nvSpPr>
        <p:spPr>
          <a:xfrm>
            <a:off x="548640" y="1926336"/>
            <a:ext cx="11091672" cy="4364736"/>
          </a:xfrm>
          <a:prstGeom prst="rect">
            <a:avLst/>
          </a:prstGeom>
          <a:noFill/>
          <a:ln/>
        </p:spPr>
        <p:txBody>
          <a:bodyPr wrap="square" lIns="0" tIns="0" rIns="0" bIns="0" rtlCol="0" anchor="t"/>
          <a:lstStyle/>
          <a:p>
            <a:pPr indent="0" marL="0">
              <a:spcAft>
                <a:spcPts val="400"/>
              </a:spcAft>
              <a:buNone/>
            </a:pPr>
            <a:r>
              <a:rPr lang="en-US" sz="2400" b="1" dirty="0">
                <a:solidFill>
                  <a:schemeClr val="tx1"/>
                </a:solidFill>
              </a:rPr>
              <a:t>1.</a:t>
            </a:r>
            <a:r>
              <a:rPr lang="en-US" sz="2400" dirty="0">
                <a:solidFill>
                  <a:schemeClr val="tx1"/>
                </a:solidFill>
              </a:rPr>
              <a:t> Welke advertentie past bij Stef ? Waarom ?</a:t>
            </a:r>
            <a:endParaRPr lang="en-US" sz="2400" dirty="0"/>
          </a:p>
          <a:p>
            <a:pPr indent="0" marL="0">
              <a:spcAft>
                <a:spcPts val="800"/>
              </a:spcAft>
              <a:buNone/>
            </a:pPr>
            <a:r>
              <a:rPr lang="en-US" sz="2400" b="1" dirty="0">
                <a:solidFill>
                  <a:schemeClr val="accent3"/>
                </a:solidFill>
              </a:rPr>
              <a:t>→ </a:t>
            </a:r>
            <a:r>
              <a:rPr lang="en-US" sz="2400" b="1" dirty="0">
                <a:solidFill>
                  <a:schemeClr val="accent3"/>
                </a:solidFill>
              </a:rPr>
              <a:t>A</a:t>
            </a:r>
            <a:r>
              <a:rPr lang="en-US" sz="2400" dirty="0">
                <a:solidFill>
                  <a:schemeClr val="accent3"/>
                </a:solidFill>
              </a:rPr>
              <a:t> : stadsfiets à € 180 (budget ≤ € 200), ophalen in Vorst. B coûte € 650 ; C est un vélo d’enfant.</a:t>
            </a:r>
            <a:endParaRPr lang="en-US" sz="2400" dirty="0"/>
          </a:p>
          <a:p>
            <a:pPr indent="0" marL="0">
              <a:spcAft>
                <a:spcPts val="400"/>
              </a:spcAft>
              <a:buNone/>
            </a:pPr>
            <a:r>
              <a:rPr lang="en-US" sz="2400" b="1" dirty="0">
                <a:solidFill>
                  <a:schemeClr val="tx1"/>
                </a:solidFill>
              </a:rPr>
              <a:t>2.</a:t>
            </a:r>
            <a:r>
              <a:rPr lang="en-US" sz="2400" dirty="0">
                <a:solidFill>
                  <a:schemeClr val="tx1"/>
                </a:solidFill>
              </a:rPr>
              <a:t> Soulignez les </a:t>
            </a:r>
            <a:r>
              <a:rPr lang="en-US" sz="2400" b="1" dirty="0">
                <a:solidFill>
                  <a:schemeClr val="tx1"/>
                </a:solidFill>
              </a:rPr>
              <a:t>cinq relatives</a:t>
            </a:r>
            <a:r>
              <a:rPr lang="en-US" sz="2400" dirty="0">
                <a:solidFill>
                  <a:schemeClr val="tx1"/>
                </a:solidFill>
              </a:rPr>
              <a:t> : die ou dat ?</a:t>
            </a:r>
            <a:endParaRPr lang="en-US" sz="2400" dirty="0"/>
          </a:p>
          <a:p>
            <a:pPr indent="0" marL="0">
              <a:spcAft>
                <a:spcPts val="800"/>
              </a:spcAft>
              <a:buNone/>
            </a:pPr>
            <a:r>
              <a:rPr lang="en-US" sz="2400" b="1" dirty="0">
                <a:solidFill>
                  <a:schemeClr val="accent3"/>
                </a:solidFill>
              </a:rPr>
              <a:t>→ </a:t>
            </a:r>
            <a:r>
              <a:rPr lang="en-US" sz="2400" b="1" dirty="0">
                <a:solidFill>
                  <a:schemeClr val="accent3"/>
                </a:solidFill>
              </a:rPr>
              <a:t>dat</a:t>
            </a:r>
            <a:r>
              <a:rPr lang="en-US" sz="2400" dirty="0">
                <a:solidFill>
                  <a:schemeClr val="accent3"/>
                </a:solidFill>
              </a:rPr>
              <a:t> erbij hoort (het slot) · </a:t>
            </a:r>
            <a:r>
              <a:rPr lang="en-US" sz="2400" b="1" dirty="0">
                <a:solidFill>
                  <a:schemeClr val="accent3"/>
                </a:solidFill>
              </a:rPr>
              <a:t>die</a:t>
            </a:r>
            <a:r>
              <a:rPr lang="en-US" sz="2400" dirty="0">
                <a:solidFill>
                  <a:schemeClr val="accent3"/>
                </a:solidFill>
              </a:rPr>
              <a:t> dagelijks… fietst (iemand) · </a:t>
            </a:r>
            <a:r>
              <a:rPr lang="en-US" sz="2400" b="1" dirty="0">
                <a:solidFill>
                  <a:schemeClr val="accent3"/>
                </a:solidFill>
              </a:rPr>
              <a:t>die</a:t>
            </a:r>
            <a:r>
              <a:rPr lang="en-US" sz="2400" dirty="0">
                <a:solidFill>
                  <a:schemeClr val="accent3"/>
                </a:solidFill>
              </a:rPr>
              <a:t> snelheid zoeken (pluriel) · </a:t>
            </a:r>
            <a:r>
              <a:rPr lang="en-US" sz="2400" b="1" dirty="0">
                <a:solidFill>
                  <a:schemeClr val="accent3"/>
                </a:solidFill>
              </a:rPr>
              <a:t>die</a:t>
            </a:r>
            <a:r>
              <a:rPr lang="en-US" sz="2400" dirty="0">
                <a:solidFill>
                  <a:schemeClr val="accent3"/>
                </a:solidFill>
              </a:rPr>
              <a:t> een nieuwe band… (de kinderfiets) · </a:t>
            </a:r>
            <a:r>
              <a:rPr lang="en-US" sz="2400" b="1" dirty="0">
                <a:solidFill>
                  <a:schemeClr val="accent3"/>
                </a:solidFill>
              </a:rPr>
              <a:t>die</a:t>
            </a:r>
            <a:r>
              <a:rPr lang="en-US" sz="2400" dirty="0">
                <a:solidFill>
                  <a:schemeClr val="accent3"/>
                </a:solidFill>
              </a:rPr>
              <a:t> graag knutselen (pluriel)</a:t>
            </a:r>
            <a:endParaRPr lang="en-US" sz="2400" dirty="0"/>
          </a:p>
          <a:p>
            <a:pPr indent="0" marL="0">
              <a:spcAft>
                <a:spcPts val="400"/>
              </a:spcAft>
              <a:buNone/>
            </a:pPr>
            <a:r>
              <a:rPr lang="en-US" sz="2400" b="1" dirty="0">
                <a:solidFill>
                  <a:schemeClr val="tx1"/>
                </a:solidFill>
              </a:rPr>
              <a:t>3.</a:t>
            </a:r>
            <a:r>
              <a:rPr lang="en-US" sz="2400" dirty="0">
                <a:solidFill>
                  <a:schemeClr val="tx1"/>
                </a:solidFill>
              </a:rPr>
              <a:t> Décodez : </a:t>
            </a:r>
            <a:r>
              <a:rPr lang="en-US" sz="2400" b="1" dirty="0">
                <a:solidFill>
                  <a:schemeClr val="tx1"/>
                </a:solidFill>
              </a:rPr>
              <a:t>z.g.a.n.</a:t>
            </a:r>
            <a:r>
              <a:rPr lang="en-US" sz="2400" dirty="0">
                <a:solidFill>
                  <a:schemeClr val="tx1"/>
                </a:solidFill>
              </a:rPr>
              <a:t> · </a:t>
            </a:r>
            <a:r>
              <a:rPr lang="en-US" sz="2400" b="1" dirty="0">
                <a:solidFill>
                  <a:schemeClr val="tx1"/>
                </a:solidFill>
              </a:rPr>
              <a:t>ophalen</a:t>
            </a:r>
            <a:r>
              <a:rPr lang="en-US" sz="2400" dirty="0">
                <a:solidFill>
                  <a:schemeClr val="tx1"/>
                </a:solidFill>
              </a:rPr>
              <a:t> · </a:t>
            </a:r>
            <a:r>
              <a:rPr lang="en-US" sz="2400" b="1" dirty="0">
                <a:solidFill>
                  <a:schemeClr val="tx1"/>
                </a:solidFill>
              </a:rPr>
              <a:t>prijs bespreekbaar ≠ vaste prijs</a:t>
            </a:r>
            <a:endParaRPr lang="en-US" sz="2400" dirty="0"/>
          </a:p>
          <a:p>
            <a:pPr indent="0" marL="0">
              <a:spcAft>
                <a:spcPts val="800"/>
              </a:spcAft>
              <a:buNone/>
            </a:pPr>
            <a:r>
              <a:rPr lang="en-US" sz="2400" b="1" dirty="0">
                <a:solidFill>
                  <a:schemeClr val="accent3"/>
                </a:solidFill>
              </a:rPr>
              <a:t>→ </a:t>
            </a:r>
            <a:r>
              <a:rPr lang="en-US" sz="2400" b="1" dirty="0">
                <a:solidFill>
                  <a:schemeClr val="accent3"/>
                </a:solidFill>
              </a:rPr>
              <a:t>zo goed als nieuw</a:t>
            </a:r>
            <a:r>
              <a:rPr lang="en-US" sz="2400" dirty="0">
                <a:solidFill>
                  <a:schemeClr val="accent3"/>
                </a:solidFill>
              </a:rPr>
              <a:t> (comme neuf) · </a:t>
            </a:r>
            <a:r>
              <a:rPr lang="en-US" sz="2400" b="1" dirty="0">
                <a:solidFill>
                  <a:schemeClr val="accent3"/>
                </a:solidFill>
              </a:rPr>
              <a:t>venir chercher sur place</a:t>
            </a:r>
            <a:r>
              <a:rPr lang="en-US" sz="2400" dirty="0">
                <a:solidFill>
                  <a:schemeClr val="accent3"/>
                </a:solidFill>
              </a:rPr>
              <a:t> · </a:t>
            </a:r>
            <a:r>
              <a:rPr lang="en-US" sz="2400" b="1" dirty="0">
                <a:solidFill>
                  <a:schemeClr val="accent3"/>
                </a:solidFill>
              </a:rPr>
              <a:t>négociable ≠ fixe</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D2 Question 4 — À vous : votre annonce</a:t>
            </a:r>
            <a:endParaRPr lang="en-US" sz="3200" dirty="0"/>
          </a:p>
        </p:txBody>
      </p:sp>
      <p:sp>
        <p:nvSpPr>
          <p:cNvPr id="3" name="tag"/>
          <p:cNvSpPr/>
          <p:nvPr/>
        </p:nvSpPr>
        <p:spPr>
          <a:xfrm>
            <a:off x="548640" y="237744"/>
            <a:ext cx="1074420"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chemeClr val="bg1"/>
                </a:solidFill>
              </a:rPr>
              <a:t>ÉCRIT</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10a</a:t>
            </a:r>
            <a:endParaRPr lang="en-US" sz="1200" dirty="0"/>
          </a:p>
        </p:txBody>
      </p:sp>
      <p:sp>
        <p:nvSpPr>
          <p:cNvPr id="6" name="Text 3"/>
          <p:cNvSpPr txBox="1"/>
          <p:nvPr/>
        </p:nvSpPr>
        <p:spPr>
          <a:xfrm>
            <a:off x="548640" y="1481328"/>
            <a:ext cx="7205472" cy="615696"/>
          </a:xfrm>
          <a:prstGeom prst="rect">
            <a:avLst/>
          </a:prstGeom>
          <a:noFill/>
          <a:ln/>
        </p:spPr>
        <p:txBody>
          <a:bodyPr wrap="square" lIns="0" tIns="0" rIns="0" bIns="0" rtlCol="0" anchor="t"/>
          <a:lstStyle/>
          <a:p>
            <a:pPr indent="0" marL="0">
              <a:buNone/>
            </a:pPr>
            <a:r>
              <a:rPr lang="en-US" sz="1600" i="1" dirty="0">
                <a:solidFill>
                  <a:schemeClr val="accent5"/>
                </a:solidFill>
              </a:rPr>
              <a:t>Écrit · seul·e · 7 min. Vous vendez un objet (meubel, toestel, kleren…) : annonce en </a:t>
            </a:r>
            <a:r>
              <a:rPr lang="en-US" sz="1600" b="1" i="1" dirty="0">
                <a:solidFill>
                  <a:schemeClr val="accent5"/>
                </a:solidFill>
              </a:rPr>
              <a:t>3 phrases</a:t>
            </a:r>
            <a:r>
              <a:rPr lang="en-US" sz="1600" i="1" dirty="0">
                <a:solidFill>
                  <a:schemeClr val="accent5"/>
                </a:solidFill>
              </a:rPr>
              <a:t>, avec </a:t>
            </a:r>
            <a:r>
              <a:rPr lang="en-US" sz="1600" b="1" i="1" dirty="0">
                <a:solidFill>
                  <a:schemeClr val="accent5"/>
                </a:solidFill>
              </a:rPr>
              <a:t>au moins 2 relatives</a:t>
            </a:r>
            <a:r>
              <a:rPr lang="en-US" sz="1600" i="1" dirty="0">
                <a:solidFill>
                  <a:schemeClr val="accent5"/>
                </a:solidFill>
              </a:rPr>
              <a:t> et </a:t>
            </a:r>
            <a:r>
              <a:rPr lang="en-US" sz="1600" b="1" i="1" dirty="0">
                <a:solidFill>
                  <a:schemeClr val="accent5"/>
                </a:solidFill>
              </a:rPr>
              <a:t>une abréviation</a:t>
            </a:r>
            <a:r>
              <a:rPr lang="en-US" sz="1600" i="1" dirty="0">
                <a:solidFill>
                  <a:schemeClr val="accent5"/>
                </a:solidFill>
              </a:rPr>
              <a:t>.</a:t>
            </a:r>
            <a:endParaRPr lang="en-US" sz="1600" dirty="0"/>
          </a:p>
        </p:txBody>
      </p:sp>
      <p:sp>
        <p:nvSpPr>
          <p:cNvPr id="7" name="exercise"/>
          <p:cNvSpPr txBox="1"/>
          <p:nvPr/>
        </p:nvSpPr>
        <p:spPr>
          <a:xfrm>
            <a:off x="548640" y="2170176"/>
            <a:ext cx="7205472" cy="4120896"/>
          </a:xfrm>
          <a:prstGeom prst="rect">
            <a:avLst/>
          </a:prstGeom>
          <a:noFill/>
          <a:ln/>
        </p:spPr>
        <p:txBody>
          <a:bodyPr wrap="square" lIns="0" tIns="0" rIns="0" bIns="0" rtlCol="0" anchor="t"/>
          <a:lstStyle/>
          <a:p>
            <a:pPr indent="0" marL="0">
              <a:spcAft>
                <a:spcPts val="600"/>
              </a:spcAft>
              <a:buNone/>
            </a:pPr>
            <a:r>
              <a:rPr lang="en-US" sz="2400" b="1" dirty="0">
                <a:solidFill>
                  <a:schemeClr val="tx2"/>
                </a:solidFill>
              </a:rPr>
              <a:t>Modèle (à adapter)</a:t>
            </a:r>
            <a:endParaRPr lang="en-US" sz="2400" dirty="0"/>
          </a:p>
          <a:p>
            <a:pPr indent="0" marL="0">
              <a:spcAft>
                <a:spcPts val="800"/>
              </a:spcAft>
              <a:buNone/>
            </a:pPr>
            <a:r>
              <a:rPr lang="en-US" sz="2400" b="1" dirty="0">
                <a:solidFill>
                  <a:schemeClr val="tx1"/>
                </a:solidFill>
              </a:rPr>
              <a:t>TE KOOP</a:t>
            </a:r>
            <a:r>
              <a:rPr lang="en-US" sz="2400" dirty="0">
                <a:solidFill>
                  <a:schemeClr val="tx1"/>
                </a:solidFill>
              </a:rPr>
              <a:t> — Bureaulamp, z.g.a.n., die nog perfect werkt. Ideaal voor iemand die thuis werkt. Ophalen in Elsene: € 15, prijs bespreekbaar.</a:t>
            </a:r>
            <a:endParaRPr lang="en-US" sz="2400" dirty="0"/>
          </a:p>
          <a:p>
            <a:pPr indent="0" marL="0">
              <a:spcBef>
                <a:spcPts val="800"/>
              </a:spcBef>
              <a:spcAft>
                <a:spcPts val="600"/>
              </a:spcAft>
              <a:buNone/>
            </a:pPr>
            <a:r>
              <a:rPr lang="en-US" sz="2400" b="1" dirty="0">
                <a:solidFill>
                  <a:schemeClr val="tx2"/>
                </a:solidFill>
              </a:rPr>
              <a:t>Autre exemple</a:t>
            </a:r>
            <a:endParaRPr lang="en-US" sz="2400" dirty="0"/>
          </a:p>
          <a:p>
            <a:pPr indent="0" marL="0">
              <a:spcAft>
                <a:spcPts val="800"/>
              </a:spcAft>
              <a:buNone/>
            </a:pPr>
            <a:r>
              <a:rPr lang="en-US" sz="2400" i="1" dirty="0">
                <a:solidFill>
                  <a:schemeClr val="tx1"/>
                </a:solidFill>
              </a:rPr>
              <a:t>Gratis — Oude fauteuil die nog stevig is. Ideaal voor een student die een goedkope stoel zoekt. Ophalen in Vorst, enkel dit weekend.</a:t>
            </a:r>
            <a:endParaRPr lang="en-US" sz="2400" dirty="0"/>
          </a:p>
        </p:txBody>
      </p:sp>
      <p:sp>
        <p:nvSpPr>
          <p:cNvPr id="8" name="aside"/>
          <p:cNvSpPr/>
          <p:nvPr/>
        </p:nvSpPr>
        <p:spPr>
          <a:xfrm>
            <a:off x="8074152" y="1481328"/>
            <a:ext cx="3566160" cy="4809744"/>
          </a:xfrm>
          <a:prstGeom prst="roundRect">
            <a:avLst>
              <a:gd name="adj" fmla="val 2051"/>
            </a:avLst>
          </a:prstGeom>
          <a:solidFill>
            <a:schemeClr val="accent5">
              <a:alpha val="10000"/>
            </a:schemeClr>
          </a:solidFill>
          <a:ln w="12700">
            <a:solidFill>
              <a:schemeClr val="accent5">
                <a:alpha val="60000"/>
              </a:schemeClr>
            </a:solidFill>
            <a:prstDash val="solid"/>
          </a:ln>
        </p:spPr>
      </p:sp>
      <p:pic>
        <p:nvPicPr>
          <p:cNvPr id="9" name="Image 0" descr="preencoded.png">    </p:cNvPr>
          <p:cNvPicPr>
            <a:picLocks noChangeAspect="1"/>
          </p:cNvPicPr>
          <p:nvPr/>
        </p:nvPicPr>
        <p:blipFill>
          <a:blip r:embed="rId1"/>
          <a:stretch>
            <a:fillRect/>
          </a:stretch>
        </p:blipFill>
        <p:spPr>
          <a:xfrm>
            <a:off x="8257032" y="1664208"/>
            <a:ext cx="292608" cy="292608"/>
          </a:xfrm>
          <a:prstGeom prst="rect">
            <a:avLst/>
          </a:prstGeom>
        </p:spPr>
      </p:pic>
      <p:sp>
        <p:nvSpPr>
          <p:cNvPr id="10" name="Text 6"/>
          <p:cNvSpPr txBox="1"/>
          <p:nvPr/>
        </p:nvSpPr>
        <p:spPr>
          <a:xfrm>
            <a:off x="8641080" y="1636776"/>
            <a:ext cx="2834640" cy="347472"/>
          </a:xfrm>
          <a:prstGeom prst="rect">
            <a:avLst/>
          </a:prstGeom>
          <a:noFill/>
          <a:ln/>
        </p:spPr>
        <p:txBody>
          <a:bodyPr wrap="square" lIns="0" tIns="0" rIns="0" bIns="0" rtlCol="0" anchor="ctr"/>
          <a:lstStyle/>
          <a:p>
            <a:pPr indent="0" marL="0">
              <a:buNone/>
            </a:pPr>
            <a:r>
              <a:rPr lang="en-US" sz="1400" b="1" spc="100" kern="0" dirty="0">
                <a:solidFill>
                  <a:schemeClr val="accent5"/>
                </a:solidFill>
              </a:rPr>
              <a:t>ATTENDU</a:t>
            </a:r>
            <a:endParaRPr lang="en-US" sz="1400" dirty="0"/>
          </a:p>
        </p:txBody>
      </p:sp>
      <p:sp>
        <p:nvSpPr>
          <p:cNvPr id="11" name="Text 7"/>
          <p:cNvSpPr txBox="1"/>
          <p:nvPr/>
        </p:nvSpPr>
        <p:spPr>
          <a:xfrm>
            <a:off x="8238744" y="2075688"/>
            <a:ext cx="3236976" cy="4078224"/>
          </a:xfrm>
          <a:prstGeom prst="rect">
            <a:avLst/>
          </a:prstGeom>
          <a:noFill/>
          <a:ln/>
        </p:spPr>
        <p:txBody>
          <a:bodyPr wrap="square" lIns="0" tIns="0" rIns="0" bIns="0" rtlCol="0" anchor="t"/>
          <a:lstStyle/>
          <a:p>
            <a:pPr marL="177800" indent="-177800">
              <a:spcAft>
                <a:spcPts val="600"/>
              </a:spcAft>
              <a:buSzPct val="100000"/>
              <a:buChar char="•"/>
            </a:pPr>
            <a:r>
              <a:rPr lang="en-US" sz="1800" b="1" dirty="0">
                <a:solidFill>
                  <a:schemeClr val="tx1"/>
                </a:solidFill>
              </a:rPr>
              <a:t>3 phrases</a:t>
            </a:r>
            <a:r>
              <a:rPr lang="en-US" sz="1800" dirty="0">
                <a:solidFill>
                  <a:schemeClr val="tx1"/>
                </a:solidFill>
              </a:rPr>
              <a:t> (le titre compte).</a:t>
            </a:r>
            <a:endParaRPr lang="en-US" sz="1800" dirty="0"/>
          </a:p>
          <a:p>
            <a:pPr marL="177800" indent="-177800">
              <a:spcAft>
                <a:spcPts val="600"/>
              </a:spcAft>
              <a:buSzPct val="100000"/>
              <a:buChar char="•"/>
            </a:pPr>
            <a:r>
              <a:rPr lang="en-US" sz="1800" b="1" dirty="0">
                <a:solidFill>
                  <a:schemeClr val="tx1"/>
                </a:solidFill>
              </a:rPr>
              <a:t>2 relatives</a:t>
            </a:r>
            <a:r>
              <a:rPr lang="en-US" sz="1800" dirty="0">
                <a:solidFill>
                  <a:schemeClr val="tx1"/>
                </a:solidFill>
              </a:rPr>
              <a:t> : die / dat + verbe à la fin.</a:t>
            </a:r>
            <a:endParaRPr lang="en-US" sz="1800" dirty="0"/>
          </a:p>
          <a:p>
            <a:pPr marL="177800" indent="-177800">
              <a:spcAft>
                <a:spcPts val="600"/>
              </a:spcAft>
              <a:buSzPct val="100000"/>
              <a:buChar char="•"/>
            </a:pPr>
            <a:r>
              <a:rPr lang="en-US" sz="1800" b="1" dirty="0">
                <a:solidFill>
                  <a:schemeClr val="tx1"/>
                </a:solidFill>
              </a:rPr>
              <a:t>1 abréviation</a:t>
            </a:r>
            <a:r>
              <a:rPr lang="en-US" sz="1800" dirty="0">
                <a:solidFill>
                  <a:schemeClr val="tx1"/>
                </a:solidFill>
              </a:rPr>
              <a:t> : z.g.a.n., enz.</a:t>
            </a:r>
            <a:endParaRPr lang="en-US" sz="1800" dirty="0"/>
          </a:p>
          <a:p>
            <a:pPr marL="177800" indent="-177800">
              <a:spcAft>
                <a:spcPts val="600"/>
              </a:spcAft>
              <a:buSzPct val="100000"/>
              <a:buChar char="•"/>
            </a:pPr>
            <a:r>
              <a:rPr lang="en-US" sz="1800" dirty="0">
                <a:solidFill>
                  <a:schemeClr val="tx1"/>
                </a:solidFill>
              </a:rPr>
              <a:t>Couche 2 · seul · 7 min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Die of dat ? Kies de juiste vorm</a:t>
            </a:r>
            <a:endParaRPr lang="en-US" sz="3200" dirty="0"/>
          </a:p>
        </p:txBody>
      </p:sp>
      <p:sp>
        <p:nvSpPr>
          <p:cNvPr id="3" name="tag"/>
          <p:cNvSpPr/>
          <p:nvPr/>
        </p:nvSpPr>
        <p:spPr>
          <a:xfrm>
            <a:off x="548640" y="237744"/>
            <a:ext cx="1165860"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chemeClr val="bg1"/>
                </a:solidFill>
              </a:rPr>
              <a:t>+ BONUS</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syllabus</a:t>
            </a:r>
            <a:endParaRPr lang="en-US" sz="1200" dirty="0"/>
          </a:p>
        </p:txBody>
      </p:sp>
      <p:sp>
        <p:nvSpPr>
          <p:cNvPr id="6" name="Text 3"/>
          <p:cNvSpPr txBox="1"/>
          <p:nvPr/>
        </p:nvSpPr>
        <p:spPr>
          <a:xfrm>
            <a:off x="548640" y="1481328"/>
            <a:ext cx="7178040" cy="615696"/>
          </a:xfrm>
          <a:prstGeom prst="rect">
            <a:avLst/>
          </a:prstGeom>
          <a:noFill/>
          <a:ln/>
        </p:spPr>
        <p:txBody>
          <a:bodyPr wrap="square" lIns="0" tIns="0" rIns="0" bIns="0" rtlCol="0" anchor="t"/>
          <a:lstStyle/>
          <a:p>
            <a:pPr indent="0" marL="0">
              <a:buNone/>
            </a:pPr>
            <a:r>
              <a:rPr lang="en-US" sz="1600" i="1" dirty="0">
                <a:solidFill>
                  <a:schemeClr val="accent5"/>
                </a:solidFill>
              </a:rPr>
              <a:t>Seul·e · 4 min. Choisissez le bon pronom relatif. Dites d’abord </a:t>
            </a:r>
            <a:r>
              <a:rPr lang="en-US" sz="1600" b="1" i="1" dirty="0">
                <a:solidFill>
                  <a:schemeClr val="accent5"/>
                </a:solidFill>
              </a:rPr>
              <a:t>de ou het</a:t>
            </a:r>
            <a:r>
              <a:rPr lang="en-US" sz="1600" i="1" dirty="0">
                <a:solidFill>
                  <a:schemeClr val="accent5"/>
                </a:solidFill>
              </a:rPr>
              <a:t> pour le nom de tête.</a:t>
            </a:r>
            <a:endParaRPr lang="en-US" sz="1600" dirty="0"/>
          </a:p>
        </p:txBody>
      </p:sp>
      <p:sp>
        <p:nvSpPr>
          <p:cNvPr id="7" name="exercise"/>
          <p:cNvSpPr txBox="1"/>
          <p:nvPr/>
        </p:nvSpPr>
        <p:spPr>
          <a:xfrm>
            <a:off x="548640" y="2170176"/>
            <a:ext cx="7178040" cy="4120896"/>
          </a:xfrm>
          <a:prstGeom prst="rect">
            <a:avLst/>
          </a:prstGeom>
          <a:noFill/>
          <a:ln/>
        </p:spPr>
        <p:txBody>
          <a:bodyPr wrap="square" lIns="0" tIns="0" rIns="0" bIns="0" rtlCol="0" anchor="t"/>
          <a:lstStyle/>
          <a:p>
            <a:pPr indent="0" marL="0">
              <a:spcAft>
                <a:spcPts val="1000"/>
              </a:spcAft>
              <a:buNone/>
            </a:pPr>
            <a:r>
              <a:rPr lang="en-US" sz="2300" b="1" dirty="0">
                <a:solidFill>
                  <a:schemeClr val="tx2"/>
                </a:solidFill>
              </a:rPr>
              <a:t>1.  </a:t>
            </a:r>
            <a:r>
              <a:rPr lang="en-US" sz="2300" dirty="0">
                <a:solidFill>
                  <a:schemeClr val="tx1"/>
                </a:solidFill>
              </a:rPr>
              <a:t>De makelaar </a:t>
            </a:r>
            <a:r>
              <a:rPr lang="en-US" sz="2300" dirty="0">
                <a:solidFill>
                  <a:schemeClr val="tx1"/>
                </a:solidFill>
              </a:rPr>
              <a:t>dat</a:t>
            </a:r>
            <a:r>
              <a:rPr lang="en-US" sz="2300" dirty="0">
                <a:solidFill>
                  <a:schemeClr val="tx1"/>
                </a:solidFill>
              </a:rPr>
              <a:t> </a:t>
            </a:r>
            <a:r>
              <a:rPr lang="en-US" sz="2300" dirty="0">
                <a:solidFill>
                  <a:schemeClr val="tx1"/>
                </a:solidFill>
              </a:rPr>
              <a:t>die</a:t>
            </a:r>
            <a:r>
              <a:rPr lang="en-US" sz="2300" dirty="0">
                <a:solidFill>
                  <a:schemeClr val="tx1"/>
                </a:solidFill>
              </a:rPr>
              <a:t> de woning verkoopt, heet Janssens.</a:t>
            </a:r>
            <a:endParaRPr lang="en-US" sz="2300" dirty="0"/>
          </a:p>
          <a:p>
            <a:pPr indent="0" marL="0">
              <a:spcAft>
                <a:spcPts val="1000"/>
              </a:spcAft>
              <a:buNone/>
            </a:pPr>
            <a:r>
              <a:rPr lang="en-US" sz="2300" b="1" dirty="0">
                <a:solidFill>
                  <a:schemeClr val="tx2"/>
                </a:solidFill>
              </a:rPr>
              <a:t>2.  </a:t>
            </a:r>
            <a:r>
              <a:rPr lang="en-US" sz="2300" dirty="0">
                <a:solidFill>
                  <a:schemeClr val="tx1"/>
                </a:solidFill>
              </a:rPr>
              <a:t>Het huis </a:t>
            </a:r>
            <a:r>
              <a:rPr lang="en-US" sz="2300" dirty="0">
                <a:solidFill>
                  <a:schemeClr val="tx1"/>
                </a:solidFill>
              </a:rPr>
              <a:t>die</a:t>
            </a:r>
            <a:r>
              <a:rPr lang="en-US" sz="2300" dirty="0">
                <a:solidFill>
                  <a:schemeClr val="tx1"/>
                </a:solidFill>
              </a:rPr>
              <a:t> </a:t>
            </a:r>
            <a:r>
              <a:rPr lang="en-US" sz="2300" dirty="0">
                <a:solidFill>
                  <a:schemeClr val="tx1"/>
                </a:solidFill>
              </a:rPr>
              <a:t>dat</a:t>
            </a:r>
            <a:r>
              <a:rPr lang="en-US" sz="2300" dirty="0">
                <a:solidFill>
                  <a:schemeClr val="tx1"/>
                </a:solidFill>
              </a:rPr>
              <a:t> naast de bakker staat, is te koop.</a:t>
            </a:r>
            <a:endParaRPr lang="en-US" sz="2300" dirty="0"/>
          </a:p>
          <a:p>
            <a:pPr indent="0" marL="0">
              <a:spcAft>
                <a:spcPts val="1000"/>
              </a:spcAft>
              <a:buNone/>
            </a:pPr>
            <a:r>
              <a:rPr lang="en-US" sz="2300" b="1" dirty="0">
                <a:solidFill>
                  <a:schemeClr val="tx2"/>
                </a:solidFill>
              </a:rPr>
              <a:t>3.  </a:t>
            </a:r>
            <a:r>
              <a:rPr lang="en-US" sz="2300" dirty="0">
                <a:solidFill>
                  <a:schemeClr val="tx1"/>
                </a:solidFill>
              </a:rPr>
              <a:t>De klanten </a:t>
            </a:r>
            <a:r>
              <a:rPr lang="en-US" sz="2300" dirty="0">
                <a:solidFill>
                  <a:schemeClr val="tx1"/>
                </a:solidFill>
              </a:rPr>
              <a:t>dat</a:t>
            </a:r>
            <a:r>
              <a:rPr lang="en-US" sz="2300" dirty="0">
                <a:solidFill>
                  <a:schemeClr val="tx1"/>
                </a:solidFill>
              </a:rPr>
              <a:t> </a:t>
            </a:r>
            <a:r>
              <a:rPr lang="en-US" sz="2300" dirty="0">
                <a:solidFill>
                  <a:schemeClr val="tx1"/>
                </a:solidFill>
              </a:rPr>
              <a:t>die</a:t>
            </a:r>
            <a:r>
              <a:rPr lang="en-US" sz="2300" dirty="0">
                <a:solidFill>
                  <a:schemeClr val="tx1"/>
                </a:solidFill>
              </a:rPr>
              <a:t> morgen komen, zoeken een appartement.</a:t>
            </a:r>
            <a:endParaRPr lang="en-US" sz="2300" dirty="0"/>
          </a:p>
          <a:p>
            <a:pPr indent="0" marL="0">
              <a:spcAft>
                <a:spcPts val="1000"/>
              </a:spcAft>
              <a:buNone/>
            </a:pPr>
            <a:r>
              <a:rPr lang="en-US" sz="2300" b="1" dirty="0">
                <a:solidFill>
                  <a:schemeClr val="tx2"/>
                </a:solidFill>
              </a:rPr>
              <a:t>4.  </a:t>
            </a:r>
            <a:r>
              <a:rPr lang="en-US" sz="2300" dirty="0">
                <a:solidFill>
                  <a:schemeClr val="tx1"/>
                </a:solidFill>
              </a:rPr>
              <a:t>Dat is het contract </a:t>
            </a:r>
            <a:r>
              <a:rPr lang="en-US" sz="2300" dirty="0">
                <a:solidFill>
                  <a:schemeClr val="tx1"/>
                </a:solidFill>
              </a:rPr>
              <a:t>die</a:t>
            </a:r>
            <a:r>
              <a:rPr lang="en-US" sz="2300" dirty="0">
                <a:solidFill>
                  <a:schemeClr val="tx1"/>
                </a:solidFill>
              </a:rPr>
              <a:t> </a:t>
            </a:r>
            <a:r>
              <a:rPr lang="en-US" sz="2300" dirty="0">
                <a:solidFill>
                  <a:schemeClr val="tx1"/>
                </a:solidFill>
              </a:rPr>
              <a:t>dat</a:t>
            </a:r>
            <a:r>
              <a:rPr lang="en-US" sz="2300" dirty="0">
                <a:solidFill>
                  <a:schemeClr val="tx1"/>
                </a:solidFill>
              </a:rPr>
              <a:t> de eigenaar moet tekenen.</a:t>
            </a:r>
            <a:endParaRPr lang="en-US" sz="2300" dirty="0"/>
          </a:p>
          <a:p>
            <a:pPr indent="0" marL="0">
              <a:spcAft>
                <a:spcPts val="1000"/>
              </a:spcAft>
              <a:buNone/>
            </a:pPr>
            <a:r>
              <a:rPr lang="en-US" sz="2300" b="1" dirty="0">
                <a:solidFill>
                  <a:schemeClr val="tx2"/>
                </a:solidFill>
              </a:rPr>
              <a:t>5.  </a:t>
            </a:r>
            <a:r>
              <a:rPr lang="en-US" sz="2300" dirty="0">
                <a:solidFill>
                  <a:schemeClr val="tx1"/>
                </a:solidFill>
              </a:rPr>
              <a:t>De sleutels </a:t>
            </a:r>
            <a:r>
              <a:rPr lang="en-US" sz="2300" dirty="0">
                <a:solidFill>
                  <a:schemeClr val="tx1"/>
                </a:solidFill>
              </a:rPr>
              <a:t>dat</a:t>
            </a:r>
            <a:r>
              <a:rPr lang="en-US" sz="2300" dirty="0">
                <a:solidFill>
                  <a:schemeClr val="tx1"/>
                </a:solidFill>
              </a:rPr>
              <a:t> </a:t>
            </a:r>
            <a:r>
              <a:rPr lang="en-US" sz="2300" dirty="0">
                <a:solidFill>
                  <a:schemeClr val="tx1"/>
                </a:solidFill>
              </a:rPr>
              <a:t>die</a:t>
            </a:r>
            <a:r>
              <a:rPr lang="en-US" sz="2300" dirty="0">
                <a:solidFill>
                  <a:schemeClr val="tx1"/>
                </a:solidFill>
              </a:rPr>
              <a:t> u krijgt, zijn voor de kelder.</a:t>
            </a:r>
            <a:endParaRPr lang="en-US" sz="2300" dirty="0"/>
          </a:p>
          <a:p>
            <a:pPr indent="0" marL="0">
              <a:spcAft>
                <a:spcPts val="1000"/>
              </a:spcAft>
              <a:buNone/>
            </a:pPr>
            <a:r>
              <a:rPr lang="en-US" sz="2300" b="1" dirty="0">
                <a:solidFill>
                  <a:schemeClr val="tx2"/>
                </a:solidFill>
              </a:rPr>
              <a:t>6.  </a:t>
            </a:r>
            <a:r>
              <a:rPr lang="en-US" sz="2300" dirty="0">
                <a:solidFill>
                  <a:schemeClr val="tx1"/>
                </a:solidFill>
              </a:rPr>
              <a:t>Het bod </a:t>
            </a:r>
            <a:r>
              <a:rPr lang="en-US" sz="2300" dirty="0">
                <a:solidFill>
                  <a:schemeClr val="tx1"/>
                </a:solidFill>
              </a:rPr>
              <a:t>die</a:t>
            </a:r>
            <a:r>
              <a:rPr lang="en-US" sz="2300" dirty="0">
                <a:solidFill>
                  <a:schemeClr val="tx1"/>
                </a:solidFill>
              </a:rPr>
              <a:t> </a:t>
            </a:r>
            <a:r>
              <a:rPr lang="en-US" sz="2300" dirty="0">
                <a:solidFill>
                  <a:schemeClr val="tx1"/>
                </a:solidFill>
              </a:rPr>
              <a:t>dat</a:t>
            </a:r>
            <a:r>
              <a:rPr lang="en-US" sz="2300" dirty="0">
                <a:solidFill>
                  <a:schemeClr val="tx1"/>
                </a:solidFill>
              </a:rPr>
              <a:t> de koper uitbrengt, is te laag.</a:t>
            </a:r>
            <a:endParaRPr lang="en-US" sz="2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Die of dat ? Kies de juiste vorm</a:t>
            </a:r>
            <a:endParaRPr lang="en-US" sz="3200" dirty="0"/>
          </a:p>
        </p:txBody>
      </p:sp>
      <p:sp>
        <p:nvSpPr>
          <p:cNvPr id="3" name="tag"/>
          <p:cNvSpPr/>
          <p:nvPr/>
        </p:nvSpPr>
        <p:spPr>
          <a:xfrm>
            <a:off x="548640" y="237744"/>
            <a:ext cx="1165860"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chemeClr val="bg1"/>
                </a:solidFill>
              </a:rPr>
              <a:t>+ BONUS</a:t>
            </a:r>
            <a:endParaRPr lang="en-US" sz="1200" dirty="0"/>
          </a:p>
        </p:txBody>
      </p:sp>
      <p:sp>
        <p:nvSpPr>
          <p:cNvPr id="4" name="tag"/>
          <p:cNvSpPr/>
          <p:nvPr/>
        </p:nvSpPr>
        <p:spPr>
          <a:xfrm>
            <a:off x="1824228" y="237744"/>
            <a:ext cx="1760220"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chemeClr val="bg1"/>
                </a:solidFill>
              </a:rPr>
              <a:t>✓ CORRECTIE</a:t>
            </a:r>
            <a:endParaRPr lang="en-US" sz="1200" dirty="0"/>
          </a:p>
        </p:txBody>
      </p:sp>
      <p:sp>
        <p:nvSpPr>
          <p:cNvPr id="5" name="Text 3"/>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syllabus</a:t>
            </a:r>
            <a:endParaRPr lang="en-US" sz="1200" dirty="0"/>
          </a:p>
        </p:txBody>
      </p:sp>
      <p:sp>
        <p:nvSpPr>
          <p:cNvPr id="7" name="Text 4"/>
          <p:cNvSpPr txBox="1"/>
          <p:nvPr/>
        </p:nvSpPr>
        <p:spPr>
          <a:xfrm>
            <a:off x="548640" y="1481328"/>
            <a:ext cx="7178040" cy="615696"/>
          </a:xfrm>
          <a:prstGeom prst="rect">
            <a:avLst/>
          </a:prstGeom>
          <a:noFill/>
          <a:ln/>
        </p:spPr>
        <p:txBody>
          <a:bodyPr wrap="square" lIns="0" tIns="0" rIns="0" bIns="0" rtlCol="0" anchor="t"/>
          <a:lstStyle/>
          <a:p>
            <a:pPr indent="0" marL="0">
              <a:buNone/>
            </a:pPr>
            <a:r>
              <a:rPr lang="en-US" sz="1600" i="1" dirty="0">
                <a:solidFill>
                  <a:schemeClr val="accent5"/>
                </a:solidFill>
              </a:rPr>
              <a:t>Seul·e · 4 min. Choisissez le bon pronom relatif. Dites d’abord </a:t>
            </a:r>
            <a:r>
              <a:rPr lang="en-US" sz="1600" b="1" i="1" dirty="0">
                <a:solidFill>
                  <a:schemeClr val="accent5"/>
                </a:solidFill>
              </a:rPr>
              <a:t>de ou het</a:t>
            </a:r>
            <a:r>
              <a:rPr lang="en-US" sz="1600" i="1" dirty="0">
                <a:solidFill>
                  <a:schemeClr val="accent5"/>
                </a:solidFill>
              </a:rPr>
              <a:t> pour le nom de tête.</a:t>
            </a:r>
            <a:endParaRPr lang="en-US" sz="1600" dirty="0"/>
          </a:p>
        </p:txBody>
      </p:sp>
      <p:sp>
        <p:nvSpPr>
          <p:cNvPr id="8" name="exercise"/>
          <p:cNvSpPr txBox="1"/>
          <p:nvPr/>
        </p:nvSpPr>
        <p:spPr>
          <a:xfrm>
            <a:off x="548640" y="2170176"/>
            <a:ext cx="7178040" cy="4120896"/>
          </a:xfrm>
          <a:prstGeom prst="rect">
            <a:avLst/>
          </a:prstGeom>
          <a:noFill/>
          <a:ln/>
        </p:spPr>
        <p:txBody>
          <a:bodyPr wrap="square" lIns="0" tIns="0" rIns="0" bIns="0" rtlCol="0" anchor="t"/>
          <a:lstStyle/>
          <a:p>
            <a:pPr indent="0" marL="0">
              <a:spcAft>
                <a:spcPts val="1000"/>
              </a:spcAft>
              <a:buNone/>
            </a:pPr>
            <a:r>
              <a:rPr lang="en-US" sz="2300" b="1" dirty="0">
                <a:solidFill>
                  <a:schemeClr val="tx2"/>
                </a:solidFill>
              </a:rPr>
              <a:t>1.  </a:t>
            </a:r>
            <a:r>
              <a:rPr lang="en-US" sz="2300" dirty="0">
                <a:solidFill>
                  <a:schemeClr val="tx1"/>
                </a:solidFill>
              </a:rPr>
              <a:t>De makelaar </a:t>
            </a:r>
            <a:r>
              <a:rPr lang="en-US" sz="2300" strike="sngStrike" dirty="0">
                <a:solidFill>
                  <a:schemeClr val="accent6"/>
                </a:solidFill>
              </a:rPr>
              <a:t>dat</a:t>
            </a:r>
            <a:r>
              <a:rPr lang="en-US" sz="2300" dirty="0">
                <a:solidFill>
                  <a:schemeClr val="tx1"/>
                </a:solidFill>
              </a:rPr>
              <a:t> </a:t>
            </a:r>
            <a:r>
              <a:rPr lang="en-US" sz="2300" b="1" dirty="0">
                <a:solidFill>
                  <a:schemeClr val="accent3"/>
                </a:solidFill>
              </a:rPr>
              <a:t>die</a:t>
            </a:r>
            <a:r>
              <a:rPr lang="en-US" sz="2300" dirty="0">
                <a:solidFill>
                  <a:schemeClr val="tx1"/>
                </a:solidFill>
              </a:rPr>
              <a:t> de woning verkoopt, heet Janssens.</a:t>
            </a:r>
            <a:endParaRPr lang="en-US" sz="2300" dirty="0"/>
          </a:p>
          <a:p>
            <a:pPr indent="0" marL="0">
              <a:spcAft>
                <a:spcPts val="1000"/>
              </a:spcAft>
              <a:buNone/>
            </a:pPr>
            <a:r>
              <a:rPr lang="en-US" sz="2300" b="1" dirty="0">
                <a:solidFill>
                  <a:schemeClr val="tx2"/>
                </a:solidFill>
              </a:rPr>
              <a:t>2.  </a:t>
            </a:r>
            <a:r>
              <a:rPr lang="en-US" sz="2300" dirty="0">
                <a:solidFill>
                  <a:schemeClr val="tx1"/>
                </a:solidFill>
              </a:rPr>
              <a:t>Het huis </a:t>
            </a:r>
            <a:r>
              <a:rPr lang="en-US" sz="2300" strike="sngStrike" dirty="0">
                <a:solidFill>
                  <a:schemeClr val="accent6"/>
                </a:solidFill>
              </a:rPr>
              <a:t>die</a:t>
            </a:r>
            <a:r>
              <a:rPr lang="en-US" sz="2300" dirty="0">
                <a:solidFill>
                  <a:schemeClr val="tx1"/>
                </a:solidFill>
              </a:rPr>
              <a:t> </a:t>
            </a:r>
            <a:r>
              <a:rPr lang="en-US" sz="2300" b="1" dirty="0">
                <a:solidFill>
                  <a:schemeClr val="accent3"/>
                </a:solidFill>
              </a:rPr>
              <a:t>dat</a:t>
            </a:r>
            <a:r>
              <a:rPr lang="en-US" sz="2300" dirty="0">
                <a:solidFill>
                  <a:schemeClr val="tx1"/>
                </a:solidFill>
              </a:rPr>
              <a:t> naast de bakker staat, is te koop.</a:t>
            </a:r>
            <a:endParaRPr lang="en-US" sz="2300" dirty="0"/>
          </a:p>
          <a:p>
            <a:pPr indent="0" marL="0">
              <a:spcAft>
                <a:spcPts val="1000"/>
              </a:spcAft>
              <a:buNone/>
            </a:pPr>
            <a:r>
              <a:rPr lang="en-US" sz="2300" b="1" dirty="0">
                <a:solidFill>
                  <a:schemeClr val="tx2"/>
                </a:solidFill>
              </a:rPr>
              <a:t>3.  </a:t>
            </a:r>
            <a:r>
              <a:rPr lang="en-US" sz="2300" dirty="0">
                <a:solidFill>
                  <a:schemeClr val="tx1"/>
                </a:solidFill>
              </a:rPr>
              <a:t>De klanten </a:t>
            </a:r>
            <a:r>
              <a:rPr lang="en-US" sz="2300" strike="sngStrike" dirty="0">
                <a:solidFill>
                  <a:schemeClr val="accent6"/>
                </a:solidFill>
              </a:rPr>
              <a:t>dat</a:t>
            </a:r>
            <a:r>
              <a:rPr lang="en-US" sz="2300" dirty="0">
                <a:solidFill>
                  <a:schemeClr val="tx1"/>
                </a:solidFill>
              </a:rPr>
              <a:t> </a:t>
            </a:r>
            <a:r>
              <a:rPr lang="en-US" sz="2300" b="1" dirty="0">
                <a:solidFill>
                  <a:schemeClr val="accent3"/>
                </a:solidFill>
              </a:rPr>
              <a:t>die</a:t>
            </a:r>
            <a:r>
              <a:rPr lang="en-US" sz="2300" dirty="0">
                <a:solidFill>
                  <a:schemeClr val="tx1"/>
                </a:solidFill>
              </a:rPr>
              <a:t> morgen komen, zoeken een appartement.</a:t>
            </a:r>
            <a:endParaRPr lang="en-US" sz="2300" dirty="0"/>
          </a:p>
          <a:p>
            <a:pPr indent="0" marL="0">
              <a:spcAft>
                <a:spcPts val="1000"/>
              </a:spcAft>
              <a:buNone/>
            </a:pPr>
            <a:r>
              <a:rPr lang="en-US" sz="2300" b="1" dirty="0">
                <a:solidFill>
                  <a:schemeClr val="tx2"/>
                </a:solidFill>
              </a:rPr>
              <a:t>4.  </a:t>
            </a:r>
            <a:r>
              <a:rPr lang="en-US" sz="2300" dirty="0">
                <a:solidFill>
                  <a:schemeClr val="tx1"/>
                </a:solidFill>
              </a:rPr>
              <a:t>Dat is het contract </a:t>
            </a:r>
            <a:r>
              <a:rPr lang="en-US" sz="2300" strike="sngStrike" dirty="0">
                <a:solidFill>
                  <a:schemeClr val="accent6"/>
                </a:solidFill>
              </a:rPr>
              <a:t>die</a:t>
            </a:r>
            <a:r>
              <a:rPr lang="en-US" sz="2300" dirty="0">
                <a:solidFill>
                  <a:schemeClr val="tx1"/>
                </a:solidFill>
              </a:rPr>
              <a:t> </a:t>
            </a:r>
            <a:r>
              <a:rPr lang="en-US" sz="2300" b="1" dirty="0">
                <a:solidFill>
                  <a:schemeClr val="accent3"/>
                </a:solidFill>
              </a:rPr>
              <a:t>dat</a:t>
            </a:r>
            <a:r>
              <a:rPr lang="en-US" sz="2300" dirty="0">
                <a:solidFill>
                  <a:schemeClr val="tx1"/>
                </a:solidFill>
              </a:rPr>
              <a:t> de eigenaar moet tekenen.</a:t>
            </a:r>
            <a:endParaRPr lang="en-US" sz="2300" dirty="0"/>
          </a:p>
          <a:p>
            <a:pPr indent="0" marL="0">
              <a:spcAft>
                <a:spcPts val="1000"/>
              </a:spcAft>
              <a:buNone/>
            </a:pPr>
            <a:r>
              <a:rPr lang="en-US" sz="2300" b="1" dirty="0">
                <a:solidFill>
                  <a:schemeClr val="tx2"/>
                </a:solidFill>
              </a:rPr>
              <a:t>5.  </a:t>
            </a:r>
            <a:r>
              <a:rPr lang="en-US" sz="2300" dirty="0">
                <a:solidFill>
                  <a:schemeClr val="tx1"/>
                </a:solidFill>
              </a:rPr>
              <a:t>De sleutels </a:t>
            </a:r>
            <a:r>
              <a:rPr lang="en-US" sz="2300" strike="sngStrike" dirty="0">
                <a:solidFill>
                  <a:schemeClr val="accent6"/>
                </a:solidFill>
              </a:rPr>
              <a:t>dat</a:t>
            </a:r>
            <a:r>
              <a:rPr lang="en-US" sz="2300" dirty="0">
                <a:solidFill>
                  <a:schemeClr val="tx1"/>
                </a:solidFill>
              </a:rPr>
              <a:t> </a:t>
            </a:r>
            <a:r>
              <a:rPr lang="en-US" sz="2300" b="1" dirty="0">
                <a:solidFill>
                  <a:schemeClr val="accent3"/>
                </a:solidFill>
              </a:rPr>
              <a:t>die</a:t>
            </a:r>
            <a:r>
              <a:rPr lang="en-US" sz="2300" dirty="0">
                <a:solidFill>
                  <a:schemeClr val="tx1"/>
                </a:solidFill>
              </a:rPr>
              <a:t> u krijgt, zijn voor de kelder.</a:t>
            </a:r>
            <a:endParaRPr lang="en-US" sz="2300" dirty="0"/>
          </a:p>
          <a:p>
            <a:pPr indent="0" marL="0">
              <a:spcAft>
                <a:spcPts val="1000"/>
              </a:spcAft>
              <a:buNone/>
            </a:pPr>
            <a:r>
              <a:rPr lang="en-US" sz="2300" b="1" dirty="0">
                <a:solidFill>
                  <a:schemeClr val="tx2"/>
                </a:solidFill>
              </a:rPr>
              <a:t>6.  </a:t>
            </a:r>
            <a:r>
              <a:rPr lang="en-US" sz="2300" dirty="0">
                <a:solidFill>
                  <a:schemeClr val="tx1"/>
                </a:solidFill>
              </a:rPr>
              <a:t>Het bod </a:t>
            </a:r>
            <a:r>
              <a:rPr lang="en-US" sz="2300" strike="sngStrike" dirty="0">
                <a:solidFill>
                  <a:schemeClr val="accent6"/>
                </a:solidFill>
              </a:rPr>
              <a:t>die</a:t>
            </a:r>
            <a:r>
              <a:rPr lang="en-US" sz="2300" dirty="0">
                <a:solidFill>
                  <a:schemeClr val="tx1"/>
                </a:solidFill>
              </a:rPr>
              <a:t> </a:t>
            </a:r>
            <a:r>
              <a:rPr lang="en-US" sz="2300" b="1" dirty="0">
                <a:solidFill>
                  <a:schemeClr val="accent3"/>
                </a:solidFill>
              </a:rPr>
              <a:t>dat</a:t>
            </a:r>
            <a:r>
              <a:rPr lang="en-US" sz="2300" dirty="0">
                <a:solidFill>
                  <a:schemeClr val="tx1"/>
                </a:solidFill>
              </a:rPr>
              <a:t> de koper uitbrengt, is te laag.</a:t>
            </a:r>
            <a:endParaRPr lang="en-US" sz="2300" dirty="0"/>
          </a:p>
        </p:txBody>
      </p:sp>
      <p:sp>
        <p:nvSpPr>
          <p:cNvPr id="9" name="aside"/>
          <p:cNvSpPr/>
          <p:nvPr/>
        </p:nvSpPr>
        <p:spPr>
          <a:xfrm>
            <a:off x="8046720" y="1481328"/>
            <a:ext cx="3593592" cy="4809744"/>
          </a:xfrm>
          <a:prstGeom prst="roundRect">
            <a:avLst>
              <a:gd name="adj" fmla="val 2036"/>
            </a:avLst>
          </a:prstGeom>
          <a:solidFill>
            <a:schemeClr val="accent6">
              <a:alpha val="10000"/>
            </a:schemeClr>
          </a:solidFill>
          <a:ln w="12700">
            <a:solidFill>
              <a:schemeClr val="accent6">
                <a:alpha val="60000"/>
              </a:schemeClr>
            </a:solidFill>
            <a:prstDash val="solid"/>
          </a:ln>
        </p:spPr>
      </p:sp>
      <p:pic>
        <p:nvPicPr>
          <p:cNvPr id="10" name="Image 0" descr="preencoded.png">    </p:cNvPr>
          <p:cNvPicPr>
            <a:picLocks noChangeAspect="1"/>
          </p:cNvPicPr>
          <p:nvPr/>
        </p:nvPicPr>
        <p:blipFill>
          <a:blip r:embed="rId1"/>
          <a:stretch>
            <a:fillRect/>
          </a:stretch>
        </p:blipFill>
        <p:spPr>
          <a:xfrm>
            <a:off x="8229600" y="1664208"/>
            <a:ext cx="292608" cy="292608"/>
          </a:xfrm>
          <a:prstGeom prst="rect">
            <a:avLst/>
          </a:prstGeom>
        </p:spPr>
      </p:pic>
      <p:sp>
        <p:nvSpPr>
          <p:cNvPr id="11" name="Text 7"/>
          <p:cNvSpPr txBox="1"/>
          <p:nvPr/>
        </p:nvSpPr>
        <p:spPr>
          <a:xfrm>
            <a:off x="8613648" y="1636776"/>
            <a:ext cx="2862072" cy="347472"/>
          </a:xfrm>
          <a:prstGeom prst="rect">
            <a:avLst/>
          </a:prstGeom>
          <a:noFill/>
          <a:ln/>
        </p:spPr>
        <p:txBody>
          <a:bodyPr wrap="square" lIns="0" tIns="0" rIns="0" bIns="0" rtlCol="0" anchor="ctr"/>
          <a:lstStyle/>
          <a:p>
            <a:pPr indent="0" marL="0">
              <a:buNone/>
            </a:pPr>
            <a:r>
              <a:rPr lang="en-US" sz="1400" b="1" spc="100" kern="0" dirty="0">
                <a:solidFill>
                  <a:schemeClr val="accent6"/>
                </a:solidFill>
              </a:rPr>
              <a:t>ATTENTION</a:t>
            </a:r>
            <a:endParaRPr lang="en-US" sz="1400" dirty="0"/>
          </a:p>
        </p:txBody>
      </p:sp>
      <p:sp>
        <p:nvSpPr>
          <p:cNvPr id="12" name="Text 8"/>
          <p:cNvSpPr txBox="1"/>
          <p:nvPr/>
        </p:nvSpPr>
        <p:spPr>
          <a:xfrm>
            <a:off x="8211312" y="2075688"/>
            <a:ext cx="3264408" cy="4078224"/>
          </a:xfrm>
          <a:prstGeom prst="rect">
            <a:avLst/>
          </a:prstGeom>
          <a:noFill/>
          <a:ln/>
        </p:spPr>
        <p:txBody>
          <a:bodyPr wrap="square" lIns="0" tIns="0" rIns="0" bIns="0" rtlCol="0" anchor="t"/>
          <a:lstStyle/>
          <a:p>
            <a:pPr marL="177800" indent="-177800">
              <a:spcAft>
                <a:spcPts val="600"/>
              </a:spcAft>
              <a:buSzPct val="100000"/>
              <a:buChar char="•"/>
            </a:pPr>
            <a:r>
              <a:rPr lang="en-US" sz="1800" b="1" dirty="0">
                <a:solidFill>
                  <a:schemeClr val="tx1"/>
                </a:solidFill>
              </a:rPr>
              <a:t>het contract</a:t>
            </a:r>
            <a:r>
              <a:rPr lang="en-US" sz="1800" dirty="0">
                <a:solidFill>
                  <a:schemeClr val="tx1"/>
                </a:solidFill>
              </a:rPr>
              <a:t>, </a:t>
            </a:r>
            <a:r>
              <a:rPr lang="en-US" sz="1800" b="1" dirty="0">
                <a:solidFill>
                  <a:schemeClr val="tx1"/>
                </a:solidFill>
              </a:rPr>
              <a:t>het huis</a:t>
            </a:r>
            <a:r>
              <a:rPr lang="en-US" sz="1800" dirty="0">
                <a:solidFill>
                  <a:schemeClr val="tx1"/>
                </a:solidFill>
              </a:rPr>
              <a:t>, </a:t>
            </a:r>
            <a:r>
              <a:rPr lang="en-US" sz="1800" b="1" dirty="0">
                <a:solidFill>
                  <a:schemeClr val="tx1"/>
                </a:solidFill>
              </a:rPr>
              <a:t>het bod</a:t>
            </a:r>
            <a:r>
              <a:rPr lang="en-US" sz="1800" dirty="0">
                <a:solidFill>
                  <a:schemeClr val="tx1"/>
                </a:solidFill>
              </a:rPr>
              <a:t> → </a:t>
            </a:r>
            <a:r>
              <a:rPr lang="en-US" sz="1800" b="1" dirty="0">
                <a:solidFill>
                  <a:schemeClr val="tx1"/>
                </a:solidFill>
              </a:rPr>
              <a:t>dat</a:t>
            </a:r>
            <a:r>
              <a:rPr lang="en-US" sz="1800" dirty="0">
                <a:solidFill>
                  <a:schemeClr val="tx1"/>
                </a:solidFill>
              </a:rPr>
              <a:t>.</a:t>
            </a:r>
            <a:endParaRPr lang="en-US" sz="1800" dirty="0"/>
          </a:p>
          <a:p>
            <a:pPr marL="177800" indent="-177800">
              <a:spcAft>
                <a:spcPts val="600"/>
              </a:spcAft>
              <a:buSzPct val="100000"/>
              <a:buChar char="•"/>
            </a:pPr>
            <a:r>
              <a:rPr lang="en-US" sz="1800" b="1" dirty="0">
                <a:solidFill>
                  <a:schemeClr val="tx1"/>
                </a:solidFill>
              </a:rPr>
              <a:t>de makelaar</a:t>
            </a:r>
            <a:r>
              <a:rPr lang="en-US" sz="1800" dirty="0">
                <a:solidFill>
                  <a:schemeClr val="tx1"/>
                </a:solidFill>
              </a:rPr>
              <a:t>, </a:t>
            </a:r>
            <a:r>
              <a:rPr lang="en-US" sz="1800" b="1" dirty="0">
                <a:solidFill>
                  <a:schemeClr val="tx1"/>
                </a:solidFill>
              </a:rPr>
              <a:t>de sleutels</a:t>
            </a:r>
            <a:r>
              <a:rPr lang="en-US" sz="1800" dirty="0">
                <a:solidFill>
                  <a:schemeClr val="tx1"/>
                </a:solidFill>
              </a:rPr>
              <a:t> (pluriel), </a:t>
            </a:r>
            <a:r>
              <a:rPr lang="en-US" sz="1800" b="1" dirty="0">
                <a:solidFill>
                  <a:schemeClr val="tx1"/>
                </a:solidFill>
              </a:rPr>
              <a:t>de klanten</a:t>
            </a:r>
            <a:r>
              <a:rPr lang="en-US" sz="1800" dirty="0">
                <a:solidFill>
                  <a:schemeClr val="tx1"/>
                </a:solidFill>
              </a:rPr>
              <a:t> → </a:t>
            </a:r>
            <a:r>
              <a:rPr lang="en-US" sz="1800" b="1" dirty="0">
                <a:solidFill>
                  <a:schemeClr val="tx1"/>
                </a:solidFill>
              </a:rPr>
              <a:t>die</a:t>
            </a:r>
            <a:r>
              <a:rPr lang="en-US" sz="1800" dirty="0">
                <a:solidFill>
                  <a:schemeClr val="tx1"/>
                </a:solidFill>
              </a:rPr>
              <a:t>.</a:t>
            </a:r>
            <a:endParaRPr lang="en-US" sz="1800" dirty="0"/>
          </a:p>
          <a:p>
            <a:pPr marL="177800" indent="-177800">
              <a:spcAft>
                <a:spcPts val="600"/>
              </a:spcAft>
              <a:buSzPct val="100000"/>
              <a:buChar char="•"/>
            </a:pPr>
            <a:r>
              <a:rPr lang="en-US" sz="1800" dirty="0">
                <a:solidFill>
                  <a:schemeClr val="tx1"/>
                </a:solidFill>
              </a:rPr>
              <a:t>Objet ou sujet : le </a:t>
            </a:r>
            <a:r>
              <a:rPr lang="en-US" sz="1800" b="1" dirty="0">
                <a:solidFill>
                  <a:schemeClr val="tx1"/>
                </a:solidFill>
              </a:rPr>
              <a:t>même</a:t>
            </a:r>
            <a:r>
              <a:rPr lang="en-US" sz="1800" dirty="0">
                <a:solidFill>
                  <a:schemeClr val="tx1"/>
                </a:solidFill>
              </a:rPr>
              <a:t> pronom (</a:t>
            </a:r>
            <a:r>
              <a:rPr lang="en-US" sz="1800" i="1" dirty="0">
                <a:solidFill>
                  <a:schemeClr val="tx1"/>
                </a:solidFill>
              </a:rPr>
              <a:t>het contract dat de eigenaar tekent</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bg1"/>
                </a:solidFill>
              </a:rPr>
              <a:t>Tot de volgende keer!</a:t>
            </a:r>
            <a:endParaRPr lang="en-US" sz="3200" dirty="0"/>
          </a:p>
        </p:txBody>
      </p:sp>
      <p:sp>
        <p:nvSpPr>
          <p:cNvPr id="3" name="tag"/>
          <p:cNvSpPr/>
          <p:nvPr/>
        </p:nvSpPr>
        <p:spPr>
          <a:xfrm>
            <a:off x="548640" y="237744"/>
            <a:ext cx="1988820"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chemeClr val="bg1"/>
                </a:solidFill>
              </a:rPr>
              <a:t>FIN DE SÉANCE</a:t>
            </a:r>
            <a:endParaRPr lang="en-US" sz="1200" dirty="0"/>
          </a:p>
        </p:txBody>
      </p:sp>
      <p:sp>
        <p:nvSpPr>
          <p:cNvPr id="4" name="Shape 2"/>
          <p:cNvSpPr/>
          <p:nvPr/>
        </p:nvSpPr>
        <p:spPr>
          <a:xfrm>
            <a:off x="548640" y="1554480"/>
            <a:ext cx="6035040" cy="3108960"/>
          </a:xfrm>
          <a:prstGeom prst="roundRect">
            <a:avLst>
              <a:gd name="adj" fmla="val 2941"/>
            </a:avLst>
          </a:prstGeom>
          <a:solidFill>
            <a:schemeClr val="bg1">
              <a:alpha val="10000"/>
            </a:schemeClr>
          </a:solidFill>
          <a:ln w="12700">
            <a:solidFill>
              <a:srgbClr val="EEF3F8"/>
            </a:solidFill>
            <a:prstDash val="solid"/>
          </a:ln>
        </p:spPr>
      </p:sp>
      <p:sp>
        <p:nvSpPr>
          <p:cNvPr id="5" name="Text 3"/>
          <p:cNvSpPr txBox="1"/>
          <p:nvPr/>
        </p:nvSpPr>
        <p:spPr>
          <a:xfrm>
            <a:off x="822960" y="1737360"/>
            <a:ext cx="5486400" cy="320040"/>
          </a:xfrm>
          <a:prstGeom prst="rect">
            <a:avLst/>
          </a:prstGeom>
          <a:noFill/>
          <a:ln/>
        </p:spPr>
        <p:txBody>
          <a:bodyPr wrap="square" lIns="0" tIns="0" rIns="0" bIns="0" rtlCol="0" anchor="ctr"/>
          <a:lstStyle/>
          <a:p>
            <a:pPr indent="0" marL="0">
              <a:buNone/>
            </a:pPr>
            <a:r>
              <a:rPr lang="en-US" sz="1300" b="1" spc="200" kern="0" dirty="0">
                <a:solidFill>
                  <a:schemeClr val="accent1"/>
                </a:solidFill>
              </a:rPr>
              <a:t>LA PROCHAINE FOIS</a:t>
            </a:r>
            <a:endParaRPr lang="en-US" sz="1300" dirty="0"/>
          </a:p>
        </p:txBody>
      </p:sp>
      <p:sp>
        <p:nvSpPr>
          <p:cNvPr id="6" name="Text 4"/>
          <p:cNvSpPr txBox="1"/>
          <p:nvPr/>
        </p:nvSpPr>
        <p:spPr>
          <a:xfrm>
            <a:off x="822960" y="2148840"/>
            <a:ext cx="5486400" cy="2377440"/>
          </a:xfrm>
          <a:prstGeom prst="rect">
            <a:avLst/>
          </a:prstGeom>
          <a:noFill/>
          <a:ln/>
        </p:spPr>
        <p:txBody>
          <a:bodyPr wrap="square" lIns="0" tIns="0" rIns="0" bIns="0" rtlCol="0" anchor="t"/>
          <a:lstStyle/>
          <a:p>
            <a:pPr indent="0" marL="0">
              <a:buNone/>
            </a:pPr>
            <a:r>
              <a:rPr lang="en-US" sz="2400" i="1" dirty="0">
                <a:solidFill>
                  <a:schemeClr val="bg1"/>
                </a:solidFill>
                <a:latin typeface="+mj-lt" pitchFamily="34" charset="0"/>
                <a:ea typeface="+mj-lt" pitchFamily="34" charset="-122"/>
                <a:cs typeface="+mj-lt" pitchFamily="34" charset="-120"/>
              </a:rPr>
              <a:t>Séance 3 : </a:t>
            </a:r>
            <a:r>
              <a:rPr lang="en-US" sz="2400" b="1" i="1" dirty="0">
                <a:solidFill>
                  <a:schemeClr val="bg1"/>
                </a:solidFill>
                <a:latin typeface="+mj-lt" pitchFamily="34" charset="0"/>
                <a:ea typeface="+mj-lt" pitchFamily="34" charset="-122"/>
                <a:cs typeface="+mj-lt" pitchFamily="34" charset="-120"/>
              </a:rPr>
              <a:t>met wie</a:t>
            </a:r>
            <a:r>
              <a:rPr lang="en-US" sz="2400" i="1" dirty="0">
                <a:solidFill>
                  <a:schemeClr val="bg1"/>
                </a:solidFill>
                <a:latin typeface="+mj-lt" pitchFamily="34" charset="0"/>
                <a:ea typeface="+mj-lt" pitchFamily="34" charset="-122"/>
                <a:cs typeface="+mj-lt" pitchFamily="34" charset="-120"/>
              </a:rPr>
              <a:t>, </a:t>
            </a:r>
            <a:r>
              <a:rPr lang="en-US" sz="2400" b="1" i="1" dirty="0">
                <a:solidFill>
                  <a:schemeClr val="bg1"/>
                </a:solidFill>
                <a:latin typeface="+mj-lt" pitchFamily="34" charset="0"/>
                <a:ea typeface="+mj-lt" pitchFamily="34" charset="-122"/>
                <a:cs typeface="+mj-lt" pitchFamily="34" charset="-120"/>
              </a:rPr>
              <a:t>waarover</a:t>
            </a:r>
            <a:r>
              <a:rPr lang="en-US" sz="2400" i="1" dirty="0">
                <a:solidFill>
                  <a:schemeClr val="bg1"/>
                </a:solidFill>
                <a:latin typeface="+mj-lt" pitchFamily="34" charset="0"/>
                <a:ea typeface="+mj-lt" pitchFamily="34" charset="-122"/>
                <a:cs typeface="+mj-lt" pitchFamily="34" charset="-120"/>
              </a:rPr>
              <a:t>, </a:t>
            </a:r>
            <a:r>
              <a:rPr lang="en-US" sz="2400" b="1" i="1" dirty="0">
                <a:solidFill>
                  <a:schemeClr val="bg1"/>
                </a:solidFill>
                <a:latin typeface="+mj-lt" pitchFamily="34" charset="0"/>
                <a:ea typeface="+mj-lt" pitchFamily="34" charset="-122"/>
                <a:cs typeface="+mj-lt" pitchFamily="34" charset="-120"/>
              </a:rPr>
              <a:t>eraan</a:t>
            </a:r>
            <a:r>
              <a:rPr lang="en-US" sz="2400" i="1" dirty="0">
                <a:solidFill>
                  <a:schemeClr val="bg1"/>
                </a:solidFill>
                <a:latin typeface="+mj-lt" pitchFamily="34" charset="0"/>
                <a:ea typeface="+mj-lt" pitchFamily="34" charset="-122"/>
                <a:cs typeface="+mj-lt" pitchFamily="34" charset="-120"/>
              </a:rPr>
              <a:t> — les relatives avec préposition, « le sommet du palier », et la visite guidée (TAAK 3).</a:t>
            </a:r>
            <a:endParaRPr lang="en-US" sz="2400" dirty="0"/>
          </a:p>
        </p:txBody>
      </p:sp>
      <p:sp>
        <p:nvSpPr>
          <p:cNvPr id="7" name="Shape 5"/>
          <p:cNvSpPr/>
          <p:nvPr/>
        </p:nvSpPr>
        <p:spPr>
          <a:xfrm>
            <a:off x="6903720" y="1554480"/>
            <a:ext cx="4736592" cy="4709160"/>
          </a:xfrm>
          <a:prstGeom prst="roundRect">
            <a:avLst>
              <a:gd name="adj" fmla="val 1942"/>
            </a:avLst>
          </a:prstGeom>
          <a:solidFill>
            <a:schemeClr val="bg1"/>
          </a:solidFill>
          <a:ln/>
        </p:spPr>
      </p:sp>
      <p:pic>
        <p:nvPicPr>
          <p:cNvPr id="8" name="Image 0" descr="preencoded.png">    </p:cNvPr>
          <p:cNvPicPr>
            <a:picLocks noChangeAspect="1"/>
          </p:cNvPicPr>
          <p:nvPr/>
        </p:nvPicPr>
        <p:blipFill>
          <a:blip r:embed="rId1"/>
          <a:stretch>
            <a:fillRect/>
          </a:stretch>
        </p:blipFill>
        <p:spPr>
          <a:xfrm>
            <a:off x="7132320" y="1755648"/>
            <a:ext cx="365760" cy="365760"/>
          </a:xfrm>
          <a:prstGeom prst="rect">
            <a:avLst/>
          </a:prstGeom>
        </p:spPr>
      </p:pic>
      <p:sp>
        <p:nvSpPr>
          <p:cNvPr id="9" name="Text 6"/>
          <p:cNvSpPr txBox="1"/>
          <p:nvPr/>
        </p:nvSpPr>
        <p:spPr>
          <a:xfrm>
            <a:off x="7635240" y="1737360"/>
            <a:ext cx="3840480" cy="384048"/>
          </a:xfrm>
          <a:prstGeom prst="rect">
            <a:avLst/>
          </a:prstGeom>
          <a:noFill/>
          <a:ln/>
        </p:spPr>
        <p:txBody>
          <a:bodyPr wrap="square" lIns="0" tIns="0" rIns="0" bIns="0" rtlCol="0" anchor="ctr"/>
          <a:lstStyle/>
          <a:p>
            <a:pPr indent="0" marL="0">
              <a:buNone/>
            </a:pPr>
            <a:r>
              <a:rPr lang="en-US" sz="1400" b="1" spc="100" kern="0" dirty="0">
                <a:solidFill>
                  <a:schemeClr val="tx2"/>
                </a:solidFill>
              </a:rPr>
              <a:t>POUR LA PROCHAINE SÉANCE</a:t>
            </a:r>
            <a:endParaRPr lang="en-US" sz="1400" dirty="0"/>
          </a:p>
        </p:txBody>
      </p:sp>
      <p:sp>
        <p:nvSpPr>
          <p:cNvPr id="10" name="Text 7"/>
          <p:cNvSpPr txBox="1"/>
          <p:nvPr/>
        </p:nvSpPr>
        <p:spPr>
          <a:xfrm>
            <a:off x="7132320" y="2286000"/>
            <a:ext cx="4297680" cy="3840480"/>
          </a:xfrm>
          <a:prstGeom prst="rect">
            <a:avLst/>
          </a:prstGeom>
          <a:noFill/>
          <a:ln/>
        </p:spPr>
        <p:txBody>
          <a:bodyPr wrap="square" lIns="0" tIns="0" rIns="0" bIns="0" rtlCol="0" anchor="t"/>
          <a:lstStyle/>
          <a:p>
            <a:pPr marL="190500" indent="-190500">
              <a:spcAft>
                <a:spcPts val="800"/>
              </a:spcAft>
              <a:buSzPct val="100000"/>
              <a:buChar char="•"/>
            </a:pPr>
            <a:r>
              <a:rPr lang="en-US" sz="1700" dirty="0">
                <a:solidFill>
                  <a:schemeClr val="tx1"/>
                </a:solidFill>
              </a:rPr>
              <a:t>Terminer la </a:t>
            </a:r>
            <a:r>
              <a:rPr lang="en-US" sz="1700" b="1" dirty="0">
                <a:solidFill>
                  <a:schemeClr val="tx1"/>
                </a:solidFill>
              </a:rPr>
              <a:t>TAAK 2</a:t>
            </a:r>
            <a:r>
              <a:rPr lang="en-US" sz="1700" dirty="0">
                <a:solidFill>
                  <a:schemeClr val="tx1"/>
                </a:solidFill>
              </a:rPr>
              <a:t> (60 à 80 mots) et </a:t>
            </a:r>
            <a:r>
              <a:rPr lang="en-US" sz="1700" b="1" dirty="0">
                <a:solidFill>
                  <a:schemeClr val="tx1"/>
                </a:solidFill>
              </a:rPr>
              <a:t>souligner</a:t>
            </a:r>
            <a:r>
              <a:rPr lang="en-US" sz="1700" dirty="0">
                <a:solidFill>
                  <a:schemeClr val="tx1"/>
                </a:solidFill>
              </a:rPr>
              <a:t> vos relatives.</a:t>
            </a:r>
            <a:endParaRPr lang="en-US" sz="1700" dirty="0"/>
          </a:p>
          <a:p>
            <a:pPr marL="190500" indent="-190500">
              <a:spcAft>
                <a:spcPts val="800"/>
              </a:spcAft>
              <a:buSzPct val="100000"/>
              <a:buChar char="•"/>
            </a:pPr>
            <a:r>
              <a:rPr lang="en-US" sz="1700" dirty="0">
                <a:solidFill>
                  <a:schemeClr val="tx1"/>
                </a:solidFill>
              </a:rPr>
              <a:t>Terminer </a:t>
            </a:r>
            <a:r>
              <a:rPr lang="en-US" sz="1700" b="1" dirty="0">
                <a:solidFill>
                  <a:schemeClr val="tx1"/>
                </a:solidFill>
              </a:rPr>
              <a:t>D2 question 4</a:t>
            </a:r>
            <a:r>
              <a:rPr lang="en-US" sz="1700" dirty="0">
                <a:solidFill>
                  <a:schemeClr val="tx1"/>
                </a:solidFill>
              </a:rPr>
              <a:t> : votre petite annonce (3 phrases).</a:t>
            </a:r>
            <a:endParaRPr lang="en-US" sz="1700" dirty="0"/>
          </a:p>
          <a:p>
            <a:pPr marL="190500" indent="-190500">
              <a:spcAft>
                <a:spcPts val="800"/>
              </a:spcAft>
              <a:buSzPct val="100000"/>
              <a:buChar char="•"/>
            </a:pPr>
            <a:r>
              <a:rPr lang="en-US" sz="1700" dirty="0">
                <a:solidFill>
                  <a:schemeClr val="tx1"/>
                </a:solidFill>
              </a:rPr>
              <a:t>Apprendre : </a:t>
            </a:r>
            <a:r>
              <a:rPr lang="en-US" sz="1700" b="1" dirty="0">
                <a:solidFill>
                  <a:schemeClr val="tx1"/>
                </a:solidFill>
              </a:rPr>
              <a:t>de / pluriel → die · het singulier → dat</a:t>
            </a:r>
            <a:r>
              <a:rPr lang="en-US" sz="1700" dirty="0">
                <a:solidFill>
                  <a:schemeClr val="tx1"/>
                </a:solidFill>
              </a:rPr>
              <a:t>.</a:t>
            </a:r>
            <a:endParaRPr lang="en-US" sz="1700" dirty="0"/>
          </a:p>
          <a:p>
            <a:pPr marL="190500" indent="-190500">
              <a:spcAft>
                <a:spcPts val="800"/>
              </a:spcAft>
              <a:buSzPct val="100000"/>
              <a:buChar char="•"/>
            </a:pPr>
            <a:r>
              <a:rPr lang="en-US" sz="1700" dirty="0">
                <a:solidFill>
                  <a:schemeClr val="tx1"/>
                </a:solidFill>
              </a:rPr>
              <a:t>Relire le </a:t>
            </a:r>
            <a:r>
              <a:rPr lang="en-US" sz="1700" b="1" dirty="0">
                <a:solidFill>
                  <a:schemeClr val="tx1"/>
                </a:solidFill>
              </a:rPr>
              <a:t>dialogue</a:t>
            </a:r>
            <a:r>
              <a:rPr lang="en-US" sz="1700" dirty="0">
                <a:solidFill>
                  <a:schemeClr val="tx1"/>
                </a:solidFill>
              </a:rPr>
              <a:t> p. 2 : repérer trois relatives.</a:t>
            </a:r>
            <a:endParaRPr lang="en-US" sz="1700" dirty="0"/>
          </a:p>
        </p:txBody>
      </p:sp>
      <p:sp>
        <p:nvSpPr>
          <p:cNvPr id="11" name="Shape 8"/>
          <p:cNvSpPr/>
          <p:nvPr/>
        </p:nvSpPr>
        <p:spPr>
          <a:xfrm>
            <a:off x="548640" y="4892040"/>
            <a:ext cx="6035040" cy="1371600"/>
          </a:xfrm>
          <a:prstGeom prst="roundRect">
            <a:avLst>
              <a:gd name="adj" fmla="val 6667"/>
            </a:avLst>
          </a:prstGeom>
          <a:solidFill>
            <a:schemeClr val="accent1"/>
          </a:solidFill>
          <a:ln/>
        </p:spPr>
      </p:sp>
      <p:sp>
        <p:nvSpPr>
          <p:cNvPr id="12" name="Text 9"/>
          <p:cNvSpPr txBox="1"/>
          <p:nvPr/>
        </p:nvSpPr>
        <p:spPr>
          <a:xfrm>
            <a:off x="777240" y="4983480"/>
            <a:ext cx="5623560" cy="1188720"/>
          </a:xfrm>
          <a:prstGeom prst="rect">
            <a:avLst/>
          </a:prstGeom>
          <a:noFill/>
          <a:ln/>
        </p:spPr>
        <p:txBody>
          <a:bodyPr wrap="square" lIns="0" tIns="0" rIns="0" bIns="0" rtlCol="0" anchor="ctr"/>
          <a:lstStyle/>
          <a:p>
            <a:pPr indent="0" marL="0">
              <a:buNone/>
            </a:pPr>
            <a:r>
              <a:rPr lang="en-US" sz="1300" b="1" spc="100" kern="0" dirty="0">
                <a:solidFill>
                  <a:schemeClr val="bg1"/>
                </a:solidFill>
              </a:rPr>
              <a:t>TICKET DE SORTIE  </a:t>
            </a:r>
            <a:endParaRPr lang="en-US" sz="1300" dirty="0"/>
          </a:p>
          <a:p>
            <a:pPr indent="0" marL="0">
              <a:buNone/>
            </a:pPr>
            <a:r>
              <a:rPr lang="en-US" sz="1600" dirty="0">
                <a:solidFill>
                  <a:schemeClr val="bg1"/>
                </a:solidFill>
              </a:rPr>
              <a:t>Complétez : </a:t>
            </a:r>
            <a:r>
              <a:rPr lang="en-US" sz="1600" i="1" dirty="0">
                <a:solidFill>
                  <a:schemeClr val="bg1"/>
                </a:solidFill>
              </a:rPr>
              <a:t>Het appartement </a:t>
            </a:r>
            <a:r>
              <a:rPr lang="en-US" sz="1600" i="1" dirty="0">
                <a:solidFill>
                  <a:schemeClr val="accent5"/>
                </a:solidFill>
              </a:rPr>
              <a:t>……………</a:t>
            </a:r>
            <a:r>
              <a:rPr lang="en-US" sz="1600" i="1" dirty="0">
                <a:solidFill>
                  <a:schemeClr val="bg1"/>
                </a:solidFill>
              </a:rPr>
              <a:t> te huur staat…</a:t>
            </a:r>
            <a:r>
              <a:rPr lang="en-US" sz="1600" dirty="0">
                <a:solidFill>
                  <a:schemeClr val="bg1"/>
                </a:solidFill>
              </a:rPr>
              <a:t> · </a:t>
            </a:r>
            <a:r>
              <a:rPr lang="en-US" sz="1600" i="1" dirty="0">
                <a:solidFill>
                  <a:schemeClr val="bg1"/>
                </a:solidFill>
              </a:rPr>
              <a:t>De klanten </a:t>
            </a:r>
            <a:r>
              <a:rPr lang="en-US" sz="1600" i="1" dirty="0">
                <a:solidFill>
                  <a:schemeClr val="accent5"/>
                </a:solidFill>
              </a:rPr>
              <a:t>……………</a:t>
            </a:r>
            <a:r>
              <a:rPr lang="en-US" sz="1600" i="1" dirty="0">
                <a:solidFill>
                  <a:schemeClr val="bg1"/>
                </a:solidFill>
              </a:rPr>
              <a:t> morgen komen…</a:t>
            </a:r>
            <a:r>
              <a:rPr lang="en-US" sz="1600" dirty="0">
                <a:solidFill>
                  <a:schemeClr val="bg1"/>
                </a:solidFill>
              </a:rPr>
              <a:t> (die ou dat ?)</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Nederlands B1 vastgoed">
  <a:themeElements>
    <a:clrScheme name="Nederlands B1 vastgoed">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B1 vastgo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IRAM — Néerlandais 3 (B1)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Séance 02 — De woning beschrijven</dc:title>
  <dc:subject>Néerlandais B1 — immobilier et vie quotidienne (Yasmina &amp; Stef)</dc:subject>
  <dc:creator>A. Jouniaux</dc:creator>
  <cp:lastModifiedBy>A. Jouniaux</cp:lastModifiedBy>
  <cp:revision>1</cp:revision>
  <dcterms:created xsi:type="dcterms:W3CDTF">2026-10-03T21:59:50Z</dcterms:created>
  <dcterms:modified xsi:type="dcterms:W3CDTF">2026-10-03T21:59:50Z</dcterms:modified>
</cp:coreProperties>
</file>