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b27ec078-cd61-7812-6d9e-ce56478bba74}">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Clôture" id="{25152a04-5cf8-6b28-f9b3-dd99fd8c1c3e}">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d’ouverture du palier 7. Objectifs : présenter les six piliers du palier, lire les deux dialogues (Dinsdagmiddag bij Immo Van Damme et l’Avonddialoog avec Nadia), installer le lexique de la copropriété (mindmap), noter les informations d’un message vocal du syndic, puis vulgariser avec des relatives, le passif et zou (TAAK 1), et transférer le tout à la vie de quartier (D1). Le palier 7 réemploie massivement les paliers 5 (relatives) et 6 (passif, zou, discours indirect).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La séance couvre les pages 1 à 6a du livret (ouverture du palier 7, séquence 7.1 et activité Dagelijks leven D1). Les séances 12 à 15 traitent ensuite les séquences 7.2 à 7.5 et la TAAK 6 finale. Si le temps manque, la mindmap peut être terminée à la maison et D1 peut se limiter à une ronde.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5 minutes des paliers 5 (relatives) et 6 (passif, zou, discours indirect). Le palier 7 réutilise ces acquis dans chaque TAAK. Si un étudiant place le verbe après le sujet dans la relative (« die beheert het gebouw »), refaire la règle : le verbe conjugué se place en dernière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Accepter « Het reservefonds is het geld dat wij gebruiken voor grote werken » comme erreur à corriger : le verbe doit rester à la fin de la relative. Pour la phrase 5, accepter aussi « zei dat de werken noodzakelijk waren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Correspondance pilier / séquence : 1 = séquence 7.1 (séance 11) ; 2 = 7.2 (séance 12) ; 3 = 7.3 (séance 13) ; 5 = 7.4 (séance 14) ; 4 = 7.5 (séance 15) ; 6 = les TAAK 1 à 6 et les activités Dagelijks leven. Réponse à la question : agir au nom d’un client, avec sa procuration (volmacht), et voter ou défendre sa position à sa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lecture par le professeur, deuxième lecture en binôme (Stef / Yasmina). Le dialogue n’est pas numéroté dans le livret : les « Focus » des séquences renvoient aux lignes 1 à 9, une ligne par réplique, comme ici. Remarque : « Wij vertegenwoordigen mevrouw Dubois, toch? » — « toch » en fin de phrase = « n’est-ce pas ? » (retour en séance 15). Faire repérer à l’oral : la convocation (uitnodiging), la décision reportée, la position de la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séquence du palier exploite des phrases de ce dialogue (colonne de droite). Coquille / remarque du livret : « het offerte-onderzoek » est un composé peu naturel ; on dirait plutôt « het onderzoek van de offertes » (l’examen des devis). Il est conservé tel quel pour rester fidèle au livret.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Buiten het kantoor : Stef n’est plus l’agent, c’est un habitant. Le fil rouge du palier est la vie de quartier (sac poubelle refusé, comité de quartier, speelstraat). Lire à deux voix. Vocabulaire à expliquer : de stoep (le trottoir), de glasbak (la bulle à verre), de sorteerfout (l’erreur de tri). « Je blauwe zak » : le sac bleu PMC.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à deux voix. Ne pas encore analyser la grammaire : les questions de la diapositive suivante servent à la repérer. Les outils de 7.2 à 7.5 sont tous présents dans ce dialogue (nominalisations, connecteurs, passif des notulen, concession).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connecteurs sont ceux des séquences 7.3 et 7.5 ; les nominalisations préparent 7.2. Réponses acceptables en plus : nominalisations « het sorteren » ; connecteurs « wat … betreft » (Stef, ligne 10). Question bonus : en Belgique, une speelstraat est une rue temporairement fermée à la circulation automobile (ici un mois, en juillet), souvent pendant les vacances d’été, pour que les enfants jouent en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en commun rapide. Faire dire la concession à voix haute avec l’intonation : « weliswaar… MAAR ». Signaler que « fel tegen » = fermement opposé. Ne pas oublier : sommige bewoners vrezen aussi pour leur parkeerplaats (ligne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 « de syndicus » ressemble à « le syndicat » (= de vakbond) alors que c’est le syndic de l’immeuble. Autres mots à expliquer : de quotiteiten (les quotités : la part de chaque copropriétaire dans les parties communes), de volmacht (la procuration). « een uitnodiging krijgen » = recevoir une convocation / invitation. Les mots seront systématisés dans la mindmap.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de production libre : pas de corrigé unique. Les mots de départ viennent du livret ; la proposition de corrigé est sur les trois diapositives suivantes. Laisser les étudiants chercher d’abord seuls (3 min), puis comparer. Les mots des paliers 5 et 6 comptent : de makelaar, de eigenaar, de offerte, het bod, de huurder… (étagère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Couleurs : bleu = de, magenta = het. « de gemene delen » et « de notulen » sont des pluriels (de = article pluriel). Faire répéter en chœur, puis jeu rapide : le professeur dit le français, la classe répond avec l’article. « de mede-eigenaar » : un copropriétaire ; « mede » = co-. La liste n’est pas exhaustive : les étudiants ont pu trouver d’autres mots (de lift, de trap, de kelder, de plaats…).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dernière colonne (verbes) n’est pas dans le livret : elle prépare la séance 12, où chaque verbe devient un nom (stemmen → de stemming, beslissen → de beslissing, goedkeuren → de goedkeuring, verdelen → de verdeling). « goedkeuren » et « uitstellen » sont séparables. « de offerte » : le devis ou l’offre ; en immobilier aussi « het bod » (l’offre d’achat, palier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Planche d’illustration du livret : quatre cartes. Faire lire chaque carte, puis demander une phrase par carte (« De syndicus is de persoon die… »). Piège pour francophones : « syndicat » (organisation de travailleurs) se dit « de vakbond », pas « de syndicus ». « Gemeen » a deux sens : méchant, vulgaire (Hij is gemeen) et commun (de gemene delen, een gemeen belang).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texte de la voicemail (transcription n° 1) est dans l’annexe du dossier du professeur : il n’est pas reproduit dans le livret, la solution dépend donc du texte lu. Ne pas la deviner. Lire deux fois, à vitesse naturelle, avec une minute entre les deux lectures. Mise en commun : une ligne de la fiche par étudiant, réponse en mots-clés puis en phrase complète. Indice de cohérence avec le livret : la réunion concerne la renovatie van de gevel de la Résidence Zonneberg (offerte de 86.500 € dans la convocation de la séance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grammaire des paliers 5 et 6 appliqué à la vulgarisation. « waarop » = waar + op (la réunion « sur laquelle »/« où »). Pour les choses avec préposition, on utilise waar + préposition : waarmee, waarop, waarvoor. Le syllabus n’a pas de page de grammaire séparée ici : ce point sert de pont vers la TAAK 1 et le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Modalités : binômes + un observateur si la classe est impaire. Ronde 1 : A makelaar / B candidat (carte au choix) ; ronde 2 : on inverse avec une autre carte. Rappeler le vouvoiement du makelaar : « Hebt u… ? Wilt u… ? ». Phrases-modèles de la colonne A = production attendue, à adapter. Autres relatives possibles : « De gemene delen zijn de ruimtes die alle bewoners gebruiken, zoals de lift en de inkomhal. » ; « De volmacht is het document waarmee u iemand anders laat stemmen. » ; « De quotiteiten zijn de verhoudingen waarmee de kosten worden verdeeld. » Le professeur note les erreurs récurrentes (verbe à la fin de la relative) pour la mise en commun.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Lexique du livret (« Zo zeg je dat »). Articles ajoutés pour l’étagère active : de zak, de glasbak, het recyclagepark, de ophaaldag, de fietsenberging, de adreswijziging, de wijkagent. « buitenzetten » est séparable : « Ik zet de zak buiten ». « Dat mag er niet in » = « Ça ne peut pas aller dedans » (« er … in » entoure le mot). Ces mots sont régionaux : adapter à la commune des étudiants (restafval = déchets résiduels ; PMC = plastique, métal, cartons à boissons).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L’observateur coche : lexique exact, relatives, vulgarisation réussie. Les étudiants qui habitent des communes différentes comparent leurs règles : même pays, autres habitudes. Modèle de réponse : « De ophaaldag is de dag waarop de gemeente het restafval ophaalt. » ; « Het recyclagepark is de plaats waar u grofvuil naartoe brengt. » ; « De blauwe zak is de zak waarin u plastic flessen en drankkartons stopt. » (waarin = waar + in). Durée : 10 minutes en tout, donc une ronde par rôle si le temps manque.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pour fixer les relatives de vulgarisation avant TAAK 1 et D1. Phrase 4 : « plaatsvinden » est séparable ; dans une subordonnée la particule se colle au verbe : « waar de vergadering plaatsvindt ». Phrase 6 : relative qui interrompt la phrase principale (le verbe de la principale « geven » arrive après la virgule).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 étudiant écrit « waar » pour « waarop » ou « waarmee » : refaire la règle « préposition + chose = waar + préposition » (de bijeenkomst waarop… = la réunion où/sur laquelle).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 « De syndicus is de persoon die het gebouw beheert. » (ou « …die de vergadering voorbereidt »). Vérifier que le verbe de la relative est bien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11</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11</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11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7.1</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De regels van de mede-eigendom</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Ouverture du palier 7 — le lexique de la copropriété et l’art de le vulgariser</a:t>
            </a:r>
            <a:endParaRPr lang="en-US" sz="1800" dirty="0"/>
          </a:p>
          <a:p>
            <a:pPr algn="l" indent="0" marL="0">
              <a:buNone/>
            </a:pPr>
            <a:r>
              <a:rPr lang="en-US" sz="1800" b="1" dirty="0">
                <a:solidFill>
                  <a:schemeClr val="bg2"/>
                </a:solidFill>
              </a:rPr>
              <a:t>Palier 7 · Mede-eigendom</a:t>
            </a:r>
            <a:endParaRPr lang="en-US" sz="1800" dirty="0"/>
          </a:p>
          <a:p>
            <a:pPr algn="l" indent="0" marL="0">
              <a:buNone/>
            </a:pPr>
            <a:r>
              <a:rPr lang="en-US" sz="1800" dirty="0">
                <a:solidFill>
                  <a:schemeClr val="bg2"/>
                </a:solidFill>
              </a:rPr>
              <a:t>Livret p. 1–6a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2120"/>
            <a:ext cx="5120640" cy="3413760"/>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1–6a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400" dirty="0">
                <a:solidFill>
                  <a:schemeClr val="tx1"/>
                </a:solidFill>
              </a:rPr>
              <a:t>Comprendre et </a:t>
            </a:r>
            <a:r>
              <a:rPr lang="en-US" sz="1400" b="1" dirty="0">
                <a:solidFill>
                  <a:schemeClr val="tx1"/>
                </a:solidFill>
              </a:rPr>
              <a:t>expliquer simplement</a:t>
            </a:r>
            <a:r>
              <a:rPr lang="en-US" sz="1400" dirty="0">
                <a:solidFill>
                  <a:schemeClr val="tx1"/>
                </a:solidFill>
              </a:rPr>
              <a:t> les notions clés de la copropriété (syndic, parties communes, procuration, quotités) à un client ou à un voisin.</a:t>
            </a:r>
            <a:endParaRPr lang="en-US" sz="14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600" i="1" dirty="0">
                <a:solidFill>
                  <a:schemeClr val="tx1"/>
                </a:solidFill>
              </a:rPr>
              <a:t>de syndicus · de gemene delen · de volmacht · de quotiteiten · De syndicus is de persoon die… · Ik zou me daar geen zorgen over maken</a:t>
            </a:r>
            <a:endParaRPr lang="en-US" sz="16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500" dirty="0">
                <a:solidFill>
                  <a:schemeClr val="tx1"/>
                </a:solidFill>
              </a:rPr>
              <a:t>Lire deux dialogues · compléter une mindmap de vocabulaire · noter des mots-clés à l’écoute · vulgariser avec des relatives, le passif et zou</a:t>
            </a:r>
            <a:endParaRPr lang="en-US" sz="15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Rappel paliers 5–6</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7'</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Ouverture + deux dialogues (p. 1–2a)</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18'</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7.1 · lexique et mindmap (p. 3–5)</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20'</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Écoute : la voicemail du syndic</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Grammaire de vulgarisation</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7'</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1 · De mede-eigendom uitgelegd</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18'</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D1 · Uitgelegd aan een nieuwkomer</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2'</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des paliers 5 et 6 : relatives, passif, zou</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paliers 5–6</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puis correction orale. Ces outils serviront toute la séance.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300" b="1" dirty="0">
                <a:solidFill>
                  <a:schemeClr val="tx2"/>
                </a:solidFill>
              </a:rPr>
              <a:t>1.  </a:t>
            </a:r>
            <a:r>
              <a:rPr lang="en-US" sz="2300" b="1" dirty="0">
                <a:solidFill>
                  <a:schemeClr val="tx1"/>
                </a:solidFill>
              </a:rPr>
              <a:t>die / dat</a:t>
            </a:r>
            <a:r>
              <a:rPr lang="en-US" sz="2300" dirty="0">
                <a:solidFill>
                  <a:schemeClr val="tx1"/>
                </a:solidFill>
              </a:rPr>
              <a:t> : </a:t>
            </a:r>
            <a:r>
              <a:rPr lang="en-US" sz="2300" i="1" dirty="0">
                <a:solidFill>
                  <a:schemeClr val="tx1"/>
                </a:solidFill>
              </a:rPr>
              <a:t>De syndicus is de persoon. Hij beheert het gebouw.</a:t>
            </a:r>
            <a:endParaRPr lang="en-US" sz="2300" dirty="0"/>
          </a:p>
          <a:p>
            <a:pPr indent="0" marL="0">
              <a:spcAft>
                <a:spcPts val="1400"/>
              </a:spcAft>
              <a:buNone/>
            </a:pPr>
            <a:r>
              <a:rPr lang="en-US" sz="2300" b="1" dirty="0">
                <a:solidFill>
                  <a:schemeClr val="tx2"/>
                </a:solidFill>
              </a:rPr>
              <a:t>2.  </a:t>
            </a:r>
            <a:r>
              <a:rPr lang="en-US" sz="2300" i="1" dirty="0">
                <a:solidFill>
                  <a:schemeClr val="tx1"/>
                </a:solidFill>
              </a:rPr>
              <a:t>Het reservefonds is het geld. We gebruiken het voor grote werken.</a:t>
            </a:r>
            <a:endParaRPr lang="en-US" sz="2300" dirty="0"/>
          </a:p>
          <a:p>
            <a:pPr indent="0" marL="0">
              <a:spcAft>
                <a:spcPts val="1400"/>
              </a:spcAft>
              <a:buNone/>
            </a:pPr>
            <a:r>
              <a:rPr lang="en-US" sz="2300" b="1" dirty="0">
                <a:solidFill>
                  <a:schemeClr val="tx2"/>
                </a:solidFill>
              </a:rPr>
              <a:t>3.  </a:t>
            </a:r>
            <a:r>
              <a:rPr lang="en-US" sz="2300" dirty="0">
                <a:solidFill>
                  <a:schemeClr val="tx1"/>
                </a:solidFill>
              </a:rPr>
              <a:t>Passif : </a:t>
            </a:r>
            <a:r>
              <a:rPr lang="en-US" sz="2300" i="1" dirty="0">
                <a:solidFill>
                  <a:schemeClr val="tx1"/>
                </a:solidFill>
              </a:rPr>
              <a:t>Men verdeelt de kosten volgens de quotiteiten.</a:t>
            </a:r>
            <a:endParaRPr lang="en-US" sz="2300" dirty="0"/>
          </a:p>
          <a:p>
            <a:pPr indent="0" marL="0">
              <a:spcAft>
                <a:spcPts val="1400"/>
              </a:spcAft>
              <a:buNone/>
            </a:pPr>
            <a:r>
              <a:rPr lang="en-US" sz="2300" b="1" dirty="0">
                <a:solidFill>
                  <a:schemeClr val="tx2"/>
                </a:solidFill>
              </a:rPr>
              <a:t>4.  </a:t>
            </a:r>
            <a:r>
              <a:rPr lang="en-US" sz="2300" dirty="0">
                <a:solidFill>
                  <a:schemeClr val="tx1"/>
                </a:solidFill>
              </a:rPr>
              <a:t>Rassurez avec </a:t>
            </a:r>
            <a:r>
              <a:rPr lang="en-US" sz="2300" b="1" dirty="0">
                <a:solidFill>
                  <a:schemeClr val="tx1"/>
                </a:solidFill>
              </a:rPr>
              <a:t>zou</a:t>
            </a:r>
            <a:r>
              <a:rPr lang="en-US" sz="2300" dirty="0">
                <a:solidFill>
                  <a:schemeClr val="tx1"/>
                </a:solidFill>
              </a:rPr>
              <a:t> : « Je ne m’en ferais pas de souci. »</a:t>
            </a:r>
            <a:endParaRPr lang="en-US" sz="2300" dirty="0"/>
          </a:p>
          <a:p>
            <a:pPr indent="0" marL="0">
              <a:spcAft>
                <a:spcPts val="1400"/>
              </a:spcAft>
              <a:buNone/>
            </a:pPr>
            <a:r>
              <a:rPr lang="en-US" sz="2300" b="1" dirty="0">
                <a:solidFill>
                  <a:schemeClr val="tx2"/>
                </a:solidFill>
              </a:rPr>
              <a:t>5.  </a:t>
            </a:r>
            <a:r>
              <a:rPr lang="en-US" sz="2300" dirty="0">
                <a:solidFill>
                  <a:schemeClr val="tx1"/>
                </a:solidFill>
              </a:rPr>
              <a:t>Discours indirect : Yasmina : </a:t>
            </a:r>
            <a:r>
              <a:rPr lang="en-US" sz="2300" i="1" dirty="0">
                <a:solidFill>
                  <a:schemeClr val="tx1"/>
                </a:solidFill>
              </a:rPr>
              <a:t>«De werken zijn nodig.»</a:t>
            </a:r>
            <a:endParaRPr lang="en-US" sz="2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des paliers 5 et 6 : relatives, passif, zou</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paliers 5–6</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puis correction orale. Ces outils serviront toute la séance.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1.  </a:t>
            </a:r>
            <a:r>
              <a:rPr lang="en-US" sz="1800" b="1" dirty="0">
                <a:solidFill>
                  <a:schemeClr val="tx1"/>
                </a:solidFill>
              </a:rPr>
              <a:t>die / dat</a:t>
            </a:r>
            <a:r>
              <a:rPr lang="en-US" sz="1800" dirty="0">
                <a:solidFill>
                  <a:schemeClr val="tx1"/>
                </a:solidFill>
              </a:rPr>
              <a:t> : </a:t>
            </a:r>
            <a:r>
              <a:rPr lang="en-US" sz="1800" i="1" dirty="0">
                <a:solidFill>
                  <a:schemeClr val="tx1"/>
                </a:solidFill>
              </a:rPr>
              <a:t>De syndicus is de persoon. Hij beheert het gebouw.</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syndicus is de persoon </a:t>
            </a:r>
            <a:r>
              <a:rPr lang="en-US" sz="1800" b="1" dirty="0">
                <a:solidFill>
                  <a:schemeClr val="accent3"/>
                </a:solidFill>
              </a:rPr>
              <a:t>die</a:t>
            </a:r>
            <a:r>
              <a:rPr lang="en-US" sz="1800" dirty="0">
                <a:solidFill>
                  <a:schemeClr val="accent3"/>
                </a:solidFill>
              </a:rPr>
              <a:t> het gebouw </a:t>
            </a:r>
            <a:r>
              <a:rPr lang="en-US" sz="1800" b="1" dirty="0">
                <a:solidFill>
                  <a:schemeClr val="accent3"/>
                </a:solidFill>
              </a:rPr>
              <a:t>beheert</a:t>
            </a:r>
            <a:r>
              <a:rPr lang="en-US" sz="1800" dirty="0">
                <a:solidFill>
                  <a:schemeClr val="accent3"/>
                </a:solidFill>
              </a:rPr>
              <a:t>.</a:t>
            </a:r>
            <a:endParaRPr lang="en-US" sz="1800" dirty="0"/>
          </a:p>
          <a:p>
            <a:pPr indent="0" marL="0">
              <a:spcAft>
                <a:spcPts val="400"/>
              </a:spcAft>
              <a:buNone/>
            </a:pPr>
            <a:r>
              <a:rPr lang="en-US" sz="1800" b="1" dirty="0">
                <a:solidFill>
                  <a:schemeClr val="tx2"/>
                </a:solidFill>
              </a:rPr>
              <a:t>2.  </a:t>
            </a:r>
            <a:r>
              <a:rPr lang="en-US" sz="1800" i="1" dirty="0">
                <a:solidFill>
                  <a:schemeClr val="tx1"/>
                </a:solidFill>
              </a:rPr>
              <a:t>Het reservefonds is het geld. We gebruiken het voor grote werken.</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Het reservefonds is het geld </a:t>
            </a:r>
            <a:r>
              <a:rPr lang="en-US" sz="1800" b="1" dirty="0">
                <a:solidFill>
                  <a:schemeClr val="accent3"/>
                </a:solidFill>
              </a:rPr>
              <a:t>dat</a:t>
            </a:r>
            <a:r>
              <a:rPr lang="en-US" sz="1800" dirty="0">
                <a:solidFill>
                  <a:schemeClr val="accent3"/>
                </a:solidFill>
              </a:rPr>
              <a:t> we voor grote werken </a:t>
            </a:r>
            <a:r>
              <a:rPr lang="en-US" sz="1800" b="1" dirty="0">
                <a:solidFill>
                  <a:schemeClr val="accent3"/>
                </a:solidFill>
              </a:rPr>
              <a:t>gebruiken</a:t>
            </a:r>
            <a:r>
              <a:rPr lang="en-US" sz="1800" dirty="0">
                <a:solidFill>
                  <a:schemeClr val="accent3"/>
                </a:solidFill>
              </a:rPr>
              <a:t>.</a:t>
            </a:r>
            <a:endParaRPr lang="en-US" sz="1800" dirty="0"/>
          </a:p>
          <a:p>
            <a:pPr indent="0" marL="0">
              <a:spcAft>
                <a:spcPts val="400"/>
              </a:spcAft>
              <a:buNone/>
            </a:pPr>
            <a:r>
              <a:rPr lang="en-US" sz="1800" b="1" dirty="0">
                <a:solidFill>
                  <a:schemeClr val="tx2"/>
                </a:solidFill>
              </a:rPr>
              <a:t>3.  </a:t>
            </a:r>
            <a:r>
              <a:rPr lang="en-US" sz="1800" dirty="0">
                <a:solidFill>
                  <a:schemeClr val="tx1"/>
                </a:solidFill>
              </a:rPr>
              <a:t>Passif : </a:t>
            </a:r>
            <a:r>
              <a:rPr lang="en-US" sz="1800" i="1" dirty="0">
                <a:solidFill>
                  <a:schemeClr val="tx1"/>
                </a:solidFill>
              </a:rPr>
              <a:t>Men verdeelt de kosten volgens de quotiteiten.</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kosten </a:t>
            </a:r>
            <a:r>
              <a:rPr lang="en-US" sz="1800" b="1" dirty="0">
                <a:solidFill>
                  <a:schemeClr val="accent3"/>
                </a:solidFill>
              </a:rPr>
              <a:t>worden</a:t>
            </a:r>
            <a:r>
              <a:rPr lang="en-US" sz="1800" dirty="0">
                <a:solidFill>
                  <a:schemeClr val="accent3"/>
                </a:solidFill>
              </a:rPr>
              <a:t> volgens de quotiteiten </a:t>
            </a:r>
            <a:r>
              <a:rPr lang="en-US" sz="1800" b="1" dirty="0">
                <a:solidFill>
                  <a:schemeClr val="accent3"/>
                </a:solidFill>
              </a:rPr>
              <a:t>verdeeld</a:t>
            </a:r>
            <a:r>
              <a:rPr lang="en-US" sz="1800" dirty="0">
                <a:solidFill>
                  <a:schemeClr val="accent3"/>
                </a:solidFill>
              </a:rPr>
              <a:t>.</a:t>
            </a:r>
            <a:endParaRPr lang="en-US" sz="1800" dirty="0"/>
          </a:p>
          <a:p>
            <a:pPr indent="0" marL="0">
              <a:spcAft>
                <a:spcPts val="400"/>
              </a:spcAft>
              <a:buNone/>
            </a:pPr>
            <a:r>
              <a:rPr lang="en-US" sz="1800" b="1" dirty="0">
                <a:solidFill>
                  <a:schemeClr val="tx2"/>
                </a:solidFill>
              </a:rPr>
              <a:t>4.  </a:t>
            </a:r>
            <a:r>
              <a:rPr lang="en-US" sz="1800" dirty="0">
                <a:solidFill>
                  <a:schemeClr val="tx1"/>
                </a:solidFill>
              </a:rPr>
              <a:t>Rassurez avec </a:t>
            </a:r>
            <a:r>
              <a:rPr lang="en-US" sz="1800" b="1" dirty="0">
                <a:solidFill>
                  <a:schemeClr val="tx1"/>
                </a:solidFill>
              </a:rPr>
              <a:t>zou</a:t>
            </a:r>
            <a:r>
              <a:rPr lang="en-US" sz="1800" dirty="0">
                <a:solidFill>
                  <a:schemeClr val="tx1"/>
                </a:solidFill>
              </a:rPr>
              <a:t> : « Je ne m’en ferais pas de souci.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Ik </a:t>
            </a:r>
            <a:r>
              <a:rPr lang="en-US" sz="1800" b="1" dirty="0">
                <a:solidFill>
                  <a:schemeClr val="accent3"/>
                </a:solidFill>
              </a:rPr>
              <a:t>zou</a:t>
            </a:r>
            <a:r>
              <a:rPr lang="en-US" sz="1800" dirty="0">
                <a:solidFill>
                  <a:schemeClr val="accent3"/>
                </a:solidFill>
              </a:rPr>
              <a:t> me daar geen zorgen over </a:t>
            </a:r>
            <a:r>
              <a:rPr lang="en-US" sz="1800" b="1" dirty="0">
                <a:solidFill>
                  <a:schemeClr val="accent3"/>
                </a:solidFill>
              </a:rPr>
              <a:t>maken</a:t>
            </a:r>
            <a:r>
              <a:rPr lang="en-US" sz="1800" dirty="0">
                <a:solidFill>
                  <a:schemeClr val="accent3"/>
                </a:solidFill>
              </a:rPr>
              <a:t>.</a:t>
            </a:r>
            <a:endParaRPr lang="en-US" sz="1800" dirty="0"/>
          </a:p>
          <a:p>
            <a:pPr indent="0" marL="0">
              <a:spcAft>
                <a:spcPts val="400"/>
              </a:spcAft>
              <a:buNone/>
            </a:pPr>
            <a:r>
              <a:rPr lang="en-US" sz="1800" b="1" dirty="0">
                <a:solidFill>
                  <a:schemeClr val="tx2"/>
                </a:solidFill>
              </a:rPr>
              <a:t>5.  </a:t>
            </a:r>
            <a:r>
              <a:rPr lang="en-US" sz="1800" dirty="0">
                <a:solidFill>
                  <a:schemeClr val="tx1"/>
                </a:solidFill>
              </a:rPr>
              <a:t>Discours indirect : Yasmina : </a:t>
            </a:r>
            <a:r>
              <a:rPr lang="en-US" sz="1800" i="1" dirty="0">
                <a:solidFill>
                  <a:schemeClr val="tx1"/>
                </a:solidFill>
              </a:rPr>
              <a:t>«De werken zijn nodig.»</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Yasmina zei dat de werken nodig </a:t>
            </a:r>
            <a:r>
              <a:rPr lang="en-US" sz="1800" b="1" dirty="0">
                <a:solidFill>
                  <a:schemeClr val="accent3"/>
                </a:solidFill>
              </a:rPr>
              <a:t>waren</a:t>
            </a:r>
            <a:r>
              <a:rPr lang="en-US" sz="1800" dirty="0">
                <a:solidFill>
                  <a:schemeClr val="accent3"/>
                </a:solidFill>
              </a:rPr>
              <a:t>.</a:t>
            </a:r>
            <a:endParaRPr lang="en-US" sz="18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Relative</a:t>
            </a:r>
            <a:r>
              <a:rPr lang="en-US" sz="1800" dirty="0">
                <a:solidFill>
                  <a:schemeClr val="tx1"/>
                </a:solidFill>
              </a:rPr>
              <a:t> : le verbe conjugué part à la </a:t>
            </a:r>
            <a:r>
              <a:rPr lang="en-US" sz="1800" b="1" dirty="0">
                <a:solidFill>
                  <a:schemeClr val="tx1"/>
                </a:solidFill>
              </a:rPr>
              <a:t>fin</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Passif</a:t>
            </a:r>
            <a:r>
              <a:rPr lang="en-US" sz="1800" dirty="0">
                <a:solidFill>
                  <a:schemeClr val="tx1"/>
                </a:solidFill>
              </a:rPr>
              <a:t> : </a:t>
            </a:r>
            <a:r>
              <a:rPr lang="en-US" sz="1800" i="1" dirty="0">
                <a:solidFill>
                  <a:schemeClr val="tx1"/>
                </a:solidFill>
              </a:rPr>
              <a:t>worden</a:t>
            </a:r>
            <a:r>
              <a:rPr lang="en-US" sz="1800" dirty="0">
                <a:solidFill>
                  <a:schemeClr val="tx1"/>
                </a:solidFill>
              </a:rPr>
              <a:t> + participe </a:t>
            </a:r>
            <a:r>
              <a:rPr lang="en-US" sz="1800" b="1" dirty="0">
                <a:solidFill>
                  <a:schemeClr val="tx1"/>
                </a:solidFill>
              </a:rPr>
              <a:t>à la fin</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Zou</a:t>
            </a:r>
            <a:r>
              <a:rPr lang="en-US" sz="1800" dirty="0">
                <a:solidFill>
                  <a:schemeClr val="tx1"/>
                </a:solidFill>
              </a:rPr>
              <a:t> + infinitif </a:t>
            </a:r>
            <a:r>
              <a:rPr lang="en-US" sz="1800" b="1" dirty="0">
                <a:solidFill>
                  <a:schemeClr val="tx1"/>
                </a:solidFill>
              </a:rPr>
              <a:t>à la fin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Palier 7 : de la vente à la représentation</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3360"/>
          </a:xfrm>
          <a:prstGeom prst="rect">
            <a:avLst/>
          </a:prstGeom>
          <a:effectLst>
            <a:outerShdw sx="100000" sy="100000" kx="0" ky="0" algn="bl" rotWithShape="0" blurRad="101600" dist="25400" dir="3600000">
              <a:srgbClr val="000000">
                <a:alpha val="18000"/>
              </a:srgbClr>
            </a:outerShdw>
          </a:effectLst>
        </p:spPr>
      </p:pic>
      <p:sp>
        <p:nvSpPr>
          <p:cNvPr id="7" name="Text 3"/>
          <p:cNvSpPr txBox="1"/>
          <p:nvPr/>
        </p:nvSpPr>
        <p:spPr>
          <a:xfrm>
            <a:off x="6995160" y="1508760"/>
            <a:ext cx="4645152" cy="3432048"/>
          </a:xfrm>
          <a:prstGeom prst="rect">
            <a:avLst/>
          </a:prstGeom>
          <a:noFill/>
          <a:ln/>
        </p:spPr>
        <p:txBody>
          <a:bodyPr wrap="square" lIns="0" tIns="0" rIns="0" bIns="0" rtlCol="0" anchor="t"/>
          <a:lstStyle/>
          <a:p>
            <a:pPr indent="0" marL="0">
              <a:spcAft>
                <a:spcPts val="1000"/>
              </a:spcAft>
              <a:buNone/>
            </a:pPr>
            <a:r>
              <a:rPr lang="en-US" sz="1700" b="1" dirty="0">
                <a:solidFill>
                  <a:schemeClr val="tx1"/>
                </a:solidFill>
              </a:rPr>
              <a:t>Vendre</a:t>
            </a:r>
            <a:r>
              <a:rPr lang="en-US" sz="1700" dirty="0">
                <a:solidFill>
                  <a:schemeClr val="tx1"/>
                </a:solidFill>
              </a:rPr>
              <a:t> (palier 5), </a:t>
            </a:r>
            <a:r>
              <a:rPr lang="en-US" sz="1700" b="1" dirty="0">
                <a:solidFill>
                  <a:schemeClr val="tx1"/>
                </a:solidFill>
              </a:rPr>
              <a:t>gérer</a:t>
            </a:r>
            <a:r>
              <a:rPr lang="en-US" sz="1700" dirty="0">
                <a:solidFill>
                  <a:schemeClr val="tx1"/>
                </a:solidFill>
              </a:rPr>
              <a:t> (palier 6)… et maintenant </a:t>
            </a:r>
            <a:r>
              <a:rPr lang="en-US" sz="1700" b="1" dirty="0">
                <a:solidFill>
                  <a:schemeClr val="tx1"/>
                </a:solidFill>
              </a:rPr>
              <a:t>représenter</a:t>
            </a:r>
            <a:r>
              <a:rPr lang="en-US" sz="1700" dirty="0">
                <a:solidFill>
                  <a:schemeClr val="tx1"/>
                </a:solidFill>
              </a:rPr>
              <a:t> : la moitié des biens que vous gérerez sont des appartements en copropriété.</a:t>
            </a:r>
            <a:endParaRPr lang="en-US" sz="1700" dirty="0"/>
          </a:p>
          <a:p>
            <a:pPr indent="0" marL="0">
              <a:spcAft>
                <a:spcPts val="1000"/>
              </a:spcAft>
              <a:buNone/>
            </a:pPr>
            <a:r>
              <a:rPr lang="en-US" sz="1700" dirty="0">
                <a:solidFill>
                  <a:schemeClr val="tx1"/>
                </a:solidFill>
              </a:rPr>
              <a:t>Un </a:t>
            </a:r>
            <a:r>
              <a:rPr lang="en-US" sz="1700" b="1" dirty="0">
                <a:solidFill>
                  <a:schemeClr val="tx1"/>
                </a:solidFill>
              </a:rPr>
              <a:t>syndic</a:t>
            </a:r>
            <a:r>
              <a:rPr lang="en-US" sz="1700" dirty="0">
                <a:solidFill>
                  <a:schemeClr val="tx1"/>
                </a:solidFill>
              </a:rPr>
              <a:t>, une </a:t>
            </a:r>
            <a:r>
              <a:rPr lang="en-US" sz="1700" b="1" dirty="0">
                <a:solidFill>
                  <a:schemeClr val="tx1"/>
                </a:solidFill>
              </a:rPr>
              <a:t>assemblée générale</a:t>
            </a:r>
            <a:r>
              <a:rPr lang="en-US" sz="1700" dirty="0">
                <a:solidFill>
                  <a:schemeClr val="tx1"/>
                </a:solidFill>
              </a:rPr>
              <a:t>, des décisions à préparer, à défendre et à rapporter.</a:t>
            </a:r>
            <a:endParaRPr lang="en-US" sz="1700" dirty="0"/>
          </a:p>
          <a:p>
            <a:pPr indent="0" marL="0">
              <a:spcAft>
                <a:spcPts val="1000"/>
              </a:spcAft>
              <a:buNone/>
            </a:pPr>
            <a:r>
              <a:rPr lang="en-US" sz="1700" b="1" dirty="0">
                <a:solidFill>
                  <a:schemeClr val="tx1"/>
                </a:solidFill>
              </a:rPr>
              <a:t>Six piliers</a:t>
            </a:r>
            <a:r>
              <a:rPr lang="en-US" sz="1700" dirty="0">
                <a:solidFill>
                  <a:schemeClr val="tx1"/>
                </a:solidFill>
              </a:rPr>
              <a:t> : ① le lexique · ② les nominalisations · ③ les connecteurs argumentatifs · ④ la concession-réfutation · ⑤ les notulen (PV) · ⑥ les quatre compétences en situation.</a:t>
            </a:r>
            <a:endParaRPr lang="en-US" sz="1700" dirty="0"/>
          </a:p>
        </p:txBody>
      </p:sp>
      <p:sp>
        <p:nvSpPr>
          <p:cNvPr id="8" name="Shape 4"/>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9" name="Text 5"/>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0" name="Text 6"/>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Que signifie « représenter » un copropriétaire à une assemblée générale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Zevende dialoog (1/2)</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2200" b="1" dirty="0">
                <a:solidFill>
                  <a:schemeClr val="accent2"/>
                </a:solidFill>
              </a:rPr>
              <a:t>Stef :  </a:t>
            </a:r>
            <a:r>
              <a:rPr lang="en-US" sz="2200" dirty="0">
                <a:solidFill>
                  <a:schemeClr val="tx1"/>
                </a:solidFill>
              </a:rPr>
              <a:t>«Yasmina, ik heb een uitnodiging gekregen van de syndicus van de Résidence Zonneberg. Waarover gaat de vergadering?»</a:t>
            </a:r>
            <a:endParaRPr lang="en-US" sz="2200" dirty="0"/>
          </a:p>
          <a:p>
            <a:pPr indent="0" marL="0">
              <a:spcAft>
                <a:spcPts val="800"/>
              </a:spcAft>
              <a:buNone/>
            </a:pPr>
            <a:r>
              <a:rPr lang="en-US" sz="1200" dirty="0">
                <a:solidFill>
                  <a:schemeClr val="accent5"/>
                </a:solidFill>
              </a:rPr>
              <a:t>2  </a:t>
            </a:r>
            <a:r>
              <a:rPr lang="en-US" sz="2200" b="1" dirty="0">
                <a:solidFill>
                  <a:srgbClr val="D9700F"/>
                </a:solidFill>
              </a:rPr>
              <a:t>Yasmina :  </a:t>
            </a:r>
            <a:r>
              <a:rPr lang="en-US" sz="2200" dirty="0">
                <a:solidFill>
                  <a:schemeClr val="tx1"/>
                </a:solidFill>
              </a:rPr>
              <a:t>«Over de renovatie van de gevel. De beslissing werd vorig jaar uitgesteld, maar nu moet er echt een stemming komen.»</a:t>
            </a:r>
            <a:endParaRPr lang="en-US" sz="2200" dirty="0"/>
          </a:p>
          <a:p>
            <a:pPr indent="0" marL="0">
              <a:spcAft>
                <a:spcPts val="800"/>
              </a:spcAft>
              <a:buNone/>
            </a:pPr>
            <a:r>
              <a:rPr lang="en-US" sz="1200" dirty="0">
                <a:solidFill>
                  <a:schemeClr val="accent5"/>
                </a:solidFill>
              </a:rPr>
              <a:t>3  </a:t>
            </a:r>
            <a:r>
              <a:rPr lang="en-US" sz="2200" b="1" dirty="0">
                <a:solidFill>
                  <a:schemeClr val="accent2"/>
                </a:solidFill>
              </a:rPr>
              <a:t>Stef :  </a:t>
            </a:r>
            <a:r>
              <a:rPr lang="en-US" sz="2200" dirty="0">
                <a:solidFill>
                  <a:schemeClr val="tx1"/>
                </a:solidFill>
              </a:rPr>
              <a:t>«Wij vertegenwoordigen mevrouw Dubois, toch? Wat is haar standpunt?»</a:t>
            </a:r>
            <a:endParaRPr lang="en-US" sz="2200" dirty="0"/>
          </a:p>
          <a:p>
            <a:pPr indent="0" marL="0">
              <a:spcAft>
                <a:spcPts val="800"/>
              </a:spcAft>
              <a:buNone/>
            </a:pPr>
            <a:r>
              <a:rPr lang="en-US" sz="1200" dirty="0">
                <a:solidFill>
                  <a:schemeClr val="accent5"/>
                </a:solidFill>
              </a:rPr>
              <a:t>4  </a:t>
            </a:r>
            <a:r>
              <a:rPr lang="en-US" sz="2200" b="1" dirty="0">
                <a:solidFill>
                  <a:srgbClr val="D9700F"/>
                </a:solidFill>
              </a:rPr>
              <a:t>Yasmina :  </a:t>
            </a:r>
            <a:r>
              <a:rPr lang="en-US" sz="2200" dirty="0">
                <a:solidFill>
                  <a:schemeClr val="tx1"/>
                </a:solidFill>
              </a:rPr>
              <a:t>«Enerzijds vindt zij de werken noodzakelijk, anderzijds vreest ze de kostprijs. De verdeling van de kosten gebeurt volgens de quotiteiten.»</a:t>
            </a:r>
            <a:endParaRPr lang="en-US" sz="2200" dirty="0"/>
          </a:p>
          <a:p>
            <a:pPr indent="0" marL="0">
              <a:spcAft>
                <a:spcPts val="800"/>
              </a:spcAft>
              <a:buNone/>
            </a:pPr>
            <a:r>
              <a:rPr lang="en-US" sz="1200" dirty="0">
                <a:solidFill>
                  <a:schemeClr val="accent5"/>
                </a:solidFill>
              </a:rPr>
              <a:t>5  </a:t>
            </a:r>
            <a:r>
              <a:rPr lang="en-US" sz="2200" b="1" dirty="0">
                <a:solidFill>
                  <a:schemeClr val="accent2"/>
                </a:solidFill>
              </a:rPr>
              <a:t>Stef :  </a:t>
            </a:r>
            <a:r>
              <a:rPr lang="en-US" sz="2200" dirty="0">
                <a:solidFill>
                  <a:schemeClr val="tx1"/>
                </a:solidFill>
              </a:rPr>
              <a:t>«En de andere mede-eigenaars?»</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Zevende dialoog (2/2)</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t>
            </a:r>
            <a:endParaRPr lang="en-US" sz="1200" dirty="0"/>
          </a:p>
        </p:txBody>
      </p:sp>
      <p:sp>
        <p:nvSpPr>
          <p:cNvPr id="6" name="Text 3"/>
          <p:cNvSpPr txBox="1"/>
          <p:nvPr/>
        </p:nvSpPr>
        <p:spPr>
          <a:xfrm>
            <a:off x="548640" y="1508760"/>
            <a:ext cx="7315200"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6  </a:t>
            </a:r>
            <a:r>
              <a:rPr lang="en-US" sz="2100" b="1" dirty="0">
                <a:solidFill>
                  <a:srgbClr val="D9700F"/>
                </a:solidFill>
              </a:rPr>
              <a:t>Yasmina :  </a:t>
            </a:r>
            <a:r>
              <a:rPr lang="en-US" sz="2100" dirty="0">
                <a:solidFill>
                  <a:schemeClr val="tx1"/>
                </a:solidFill>
              </a:rPr>
              <a:t>«De meningen zijn verdeeld. Sommigen zijn voor het uitstellen van de werken. De syndicus daarentegen wil snel beslissen: volgens hem wordt de schade elk jaar groter.»</a:t>
            </a:r>
            <a:endParaRPr lang="en-US" sz="2100" dirty="0"/>
          </a:p>
          <a:p>
            <a:pPr indent="0" marL="0">
              <a:spcAft>
                <a:spcPts val="800"/>
              </a:spcAft>
              <a:buNone/>
            </a:pPr>
            <a:r>
              <a:rPr lang="en-US" sz="1200" dirty="0">
                <a:solidFill>
                  <a:schemeClr val="accent5"/>
                </a:solidFill>
              </a:rPr>
              <a:t>7  </a:t>
            </a:r>
            <a:r>
              <a:rPr lang="en-US" sz="2100" b="1" dirty="0">
                <a:solidFill>
                  <a:schemeClr val="accent2"/>
                </a:solidFill>
              </a:rPr>
              <a:t>Stef :  </a:t>
            </a:r>
            <a:r>
              <a:rPr lang="en-US" sz="2100" dirty="0">
                <a:solidFill>
                  <a:schemeClr val="tx1"/>
                </a:solidFill>
              </a:rPr>
              <a:t>«Dat klopt weliswaar, maar het offerte-onderzoek is nog niet afgerond. Zou het niet verstandiger zijn om eerst een tweede offerte te vragen?»</a:t>
            </a:r>
            <a:endParaRPr lang="en-US" sz="2100" dirty="0"/>
          </a:p>
          <a:p>
            <a:pPr indent="0" marL="0">
              <a:spcAft>
                <a:spcPts val="800"/>
              </a:spcAft>
              <a:buNone/>
            </a:pPr>
            <a:r>
              <a:rPr lang="en-US" sz="1200" dirty="0">
                <a:solidFill>
                  <a:schemeClr val="accent5"/>
                </a:solidFill>
              </a:rPr>
              <a:t>8  </a:t>
            </a:r>
            <a:r>
              <a:rPr lang="en-US" sz="2100" b="1" dirty="0">
                <a:solidFill>
                  <a:srgbClr val="D9700F"/>
                </a:solidFill>
              </a:rPr>
              <a:t>Yasmina :  </a:t>
            </a:r>
            <a:r>
              <a:rPr lang="en-US" sz="2100" dirty="0">
                <a:solidFill>
                  <a:schemeClr val="tx1"/>
                </a:solidFill>
              </a:rPr>
              <a:t>«Goed argument! Noteer het: het vragen van een tweede offerte, vóór de stemming. Jij bereidt het standpunt voor, terwijl ik de volmacht van mevrouw Dubois regel.»</a:t>
            </a:r>
            <a:endParaRPr lang="en-US" sz="2100" dirty="0"/>
          </a:p>
          <a:p>
            <a:pPr indent="0" marL="0">
              <a:spcAft>
                <a:spcPts val="800"/>
              </a:spcAft>
              <a:buNone/>
            </a:pPr>
            <a:r>
              <a:rPr lang="en-US" sz="1200" dirty="0">
                <a:solidFill>
                  <a:schemeClr val="accent5"/>
                </a:solidFill>
              </a:rPr>
              <a:t>9  </a:t>
            </a:r>
            <a:r>
              <a:rPr lang="en-US" sz="2100" b="1" dirty="0">
                <a:solidFill>
                  <a:schemeClr val="accent2"/>
                </a:solidFill>
              </a:rPr>
              <a:t>Stef :  </a:t>
            </a:r>
            <a:r>
              <a:rPr lang="en-US" sz="2100" dirty="0">
                <a:solidFill>
                  <a:schemeClr val="tx1"/>
                </a:solidFill>
              </a:rPr>
              <a:t>«Prima. Ten slotte schrijf ik na de vergadering het verslag voor ons dossier. Kortom: mijn eerste algemene vergadering!»</a:t>
            </a:r>
            <a:endParaRPr lang="en-US" sz="2100" dirty="0"/>
          </a:p>
        </p:txBody>
      </p:sp>
      <p:sp>
        <p:nvSpPr>
          <p:cNvPr id="7" name="aside"/>
          <p:cNvSpPr/>
          <p:nvPr/>
        </p:nvSpPr>
        <p:spPr>
          <a:xfrm>
            <a:off x="8183880" y="1508760"/>
            <a:ext cx="3456432" cy="4782312"/>
          </a:xfrm>
          <a:prstGeom prst="roundRect">
            <a:avLst>
              <a:gd name="adj" fmla="val 2116"/>
            </a:avLst>
          </a:prstGeom>
          <a:solidFill>
            <a:schemeClr val="accent5">
              <a:alpha val="10000"/>
            </a:schemeClr>
          </a:solidFill>
          <a:ln w="12700">
            <a:solidFill>
              <a:schemeClr val="accent5">
                <a:alpha val="60000"/>
              </a:schemeClr>
            </a:solidFill>
            <a:prstDash val="solid"/>
          </a:ln>
        </p:spPr>
      </p:sp>
      <p:pic>
        <p:nvPicPr>
          <p:cNvPr id="8" name="Image 0" descr="preencoded.png">    </p:cNvPr>
          <p:cNvPicPr>
            <a:picLocks noChangeAspect="1"/>
          </p:cNvPicPr>
          <p:nvPr/>
        </p:nvPicPr>
        <p:blipFill>
          <a:blip r:embed="rId1"/>
          <a:stretch>
            <a:fillRect/>
          </a:stretch>
        </p:blipFill>
        <p:spPr>
          <a:xfrm>
            <a:off x="8366760" y="1691640"/>
            <a:ext cx="292608" cy="292608"/>
          </a:xfrm>
          <a:prstGeom prst="rect">
            <a:avLst/>
          </a:prstGeom>
        </p:spPr>
      </p:pic>
      <p:sp>
        <p:nvSpPr>
          <p:cNvPr id="9" name="Text 5"/>
          <p:cNvSpPr txBox="1"/>
          <p:nvPr/>
        </p:nvSpPr>
        <p:spPr>
          <a:xfrm>
            <a:off x="8750808" y="1664208"/>
            <a:ext cx="272491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FIL ROUGE DU PALIER</a:t>
            </a:r>
            <a:endParaRPr lang="en-US" sz="1400" dirty="0"/>
          </a:p>
        </p:txBody>
      </p:sp>
      <p:sp>
        <p:nvSpPr>
          <p:cNvPr id="10" name="Text 6"/>
          <p:cNvSpPr txBox="1"/>
          <p:nvPr/>
        </p:nvSpPr>
        <p:spPr>
          <a:xfrm>
            <a:off x="8348472" y="2103120"/>
            <a:ext cx="3127248" cy="4050792"/>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7.2</a:t>
            </a:r>
            <a:r>
              <a:rPr lang="en-US" sz="1800" dirty="0">
                <a:solidFill>
                  <a:schemeClr val="tx1"/>
                </a:solidFill>
              </a:rPr>
              <a:t> </a:t>
            </a:r>
            <a:r>
              <a:rPr lang="en-US" sz="1800" i="1" dirty="0">
                <a:solidFill>
                  <a:schemeClr val="tx1"/>
                </a:solidFill>
              </a:rPr>
              <a:t>de beslissing · de stemming</a:t>
            </a:r>
            <a:endParaRPr lang="en-US" sz="1800" dirty="0"/>
          </a:p>
          <a:p>
            <a:pPr marL="177800" indent="-177800">
              <a:spcAft>
                <a:spcPts val="600"/>
              </a:spcAft>
              <a:buSzPct val="100000"/>
              <a:buChar char="•"/>
            </a:pPr>
            <a:r>
              <a:rPr lang="en-US" sz="1800" b="1" dirty="0">
                <a:solidFill>
                  <a:schemeClr val="tx1"/>
                </a:solidFill>
              </a:rPr>
              <a:t>7.3</a:t>
            </a:r>
            <a:r>
              <a:rPr lang="en-US" sz="1800" dirty="0">
                <a:solidFill>
                  <a:schemeClr val="tx1"/>
                </a:solidFill>
              </a:rPr>
              <a:t> </a:t>
            </a:r>
            <a:r>
              <a:rPr lang="en-US" sz="1800" i="1" dirty="0">
                <a:solidFill>
                  <a:schemeClr val="tx1"/>
                </a:solidFill>
              </a:rPr>
              <a:t>enerzijds… anderzijds · daarentegen · ten slotte</a:t>
            </a:r>
            <a:endParaRPr lang="en-US" sz="1800" dirty="0"/>
          </a:p>
          <a:p>
            <a:pPr marL="177800" indent="-177800">
              <a:spcAft>
                <a:spcPts val="600"/>
              </a:spcAft>
              <a:buSzPct val="100000"/>
              <a:buChar char="•"/>
            </a:pPr>
            <a:r>
              <a:rPr lang="en-US" sz="1800" b="1" dirty="0">
                <a:solidFill>
                  <a:schemeClr val="tx1"/>
                </a:solidFill>
              </a:rPr>
              <a:t>7.4</a:t>
            </a:r>
            <a:r>
              <a:rPr lang="en-US" sz="1800" dirty="0">
                <a:solidFill>
                  <a:schemeClr val="tx1"/>
                </a:solidFill>
              </a:rPr>
              <a:t> </a:t>
            </a:r>
            <a:r>
              <a:rPr lang="en-US" sz="1800" i="1" dirty="0">
                <a:solidFill>
                  <a:schemeClr val="tx1"/>
                </a:solidFill>
              </a:rPr>
              <a:t>werd uitgesteld</a:t>
            </a:r>
            <a:r>
              <a:rPr lang="en-US" sz="1800" dirty="0">
                <a:solidFill>
                  <a:schemeClr val="tx1"/>
                </a:solidFill>
              </a:rPr>
              <a:t> (passif)</a:t>
            </a:r>
            <a:endParaRPr lang="en-US" sz="1800" dirty="0"/>
          </a:p>
          <a:p>
            <a:pPr marL="177800" indent="-177800">
              <a:spcAft>
                <a:spcPts val="600"/>
              </a:spcAft>
              <a:buSzPct val="100000"/>
              <a:buChar char="•"/>
            </a:pPr>
            <a:r>
              <a:rPr lang="en-US" sz="1800" b="1" dirty="0">
                <a:solidFill>
                  <a:schemeClr val="tx1"/>
                </a:solidFill>
              </a:rPr>
              <a:t>7.5</a:t>
            </a:r>
            <a:r>
              <a:rPr lang="en-US" sz="1800" dirty="0">
                <a:solidFill>
                  <a:schemeClr val="tx1"/>
                </a:solidFill>
              </a:rPr>
              <a:t> </a:t>
            </a:r>
            <a:r>
              <a:rPr lang="en-US" sz="1800" i="1" dirty="0">
                <a:solidFill>
                  <a:schemeClr val="tx1"/>
                </a:solidFill>
              </a:rPr>
              <a:t>weliswaar… maar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Avonddialoog : Stef en zijn buurvrouw (1/2)</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2200" b="1" dirty="0">
                <a:solidFill>
                  <a:schemeClr val="accent3"/>
                </a:solidFill>
              </a:rPr>
              <a:t>Nadia :  </a:t>
            </a:r>
            <a:r>
              <a:rPr lang="en-US" sz="2200" dirty="0">
                <a:solidFill>
                  <a:schemeClr val="tx1"/>
                </a:solidFill>
              </a:rPr>
              <a:t>«Dag Stef! Je blauwe zak staat nog op de stoep. Is hij niet opgehaald?»</a:t>
            </a:r>
            <a:endParaRPr lang="en-US" sz="2200" dirty="0"/>
          </a:p>
          <a:p>
            <a:pPr indent="0" marL="0">
              <a:spcAft>
                <a:spcPts val="800"/>
              </a:spcAft>
              <a:buNone/>
            </a:pPr>
            <a:r>
              <a:rPr lang="en-US" sz="1200" dirty="0">
                <a:solidFill>
                  <a:schemeClr val="accent5"/>
                </a:solidFill>
              </a:rPr>
              <a:t>2  </a:t>
            </a:r>
            <a:r>
              <a:rPr lang="en-US" sz="2200" b="1" dirty="0">
                <a:solidFill>
                  <a:schemeClr val="accent2"/>
                </a:solidFill>
              </a:rPr>
              <a:t>Stef :  </a:t>
            </a:r>
            <a:r>
              <a:rPr lang="en-US" sz="2200" dirty="0">
                <a:solidFill>
                  <a:schemeClr val="tx1"/>
                </a:solidFill>
              </a:rPr>
              <a:t>«Nee. Er zit een sticker op: “Geweigerd wegens sorteerfout”. Wat betekent dat precies?»</a:t>
            </a:r>
            <a:endParaRPr lang="en-US" sz="2200" dirty="0"/>
          </a:p>
          <a:p>
            <a:pPr indent="0" marL="0">
              <a:spcAft>
                <a:spcPts val="800"/>
              </a:spcAft>
              <a:buNone/>
            </a:pPr>
            <a:r>
              <a:rPr lang="en-US" sz="1200" dirty="0">
                <a:solidFill>
                  <a:schemeClr val="accent5"/>
                </a:solidFill>
              </a:rPr>
              <a:t>3  </a:t>
            </a:r>
            <a:r>
              <a:rPr lang="en-US" sz="2200" b="1" dirty="0">
                <a:solidFill>
                  <a:schemeClr val="accent3"/>
                </a:solidFill>
              </a:rPr>
              <a:t>Nadia :  </a:t>
            </a:r>
            <a:r>
              <a:rPr lang="en-US" sz="2200" dirty="0">
                <a:solidFill>
                  <a:schemeClr val="tx1"/>
                </a:solidFill>
              </a:rPr>
              <a:t>«Dat er iets in zat dat er niet in hoort. Een glazen pot misschien? Die moet in de glasbak.»</a:t>
            </a:r>
            <a:endParaRPr lang="en-US" sz="2200" dirty="0"/>
          </a:p>
          <a:p>
            <a:pPr indent="0" marL="0">
              <a:spcAft>
                <a:spcPts val="800"/>
              </a:spcAft>
              <a:buNone/>
            </a:pPr>
            <a:r>
              <a:rPr lang="en-US" sz="1200" dirty="0">
                <a:solidFill>
                  <a:schemeClr val="accent5"/>
                </a:solidFill>
              </a:rPr>
              <a:t>4  </a:t>
            </a:r>
            <a:r>
              <a:rPr lang="en-US" sz="2200" b="1" dirty="0">
                <a:solidFill>
                  <a:schemeClr val="accent2"/>
                </a:solidFill>
              </a:rPr>
              <a:t>Stef :  </a:t>
            </a:r>
            <a:r>
              <a:rPr lang="en-US" sz="2200" dirty="0">
                <a:solidFill>
                  <a:schemeClr val="tx1"/>
                </a:solidFill>
              </a:rPr>
              <a:t>«Oei, dat klopt. Sorteren is hier een echte wetenschap!»</a:t>
            </a:r>
            <a:endParaRPr lang="en-US" sz="2200" dirty="0"/>
          </a:p>
          <a:p>
            <a:pPr indent="0" marL="0">
              <a:spcAft>
                <a:spcPts val="800"/>
              </a:spcAft>
              <a:buNone/>
            </a:pPr>
            <a:r>
              <a:rPr lang="en-US" sz="1200" dirty="0">
                <a:solidFill>
                  <a:schemeClr val="accent5"/>
                </a:solidFill>
              </a:rPr>
              <a:t>5  </a:t>
            </a:r>
            <a:r>
              <a:rPr lang="en-US" sz="2200" b="1" dirty="0">
                <a:solidFill>
                  <a:schemeClr val="accent3"/>
                </a:solidFill>
              </a:rPr>
              <a:t>Nadia :  </a:t>
            </a:r>
            <a:r>
              <a:rPr lang="en-US" sz="2200" dirty="0">
                <a:solidFill>
                  <a:schemeClr val="tx1"/>
                </a:solidFill>
              </a:rPr>
              <a:t>«Je went er wel aan. Kom je donderdag trouwens naar de vergadering van het buurtcomité?»</a:t>
            </a:r>
            <a:endParaRPr lang="en-US" sz="2200" dirty="0"/>
          </a:p>
          <a:p>
            <a:pPr indent="0" marL="0">
              <a:spcAft>
                <a:spcPts val="800"/>
              </a:spcAft>
              <a:buNone/>
            </a:pPr>
            <a:r>
              <a:rPr lang="en-US" sz="1200" dirty="0">
                <a:solidFill>
                  <a:schemeClr val="accent5"/>
                </a:solidFill>
              </a:rPr>
              <a:t>6  </a:t>
            </a:r>
            <a:r>
              <a:rPr lang="en-US" sz="2200" b="1" dirty="0">
                <a:solidFill>
                  <a:schemeClr val="accent2"/>
                </a:solidFill>
              </a:rPr>
              <a:t>Stef :  </a:t>
            </a:r>
            <a:r>
              <a:rPr lang="en-US" sz="2200" dirty="0">
                <a:solidFill>
                  <a:schemeClr val="tx1"/>
                </a:solidFill>
              </a:rPr>
              <a:t>«Waarover gaat die vergadering?»</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Avonddialoog : Stef en zijn buurvrouw (2/2)</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7  </a:t>
            </a:r>
            <a:r>
              <a:rPr lang="en-US" sz="2200" b="1" dirty="0">
                <a:solidFill>
                  <a:schemeClr val="accent3"/>
                </a:solidFill>
              </a:rPr>
              <a:t>Nadia :  </a:t>
            </a:r>
            <a:r>
              <a:rPr lang="en-US" sz="2200" dirty="0">
                <a:solidFill>
                  <a:schemeClr val="tx1"/>
                </a:solidFill>
              </a:rPr>
              <a:t>«Over de aanvraag voor een speelstraat in juli. Enerzijds vinden de jonge gezinnen het een fantastisch idee, anderzijds vrezen sommige bewoners voor hun parkeerplaats.»</a:t>
            </a:r>
            <a:endParaRPr lang="en-US" sz="2200" dirty="0"/>
          </a:p>
          <a:p>
            <a:pPr indent="0" marL="0">
              <a:spcAft>
                <a:spcPts val="800"/>
              </a:spcAft>
              <a:buNone/>
            </a:pPr>
            <a:r>
              <a:rPr lang="en-US" sz="1200" dirty="0">
                <a:solidFill>
                  <a:schemeClr val="accent5"/>
                </a:solidFill>
              </a:rPr>
              <a:t>8  </a:t>
            </a:r>
            <a:r>
              <a:rPr lang="en-US" sz="2200" b="1" dirty="0">
                <a:solidFill>
                  <a:schemeClr val="accent2"/>
                </a:solidFill>
              </a:rPr>
              <a:t>Stef :  </a:t>
            </a:r>
            <a:r>
              <a:rPr lang="en-US" sz="2200" dirty="0">
                <a:solidFill>
                  <a:schemeClr val="tx1"/>
                </a:solidFill>
              </a:rPr>
              <a:t>«En jij? Wat is jouw standpunt?»</a:t>
            </a:r>
            <a:endParaRPr lang="en-US" sz="2200" dirty="0"/>
          </a:p>
          <a:p>
            <a:pPr indent="0" marL="0">
              <a:spcAft>
                <a:spcPts val="800"/>
              </a:spcAft>
              <a:buNone/>
            </a:pPr>
            <a:r>
              <a:rPr lang="en-US" sz="1200" dirty="0">
                <a:solidFill>
                  <a:schemeClr val="accent5"/>
                </a:solidFill>
              </a:rPr>
              <a:t>9  </a:t>
            </a:r>
            <a:r>
              <a:rPr lang="en-US" sz="2200" b="1" dirty="0">
                <a:solidFill>
                  <a:schemeClr val="accent3"/>
                </a:solidFill>
              </a:rPr>
              <a:t>Nadia :  </a:t>
            </a:r>
            <a:r>
              <a:rPr lang="en-US" sz="2200" dirty="0">
                <a:solidFill>
                  <a:schemeClr val="tx1"/>
                </a:solidFill>
              </a:rPr>
              <a:t>«Ik ben voor. De straat is weliswaar een maand autovrij, maar de kinderen kunnen eindelijk veilig buiten spelen. Meneer Willems daarentegen is fel tegen.»</a:t>
            </a:r>
            <a:endParaRPr lang="en-US" sz="2200" dirty="0"/>
          </a:p>
          <a:p>
            <a:pPr indent="0" marL="0">
              <a:spcAft>
                <a:spcPts val="800"/>
              </a:spcAft>
              <a:buNone/>
            </a:pPr>
            <a:r>
              <a:rPr lang="en-US" sz="1200" dirty="0">
                <a:solidFill>
                  <a:schemeClr val="accent5"/>
                </a:solidFill>
              </a:rPr>
              <a:t>10  </a:t>
            </a:r>
            <a:r>
              <a:rPr lang="en-US" sz="2200" b="1" dirty="0">
                <a:solidFill>
                  <a:schemeClr val="accent2"/>
                </a:solidFill>
              </a:rPr>
              <a:t>Stef :  </a:t>
            </a:r>
            <a:r>
              <a:rPr lang="en-US" sz="2200" dirty="0">
                <a:solidFill>
                  <a:schemeClr val="tx1"/>
                </a:solidFill>
              </a:rPr>
              <a:t>«Wat de parkeerplaatsen betreft, heb ik geen probleem: ik heb alleen een fiets! Ik kom zeker.»</a:t>
            </a:r>
            <a:endParaRPr lang="en-US" sz="2200" dirty="0"/>
          </a:p>
          <a:p>
            <a:pPr indent="0" marL="0">
              <a:spcAft>
                <a:spcPts val="800"/>
              </a:spcAft>
              <a:buNone/>
            </a:pPr>
            <a:r>
              <a:rPr lang="en-US" sz="1200" dirty="0">
                <a:solidFill>
                  <a:schemeClr val="accent5"/>
                </a:solidFill>
              </a:rPr>
              <a:t>11  </a:t>
            </a:r>
            <a:r>
              <a:rPr lang="en-US" sz="2200" b="1" dirty="0">
                <a:solidFill>
                  <a:schemeClr val="accent3"/>
                </a:solidFill>
              </a:rPr>
              <a:t>Nadia :  </a:t>
            </a:r>
            <a:r>
              <a:rPr lang="en-US" sz="2200" dirty="0">
                <a:solidFill>
                  <a:schemeClr val="tx1"/>
                </a:solidFill>
              </a:rPr>
              <a:t>«Fijn! Na de stemming worden de notulen naar alle bewoners gestuurd.»</a:t>
            </a:r>
            <a:endParaRPr lang="en-US" sz="2200" dirty="0"/>
          </a:p>
          <a:p>
            <a:pPr indent="0" marL="0">
              <a:spcAft>
                <a:spcPts val="800"/>
              </a:spcAft>
              <a:buNone/>
            </a:pPr>
            <a:r>
              <a:rPr lang="en-US" sz="1200" dirty="0">
                <a:solidFill>
                  <a:schemeClr val="accent5"/>
                </a:solidFill>
              </a:rPr>
              <a:t>12  </a:t>
            </a:r>
            <a:r>
              <a:rPr lang="en-US" sz="2200" b="1" dirty="0">
                <a:solidFill>
                  <a:schemeClr val="accent2"/>
                </a:solidFill>
              </a:rPr>
              <a:t>Stef :  </a:t>
            </a:r>
            <a:r>
              <a:rPr lang="en-US" sz="2200" dirty="0">
                <a:solidFill>
                  <a:schemeClr val="tx1"/>
                </a:solidFill>
              </a:rPr>
              <a:t>«Een agenda, een stemming, notulen... Kortom: een echte algemene vergadering, maar dan met koffie en taart!»</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Avonddialoog : écoute puis repérage</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1re écoute : sujets, pour / contre · 2e écoute : repérages. Seul puis par deux · 8 min.</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800"/>
              </a:spcAft>
              <a:buNone/>
            </a:pPr>
            <a:r>
              <a:rPr lang="en-US" sz="2600" b="1" dirty="0">
                <a:solidFill>
                  <a:schemeClr val="tx1"/>
                </a:solidFill>
              </a:rPr>
              <a:t>1</a:t>
            </a:r>
            <a:r>
              <a:rPr lang="en-US" sz="2600" dirty="0">
                <a:solidFill>
                  <a:schemeClr val="tx1"/>
                </a:solidFill>
              </a:rPr>
              <a:t> Les deux sujets de la conversation ?</a:t>
            </a:r>
            <a:endParaRPr lang="en-US" sz="2600" dirty="0"/>
          </a:p>
          <a:p>
            <a:pPr indent="0" marL="0">
              <a:spcAft>
                <a:spcPts val="800"/>
              </a:spcAft>
              <a:buNone/>
            </a:pPr>
            <a:r>
              <a:rPr lang="en-US" sz="2600" b="1" dirty="0">
                <a:solidFill>
                  <a:schemeClr val="tx1"/>
                </a:solidFill>
              </a:rPr>
              <a:t>2</a:t>
            </a:r>
            <a:r>
              <a:rPr lang="en-US" sz="2600" dirty="0">
                <a:solidFill>
                  <a:schemeClr val="tx1"/>
                </a:solidFill>
              </a:rPr>
              <a:t> Qui est pour, qui est contre ?</a:t>
            </a:r>
            <a:endParaRPr lang="en-US" sz="2600" dirty="0"/>
          </a:p>
          <a:p>
            <a:pPr indent="0" marL="0">
              <a:spcAft>
                <a:spcPts val="800"/>
              </a:spcAft>
              <a:buNone/>
            </a:pPr>
            <a:r>
              <a:rPr lang="en-US" sz="2600" b="1" dirty="0">
                <a:solidFill>
                  <a:schemeClr val="tx1"/>
                </a:solidFill>
              </a:rPr>
              <a:t>3</a:t>
            </a:r>
            <a:r>
              <a:rPr lang="en-US" sz="2600" dirty="0">
                <a:solidFill>
                  <a:schemeClr val="tx1"/>
                </a:solidFill>
              </a:rPr>
              <a:t> Trois nominalisations (7.2) ?</a:t>
            </a:r>
            <a:endParaRPr lang="en-US" sz="2600" dirty="0"/>
          </a:p>
          <a:p>
            <a:pPr indent="0" marL="0">
              <a:spcAft>
                <a:spcPts val="800"/>
              </a:spcAft>
              <a:buNone/>
            </a:pPr>
            <a:r>
              <a:rPr lang="en-US" sz="2600" b="1" dirty="0">
                <a:solidFill>
                  <a:schemeClr val="tx1"/>
                </a:solidFill>
              </a:rPr>
              <a:t>4</a:t>
            </a:r>
            <a:r>
              <a:rPr lang="en-US" sz="2600" dirty="0">
                <a:solidFill>
                  <a:schemeClr val="tx1"/>
                </a:solidFill>
              </a:rPr>
              <a:t> Trois connecteurs (7.3) ?</a:t>
            </a:r>
            <a:endParaRPr lang="en-US" sz="2600" dirty="0"/>
          </a:p>
          <a:p>
            <a:pPr indent="0" marL="0">
              <a:spcAft>
                <a:spcPts val="800"/>
              </a:spcAft>
              <a:buNone/>
            </a:pPr>
            <a:r>
              <a:rPr lang="en-US" sz="2600" b="1" dirty="0">
                <a:solidFill>
                  <a:schemeClr val="tx1"/>
                </a:solidFill>
              </a:rPr>
              <a:t>5</a:t>
            </a:r>
            <a:r>
              <a:rPr lang="en-US" sz="2600" dirty="0">
                <a:solidFill>
                  <a:schemeClr val="tx1"/>
                </a:solidFill>
              </a:rPr>
              <a:t> Une concession (7.5) ?</a:t>
            </a:r>
            <a:endParaRPr lang="en-US" sz="2600" dirty="0"/>
          </a:p>
          <a:p>
            <a:pPr indent="0" marL="0">
              <a:spcAft>
                <a:spcPts val="800"/>
              </a:spcAft>
              <a:buNone/>
            </a:pPr>
            <a:r>
              <a:rPr lang="en-US" sz="2600" b="1" dirty="0">
                <a:solidFill>
                  <a:schemeClr val="tx1"/>
                </a:solidFill>
              </a:rPr>
              <a:t>6</a:t>
            </a:r>
            <a:r>
              <a:rPr lang="en-US" sz="2600" dirty="0">
                <a:solidFill>
                  <a:schemeClr val="tx1"/>
                </a:solidFill>
              </a:rPr>
              <a:t> Bonus : une speelstraat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Avonddialoog : écoute puis repérage</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2a</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1re écoute : sujets, pour / contre · 2e écoute : repérages. Seul puis par deux · 8 min.</a:t>
            </a:r>
            <a:endParaRPr lang="en-US" sz="1600" dirty="0"/>
          </a:p>
        </p:txBody>
      </p:sp>
      <p:sp>
        <p:nvSpPr>
          <p:cNvPr id="8"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1</a:t>
            </a:r>
            <a:r>
              <a:rPr lang="en-US" sz="2000" dirty="0">
                <a:solidFill>
                  <a:schemeClr val="tx1"/>
                </a:solidFill>
              </a:rPr>
              <a:t> Les deux sujets de la conversation ?</a:t>
            </a:r>
            <a:endParaRPr lang="en-US" sz="2000" dirty="0"/>
          </a:p>
          <a:p>
            <a:pPr indent="0" marL="0">
              <a:spcAft>
                <a:spcPts val="200"/>
              </a:spcAft>
              <a:buNone/>
            </a:pPr>
            <a:r>
              <a:rPr lang="en-US" sz="2000" b="1" dirty="0">
                <a:solidFill>
                  <a:schemeClr val="accent3"/>
                </a:solidFill>
              </a:rPr>
              <a:t>→ </a:t>
            </a:r>
            <a:r>
              <a:rPr lang="en-US" sz="2000" b="1" dirty="0">
                <a:solidFill>
                  <a:schemeClr val="accent3"/>
                </a:solidFill>
              </a:rPr>
              <a:t>De blauwe zak</a:t>
            </a:r>
            <a:r>
              <a:rPr lang="en-US" sz="2000" dirty="0">
                <a:solidFill>
                  <a:schemeClr val="accent3"/>
                </a:solidFill>
              </a:rPr>
              <a:t> (sorteerfout) en </a:t>
            </a:r>
            <a:r>
              <a:rPr lang="en-US" sz="2000" b="1" dirty="0">
                <a:solidFill>
                  <a:schemeClr val="accent3"/>
                </a:solidFill>
              </a:rPr>
              <a:t>de vergadering</a:t>
            </a:r>
            <a:r>
              <a:rPr lang="en-US" sz="2000" dirty="0">
                <a:solidFill>
                  <a:schemeClr val="accent3"/>
                </a:solidFill>
              </a:rPr>
              <a:t> over de </a:t>
            </a:r>
            <a:r>
              <a:rPr lang="en-US" sz="2000" b="1" dirty="0">
                <a:solidFill>
                  <a:schemeClr val="accent3"/>
                </a:solidFill>
              </a:rPr>
              <a:t>speelstraat</a:t>
            </a:r>
            <a:r>
              <a:rPr lang="en-US" sz="2000" dirty="0">
                <a:solidFill>
                  <a:schemeClr val="accent3"/>
                </a:solidFill>
              </a:rPr>
              <a:t>.</a:t>
            </a:r>
            <a:endParaRPr lang="en-US" sz="2000" dirty="0"/>
          </a:p>
          <a:p>
            <a:pPr indent="0" marL="0">
              <a:spcAft>
                <a:spcPts val="400"/>
              </a:spcAft>
              <a:buNone/>
            </a:pPr>
            <a:r>
              <a:rPr lang="en-US" sz="2000" b="1" dirty="0">
                <a:solidFill>
                  <a:schemeClr val="tx1"/>
                </a:solidFill>
              </a:rPr>
              <a:t>2</a:t>
            </a:r>
            <a:r>
              <a:rPr lang="en-US" sz="2000" dirty="0">
                <a:solidFill>
                  <a:schemeClr val="tx1"/>
                </a:solidFill>
              </a:rPr>
              <a:t> Qui est pour, qui est contre ?</a:t>
            </a:r>
            <a:endParaRPr lang="en-US" sz="2000" dirty="0"/>
          </a:p>
          <a:p>
            <a:pPr indent="0" marL="0">
              <a:spcAft>
                <a:spcPts val="200"/>
              </a:spcAft>
              <a:buNone/>
            </a:pPr>
            <a:r>
              <a:rPr lang="en-US" sz="2000" b="1" dirty="0">
                <a:solidFill>
                  <a:schemeClr val="accent3"/>
                </a:solidFill>
              </a:rPr>
              <a:t>→ </a:t>
            </a:r>
            <a:r>
              <a:rPr lang="en-US" sz="2000" b="1" dirty="0">
                <a:solidFill>
                  <a:schemeClr val="accent3"/>
                </a:solidFill>
              </a:rPr>
              <a:t>Nadia</a:t>
            </a:r>
            <a:r>
              <a:rPr lang="en-US" sz="2000" dirty="0">
                <a:solidFill>
                  <a:schemeClr val="accent3"/>
                </a:solidFill>
              </a:rPr>
              <a:t> is voor · </a:t>
            </a:r>
            <a:r>
              <a:rPr lang="en-US" sz="2000" b="1" dirty="0">
                <a:solidFill>
                  <a:schemeClr val="accent3"/>
                </a:solidFill>
              </a:rPr>
              <a:t>meneer Willems</a:t>
            </a:r>
            <a:r>
              <a:rPr lang="en-US" sz="2000" dirty="0">
                <a:solidFill>
                  <a:schemeClr val="accent3"/>
                </a:solidFill>
              </a:rPr>
              <a:t> is fel tegen.</a:t>
            </a:r>
            <a:endParaRPr lang="en-US" sz="2000" dirty="0"/>
          </a:p>
          <a:p>
            <a:pPr indent="0" marL="0">
              <a:spcAft>
                <a:spcPts val="400"/>
              </a:spcAft>
              <a:buNone/>
            </a:pPr>
            <a:r>
              <a:rPr lang="en-US" sz="2000" b="1" dirty="0">
                <a:solidFill>
                  <a:schemeClr val="tx1"/>
                </a:solidFill>
              </a:rPr>
              <a:t>3</a:t>
            </a:r>
            <a:r>
              <a:rPr lang="en-US" sz="2000" dirty="0">
                <a:solidFill>
                  <a:schemeClr val="tx1"/>
                </a:solidFill>
              </a:rPr>
              <a:t> Trois nominalisations (7.2) ?</a:t>
            </a:r>
            <a:endParaRPr lang="en-US" sz="2000" dirty="0"/>
          </a:p>
          <a:p>
            <a:pPr indent="0" marL="0">
              <a:spcAft>
                <a:spcPts val="200"/>
              </a:spcAft>
              <a:buNone/>
            </a:pPr>
            <a:r>
              <a:rPr lang="en-US" sz="2000" b="1" dirty="0">
                <a:solidFill>
                  <a:schemeClr val="accent3"/>
                </a:solidFill>
              </a:rPr>
              <a:t>→ </a:t>
            </a:r>
            <a:r>
              <a:rPr lang="en-US" sz="2000" dirty="0">
                <a:solidFill>
                  <a:schemeClr val="accent3"/>
                </a:solidFill>
              </a:rPr>
              <a:t>de </a:t>
            </a:r>
            <a:r>
              <a:rPr lang="en-US" sz="2000" b="1" dirty="0">
                <a:solidFill>
                  <a:schemeClr val="accent3"/>
                </a:solidFill>
              </a:rPr>
              <a:t>vergadering</a:t>
            </a:r>
            <a:r>
              <a:rPr lang="en-US" sz="2000" dirty="0">
                <a:solidFill>
                  <a:schemeClr val="accent3"/>
                </a:solidFill>
              </a:rPr>
              <a:t> · de </a:t>
            </a:r>
            <a:r>
              <a:rPr lang="en-US" sz="2000" b="1" dirty="0">
                <a:solidFill>
                  <a:schemeClr val="accent3"/>
                </a:solidFill>
              </a:rPr>
              <a:t>aanvraag</a:t>
            </a:r>
            <a:r>
              <a:rPr lang="en-US" sz="2000" dirty="0">
                <a:solidFill>
                  <a:schemeClr val="accent3"/>
                </a:solidFill>
              </a:rPr>
              <a:t> · de </a:t>
            </a:r>
            <a:r>
              <a:rPr lang="en-US" sz="2000" b="1" dirty="0">
                <a:solidFill>
                  <a:schemeClr val="accent3"/>
                </a:solidFill>
              </a:rPr>
              <a:t>stemming</a:t>
            </a:r>
            <a:endParaRPr lang="en-US" sz="2000" dirty="0"/>
          </a:p>
          <a:p>
            <a:pPr indent="0" marL="0">
              <a:spcAft>
                <a:spcPts val="400"/>
              </a:spcAft>
              <a:buNone/>
            </a:pPr>
            <a:r>
              <a:rPr lang="en-US" sz="2000" b="1" dirty="0">
                <a:solidFill>
                  <a:schemeClr val="tx1"/>
                </a:solidFill>
              </a:rPr>
              <a:t>4</a:t>
            </a:r>
            <a:r>
              <a:rPr lang="en-US" sz="2000" dirty="0">
                <a:solidFill>
                  <a:schemeClr val="tx1"/>
                </a:solidFill>
              </a:rPr>
              <a:t> Trois connecteurs (7.3) ?</a:t>
            </a:r>
            <a:endParaRPr lang="en-US" sz="2000" dirty="0"/>
          </a:p>
          <a:p>
            <a:pPr indent="0" marL="0">
              <a:spcAft>
                <a:spcPts val="200"/>
              </a:spcAft>
              <a:buNone/>
            </a:pPr>
            <a:r>
              <a:rPr lang="en-US" sz="2000" b="1" dirty="0">
                <a:solidFill>
                  <a:schemeClr val="accent3"/>
                </a:solidFill>
              </a:rPr>
              <a:t>→ </a:t>
            </a:r>
            <a:r>
              <a:rPr lang="en-US" sz="2000" b="1" dirty="0">
                <a:solidFill>
                  <a:schemeClr val="accent3"/>
                </a:solidFill>
              </a:rPr>
              <a:t>enerzijds… anderzijds</a:t>
            </a:r>
            <a:r>
              <a:rPr lang="en-US" sz="2000" dirty="0">
                <a:solidFill>
                  <a:schemeClr val="accent3"/>
                </a:solidFill>
              </a:rPr>
              <a:t> · </a:t>
            </a:r>
            <a:r>
              <a:rPr lang="en-US" sz="2000" b="1" dirty="0">
                <a:solidFill>
                  <a:schemeClr val="accent3"/>
                </a:solidFill>
              </a:rPr>
              <a:t>daarentegen</a:t>
            </a:r>
            <a:r>
              <a:rPr lang="en-US" sz="2000" dirty="0">
                <a:solidFill>
                  <a:schemeClr val="accent3"/>
                </a:solidFill>
              </a:rPr>
              <a:t> · </a:t>
            </a:r>
            <a:r>
              <a:rPr lang="en-US" sz="2000" b="1" dirty="0">
                <a:solidFill>
                  <a:schemeClr val="accent3"/>
                </a:solidFill>
              </a:rPr>
              <a:t>kortom</a:t>
            </a:r>
            <a:endParaRPr lang="en-US" sz="2000" dirty="0"/>
          </a:p>
          <a:p>
            <a:pPr indent="0" marL="0">
              <a:spcAft>
                <a:spcPts val="400"/>
              </a:spcAft>
              <a:buNone/>
            </a:pPr>
            <a:r>
              <a:rPr lang="en-US" sz="2000" b="1" dirty="0">
                <a:solidFill>
                  <a:schemeClr val="tx1"/>
                </a:solidFill>
              </a:rPr>
              <a:t>5</a:t>
            </a:r>
            <a:r>
              <a:rPr lang="en-US" sz="2000" dirty="0">
                <a:solidFill>
                  <a:schemeClr val="tx1"/>
                </a:solidFill>
              </a:rPr>
              <a:t> Une concession (7.5) ?</a:t>
            </a:r>
            <a:endParaRPr lang="en-US" sz="2000" dirty="0"/>
          </a:p>
          <a:p>
            <a:pPr indent="0" marL="0">
              <a:spcAft>
                <a:spcPts val="200"/>
              </a:spcAft>
              <a:buNone/>
            </a:pPr>
            <a:r>
              <a:rPr lang="en-US" sz="2000" b="1" dirty="0">
                <a:solidFill>
                  <a:schemeClr val="accent3"/>
                </a:solidFill>
              </a:rPr>
              <a:t>→ </a:t>
            </a:r>
            <a:r>
              <a:rPr lang="en-US" sz="2000" dirty="0">
                <a:solidFill>
                  <a:schemeClr val="accent3"/>
                </a:solidFill>
              </a:rPr>
              <a:t>De straat is </a:t>
            </a:r>
            <a:r>
              <a:rPr lang="en-US" sz="2000" b="1" dirty="0">
                <a:solidFill>
                  <a:schemeClr val="accent3"/>
                </a:solidFill>
              </a:rPr>
              <a:t>weliswaar</a:t>
            </a:r>
            <a:r>
              <a:rPr lang="en-US" sz="2000" dirty="0">
                <a:solidFill>
                  <a:schemeClr val="accent3"/>
                </a:solidFill>
              </a:rPr>
              <a:t> een maand autovrij, </a:t>
            </a:r>
            <a:r>
              <a:rPr lang="en-US" sz="2000" b="1" dirty="0">
                <a:solidFill>
                  <a:schemeClr val="accent3"/>
                </a:solidFill>
              </a:rPr>
              <a:t>maar</a:t>
            </a:r>
            <a:r>
              <a:rPr lang="en-US" sz="2000" dirty="0">
                <a:solidFill>
                  <a:schemeClr val="accent3"/>
                </a:solidFill>
              </a:rPr>
              <a:t> de kinderen kunnen eindelijk veilig buiten spelen.</a:t>
            </a:r>
            <a:endParaRPr lang="en-US" sz="2000" dirty="0"/>
          </a:p>
          <a:p>
            <a:pPr indent="0" marL="0">
              <a:spcAft>
                <a:spcPts val="400"/>
              </a:spcAft>
              <a:buNone/>
            </a:pPr>
            <a:r>
              <a:rPr lang="en-US" sz="2000" b="1" dirty="0">
                <a:solidFill>
                  <a:schemeClr val="tx1"/>
                </a:solidFill>
              </a:rPr>
              <a:t>6</a:t>
            </a:r>
            <a:r>
              <a:rPr lang="en-US" sz="2000" dirty="0">
                <a:solidFill>
                  <a:schemeClr val="tx1"/>
                </a:solidFill>
              </a:rPr>
              <a:t> Bonus : une speelstraat ?</a:t>
            </a:r>
            <a:endParaRPr lang="en-US" sz="2000" dirty="0"/>
          </a:p>
          <a:p>
            <a:pPr indent="0" marL="0">
              <a:spcAft>
                <a:spcPts val="200"/>
              </a:spcAft>
              <a:buNone/>
            </a:pPr>
            <a:r>
              <a:rPr lang="en-US" sz="2000" b="1" dirty="0">
                <a:solidFill>
                  <a:schemeClr val="accent3"/>
                </a:solidFill>
              </a:rPr>
              <a:t>→ </a:t>
            </a:r>
            <a:r>
              <a:rPr lang="en-US" sz="2000" dirty="0">
                <a:solidFill>
                  <a:schemeClr val="accent3"/>
                </a:solidFill>
              </a:rPr>
              <a:t>Une rue </a:t>
            </a:r>
            <a:r>
              <a:rPr lang="en-US" sz="2000" b="1" dirty="0">
                <a:solidFill>
                  <a:schemeClr val="accent3"/>
                </a:solidFill>
              </a:rPr>
              <a:t>fermée aux voitures</a:t>
            </a:r>
            <a:r>
              <a:rPr lang="en-US" sz="2000" dirty="0">
                <a:solidFill>
                  <a:schemeClr val="accent3"/>
                </a:solidFill>
              </a:rPr>
              <a:t> pendant une période.</a:t>
            </a:r>
            <a:endParaRPr lang="en-US" sz="2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7.1 : les règles du jeu</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3</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9401"/>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7.1</a:t>
            </a:r>
            <a:endParaRPr lang="en-US" sz="1100" dirty="0"/>
          </a:p>
        </p:txBody>
      </p:sp>
      <p:sp>
        <p:nvSpPr>
          <p:cNvPr id="9" name="Text 5"/>
          <p:cNvSpPr txBox="1"/>
          <p:nvPr/>
        </p:nvSpPr>
        <p:spPr>
          <a:xfrm>
            <a:off x="6995160" y="2560320"/>
            <a:ext cx="4645152" cy="2639568"/>
          </a:xfrm>
          <a:prstGeom prst="rect">
            <a:avLst/>
          </a:prstGeom>
          <a:noFill/>
          <a:ln/>
        </p:spPr>
        <p:txBody>
          <a:bodyPr wrap="square" lIns="0" tIns="0" rIns="0" bIns="0" rtlCol="0" anchor="t"/>
          <a:lstStyle/>
          <a:p>
            <a:pPr indent="0" marL="0">
              <a:spcAft>
                <a:spcPts val="1000"/>
              </a:spcAft>
              <a:buNone/>
            </a:pPr>
            <a:r>
              <a:rPr lang="en-US" sz="1400" b="1" dirty="0">
                <a:solidFill>
                  <a:schemeClr val="tx1"/>
                </a:solidFill>
              </a:rPr>
              <a:t>Rendre le compliqué clair</a:t>
            </a:r>
            <a:r>
              <a:rPr lang="en-US" sz="1400" dirty="0">
                <a:solidFill>
                  <a:schemeClr val="tx1"/>
                </a:solidFill>
              </a:rPr>
              <a:t> : qui décide quoi, qui paie quoi, qui convoque qui.</a:t>
            </a:r>
            <a:endParaRPr lang="en-US" sz="1400" dirty="0"/>
          </a:p>
          <a:p>
            <a:pPr indent="0" marL="0">
              <a:spcAft>
                <a:spcPts val="1000"/>
              </a:spcAft>
              <a:buNone/>
            </a:pPr>
            <a:r>
              <a:rPr lang="en-US" sz="1400" b="1" dirty="0">
                <a:solidFill>
                  <a:schemeClr val="tx1"/>
                </a:solidFill>
              </a:rPr>
              <a:t>Focus : lignes 1, 4 et 8 du dialogue</a:t>
            </a:r>
            <a:endParaRPr lang="en-US" sz="1400" dirty="0"/>
          </a:p>
          <a:p>
            <a:pPr indent="0" marL="0">
              <a:spcAft>
                <a:spcPts val="1000"/>
              </a:spcAft>
              <a:buNone/>
            </a:pPr>
            <a:r>
              <a:rPr lang="en-US" sz="1400" dirty="0">
                <a:solidFill>
                  <a:schemeClr val="tx1"/>
                </a:solidFill>
              </a:rPr>
              <a:t>Stef : «Ik heb een uitnodiging </a:t>
            </a:r>
            <a:r>
              <a:rPr lang="en-US" sz="1400" b="1" dirty="0">
                <a:solidFill>
                  <a:schemeClr val="tx1"/>
                </a:solidFill>
              </a:rPr>
              <a:t>gekregen</a:t>
            </a:r>
            <a:r>
              <a:rPr lang="en-US" sz="1400" dirty="0">
                <a:solidFill>
                  <a:schemeClr val="tx1"/>
                </a:solidFill>
              </a:rPr>
              <a:t> van de </a:t>
            </a:r>
            <a:r>
              <a:rPr lang="en-US" sz="1400" b="1" dirty="0">
                <a:solidFill>
                  <a:schemeClr val="tx1"/>
                </a:solidFill>
              </a:rPr>
              <a:t>syndicus</a:t>
            </a:r>
            <a:r>
              <a:rPr lang="en-US" sz="1400" dirty="0">
                <a:solidFill>
                  <a:schemeClr val="tx1"/>
                </a:solidFill>
              </a:rPr>
              <a:t>.»</a:t>
            </a:r>
            <a:endParaRPr lang="en-US" sz="1400" dirty="0"/>
          </a:p>
          <a:p>
            <a:pPr indent="0" marL="0">
              <a:spcAft>
                <a:spcPts val="1000"/>
              </a:spcAft>
              <a:buNone/>
            </a:pPr>
            <a:r>
              <a:rPr lang="en-US" sz="1400" dirty="0">
                <a:solidFill>
                  <a:schemeClr val="tx1"/>
                </a:solidFill>
              </a:rPr>
              <a:t>Yasmina : «De </a:t>
            </a:r>
            <a:r>
              <a:rPr lang="en-US" sz="1400" b="1" dirty="0">
                <a:solidFill>
                  <a:schemeClr val="tx1"/>
                </a:solidFill>
              </a:rPr>
              <a:t>verdeling</a:t>
            </a:r>
            <a:r>
              <a:rPr lang="en-US" sz="1400" dirty="0">
                <a:solidFill>
                  <a:schemeClr val="tx1"/>
                </a:solidFill>
              </a:rPr>
              <a:t> van de kosten gebeurt volgens de </a:t>
            </a:r>
            <a:r>
              <a:rPr lang="en-US" sz="1400" b="1" dirty="0">
                <a:solidFill>
                  <a:schemeClr val="tx1"/>
                </a:solidFill>
              </a:rPr>
              <a:t>quotiteiten</a:t>
            </a:r>
            <a:r>
              <a:rPr lang="en-US" sz="1400" dirty="0">
                <a:solidFill>
                  <a:schemeClr val="tx1"/>
                </a:solidFill>
              </a:rPr>
              <a:t>.»</a:t>
            </a:r>
            <a:endParaRPr lang="en-US" sz="1400" dirty="0"/>
          </a:p>
          <a:p>
            <a:pPr indent="0" marL="0">
              <a:spcAft>
                <a:spcPts val="1000"/>
              </a:spcAft>
              <a:buNone/>
            </a:pPr>
            <a:r>
              <a:rPr lang="en-US" sz="1400" dirty="0">
                <a:solidFill>
                  <a:schemeClr val="tx1"/>
                </a:solidFill>
              </a:rPr>
              <a:t>Yasmina : «…terwijl ik de </a:t>
            </a:r>
            <a:r>
              <a:rPr lang="en-US" sz="1400" b="1" dirty="0">
                <a:solidFill>
                  <a:schemeClr val="tx1"/>
                </a:solidFill>
              </a:rPr>
              <a:t>volmacht</a:t>
            </a:r>
            <a:r>
              <a:rPr lang="en-US" sz="1400" dirty="0">
                <a:solidFill>
                  <a:schemeClr val="tx1"/>
                </a:solidFill>
              </a:rPr>
              <a:t> van mevrouw Dubois regel.»</a:t>
            </a:r>
            <a:endParaRPr lang="en-US" sz="1400" dirty="0"/>
          </a:p>
        </p:txBody>
      </p:sp>
      <p:sp>
        <p:nvSpPr>
          <p:cNvPr id="10" name="Shape 6"/>
          <p:cNvSpPr/>
          <p:nvPr/>
        </p:nvSpPr>
        <p:spPr>
          <a:xfrm>
            <a:off x="6995160" y="5382768"/>
            <a:ext cx="4645152" cy="908304"/>
          </a:xfrm>
          <a:prstGeom prst="roundRect">
            <a:avLst>
              <a:gd name="adj" fmla="val 8054"/>
            </a:avLst>
          </a:prstGeom>
          <a:solidFill>
            <a:schemeClr val="accent1">
              <a:alpha val="12000"/>
            </a:schemeClr>
          </a:solidFill>
          <a:ln w="12700">
            <a:solidFill>
              <a:srgbClr val="D9700F"/>
            </a:solidFill>
            <a:prstDash val="solid"/>
          </a:ln>
        </p:spPr>
      </p:sp>
      <p:sp>
        <p:nvSpPr>
          <p:cNvPr id="11" name="Text 7"/>
          <p:cNvSpPr txBox="1"/>
          <p:nvPr/>
        </p:nvSpPr>
        <p:spPr>
          <a:xfrm>
            <a:off x="7178040" y="547420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766816"/>
            <a:ext cx="4279392" cy="451104"/>
          </a:xfrm>
          <a:prstGeom prst="rect">
            <a:avLst/>
          </a:prstGeom>
          <a:noFill/>
          <a:ln/>
        </p:spPr>
        <p:txBody>
          <a:bodyPr wrap="square" lIns="0" tIns="0" rIns="0" bIns="0" rtlCol="0" anchor="t"/>
          <a:lstStyle/>
          <a:p>
            <a:pPr indent="0" marL="0">
              <a:buNone/>
            </a:pPr>
            <a:r>
              <a:rPr lang="en-US" sz="1700" dirty="0">
                <a:solidFill>
                  <a:schemeClr val="tx1"/>
                </a:solidFill>
              </a:rPr>
              <a:t>Quel mot est un faux-ami du français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 Mindmap : de wereld van de mede-eigendom</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De mémoire, seul(e) · 3 min, puis en binôme · 3 min. Objectif : </a:t>
            </a:r>
            <a:r>
              <a:rPr lang="en-US" sz="1600" b="1" i="1" dirty="0">
                <a:solidFill>
                  <a:schemeClr val="accent5"/>
                </a:solidFill>
              </a:rPr>
              <a:t>5 mots par branche</a:t>
            </a:r>
            <a:r>
              <a:rPr lang="en-US" sz="1600" i="1" dirty="0">
                <a:solidFill>
                  <a:schemeClr val="accent5"/>
                </a:solidFill>
              </a:rPr>
              <a:t> — greffez les acquis des paliers 5 et 6.</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2377440"/>
                <a:gridCol w="5029200"/>
                <a:gridCol w="3685032"/>
              </a:tblGrid>
              <a:tr h="565099">
                <a:tc>
                  <a:txBody>
                    <a:bodyPr/>
                    <a:lstStyle/>
                    <a:p>
                      <a:pPr algn="l" indent="0" marL="0">
                        <a:buNone/>
                      </a:pPr>
                      <a:r>
                        <a:rPr lang="en-US" sz="1400" b="1" dirty="0">
                          <a:solidFill>
                            <a:schemeClr val="bg1"/>
                          </a:solidFill>
                        </a:rPr>
                        <a:t>BRANCHE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POINT DE DÉPART (livret)</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VOS MOTS (minimum 5)</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54380">
                <a:tc>
                  <a:txBody>
                    <a:bodyPr/>
                    <a:lstStyle/>
                    <a:p>
                      <a:pPr algn="l" indent="0" marL="0">
                        <a:buNone/>
                      </a:pPr>
                      <a:r>
                        <a:rPr lang="en-US" sz="1600" b="1" dirty="0">
                          <a:solidFill>
                            <a:schemeClr val="accent2"/>
                          </a:solidFill>
                        </a:rPr>
                        <a:t>de</a:t>
                      </a:r>
                      <a:r>
                        <a:rPr lang="en-US" sz="1600" b="1" dirty="0">
                          <a:solidFill>
                            <a:schemeClr val="tx1"/>
                          </a:solidFill>
                        </a:rPr>
                        <a:t> mensen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de syndicus, de mede-eigenaar, de voorzitter, de raad van mede-eigendom…</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accent5"/>
                          </a:solidFill>
                        </a:rPr>
                        <a: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54380">
                <a:tc>
                  <a:txBody>
                    <a:bodyPr/>
                    <a:lstStyle/>
                    <a:p>
                      <a:pPr algn="l" indent="0" marL="0">
                        <a:buNone/>
                      </a:pPr>
                      <a:r>
                        <a:rPr lang="en-US" sz="1600" b="1" dirty="0">
                          <a:solidFill>
                            <a:schemeClr val="accent2"/>
                          </a:solidFill>
                        </a:rPr>
                        <a:t>de</a:t>
                      </a:r>
                      <a:r>
                        <a:rPr lang="en-US" sz="1600" b="1" dirty="0">
                          <a:solidFill>
                            <a:schemeClr val="tx1"/>
                          </a:solidFill>
                        </a:rPr>
                        <a:t> plaatsen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de gemene delen, de privatieve delen, de gevel, de lift, de inkomhal…</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accent5"/>
                          </a:solidFill>
                        </a:rPr>
                        <a: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54380">
                <a:tc>
                  <a:txBody>
                    <a:bodyPr/>
                    <a:lstStyle/>
                    <a:p>
                      <a:pPr algn="l" indent="0" marL="0">
                        <a:buNone/>
                      </a:pPr>
                      <a:r>
                        <a:rPr lang="en-US" sz="1600" b="1" dirty="0">
                          <a:solidFill>
                            <a:schemeClr val="accent2"/>
                          </a:solidFill>
                        </a:rPr>
                        <a:t>de</a:t>
                      </a:r>
                      <a:r>
                        <a:rPr lang="en-US" sz="1600" b="1" dirty="0">
                          <a:solidFill>
                            <a:schemeClr val="tx1"/>
                          </a:solidFill>
                        </a:rPr>
                        <a:t> documenten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de basisakte, de uitnodiging, de agenda, de notulen, de volmacht…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accent5"/>
                          </a:solidFill>
                        </a:rPr>
                        <a: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54380">
                <a:tc>
                  <a:txBody>
                    <a:bodyPr/>
                    <a:lstStyle/>
                    <a:p>
                      <a:pPr algn="l" indent="0" marL="0">
                        <a:buNone/>
                      </a:pPr>
                      <a:r>
                        <a:rPr lang="en-US" sz="1600" b="1" dirty="0">
                          <a:solidFill>
                            <a:schemeClr val="accent2"/>
                          </a:solidFill>
                        </a:rPr>
                        <a:t>de</a:t>
                      </a:r>
                      <a:r>
                        <a:rPr lang="en-US" sz="1600" b="1" dirty="0">
                          <a:solidFill>
                            <a:schemeClr val="tx1"/>
                          </a:solidFill>
                        </a:rPr>
                        <a:t> beslissingen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de stemming, de meerderheid, het voorstel, de goedkeuring…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accent5"/>
                          </a:solidFill>
                        </a:rPr>
                        <a: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54380">
                <a:tc>
                  <a:txBody>
                    <a:bodyPr/>
                    <a:lstStyle/>
                    <a:p>
                      <a:pPr algn="l" indent="0" marL="0">
                        <a:buNone/>
                      </a:pPr>
                      <a:r>
                        <a:rPr lang="en-US" sz="1600" b="1" dirty="0">
                          <a:solidFill>
                            <a:schemeClr val="accent4"/>
                          </a:solidFill>
                        </a:rPr>
                        <a:t>het</a:t>
                      </a:r>
                      <a:r>
                        <a:rPr lang="en-US" sz="1600" b="1" dirty="0">
                          <a:solidFill>
                            <a:schemeClr val="tx1"/>
                          </a:solidFill>
                        </a:rPr>
                        <a:t> geld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de quotiteiten, het reservefonds, de bijdrage, de kostprijs…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accent5"/>
                          </a:solidFill>
                        </a:rPr>
                        <a: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Mindmap : proposition de corrigé (1/2)</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1965960"/>
                <a:gridCol w="1737360"/>
                <a:gridCol w="1965960"/>
                <a:gridCol w="1737360"/>
                <a:gridCol w="1965960"/>
                <a:gridCol w="1719072"/>
              </a:tblGrid>
              <a:tr h="533095">
                <a:tc>
                  <a:txBody>
                    <a:bodyPr/>
                    <a:lstStyle/>
                    <a:p>
                      <a:pPr algn="l" indent="0" marL="0">
                        <a:buNone/>
                      </a:pPr>
                      <a:r>
                        <a:rPr lang="en-US" sz="1200" b="1" dirty="0">
                          <a:solidFill>
                            <a:schemeClr val="bg1"/>
                          </a:solidFill>
                        </a:rPr>
                        <a:t>DE MENSEN</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2"/>
                    </a:solidFill>
                  </a:tcPr>
                </a:tc>
                <a:tc>
                  <a:txBody>
                    <a:bodyPr/>
                    <a:lstStyle/>
                    <a:p>
                      <a:pPr algn="l" indent="0" marL="0">
                        <a:buNone/>
                      </a:pPr>
                      <a:r>
                        <a:rPr lang="en-US" sz="1200" b="1" dirty="0">
                          <a:solidFill>
                            <a:schemeClr val="bg1"/>
                          </a:solidFill>
                        </a:rPr>
                        <a:t>FR</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2"/>
                    </a:solidFill>
                  </a:tcPr>
                </a:tc>
                <a:tc>
                  <a:txBody>
                    <a:bodyPr/>
                    <a:lstStyle/>
                    <a:p>
                      <a:pPr algn="l" indent="0" marL="0">
                        <a:buNone/>
                      </a:pPr>
                      <a:r>
                        <a:rPr lang="en-US" sz="1200" b="1" dirty="0">
                          <a:solidFill>
                            <a:schemeClr val="bg1"/>
                          </a:solidFill>
                        </a:rPr>
                        <a:t>DE PLAATSEN</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200" b="1" dirty="0">
                          <a:solidFill>
                            <a:schemeClr val="bg1"/>
                          </a:solidFill>
                        </a:rPr>
                        <a:t>FR</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3"/>
                    </a:solidFill>
                  </a:tcPr>
                </a:tc>
                <a:tc>
                  <a:txBody>
                    <a:bodyPr/>
                    <a:lstStyle/>
                    <a:p>
                      <a:pPr algn="l" indent="0" marL="0">
                        <a:buNone/>
                      </a:pPr>
                      <a:r>
                        <a:rPr lang="en-US" sz="1200" b="1" dirty="0">
                          <a:solidFill>
                            <a:schemeClr val="bg1"/>
                          </a:solidFill>
                        </a:rPr>
                        <a:t>DE DOCUMENTEN</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FR</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1"/>
                    </a:solidFill>
                  </a:tcPr>
                </a:tc>
              </a:tr>
              <a:tr h="766267">
                <a:tc>
                  <a:txBody>
                    <a:bodyPr/>
                    <a:lstStyle/>
                    <a:p>
                      <a:pPr algn="l" indent="0" marL="0">
                        <a:buNone/>
                      </a:pPr>
                      <a:r>
                        <a:rPr lang="en-US" sz="1400" b="1" dirty="0">
                          <a:solidFill>
                            <a:schemeClr val="accent2"/>
                          </a:solidFill>
                        </a:rPr>
                        <a:t>de</a:t>
                      </a:r>
                      <a:r>
                        <a:rPr lang="en-US" sz="1400" dirty="0">
                          <a:solidFill>
                            <a:schemeClr val="tx1"/>
                          </a:solidFill>
                        </a:rPr>
                        <a:t> syndicus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 syndic</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gemene delen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les parties communes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basisakte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l’acte de base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66267">
                <a:tc>
                  <a:txBody>
                    <a:bodyPr/>
                    <a:lstStyle/>
                    <a:p>
                      <a:pPr algn="l" indent="0" marL="0">
                        <a:buNone/>
                      </a:pPr>
                      <a:r>
                        <a:rPr lang="en-US" sz="1400" b="1" dirty="0">
                          <a:solidFill>
                            <a:schemeClr val="accent2"/>
                          </a:solidFill>
                        </a:rPr>
                        <a:t>de</a:t>
                      </a:r>
                      <a:r>
                        <a:rPr lang="en-US" sz="1400" dirty="0">
                          <a:solidFill>
                            <a:schemeClr val="tx1"/>
                          </a:solidFill>
                        </a:rPr>
                        <a:t> mede-eigenaar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 copropriétaire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2"/>
                          </a:solidFill>
                        </a:rPr>
                        <a:t>de</a:t>
                      </a:r>
                      <a:r>
                        <a:rPr lang="en-US" sz="1400" dirty="0">
                          <a:solidFill>
                            <a:schemeClr val="tx1"/>
                          </a:solidFill>
                        </a:rPr>
                        <a:t> privatieve delen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les parties privatives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2"/>
                          </a:solidFill>
                        </a:rPr>
                        <a:t>de</a:t>
                      </a:r>
                      <a:r>
                        <a:rPr lang="en-US" sz="1400" dirty="0">
                          <a:solidFill>
                            <a:schemeClr val="tx1"/>
                          </a:solidFill>
                        </a:rPr>
                        <a:t> uitnodiging</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la convocation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49554">
                <a:tc>
                  <a:txBody>
                    <a:bodyPr/>
                    <a:lstStyle/>
                    <a:p>
                      <a:pPr algn="l" indent="0" marL="0">
                        <a:buNone/>
                      </a:pPr>
                      <a:r>
                        <a:rPr lang="en-US" sz="1400" b="1" dirty="0">
                          <a:solidFill>
                            <a:schemeClr val="accent2"/>
                          </a:solidFill>
                        </a:rPr>
                        <a:t>de</a:t>
                      </a:r>
                      <a:r>
                        <a:rPr lang="en-US" sz="1400" dirty="0">
                          <a:solidFill>
                            <a:schemeClr val="tx1"/>
                          </a:solidFill>
                        </a:rPr>
                        <a:t> voorzitter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 président</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gevel</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 façade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agenda</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l’ordre du jour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66267">
                <a:tc>
                  <a:txBody>
                    <a:bodyPr/>
                    <a:lstStyle/>
                    <a:p>
                      <a:pPr algn="l" indent="0" marL="0">
                        <a:buNone/>
                      </a:pPr>
                      <a:r>
                        <a:rPr lang="en-US" sz="1400" b="1" dirty="0">
                          <a:solidFill>
                            <a:schemeClr val="accent2"/>
                          </a:solidFill>
                        </a:rPr>
                        <a:t>de</a:t>
                      </a:r>
                      <a:r>
                        <a:rPr lang="en-US" sz="1400" dirty="0">
                          <a:solidFill>
                            <a:schemeClr val="tx1"/>
                          </a:solidFill>
                        </a:rPr>
                        <a:t> raad van mede-eigendom</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 conseil de copropriété</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2"/>
                          </a:solidFill>
                        </a:rPr>
                        <a:t>de</a:t>
                      </a:r>
                      <a:r>
                        <a:rPr lang="en-US" sz="1400" dirty="0">
                          <a:solidFill>
                            <a:schemeClr val="tx1"/>
                          </a:solidFill>
                        </a:rPr>
                        <a:t> lift</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l’ascenseur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2"/>
                          </a:solidFill>
                        </a:rPr>
                        <a:t>de</a:t>
                      </a:r>
                      <a:r>
                        <a:rPr lang="en-US" sz="1400" dirty="0">
                          <a:solidFill>
                            <a:schemeClr val="tx1"/>
                          </a:solidFill>
                        </a:rPr>
                        <a:t> notulen (pl.)</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 procès-verbal</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49554">
                <a:tc>
                  <a:txBody>
                    <a:bodyPr/>
                    <a:lstStyle/>
                    <a:p>
                      <a:pPr algn="l" indent="0" marL="0">
                        <a:buNone/>
                      </a:pPr>
                      <a:r>
                        <a:rPr lang="en-US" sz="1400" b="1" dirty="0">
                          <a:solidFill>
                            <a:schemeClr val="accent2"/>
                          </a:solidFill>
                        </a:rPr>
                        <a:t>de</a:t>
                      </a:r>
                      <a:r>
                        <a:rPr lang="en-US" sz="1400" dirty="0">
                          <a:solidFill>
                            <a:schemeClr val="tx1"/>
                          </a:solidFill>
                        </a:rPr>
                        <a:t> vertegenwoordiger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 représentant</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inkomhal</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 hall d’entrée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volmacht</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 procuration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66267">
                <a:tc>
                  <a:txBody>
                    <a:bodyPr/>
                    <a:lstStyle/>
                    <a:p>
                      <a:pPr algn="l" indent="0" marL="0">
                        <a:buNone/>
                      </a:pPr>
                      <a:r>
                        <a:rPr lang="en-US" sz="1400" b="1" dirty="0">
                          <a:solidFill>
                            <a:schemeClr val="accent2"/>
                          </a:solidFill>
                        </a:rPr>
                        <a:t>de</a:t>
                      </a:r>
                      <a:r>
                        <a:rPr lang="en-US" sz="1400" dirty="0">
                          <a:solidFill>
                            <a:schemeClr val="tx1"/>
                          </a:solidFill>
                        </a:rPr>
                        <a:t> notulist</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 secrétaire de séance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2"/>
                          </a:solidFill>
                        </a:rPr>
                        <a:t>de</a:t>
                      </a:r>
                      <a:r>
                        <a:rPr lang="en-US" sz="1400" dirty="0">
                          <a:solidFill>
                            <a:schemeClr val="tx1"/>
                          </a:solidFill>
                        </a:rPr>
                        <a:t> inkomdeur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la porte d’entrée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4"/>
                          </a:solidFill>
                        </a:rPr>
                        <a:t>het</a:t>
                      </a:r>
                      <a:r>
                        <a:rPr lang="en-US" sz="1400" dirty="0">
                          <a:solidFill>
                            <a:schemeClr val="tx1"/>
                          </a:solidFill>
                        </a:rPr>
                        <a:t> verslag</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 compte rendu</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Mindmap : proposition de corrigé (2/2)</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4</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1965960"/>
                <a:gridCol w="1737360"/>
                <a:gridCol w="1965960"/>
                <a:gridCol w="1737360"/>
                <a:gridCol w="1965960"/>
                <a:gridCol w="1719072"/>
              </a:tblGrid>
              <a:tr h="533095">
                <a:tc>
                  <a:txBody>
                    <a:bodyPr/>
                    <a:lstStyle/>
                    <a:p>
                      <a:pPr algn="l" indent="0" marL="0">
                        <a:buNone/>
                      </a:pPr>
                      <a:r>
                        <a:rPr lang="en-US" sz="1200" b="1" dirty="0">
                          <a:solidFill>
                            <a:schemeClr val="bg1"/>
                          </a:solidFill>
                        </a:rPr>
                        <a:t>DE BESLISSINGEN</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200" b="1" dirty="0">
                          <a:solidFill>
                            <a:schemeClr val="bg1"/>
                          </a:solidFill>
                        </a:rPr>
                        <a:t>FR</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4"/>
                    </a:solidFill>
                  </a:tcPr>
                </a:tc>
                <a:tc>
                  <a:txBody>
                    <a:bodyPr/>
                    <a:lstStyle/>
                    <a:p>
                      <a:pPr algn="l" indent="0" marL="0">
                        <a:buNone/>
                      </a:pPr>
                      <a:r>
                        <a:rPr lang="en-US" sz="1200" b="1" dirty="0">
                          <a:solidFill>
                            <a:schemeClr val="bg1"/>
                          </a:solidFill>
                        </a:rPr>
                        <a:t>HET GELD</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c>
                  <a:txBody>
                    <a:bodyPr/>
                    <a:lstStyle/>
                    <a:p>
                      <a:pPr algn="l" indent="0" marL="0">
                        <a:buNone/>
                      </a:pPr>
                      <a:r>
                        <a:rPr lang="en-US" sz="1200" b="1" dirty="0">
                          <a:solidFill>
                            <a:schemeClr val="bg1"/>
                          </a:solidFill>
                        </a:rPr>
                        <a:t>FR</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5"/>
                    </a:solidFill>
                  </a:tcPr>
                </a:tc>
                <a:tc>
                  <a:txBody>
                    <a:bodyPr/>
                    <a:lstStyle/>
                    <a:p>
                      <a:pPr algn="l" indent="0" marL="0">
                        <a:buNone/>
                      </a:pPr>
                      <a:r>
                        <a:rPr lang="en-US" sz="1200" b="1" dirty="0">
                          <a:solidFill>
                            <a:schemeClr val="bg1"/>
                          </a:solidFill>
                        </a:rPr>
                        <a:t>DE WERKWOORDEN</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6"/>
                    </a:solidFill>
                  </a:tcPr>
                </a:tc>
                <a:tc>
                  <a:txBody>
                    <a:bodyPr/>
                    <a:lstStyle/>
                    <a:p>
                      <a:pPr algn="l" indent="0" marL="0">
                        <a:buNone/>
                      </a:pPr>
                      <a:r>
                        <a:rPr lang="en-US" sz="1200" b="1" dirty="0">
                          <a:solidFill>
                            <a:schemeClr val="bg1"/>
                          </a:solidFill>
                        </a:rPr>
                        <a:t>FR</a:t>
                      </a:r>
                      <a:endParaRPr lang="en-US" sz="12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6"/>
                    </a:solidFill>
                  </a:tcPr>
                </a:tc>
              </a:tr>
              <a:tr h="619049">
                <a:tc>
                  <a:txBody>
                    <a:bodyPr/>
                    <a:lstStyle/>
                    <a:p>
                      <a:pPr algn="l" indent="0" marL="0">
                        <a:buNone/>
                      </a:pPr>
                      <a:r>
                        <a:rPr lang="en-US" sz="1400" b="1" dirty="0">
                          <a:solidFill>
                            <a:schemeClr val="accent2"/>
                          </a:solidFill>
                        </a:rPr>
                        <a:t>de</a:t>
                      </a:r>
                      <a:r>
                        <a:rPr lang="en-US" sz="1400" dirty="0">
                          <a:solidFill>
                            <a:schemeClr val="tx1"/>
                          </a:solidFill>
                        </a:rPr>
                        <a:t> stemming</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 vote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quotiteiten (pl.)</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les quotités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vergaderen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se réunir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19049">
                <a:tc>
                  <a:txBody>
                    <a:bodyPr/>
                    <a:lstStyle/>
                    <a:p>
                      <a:pPr algn="l" indent="0" marL="0">
                        <a:buNone/>
                      </a:pPr>
                      <a:r>
                        <a:rPr lang="en-US" sz="1400" b="1" dirty="0">
                          <a:solidFill>
                            <a:schemeClr val="accent2"/>
                          </a:solidFill>
                        </a:rPr>
                        <a:t>de</a:t>
                      </a:r>
                      <a:r>
                        <a:rPr lang="en-US" sz="1400" dirty="0">
                          <a:solidFill>
                            <a:schemeClr val="tx1"/>
                          </a:solidFill>
                        </a:rPr>
                        <a:t> meerderheid</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la majorité</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4"/>
                          </a:solidFill>
                        </a:rPr>
                        <a:t>het</a:t>
                      </a:r>
                      <a:r>
                        <a:rPr lang="en-US" sz="1400" dirty="0">
                          <a:solidFill>
                            <a:schemeClr val="tx1"/>
                          </a:solidFill>
                        </a:rPr>
                        <a:t> reservefonds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 fonds de réserve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stemmen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voter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19049">
                <a:tc>
                  <a:txBody>
                    <a:bodyPr/>
                    <a:lstStyle/>
                    <a:p>
                      <a:pPr algn="l" indent="0" marL="0">
                        <a:buNone/>
                      </a:pPr>
                      <a:r>
                        <a:rPr lang="en-US" sz="1400" b="1" dirty="0">
                          <a:solidFill>
                            <a:schemeClr val="accent4"/>
                          </a:solidFill>
                        </a:rPr>
                        <a:t>het</a:t>
                      </a:r>
                      <a:r>
                        <a:rPr lang="en-US" sz="1400" dirty="0">
                          <a:solidFill>
                            <a:schemeClr val="tx1"/>
                          </a:solidFill>
                        </a:rPr>
                        <a:t> voorstel</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 proposition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bijdrage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 cotisation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beslissen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décider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19049">
                <a:tc>
                  <a:txBody>
                    <a:bodyPr/>
                    <a:lstStyle/>
                    <a:p>
                      <a:pPr algn="l" indent="0" marL="0">
                        <a:buNone/>
                      </a:pPr>
                      <a:r>
                        <a:rPr lang="en-US" sz="1400" b="1" dirty="0">
                          <a:solidFill>
                            <a:schemeClr val="accent2"/>
                          </a:solidFill>
                        </a:rPr>
                        <a:t>de</a:t>
                      </a:r>
                      <a:r>
                        <a:rPr lang="en-US" sz="1400" dirty="0">
                          <a:solidFill>
                            <a:schemeClr val="tx1"/>
                          </a:solidFill>
                        </a:rPr>
                        <a:t> goedkeuring</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l’approbation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2"/>
                          </a:solidFill>
                        </a:rPr>
                        <a:t>de</a:t>
                      </a:r>
                      <a:r>
                        <a:rPr lang="en-US" sz="1400" dirty="0">
                          <a:solidFill>
                            <a:schemeClr val="tx1"/>
                          </a:solidFill>
                        </a:rPr>
                        <a:t> kostprijs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 coût</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goedkeuren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approuver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19049">
                <a:tc>
                  <a:txBody>
                    <a:bodyPr/>
                    <a:lstStyle/>
                    <a:p>
                      <a:pPr algn="l" indent="0" marL="0">
                        <a:buNone/>
                      </a:pPr>
                      <a:r>
                        <a:rPr lang="en-US" sz="1400" b="1" dirty="0">
                          <a:solidFill>
                            <a:schemeClr val="accent2"/>
                          </a:solidFill>
                        </a:rPr>
                        <a:t>de</a:t>
                      </a:r>
                      <a:r>
                        <a:rPr lang="en-US" sz="1400" dirty="0">
                          <a:solidFill>
                            <a:schemeClr val="tx1"/>
                          </a:solidFill>
                        </a:rPr>
                        <a:t> onthouding</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l’abstention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b="1" dirty="0">
                          <a:solidFill>
                            <a:schemeClr val="accent2"/>
                          </a:solidFill>
                        </a:rPr>
                        <a:t>de</a:t>
                      </a:r>
                      <a:r>
                        <a:rPr lang="en-US" sz="1400" dirty="0">
                          <a:solidFill>
                            <a:schemeClr val="tx1"/>
                          </a:solidFill>
                        </a:rPr>
                        <a:t> offerte</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le devis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vertegenwoordigen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rPr>
                        <a:t>représenter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19049">
                <a:tc>
                  <a:txBody>
                    <a:bodyPr/>
                    <a:lstStyle/>
                    <a:p>
                      <a:pPr algn="l" indent="0" marL="0">
                        <a:buNone/>
                      </a:pPr>
                      <a:r>
                        <a:rPr lang="en-US" sz="1400" b="1" dirty="0">
                          <a:solidFill>
                            <a:schemeClr val="accent2"/>
                          </a:solidFill>
                        </a:rPr>
                        <a:t>de</a:t>
                      </a:r>
                      <a:r>
                        <a:rPr lang="en-US" sz="1400" dirty="0">
                          <a:solidFill>
                            <a:schemeClr val="tx1"/>
                          </a:solidFill>
                        </a:rPr>
                        <a:t> beslissing</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la décision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b="1" dirty="0">
                          <a:solidFill>
                            <a:schemeClr val="accent2"/>
                          </a:solidFill>
                        </a:rPr>
                        <a:t>de</a:t>
                      </a:r>
                      <a:r>
                        <a:rPr lang="en-US" sz="1400" dirty="0">
                          <a:solidFill>
                            <a:schemeClr val="tx1"/>
                          </a:solidFill>
                        </a:rPr>
                        <a:t> kosten (pl.)</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les frais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verdelen · uitstellen</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répartir · reporter</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Quatre notions, quatre pièges</a:t>
            </a:r>
            <a:endParaRPr lang="en-US" sz="3200" dirty="0"/>
          </a:p>
        </p:txBody>
      </p:sp>
      <p:sp>
        <p:nvSpPr>
          <p:cNvPr id="3" name="tag"/>
          <p:cNvSpPr/>
          <p:nvPr/>
        </p:nvSpPr>
        <p:spPr>
          <a:xfrm>
            <a:off x="548640" y="237744"/>
            <a:ext cx="139446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chemeClr val="bg1"/>
                </a:solidFill>
              </a:rPr>
              <a:t>FAUX-AMIS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7205472" cy="4106112"/>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8074152" y="1481328"/>
            <a:ext cx="3566160" cy="4809744"/>
          </a:xfrm>
          <a:prstGeom prst="roundRect">
            <a:avLst>
              <a:gd name="adj" fmla="val 2051"/>
            </a:avLst>
          </a:prstGeom>
          <a:solidFill>
            <a:schemeClr val="accent3">
              <a:alpha val="10000"/>
            </a:schemeClr>
          </a:solidFill>
          <a:ln w="12700">
            <a:solidFill>
              <a:schemeClr val="accent3">
                <a:alpha val="60000"/>
              </a:schemeClr>
            </a:solidFill>
            <a:prstDash val="solid"/>
          </a:ln>
        </p:spPr>
      </p:sp>
      <p:pic>
        <p:nvPicPr>
          <p:cNvPr id="8" name="Image 1" descr="preencoded.png">    </p:cNvPr>
          <p:cNvPicPr>
            <a:picLocks noChangeAspect="1"/>
          </p:cNvPicPr>
          <p:nvPr/>
        </p:nvPicPr>
        <p:blipFill>
          <a:blip r:embed="rId2"/>
          <a:stretch>
            <a:fillRect/>
          </a:stretch>
        </p:blipFill>
        <p:spPr>
          <a:xfrm>
            <a:off x="8257032" y="1664208"/>
            <a:ext cx="292608" cy="292608"/>
          </a:xfrm>
          <a:prstGeom prst="rect">
            <a:avLst/>
          </a:prstGeom>
        </p:spPr>
      </p:pic>
      <p:sp>
        <p:nvSpPr>
          <p:cNvPr id="9" name="Text 4"/>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À RETENIR</a:t>
            </a:r>
            <a:endParaRPr lang="en-US" sz="1400" dirty="0"/>
          </a:p>
        </p:txBody>
      </p:sp>
      <p:sp>
        <p:nvSpPr>
          <p:cNvPr id="10" name="Text 5"/>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de syndicus</a:t>
            </a:r>
            <a:r>
              <a:rPr lang="en-US" sz="1800" dirty="0">
                <a:solidFill>
                  <a:schemeClr val="tx1"/>
                </a:solidFill>
              </a:rPr>
              <a:t> ≠ le syndicat (= </a:t>
            </a:r>
            <a:r>
              <a:rPr lang="en-US" sz="1800" i="1" dirty="0">
                <a:solidFill>
                  <a:schemeClr val="tx1"/>
                </a:solidFill>
              </a:rPr>
              <a:t>de vakbond</a:t>
            </a:r>
            <a:r>
              <a:rPr lang="en-US" sz="1800" dirty="0">
                <a:solidFill>
                  <a:schemeClr val="tx1"/>
                </a:solidFill>
              </a:rPr>
              <a:t>) : c’est le </a:t>
            </a:r>
            <a:r>
              <a:rPr lang="en-US" sz="1800" b="1" dirty="0">
                <a:solidFill>
                  <a:schemeClr val="tx1"/>
                </a:solidFill>
              </a:rPr>
              <a:t>syndic</a:t>
            </a:r>
            <a:r>
              <a:rPr lang="en-US" sz="1800" dirty="0">
                <a:solidFill>
                  <a:schemeClr val="tx1"/>
                </a:solidFill>
              </a:rPr>
              <a:t> de l’immeuble.</a:t>
            </a:r>
            <a:endParaRPr lang="en-US" sz="1800" dirty="0"/>
          </a:p>
          <a:p>
            <a:pPr marL="177800" indent="-177800">
              <a:spcAft>
                <a:spcPts val="600"/>
              </a:spcAft>
              <a:buSzPct val="100000"/>
              <a:buChar char="•"/>
            </a:pPr>
            <a:r>
              <a:rPr lang="en-US" sz="1800" b="1" dirty="0">
                <a:solidFill>
                  <a:schemeClr val="tx1"/>
                </a:solidFill>
              </a:rPr>
              <a:t>de gemene delen</a:t>
            </a:r>
            <a:r>
              <a:rPr lang="en-US" sz="1800" dirty="0">
                <a:solidFill>
                  <a:schemeClr val="tx1"/>
                </a:solidFill>
              </a:rPr>
              <a:t> : </a:t>
            </a:r>
            <a:r>
              <a:rPr lang="en-US" sz="1800" i="1" dirty="0">
                <a:solidFill>
                  <a:schemeClr val="tx1"/>
                </a:solidFill>
              </a:rPr>
              <a:t>gemeen</a:t>
            </a:r>
            <a:r>
              <a:rPr lang="en-US" sz="1800" dirty="0">
                <a:solidFill>
                  <a:schemeClr val="tx1"/>
                </a:solidFill>
              </a:rPr>
              <a:t> = « commun » ici ; ≠ « méchant » (</a:t>
            </a:r>
            <a:r>
              <a:rPr lang="en-US" sz="1800" i="1" dirty="0">
                <a:solidFill>
                  <a:schemeClr val="tx1"/>
                </a:solidFill>
              </a:rPr>
              <a:t>Hij is gemeen</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de volmacht</a:t>
            </a:r>
            <a:r>
              <a:rPr lang="en-US" sz="1800" dirty="0">
                <a:solidFill>
                  <a:schemeClr val="tx1"/>
                </a:solidFill>
              </a:rPr>
              <a:t> = </a:t>
            </a:r>
            <a:r>
              <a:rPr lang="en-US" sz="1800" b="1" dirty="0">
                <a:solidFill>
                  <a:schemeClr val="tx1"/>
                </a:solidFill>
              </a:rPr>
              <a:t>vol</a:t>
            </a:r>
            <a:r>
              <a:rPr lang="en-US" sz="1800" dirty="0">
                <a:solidFill>
                  <a:schemeClr val="tx1"/>
                </a:solidFill>
              </a:rPr>
              <a:t> (plein) + </a:t>
            </a:r>
            <a:r>
              <a:rPr lang="en-US" sz="1800" b="1" dirty="0">
                <a:solidFill>
                  <a:schemeClr val="tx1"/>
                </a:solidFill>
              </a:rPr>
              <a:t>macht</a:t>
            </a:r>
            <a:r>
              <a:rPr lang="en-US" sz="1800" dirty="0">
                <a:solidFill>
                  <a:schemeClr val="tx1"/>
                </a:solidFill>
              </a:rPr>
              <a:t> (pouvoir) = la procuration.</a:t>
            </a:r>
            <a:endParaRPr lang="en-US" sz="1800" dirty="0"/>
          </a:p>
          <a:p>
            <a:pPr marL="177800" indent="-177800">
              <a:spcAft>
                <a:spcPts val="600"/>
              </a:spcAft>
              <a:buSzPct val="100000"/>
              <a:buChar char="•"/>
            </a:pPr>
            <a:r>
              <a:rPr lang="en-US" sz="1800" b="1" dirty="0">
                <a:solidFill>
                  <a:schemeClr val="tx1"/>
                </a:solidFill>
              </a:rPr>
              <a:t>de agenda</a:t>
            </a:r>
            <a:r>
              <a:rPr lang="en-US" sz="1800" dirty="0">
                <a:solidFill>
                  <a:schemeClr val="tx1"/>
                </a:solidFill>
              </a:rPr>
              <a:t> = l’ordre du jour de la réunion (</a:t>
            </a:r>
            <a:r>
              <a:rPr lang="en-US" sz="1800" i="1" dirty="0">
                <a:solidFill>
                  <a:schemeClr val="tx1"/>
                </a:solidFill>
              </a:rPr>
              <a:t>een agendapunt</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2 Luisteren : de voicemail van de syndicus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5</a:t>
            </a:r>
            <a:endParaRPr lang="en-US" sz="1200" dirty="0"/>
          </a:p>
        </p:txBody>
      </p:sp>
      <p:sp>
        <p:nvSpPr>
          <p:cNvPr id="6" name="Text 3"/>
          <p:cNvSpPr txBox="1"/>
          <p:nvPr/>
        </p:nvSpPr>
        <p:spPr>
          <a:xfrm>
            <a:off x="548640" y="1481328"/>
            <a:ext cx="11091672" cy="588264"/>
          </a:xfrm>
          <a:prstGeom prst="rect">
            <a:avLst/>
          </a:prstGeom>
          <a:noFill/>
          <a:ln/>
        </p:spPr>
        <p:txBody>
          <a:bodyPr wrap="square" lIns="0" tIns="0" rIns="0" bIns="0" rtlCol="0" anchor="t"/>
          <a:lstStyle/>
          <a:p>
            <a:pPr indent="0" marL="0">
              <a:buNone/>
            </a:pPr>
            <a:r>
              <a:rPr lang="en-US" sz="1600" i="1" dirty="0">
                <a:solidFill>
                  <a:schemeClr val="accent5"/>
                </a:solidFill>
              </a:rPr>
              <a:t>Seul · 8 min. Vous entendez </a:t>
            </a:r>
            <a:r>
              <a:rPr lang="en-US" sz="1600" b="1" i="1" dirty="0">
                <a:solidFill>
                  <a:schemeClr val="accent5"/>
                </a:solidFill>
              </a:rPr>
              <a:t>deux fois</a:t>
            </a:r>
            <a:r>
              <a:rPr lang="en-US" sz="1600" i="1" dirty="0">
                <a:solidFill>
                  <a:schemeClr val="accent5"/>
                </a:solidFill>
              </a:rPr>
              <a:t> le message du syndic, meneer Vermeulen (transcription n° 1, lue par le professeur). Mots-clés uniquement. Solution : selon le texte lu.</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61032"/>
          <a:ext cx="11091672" cy="914400"/>
        </p:xfrm>
        <a:graphic>
          <a:graphicData uri="http://schemas.openxmlformats.org/drawingml/2006/table">
            <a:tbl>
              <a:tblPr/>
              <a:tblGrid>
                <a:gridCol w="5486400"/>
                <a:gridCol w="5605272"/>
              </a:tblGrid>
              <a:tr h="596189">
                <a:tc>
                  <a:txBody>
                    <a:bodyPr/>
                    <a:lstStyle/>
                    <a:p>
                      <a:pPr algn="l" indent="0" marL="0">
                        <a:buNone/>
                      </a:pPr>
                      <a:r>
                        <a:rPr lang="en-US" sz="1600" b="1" dirty="0">
                          <a:solidFill>
                            <a:schemeClr val="bg1"/>
                          </a:solidFill>
                        </a:rPr>
                        <a:t>VERGADERFICHE — RÉSIDENCE ZONNEBERG</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UW NOTITIES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72084">
                <a:tc>
                  <a:txBody>
                    <a:bodyPr/>
                    <a:lstStyle/>
                    <a:p>
                      <a:pPr algn="l" indent="0" marL="0">
                        <a:buNone/>
                      </a:pPr>
                      <a:r>
                        <a:rPr lang="en-US" sz="1800" dirty="0">
                          <a:solidFill>
                            <a:schemeClr val="tx1"/>
                          </a:solidFill>
                        </a:rPr>
                        <a:t>Datum, uur en plaats van de vergadering</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72084">
                <a:tc>
                  <a:txBody>
                    <a:bodyPr/>
                    <a:lstStyle/>
                    <a:p>
                      <a:pPr algn="l" indent="0" marL="0">
                        <a:buNone/>
                      </a:pPr>
                      <a:r>
                        <a:rPr lang="en-US" sz="1800" dirty="0">
                          <a:solidFill>
                            <a:schemeClr val="tx1"/>
                          </a:solidFill>
                        </a:rPr>
                        <a:t>Belangrijkste agendapunt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72084">
                <a:tc>
                  <a:txBody>
                    <a:bodyPr/>
                    <a:lstStyle/>
                    <a:p>
                      <a:pPr algn="l" indent="0" marL="0">
                        <a:buNone/>
                      </a:pPr>
                      <a:r>
                        <a:rPr lang="en-US" sz="1800" dirty="0">
                          <a:solidFill>
                            <a:schemeClr val="tx1"/>
                          </a:solidFill>
                        </a:rPr>
                        <a:t>Bedrag van de offerte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72084">
                <a:tc>
                  <a:txBody>
                    <a:bodyPr/>
                    <a:lstStyle/>
                    <a:p>
                      <a:pPr algn="l" indent="0" marL="0">
                        <a:buNone/>
                      </a:pPr>
                      <a:r>
                        <a:rPr lang="en-US" sz="1800" dirty="0">
                          <a:solidFill>
                            <a:schemeClr val="tx1"/>
                          </a:solidFill>
                        </a:rPr>
                        <a:t>Wat moet het kantoor vóór vrijdag doen?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72084">
                <a:tc>
                  <a:txBody>
                    <a:bodyPr/>
                    <a:lstStyle/>
                    <a:p>
                      <a:pPr algn="l" indent="0" marL="0">
                        <a:buNone/>
                      </a:pPr>
                      <a:r>
                        <a:rPr lang="en-US" sz="1800" dirty="0">
                          <a:solidFill>
                            <a:schemeClr val="tx1"/>
                          </a:solidFill>
                        </a:rPr>
                        <a:t>Welke meerderheid is nodig voor de stemming?</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accent5"/>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Vulgariser : relatives, passif et zou</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Pour expliquer simplement, trois outils déjà connus : la </a:t>
            </a:r>
            <a:r>
              <a:rPr lang="en-US" sz="1800" b="1" dirty="0">
                <a:solidFill>
                  <a:schemeClr val="tx1"/>
                </a:solidFill>
              </a:rPr>
              <a:t>relative</a:t>
            </a:r>
            <a:r>
              <a:rPr lang="en-US" sz="1800" dirty="0">
                <a:solidFill>
                  <a:schemeClr val="tx1"/>
                </a:solidFill>
              </a:rPr>
              <a:t>, le </a:t>
            </a:r>
            <a:r>
              <a:rPr lang="en-US" sz="1800" b="1" dirty="0">
                <a:solidFill>
                  <a:schemeClr val="tx1"/>
                </a:solidFill>
              </a:rPr>
              <a:t>passif</a:t>
            </a:r>
            <a:r>
              <a:rPr lang="en-US" sz="1800" dirty="0">
                <a:solidFill>
                  <a:schemeClr val="tx1"/>
                </a:solidFill>
              </a:rPr>
              <a:t> et </a:t>
            </a:r>
            <a:r>
              <a:rPr lang="en-US" sz="1800" b="1" dirty="0">
                <a:solidFill>
                  <a:schemeClr val="tx1"/>
                </a:solidFill>
              </a:rPr>
              <a:t>zou</a:t>
            </a:r>
            <a:r>
              <a:rPr lang="en-US" sz="1800" dirty="0">
                <a:solidFill>
                  <a:schemeClr val="tx1"/>
                </a:solidFill>
              </a:rPr>
              <a:t>. Dans chaque cas, le </a:t>
            </a:r>
            <a:r>
              <a:rPr lang="en-US" sz="1800" b="1" dirty="0">
                <a:solidFill>
                  <a:schemeClr val="tx1"/>
                </a:solidFill>
              </a:rPr>
              <a:t>verbe</a:t>
            </a:r>
            <a:r>
              <a:rPr lang="en-US" sz="1800" dirty="0">
                <a:solidFill>
                  <a:schemeClr val="tx1"/>
                </a:solidFill>
              </a:rPr>
              <a:t> s’en va </a:t>
            </a:r>
            <a:r>
              <a:rPr lang="en-US" sz="1800" b="1" dirty="0">
                <a:solidFill>
                  <a:schemeClr val="tx1"/>
                </a:solidFill>
              </a:rPr>
              <a:t>à la fin</a:t>
            </a:r>
            <a:r>
              <a:rPr lang="en-US" sz="1800" dirty="0">
                <a:solidFill>
                  <a:schemeClr val="tx1"/>
                </a:solidFill>
              </a:rPr>
              <a:t>.</a:t>
            </a:r>
            <a:endParaRPr lang="en-US" sz="1800" dirty="0"/>
          </a:p>
        </p:txBody>
      </p:sp>
      <p:sp>
        <p:nvSpPr>
          <p:cNvPr id="7" name="Text 4"/>
          <p:cNvSpPr txBox="1"/>
          <p:nvPr/>
        </p:nvSpPr>
        <p:spPr>
          <a:xfrm>
            <a:off x="548640" y="245973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Relative (die)</a:t>
            </a:r>
            <a:endParaRPr lang="en-US" sz="1400" dirty="0"/>
          </a:p>
        </p:txBody>
      </p:sp>
      <p:sp>
        <p:nvSpPr>
          <p:cNvPr id="8" name="Text 5"/>
          <p:cNvSpPr txBox="1"/>
          <p:nvPr/>
        </p:nvSpPr>
        <p:spPr>
          <a:xfrm>
            <a:off x="2103120" y="2221992"/>
            <a:ext cx="1491488"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9" name="Shape 6"/>
          <p:cNvSpPr/>
          <p:nvPr/>
        </p:nvSpPr>
        <p:spPr>
          <a:xfrm>
            <a:off x="2103120" y="2459736"/>
            <a:ext cx="1491488" cy="329184"/>
          </a:xfrm>
          <a:prstGeom prst="roundRect">
            <a:avLst>
              <a:gd name="adj" fmla="val 16667"/>
            </a:avLst>
          </a:prstGeom>
          <a:solidFill>
            <a:schemeClr val="tx2">
              <a:alpha val="88000"/>
            </a:schemeClr>
          </a:solidFill>
          <a:ln w="12700">
            <a:solidFill>
              <a:srgbClr val="17375E"/>
            </a:solidFill>
            <a:prstDash val="solid"/>
          </a:ln>
        </p:spPr>
      </p:sp>
      <p:sp>
        <p:nvSpPr>
          <p:cNvPr id="10" name="Text 7"/>
          <p:cNvSpPr txBox="1"/>
          <p:nvPr/>
        </p:nvSpPr>
        <p:spPr>
          <a:xfrm>
            <a:off x="2139696" y="2459736"/>
            <a:ext cx="1418336" cy="329184"/>
          </a:xfrm>
          <a:prstGeom prst="rect">
            <a:avLst/>
          </a:prstGeom>
          <a:noFill/>
          <a:ln/>
        </p:spPr>
        <p:txBody>
          <a:bodyPr wrap="square" lIns="0" tIns="0" rIns="0" bIns="0" rtlCol="0" anchor="ctr"/>
          <a:lstStyle/>
          <a:p>
            <a:pPr algn="ctr" indent="0" marL="0">
              <a:buNone/>
            </a:pPr>
            <a:r>
              <a:rPr lang="en-US" sz="1600" b="1" dirty="0">
                <a:solidFill>
                  <a:schemeClr val="bg1"/>
                </a:solidFill>
              </a:rPr>
              <a:t>De syndicus</a:t>
            </a:r>
            <a:endParaRPr lang="en-US" sz="1600" dirty="0"/>
          </a:p>
        </p:txBody>
      </p:sp>
      <p:sp>
        <p:nvSpPr>
          <p:cNvPr id="11" name="Text 8"/>
          <p:cNvSpPr txBox="1"/>
          <p:nvPr/>
        </p:nvSpPr>
        <p:spPr>
          <a:xfrm>
            <a:off x="3704336" y="2221992"/>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3704336" y="2459736"/>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13" name="Text 10"/>
          <p:cNvSpPr txBox="1"/>
          <p:nvPr/>
        </p:nvSpPr>
        <p:spPr>
          <a:xfrm>
            <a:off x="3740912" y="245973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is</a:t>
            </a:r>
            <a:endParaRPr lang="en-US" sz="1600" dirty="0"/>
          </a:p>
        </p:txBody>
      </p:sp>
      <p:sp>
        <p:nvSpPr>
          <p:cNvPr id="14" name="Text 11"/>
          <p:cNvSpPr txBox="1"/>
          <p:nvPr/>
        </p:nvSpPr>
        <p:spPr>
          <a:xfrm>
            <a:off x="4499864" y="2221992"/>
            <a:ext cx="1385824"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15" name="Shape 12"/>
          <p:cNvSpPr/>
          <p:nvPr/>
        </p:nvSpPr>
        <p:spPr>
          <a:xfrm>
            <a:off x="4499864" y="2459736"/>
            <a:ext cx="1385824" cy="329184"/>
          </a:xfrm>
          <a:prstGeom prst="roundRect">
            <a:avLst>
              <a:gd name="adj" fmla="val 16667"/>
            </a:avLst>
          </a:prstGeom>
          <a:solidFill>
            <a:schemeClr val="accent5">
              <a:alpha val="25000"/>
            </a:schemeClr>
          </a:solidFill>
          <a:ln w="12700">
            <a:solidFill>
              <a:srgbClr val="4A5A70"/>
            </a:solidFill>
            <a:prstDash val="solid"/>
          </a:ln>
        </p:spPr>
      </p:sp>
      <p:sp>
        <p:nvSpPr>
          <p:cNvPr id="16" name="Text 13"/>
          <p:cNvSpPr txBox="1"/>
          <p:nvPr/>
        </p:nvSpPr>
        <p:spPr>
          <a:xfrm>
            <a:off x="4536440" y="2459736"/>
            <a:ext cx="1312672" cy="329184"/>
          </a:xfrm>
          <a:prstGeom prst="rect">
            <a:avLst/>
          </a:prstGeom>
          <a:noFill/>
          <a:ln/>
        </p:spPr>
        <p:txBody>
          <a:bodyPr wrap="square" lIns="0" tIns="0" rIns="0" bIns="0" rtlCol="0" anchor="ctr"/>
          <a:lstStyle/>
          <a:p>
            <a:pPr algn="ctr" indent="0" marL="0">
              <a:buNone/>
            </a:pPr>
            <a:r>
              <a:rPr lang="en-US" sz="1600" b="1" dirty="0">
                <a:solidFill>
                  <a:schemeClr val="tx1"/>
                </a:solidFill>
              </a:rPr>
              <a:t>de persoon</a:t>
            </a:r>
            <a:endParaRPr lang="en-US" sz="1600" dirty="0"/>
          </a:p>
        </p:txBody>
      </p:sp>
      <p:sp>
        <p:nvSpPr>
          <p:cNvPr id="17" name="Text 14"/>
          <p:cNvSpPr txBox="1"/>
          <p:nvPr/>
        </p:nvSpPr>
        <p:spPr>
          <a:xfrm>
            <a:off x="5995416" y="2221992"/>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pronom</a:t>
            </a:r>
            <a:endParaRPr lang="en-US" sz="1000" dirty="0"/>
          </a:p>
        </p:txBody>
      </p:sp>
      <p:sp>
        <p:nvSpPr>
          <p:cNvPr id="18" name="Shape 15"/>
          <p:cNvSpPr/>
          <p:nvPr/>
        </p:nvSpPr>
        <p:spPr>
          <a:xfrm>
            <a:off x="5995416" y="2459736"/>
            <a:ext cx="685800" cy="329184"/>
          </a:xfrm>
          <a:prstGeom prst="roundRect">
            <a:avLst>
              <a:gd name="adj" fmla="val 16667"/>
            </a:avLst>
          </a:prstGeom>
          <a:solidFill>
            <a:srgbClr val="6E4A9E">
              <a:alpha val="88000"/>
            </a:srgbClr>
          </a:solidFill>
          <a:ln w="12700">
            <a:solidFill>
              <a:srgbClr val="6E4A9E"/>
            </a:solidFill>
            <a:prstDash val="solid"/>
          </a:ln>
        </p:spPr>
      </p:sp>
      <p:sp>
        <p:nvSpPr>
          <p:cNvPr id="19" name="Text 16"/>
          <p:cNvSpPr txBox="1"/>
          <p:nvPr/>
        </p:nvSpPr>
        <p:spPr>
          <a:xfrm>
            <a:off x="6031992" y="245973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die</a:t>
            </a:r>
            <a:endParaRPr lang="en-US" sz="1600" dirty="0"/>
          </a:p>
        </p:txBody>
      </p:sp>
      <p:sp>
        <p:nvSpPr>
          <p:cNvPr id="20" name="Text 17"/>
          <p:cNvSpPr txBox="1"/>
          <p:nvPr/>
        </p:nvSpPr>
        <p:spPr>
          <a:xfrm>
            <a:off x="6790944" y="2221992"/>
            <a:ext cx="1385824"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21" name="Shape 18"/>
          <p:cNvSpPr/>
          <p:nvPr/>
        </p:nvSpPr>
        <p:spPr>
          <a:xfrm>
            <a:off x="6790944" y="2459736"/>
            <a:ext cx="1385824" cy="329184"/>
          </a:xfrm>
          <a:prstGeom prst="roundRect">
            <a:avLst>
              <a:gd name="adj" fmla="val 16667"/>
            </a:avLst>
          </a:prstGeom>
          <a:solidFill>
            <a:schemeClr val="accent5">
              <a:alpha val="25000"/>
            </a:schemeClr>
          </a:solidFill>
          <a:ln w="12700">
            <a:solidFill>
              <a:srgbClr val="4A5A70"/>
            </a:solidFill>
            <a:prstDash val="solid"/>
          </a:ln>
        </p:spPr>
      </p:sp>
      <p:sp>
        <p:nvSpPr>
          <p:cNvPr id="22" name="Text 19"/>
          <p:cNvSpPr txBox="1"/>
          <p:nvPr/>
        </p:nvSpPr>
        <p:spPr>
          <a:xfrm>
            <a:off x="6827520" y="2459736"/>
            <a:ext cx="1312672" cy="329184"/>
          </a:xfrm>
          <a:prstGeom prst="rect">
            <a:avLst/>
          </a:prstGeom>
          <a:noFill/>
          <a:ln/>
        </p:spPr>
        <p:txBody>
          <a:bodyPr wrap="square" lIns="0" tIns="0" rIns="0" bIns="0" rtlCol="0" anchor="ctr"/>
          <a:lstStyle/>
          <a:p>
            <a:pPr algn="ctr" indent="0" marL="0">
              <a:buNone/>
            </a:pPr>
            <a:r>
              <a:rPr lang="en-US" sz="1600" b="1" dirty="0">
                <a:solidFill>
                  <a:schemeClr val="tx1"/>
                </a:solidFill>
              </a:rPr>
              <a:t>het gebouw</a:t>
            </a:r>
            <a:endParaRPr lang="en-US" sz="1600" dirty="0"/>
          </a:p>
        </p:txBody>
      </p:sp>
      <p:sp>
        <p:nvSpPr>
          <p:cNvPr id="23" name="Text 20"/>
          <p:cNvSpPr txBox="1"/>
          <p:nvPr/>
        </p:nvSpPr>
        <p:spPr>
          <a:xfrm>
            <a:off x="8286496" y="2221992"/>
            <a:ext cx="1068832"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 à la fin</a:t>
            </a:r>
            <a:endParaRPr lang="en-US" sz="1000" dirty="0"/>
          </a:p>
        </p:txBody>
      </p:sp>
      <p:sp>
        <p:nvSpPr>
          <p:cNvPr id="24" name="Shape 21"/>
          <p:cNvSpPr/>
          <p:nvPr/>
        </p:nvSpPr>
        <p:spPr>
          <a:xfrm>
            <a:off x="8286496" y="2459736"/>
            <a:ext cx="1068832" cy="329184"/>
          </a:xfrm>
          <a:prstGeom prst="roundRect">
            <a:avLst>
              <a:gd name="adj" fmla="val 16667"/>
            </a:avLst>
          </a:prstGeom>
          <a:solidFill>
            <a:schemeClr val="accent6">
              <a:alpha val="88000"/>
            </a:schemeClr>
          </a:solidFill>
          <a:ln w="12700">
            <a:solidFill>
              <a:srgbClr val="B83227"/>
            </a:solidFill>
            <a:prstDash val="solid"/>
          </a:ln>
        </p:spPr>
      </p:sp>
      <p:sp>
        <p:nvSpPr>
          <p:cNvPr id="25" name="Text 22"/>
          <p:cNvSpPr txBox="1"/>
          <p:nvPr/>
        </p:nvSpPr>
        <p:spPr>
          <a:xfrm>
            <a:off x="8323072" y="2459736"/>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beheert</a:t>
            </a:r>
            <a:endParaRPr lang="en-US" sz="1600" dirty="0"/>
          </a:p>
        </p:txBody>
      </p:sp>
      <p:sp>
        <p:nvSpPr>
          <p:cNvPr id="26" name="Text 23"/>
          <p:cNvSpPr txBox="1"/>
          <p:nvPr/>
        </p:nvSpPr>
        <p:spPr>
          <a:xfrm>
            <a:off x="2103120" y="281635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 syndic est la personne qui gère l’immeuble.</a:t>
            </a:r>
            <a:endParaRPr lang="en-US" sz="1400" dirty="0"/>
          </a:p>
        </p:txBody>
      </p:sp>
      <p:sp>
        <p:nvSpPr>
          <p:cNvPr id="27" name="Text 24"/>
          <p:cNvSpPr txBox="1"/>
          <p:nvPr/>
        </p:nvSpPr>
        <p:spPr>
          <a:xfrm>
            <a:off x="548640" y="324535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Relative (waarop)</a:t>
            </a:r>
            <a:endParaRPr lang="en-US" sz="1400" dirty="0"/>
          </a:p>
        </p:txBody>
      </p:sp>
      <p:sp>
        <p:nvSpPr>
          <p:cNvPr id="28" name="Text 25"/>
          <p:cNvSpPr txBox="1"/>
          <p:nvPr/>
        </p:nvSpPr>
        <p:spPr>
          <a:xfrm>
            <a:off x="2103120" y="3007614"/>
            <a:ext cx="180848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9" name="Shape 26"/>
          <p:cNvSpPr/>
          <p:nvPr/>
        </p:nvSpPr>
        <p:spPr>
          <a:xfrm>
            <a:off x="2103120" y="3245358"/>
            <a:ext cx="1808480" cy="329184"/>
          </a:xfrm>
          <a:prstGeom prst="roundRect">
            <a:avLst>
              <a:gd name="adj" fmla="val 16667"/>
            </a:avLst>
          </a:prstGeom>
          <a:solidFill>
            <a:schemeClr val="tx2">
              <a:alpha val="88000"/>
            </a:schemeClr>
          </a:solidFill>
          <a:ln w="12700">
            <a:solidFill>
              <a:srgbClr val="17375E"/>
            </a:solidFill>
            <a:prstDash val="solid"/>
          </a:ln>
        </p:spPr>
      </p:sp>
      <p:sp>
        <p:nvSpPr>
          <p:cNvPr id="30" name="Text 27"/>
          <p:cNvSpPr txBox="1"/>
          <p:nvPr/>
        </p:nvSpPr>
        <p:spPr>
          <a:xfrm>
            <a:off x="2139696" y="3245358"/>
            <a:ext cx="1735328" cy="329184"/>
          </a:xfrm>
          <a:prstGeom prst="rect">
            <a:avLst/>
          </a:prstGeom>
          <a:noFill/>
          <a:ln/>
        </p:spPr>
        <p:txBody>
          <a:bodyPr wrap="square" lIns="0" tIns="0" rIns="0" bIns="0" rtlCol="0" anchor="ctr"/>
          <a:lstStyle/>
          <a:p>
            <a:pPr algn="ctr" indent="0" marL="0">
              <a:buNone/>
            </a:pPr>
            <a:r>
              <a:rPr lang="en-US" sz="1600" b="1" dirty="0">
                <a:solidFill>
                  <a:schemeClr val="bg1"/>
                </a:solidFill>
              </a:rPr>
              <a:t>De vergadering</a:t>
            </a:r>
            <a:endParaRPr lang="en-US" sz="1600" dirty="0"/>
          </a:p>
        </p:txBody>
      </p:sp>
      <p:sp>
        <p:nvSpPr>
          <p:cNvPr id="31" name="Text 28"/>
          <p:cNvSpPr txBox="1"/>
          <p:nvPr/>
        </p:nvSpPr>
        <p:spPr>
          <a:xfrm>
            <a:off x="4021328" y="3007614"/>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32" name="Shape 29"/>
          <p:cNvSpPr/>
          <p:nvPr/>
        </p:nvSpPr>
        <p:spPr>
          <a:xfrm>
            <a:off x="4021328" y="3245358"/>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33" name="Text 30"/>
          <p:cNvSpPr txBox="1"/>
          <p:nvPr/>
        </p:nvSpPr>
        <p:spPr>
          <a:xfrm>
            <a:off x="4057904" y="324535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is</a:t>
            </a:r>
            <a:endParaRPr lang="en-US" sz="1600" dirty="0"/>
          </a:p>
        </p:txBody>
      </p:sp>
      <p:sp>
        <p:nvSpPr>
          <p:cNvPr id="34" name="Text 31"/>
          <p:cNvSpPr txBox="1"/>
          <p:nvPr/>
        </p:nvSpPr>
        <p:spPr>
          <a:xfrm>
            <a:off x="4816856" y="3007614"/>
            <a:ext cx="180848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35" name="Shape 32"/>
          <p:cNvSpPr/>
          <p:nvPr/>
        </p:nvSpPr>
        <p:spPr>
          <a:xfrm>
            <a:off x="4816856" y="3245358"/>
            <a:ext cx="1808480" cy="329184"/>
          </a:xfrm>
          <a:prstGeom prst="roundRect">
            <a:avLst>
              <a:gd name="adj" fmla="val 16667"/>
            </a:avLst>
          </a:prstGeom>
          <a:solidFill>
            <a:schemeClr val="accent5">
              <a:alpha val="25000"/>
            </a:schemeClr>
          </a:solidFill>
          <a:ln w="12700">
            <a:solidFill>
              <a:srgbClr val="4A5A70"/>
            </a:solidFill>
            <a:prstDash val="solid"/>
          </a:ln>
        </p:spPr>
      </p:sp>
      <p:sp>
        <p:nvSpPr>
          <p:cNvPr id="36" name="Text 33"/>
          <p:cNvSpPr txBox="1"/>
          <p:nvPr/>
        </p:nvSpPr>
        <p:spPr>
          <a:xfrm>
            <a:off x="4853432" y="3245358"/>
            <a:ext cx="1735328" cy="329184"/>
          </a:xfrm>
          <a:prstGeom prst="rect">
            <a:avLst/>
          </a:prstGeom>
          <a:noFill/>
          <a:ln/>
        </p:spPr>
        <p:txBody>
          <a:bodyPr wrap="square" lIns="0" tIns="0" rIns="0" bIns="0" rtlCol="0" anchor="ctr"/>
          <a:lstStyle/>
          <a:p>
            <a:pPr algn="ctr" indent="0" marL="0">
              <a:buNone/>
            </a:pPr>
            <a:r>
              <a:rPr lang="en-US" sz="1600" b="1" dirty="0">
                <a:solidFill>
                  <a:schemeClr val="tx1"/>
                </a:solidFill>
              </a:rPr>
              <a:t>de bijeenkomst</a:t>
            </a:r>
            <a:endParaRPr lang="en-US" sz="1600" dirty="0"/>
          </a:p>
        </p:txBody>
      </p:sp>
      <p:sp>
        <p:nvSpPr>
          <p:cNvPr id="37" name="Text 34"/>
          <p:cNvSpPr txBox="1"/>
          <p:nvPr/>
        </p:nvSpPr>
        <p:spPr>
          <a:xfrm>
            <a:off x="6735064" y="3007614"/>
            <a:ext cx="963168" cy="219456"/>
          </a:xfrm>
          <a:prstGeom prst="rect">
            <a:avLst/>
          </a:prstGeom>
          <a:noFill/>
          <a:ln/>
        </p:spPr>
        <p:txBody>
          <a:bodyPr wrap="square" lIns="0" tIns="0" rIns="0" bIns="0" rtlCol="0" anchor="b"/>
          <a:lstStyle/>
          <a:p>
            <a:pPr algn="ctr" indent="0" marL="0">
              <a:buNone/>
            </a:pPr>
            <a:r>
              <a:rPr lang="en-US" sz="1000" b="1" dirty="0">
                <a:solidFill>
                  <a:srgbClr val="6E4A9E"/>
                </a:solidFill>
              </a:rPr>
              <a:t>waar + op</a:t>
            </a:r>
            <a:endParaRPr lang="en-US" sz="1000" dirty="0"/>
          </a:p>
        </p:txBody>
      </p:sp>
      <p:sp>
        <p:nvSpPr>
          <p:cNvPr id="38" name="Shape 35"/>
          <p:cNvSpPr/>
          <p:nvPr/>
        </p:nvSpPr>
        <p:spPr>
          <a:xfrm>
            <a:off x="6735064" y="3245358"/>
            <a:ext cx="963168" cy="329184"/>
          </a:xfrm>
          <a:prstGeom prst="roundRect">
            <a:avLst>
              <a:gd name="adj" fmla="val 16667"/>
            </a:avLst>
          </a:prstGeom>
          <a:solidFill>
            <a:srgbClr val="6E4A9E">
              <a:alpha val="88000"/>
            </a:srgbClr>
          </a:solidFill>
          <a:ln w="12700">
            <a:solidFill>
              <a:srgbClr val="6E4A9E"/>
            </a:solidFill>
            <a:prstDash val="solid"/>
          </a:ln>
        </p:spPr>
      </p:sp>
      <p:sp>
        <p:nvSpPr>
          <p:cNvPr id="39" name="Text 36"/>
          <p:cNvSpPr txBox="1"/>
          <p:nvPr/>
        </p:nvSpPr>
        <p:spPr>
          <a:xfrm>
            <a:off x="6771640" y="3245358"/>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waarop</a:t>
            </a:r>
            <a:endParaRPr lang="en-US" sz="1600" dirty="0"/>
          </a:p>
        </p:txBody>
      </p:sp>
      <p:sp>
        <p:nvSpPr>
          <p:cNvPr id="40" name="Text 37"/>
          <p:cNvSpPr txBox="1"/>
          <p:nvPr/>
        </p:nvSpPr>
        <p:spPr>
          <a:xfrm>
            <a:off x="7807960" y="3007614"/>
            <a:ext cx="180848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1" name="Shape 38"/>
          <p:cNvSpPr/>
          <p:nvPr/>
        </p:nvSpPr>
        <p:spPr>
          <a:xfrm>
            <a:off x="7807960" y="3245358"/>
            <a:ext cx="1808480" cy="329184"/>
          </a:xfrm>
          <a:prstGeom prst="roundRect">
            <a:avLst>
              <a:gd name="adj" fmla="val 16667"/>
            </a:avLst>
          </a:prstGeom>
          <a:solidFill>
            <a:schemeClr val="tx2">
              <a:alpha val="88000"/>
            </a:schemeClr>
          </a:solidFill>
          <a:ln w="12700">
            <a:solidFill>
              <a:srgbClr val="17375E"/>
            </a:solidFill>
            <a:prstDash val="solid"/>
          </a:ln>
        </p:spPr>
      </p:sp>
      <p:sp>
        <p:nvSpPr>
          <p:cNvPr id="42" name="Text 39"/>
          <p:cNvSpPr txBox="1"/>
          <p:nvPr/>
        </p:nvSpPr>
        <p:spPr>
          <a:xfrm>
            <a:off x="7844536" y="3245358"/>
            <a:ext cx="1735328" cy="329184"/>
          </a:xfrm>
          <a:prstGeom prst="rect">
            <a:avLst/>
          </a:prstGeom>
          <a:noFill/>
          <a:ln/>
        </p:spPr>
        <p:txBody>
          <a:bodyPr wrap="square" lIns="0" tIns="0" rIns="0" bIns="0" rtlCol="0" anchor="ctr"/>
          <a:lstStyle/>
          <a:p>
            <a:pPr algn="ctr" indent="0" marL="0">
              <a:buNone/>
            </a:pPr>
            <a:r>
              <a:rPr lang="en-US" sz="1600" b="1" dirty="0">
                <a:solidFill>
                  <a:schemeClr val="bg1"/>
                </a:solidFill>
              </a:rPr>
              <a:t>alle eigenaars</a:t>
            </a:r>
            <a:endParaRPr lang="en-US" sz="1600" dirty="0"/>
          </a:p>
        </p:txBody>
      </p:sp>
      <p:sp>
        <p:nvSpPr>
          <p:cNvPr id="43" name="Text 40"/>
          <p:cNvSpPr txBox="1"/>
          <p:nvPr/>
        </p:nvSpPr>
        <p:spPr>
          <a:xfrm>
            <a:off x="9726168" y="3007614"/>
            <a:ext cx="128016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 à la fin</a:t>
            </a:r>
            <a:endParaRPr lang="en-US" sz="1000" dirty="0"/>
          </a:p>
        </p:txBody>
      </p:sp>
      <p:sp>
        <p:nvSpPr>
          <p:cNvPr id="44" name="Shape 41"/>
          <p:cNvSpPr/>
          <p:nvPr/>
        </p:nvSpPr>
        <p:spPr>
          <a:xfrm>
            <a:off x="9726168" y="3245358"/>
            <a:ext cx="1280160" cy="329184"/>
          </a:xfrm>
          <a:prstGeom prst="roundRect">
            <a:avLst>
              <a:gd name="adj" fmla="val 16667"/>
            </a:avLst>
          </a:prstGeom>
          <a:solidFill>
            <a:schemeClr val="accent6">
              <a:alpha val="88000"/>
            </a:schemeClr>
          </a:solidFill>
          <a:ln w="12700">
            <a:solidFill>
              <a:srgbClr val="B83227"/>
            </a:solidFill>
            <a:prstDash val="solid"/>
          </a:ln>
        </p:spPr>
      </p:sp>
      <p:sp>
        <p:nvSpPr>
          <p:cNvPr id="45" name="Text 42"/>
          <p:cNvSpPr txBox="1"/>
          <p:nvPr/>
        </p:nvSpPr>
        <p:spPr>
          <a:xfrm>
            <a:off x="9762744" y="3245358"/>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beslissen</a:t>
            </a:r>
            <a:endParaRPr lang="en-US" sz="1600" dirty="0"/>
          </a:p>
        </p:txBody>
      </p:sp>
      <p:sp>
        <p:nvSpPr>
          <p:cNvPr id="46" name="Text 43"/>
          <p:cNvSpPr txBox="1"/>
          <p:nvPr/>
        </p:nvSpPr>
        <p:spPr>
          <a:xfrm>
            <a:off x="2103120" y="360197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L’assemblée est la réunion où tous les propriétaires décident.</a:t>
            </a:r>
            <a:endParaRPr lang="en-US" sz="1400" dirty="0"/>
          </a:p>
        </p:txBody>
      </p:sp>
      <p:sp>
        <p:nvSpPr>
          <p:cNvPr id="47" name="Text 44"/>
          <p:cNvSpPr txBox="1"/>
          <p:nvPr/>
        </p:nvSpPr>
        <p:spPr>
          <a:xfrm>
            <a:off x="548640" y="4030980"/>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Passif</a:t>
            </a:r>
            <a:endParaRPr lang="en-US" sz="1400" dirty="0"/>
          </a:p>
        </p:txBody>
      </p:sp>
      <p:sp>
        <p:nvSpPr>
          <p:cNvPr id="48" name="Text 45"/>
          <p:cNvSpPr txBox="1"/>
          <p:nvPr/>
        </p:nvSpPr>
        <p:spPr>
          <a:xfrm>
            <a:off x="2103120" y="3793236"/>
            <a:ext cx="128016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9" name="Shape 46"/>
          <p:cNvSpPr/>
          <p:nvPr/>
        </p:nvSpPr>
        <p:spPr>
          <a:xfrm>
            <a:off x="2103120" y="4030980"/>
            <a:ext cx="1280160" cy="329184"/>
          </a:xfrm>
          <a:prstGeom prst="roundRect">
            <a:avLst>
              <a:gd name="adj" fmla="val 16667"/>
            </a:avLst>
          </a:prstGeom>
          <a:solidFill>
            <a:schemeClr val="tx2">
              <a:alpha val="88000"/>
            </a:schemeClr>
          </a:solidFill>
          <a:ln w="12700">
            <a:solidFill>
              <a:srgbClr val="17375E"/>
            </a:solidFill>
            <a:prstDash val="solid"/>
          </a:ln>
        </p:spPr>
      </p:sp>
      <p:sp>
        <p:nvSpPr>
          <p:cNvPr id="50" name="Text 47"/>
          <p:cNvSpPr txBox="1"/>
          <p:nvPr/>
        </p:nvSpPr>
        <p:spPr>
          <a:xfrm>
            <a:off x="2139696" y="4030980"/>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De kosten</a:t>
            </a:r>
            <a:endParaRPr lang="en-US" sz="1600" dirty="0"/>
          </a:p>
        </p:txBody>
      </p:sp>
      <p:sp>
        <p:nvSpPr>
          <p:cNvPr id="51" name="Text 48"/>
          <p:cNvSpPr txBox="1"/>
          <p:nvPr/>
        </p:nvSpPr>
        <p:spPr>
          <a:xfrm>
            <a:off x="3493008" y="3793236"/>
            <a:ext cx="963168"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52" name="Shape 49"/>
          <p:cNvSpPr/>
          <p:nvPr/>
        </p:nvSpPr>
        <p:spPr>
          <a:xfrm>
            <a:off x="3493008" y="4030980"/>
            <a:ext cx="963168" cy="329184"/>
          </a:xfrm>
          <a:prstGeom prst="roundRect">
            <a:avLst>
              <a:gd name="adj" fmla="val 16667"/>
            </a:avLst>
          </a:prstGeom>
          <a:solidFill>
            <a:schemeClr val="accent6">
              <a:alpha val="88000"/>
            </a:schemeClr>
          </a:solidFill>
          <a:ln w="12700">
            <a:solidFill>
              <a:srgbClr val="B83227"/>
            </a:solidFill>
            <a:prstDash val="solid"/>
          </a:ln>
        </p:spPr>
      </p:sp>
      <p:sp>
        <p:nvSpPr>
          <p:cNvPr id="53" name="Text 50"/>
          <p:cNvSpPr txBox="1"/>
          <p:nvPr/>
        </p:nvSpPr>
        <p:spPr>
          <a:xfrm>
            <a:off x="3529584" y="4030980"/>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worden</a:t>
            </a:r>
            <a:endParaRPr lang="en-US" sz="1600" dirty="0"/>
          </a:p>
        </p:txBody>
      </p:sp>
      <p:sp>
        <p:nvSpPr>
          <p:cNvPr id="54" name="Text 51"/>
          <p:cNvSpPr txBox="1"/>
          <p:nvPr/>
        </p:nvSpPr>
        <p:spPr>
          <a:xfrm>
            <a:off x="4565904" y="3793236"/>
            <a:ext cx="2653792"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55" name="Shape 52"/>
          <p:cNvSpPr/>
          <p:nvPr/>
        </p:nvSpPr>
        <p:spPr>
          <a:xfrm>
            <a:off x="4565904" y="4030980"/>
            <a:ext cx="2653792" cy="329184"/>
          </a:xfrm>
          <a:prstGeom prst="roundRect">
            <a:avLst>
              <a:gd name="adj" fmla="val 16667"/>
            </a:avLst>
          </a:prstGeom>
          <a:solidFill>
            <a:schemeClr val="accent3">
              <a:alpha val="88000"/>
            </a:schemeClr>
          </a:solidFill>
          <a:ln w="12700">
            <a:solidFill>
              <a:srgbClr val="2E7D4F"/>
            </a:solidFill>
            <a:prstDash val="solid"/>
          </a:ln>
        </p:spPr>
      </p:sp>
      <p:sp>
        <p:nvSpPr>
          <p:cNvPr id="56" name="Text 53"/>
          <p:cNvSpPr txBox="1"/>
          <p:nvPr/>
        </p:nvSpPr>
        <p:spPr>
          <a:xfrm>
            <a:off x="4602480" y="4030980"/>
            <a:ext cx="2580640" cy="329184"/>
          </a:xfrm>
          <a:prstGeom prst="rect">
            <a:avLst/>
          </a:prstGeom>
          <a:noFill/>
          <a:ln/>
        </p:spPr>
        <p:txBody>
          <a:bodyPr wrap="square" lIns="0" tIns="0" rIns="0" bIns="0" rtlCol="0" anchor="ctr"/>
          <a:lstStyle/>
          <a:p>
            <a:pPr algn="ctr" indent="0" marL="0">
              <a:buNone/>
            </a:pPr>
            <a:r>
              <a:rPr lang="en-US" sz="1600" b="1" dirty="0">
                <a:solidFill>
                  <a:schemeClr val="bg1"/>
                </a:solidFill>
              </a:rPr>
              <a:t>volgens de quotiteiten</a:t>
            </a:r>
            <a:endParaRPr lang="en-US" sz="1600" dirty="0"/>
          </a:p>
        </p:txBody>
      </p:sp>
      <p:sp>
        <p:nvSpPr>
          <p:cNvPr id="57" name="Text 54"/>
          <p:cNvSpPr txBox="1"/>
          <p:nvPr/>
        </p:nvSpPr>
        <p:spPr>
          <a:xfrm>
            <a:off x="7329424" y="3793236"/>
            <a:ext cx="1174496"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participe</a:t>
            </a:r>
            <a:endParaRPr lang="en-US" sz="1000" dirty="0"/>
          </a:p>
        </p:txBody>
      </p:sp>
      <p:sp>
        <p:nvSpPr>
          <p:cNvPr id="58" name="Shape 55"/>
          <p:cNvSpPr/>
          <p:nvPr/>
        </p:nvSpPr>
        <p:spPr>
          <a:xfrm>
            <a:off x="7329424" y="4030980"/>
            <a:ext cx="1174496" cy="329184"/>
          </a:xfrm>
          <a:prstGeom prst="roundRect">
            <a:avLst>
              <a:gd name="adj" fmla="val 16667"/>
            </a:avLst>
          </a:prstGeom>
          <a:solidFill>
            <a:schemeClr val="accent1">
              <a:alpha val="88000"/>
            </a:schemeClr>
          </a:solidFill>
          <a:ln w="12700">
            <a:solidFill>
              <a:srgbClr val="D9700F"/>
            </a:solidFill>
            <a:prstDash val="solid"/>
          </a:ln>
        </p:spPr>
      </p:sp>
      <p:sp>
        <p:nvSpPr>
          <p:cNvPr id="59" name="Text 56"/>
          <p:cNvSpPr txBox="1"/>
          <p:nvPr/>
        </p:nvSpPr>
        <p:spPr>
          <a:xfrm>
            <a:off x="7366000" y="4030980"/>
            <a:ext cx="1101344" cy="329184"/>
          </a:xfrm>
          <a:prstGeom prst="rect">
            <a:avLst/>
          </a:prstGeom>
          <a:noFill/>
          <a:ln/>
        </p:spPr>
        <p:txBody>
          <a:bodyPr wrap="square" lIns="0" tIns="0" rIns="0" bIns="0" rtlCol="0" anchor="ctr"/>
          <a:lstStyle/>
          <a:p>
            <a:pPr algn="ctr" indent="0" marL="0">
              <a:buNone/>
            </a:pPr>
            <a:r>
              <a:rPr lang="en-US" sz="1600" b="1" dirty="0">
                <a:solidFill>
                  <a:schemeClr val="bg1"/>
                </a:solidFill>
              </a:rPr>
              <a:t>verdeeld</a:t>
            </a:r>
            <a:endParaRPr lang="en-US" sz="1600" dirty="0"/>
          </a:p>
        </p:txBody>
      </p:sp>
      <p:sp>
        <p:nvSpPr>
          <p:cNvPr id="60" name="Text 57"/>
          <p:cNvSpPr txBox="1"/>
          <p:nvPr/>
        </p:nvSpPr>
        <p:spPr>
          <a:xfrm>
            <a:off x="2103120" y="4387596"/>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Les coûts sont répartis selon les quotités.</a:t>
            </a:r>
            <a:endParaRPr lang="en-US" sz="1400" dirty="0"/>
          </a:p>
        </p:txBody>
      </p:sp>
      <p:sp>
        <p:nvSpPr>
          <p:cNvPr id="61" name="Text 58"/>
          <p:cNvSpPr txBox="1"/>
          <p:nvPr/>
        </p:nvSpPr>
        <p:spPr>
          <a:xfrm>
            <a:off x="548640" y="481660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Zou</a:t>
            </a:r>
            <a:endParaRPr lang="en-US" sz="1400" dirty="0"/>
          </a:p>
        </p:txBody>
      </p:sp>
      <p:sp>
        <p:nvSpPr>
          <p:cNvPr id="62" name="Text 59"/>
          <p:cNvSpPr txBox="1"/>
          <p:nvPr/>
        </p:nvSpPr>
        <p:spPr>
          <a:xfrm>
            <a:off x="2103120" y="457885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3" name="Shape 60"/>
          <p:cNvSpPr/>
          <p:nvPr/>
        </p:nvSpPr>
        <p:spPr>
          <a:xfrm>
            <a:off x="2103120" y="4816602"/>
            <a:ext cx="685800" cy="329184"/>
          </a:xfrm>
          <a:prstGeom prst="roundRect">
            <a:avLst>
              <a:gd name="adj" fmla="val 16667"/>
            </a:avLst>
          </a:prstGeom>
          <a:solidFill>
            <a:schemeClr val="tx2">
              <a:alpha val="88000"/>
            </a:schemeClr>
          </a:solidFill>
          <a:ln w="12700">
            <a:solidFill>
              <a:srgbClr val="17375E"/>
            </a:solidFill>
            <a:prstDash val="solid"/>
          </a:ln>
        </p:spPr>
      </p:sp>
      <p:sp>
        <p:nvSpPr>
          <p:cNvPr id="64" name="Text 61"/>
          <p:cNvSpPr txBox="1"/>
          <p:nvPr/>
        </p:nvSpPr>
        <p:spPr>
          <a:xfrm>
            <a:off x="2139696" y="481660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65" name="Text 62"/>
          <p:cNvSpPr txBox="1"/>
          <p:nvPr/>
        </p:nvSpPr>
        <p:spPr>
          <a:xfrm>
            <a:off x="2898648" y="4578858"/>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66" name="Shape 63"/>
          <p:cNvSpPr/>
          <p:nvPr/>
        </p:nvSpPr>
        <p:spPr>
          <a:xfrm>
            <a:off x="2898648" y="4816602"/>
            <a:ext cx="685800" cy="329184"/>
          </a:xfrm>
          <a:prstGeom prst="roundRect">
            <a:avLst>
              <a:gd name="adj" fmla="val 16667"/>
            </a:avLst>
          </a:prstGeom>
          <a:solidFill>
            <a:schemeClr val="accent6">
              <a:alpha val="88000"/>
            </a:schemeClr>
          </a:solidFill>
          <a:ln w="12700">
            <a:solidFill>
              <a:srgbClr val="B83227"/>
            </a:solidFill>
            <a:prstDash val="solid"/>
          </a:ln>
        </p:spPr>
      </p:sp>
      <p:sp>
        <p:nvSpPr>
          <p:cNvPr id="67" name="Text 64"/>
          <p:cNvSpPr txBox="1"/>
          <p:nvPr/>
        </p:nvSpPr>
        <p:spPr>
          <a:xfrm>
            <a:off x="2935224" y="481660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zou</a:t>
            </a:r>
            <a:endParaRPr lang="en-US" sz="1600" dirty="0"/>
          </a:p>
        </p:txBody>
      </p:sp>
      <p:sp>
        <p:nvSpPr>
          <p:cNvPr id="68" name="Text 65"/>
          <p:cNvSpPr txBox="1"/>
          <p:nvPr/>
        </p:nvSpPr>
        <p:spPr>
          <a:xfrm>
            <a:off x="3694176" y="4578858"/>
            <a:ext cx="286512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69" name="Shape 66"/>
          <p:cNvSpPr/>
          <p:nvPr/>
        </p:nvSpPr>
        <p:spPr>
          <a:xfrm>
            <a:off x="3694176" y="4816602"/>
            <a:ext cx="2865120" cy="329184"/>
          </a:xfrm>
          <a:prstGeom prst="roundRect">
            <a:avLst>
              <a:gd name="adj" fmla="val 16667"/>
            </a:avLst>
          </a:prstGeom>
          <a:solidFill>
            <a:schemeClr val="accent5">
              <a:alpha val="25000"/>
            </a:schemeClr>
          </a:solidFill>
          <a:ln w="12700">
            <a:solidFill>
              <a:srgbClr val="4A5A70"/>
            </a:solidFill>
            <a:prstDash val="solid"/>
          </a:ln>
        </p:spPr>
      </p:sp>
      <p:sp>
        <p:nvSpPr>
          <p:cNvPr id="70" name="Text 67"/>
          <p:cNvSpPr txBox="1"/>
          <p:nvPr/>
        </p:nvSpPr>
        <p:spPr>
          <a:xfrm>
            <a:off x="3730752" y="4816602"/>
            <a:ext cx="2791968" cy="329184"/>
          </a:xfrm>
          <a:prstGeom prst="rect">
            <a:avLst/>
          </a:prstGeom>
          <a:noFill/>
          <a:ln/>
        </p:spPr>
        <p:txBody>
          <a:bodyPr wrap="square" lIns="0" tIns="0" rIns="0" bIns="0" rtlCol="0" anchor="ctr"/>
          <a:lstStyle/>
          <a:p>
            <a:pPr algn="ctr" indent="0" marL="0">
              <a:buNone/>
            </a:pPr>
            <a:r>
              <a:rPr lang="en-US" sz="1600" b="1" dirty="0">
                <a:solidFill>
                  <a:schemeClr val="tx1"/>
                </a:solidFill>
              </a:rPr>
              <a:t>me daar geen zorgen over</a:t>
            </a:r>
            <a:endParaRPr lang="en-US" sz="1600" dirty="0"/>
          </a:p>
        </p:txBody>
      </p:sp>
      <p:sp>
        <p:nvSpPr>
          <p:cNvPr id="71" name="Text 68"/>
          <p:cNvSpPr txBox="1"/>
          <p:nvPr/>
        </p:nvSpPr>
        <p:spPr>
          <a:xfrm>
            <a:off x="6669024" y="4578858"/>
            <a:ext cx="857504" cy="219456"/>
          </a:xfrm>
          <a:prstGeom prst="rect">
            <a:avLst/>
          </a:prstGeom>
          <a:noFill/>
          <a:ln/>
        </p:spPr>
        <p:txBody>
          <a:bodyPr wrap="square" lIns="0" tIns="0" rIns="0" bIns="0" rtlCol="0" anchor="b"/>
          <a:lstStyle/>
          <a:p>
            <a:pPr algn="ctr" indent="0" marL="0">
              <a:buNone/>
            </a:pPr>
            <a:r>
              <a:rPr lang="en-US" sz="1000" b="1" dirty="0">
                <a:solidFill>
                  <a:schemeClr val="accent1"/>
                </a:solidFill>
              </a:rPr>
              <a:t>infinitif</a:t>
            </a:r>
            <a:endParaRPr lang="en-US" sz="1000" dirty="0"/>
          </a:p>
        </p:txBody>
      </p:sp>
      <p:sp>
        <p:nvSpPr>
          <p:cNvPr id="72" name="Shape 69"/>
          <p:cNvSpPr/>
          <p:nvPr/>
        </p:nvSpPr>
        <p:spPr>
          <a:xfrm>
            <a:off x="6669024" y="4816602"/>
            <a:ext cx="857504" cy="329184"/>
          </a:xfrm>
          <a:prstGeom prst="roundRect">
            <a:avLst>
              <a:gd name="adj" fmla="val 16667"/>
            </a:avLst>
          </a:prstGeom>
          <a:solidFill>
            <a:schemeClr val="accent1">
              <a:alpha val="88000"/>
            </a:schemeClr>
          </a:solidFill>
          <a:ln w="12700">
            <a:solidFill>
              <a:srgbClr val="D9700F"/>
            </a:solidFill>
            <a:prstDash val="solid"/>
          </a:ln>
        </p:spPr>
      </p:sp>
      <p:sp>
        <p:nvSpPr>
          <p:cNvPr id="73" name="Text 70"/>
          <p:cNvSpPr txBox="1"/>
          <p:nvPr/>
        </p:nvSpPr>
        <p:spPr>
          <a:xfrm>
            <a:off x="6705600" y="4816602"/>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maken</a:t>
            </a:r>
            <a:endParaRPr lang="en-US" sz="1600" dirty="0"/>
          </a:p>
        </p:txBody>
      </p:sp>
      <p:sp>
        <p:nvSpPr>
          <p:cNvPr id="74" name="Text 71"/>
          <p:cNvSpPr txBox="1"/>
          <p:nvPr/>
        </p:nvSpPr>
        <p:spPr>
          <a:xfrm>
            <a:off x="2103120" y="517321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Je ne m’en ferais pas de souci.</a:t>
            </a:r>
            <a:endParaRPr lang="en-US" sz="1400" dirty="0"/>
          </a:p>
        </p:txBody>
      </p:sp>
      <p:sp>
        <p:nvSpPr>
          <p:cNvPr id="75" name="Shape 72"/>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76"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77" name="Text 73"/>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400" b="1" dirty="0">
                <a:solidFill>
                  <a:schemeClr val="accent6"/>
                </a:solidFill>
              </a:rPr>
              <a:t>Piège pour francophones — </a:t>
            </a:r>
            <a:r>
              <a:rPr lang="en-US" sz="1400" dirty="0">
                <a:solidFill>
                  <a:schemeClr val="tx1"/>
                </a:solidFill>
              </a:rPr>
              <a:t>En français, le verbe suit le pronom : </a:t>
            </a:r>
            <a:r>
              <a:rPr lang="en-US" sz="1400" i="1" dirty="0">
                <a:solidFill>
                  <a:schemeClr val="tx1"/>
                </a:solidFill>
              </a:rPr>
              <a:t>la personne qui </a:t>
            </a:r>
            <a:r>
              <a:rPr lang="en-US" sz="1400" b="1" i="1" dirty="0">
                <a:solidFill>
                  <a:schemeClr val="tx1"/>
                </a:solidFill>
              </a:rPr>
              <a:t>gère</a:t>
            </a:r>
            <a:r>
              <a:rPr lang="en-US" sz="1400" i="1" dirty="0">
                <a:solidFill>
                  <a:schemeClr val="tx1"/>
                </a:solidFill>
              </a:rPr>
              <a:t> l’immeuble</a:t>
            </a:r>
            <a:r>
              <a:rPr lang="en-US" sz="1400" dirty="0">
                <a:solidFill>
                  <a:schemeClr val="tx1"/>
                </a:solidFill>
              </a:rPr>
              <a:t>. En néerlandais, il part à la </a:t>
            </a:r>
            <a:r>
              <a:rPr lang="en-US" sz="1400" b="1" dirty="0">
                <a:solidFill>
                  <a:schemeClr val="tx1"/>
                </a:solidFill>
              </a:rPr>
              <a:t>fin</a:t>
            </a:r>
            <a:r>
              <a:rPr lang="en-US" sz="1400" dirty="0">
                <a:solidFill>
                  <a:schemeClr val="tx1"/>
                </a:solidFill>
              </a:rPr>
              <a:t> : </a:t>
            </a:r>
            <a:r>
              <a:rPr lang="en-US" sz="1400" i="1" dirty="0">
                <a:solidFill>
                  <a:schemeClr val="tx1"/>
                </a:solidFill>
              </a:rPr>
              <a:t>de persoon die het gebouw </a:t>
            </a:r>
            <a:r>
              <a:rPr lang="en-US" sz="1400" b="1" i="1" dirty="0">
                <a:solidFill>
                  <a:schemeClr val="tx1"/>
                </a:solidFill>
              </a:rPr>
              <a:t>beheert</a:t>
            </a:r>
            <a:r>
              <a:rPr lang="en-US" sz="1400" dirty="0">
                <a:solidFill>
                  <a:schemeClr val="tx1"/>
                </a:solidFill>
              </a:rPr>
              <a:t>. Choix du pronom : </a:t>
            </a:r>
            <a:r>
              <a:rPr lang="en-US" sz="1400" b="1" dirty="0">
                <a:solidFill>
                  <a:schemeClr val="tx1"/>
                </a:solidFill>
              </a:rPr>
              <a:t>die</a:t>
            </a:r>
            <a:r>
              <a:rPr lang="en-US" sz="1400" dirty="0">
                <a:solidFill>
                  <a:schemeClr val="tx1"/>
                </a:solidFill>
              </a:rPr>
              <a:t> (de-woord) · </a:t>
            </a:r>
            <a:r>
              <a:rPr lang="en-US" sz="1400" b="1" dirty="0">
                <a:solidFill>
                  <a:schemeClr val="tx1"/>
                </a:solidFill>
              </a:rPr>
              <a:t>dat</a:t>
            </a:r>
            <a:r>
              <a:rPr lang="en-US" sz="1400" dirty="0">
                <a:solidFill>
                  <a:schemeClr val="tx1"/>
                </a:solidFill>
              </a:rPr>
              <a:t> (het-woord) · </a:t>
            </a:r>
            <a:r>
              <a:rPr lang="en-US" sz="1400" b="1" dirty="0">
                <a:solidFill>
                  <a:schemeClr val="tx1"/>
                </a:solidFill>
              </a:rPr>
              <a:t>waar + préposition</a:t>
            </a:r>
            <a:r>
              <a:rPr lang="en-US" sz="1400" dirty="0">
                <a:solidFill>
                  <a:schemeClr val="tx1"/>
                </a:solidFill>
              </a:rPr>
              <a:t> (choses).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1 : de mede-eigendom uitgelegd</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Jeu de rôle · </a:t>
            </a:r>
            <a:r>
              <a:rPr lang="en-US" sz="1800" b="1" dirty="0">
                <a:solidFill>
                  <a:schemeClr val="tx1"/>
                </a:solidFill>
              </a:rPr>
              <a:t>2 rondes de 5 minutes</a:t>
            </a:r>
            <a:r>
              <a:rPr lang="en-US" sz="1800" dirty="0">
                <a:solidFill>
                  <a:schemeClr val="tx1"/>
                </a:solidFill>
              </a:rPr>
              <a:t>, rôles inversés. L’observateur coche : </a:t>
            </a:r>
            <a:r>
              <a:rPr lang="en-US" sz="1800" b="1" dirty="0">
                <a:solidFill>
                  <a:schemeClr val="tx1"/>
                </a:solidFill>
              </a:rPr>
              <a:t>lexique exact</a:t>
            </a:r>
            <a:r>
              <a:rPr lang="en-US" sz="1800" dirty="0">
                <a:solidFill>
                  <a:schemeClr val="tx1"/>
                </a:solidFill>
              </a:rPr>
              <a:t> · </a:t>
            </a:r>
            <a:r>
              <a:rPr lang="en-US" sz="1800" b="1" dirty="0">
                <a:solidFill>
                  <a:schemeClr val="tx1"/>
                </a:solidFill>
              </a:rPr>
              <a:t>phrases reliées</a:t>
            </a:r>
            <a:r>
              <a:rPr lang="en-US" sz="1800" dirty="0">
                <a:solidFill>
                  <a:schemeClr val="tx1"/>
                </a:solidFill>
              </a:rPr>
              <a:t> (relatives) · </a:t>
            </a:r>
            <a:r>
              <a:rPr lang="en-US" sz="1800" b="1" dirty="0">
                <a:solidFill>
                  <a:schemeClr val="tx1"/>
                </a:solidFill>
              </a:rPr>
              <a:t>vulgarisation réussie</a:t>
            </a:r>
            <a:r>
              <a:rPr lang="en-US" sz="1800" dirty="0">
                <a:solidFill>
                  <a:schemeClr val="tx1"/>
                </a:solidFill>
              </a:rPr>
              <a:t>.</a:t>
            </a:r>
            <a:endParaRPr lang="en-US" sz="1800" dirty="0"/>
          </a:p>
        </p:txBody>
      </p:sp>
      <p:sp>
        <p:nvSpPr>
          <p:cNvPr id="7" name="Shape 4"/>
          <p:cNvSpPr/>
          <p:nvPr/>
        </p:nvSpPr>
        <p:spPr>
          <a:xfrm>
            <a:off x="548640" y="2221992"/>
            <a:ext cx="5225796" cy="4069080"/>
          </a:xfrm>
          <a:prstGeom prst="roundRect">
            <a:avLst>
              <a:gd name="adj" fmla="val 2247"/>
            </a:avLst>
          </a:prstGeom>
          <a:solidFill>
            <a:schemeClr val="accent1">
              <a:alpha val="8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777240" y="2423160"/>
            <a:ext cx="384048" cy="384048"/>
          </a:xfrm>
          <a:prstGeom prst="rect">
            <a:avLst/>
          </a:prstGeom>
        </p:spPr>
      </p:pic>
      <p:sp>
        <p:nvSpPr>
          <p:cNvPr id="9" name="Text 5"/>
          <p:cNvSpPr txBox="1"/>
          <p:nvPr/>
        </p:nvSpPr>
        <p:spPr>
          <a:xfrm>
            <a:off x="1280160" y="235915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A — De makelaar (u-vorm !)</a:t>
            </a:r>
            <a:endParaRPr lang="en-US" sz="2000" dirty="0"/>
          </a:p>
        </p:txBody>
      </p:sp>
      <p:sp>
        <p:nvSpPr>
          <p:cNvPr id="10" name="Text 6"/>
          <p:cNvSpPr txBox="1"/>
          <p:nvPr/>
        </p:nvSpPr>
        <p:spPr>
          <a:xfrm>
            <a:off x="777240" y="3044952"/>
            <a:ext cx="4768596" cy="3108960"/>
          </a:xfrm>
          <a:prstGeom prst="rect">
            <a:avLst/>
          </a:prstGeom>
          <a:noFill/>
          <a:ln/>
        </p:spPr>
        <p:txBody>
          <a:bodyPr wrap="square" lIns="0" tIns="0" rIns="0" bIns="0" rtlCol="0" anchor="t"/>
          <a:lstStyle/>
          <a:p>
            <a:pPr marL="203200" indent="-203200">
              <a:spcAft>
                <a:spcPts val="800"/>
              </a:spcAft>
              <a:buSzPct val="100000"/>
              <a:buChar char="•"/>
            </a:pPr>
            <a:r>
              <a:rPr lang="en-US" sz="1700" b="1" dirty="0">
                <a:solidFill>
                  <a:schemeClr val="tx1"/>
                </a:solidFill>
              </a:rPr>
              <a:t>4 notions</a:t>
            </a:r>
            <a:r>
              <a:rPr lang="en-US" sz="1700" dirty="0">
                <a:solidFill>
                  <a:schemeClr val="tx1"/>
                </a:solidFill>
              </a:rPr>
              <a:t> : syndicus, gemene delen, algemene vergadering, quotiteiten</a:t>
            </a:r>
            <a:endParaRPr lang="en-US" sz="1700" dirty="0"/>
          </a:p>
          <a:p>
            <a:pPr marL="203200" indent="-203200">
              <a:spcAft>
                <a:spcPts val="800"/>
              </a:spcAft>
              <a:buSzPct val="100000"/>
              <a:buChar char="•"/>
            </a:pPr>
            <a:r>
              <a:rPr lang="en-US" sz="1700" dirty="0">
                <a:solidFill>
                  <a:schemeClr val="tx1"/>
                </a:solidFill>
              </a:rPr>
              <a:t>Chacune avec une </a:t>
            </a:r>
            <a:r>
              <a:rPr lang="en-US" sz="1700" b="1" dirty="0">
                <a:solidFill>
                  <a:schemeClr val="tx1"/>
                </a:solidFill>
              </a:rPr>
              <a:t>relative</a:t>
            </a:r>
            <a:r>
              <a:rPr lang="en-US" sz="1700" dirty="0">
                <a:solidFill>
                  <a:schemeClr val="tx1"/>
                </a:solidFill>
              </a:rPr>
              <a:t> : </a:t>
            </a:r>
            <a:r>
              <a:rPr lang="en-US" sz="1700" i="1" dirty="0">
                <a:solidFill>
                  <a:schemeClr val="tx1"/>
                </a:solidFill>
              </a:rPr>
              <a:t>De syndicus is de persoon die het gebouw beheert.</a:t>
            </a:r>
            <a:endParaRPr lang="en-US" sz="1700" dirty="0"/>
          </a:p>
          <a:p>
            <a:pPr marL="203200" indent="-203200">
              <a:spcAft>
                <a:spcPts val="800"/>
              </a:spcAft>
              <a:buSzPct val="100000"/>
              <a:buChar char="•"/>
            </a:pPr>
            <a:r>
              <a:rPr lang="en-US" sz="1700" dirty="0">
                <a:solidFill>
                  <a:schemeClr val="tx1"/>
                </a:solidFill>
              </a:rPr>
              <a:t>Un </a:t>
            </a:r>
            <a:r>
              <a:rPr lang="en-US" sz="1700" b="1" dirty="0">
                <a:solidFill>
                  <a:schemeClr val="tx1"/>
                </a:solidFill>
              </a:rPr>
              <a:t>passif</a:t>
            </a:r>
            <a:r>
              <a:rPr lang="en-US" sz="1700" dirty="0">
                <a:solidFill>
                  <a:schemeClr val="tx1"/>
                </a:solidFill>
              </a:rPr>
              <a:t> : </a:t>
            </a:r>
            <a:r>
              <a:rPr lang="en-US" sz="1700" i="1" dirty="0">
                <a:solidFill>
                  <a:schemeClr val="tx1"/>
                </a:solidFill>
              </a:rPr>
              <a:t>De kosten worden volgens de quotiteiten verdeeld.</a:t>
            </a:r>
            <a:endParaRPr lang="en-US" sz="1700" dirty="0"/>
          </a:p>
          <a:p>
            <a:pPr marL="203200" indent="-203200">
              <a:spcAft>
                <a:spcPts val="800"/>
              </a:spcAft>
              <a:buSzPct val="100000"/>
              <a:buChar char="•"/>
            </a:pPr>
            <a:r>
              <a:rPr lang="en-US" sz="1700" dirty="0">
                <a:solidFill>
                  <a:schemeClr val="tx1"/>
                </a:solidFill>
              </a:rPr>
              <a:t>Rassurez avec </a:t>
            </a:r>
            <a:r>
              <a:rPr lang="en-US" sz="1700" b="1" dirty="0">
                <a:solidFill>
                  <a:schemeClr val="tx1"/>
                </a:solidFill>
              </a:rPr>
              <a:t>zou</a:t>
            </a:r>
            <a:r>
              <a:rPr lang="en-US" sz="1700" dirty="0">
                <a:solidFill>
                  <a:schemeClr val="tx1"/>
                </a:solidFill>
              </a:rPr>
              <a:t> : </a:t>
            </a:r>
            <a:r>
              <a:rPr lang="en-US" sz="1700" i="1" dirty="0">
                <a:solidFill>
                  <a:schemeClr val="tx1"/>
                </a:solidFill>
              </a:rPr>
              <a:t>Ik zou me daar geen zorgen over maken.</a:t>
            </a:r>
            <a:endParaRPr lang="en-US" sz="1700" dirty="0"/>
          </a:p>
        </p:txBody>
      </p:sp>
      <p:sp>
        <p:nvSpPr>
          <p:cNvPr id="11" name="Shape 7"/>
          <p:cNvSpPr/>
          <p:nvPr/>
        </p:nvSpPr>
        <p:spPr>
          <a:xfrm>
            <a:off x="6414516" y="2221992"/>
            <a:ext cx="5225796" cy="4069080"/>
          </a:xfrm>
          <a:prstGeom prst="roundRect">
            <a:avLst>
              <a:gd name="adj" fmla="val 2247"/>
            </a:avLst>
          </a:prstGeom>
          <a:solidFill>
            <a:schemeClr val="accent2">
              <a:alpha val="8000"/>
            </a:schemeClr>
          </a:solidFill>
          <a:ln w="15875">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6643116" y="2423160"/>
            <a:ext cx="384048" cy="384048"/>
          </a:xfrm>
          <a:prstGeom prst="rect">
            <a:avLst/>
          </a:prstGeom>
        </p:spPr>
      </p:pic>
      <p:sp>
        <p:nvSpPr>
          <p:cNvPr id="13" name="Text 8"/>
          <p:cNvSpPr txBox="1"/>
          <p:nvPr/>
        </p:nvSpPr>
        <p:spPr>
          <a:xfrm>
            <a:off x="7146036" y="235915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B — De kandidaat-koper</a:t>
            </a:r>
            <a:endParaRPr lang="en-US" sz="2000" dirty="0"/>
          </a:p>
        </p:txBody>
      </p:sp>
      <p:sp>
        <p:nvSpPr>
          <p:cNvPr id="14" name="Text 9"/>
          <p:cNvSpPr txBox="1"/>
          <p:nvPr/>
        </p:nvSpPr>
        <p:spPr>
          <a:xfrm>
            <a:off x="6643116" y="3044952"/>
            <a:ext cx="4768596" cy="31089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Vous ne connaissez </a:t>
            </a:r>
            <a:r>
              <a:rPr lang="en-US" sz="1700" b="1" dirty="0">
                <a:solidFill>
                  <a:schemeClr val="tx1"/>
                </a:solidFill>
              </a:rPr>
              <a:t>rien</a:t>
            </a:r>
            <a:r>
              <a:rPr lang="en-US" sz="1700" dirty="0">
                <a:solidFill>
                  <a:schemeClr val="tx1"/>
                </a:solidFill>
              </a:rPr>
              <a:t> à la copropriété</a:t>
            </a:r>
            <a:endParaRPr lang="en-US" sz="1700" dirty="0"/>
          </a:p>
          <a:p>
            <a:pPr marL="203200" indent="-203200">
              <a:spcAft>
                <a:spcPts val="800"/>
              </a:spcAft>
              <a:buSzPct val="100000"/>
              <a:buChar char="•"/>
            </a:pPr>
            <a:r>
              <a:rPr lang="en-US" sz="1700" b="1" dirty="0">
                <a:solidFill>
                  <a:schemeClr val="tx1"/>
                </a:solidFill>
              </a:rPr>
              <a:t>4 questions naïves</a:t>
            </a:r>
            <a:r>
              <a:rPr lang="en-US" sz="1700" dirty="0">
                <a:solidFill>
                  <a:schemeClr val="tx1"/>
                </a:solidFill>
              </a:rPr>
              <a:t> : </a:t>
            </a:r>
            <a:r>
              <a:rPr lang="en-US" sz="1700" i="1" dirty="0">
                <a:solidFill>
                  <a:schemeClr val="tx1"/>
                </a:solidFill>
              </a:rPr>
              <a:t>Wie betaalt de lift? Moet ik naar die vergadering? Wat gebeurt er als ik niet akkoord ga?</a:t>
            </a:r>
            <a:endParaRPr lang="en-US" sz="1700" dirty="0"/>
          </a:p>
          <a:p>
            <a:pPr marL="203200" indent="-203200">
              <a:spcAft>
                <a:spcPts val="800"/>
              </a:spcAft>
              <a:buSzPct val="100000"/>
              <a:buChar char="•"/>
            </a:pPr>
            <a:r>
              <a:rPr lang="en-US" sz="1700" dirty="0">
                <a:solidFill>
                  <a:schemeClr val="tx1"/>
                </a:solidFill>
              </a:rPr>
              <a:t>Cartes : ① acheteur pressé · ② acheteur anxieux · ③ investisseur qui ne pense qu’aux charges</a:t>
            </a:r>
            <a:endParaRPr lang="en-US" sz="1700" dirty="0"/>
          </a:p>
        </p:txBody>
      </p:sp>
      <p:sp>
        <p:nvSpPr>
          <p:cNvPr id="15" name="Shape 10"/>
          <p:cNvSpPr/>
          <p:nvPr/>
        </p:nvSpPr>
        <p:spPr>
          <a:xfrm>
            <a:off x="5838444" y="4000500"/>
            <a:ext cx="512064" cy="512064"/>
          </a:xfrm>
          <a:prstGeom prst="ellipse">
            <a:avLst/>
          </a:prstGeom>
          <a:solidFill>
            <a:schemeClr val="tx2"/>
          </a:solidFill>
          <a:ln/>
        </p:spPr>
      </p:sp>
      <p:sp>
        <p:nvSpPr>
          <p:cNvPr id="16" name="Text 11"/>
          <p:cNvSpPr txBox="1"/>
          <p:nvPr/>
        </p:nvSpPr>
        <p:spPr>
          <a:xfrm>
            <a:off x="5838444" y="4000500"/>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D1 · Zo zeg je dat : la vie pratique du quartier</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669280"/>
                <a:gridCol w="5422392"/>
              </a:tblGrid>
              <a:tr h="565099">
                <a:tc>
                  <a:txBody>
                    <a:bodyPr/>
                    <a:lstStyle/>
                    <a:p>
                      <a:pPr algn="l" indent="0" marL="0">
                        <a:buNone/>
                      </a:pPr>
                      <a:r>
                        <a:rPr lang="en-US" sz="1400" b="1" dirty="0">
                          <a:solidFill>
                            <a:schemeClr val="bg1"/>
                          </a:solidFill>
                        </a:rPr>
                        <a:t>NEDERLANDS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88874">
                <a:tc>
                  <a:txBody>
                    <a:bodyPr/>
                    <a:lstStyle/>
                    <a:p>
                      <a:pPr algn="l" indent="0" marL="0">
                        <a:buNone/>
                      </a:pPr>
                      <a:r>
                        <a:rPr lang="en-US" sz="1600" b="1" dirty="0">
                          <a:solidFill>
                            <a:schemeClr val="accent2"/>
                          </a:solidFill>
                        </a:rPr>
                        <a:t>de</a:t>
                      </a:r>
                      <a:r>
                        <a:rPr lang="en-US" sz="1600" dirty="0">
                          <a:solidFill>
                            <a:schemeClr val="tx1"/>
                          </a:solidFill>
                        </a:rPr>
                        <a:t> zak voor restafval · </a:t>
                      </a:r>
                      <a:r>
                        <a:rPr lang="en-US" sz="1600" b="1" dirty="0">
                          <a:solidFill>
                            <a:schemeClr val="accent2"/>
                          </a:solidFill>
                        </a:rPr>
                        <a:t>de</a:t>
                      </a:r>
                      <a:r>
                        <a:rPr lang="en-US" sz="1600" dirty="0">
                          <a:solidFill>
                            <a:schemeClr val="tx1"/>
                          </a:solidFill>
                        </a:rPr>
                        <a:t> blauwe zak</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sac pour déchets résiduels · le sac bleu (PMC)</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88874">
                <a:tc>
                  <a:txBody>
                    <a:bodyPr/>
                    <a:lstStyle/>
                    <a:p>
                      <a:pPr algn="l" indent="0" marL="0">
                        <a:buNone/>
                      </a:pPr>
                      <a:r>
                        <a:rPr lang="en-US" sz="1600" b="1" dirty="0">
                          <a:solidFill>
                            <a:schemeClr val="accent2"/>
                          </a:solidFill>
                        </a:rPr>
                        <a:t>de</a:t>
                      </a:r>
                      <a:r>
                        <a:rPr lang="en-US" sz="1600" dirty="0">
                          <a:solidFill>
                            <a:schemeClr val="tx1"/>
                          </a:solidFill>
                        </a:rPr>
                        <a:t> glasbak · </a:t>
                      </a:r>
                      <a:r>
                        <a:rPr lang="en-US" sz="1600" b="1" dirty="0">
                          <a:solidFill>
                            <a:schemeClr val="accent4"/>
                          </a:solidFill>
                        </a:rPr>
                        <a:t>het</a:t>
                      </a:r>
                      <a:r>
                        <a:rPr lang="en-US" sz="1600" dirty="0">
                          <a:solidFill>
                            <a:schemeClr val="tx1"/>
                          </a:solidFill>
                        </a:rPr>
                        <a:t> recyclagepark</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bulle à verre · le parc à conteneurs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88874">
                <a:tc>
                  <a:txBody>
                    <a:bodyPr/>
                    <a:lstStyle/>
                    <a:p>
                      <a:pPr algn="l" indent="0" marL="0">
                        <a:buNone/>
                      </a:pPr>
                      <a:r>
                        <a:rPr lang="en-US" sz="1600" b="1" dirty="0">
                          <a:solidFill>
                            <a:schemeClr val="accent2"/>
                          </a:solidFill>
                        </a:rPr>
                        <a:t>de</a:t>
                      </a:r>
                      <a:r>
                        <a:rPr lang="en-US" sz="1600" dirty="0">
                          <a:solidFill>
                            <a:schemeClr val="tx1"/>
                          </a:solidFill>
                        </a:rPr>
                        <a:t> ophaaldag · de zak buitenzetten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jour de collecte · sortir le sac</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88874">
                <a:tc>
                  <a:txBody>
                    <a:bodyPr/>
                    <a:lstStyle/>
                    <a:p>
                      <a:pPr algn="l" indent="0" marL="0">
                        <a:buNone/>
                      </a:pPr>
                      <a:r>
                        <a:rPr lang="en-US" sz="1600" b="1" dirty="0">
                          <a:solidFill>
                            <a:schemeClr val="accent2"/>
                          </a:solidFill>
                        </a:rPr>
                        <a:t>de</a:t>
                      </a:r>
                      <a:r>
                        <a:rPr lang="en-US" sz="1600" dirty="0">
                          <a:solidFill>
                            <a:schemeClr val="tx1"/>
                          </a:solidFill>
                        </a:rPr>
                        <a:t> fietsenberging · </a:t>
                      </a:r>
                      <a:r>
                        <a:rPr lang="en-US" sz="1600" b="1" dirty="0">
                          <a:solidFill>
                            <a:schemeClr val="accent2"/>
                          </a:solidFill>
                        </a:rPr>
                        <a:t>de</a:t>
                      </a:r>
                      <a:r>
                        <a:rPr lang="en-US" sz="1600" dirty="0">
                          <a:solidFill>
                            <a:schemeClr val="tx1"/>
                          </a:solidFill>
                        </a:rPr>
                        <a:t> huisregels (pl.)</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le local vélos · le règlement d’ordre intérieur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88874">
                <a:tc>
                  <a:txBody>
                    <a:bodyPr/>
                    <a:lstStyle/>
                    <a:p>
                      <a:pPr algn="l" indent="0" marL="0">
                        <a:buNone/>
                      </a:pPr>
                      <a:r>
                        <a:rPr lang="en-US" sz="1600" dirty="0">
                          <a:solidFill>
                            <a:schemeClr val="tx1"/>
                          </a:solidFill>
                        </a:rPr>
                        <a:t>je adreswijziging aangeven bij de gemeente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déclarer son changement d’adresse à la commune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88874">
                <a:tc>
                  <a:txBody>
                    <a:bodyPr/>
                    <a:lstStyle/>
                    <a:p>
                      <a:pPr algn="l" indent="0" marL="0">
                        <a:buNone/>
                      </a:pPr>
                      <a:r>
                        <a:rPr lang="en-US" sz="1600" dirty="0">
                          <a:solidFill>
                            <a:schemeClr val="tx1"/>
                          </a:solidFill>
                        </a:rPr>
                        <a:t>De wijkagent komt langs.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L’agent de quartier passe (pour vérifier l’adresse).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88874">
                <a:tc>
                  <a:txBody>
                    <a:bodyPr/>
                    <a:lstStyle/>
                    <a:p>
                      <a:pPr algn="l" indent="0" marL="0">
                        <a:buNone/>
                      </a:pPr>
                      <a:r>
                        <a:rPr lang="en-US" sz="1600" dirty="0">
                          <a:solidFill>
                            <a:schemeClr val="tx1"/>
                          </a:solidFill>
                        </a:rPr>
                        <a:t>Dat mag er niet in.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Ça n’a pas le droit d’aller là-dedans (tri des déchets).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D1 · Uitgelegd aan een nieuwkomer</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6a</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Vulgariser = rendre le compliqué clair. Cette fois, l’expert·e, c’est vous : expliquez les règles de </a:t>
            </a:r>
            <a:r>
              <a:rPr lang="en-US" sz="1800" b="1" dirty="0">
                <a:solidFill>
                  <a:schemeClr val="tx1"/>
                </a:solidFill>
              </a:rPr>
              <a:t>votre quartier</a:t>
            </a:r>
            <a:r>
              <a:rPr lang="en-US" sz="1800" dirty="0">
                <a:solidFill>
                  <a:schemeClr val="tx1"/>
                </a:solidFill>
              </a:rPr>
              <a:t>. </a:t>
            </a:r>
            <a:r>
              <a:rPr lang="en-US" sz="1800" b="1" dirty="0">
                <a:solidFill>
                  <a:schemeClr val="tx1"/>
                </a:solidFill>
              </a:rPr>
              <a:t>2 rondes de 5 min</a:t>
            </a:r>
            <a:r>
              <a:rPr lang="en-US" sz="1800" dirty="0">
                <a:solidFill>
                  <a:schemeClr val="tx1"/>
                </a:solidFill>
              </a:rPr>
              <a:t>, rôles inversés.</a:t>
            </a:r>
            <a:endParaRPr lang="en-US" sz="1800" dirty="0"/>
          </a:p>
        </p:txBody>
      </p:sp>
      <p:sp>
        <p:nvSpPr>
          <p:cNvPr id="7" name="Shape 4"/>
          <p:cNvSpPr/>
          <p:nvPr/>
        </p:nvSpPr>
        <p:spPr>
          <a:xfrm>
            <a:off x="548640" y="2221992"/>
            <a:ext cx="5225796" cy="4069080"/>
          </a:xfrm>
          <a:prstGeom prst="roundRect">
            <a:avLst>
              <a:gd name="adj" fmla="val 2247"/>
            </a:avLst>
          </a:prstGeom>
          <a:solidFill>
            <a:schemeClr val="accent2">
              <a:alpha val="8000"/>
            </a:schemeClr>
          </a:solidFill>
          <a:ln w="15875">
            <a:solidFill>
              <a:schemeClr val="accent2"/>
            </a:solidFill>
            <a:prstDash val="solid"/>
          </a:ln>
        </p:spPr>
      </p:sp>
      <p:pic>
        <p:nvPicPr>
          <p:cNvPr id="8" name="Image 0" descr="preencoded.png">    </p:cNvPr>
          <p:cNvPicPr>
            <a:picLocks noChangeAspect="1"/>
          </p:cNvPicPr>
          <p:nvPr/>
        </p:nvPicPr>
        <p:blipFill>
          <a:blip r:embed="rId1"/>
          <a:stretch>
            <a:fillRect/>
          </a:stretch>
        </p:blipFill>
        <p:spPr>
          <a:xfrm>
            <a:off x="777240" y="2423160"/>
            <a:ext cx="384048" cy="384048"/>
          </a:xfrm>
          <a:prstGeom prst="rect">
            <a:avLst/>
          </a:prstGeom>
        </p:spPr>
      </p:pic>
      <p:sp>
        <p:nvSpPr>
          <p:cNvPr id="9" name="Text 5"/>
          <p:cNvSpPr txBox="1"/>
          <p:nvPr/>
        </p:nvSpPr>
        <p:spPr>
          <a:xfrm>
            <a:off x="1280160" y="235915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A — De nieuwkomer</a:t>
            </a:r>
            <a:endParaRPr lang="en-US" sz="2000" dirty="0"/>
          </a:p>
        </p:txBody>
      </p:sp>
      <p:sp>
        <p:nvSpPr>
          <p:cNvPr id="10" name="Text 6"/>
          <p:cNvSpPr txBox="1"/>
          <p:nvPr/>
        </p:nvSpPr>
        <p:spPr>
          <a:xfrm>
            <a:off x="777240" y="3044952"/>
            <a:ext cx="4768596" cy="31089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chemeClr val="tx1"/>
                </a:solidFill>
              </a:rPr>
              <a:t>Vous venez d’emménager : vous ne savez rien</a:t>
            </a:r>
            <a:endParaRPr lang="en-US" sz="1700" dirty="0"/>
          </a:p>
          <a:p>
            <a:pPr marL="203200" indent="-203200">
              <a:spcAft>
                <a:spcPts val="800"/>
              </a:spcAft>
              <a:buSzPct val="100000"/>
              <a:buChar char="•"/>
            </a:pPr>
            <a:r>
              <a:rPr lang="en-US" sz="1700" b="1" dirty="0">
                <a:solidFill>
                  <a:schemeClr val="tx1"/>
                </a:solidFill>
              </a:rPr>
              <a:t>4 questions naïves</a:t>
            </a:r>
            <a:r>
              <a:rPr lang="en-US" sz="1700" dirty="0">
                <a:solidFill>
                  <a:schemeClr val="tx1"/>
                </a:solidFill>
              </a:rPr>
              <a:t> : </a:t>
            </a:r>
            <a:r>
              <a:rPr lang="en-US" sz="1700" i="1" dirty="0">
                <a:solidFill>
                  <a:schemeClr val="tx1"/>
                </a:solidFill>
              </a:rPr>
              <a:t>Wanneer moet ik de zak buitenzetten? Wat gebeurt er als ik me vergis? Wie controleert dat?</a:t>
            </a:r>
            <a:endParaRPr lang="en-US" sz="1700" dirty="0"/>
          </a:p>
          <a:p>
            <a:pPr marL="203200" indent="-203200">
              <a:spcAft>
                <a:spcPts val="800"/>
              </a:spcAft>
              <a:buSzPct val="100000"/>
              <a:buChar char="•"/>
            </a:pPr>
            <a:r>
              <a:rPr lang="en-US" sz="1700" dirty="0">
                <a:solidFill>
                  <a:schemeClr val="tx1"/>
                </a:solidFill>
              </a:rPr>
              <a:t>Cartes : ① le tri des déchets · ② le règlement de l’immeuble (lift, local vélos, bruit) · ③ les démarches à la commune</a:t>
            </a:r>
            <a:endParaRPr lang="en-US" sz="1700" dirty="0"/>
          </a:p>
        </p:txBody>
      </p:sp>
      <p:sp>
        <p:nvSpPr>
          <p:cNvPr id="11" name="Shape 7"/>
          <p:cNvSpPr/>
          <p:nvPr/>
        </p:nvSpPr>
        <p:spPr>
          <a:xfrm>
            <a:off x="6414516" y="2221992"/>
            <a:ext cx="5225796" cy="4069080"/>
          </a:xfrm>
          <a:prstGeom prst="roundRect">
            <a:avLst>
              <a:gd name="adj" fmla="val 2247"/>
            </a:avLst>
          </a:prstGeom>
          <a:solidFill>
            <a:schemeClr val="accent1">
              <a:alpha val="8000"/>
            </a:schemeClr>
          </a:solidFill>
          <a:ln w="15875">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6643116" y="2423160"/>
            <a:ext cx="384048" cy="384048"/>
          </a:xfrm>
          <a:prstGeom prst="rect">
            <a:avLst/>
          </a:prstGeom>
        </p:spPr>
      </p:pic>
      <p:sp>
        <p:nvSpPr>
          <p:cNvPr id="13" name="Text 8"/>
          <p:cNvSpPr txBox="1"/>
          <p:nvPr/>
        </p:nvSpPr>
        <p:spPr>
          <a:xfrm>
            <a:off x="7146036" y="235915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B — De buur (de expert·e)</a:t>
            </a:r>
            <a:endParaRPr lang="en-US" sz="2000" dirty="0"/>
          </a:p>
        </p:txBody>
      </p:sp>
      <p:sp>
        <p:nvSpPr>
          <p:cNvPr id="14" name="Text 9"/>
          <p:cNvSpPr txBox="1"/>
          <p:nvPr/>
        </p:nvSpPr>
        <p:spPr>
          <a:xfrm>
            <a:off x="6643116" y="3044952"/>
            <a:ext cx="4768596" cy="3108960"/>
          </a:xfrm>
          <a:prstGeom prst="rect">
            <a:avLst/>
          </a:prstGeom>
          <a:noFill/>
          <a:ln/>
        </p:spPr>
        <p:txBody>
          <a:bodyPr wrap="square" lIns="0" tIns="0" rIns="0" bIns="0" rtlCol="0" anchor="t"/>
          <a:lstStyle/>
          <a:p>
            <a:pPr marL="203200" indent="-203200">
              <a:spcAft>
                <a:spcPts val="800"/>
              </a:spcAft>
              <a:buSzPct val="100000"/>
              <a:buChar char="•"/>
            </a:pPr>
            <a:r>
              <a:rPr lang="en-US" sz="1700" b="1" dirty="0">
                <a:solidFill>
                  <a:schemeClr val="tx1"/>
                </a:solidFill>
              </a:rPr>
              <a:t>4 règles</a:t>
            </a:r>
            <a:r>
              <a:rPr lang="en-US" sz="1700" dirty="0">
                <a:solidFill>
                  <a:schemeClr val="tx1"/>
                </a:solidFill>
              </a:rPr>
              <a:t> de votre quartier, chacune avec une </a:t>
            </a:r>
            <a:r>
              <a:rPr lang="en-US" sz="1700" b="1" dirty="0">
                <a:solidFill>
                  <a:schemeClr val="tx1"/>
                </a:solidFill>
              </a:rPr>
              <a:t>relative</a:t>
            </a:r>
            <a:r>
              <a:rPr lang="en-US" sz="1700" dirty="0">
                <a:solidFill>
                  <a:schemeClr val="tx1"/>
                </a:solidFill>
              </a:rPr>
              <a:t> : </a:t>
            </a:r>
            <a:r>
              <a:rPr lang="en-US" sz="1700" i="1" dirty="0">
                <a:solidFill>
                  <a:schemeClr val="tx1"/>
                </a:solidFill>
              </a:rPr>
              <a:t>De ophaaldag is de dag waarop… · Het recyclagepark is de plaats waar…</a:t>
            </a:r>
            <a:endParaRPr lang="en-US" sz="1700" dirty="0"/>
          </a:p>
          <a:p>
            <a:pPr marL="203200" indent="-203200">
              <a:spcAft>
                <a:spcPts val="800"/>
              </a:spcAft>
              <a:buSzPct val="100000"/>
              <a:buChar char="•"/>
            </a:pPr>
            <a:r>
              <a:rPr lang="en-US" sz="1700" dirty="0">
                <a:solidFill>
                  <a:schemeClr val="tx1"/>
                </a:solidFill>
              </a:rPr>
              <a:t>Un </a:t>
            </a:r>
            <a:r>
              <a:rPr lang="en-US" sz="1700" b="1" dirty="0">
                <a:solidFill>
                  <a:schemeClr val="tx1"/>
                </a:solidFill>
              </a:rPr>
              <a:t>passif</a:t>
            </a:r>
            <a:r>
              <a:rPr lang="en-US" sz="1700" dirty="0">
                <a:solidFill>
                  <a:schemeClr val="tx1"/>
                </a:solidFill>
              </a:rPr>
              <a:t> : </a:t>
            </a:r>
            <a:r>
              <a:rPr lang="en-US" sz="1700" i="1" dirty="0">
                <a:solidFill>
                  <a:schemeClr val="tx1"/>
                </a:solidFill>
              </a:rPr>
              <a:t>De zakken worden op dinsdag opgehaald.</a:t>
            </a:r>
            <a:endParaRPr lang="en-US" sz="1700" dirty="0"/>
          </a:p>
          <a:p>
            <a:pPr marL="203200" indent="-203200">
              <a:spcAft>
                <a:spcPts val="800"/>
              </a:spcAft>
              <a:buSzPct val="100000"/>
              <a:buChar char="•"/>
            </a:pPr>
            <a:r>
              <a:rPr lang="en-US" sz="1700" dirty="0">
                <a:solidFill>
                  <a:schemeClr val="tx1"/>
                </a:solidFill>
              </a:rPr>
              <a:t>Rassurez avec </a:t>
            </a:r>
            <a:r>
              <a:rPr lang="en-US" sz="1700" b="1" dirty="0">
                <a:solidFill>
                  <a:schemeClr val="tx1"/>
                </a:solidFill>
              </a:rPr>
              <a:t>zou</a:t>
            </a:r>
            <a:r>
              <a:rPr lang="en-US" sz="1700" dirty="0">
                <a:solidFill>
                  <a:schemeClr val="tx1"/>
                </a:solidFill>
              </a:rPr>
              <a:t> : </a:t>
            </a:r>
            <a:r>
              <a:rPr lang="en-US" sz="1700" i="1" dirty="0">
                <a:solidFill>
                  <a:schemeClr val="tx1"/>
                </a:solidFill>
              </a:rPr>
              <a:t>Ik zou me daar geen zorgen over maken.</a:t>
            </a:r>
            <a:endParaRPr lang="en-US" sz="1700" dirty="0"/>
          </a:p>
        </p:txBody>
      </p:sp>
      <p:sp>
        <p:nvSpPr>
          <p:cNvPr id="15" name="Shape 10"/>
          <p:cNvSpPr/>
          <p:nvPr/>
        </p:nvSpPr>
        <p:spPr>
          <a:xfrm>
            <a:off x="5838444" y="4000500"/>
            <a:ext cx="512064" cy="512064"/>
          </a:xfrm>
          <a:prstGeom prst="ellipse">
            <a:avLst/>
          </a:prstGeom>
          <a:solidFill>
            <a:schemeClr val="tx2"/>
          </a:solidFill>
          <a:ln/>
        </p:spPr>
      </p:sp>
      <p:sp>
        <p:nvSpPr>
          <p:cNvPr id="16" name="Text 11"/>
          <p:cNvSpPr txBox="1"/>
          <p:nvPr/>
        </p:nvSpPr>
        <p:spPr>
          <a:xfrm>
            <a:off x="5838444" y="4000500"/>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relatives de la copropriété</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Complétez avec </a:t>
            </a:r>
            <a:r>
              <a:rPr lang="en-US" sz="1600" b="1" i="1" dirty="0">
                <a:solidFill>
                  <a:schemeClr val="accent5"/>
                </a:solidFill>
              </a:rPr>
              <a:t>die · dat · waar · waarop · waarmee</a:t>
            </a:r>
            <a:r>
              <a:rPr lang="en-US" sz="1600" i="1" dirty="0">
                <a:solidFill>
                  <a:schemeClr val="accent5"/>
                </a:solidFill>
              </a:rPr>
              <a:t>. Seul · 4 min.</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100" b="1" dirty="0">
                <a:solidFill>
                  <a:schemeClr val="tx2"/>
                </a:solidFill>
              </a:rPr>
              <a:t>1.  </a:t>
            </a:r>
            <a:r>
              <a:rPr lang="en-US" sz="2100" dirty="0">
                <a:solidFill>
                  <a:schemeClr val="tx1"/>
                </a:solidFill>
              </a:rPr>
              <a:t>Het reservefonds is het geld </a:t>
            </a:r>
            <a:r>
              <a:rPr lang="en-US" sz="2100" dirty="0">
                <a:solidFill>
                  <a:schemeClr val="accent5"/>
                </a:solidFill>
              </a:rPr>
              <a:t>……………</a:t>
            </a:r>
            <a:r>
              <a:rPr lang="en-US" sz="2100" dirty="0">
                <a:solidFill>
                  <a:schemeClr val="tx1"/>
                </a:solidFill>
              </a:rPr>
              <a:t> de mede-eigenaars voor grote werken sparen.</a:t>
            </a:r>
            <a:endParaRPr lang="en-US" sz="2100" dirty="0"/>
          </a:p>
          <a:p>
            <a:pPr indent="0" marL="0">
              <a:spcAft>
                <a:spcPts val="1000"/>
              </a:spcAft>
              <a:buNone/>
            </a:pPr>
            <a:r>
              <a:rPr lang="en-US" sz="2100" b="1" dirty="0">
                <a:solidFill>
                  <a:schemeClr val="tx2"/>
                </a:solidFill>
              </a:rPr>
              <a:t>2.  </a:t>
            </a:r>
            <a:r>
              <a:rPr lang="en-US" sz="2100" dirty="0">
                <a:solidFill>
                  <a:schemeClr val="tx1"/>
                </a:solidFill>
              </a:rPr>
              <a:t>De algemene vergadering is de bijeenkomst </a:t>
            </a:r>
            <a:r>
              <a:rPr lang="en-US" sz="2100" dirty="0">
                <a:solidFill>
                  <a:schemeClr val="accent5"/>
                </a:solidFill>
              </a:rPr>
              <a:t>……………</a:t>
            </a:r>
            <a:r>
              <a:rPr lang="en-US" sz="2100" dirty="0">
                <a:solidFill>
                  <a:schemeClr val="tx1"/>
                </a:solidFill>
              </a:rPr>
              <a:t> alle mede-eigenaars beslissen.</a:t>
            </a:r>
            <a:endParaRPr lang="en-US" sz="2100" dirty="0"/>
          </a:p>
          <a:p>
            <a:pPr indent="0" marL="0">
              <a:spcAft>
                <a:spcPts val="1000"/>
              </a:spcAft>
              <a:buNone/>
            </a:pPr>
            <a:r>
              <a:rPr lang="en-US" sz="2100" b="1" dirty="0">
                <a:solidFill>
                  <a:schemeClr val="tx2"/>
                </a:solidFill>
              </a:rPr>
              <a:t>3.  </a:t>
            </a:r>
            <a:r>
              <a:rPr lang="en-US" sz="2100" dirty="0">
                <a:solidFill>
                  <a:schemeClr val="tx1"/>
                </a:solidFill>
              </a:rPr>
              <a:t>De volmacht is het document </a:t>
            </a:r>
            <a:r>
              <a:rPr lang="en-US" sz="2100" dirty="0">
                <a:solidFill>
                  <a:schemeClr val="accent5"/>
                </a:solidFill>
              </a:rPr>
              <a:t>……………</a:t>
            </a:r>
            <a:r>
              <a:rPr lang="en-US" sz="2100" dirty="0">
                <a:solidFill>
                  <a:schemeClr val="tx1"/>
                </a:solidFill>
              </a:rPr>
              <a:t> u iemand anders laat stemmen.</a:t>
            </a:r>
            <a:endParaRPr lang="en-US" sz="2100" dirty="0"/>
          </a:p>
          <a:p>
            <a:pPr indent="0" marL="0">
              <a:spcAft>
                <a:spcPts val="1000"/>
              </a:spcAft>
              <a:buNone/>
            </a:pPr>
            <a:r>
              <a:rPr lang="en-US" sz="2100" b="1" dirty="0">
                <a:solidFill>
                  <a:schemeClr val="tx2"/>
                </a:solidFill>
              </a:rPr>
              <a:t>4.  </a:t>
            </a:r>
            <a:r>
              <a:rPr lang="en-US" sz="2100" dirty="0">
                <a:solidFill>
                  <a:schemeClr val="tx1"/>
                </a:solidFill>
              </a:rPr>
              <a:t>De inkomhal is de plaats </a:t>
            </a:r>
            <a:r>
              <a:rPr lang="en-US" sz="2100" dirty="0">
                <a:solidFill>
                  <a:schemeClr val="accent5"/>
                </a:solidFill>
              </a:rPr>
              <a:t>……………</a:t>
            </a:r>
            <a:r>
              <a:rPr lang="en-US" sz="2100" dirty="0">
                <a:solidFill>
                  <a:schemeClr val="tx1"/>
                </a:solidFill>
              </a:rPr>
              <a:t> de vergadering plaatsvindt.</a:t>
            </a:r>
            <a:endParaRPr lang="en-US" sz="2100" dirty="0"/>
          </a:p>
          <a:p>
            <a:pPr indent="0" marL="0">
              <a:spcAft>
                <a:spcPts val="1000"/>
              </a:spcAft>
              <a:buNone/>
            </a:pPr>
            <a:r>
              <a:rPr lang="en-US" sz="2100" b="1" dirty="0">
                <a:solidFill>
                  <a:schemeClr val="tx2"/>
                </a:solidFill>
              </a:rPr>
              <a:t>5.  </a:t>
            </a:r>
            <a:r>
              <a:rPr lang="en-US" sz="2100" dirty="0">
                <a:solidFill>
                  <a:schemeClr val="tx1"/>
                </a:solidFill>
              </a:rPr>
              <a:t>De notulist is de persoon </a:t>
            </a:r>
            <a:r>
              <a:rPr lang="en-US" sz="2100" dirty="0">
                <a:solidFill>
                  <a:schemeClr val="accent5"/>
                </a:solidFill>
              </a:rPr>
              <a:t>……………</a:t>
            </a:r>
            <a:r>
              <a:rPr lang="en-US" sz="2100" dirty="0">
                <a:solidFill>
                  <a:schemeClr val="tx1"/>
                </a:solidFill>
              </a:rPr>
              <a:t> het verslag schrijft.</a:t>
            </a:r>
            <a:endParaRPr lang="en-US" sz="2100" dirty="0"/>
          </a:p>
          <a:p>
            <a:pPr indent="0" marL="0">
              <a:spcAft>
                <a:spcPts val="1000"/>
              </a:spcAft>
              <a:buNone/>
            </a:pPr>
            <a:r>
              <a:rPr lang="en-US" sz="2100" b="1" dirty="0">
                <a:solidFill>
                  <a:schemeClr val="tx2"/>
                </a:solidFill>
              </a:rPr>
              <a:t>6.  </a:t>
            </a:r>
            <a:r>
              <a:rPr lang="en-US" sz="2100" dirty="0">
                <a:solidFill>
                  <a:schemeClr val="tx1"/>
                </a:solidFill>
              </a:rPr>
              <a:t>De mede-eigenaars </a:t>
            </a:r>
            <a:r>
              <a:rPr lang="en-US" sz="2100" dirty="0">
                <a:solidFill>
                  <a:schemeClr val="accent5"/>
                </a:solidFill>
              </a:rPr>
              <a:t>……………</a:t>
            </a:r>
            <a:r>
              <a:rPr lang="en-US" sz="2100" dirty="0">
                <a:solidFill>
                  <a:schemeClr val="tx1"/>
                </a:solidFill>
              </a:rPr>
              <a:t> niet kunnen komen, geven een volmacht.</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relatives de la copropriété</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Complétez avec </a:t>
            </a:r>
            <a:r>
              <a:rPr lang="en-US" sz="1600" b="1" i="1" dirty="0">
                <a:solidFill>
                  <a:schemeClr val="accent5"/>
                </a:solidFill>
              </a:rPr>
              <a:t>die · dat · waar · waarop · waarmee</a:t>
            </a:r>
            <a:r>
              <a:rPr lang="en-US" sz="1600" i="1" dirty="0">
                <a:solidFill>
                  <a:schemeClr val="accent5"/>
                </a:solidFill>
              </a:rPr>
              <a:t>. Seul · 4 min.</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100" b="1" dirty="0">
                <a:solidFill>
                  <a:schemeClr val="tx2"/>
                </a:solidFill>
              </a:rPr>
              <a:t>1.  </a:t>
            </a:r>
            <a:r>
              <a:rPr lang="en-US" sz="2100" dirty="0">
                <a:solidFill>
                  <a:schemeClr val="tx1"/>
                </a:solidFill>
              </a:rPr>
              <a:t>Het reservefonds is het geld </a:t>
            </a:r>
            <a:r>
              <a:rPr lang="en-US" sz="2100" b="1" dirty="0">
                <a:solidFill>
                  <a:schemeClr val="accent3"/>
                </a:solidFill>
              </a:rPr>
              <a:t>dat</a:t>
            </a:r>
            <a:r>
              <a:rPr lang="en-US" sz="2100" dirty="0">
                <a:solidFill>
                  <a:schemeClr val="tx1"/>
                </a:solidFill>
              </a:rPr>
              <a:t> de mede-eigenaars voor grote werken sparen.</a:t>
            </a:r>
            <a:endParaRPr lang="en-US" sz="2100" dirty="0"/>
          </a:p>
          <a:p>
            <a:pPr indent="0" marL="0">
              <a:spcAft>
                <a:spcPts val="1000"/>
              </a:spcAft>
              <a:buNone/>
            </a:pPr>
            <a:r>
              <a:rPr lang="en-US" sz="2100" b="1" dirty="0">
                <a:solidFill>
                  <a:schemeClr val="tx2"/>
                </a:solidFill>
              </a:rPr>
              <a:t>2.  </a:t>
            </a:r>
            <a:r>
              <a:rPr lang="en-US" sz="2100" dirty="0">
                <a:solidFill>
                  <a:schemeClr val="tx1"/>
                </a:solidFill>
              </a:rPr>
              <a:t>De algemene vergadering is de bijeenkomst </a:t>
            </a:r>
            <a:r>
              <a:rPr lang="en-US" sz="2100" b="1" dirty="0">
                <a:solidFill>
                  <a:schemeClr val="accent3"/>
                </a:solidFill>
              </a:rPr>
              <a:t>waarop</a:t>
            </a:r>
            <a:r>
              <a:rPr lang="en-US" sz="2100" dirty="0">
                <a:solidFill>
                  <a:schemeClr val="tx1"/>
                </a:solidFill>
              </a:rPr>
              <a:t> alle mede-eigenaars beslissen.</a:t>
            </a:r>
            <a:endParaRPr lang="en-US" sz="2100" dirty="0"/>
          </a:p>
          <a:p>
            <a:pPr indent="0" marL="0">
              <a:spcAft>
                <a:spcPts val="1000"/>
              </a:spcAft>
              <a:buNone/>
            </a:pPr>
            <a:r>
              <a:rPr lang="en-US" sz="2100" b="1" dirty="0">
                <a:solidFill>
                  <a:schemeClr val="tx2"/>
                </a:solidFill>
              </a:rPr>
              <a:t>3.  </a:t>
            </a:r>
            <a:r>
              <a:rPr lang="en-US" sz="2100" dirty="0">
                <a:solidFill>
                  <a:schemeClr val="tx1"/>
                </a:solidFill>
              </a:rPr>
              <a:t>De volmacht is het document </a:t>
            </a:r>
            <a:r>
              <a:rPr lang="en-US" sz="2100" b="1" dirty="0">
                <a:solidFill>
                  <a:schemeClr val="accent3"/>
                </a:solidFill>
              </a:rPr>
              <a:t>waarmee</a:t>
            </a:r>
            <a:r>
              <a:rPr lang="en-US" sz="2100" dirty="0">
                <a:solidFill>
                  <a:schemeClr val="tx1"/>
                </a:solidFill>
              </a:rPr>
              <a:t> u iemand anders laat stemmen.</a:t>
            </a:r>
            <a:endParaRPr lang="en-US" sz="2100" dirty="0"/>
          </a:p>
          <a:p>
            <a:pPr indent="0" marL="0">
              <a:spcAft>
                <a:spcPts val="1000"/>
              </a:spcAft>
              <a:buNone/>
            </a:pPr>
            <a:r>
              <a:rPr lang="en-US" sz="2100" b="1" dirty="0">
                <a:solidFill>
                  <a:schemeClr val="tx2"/>
                </a:solidFill>
              </a:rPr>
              <a:t>4.  </a:t>
            </a:r>
            <a:r>
              <a:rPr lang="en-US" sz="2100" dirty="0">
                <a:solidFill>
                  <a:schemeClr val="tx1"/>
                </a:solidFill>
              </a:rPr>
              <a:t>De inkomhal is de plaats </a:t>
            </a:r>
            <a:r>
              <a:rPr lang="en-US" sz="2100" b="1" dirty="0">
                <a:solidFill>
                  <a:schemeClr val="accent3"/>
                </a:solidFill>
              </a:rPr>
              <a:t>waar</a:t>
            </a:r>
            <a:r>
              <a:rPr lang="en-US" sz="2100" dirty="0">
                <a:solidFill>
                  <a:schemeClr val="tx1"/>
                </a:solidFill>
              </a:rPr>
              <a:t> de vergadering plaatsvindt.</a:t>
            </a:r>
            <a:endParaRPr lang="en-US" sz="2100" dirty="0"/>
          </a:p>
          <a:p>
            <a:pPr indent="0" marL="0">
              <a:spcAft>
                <a:spcPts val="1000"/>
              </a:spcAft>
              <a:buNone/>
            </a:pPr>
            <a:r>
              <a:rPr lang="en-US" sz="2100" b="1" dirty="0">
                <a:solidFill>
                  <a:schemeClr val="tx2"/>
                </a:solidFill>
              </a:rPr>
              <a:t>5.  </a:t>
            </a:r>
            <a:r>
              <a:rPr lang="en-US" sz="2100" dirty="0">
                <a:solidFill>
                  <a:schemeClr val="tx1"/>
                </a:solidFill>
              </a:rPr>
              <a:t>De notulist is de persoon </a:t>
            </a:r>
            <a:r>
              <a:rPr lang="en-US" sz="2100" b="1" dirty="0">
                <a:solidFill>
                  <a:schemeClr val="accent3"/>
                </a:solidFill>
              </a:rPr>
              <a:t>die</a:t>
            </a:r>
            <a:r>
              <a:rPr lang="en-US" sz="2100" dirty="0">
                <a:solidFill>
                  <a:schemeClr val="tx1"/>
                </a:solidFill>
              </a:rPr>
              <a:t> het verslag schrijft.</a:t>
            </a:r>
            <a:endParaRPr lang="en-US" sz="2100" dirty="0"/>
          </a:p>
          <a:p>
            <a:pPr indent="0" marL="0">
              <a:spcAft>
                <a:spcPts val="1000"/>
              </a:spcAft>
              <a:buNone/>
            </a:pPr>
            <a:r>
              <a:rPr lang="en-US" sz="2100" b="1" dirty="0">
                <a:solidFill>
                  <a:schemeClr val="tx2"/>
                </a:solidFill>
              </a:rPr>
              <a:t>6.  </a:t>
            </a:r>
            <a:r>
              <a:rPr lang="en-US" sz="2100" dirty="0">
                <a:solidFill>
                  <a:schemeClr val="tx1"/>
                </a:solidFill>
              </a:rPr>
              <a:t>De mede-eigenaars </a:t>
            </a:r>
            <a:r>
              <a:rPr lang="en-US" sz="2100" b="1" dirty="0">
                <a:solidFill>
                  <a:schemeClr val="accent3"/>
                </a:solidFill>
              </a:rPr>
              <a:t>die</a:t>
            </a:r>
            <a:r>
              <a:rPr lang="en-US" sz="2100" dirty="0">
                <a:solidFill>
                  <a:schemeClr val="tx1"/>
                </a:solidFill>
              </a:rPr>
              <a:t> niet kunnen komen, geven een volmacht.</a:t>
            </a:r>
            <a:endParaRPr lang="en-US" sz="21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die</a:t>
            </a:r>
            <a:r>
              <a:rPr lang="en-US" sz="1800" dirty="0">
                <a:solidFill>
                  <a:schemeClr val="tx1"/>
                </a:solidFill>
              </a:rPr>
              <a:t> : de-woord ou pluriel · </a:t>
            </a:r>
            <a:r>
              <a:rPr lang="en-US" sz="1800" b="1" dirty="0">
                <a:solidFill>
                  <a:schemeClr val="tx1"/>
                </a:solidFill>
              </a:rPr>
              <a:t>dat</a:t>
            </a:r>
            <a:r>
              <a:rPr lang="en-US" sz="1800" dirty="0">
                <a:solidFill>
                  <a:schemeClr val="tx1"/>
                </a:solidFill>
              </a:rPr>
              <a:t> : het-woord</a:t>
            </a:r>
            <a:endParaRPr lang="en-US" sz="1800" dirty="0"/>
          </a:p>
          <a:p>
            <a:pPr marL="177800" indent="-177800">
              <a:spcAft>
                <a:spcPts val="600"/>
              </a:spcAft>
              <a:buSzPct val="100000"/>
              <a:buChar char="•"/>
            </a:pPr>
            <a:r>
              <a:rPr lang="en-US" sz="1800" b="1" dirty="0">
                <a:solidFill>
                  <a:schemeClr val="tx1"/>
                </a:solidFill>
              </a:rPr>
              <a:t>waar + préposition</a:t>
            </a:r>
            <a:r>
              <a:rPr lang="en-US" sz="1800" dirty="0">
                <a:solidFill>
                  <a:schemeClr val="tx1"/>
                </a:solidFill>
              </a:rPr>
              <a:t> pour les choses : </a:t>
            </a:r>
            <a:r>
              <a:rPr lang="en-US" sz="1800" i="1" dirty="0">
                <a:solidFill>
                  <a:schemeClr val="tx1"/>
                </a:solidFill>
              </a:rPr>
              <a:t>waarmee, waarop</a:t>
            </a:r>
            <a:endParaRPr lang="en-US" sz="1800" dirty="0"/>
          </a:p>
          <a:p>
            <a:pPr marL="177800" indent="-177800">
              <a:spcAft>
                <a:spcPts val="600"/>
              </a:spcAft>
              <a:buSzPct val="100000"/>
              <a:buChar char="•"/>
            </a:pPr>
            <a:r>
              <a:rPr lang="en-US" sz="1800" dirty="0">
                <a:solidFill>
                  <a:schemeClr val="tx1"/>
                </a:solidFill>
              </a:rPr>
              <a:t>Le verbe conjugué part à la </a:t>
            </a:r>
            <a:r>
              <a:rPr lang="en-US" sz="1800" b="1" dirty="0">
                <a:solidFill>
                  <a:schemeClr val="tx1"/>
                </a:solidFill>
              </a:rPr>
              <a:t>fin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12 : </a:t>
            </a:r>
            <a:r>
              <a:rPr lang="en-US" sz="2400" b="1" i="1" dirty="0">
                <a:solidFill>
                  <a:schemeClr val="bg1"/>
                </a:solidFill>
                <a:latin typeface="+mj-lt" pitchFamily="34" charset="0"/>
                <a:ea typeface="+mj-lt" pitchFamily="34" charset="-122"/>
                <a:cs typeface="+mj-lt" pitchFamily="34" charset="-120"/>
              </a:rPr>
              <a:t>la langue officielle</a:t>
            </a:r>
            <a:r>
              <a:rPr lang="en-US" sz="2400" i="1" dirty="0">
                <a:solidFill>
                  <a:schemeClr val="bg1"/>
                </a:solidFill>
                <a:latin typeface="+mj-lt" pitchFamily="34" charset="0"/>
                <a:ea typeface="+mj-lt" pitchFamily="34" charset="-122"/>
                <a:cs typeface="+mj-lt" pitchFamily="34" charset="-120"/>
              </a:rPr>
              <a:t>. Comment passer de </a:t>
            </a:r>
            <a:r>
              <a:rPr lang="en-US" sz="2400" i="1" dirty="0">
                <a:solidFill>
                  <a:schemeClr val="bg1"/>
                </a:solidFill>
                <a:latin typeface="+mj-lt" pitchFamily="34" charset="0"/>
                <a:ea typeface="+mj-lt" pitchFamily="34" charset="-122"/>
                <a:cs typeface="+mj-lt" pitchFamily="34" charset="-120"/>
              </a:rPr>
              <a:t>we beslissen</a:t>
            </a:r>
            <a:r>
              <a:rPr lang="en-US" sz="2400" i="1" dirty="0">
                <a:solidFill>
                  <a:schemeClr val="bg1"/>
                </a:solidFill>
                <a:latin typeface="+mj-lt" pitchFamily="34" charset="0"/>
                <a:ea typeface="+mj-lt" pitchFamily="34" charset="-122"/>
                <a:cs typeface="+mj-lt" pitchFamily="34" charset="-120"/>
              </a:rPr>
              <a:t> à </a:t>
            </a:r>
            <a:r>
              <a:rPr lang="en-US" sz="2400" i="1" dirty="0">
                <a:solidFill>
                  <a:schemeClr val="bg1"/>
                </a:solidFill>
                <a:latin typeface="+mj-lt" pitchFamily="34" charset="0"/>
                <a:ea typeface="+mj-lt" pitchFamily="34" charset="-122"/>
                <a:cs typeface="+mj-lt" pitchFamily="34" charset="-120"/>
              </a:rPr>
              <a:t>de beslissing</a:t>
            </a:r>
            <a:r>
              <a:rPr lang="en-US" sz="2400" i="1" dirty="0">
                <a:solidFill>
                  <a:schemeClr val="bg1"/>
                </a:solidFill>
                <a:latin typeface="+mj-lt" pitchFamily="34" charset="0"/>
                <a:ea typeface="+mj-lt" pitchFamily="34" charset="-122"/>
                <a:cs typeface="+mj-lt" pitchFamily="34" charset="-120"/>
              </a:rPr>
              <a:t> ? Les </a:t>
            </a:r>
            <a:r>
              <a:rPr lang="en-US" sz="2400" b="1" i="1" dirty="0">
                <a:solidFill>
                  <a:schemeClr val="bg1"/>
                </a:solidFill>
                <a:latin typeface="+mj-lt" pitchFamily="34" charset="0"/>
                <a:ea typeface="+mj-lt" pitchFamily="34" charset="-122"/>
                <a:cs typeface="+mj-lt" pitchFamily="34" charset="-120"/>
              </a:rPr>
              <a:t>nominalisations</a:t>
            </a:r>
            <a:r>
              <a:rPr lang="en-US" sz="2400" i="1" dirty="0">
                <a:solidFill>
                  <a:schemeClr val="bg1"/>
                </a:solidFill>
                <a:latin typeface="+mj-lt" pitchFamily="34" charset="0"/>
                <a:ea typeface="+mj-lt" pitchFamily="34" charset="-122"/>
                <a:cs typeface="+mj-lt" pitchFamily="34" charset="-120"/>
              </a:rPr>
              <a:t> (-ing, -heid, -teit) pour lire une convocation et écrire au syndic.</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Apprendre le </a:t>
            </a:r>
            <a:r>
              <a:rPr lang="en-US" sz="1700" b="1" dirty="0">
                <a:solidFill>
                  <a:schemeClr val="tx1"/>
                </a:solidFill>
              </a:rPr>
              <a:t>lexique de la copropriété</a:t>
            </a:r>
            <a:r>
              <a:rPr lang="en-US" sz="1700" dirty="0">
                <a:solidFill>
                  <a:schemeClr val="tx1"/>
                </a:solidFill>
              </a:rPr>
              <a:t> (mindmap, 25 mots avec l’article de / het).</a:t>
            </a:r>
            <a:endParaRPr lang="en-US" sz="1700" dirty="0"/>
          </a:p>
          <a:p>
            <a:pPr marL="190500" indent="-190500">
              <a:spcAft>
                <a:spcPts val="800"/>
              </a:spcAft>
              <a:buSzPct val="100000"/>
              <a:buChar char="•"/>
            </a:pPr>
            <a:r>
              <a:rPr lang="en-US" sz="1700" dirty="0">
                <a:solidFill>
                  <a:schemeClr val="tx1"/>
                </a:solidFill>
              </a:rPr>
              <a:t>Écrire </a:t>
            </a:r>
            <a:r>
              <a:rPr lang="en-US" sz="1700" b="1" dirty="0">
                <a:solidFill>
                  <a:schemeClr val="tx1"/>
                </a:solidFill>
              </a:rPr>
              <a:t>5 phrases de vulgarisation</a:t>
            </a:r>
            <a:r>
              <a:rPr lang="en-US" sz="1700" dirty="0">
                <a:solidFill>
                  <a:schemeClr val="tx1"/>
                </a:solidFill>
              </a:rPr>
              <a:t> (relatives) sur les règles de votre quartier (D1).</a:t>
            </a:r>
            <a:endParaRPr lang="en-US" sz="1700" dirty="0"/>
          </a:p>
          <a:p>
            <a:pPr marL="190500" indent="-190500">
              <a:spcAft>
                <a:spcPts val="800"/>
              </a:spcAft>
              <a:buSzPct val="100000"/>
              <a:buChar char="•"/>
            </a:pPr>
            <a:r>
              <a:rPr lang="en-US" sz="1700" dirty="0">
                <a:solidFill>
                  <a:schemeClr val="tx1"/>
                </a:solidFill>
              </a:rPr>
              <a:t>Relire le </a:t>
            </a:r>
            <a:r>
              <a:rPr lang="en-US" sz="1700" b="1" dirty="0">
                <a:solidFill>
                  <a:schemeClr val="tx1"/>
                </a:solidFill>
              </a:rPr>
              <a:t>Zevende dialoog</a:t>
            </a:r>
            <a:r>
              <a:rPr lang="en-US" sz="1700" dirty="0">
                <a:solidFill>
                  <a:schemeClr val="tx1"/>
                </a:solidFill>
              </a:rPr>
              <a:t> (p. 2) à voix haute et repérer les verbes au passif.</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Expliquez en une phrase, avec une relative : </a:t>
            </a:r>
            <a:r>
              <a:rPr lang="en-US" sz="1600" b="1" dirty="0">
                <a:solidFill>
                  <a:schemeClr val="bg1"/>
                </a:solidFill>
              </a:rPr>
              <a:t>qu’est-ce que de syndicus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11 — De regels van de mede-eigendom</dc:title>
  <dc:subject>Néerlandais B1 — immobilier et vie quotidienne (Yasmina &amp; Stef)</dc:subject>
  <dc:creator>A. Jouniaux</dc:creator>
  <cp:lastModifiedBy>A. Jouniaux</cp:lastModifiedBy>
  <cp:revision>1</cp:revision>
  <dcterms:created xsi:type="dcterms:W3CDTF">2026-10-03T21:59:51Z</dcterms:created>
  <dcterms:modified xsi:type="dcterms:W3CDTF">2026-10-03T21:59:51Z</dcterms:modified>
</cp:coreProperties>
</file>