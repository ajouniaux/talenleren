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8b8dedc-ac5f-5552-91e2-d7e415563214}">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 name="Clôture" id="{3a976e5f-0e5b-33f1-9a25-07a7aa14bacc}">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consacrée à la séquence 7.3 : les connecteurs argumentatifs (enerzijds… anderzijds, echter, daarentegen, met andere woorden, wat … betreft, ten slotte) et l’inversion qui suit un connecteur placé en tête de phrase. Elle comprend l’exercice 5 (écoute d’un débat), l’exercice 6 (bouw het betoog), la TAAK 3 (prise de position de 90 secondes) et l’activité Dagelijks leven D3 (la discussion du groupe de voisins).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Pages 11 à 15a du livret. L’exercice 6 peut être terminé à la maison ; la TAAK 3 est le cœur de la séance : prévoir trois ou quatre trios. D3 se termine souvent en devoir (le fil de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séance 12 (4 minutes). Faire dire chaque réponse avec l’article. Accepter « het uitstel van de werken » pour la phrase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remarquer que ces noms (de verhoging, de verdeling…) serviront de matière aux arguments de la séance : « De verhoging van de bijdrage is noodzakelijk.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 le verbe (schrijf), puis le sujet (ik) : c’est l’inversion. Le livret cite l’étage supérieur de l’argumentation : après « ten eerste, bovendien, daarom, kortom » (paliers 5–6), on ajoute six outils. Traduction du Focus : D’une part elle trouve les travaux nécessaires, d’autre part elle craint le coût. / Le syndic, en revanche, veut décider vite. / Enfin, j’écris le rapport après la réunion.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du livret (p. 12). Faire lire les exemples à voix haute et demander la fonction de chaque connecteur. « Echter » et « daarentegen » ne se placent pas seulement en tête : « De offerte is echter nog niet volledig », « De syndicus daarentegen wil… ». « Wat … betreft » encadre le thème (Wat de kosten betreft = quant aux coûts) ; le verbe suit la virgule : « …betreft, stel ik… ». Une « spreiding » = un étalement (des paiements).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13 du livret ne contient que cette planche d’illustration (connecteur + verbe + sujet + reste). Rappeler la règle du palier 1 : le verbe conjugué est toujours en deuxième position. Le premier élément (adverbe, connecteur) compte pour une case : le sujet passe après le verbe.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Vérifier la compréhension en demandant d’ouvrir une phrase avec chaque connecteur. Remarque : « echter » et « daarentegen » peuvent aussi ouvrir la phrase (« Echter is de offerte nog niet volledig » est possible mais très soigné ; « Daarentegen wil de syndicus snel stemmen » est courant) — mais dans les deux cas on inverse. « Wat de kosten betreft, stel ik… » : le groupe « wat … betreft » occupe la première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texte du débat (transcription n° 2) est dans l’annexe du dossier du professeur : il n’est pas reproduit dans le livret, donc la solution dépend du texte lu. Ne pas la deviner (même si le procès-verbal de la séance 14 laisse penser que mevrouw Peeters est pressée et que meneer Yilmaz demande une seconde offerte, ce n’est pas une preuve). Lire deux fois, avec une minute entre les deux lectures. Mise en commun : une ligne par étudiant, puis la classe liste les connecteurs entendus.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libre : pas de corrigé unique. Les six idées du livret : de werken zijn noodzakelijk – de kostprijs is hoog – de schade wordt groter – het reservefonds is bijna leeg – een tweede offerte kan de prijs verlagen – wachten is riskant. Passer dans les rangs : vérifier l’inversion après chaque connecteur (« Daarom stel ik voor… »). Deux modèles sur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modèles corrects parmi d’autres : A pro-travaux avec compromis, B plus prudent. Vérifier : verbe en 2e position après chaque connecteur (Daarom stel ik…, Ten slotte vraag ik…), verbe à la fin dans les subordonnées (…want de schade wordt elk jaar groter). « Overhaast beslissen » : décider précipitamment. Les connecteurs de la séquence 7.3 utilisés : wat … betreft, enerzijds… anderzijds, echter, ten slotte (+ met andere woorden) ; acquis : daarom.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Modalités : trios (un orateur, deux observateurs) ; chaque étudiant parle 90 secondes chrono, les mots-clés seuls sont autorisés, pas de texte rédigé. Après trois présentations, le trio vote ; on peut rejouer la meilleure devant la classe. Corriger après coup les inversions entendues. Ne pas accepter un « ik denk dat… » enchaîné sans connecteur : l’objectif est la structure. Un modèle sur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de 6 phrases (environ 70 secondes). Il suit exactement la structure demandée : wat … betreft → enerzijds/anderzijds → daarentegen/echter → ten slotte → kortom, avec les nominalisations (de renovatie, het vragen van, de stemming) et des inversions correctes (zijn de werken, is € 86.500, wil de syndicus…). « zonder vergelijking » : sans comparaison.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débat de quartier se joue aussi dans un groupe de messagerie : même exigence qu’en assemblée. Lecture silencieuse (3 min), puis les trois questions. Remarque : ici meneer Willems nuance (« Een mooi idee… echter ») alors que l’Avonddialoog le disait « fel tegen » : bonne occasion de montrer que la concession adoucit une objection. « Het lawaai viel daar best mee » : le bruit était plutôt supportable (meevallen).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1 : Sofie propose une adaptation (seulement l’après-midi) et Karim une solution pour le parking (une carte pour la rue voisine) : ce sont deux compromis possibles ; Willems ne dit pas « tegen » mais pose une objection (pas de garage). Réponse 3 : accepter aussi « Enerzijds kunnen de kinderen… » (inversion après enerzijds).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dire à voix haute : « anderzijds leren de buren » (verbe + sujet) et « Toch vind ik » (concession → inversion). Le mot « toch » sera étudié à la séance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libre. Le modèle emploie wat … betreft, enerzijds / anderzijds, echter, kortom (4 connecteurs de 7.3) et toch (7.5), avec une inversion après anderzijds / toch. La réponse utilise hoewel (verbe à la fin : « Hoewel ik je punt begrijp, vrees ik… » : le verbe de la principale ouvre la seconde proposition) et daarentegen. Les étudiants échangent leurs posts à la fin ; le fil se poursuit à la maison.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(4 minutes) : association connecteur / fonction. Phrase 6 : « kregen » est l’imperfectum de krijgen (fin de la phrase de Karim). Deuxième tour possible : faire redire chaque phrase en ouvrant par le connecteur (« Daarentegen is meneer Willems tegen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un étudiant confond echter et daarentegen : echter = objection à ce qui vient d’être dit ; daarentegen = contraste entre deux personnes ou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attendue : avant. Ex. : « Ten slotte schrijf ik het verslag. » ; « Enerzijds zijn de werken duur. » Vérifier à l’oral.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13</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13</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13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7.3</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Argumenteren in de vergadering</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Les connecteurs avancés — structurer une prise de position</a:t>
            </a:r>
            <a:endParaRPr lang="en-US" sz="1800" dirty="0"/>
          </a:p>
          <a:p>
            <a:pPr algn="l" indent="0" marL="0">
              <a:buNone/>
            </a:pPr>
            <a:r>
              <a:rPr lang="en-US" sz="1800" b="1" dirty="0">
                <a:solidFill>
                  <a:schemeClr val="bg2"/>
                </a:solidFill>
              </a:rPr>
              <a:t>Palier 7 · Mede-eigendom</a:t>
            </a:r>
            <a:endParaRPr lang="en-US" sz="1800" dirty="0"/>
          </a:p>
          <a:p>
            <a:pPr algn="l" indent="0" marL="0">
              <a:buNone/>
            </a:pPr>
            <a:r>
              <a:rPr lang="en-US" sz="1800" dirty="0">
                <a:solidFill>
                  <a:schemeClr val="bg2"/>
                </a:solidFill>
              </a:rPr>
              <a:t>Livret p. 11–15a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1719557"/>
            <a:ext cx="5120640" cy="3418886"/>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11–15a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400" b="1" dirty="0">
                <a:solidFill>
                  <a:schemeClr val="tx1"/>
                </a:solidFill>
              </a:rPr>
              <a:t>Structurer une prise de position</a:t>
            </a:r>
            <a:r>
              <a:rPr lang="en-US" sz="1400" dirty="0">
                <a:solidFill>
                  <a:schemeClr val="tx1"/>
                </a:solidFill>
              </a:rPr>
              <a:t> avec les connecteurs avancés (enerzijds… anderzijds, echter, daarentegen, wat … betreft, ten slotte) et </a:t>
            </a:r>
            <a:r>
              <a:rPr lang="en-US" sz="1400" b="1" dirty="0">
                <a:solidFill>
                  <a:schemeClr val="tx1"/>
                </a:solidFill>
              </a:rPr>
              <a:t>inverser correctement</a:t>
            </a:r>
            <a:r>
              <a:rPr lang="en-US" sz="1400" dirty="0">
                <a:solidFill>
                  <a:schemeClr val="tx1"/>
                </a:solidFill>
              </a:rPr>
              <a:t> verbe et sujet.</a:t>
            </a:r>
            <a:endParaRPr lang="en-US" sz="14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800" i="1" dirty="0">
                <a:solidFill>
                  <a:schemeClr val="tx1"/>
                </a:solidFill>
              </a:rPr>
              <a:t>Wat de kosten betreft, … · Enerzijds… anderzijds… · De syndicus daarentegen wil… · Ten slotte schrijf ik…</a:t>
            </a:r>
            <a:endParaRPr lang="en-US" sz="18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500" dirty="0">
                <a:solidFill>
                  <a:schemeClr val="tx1"/>
                </a:solidFill>
              </a:rPr>
              <a:t>Repérer les connecteurs dans un débat · bâtir un argumentaire de 5 phrases · parler 90 secondes devant un trio · réagir dans un groupe de voisins</a:t>
            </a:r>
            <a:endParaRPr lang="en-US" sz="15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59674"/>
            <a:ext cx="384048" cy="384048"/>
          </a:xfrm>
          <a:prstGeom prst="ellipse">
            <a:avLst/>
          </a:prstGeom>
          <a:solidFill>
            <a:schemeClr val="tx2"/>
          </a:solidFill>
          <a:ln/>
        </p:spPr>
      </p:sp>
      <p:sp>
        <p:nvSpPr>
          <p:cNvPr id="24" name="Text 18"/>
          <p:cNvSpPr txBox="1"/>
          <p:nvPr/>
        </p:nvSpPr>
        <p:spPr>
          <a:xfrm>
            <a:off x="6263640" y="195967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54355"/>
          </a:xfrm>
          <a:prstGeom prst="rect">
            <a:avLst/>
          </a:prstGeom>
          <a:noFill/>
          <a:ln/>
        </p:spPr>
        <p:txBody>
          <a:bodyPr wrap="square" lIns="0" tIns="0" rIns="0" bIns="0" rtlCol="0" anchor="ctr"/>
          <a:lstStyle/>
          <a:p>
            <a:pPr indent="0" marL="0">
              <a:buNone/>
            </a:pPr>
            <a:r>
              <a:rPr lang="en-US" sz="1600" dirty="0">
                <a:solidFill>
                  <a:schemeClr val="tx1"/>
                </a:solidFill>
              </a:rPr>
              <a:t>Rappel séance 12</a:t>
            </a:r>
            <a:endParaRPr lang="en-US" sz="1600" dirty="0"/>
          </a:p>
        </p:txBody>
      </p:sp>
      <p:sp>
        <p:nvSpPr>
          <p:cNvPr id="26" name="Text 20"/>
          <p:cNvSpPr txBox="1"/>
          <p:nvPr/>
        </p:nvSpPr>
        <p:spPr>
          <a:xfrm>
            <a:off x="10972800" y="187452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8'</a:t>
            </a:r>
            <a:endParaRPr lang="en-US" sz="1500" dirty="0"/>
          </a:p>
        </p:txBody>
      </p:sp>
      <p:sp>
        <p:nvSpPr>
          <p:cNvPr id="27" name="Shape 21"/>
          <p:cNvSpPr/>
          <p:nvPr/>
        </p:nvSpPr>
        <p:spPr>
          <a:xfrm>
            <a:off x="6263640" y="2514029"/>
            <a:ext cx="384048" cy="384048"/>
          </a:xfrm>
          <a:prstGeom prst="ellipse">
            <a:avLst/>
          </a:prstGeom>
          <a:solidFill>
            <a:schemeClr val="tx2"/>
          </a:solidFill>
          <a:ln/>
        </p:spPr>
      </p:sp>
      <p:sp>
        <p:nvSpPr>
          <p:cNvPr id="28" name="Text 22"/>
          <p:cNvSpPr txBox="1"/>
          <p:nvPr/>
        </p:nvSpPr>
        <p:spPr>
          <a:xfrm>
            <a:off x="6263640" y="251402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28875"/>
            <a:ext cx="4114800" cy="554355"/>
          </a:xfrm>
          <a:prstGeom prst="rect">
            <a:avLst/>
          </a:prstGeom>
          <a:noFill/>
          <a:ln/>
        </p:spPr>
        <p:txBody>
          <a:bodyPr wrap="square" lIns="0" tIns="0" rIns="0" bIns="0" rtlCol="0" anchor="ctr"/>
          <a:lstStyle/>
          <a:p>
            <a:pPr indent="0" marL="0">
              <a:buNone/>
            </a:pPr>
            <a:r>
              <a:rPr lang="en-US" sz="1600" dirty="0">
                <a:solidFill>
                  <a:schemeClr val="tx1"/>
                </a:solidFill>
              </a:rPr>
              <a:t>7.3 · pourquoi structurer (p. 11)</a:t>
            </a:r>
            <a:endParaRPr lang="en-US" sz="1600" dirty="0"/>
          </a:p>
        </p:txBody>
      </p:sp>
      <p:sp>
        <p:nvSpPr>
          <p:cNvPr id="30" name="Text 24"/>
          <p:cNvSpPr txBox="1"/>
          <p:nvPr/>
        </p:nvSpPr>
        <p:spPr>
          <a:xfrm>
            <a:off x="10972800" y="242887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6'</a:t>
            </a:r>
            <a:endParaRPr lang="en-US" sz="1500" dirty="0"/>
          </a:p>
        </p:txBody>
      </p:sp>
      <p:sp>
        <p:nvSpPr>
          <p:cNvPr id="31" name="Shape 25"/>
          <p:cNvSpPr/>
          <p:nvPr/>
        </p:nvSpPr>
        <p:spPr>
          <a:xfrm>
            <a:off x="6263640" y="3068384"/>
            <a:ext cx="384048" cy="384048"/>
          </a:xfrm>
          <a:prstGeom prst="ellipse">
            <a:avLst/>
          </a:prstGeom>
          <a:solidFill>
            <a:schemeClr val="tx2"/>
          </a:solidFill>
          <a:ln/>
        </p:spPr>
      </p:sp>
      <p:sp>
        <p:nvSpPr>
          <p:cNvPr id="32" name="Text 26"/>
          <p:cNvSpPr txBox="1"/>
          <p:nvPr/>
        </p:nvSpPr>
        <p:spPr>
          <a:xfrm>
            <a:off x="6263640" y="30683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983230"/>
            <a:ext cx="4114800" cy="554355"/>
          </a:xfrm>
          <a:prstGeom prst="rect">
            <a:avLst/>
          </a:prstGeom>
          <a:noFill/>
          <a:ln/>
        </p:spPr>
        <p:txBody>
          <a:bodyPr wrap="square" lIns="0" tIns="0" rIns="0" bIns="0" rtlCol="0" anchor="ctr"/>
          <a:lstStyle/>
          <a:p>
            <a:pPr indent="0" marL="0">
              <a:buNone/>
            </a:pPr>
            <a:r>
              <a:rPr lang="en-US" sz="1600" dirty="0">
                <a:solidFill>
                  <a:schemeClr val="tx1"/>
                </a:solidFill>
              </a:rPr>
              <a:t>Les connecteurs et l’inversion (p. 12–13)</a:t>
            </a:r>
            <a:endParaRPr lang="en-US" sz="1600" dirty="0"/>
          </a:p>
        </p:txBody>
      </p:sp>
      <p:sp>
        <p:nvSpPr>
          <p:cNvPr id="34" name="Text 28"/>
          <p:cNvSpPr txBox="1"/>
          <p:nvPr/>
        </p:nvSpPr>
        <p:spPr>
          <a:xfrm>
            <a:off x="10972800" y="298323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14'</a:t>
            </a:r>
            <a:endParaRPr lang="en-US" sz="1500" dirty="0"/>
          </a:p>
        </p:txBody>
      </p:sp>
      <p:sp>
        <p:nvSpPr>
          <p:cNvPr id="35" name="Shape 29"/>
          <p:cNvSpPr/>
          <p:nvPr/>
        </p:nvSpPr>
        <p:spPr>
          <a:xfrm>
            <a:off x="6263640" y="3622738"/>
            <a:ext cx="384048" cy="384048"/>
          </a:xfrm>
          <a:prstGeom prst="ellipse">
            <a:avLst/>
          </a:prstGeom>
          <a:solidFill>
            <a:schemeClr val="tx2"/>
          </a:solidFill>
          <a:ln/>
        </p:spPr>
      </p:sp>
      <p:sp>
        <p:nvSpPr>
          <p:cNvPr id="36" name="Text 30"/>
          <p:cNvSpPr txBox="1"/>
          <p:nvPr/>
        </p:nvSpPr>
        <p:spPr>
          <a:xfrm>
            <a:off x="6263640" y="362273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37585"/>
            <a:ext cx="4114800" cy="554355"/>
          </a:xfrm>
          <a:prstGeom prst="rect">
            <a:avLst/>
          </a:prstGeom>
          <a:noFill/>
          <a:ln/>
        </p:spPr>
        <p:txBody>
          <a:bodyPr wrap="square" lIns="0" tIns="0" rIns="0" bIns="0" rtlCol="0" anchor="ctr"/>
          <a:lstStyle/>
          <a:p>
            <a:pPr indent="0" marL="0">
              <a:buNone/>
            </a:pPr>
            <a:r>
              <a:rPr lang="en-US" sz="1600" dirty="0">
                <a:solidFill>
                  <a:schemeClr val="tx1"/>
                </a:solidFill>
              </a:rPr>
              <a:t>Ex. 5 · écoute : le débat</a:t>
            </a:r>
            <a:endParaRPr lang="en-US" sz="1600" dirty="0"/>
          </a:p>
        </p:txBody>
      </p:sp>
      <p:sp>
        <p:nvSpPr>
          <p:cNvPr id="38" name="Text 32"/>
          <p:cNvSpPr txBox="1"/>
          <p:nvPr/>
        </p:nvSpPr>
        <p:spPr>
          <a:xfrm>
            <a:off x="10972800" y="353758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39" name="Shape 33"/>
          <p:cNvSpPr/>
          <p:nvPr/>
        </p:nvSpPr>
        <p:spPr>
          <a:xfrm>
            <a:off x="6263640" y="4177093"/>
            <a:ext cx="384048" cy="384048"/>
          </a:xfrm>
          <a:prstGeom prst="ellipse">
            <a:avLst/>
          </a:prstGeom>
          <a:solidFill>
            <a:schemeClr val="tx2"/>
          </a:solidFill>
          <a:ln/>
        </p:spPr>
      </p:sp>
      <p:sp>
        <p:nvSpPr>
          <p:cNvPr id="40" name="Text 34"/>
          <p:cNvSpPr txBox="1"/>
          <p:nvPr/>
        </p:nvSpPr>
        <p:spPr>
          <a:xfrm>
            <a:off x="6263640" y="4177093"/>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091940"/>
            <a:ext cx="4114800" cy="554355"/>
          </a:xfrm>
          <a:prstGeom prst="rect">
            <a:avLst/>
          </a:prstGeom>
          <a:noFill/>
          <a:ln/>
        </p:spPr>
        <p:txBody>
          <a:bodyPr wrap="square" lIns="0" tIns="0" rIns="0" bIns="0" rtlCol="0" anchor="ctr"/>
          <a:lstStyle/>
          <a:p>
            <a:pPr indent="0" marL="0">
              <a:buNone/>
            </a:pPr>
            <a:r>
              <a:rPr lang="en-US" sz="1600" dirty="0">
                <a:solidFill>
                  <a:schemeClr val="tx1"/>
                </a:solidFill>
              </a:rPr>
              <a:t>Ex. 6 · bouw het betoog</a:t>
            </a:r>
            <a:endParaRPr lang="en-US" sz="1600" dirty="0"/>
          </a:p>
        </p:txBody>
      </p:sp>
      <p:sp>
        <p:nvSpPr>
          <p:cNvPr id="42" name="Text 36"/>
          <p:cNvSpPr txBox="1"/>
          <p:nvPr/>
        </p:nvSpPr>
        <p:spPr>
          <a:xfrm>
            <a:off x="10972800" y="409194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43" name="Shape 37"/>
          <p:cNvSpPr/>
          <p:nvPr/>
        </p:nvSpPr>
        <p:spPr>
          <a:xfrm>
            <a:off x="6263640" y="4731449"/>
            <a:ext cx="384048" cy="384048"/>
          </a:xfrm>
          <a:prstGeom prst="ellipse">
            <a:avLst/>
          </a:prstGeom>
          <a:solidFill>
            <a:schemeClr val="tx2"/>
          </a:solidFill>
          <a:ln/>
        </p:spPr>
      </p:sp>
      <p:sp>
        <p:nvSpPr>
          <p:cNvPr id="44" name="Text 38"/>
          <p:cNvSpPr txBox="1"/>
          <p:nvPr/>
        </p:nvSpPr>
        <p:spPr>
          <a:xfrm>
            <a:off x="6263640" y="473144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646295"/>
            <a:ext cx="4114800" cy="554355"/>
          </a:xfrm>
          <a:prstGeom prst="rect">
            <a:avLst/>
          </a:prstGeom>
          <a:noFill/>
          <a:ln/>
        </p:spPr>
        <p:txBody>
          <a:bodyPr wrap="square" lIns="0" tIns="0" rIns="0" bIns="0" rtlCol="0" anchor="ctr"/>
          <a:lstStyle/>
          <a:p>
            <a:pPr indent="0" marL="0">
              <a:buNone/>
            </a:pPr>
            <a:r>
              <a:rPr lang="en-US" sz="1600" dirty="0">
                <a:solidFill>
                  <a:schemeClr val="tx1"/>
                </a:solidFill>
              </a:rPr>
              <a:t>TAAK 3 · uw standpunt (90 s)</a:t>
            </a:r>
            <a:endParaRPr lang="en-US" sz="1600" dirty="0"/>
          </a:p>
        </p:txBody>
      </p:sp>
      <p:sp>
        <p:nvSpPr>
          <p:cNvPr id="46" name="Text 40"/>
          <p:cNvSpPr txBox="1"/>
          <p:nvPr/>
        </p:nvSpPr>
        <p:spPr>
          <a:xfrm>
            <a:off x="10972800" y="464629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18'</a:t>
            </a:r>
            <a:endParaRPr lang="en-US" sz="1500" dirty="0"/>
          </a:p>
        </p:txBody>
      </p:sp>
      <p:sp>
        <p:nvSpPr>
          <p:cNvPr id="47" name="Shape 41"/>
          <p:cNvSpPr/>
          <p:nvPr/>
        </p:nvSpPr>
        <p:spPr>
          <a:xfrm>
            <a:off x="6263640" y="5285804"/>
            <a:ext cx="384048" cy="384048"/>
          </a:xfrm>
          <a:prstGeom prst="ellipse">
            <a:avLst/>
          </a:prstGeom>
          <a:solidFill>
            <a:schemeClr val="tx2"/>
          </a:solidFill>
          <a:ln/>
        </p:spPr>
      </p:sp>
      <p:sp>
        <p:nvSpPr>
          <p:cNvPr id="48" name="Text 42"/>
          <p:cNvSpPr txBox="1"/>
          <p:nvPr/>
        </p:nvSpPr>
        <p:spPr>
          <a:xfrm>
            <a:off x="6263640" y="52858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00650"/>
            <a:ext cx="4114800" cy="554355"/>
          </a:xfrm>
          <a:prstGeom prst="rect">
            <a:avLst/>
          </a:prstGeom>
          <a:noFill/>
          <a:ln/>
        </p:spPr>
        <p:txBody>
          <a:bodyPr wrap="square" lIns="0" tIns="0" rIns="0" bIns="0" rtlCol="0" anchor="ctr"/>
          <a:lstStyle/>
          <a:p>
            <a:pPr indent="0" marL="0">
              <a:buNone/>
            </a:pPr>
            <a:r>
              <a:rPr lang="en-US" sz="1600" dirty="0">
                <a:solidFill>
                  <a:schemeClr val="tx1"/>
                </a:solidFill>
              </a:rPr>
              <a:t>D3 · In de buurtgroep</a:t>
            </a:r>
            <a:endParaRPr lang="en-US" sz="1600" dirty="0"/>
          </a:p>
        </p:txBody>
      </p:sp>
      <p:sp>
        <p:nvSpPr>
          <p:cNvPr id="50" name="Text 44"/>
          <p:cNvSpPr txBox="1"/>
          <p:nvPr/>
        </p:nvSpPr>
        <p:spPr>
          <a:xfrm>
            <a:off x="10972800" y="520065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17'</a:t>
            </a:r>
            <a:endParaRPr lang="en-US" sz="1500" dirty="0"/>
          </a:p>
        </p:txBody>
      </p:sp>
      <p:sp>
        <p:nvSpPr>
          <p:cNvPr id="51" name="Shape 45"/>
          <p:cNvSpPr/>
          <p:nvPr/>
        </p:nvSpPr>
        <p:spPr>
          <a:xfrm>
            <a:off x="6263640" y="5840158"/>
            <a:ext cx="384048" cy="384048"/>
          </a:xfrm>
          <a:prstGeom prst="ellipse">
            <a:avLst/>
          </a:prstGeom>
          <a:solidFill>
            <a:schemeClr val="tx2"/>
          </a:solidFill>
          <a:ln/>
        </p:spPr>
      </p:sp>
      <p:sp>
        <p:nvSpPr>
          <p:cNvPr id="52" name="Text 46"/>
          <p:cNvSpPr txBox="1"/>
          <p:nvPr/>
        </p:nvSpPr>
        <p:spPr>
          <a:xfrm>
            <a:off x="6263640" y="584015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5755005"/>
            <a:ext cx="4114800" cy="554355"/>
          </a:xfrm>
          <a:prstGeom prst="rect">
            <a:avLst/>
          </a:prstGeom>
          <a:noFill/>
          <a:ln/>
        </p:spPr>
        <p:txBody>
          <a:bodyPr wrap="square" lIns="0" tIns="0" rIns="0" bIns="0" rtlCol="0" anchor="ctr"/>
          <a:lstStyle/>
          <a:p>
            <a:pPr indent="0" marL="0">
              <a:buNone/>
            </a:pPr>
            <a:r>
              <a:rPr lang="en-US" sz="1600" dirty="0">
                <a:solidFill>
                  <a:schemeClr val="tx1"/>
                </a:solidFill>
              </a:rPr>
              <a:t>Bilan</a:t>
            </a:r>
            <a:endParaRPr lang="en-US" sz="1600" dirty="0"/>
          </a:p>
        </p:txBody>
      </p:sp>
      <p:sp>
        <p:nvSpPr>
          <p:cNvPr id="54" name="Text 48"/>
          <p:cNvSpPr txBox="1"/>
          <p:nvPr/>
        </p:nvSpPr>
        <p:spPr>
          <a:xfrm>
            <a:off x="10972800" y="575500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3'</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12 : les nominalisations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12</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Nominalisez — seul · 4 min, puis correction orale.</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We stellen de werken uit. → … van de werken</a:t>
            </a:r>
            <a:endParaRPr lang="en-US" sz="2600" dirty="0"/>
          </a:p>
          <a:p>
            <a:pPr indent="0" marL="0">
              <a:spcAft>
                <a:spcPts val="1400"/>
              </a:spcAft>
              <a:buNone/>
            </a:pPr>
            <a:r>
              <a:rPr lang="en-US" sz="2600" b="1" dirty="0">
                <a:solidFill>
                  <a:schemeClr val="tx2"/>
                </a:solidFill>
              </a:rPr>
              <a:t>2.  </a:t>
            </a:r>
            <a:r>
              <a:rPr lang="en-US" sz="2600" dirty="0">
                <a:solidFill>
                  <a:schemeClr val="tx1"/>
                </a:solidFill>
              </a:rPr>
              <a:t>We verdelen de kosten. → …</a:t>
            </a:r>
            <a:endParaRPr lang="en-US" sz="2600" dirty="0"/>
          </a:p>
          <a:p>
            <a:pPr indent="0" marL="0">
              <a:spcAft>
                <a:spcPts val="1400"/>
              </a:spcAft>
              <a:buNone/>
            </a:pPr>
            <a:r>
              <a:rPr lang="en-US" sz="2600" b="1" dirty="0">
                <a:solidFill>
                  <a:schemeClr val="tx2"/>
                </a:solidFill>
              </a:rPr>
              <a:t>3.  </a:t>
            </a:r>
            <a:r>
              <a:rPr lang="en-US" sz="2600" dirty="0">
                <a:solidFill>
                  <a:schemeClr val="tx1"/>
                </a:solidFill>
              </a:rPr>
              <a:t>We verhogen de bijdrage. → …</a:t>
            </a:r>
            <a:endParaRPr lang="en-US" sz="2600" dirty="0"/>
          </a:p>
          <a:p>
            <a:pPr indent="0" marL="0">
              <a:spcAft>
                <a:spcPts val="1400"/>
              </a:spcAft>
              <a:buNone/>
            </a:pPr>
            <a:r>
              <a:rPr lang="en-US" sz="2600" b="1" dirty="0">
                <a:solidFill>
                  <a:schemeClr val="tx2"/>
                </a:solidFill>
              </a:rPr>
              <a:t>4.  </a:t>
            </a:r>
            <a:r>
              <a:rPr lang="en-US" sz="2600" dirty="0">
                <a:solidFill>
                  <a:schemeClr val="tx1"/>
                </a:solidFill>
              </a:rPr>
              <a:t>aanwezig → …</a:t>
            </a:r>
            <a:endParaRPr lang="en-US" sz="2600" dirty="0"/>
          </a:p>
          <a:p>
            <a:pPr indent="0" marL="0">
              <a:spcAft>
                <a:spcPts val="1400"/>
              </a:spcAft>
              <a:buNone/>
            </a:pPr>
            <a:r>
              <a:rPr lang="en-US" sz="2600" b="1" dirty="0">
                <a:solidFill>
                  <a:schemeClr val="tx2"/>
                </a:solidFill>
              </a:rPr>
              <a:t>5.  </a:t>
            </a:r>
            <a:r>
              <a:rPr lang="en-US" sz="2600" dirty="0">
                <a:solidFill>
                  <a:schemeClr val="tx1"/>
                </a:solidFill>
              </a:rPr>
              <a:t>Phrase verbale : « Goedkeuring van de notulen.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12 : les nominalisations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12</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Nominalisez — seul · 4 min, puis correction orale.</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1.  </a:t>
            </a:r>
            <a:r>
              <a:rPr lang="en-US" sz="1800" dirty="0">
                <a:solidFill>
                  <a:schemeClr val="tx1"/>
                </a:solidFill>
              </a:rPr>
              <a:t>We stellen de werken uit. → … van de werken</a:t>
            </a:r>
            <a:endParaRPr lang="en-US" sz="1800" dirty="0"/>
          </a:p>
          <a:p>
            <a:pPr indent="0" marL="0">
              <a:spcAft>
                <a:spcPts val="1200"/>
              </a:spcAft>
              <a:buNone/>
            </a:pPr>
            <a:r>
              <a:rPr lang="en-US" sz="1800" b="1" dirty="0">
                <a:solidFill>
                  <a:schemeClr val="accent3"/>
                </a:solidFill>
              </a:rPr>
              <a:t>→ </a:t>
            </a:r>
            <a:r>
              <a:rPr lang="en-US" sz="1800" b="1" dirty="0">
                <a:solidFill>
                  <a:schemeClr val="accent3"/>
                </a:solidFill>
              </a:rPr>
              <a:t>het uitstellen</a:t>
            </a:r>
            <a:r>
              <a:rPr lang="en-US" sz="1800" dirty="0">
                <a:solidFill>
                  <a:schemeClr val="accent3"/>
                </a:solidFill>
              </a:rPr>
              <a:t> van de werken</a:t>
            </a:r>
            <a:endParaRPr lang="en-US" sz="1800" dirty="0"/>
          </a:p>
          <a:p>
            <a:pPr indent="0" marL="0">
              <a:spcAft>
                <a:spcPts val="400"/>
              </a:spcAft>
              <a:buNone/>
            </a:pPr>
            <a:r>
              <a:rPr lang="en-US" sz="1800" b="1" dirty="0">
                <a:solidFill>
                  <a:schemeClr val="tx2"/>
                </a:solidFill>
              </a:rPr>
              <a:t>2.  </a:t>
            </a:r>
            <a:r>
              <a:rPr lang="en-US" sz="1800" dirty="0">
                <a:solidFill>
                  <a:schemeClr val="tx1"/>
                </a:solidFill>
              </a:rPr>
              <a:t>We verdelen de kosten. →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de </a:t>
            </a:r>
            <a:r>
              <a:rPr lang="en-US" sz="1800" b="1" dirty="0">
                <a:solidFill>
                  <a:schemeClr val="accent3"/>
                </a:solidFill>
              </a:rPr>
              <a:t>verdeling</a:t>
            </a:r>
            <a:r>
              <a:rPr lang="en-US" sz="1800" dirty="0">
                <a:solidFill>
                  <a:schemeClr val="accent3"/>
                </a:solidFill>
              </a:rPr>
              <a:t> van de kosten</a:t>
            </a:r>
            <a:endParaRPr lang="en-US" sz="1800" dirty="0"/>
          </a:p>
          <a:p>
            <a:pPr indent="0" marL="0">
              <a:spcAft>
                <a:spcPts val="400"/>
              </a:spcAft>
              <a:buNone/>
            </a:pPr>
            <a:r>
              <a:rPr lang="en-US" sz="1800" b="1" dirty="0">
                <a:solidFill>
                  <a:schemeClr val="tx2"/>
                </a:solidFill>
              </a:rPr>
              <a:t>3.  </a:t>
            </a:r>
            <a:r>
              <a:rPr lang="en-US" sz="1800" dirty="0">
                <a:solidFill>
                  <a:schemeClr val="tx1"/>
                </a:solidFill>
              </a:rPr>
              <a:t>We verhogen de bijdrage. →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de </a:t>
            </a:r>
            <a:r>
              <a:rPr lang="en-US" sz="1800" b="1" dirty="0">
                <a:solidFill>
                  <a:schemeClr val="accent3"/>
                </a:solidFill>
              </a:rPr>
              <a:t>verhoging</a:t>
            </a:r>
            <a:r>
              <a:rPr lang="en-US" sz="1800" dirty="0">
                <a:solidFill>
                  <a:schemeClr val="accent3"/>
                </a:solidFill>
              </a:rPr>
              <a:t> van de bijdrage</a:t>
            </a:r>
            <a:endParaRPr lang="en-US" sz="1800" dirty="0"/>
          </a:p>
          <a:p>
            <a:pPr indent="0" marL="0">
              <a:spcAft>
                <a:spcPts val="400"/>
              </a:spcAft>
              <a:buNone/>
            </a:pPr>
            <a:r>
              <a:rPr lang="en-US" sz="1800" b="1" dirty="0">
                <a:solidFill>
                  <a:schemeClr val="tx2"/>
                </a:solidFill>
              </a:rPr>
              <a:t>4.  </a:t>
            </a:r>
            <a:r>
              <a:rPr lang="en-US" sz="1800" dirty="0">
                <a:solidFill>
                  <a:schemeClr val="tx1"/>
                </a:solidFill>
              </a:rPr>
              <a:t>aanwezig →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de </a:t>
            </a:r>
            <a:r>
              <a:rPr lang="en-US" sz="1800" b="1" dirty="0">
                <a:solidFill>
                  <a:schemeClr val="accent3"/>
                </a:solidFill>
              </a:rPr>
              <a:t>aanwezigheid</a:t>
            </a:r>
            <a:endParaRPr lang="en-US" sz="1800" dirty="0"/>
          </a:p>
          <a:p>
            <a:pPr indent="0" marL="0">
              <a:spcAft>
                <a:spcPts val="400"/>
              </a:spcAft>
              <a:buNone/>
            </a:pPr>
            <a:r>
              <a:rPr lang="en-US" sz="1800" b="1" dirty="0">
                <a:solidFill>
                  <a:schemeClr val="tx2"/>
                </a:solidFill>
              </a:rPr>
              <a:t>5.  </a:t>
            </a:r>
            <a:r>
              <a:rPr lang="en-US" sz="1800" dirty="0">
                <a:solidFill>
                  <a:schemeClr val="tx1"/>
                </a:solidFill>
              </a:rPr>
              <a:t>Phrase verbale : « Goedkeuring van de notulen.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We keuren de notulen </a:t>
            </a:r>
            <a:r>
              <a:rPr lang="en-US" sz="1800" b="1" dirty="0">
                <a:solidFill>
                  <a:schemeClr val="accent3"/>
                </a:solidFill>
              </a:rPr>
              <a:t>goed</a:t>
            </a:r>
            <a:r>
              <a:rPr lang="en-US" sz="1800" dirty="0">
                <a:solidFill>
                  <a:schemeClr val="accent3"/>
                </a:solidFill>
              </a:rPr>
              <a:t>. · De notulen </a:t>
            </a:r>
            <a:r>
              <a:rPr lang="en-US" sz="1800" b="1" dirty="0">
                <a:solidFill>
                  <a:schemeClr val="accent3"/>
                </a:solidFill>
              </a:rPr>
              <a:t>worden goedgekeurd</a:t>
            </a:r>
            <a:r>
              <a:rPr lang="en-US" sz="1800" dirty="0">
                <a:solidFill>
                  <a:schemeClr val="accent3"/>
                </a:solidFill>
              </a:rPr>
              <a:t>.</a:t>
            </a:r>
            <a:endParaRPr lang="en-US" sz="18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-ing</a:t>
            </a:r>
            <a:r>
              <a:rPr lang="en-US" sz="1800" dirty="0">
                <a:solidFill>
                  <a:schemeClr val="tx1"/>
                </a:solidFill>
              </a:rPr>
              <a:t> → </a:t>
            </a:r>
            <a:r>
              <a:rPr lang="en-US" sz="1800" b="1" dirty="0">
                <a:solidFill>
                  <a:schemeClr val="tx1"/>
                </a:solidFill>
              </a:rPr>
              <a:t>de</a:t>
            </a:r>
            <a:r>
              <a:rPr lang="en-US" sz="1800" dirty="0">
                <a:solidFill>
                  <a:schemeClr val="tx1"/>
                </a:solidFill>
              </a:rPr>
              <a:t> · </a:t>
            </a:r>
            <a:r>
              <a:rPr lang="en-US" sz="1800" b="1" dirty="0">
                <a:solidFill>
                  <a:schemeClr val="tx1"/>
                </a:solidFill>
              </a:rPr>
              <a:t>het</a:t>
            </a:r>
            <a:r>
              <a:rPr lang="en-US" sz="1800" dirty="0">
                <a:solidFill>
                  <a:schemeClr val="tx1"/>
                </a:solidFill>
              </a:rPr>
              <a:t> + infinitif → </a:t>
            </a:r>
            <a:r>
              <a:rPr lang="en-US" sz="1800" b="1" dirty="0">
                <a:solidFill>
                  <a:schemeClr val="tx1"/>
                </a:solidFill>
              </a:rPr>
              <a:t>het</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Le complément passe par </a:t>
            </a:r>
            <a:r>
              <a:rPr lang="en-US" sz="1800" b="1" dirty="0">
                <a:solidFill>
                  <a:schemeClr val="tx1"/>
                </a:solidFill>
              </a:rPr>
              <a:t>van</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Séparables : </a:t>
            </a:r>
            <a:r>
              <a:rPr lang="en-US" sz="1800" i="1" dirty="0">
                <a:solidFill>
                  <a:schemeClr val="tx1"/>
                </a:solidFill>
              </a:rPr>
              <a:t>goedkeuren → goedkeuring</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7.3 : argumenter</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11</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9401"/>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6995160" y="1508760"/>
            <a:ext cx="1600200" cy="868680"/>
          </a:xfrm>
          <a:prstGeom prst="roundRect">
            <a:avLst>
              <a:gd name="adj" fmla="val 8421"/>
            </a:avLst>
          </a:prstGeom>
          <a:solidFill>
            <a:schemeClr val="tx2"/>
          </a:solidFill>
          <a:ln/>
        </p:spPr>
      </p:sp>
      <p:sp>
        <p:nvSpPr>
          <p:cNvPr id="8" name="Text 4"/>
          <p:cNvSpPr txBox="1"/>
          <p:nvPr/>
        </p:nvSpPr>
        <p:spPr>
          <a:xfrm>
            <a:off x="6995160" y="1554480"/>
            <a:ext cx="1600200" cy="777240"/>
          </a:xfrm>
          <a:prstGeom prst="rect">
            <a:avLst/>
          </a:prstGeom>
          <a:noFill/>
          <a:ln/>
        </p:spPr>
        <p:txBody>
          <a:bodyPr wrap="square" lIns="0" tIns="0" rIns="0" bIns="0" rtlCol="0" anchor="ctr"/>
          <a:lstStyle/>
          <a:p>
            <a:pPr algn="ctr" indent="0" marL="0">
              <a:buNone/>
            </a:pPr>
            <a:r>
              <a:rPr lang="en-US" sz="1100" b="1" spc="200" kern="0" dirty="0">
                <a:solidFill>
                  <a:schemeClr val="bg2"/>
                </a:solidFill>
              </a:rPr>
              <a:t>SÉQUENCE</a:t>
            </a:r>
            <a:endParaRPr lang="en-US" sz="1100" dirty="0"/>
          </a:p>
          <a:p>
            <a:pPr algn="ctr" indent="0" marL="0">
              <a:buNone/>
            </a:pPr>
            <a:r>
              <a:rPr lang="en-US" sz="2400" b="1" dirty="0">
                <a:solidFill>
                  <a:schemeClr val="bg1"/>
                </a:solidFill>
                <a:latin typeface="+mj-lt" pitchFamily="34" charset="0"/>
                <a:ea typeface="+mj-lt" pitchFamily="34" charset="-122"/>
                <a:cs typeface="+mj-lt" pitchFamily="34" charset="-120"/>
              </a:rPr>
              <a:t>7.3</a:t>
            </a:r>
            <a:endParaRPr lang="en-US" sz="1100" dirty="0"/>
          </a:p>
        </p:txBody>
      </p:sp>
      <p:sp>
        <p:nvSpPr>
          <p:cNvPr id="9" name="Text 5"/>
          <p:cNvSpPr txBox="1"/>
          <p:nvPr/>
        </p:nvSpPr>
        <p:spPr>
          <a:xfrm>
            <a:off x="6995160" y="2560320"/>
            <a:ext cx="4645152" cy="2380488"/>
          </a:xfrm>
          <a:prstGeom prst="rect">
            <a:avLst/>
          </a:prstGeom>
          <a:noFill/>
          <a:ln/>
        </p:spPr>
        <p:txBody>
          <a:bodyPr wrap="square" lIns="0" tIns="0" rIns="0" bIns="0" rtlCol="0" anchor="t"/>
          <a:lstStyle/>
          <a:p>
            <a:pPr indent="0" marL="0">
              <a:spcAft>
                <a:spcPts val="1000"/>
              </a:spcAft>
              <a:buNone/>
            </a:pPr>
            <a:r>
              <a:rPr lang="en-US" sz="1400" b="1" dirty="0">
                <a:solidFill>
                  <a:schemeClr val="tx1"/>
                </a:solidFill>
              </a:rPr>
              <a:t>Celui qui structure gagne</a:t>
            </a:r>
            <a:r>
              <a:rPr lang="en-US" sz="1400" dirty="0">
                <a:solidFill>
                  <a:schemeClr val="tx1"/>
                </a:solidFill>
              </a:rPr>
              <a:t> : les connecteurs font d’une opinion une </a:t>
            </a:r>
            <a:r>
              <a:rPr lang="en-US" sz="1400" b="1" dirty="0">
                <a:solidFill>
                  <a:schemeClr val="tx1"/>
                </a:solidFill>
              </a:rPr>
              <a:t>position</a:t>
            </a:r>
            <a:r>
              <a:rPr lang="en-US" sz="1400" dirty="0">
                <a:solidFill>
                  <a:schemeClr val="tx1"/>
                </a:solidFill>
              </a:rPr>
              <a:t>.</a:t>
            </a:r>
            <a:endParaRPr lang="en-US" sz="1400" dirty="0"/>
          </a:p>
          <a:p>
            <a:pPr indent="0" marL="0">
              <a:spcAft>
                <a:spcPts val="1000"/>
              </a:spcAft>
              <a:buNone/>
            </a:pPr>
            <a:r>
              <a:rPr lang="en-US" sz="1400" dirty="0">
                <a:solidFill>
                  <a:schemeClr val="tx1"/>
                </a:solidFill>
              </a:rPr>
              <a:t>Déjà connus : </a:t>
            </a:r>
            <a:r>
              <a:rPr lang="en-US" sz="1400" i="1" dirty="0">
                <a:solidFill>
                  <a:schemeClr val="tx1"/>
                </a:solidFill>
              </a:rPr>
              <a:t>ten eerste · bovendien · daarom · kortom</a:t>
            </a:r>
            <a:r>
              <a:rPr lang="en-US" sz="1400" dirty="0">
                <a:solidFill>
                  <a:schemeClr val="tx1"/>
                </a:solidFill>
              </a:rPr>
              <a:t>.</a:t>
            </a:r>
            <a:endParaRPr lang="en-US" sz="1400" dirty="0"/>
          </a:p>
          <a:p>
            <a:pPr indent="0" marL="0">
              <a:spcAft>
                <a:spcPts val="1000"/>
              </a:spcAft>
              <a:buNone/>
            </a:pPr>
            <a:r>
              <a:rPr lang="en-US" sz="1400" b="1" dirty="0">
                <a:solidFill>
                  <a:schemeClr val="tx1"/>
                </a:solidFill>
              </a:rPr>
              <a:t>Focus : lignes 4, 6 et 9</a:t>
            </a:r>
            <a:endParaRPr lang="en-US" sz="1400" dirty="0"/>
          </a:p>
          <a:p>
            <a:pPr indent="0" marL="0">
              <a:spcAft>
                <a:spcPts val="1000"/>
              </a:spcAft>
              <a:buNone/>
            </a:pPr>
            <a:r>
              <a:rPr lang="en-US" sz="1400" dirty="0">
                <a:solidFill>
                  <a:schemeClr val="tx1"/>
                </a:solidFill>
              </a:rPr>
              <a:t>«</a:t>
            </a:r>
            <a:r>
              <a:rPr lang="en-US" sz="1400" b="1" dirty="0">
                <a:solidFill>
                  <a:schemeClr val="tx1"/>
                </a:solidFill>
              </a:rPr>
              <a:t>Enerzijds</a:t>
            </a:r>
            <a:r>
              <a:rPr lang="en-US" sz="1400" dirty="0">
                <a:solidFill>
                  <a:schemeClr val="tx1"/>
                </a:solidFill>
              </a:rPr>
              <a:t> vindt zij de werken noodzakelijk, </a:t>
            </a:r>
            <a:r>
              <a:rPr lang="en-US" sz="1400" b="1" dirty="0">
                <a:solidFill>
                  <a:schemeClr val="tx1"/>
                </a:solidFill>
              </a:rPr>
              <a:t>anderzijds</a:t>
            </a:r>
            <a:r>
              <a:rPr lang="en-US" sz="1400" dirty="0">
                <a:solidFill>
                  <a:schemeClr val="tx1"/>
                </a:solidFill>
              </a:rPr>
              <a:t> vreest ze de kostprijs.»</a:t>
            </a:r>
            <a:endParaRPr lang="en-US" sz="1400" dirty="0"/>
          </a:p>
          <a:p>
            <a:pPr indent="0" marL="0">
              <a:spcAft>
                <a:spcPts val="1000"/>
              </a:spcAft>
              <a:buNone/>
            </a:pPr>
            <a:r>
              <a:rPr lang="en-US" sz="1400" dirty="0">
                <a:solidFill>
                  <a:schemeClr val="tx1"/>
                </a:solidFill>
              </a:rPr>
              <a:t>«De syndicus </a:t>
            </a:r>
            <a:r>
              <a:rPr lang="en-US" sz="1400" b="1" dirty="0">
                <a:solidFill>
                  <a:schemeClr val="tx1"/>
                </a:solidFill>
              </a:rPr>
              <a:t>daarentegen</a:t>
            </a:r>
            <a:r>
              <a:rPr lang="en-US" sz="1400" dirty="0">
                <a:solidFill>
                  <a:schemeClr val="tx1"/>
                </a:solidFill>
              </a:rPr>
              <a:t> wil…» · «</a:t>
            </a:r>
            <a:r>
              <a:rPr lang="en-US" sz="1400" b="1" dirty="0">
                <a:solidFill>
                  <a:schemeClr val="tx1"/>
                </a:solidFill>
              </a:rPr>
              <a:t>Ten slotte</a:t>
            </a:r>
            <a:r>
              <a:rPr lang="en-US" sz="1400" dirty="0">
                <a:solidFill>
                  <a:schemeClr val="tx1"/>
                </a:solidFill>
              </a:rPr>
              <a:t> schrijf ik…»</a:t>
            </a:r>
            <a:endParaRPr lang="en-US" sz="1400" dirty="0"/>
          </a:p>
        </p:txBody>
      </p:sp>
      <p:sp>
        <p:nvSpPr>
          <p:cNvPr id="10" name="Shape 6"/>
          <p:cNvSpPr/>
          <p:nvPr/>
        </p:nvSpPr>
        <p:spPr>
          <a:xfrm>
            <a:off x="6995160" y="5123688"/>
            <a:ext cx="4645152" cy="1167384"/>
          </a:xfrm>
          <a:prstGeom prst="roundRect">
            <a:avLst>
              <a:gd name="adj" fmla="val 6266"/>
            </a:avLst>
          </a:prstGeom>
          <a:solidFill>
            <a:schemeClr val="accent1">
              <a:alpha val="12000"/>
            </a:schemeClr>
          </a:solidFill>
          <a:ln w="12700">
            <a:solidFill>
              <a:srgbClr val="D9700F"/>
            </a:solidFill>
            <a:prstDash val="solid"/>
          </a:ln>
        </p:spPr>
      </p:sp>
      <p:sp>
        <p:nvSpPr>
          <p:cNvPr id="11" name="Text 7"/>
          <p:cNvSpPr txBox="1"/>
          <p:nvPr/>
        </p:nvSpPr>
        <p:spPr>
          <a:xfrm>
            <a:off x="7178040" y="521512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2" name="Text 8"/>
          <p:cNvSpPr txBox="1"/>
          <p:nvPr/>
        </p:nvSpPr>
        <p:spPr>
          <a:xfrm>
            <a:off x="7178040" y="5507736"/>
            <a:ext cx="4279392" cy="710184"/>
          </a:xfrm>
          <a:prstGeom prst="rect">
            <a:avLst/>
          </a:prstGeom>
          <a:noFill/>
          <a:ln/>
        </p:spPr>
        <p:txBody>
          <a:bodyPr wrap="square" lIns="0" tIns="0" rIns="0" bIns="0" rtlCol="0" anchor="t"/>
          <a:lstStyle/>
          <a:p>
            <a:pPr indent="0" marL="0">
              <a:buNone/>
            </a:pPr>
            <a:r>
              <a:rPr lang="en-US" sz="1700" dirty="0">
                <a:solidFill>
                  <a:schemeClr val="tx1"/>
                </a:solidFill>
              </a:rPr>
              <a:t>Dans « Ten slotte schrijf ik… » : quel mot suit « ten slotte » : le verbe ou le sujet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Les connecteurs avancés</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12</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40280"/>
                <a:gridCol w="2011680"/>
                <a:gridCol w="2194560"/>
                <a:gridCol w="4645152"/>
              </a:tblGrid>
              <a:tr h="557784">
                <a:tc>
                  <a:txBody>
                    <a:bodyPr/>
                    <a:lstStyle/>
                    <a:p>
                      <a:pPr algn="l" indent="0" marL="0">
                        <a:buNone/>
                      </a:pPr>
                      <a:r>
                        <a:rPr lang="en-US" sz="1400" b="1" dirty="0">
                          <a:solidFill>
                            <a:schemeClr val="bg1"/>
                          </a:solidFill>
                        </a:rPr>
                        <a:t>CONNECTEUR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FRANÇAIS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FONCTION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EXEMPLE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708660">
                <a:tc>
                  <a:txBody>
                    <a:bodyPr/>
                    <a:lstStyle/>
                    <a:p>
                      <a:pPr algn="l" indent="0" marL="0">
                        <a:buNone/>
                      </a:pPr>
                      <a:r>
                        <a:rPr lang="en-US" sz="1600" b="1" dirty="0">
                          <a:solidFill>
                            <a:schemeClr val="tx1"/>
                          </a:solidFill>
                        </a:rPr>
                        <a:t>enerzijds… anderzijds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d’une part… d’autre part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peser le pour et le contre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Enerzijds zijn de werken duur, anderzijds zijn ze noodzakelijk.</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08660">
                <a:tc>
                  <a:txBody>
                    <a:bodyPr/>
                    <a:lstStyle/>
                    <a:p>
                      <a:pPr algn="l" indent="0" marL="0">
                        <a:buNone/>
                      </a:pPr>
                      <a:r>
                        <a:rPr lang="en-US" sz="1600" b="1" dirty="0">
                          <a:solidFill>
                            <a:schemeClr val="tx1"/>
                          </a:solidFill>
                        </a:rPr>
                        <a:t>echter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cependant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objection (style soigné)</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De offerte is echter nog niet volledig.</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08660">
                <a:tc>
                  <a:txBody>
                    <a:bodyPr/>
                    <a:lstStyle/>
                    <a:p>
                      <a:pPr algn="l" indent="0" marL="0">
                        <a:buNone/>
                      </a:pPr>
                      <a:r>
                        <a:rPr lang="en-US" sz="1600" b="1" dirty="0">
                          <a:solidFill>
                            <a:schemeClr val="tx1"/>
                          </a:solidFill>
                        </a:rPr>
                        <a:t>daarentegen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en revanche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contraste entre deux positions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De syndicus daarentegen wil snel stemmen.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08660">
                <a:tc>
                  <a:txBody>
                    <a:bodyPr/>
                    <a:lstStyle/>
                    <a:p>
                      <a:pPr algn="l" indent="0" marL="0">
                        <a:buNone/>
                      </a:pPr>
                      <a:r>
                        <a:rPr lang="en-US" sz="1600" b="1" dirty="0">
                          <a:solidFill>
                            <a:schemeClr val="tx1"/>
                          </a:solidFill>
                        </a:rPr>
                        <a:t>met andere woorden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autrement dit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reformuler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Met andere woorden: we hebben meer informatie nodig.</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08660">
                <a:tc>
                  <a:txBody>
                    <a:bodyPr/>
                    <a:lstStyle/>
                    <a:p>
                      <a:pPr algn="l" indent="0" marL="0">
                        <a:buNone/>
                      </a:pPr>
                      <a:r>
                        <a:rPr lang="en-US" sz="1600" b="1" dirty="0">
                          <a:solidFill>
                            <a:schemeClr val="tx1"/>
                          </a:solidFill>
                        </a:rPr>
                        <a:t>wat … betreft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en ce qui concerne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annoncer le thème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Wat de kosten betreft, stel ik een spreiding voor.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08660">
                <a:tc>
                  <a:txBody>
                    <a:bodyPr/>
                    <a:lstStyle/>
                    <a:p>
                      <a:pPr algn="l" indent="0" marL="0">
                        <a:buNone/>
                      </a:pPr>
                      <a:r>
                        <a:rPr lang="en-US" sz="1600" b="1" dirty="0">
                          <a:solidFill>
                            <a:schemeClr val="tx1"/>
                          </a:solidFill>
                        </a:rPr>
                        <a:t>ten slotte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enfin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clôturer la liste d’arguments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Ten slotte wil ik het reservefonds vermelden.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Connecteur + verbe + sujet</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13</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481328"/>
            <a:ext cx="7205472" cy="4516004"/>
          </a:xfrm>
          <a:prstGeom prst="rect">
            <a:avLst/>
          </a:prstGeom>
          <a:effectLst>
            <a:outerShdw sx="100000" sy="100000" kx="0" ky="0" algn="bl" rotWithShape="0" blurRad="101600" dist="25400" dir="3600000">
              <a:srgbClr val="000000">
                <a:alpha val="18000"/>
              </a:srgbClr>
            </a:outerShdw>
          </a:effectLst>
        </p:spPr>
      </p:pic>
      <p:sp>
        <p:nvSpPr>
          <p:cNvPr id="7" name="aside"/>
          <p:cNvSpPr/>
          <p:nvPr/>
        </p:nvSpPr>
        <p:spPr>
          <a:xfrm>
            <a:off x="8074152" y="1481328"/>
            <a:ext cx="3566160" cy="4809744"/>
          </a:xfrm>
          <a:prstGeom prst="roundRect">
            <a:avLst>
              <a:gd name="adj" fmla="val 2051"/>
            </a:avLst>
          </a:prstGeom>
          <a:solidFill>
            <a:schemeClr val="accent1">
              <a:alpha val="10000"/>
            </a:schemeClr>
          </a:solidFill>
          <a:ln w="12700">
            <a:solidFill>
              <a:schemeClr val="accent1">
                <a:alpha val="60000"/>
              </a:schemeClr>
            </a:solidFill>
            <a:prstDash val="solid"/>
          </a:ln>
        </p:spPr>
      </p:sp>
      <p:pic>
        <p:nvPicPr>
          <p:cNvPr id="8" name="Image 1" descr="preencoded.png">    </p:cNvPr>
          <p:cNvPicPr>
            <a:picLocks noChangeAspect="1"/>
          </p:cNvPicPr>
          <p:nvPr/>
        </p:nvPicPr>
        <p:blipFill>
          <a:blip r:embed="rId2"/>
          <a:stretch>
            <a:fillRect/>
          </a:stretch>
        </p:blipFill>
        <p:spPr>
          <a:xfrm>
            <a:off x="8257032" y="1664208"/>
            <a:ext cx="292608" cy="292608"/>
          </a:xfrm>
          <a:prstGeom prst="rect">
            <a:avLst/>
          </a:prstGeom>
        </p:spPr>
      </p:pic>
      <p:sp>
        <p:nvSpPr>
          <p:cNvPr id="9" name="Text 4"/>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1"/>
                </a:solidFill>
              </a:rPr>
              <a:t>L’INVERSION</a:t>
            </a:r>
            <a:endParaRPr lang="en-US" sz="1400" dirty="0"/>
          </a:p>
        </p:txBody>
      </p:sp>
      <p:sp>
        <p:nvSpPr>
          <p:cNvPr id="10" name="Text 5"/>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Connecteur en </a:t>
            </a:r>
            <a:r>
              <a:rPr lang="en-US" sz="1800" b="1" dirty="0">
                <a:solidFill>
                  <a:schemeClr val="tx1"/>
                </a:solidFill>
              </a:rPr>
              <a:t>tête de phrase</a:t>
            </a:r>
            <a:r>
              <a:rPr lang="en-US" sz="1800" dirty="0">
                <a:solidFill>
                  <a:schemeClr val="tx1"/>
                </a:solidFill>
              </a:rPr>
              <a:t> : le </a:t>
            </a:r>
            <a:r>
              <a:rPr lang="en-US" sz="1800" b="1" dirty="0">
                <a:solidFill>
                  <a:schemeClr val="tx1"/>
                </a:solidFill>
              </a:rPr>
              <a:t>verbe</a:t>
            </a:r>
            <a:r>
              <a:rPr lang="en-US" sz="1800" dirty="0">
                <a:solidFill>
                  <a:schemeClr val="tx1"/>
                </a:solidFill>
              </a:rPr>
              <a:t> passe en 2e position, le </a:t>
            </a:r>
            <a:r>
              <a:rPr lang="en-US" sz="1800" b="1" dirty="0">
                <a:solidFill>
                  <a:schemeClr val="tx1"/>
                </a:solidFill>
              </a:rPr>
              <a:t>sujet</a:t>
            </a:r>
            <a:r>
              <a:rPr lang="en-US" sz="1800" dirty="0">
                <a:solidFill>
                  <a:schemeClr val="tx1"/>
                </a:solidFill>
              </a:rPr>
              <a:t> après.</a:t>
            </a:r>
            <a:endParaRPr lang="en-US" sz="1800" dirty="0"/>
          </a:p>
          <a:p>
            <a:pPr marL="177800" indent="-177800">
              <a:spcAft>
                <a:spcPts val="600"/>
              </a:spcAft>
              <a:buSzPct val="100000"/>
              <a:buChar char="•"/>
            </a:pPr>
            <a:r>
              <a:rPr lang="en-US" sz="1800" i="1" dirty="0">
                <a:solidFill>
                  <a:schemeClr val="tx1"/>
                </a:solidFill>
              </a:rPr>
              <a:t>Daarentegen </a:t>
            </a:r>
            <a:r>
              <a:rPr lang="en-US" sz="1800" b="1" i="1" dirty="0">
                <a:solidFill>
                  <a:schemeClr val="tx1"/>
                </a:solidFill>
              </a:rPr>
              <a:t>wil</a:t>
            </a:r>
            <a:r>
              <a:rPr lang="en-US" sz="1800" i="1" dirty="0">
                <a:solidFill>
                  <a:schemeClr val="tx1"/>
                </a:solidFill>
              </a:rPr>
              <a:t> de syndicus… · Ten slotte </a:t>
            </a:r>
            <a:r>
              <a:rPr lang="en-US" sz="1800" b="1" i="1" dirty="0">
                <a:solidFill>
                  <a:schemeClr val="tx1"/>
                </a:solidFill>
              </a:rPr>
              <a:t>schrijf</a:t>
            </a:r>
            <a:r>
              <a:rPr lang="en-US" sz="1800" i="1" dirty="0">
                <a:solidFill>
                  <a:schemeClr val="tx1"/>
                </a:solidFill>
              </a:rPr>
              <a:t> ik… · Enerzijds </a:t>
            </a:r>
            <a:r>
              <a:rPr lang="en-US" sz="1800" b="1" i="1" dirty="0">
                <a:solidFill>
                  <a:schemeClr val="tx1"/>
                </a:solidFill>
              </a:rPr>
              <a:t>zijn</a:t>
            </a:r>
            <a:r>
              <a:rPr lang="en-US" sz="1800" i="1" dirty="0">
                <a:solidFill>
                  <a:schemeClr val="tx1"/>
                </a:solidFill>
              </a:rPr>
              <a:t> de werken duur…</a:t>
            </a:r>
            <a:endParaRPr lang="en-US" sz="1800" dirty="0"/>
          </a:p>
          <a:p>
            <a:pPr marL="177800" indent="-177800">
              <a:spcAft>
                <a:spcPts val="600"/>
              </a:spcAft>
              <a:buSzPct val="100000"/>
              <a:buChar char="•"/>
            </a:pPr>
            <a:r>
              <a:rPr lang="en-US" sz="1800" dirty="0">
                <a:solidFill>
                  <a:schemeClr val="tx1"/>
                </a:solidFill>
              </a:rPr>
              <a:t>Placés </a:t>
            </a:r>
            <a:r>
              <a:rPr lang="en-US" sz="1800" b="1" dirty="0">
                <a:solidFill>
                  <a:schemeClr val="tx1"/>
                </a:solidFill>
              </a:rPr>
              <a:t>après le sujet</a:t>
            </a:r>
            <a:r>
              <a:rPr lang="en-US" sz="1800" dirty="0">
                <a:solidFill>
                  <a:schemeClr val="tx1"/>
                </a:solidFill>
              </a:rPr>
              <a:t>, </a:t>
            </a:r>
            <a:r>
              <a:rPr lang="en-US" sz="1800" i="1" dirty="0">
                <a:solidFill>
                  <a:schemeClr val="tx1"/>
                </a:solidFill>
              </a:rPr>
              <a:t>echter</a:t>
            </a:r>
            <a:r>
              <a:rPr lang="en-US" sz="1800" dirty="0">
                <a:solidFill>
                  <a:schemeClr val="tx1"/>
                </a:solidFill>
              </a:rPr>
              <a:t> et </a:t>
            </a:r>
            <a:r>
              <a:rPr lang="en-US" sz="1800" i="1" dirty="0">
                <a:solidFill>
                  <a:schemeClr val="tx1"/>
                </a:solidFill>
              </a:rPr>
              <a:t>daarentegen</a:t>
            </a:r>
            <a:r>
              <a:rPr lang="en-US" sz="1800" dirty="0">
                <a:solidFill>
                  <a:schemeClr val="tx1"/>
                </a:solidFill>
              </a:rPr>
              <a:t> n’inversent rien : </a:t>
            </a:r>
            <a:r>
              <a:rPr lang="en-US" sz="1800" i="1" dirty="0">
                <a:solidFill>
                  <a:schemeClr val="tx1"/>
                </a:solidFill>
              </a:rPr>
              <a:t>De syndicus daarentegen wil…</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Inversion après un connecteur</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13</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Un </a:t>
            </a:r>
            <a:r>
              <a:rPr lang="en-US" sz="1800" b="1" dirty="0">
                <a:solidFill>
                  <a:schemeClr val="tx1"/>
                </a:solidFill>
              </a:rPr>
              <a:t>connecteur</a:t>
            </a:r>
            <a:r>
              <a:rPr lang="en-US" sz="1800" dirty="0">
                <a:solidFill>
                  <a:schemeClr val="tx1"/>
                </a:solidFill>
              </a:rPr>
              <a:t> en tête compte pour </a:t>
            </a:r>
            <a:r>
              <a:rPr lang="en-US" sz="1800" b="1" dirty="0">
                <a:solidFill>
                  <a:schemeClr val="tx1"/>
                </a:solidFill>
              </a:rPr>
              <a:t>une case</a:t>
            </a:r>
            <a:r>
              <a:rPr lang="en-US" sz="1800" dirty="0">
                <a:solidFill>
                  <a:schemeClr val="tx1"/>
                </a:solidFill>
              </a:rPr>
              <a:t> : le </a:t>
            </a:r>
            <a:r>
              <a:rPr lang="en-US" sz="1800" b="1" dirty="0">
                <a:solidFill>
                  <a:schemeClr val="tx1"/>
                </a:solidFill>
              </a:rPr>
              <a:t>verbe</a:t>
            </a:r>
            <a:r>
              <a:rPr lang="en-US" sz="1800" dirty="0">
                <a:solidFill>
                  <a:schemeClr val="tx1"/>
                </a:solidFill>
              </a:rPr>
              <a:t> vient juste après, le </a:t>
            </a:r>
            <a:r>
              <a:rPr lang="en-US" sz="1800" b="1" dirty="0">
                <a:solidFill>
                  <a:schemeClr val="tx1"/>
                </a:solidFill>
              </a:rPr>
              <a:t>sujet</a:t>
            </a:r>
            <a:r>
              <a:rPr lang="en-US" sz="1800" dirty="0">
                <a:solidFill>
                  <a:schemeClr val="tx1"/>
                </a:solidFill>
              </a:rPr>
              <a:t> ensuite.</a:t>
            </a:r>
            <a:endParaRPr lang="en-US" sz="1800" dirty="0"/>
          </a:p>
        </p:txBody>
      </p:sp>
      <p:sp>
        <p:nvSpPr>
          <p:cNvPr id="7" name="Text 4"/>
          <p:cNvSpPr txBox="1"/>
          <p:nvPr/>
        </p:nvSpPr>
        <p:spPr>
          <a:xfrm>
            <a:off x="548640" y="2185416"/>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Ten slotte</a:t>
            </a:r>
            <a:endParaRPr lang="en-US" sz="1400" dirty="0"/>
          </a:p>
        </p:txBody>
      </p:sp>
      <p:sp>
        <p:nvSpPr>
          <p:cNvPr id="8" name="Text 5"/>
          <p:cNvSpPr txBox="1"/>
          <p:nvPr/>
        </p:nvSpPr>
        <p:spPr>
          <a:xfrm>
            <a:off x="2103120" y="1947672"/>
            <a:ext cx="1385824"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9" name="Shape 6"/>
          <p:cNvSpPr/>
          <p:nvPr/>
        </p:nvSpPr>
        <p:spPr>
          <a:xfrm>
            <a:off x="2103120" y="2185416"/>
            <a:ext cx="1385824" cy="329184"/>
          </a:xfrm>
          <a:prstGeom prst="roundRect">
            <a:avLst>
              <a:gd name="adj" fmla="val 16667"/>
            </a:avLst>
          </a:prstGeom>
          <a:solidFill>
            <a:srgbClr val="6E4A9E">
              <a:alpha val="88000"/>
            </a:srgbClr>
          </a:solidFill>
          <a:ln w="12700">
            <a:solidFill>
              <a:srgbClr val="6E4A9E"/>
            </a:solidFill>
            <a:prstDash val="solid"/>
          </a:ln>
        </p:spPr>
      </p:sp>
      <p:sp>
        <p:nvSpPr>
          <p:cNvPr id="10" name="Text 7"/>
          <p:cNvSpPr txBox="1"/>
          <p:nvPr/>
        </p:nvSpPr>
        <p:spPr>
          <a:xfrm>
            <a:off x="2139696" y="2185416"/>
            <a:ext cx="1312672" cy="329184"/>
          </a:xfrm>
          <a:prstGeom prst="rect">
            <a:avLst/>
          </a:prstGeom>
          <a:noFill/>
          <a:ln/>
        </p:spPr>
        <p:txBody>
          <a:bodyPr wrap="square" lIns="0" tIns="0" rIns="0" bIns="0" rtlCol="0" anchor="ctr"/>
          <a:lstStyle/>
          <a:p>
            <a:pPr algn="ctr" indent="0" marL="0">
              <a:buNone/>
            </a:pPr>
            <a:r>
              <a:rPr lang="en-US" sz="1600" b="1" dirty="0">
                <a:solidFill>
                  <a:schemeClr val="bg1"/>
                </a:solidFill>
              </a:rPr>
              <a:t>Ten slotte</a:t>
            </a:r>
            <a:endParaRPr lang="en-US" sz="1600" dirty="0"/>
          </a:p>
        </p:txBody>
      </p:sp>
      <p:sp>
        <p:nvSpPr>
          <p:cNvPr id="11" name="Text 8"/>
          <p:cNvSpPr txBox="1"/>
          <p:nvPr/>
        </p:nvSpPr>
        <p:spPr>
          <a:xfrm>
            <a:off x="3598672" y="1947672"/>
            <a:ext cx="1068832"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12" name="Shape 9"/>
          <p:cNvSpPr/>
          <p:nvPr/>
        </p:nvSpPr>
        <p:spPr>
          <a:xfrm>
            <a:off x="3598672" y="2185416"/>
            <a:ext cx="1068832" cy="329184"/>
          </a:xfrm>
          <a:prstGeom prst="roundRect">
            <a:avLst>
              <a:gd name="adj" fmla="val 16667"/>
            </a:avLst>
          </a:prstGeom>
          <a:solidFill>
            <a:schemeClr val="accent6">
              <a:alpha val="88000"/>
            </a:schemeClr>
          </a:solidFill>
          <a:ln w="12700">
            <a:solidFill>
              <a:srgbClr val="B83227"/>
            </a:solidFill>
            <a:prstDash val="solid"/>
          </a:ln>
        </p:spPr>
      </p:sp>
      <p:sp>
        <p:nvSpPr>
          <p:cNvPr id="13" name="Text 10"/>
          <p:cNvSpPr txBox="1"/>
          <p:nvPr/>
        </p:nvSpPr>
        <p:spPr>
          <a:xfrm>
            <a:off x="3635248" y="2185416"/>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schrijf</a:t>
            </a:r>
            <a:endParaRPr lang="en-US" sz="1600" dirty="0"/>
          </a:p>
        </p:txBody>
      </p:sp>
      <p:sp>
        <p:nvSpPr>
          <p:cNvPr id="14" name="Text 11"/>
          <p:cNvSpPr txBox="1"/>
          <p:nvPr/>
        </p:nvSpPr>
        <p:spPr>
          <a:xfrm>
            <a:off x="4777232" y="1947672"/>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15" name="Shape 12"/>
          <p:cNvSpPr/>
          <p:nvPr/>
        </p:nvSpPr>
        <p:spPr>
          <a:xfrm>
            <a:off x="4777232" y="2185416"/>
            <a:ext cx="685800" cy="329184"/>
          </a:xfrm>
          <a:prstGeom prst="roundRect">
            <a:avLst>
              <a:gd name="adj" fmla="val 16667"/>
            </a:avLst>
          </a:prstGeom>
          <a:solidFill>
            <a:schemeClr val="tx2">
              <a:alpha val="88000"/>
            </a:schemeClr>
          </a:solidFill>
          <a:ln w="12700">
            <a:solidFill>
              <a:srgbClr val="17375E"/>
            </a:solidFill>
            <a:prstDash val="solid"/>
          </a:ln>
        </p:spPr>
      </p:sp>
      <p:sp>
        <p:nvSpPr>
          <p:cNvPr id="16" name="Text 13"/>
          <p:cNvSpPr txBox="1"/>
          <p:nvPr/>
        </p:nvSpPr>
        <p:spPr>
          <a:xfrm>
            <a:off x="4813808" y="218541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17" name="Text 14"/>
          <p:cNvSpPr txBox="1"/>
          <p:nvPr/>
        </p:nvSpPr>
        <p:spPr>
          <a:xfrm>
            <a:off x="5572760" y="1947672"/>
            <a:ext cx="1491488"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18" name="Shape 15"/>
          <p:cNvSpPr/>
          <p:nvPr/>
        </p:nvSpPr>
        <p:spPr>
          <a:xfrm>
            <a:off x="5572760" y="2185416"/>
            <a:ext cx="1491488" cy="329184"/>
          </a:xfrm>
          <a:prstGeom prst="roundRect">
            <a:avLst>
              <a:gd name="adj" fmla="val 16667"/>
            </a:avLst>
          </a:prstGeom>
          <a:solidFill>
            <a:schemeClr val="accent5">
              <a:alpha val="25000"/>
            </a:schemeClr>
          </a:solidFill>
          <a:ln w="12700">
            <a:solidFill>
              <a:srgbClr val="4A5A70"/>
            </a:solidFill>
            <a:prstDash val="solid"/>
          </a:ln>
        </p:spPr>
      </p:sp>
      <p:sp>
        <p:nvSpPr>
          <p:cNvPr id="19" name="Text 16"/>
          <p:cNvSpPr txBox="1"/>
          <p:nvPr/>
        </p:nvSpPr>
        <p:spPr>
          <a:xfrm>
            <a:off x="5609336" y="2185416"/>
            <a:ext cx="1418336" cy="329184"/>
          </a:xfrm>
          <a:prstGeom prst="rect">
            <a:avLst/>
          </a:prstGeom>
          <a:noFill/>
          <a:ln/>
        </p:spPr>
        <p:txBody>
          <a:bodyPr wrap="square" lIns="0" tIns="0" rIns="0" bIns="0" rtlCol="0" anchor="ctr"/>
          <a:lstStyle/>
          <a:p>
            <a:pPr algn="ctr" indent="0" marL="0">
              <a:buNone/>
            </a:pPr>
            <a:r>
              <a:rPr lang="en-US" sz="1600" b="1" dirty="0">
                <a:solidFill>
                  <a:schemeClr val="tx1"/>
                </a:solidFill>
              </a:rPr>
              <a:t>het verslag</a:t>
            </a:r>
            <a:endParaRPr lang="en-US" sz="1600" dirty="0"/>
          </a:p>
        </p:txBody>
      </p:sp>
      <p:sp>
        <p:nvSpPr>
          <p:cNvPr id="20" name="Text 17"/>
          <p:cNvSpPr txBox="1"/>
          <p:nvPr/>
        </p:nvSpPr>
        <p:spPr>
          <a:xfrm>
            <a:off x="2103120" y="2542032"/>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Enfin, j’écris le rapport.</a:t>
            </a:r>
            <a:endParaRPr lang="en-US" sz="1400" dirty="0"/>
          </a:p>
        </p:txBody>
      </p:sp>
      <p:sp>
        <p:nvSpPr>
          <p:cNvPr id="21" name="Text 18"/>
          <p:cNvSpPr txBox="1"/>
          <p:nvPr/>
        </p:nvSpPr>
        <p:spPr>
          <a:xfrm>
            <a:off x="548640" y="2868778"/>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Enerzijds…</a:t>
            </a:r>
            <a:endParaRPr lang="en-US" sz="1400" dirty="0"/>
          </a:p>
        </p:txBody>
      </p:sp>
      <p:sp>
        <p:nvSpPr>
          <p:cNvPr id="22" name="Text 19"/>
          <p:cNvSpPr txBox="1"/>
          <p:nvPr/>
        </p:nvSpPr>
        <p:spPr>
          <a:xfrm>
            <a:off x="2103120" y="2631034"/>
            <a:ext cx="128016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23" name="Shape 20"/>
          <p:cNvSpPr/>
          <p:nvPr/>
        </p:nvSpPr>
        <p:spPr>
          <a:xfrm>
            <a:off x="2103120" y="2868778"/>
            <a:ext cx="1280160" cy="329184"/>
          </a:xfrm>
          <a:prstGeom prst="roundRect">
            <a:avLst>
              <a:gd name="adj" fmla="val 16667"/>
            </a:avLst>
          </a:prstGeom>
          <a:solidFill>
            <a:srgbClr val="6E4A9E">
              <a:alpha val="88000"/>
            </a:srgbClr>
          </a:solidFill>
          <a:ln w="12700">
            <a:solidFill>
              <a:srgbClr val="6E4A9E"/>
            </a:solidFill>
            <a:prstDash val="solid"/>
          </a:ln>
        </p:spPr>
      </p:sp>
      <p:sp>
        <p:nvSpPr>
          <p:cNvPr id="24" name="Text 21"/>
          <p:cNvSpPr txBox="1"/>
          <p:nvPr/>
        </p:nvSpPr>
        <p:spPr>
          <a:xfrm>
            <a:off x="2139696" y="2868778"/>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Enerzijds</a:t>
            </a:r>
            <a:endParaRPr lang="en-US" sz="1600" dirty="0"/>
          </a:p>
        </p:txBody>
      </p:sp>
      <p:sp>
        <p:nvSpPr>
          <p:cNvPr id="25" name="Text 22"/>
          <p:cNvSpPr txBox="1"/>
          <p:nvPr/>
        </p:nvSpPr>
        <p:spPr>
          <a:xfrm>
            <a:off x="3493008" y="2631034"/>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26" name="Shape 23"/>
          <p:cNvSpPr/>
          <p:nvPr/>
        </p:nvSpPr>
        <p:spPr>
          <a:xfrm>
            <a:off x="3493008" y="2868778"/>
            <a:ext cx="751840" cy="329184"/>
          </a:xfrm>
          <a:prstGeom prst="roundRect">
            <a:avLst>
              <a:gd name="adj" fmla="val 16667"/>
            </a:avLst>
          </a:prstGeom>
          <a:solidFill>
            <a:schemeClr val="accent6">
              <a:alpha val="88000"/>
            </a:schemeClr>
          </a:solidFill>
          <a:ln w="12700">
            <a:solidFill>
              <a:srgbClr val="B83227"/>
            </a:solidFill>
            <a:prstDash val="solid"/>
          </a:ln>
        </p:spPr>
      </p:sp>
      <p:sp>
        <p:nvSpPr>
          <p:cNvPr id="27" name="Text 24"/>
          <p:cNvSpPr txBox="1"/>
          <p:nvPr/>
        </p:nvSpPr>
        <p:spPr>
          <a:xfrm>
            <a:off x="3529584" y="2868778"/>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zijn</a:t>
            </a:r>
            <a:endParaRPr lang="en-US" sz="1600" dirty="0"/>
          </a:p>
        </p:txBody>
      </p:sp>
      <p:sp>
        <p:nvSpPr>
          <p:cNvPr id="28" name="Text 25"/>
          <p:cNvSpPr txBox="1"/>
          <p:nvPr/>
        </p:nvSpPr>
        <p:spPr>
          <a:xfrm>
            <a:off x="4354576" y="2631034"/>
            <a:ext cx="128016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29" name="Shape 26"/>
          <p:cNvSpPr/>
          <p:nvPr/>
        </p:nvSpPr>
        <p:spPr>
          <a:xfrm>
            <a:off x="4354576" y="2868778"/>
            <a:ext cx="1280160" cy="329184"/>
          </a:xfrm>
          <a:prstGeom prst="roundRect">
            <a:avLst>
              <a:gd name="adj" fmla="val 16667"/>
            </a:avLst>
          </a:prstGeom>
          <a:solidFill>
            <a:schemeClr val="tx2">
              <a:alpha val="88000"/>
            </a:schemeClr>
          </a:solidFill>
          <a:ln w="12700">
            <a:solidFill>
              <a:srgbClr val="17375E"/>
            </a:solidFill>
            <a:prstDash val="solid"/>
          </a:ln>
        </p:spPr>
      </p:sp>
      <p:sp>
        <p:nvSpPr>
          <p:cNvPr id="30" name="Text 27"/>
          <p:cNvSpPr txBox="1"/>
          <p:nvPr/>
        </p:nvSpPr>
        <p:spPr>
          <a:xfrm>
            <a:off x="4391152" y="2868778"/>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de werken</a:t>
            </a:r>
            <a:endParaRPr lang="en-US" sz="1600" dirty="0"/>
          </a:p>
        </p:txBody>
      </p:sp>
      <p:sp>
        <p:nvSpPr>
          <p:cNvPr id="31" name="Text 28"/>
          <p:cNvSpPr txBox="1"/>
          <p:nvPr/>
        </p:nvSpPr>
        <p:spPr>
          <a:xfrm>
            <a:off x="5744464" y="2631034"/>
            <a:ext cx="751840" cy="219456"/>
          </a:xfrm>
          <a:prstGeom prst="rect">
            <a:avLst/>
          </a:prstGeom>
          <a:noFill/>
          <a:ln/>
        </p:spPr>
        <p:txBody>
          <a:bodyPr wrap="square" lIns="0" tIns="0" rIns="0" bIns="0" rtlCol="0" anchor="b"/>
          <a:lstStyle/>
          <a:p>
            <a:pPr algn="ctr" indent="0" marL="0">
              <a:buNone/>
            </a:pPr>
            <a:r>
              <a:rPr lang="en-US" sz="1000" b="1" dirty="0">
                <a:solidFill>
                  <a:schemeClr val="accent3"/>
                </a:solidFill>
              </a:rPr>
              <a:t>manier · comment</a:t>
            </a:r>
            <a:endParaRPr lang="en-US" sz="1000" dirty="0"/>
          </a:p>
        </p:txBody>
      </p:sp>
      <p:sp>
        <p:nvSpPr>
          <p:cNvPr id="32" name="Shape 29"/>
          <p:cNvSpPr/>
          <p:nvPr/>
        </p:nvSpPr>
        <p:spPr>
          <a:xfrm>
            <a:off x="5744464" y="2868778"/>
            <a:ext cx="751840" cy="329184"/>
          </a:xfrm>
          <a:prstGeom prst="roundRect">
            <a:avLst>
              <a:gd name="adj" fmla="val 16667"/>
            </a:avLst>
          </a:prstGeom>
          <a:solidFill>
            <a:schemeClr val="accent3">
              <a:alpha val="88000"/>
            </a:schemeClr>
          </a:solidFill>
          <a:ln w="12700">
            <a:solidFill>
              <a:srgbClr val="2E7D4F"/>
            </a:solidFill>
            <a:prstDash val="solid"/>
          </a:ln>
        </p:spPr>
      </p:sp>
      <p:sp>
        <p:nvSpPr>
          <p:cNvPr id="33" name="Text 30"/>
          <p:cNvSpPr txBox="1"/>
          <p:nvPr/>
        </p:nvSpPr>
        <p:spPr>
          <a:xfrm>
            <a:off x="5781040" y="2868778"/>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duur</a:t>
            </a:r>
            <a:endParaRPr lang="en-US" sz="1600" dirty="0"/>
          </a:p>
        </p:txBody>
      </p:sp>
      <p:sp>
        <p:nvSpPr>
          <p:cNvPr id="34" name="Text 31"/>
          <p:cNvSpPr txBox="1"/>
          <p:nvPr/>
        </p:nvSpPr>
        <p:spPr>
          <a:xfrm>
            <a:off x="6606032" y="2631034"/>
            <a:ext cx="1385824"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35" name="Shape 32"/>
          <p:cNvSpPr/>
          <p:nvPr/>
        </p:nvSpPr>
        <p:spPr>
          <a:xfrm>
            <a:off x="6606032" y="2868778"/>
            <a:ext cx="1385824" cy="329184"/>
          </a:xfrm>
          <a:prstGeom prst="roundRect">
            <a:avLst>
              <a:gd name="adj" fmla="val 16667"/>
            </a:avLst>
          </a:prstGeom>
          <a:solidFill>
            <a:srgbClr val="6E4A9E">
              <a:alpha val="88000"/>
            </a:srgbClr>
          </a:solidFill>
          <a:ln w="12700">
            <a:solidFill>
              <a:srgbClr val="6E4A9E"/>
            </a:solidFill>
            <a:prstDash val="solid"/>
          </a:ln>
        </p:spPr>
      </p:sp>
      <p:sp>
        <p:nvSpPr>
          <p:cNvPr id="36" name="Text 33"/>
          <p:cNvSpPr txBox="1"/>
          <p:nvPr/>
        </p:nvSpPr>
        <p:spPr>
          <a:xfrm>
            <a:off x="6642608" y="2868778"/>
            <a:ext cx="1312672" cy="329184"/>
          </a:xfrm>
          <a:prstGeom prst="rect">
            <a:avLst/>
          </a:prstGeom>
          <a:noFill/>
          <a:ln/>
        </p:spPr>
        <p:txBody>
          <a:bodyPr wrap="square" lIns="0" tIns="0" rIns="0" bIns="0" rtlCol="0" anchor="ctr"/>
          <a:lstStyle/>
          <a:p>
            <a:pPr algn="ctr" indent="0" marL="0">
              <a:buNone/>
            </a:pPr>
            <a:r>
              <a:rPr lang="en-US" sz="1600" b="1" dirty="0">
                <a:solidFill>
                  <a:schemeClr val="bg1"/>
                </a:solidFill>
              </a:rPr>
              <a:t>anderzijds</a:t>
            </a:r>
            <a:endParaRPr lang="en-US" sz="1600" dirty="0"/>
          </a:p>
        </p:txBody>
      </p:sp>
      <p:sp>
        <p:nvSpPr>
          <p:cNvPr id="37" name="Text 34"/>
          <p:cNvSpPr txBox="1"/>
          <p:nvPr/>
        </p:nvSpPr>
        <p:spPr>
          <a:xfrm>
            <a:off x="8101584" y="2631034"/>
            <a:ext cx="2442464" cy="219456"/>
          </a:xfrm>
          <a:prstGeom prst="rect">
            <a:avLst/>
          </a:prstGeom>
          <a:noFill/>
          <a:ln/>
        </p:spPr>
        <p:txBody>
          <a:bodyPr wrap="square" lIns="0" tIns="0" rIns="0" bIns="0" rtlCol="0" anchor="b"/>
          <a:lstStyle/>
          <a:p>
            <a:pPr algn="ctr" indent="0" marL="0">
              <a:buNone/>
            </a:pPr>
            <a:r>
              <a:rPr lang="en-US" sz="1000" b="1" dirty="0">
                <a:solidFill>
                  <a:schemeClr val="accent6"/>
                </a:solidFill>
              </a:rPr>
              <a:t>V + S</a:t>
            </a:r>
            <a:endParaRPr lang="en-US" sz="1000" dirty="0"/>
          </a:p>
        </p:txBody>
      </p:sp>
      <p:sp>
        <p:nvSpPr>
          <p:cNvPr id="38" name="Shape 35"/>
          <p:cNvSpPr/>
          <p:nvPr/>
        </p:nvSpPr>
        <p:spPr>
          <a:xfrm>
            <a:off x="8101584" y="2868778"/>
            <a:ext cx="2442464" cy="329184"/>
          </a:xfrm>
          <a:prstGeom prst="roundRect">
            <a:avLst>
              <a:gd name="adj" fmla="val 16667"/>
            </a:avLst>
          </a:prstGeom>
          <a:solidFill>
            <a:schemeClr val="accent6">
              <a:alpha val="88000"/>
            </a:schemeClr>
          </a:solidFill>
          <a:ln w="12700">
            <a:solidFill>
              <a:srgbClr val="B83227"/>
            </a:solidFill>
            <a:prstDash val="solid"/>
          </a:ln>
        </p:spPr>
      </p:sp>
      <p:sp>
        <p:nvSpPr>
          <p:cNvPr id="39" name="Text 36"/>
          <p:cNvSpPr txBox="1"/>
          <p:nvPr/>
        </p:nvSpPr>
        <p:spPr>
          <a:xfrm>
            <a:off x="8138160" y="2868778"/>
            <a:ext cx="2369312" cy="329184"/>
          </a:xfrm>
          <a:prstGeom prst="rect">
            <a:avLst/>
          </a:prstGeom>
          <a:noFill/>
          <a:ln/>
        </p:spPr>
        <p:txBody>
          <a:bodyPr wrap="square" lIns="0" tIns="0" rIns="0" bIns="0" rtlCol="0" anchor="ctr"/>
          <a:lstStyle/>
          <a:p>
            <a:pPr algn="ctr" indent="0" marL="0">
              <a:buNone/>
            </a:pPr>
            <a:r>
              <a:rPr lang="en-US" sz="1600" b="1" dirty="0">
                <a:solidFill>
                  <a:schemeClr val="bg1"/>
                </a:solidFill>
              </a:rPr>
              <a:t>zijn ze noodzakelijk</a:t>
            </a:r>
            <a:endParaRPr lang="en-US" sz="1600" dirty="0"/>
          </a:p>
        </p:txBody>
      </p:sp>
      <p:sp>
        <p:nvSpPr>
          <p:cNvPr id="40" name="Text 37"/>
          <p:cNvSpPr txBox="1"/>
          <p:nvPr/>
        </p:nvSpPr>
        <p:spPr>
          <a:xfrm>
            <a:off x="2103120" y="3225394"/>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D’une part les travaux sont chers, d’autre part ils sont nécessaires.</a:t>
            </a:r>
            <a:endParaRPr lang="en-US" sz="1400" dirty="0"/>
          </a:p>
        </p:txBody>
      </p:sp>
      <p:sp>
        <p:nvSpPr>
          <p:cNvPr id="41" name="Text 38"/>
          <p:cNvSpPr txBox="1"/>
          <p:nvPr/>
        </p:nvSpPr>
        <p:spPr>
          <a:xfrm>
            <a:off x="548640" y="3552139"/>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Wat … betreft</a:t>
            </a:r>
            <a:endParaRPr lang="en-US" sz="1400" dirty="0"/>
          </a:p>
        </p:txBody>
      </p:sp>
      <p:sp>
        <p:nvSpPr>
          <p:cNvPr id="42" name="Text 39"/>
          <p:cNvSpPr txBox="1"/>
          <p:nvPr/>
        </p:nvSpPr>
        <p:spPr>
          <a:xfrm>
            <a:off x="2103120" y="3314395"/>
            <a:ext cx="2653792"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43" name="Shape 40"/>
          <p:cNvSpPr/>
          <p:nvPr/>
        </p:nvSpPr>
        <p:spPr>
          <a:xfrm>
            <a:off x="2103120" y="3552139"/>
            <a:ext cx="2653792" cy="329184"/>
          </a:xfrm>
          <a:prstGeom prst="roundRect">
            <a:avLst>
              <a:gd name="adj" fmla="val 16667"/>
            </a:avLst>
          </a:prstGeom>
          <a:solidFill>
            <a:srgbClr val="6E4A9E">
              <a:alpha val="88000"/>
            </a:srgbClr>
          </a:solidFill>
          <a:ln w="12700">
            <a:solidFill>
              <a:srgbClr val="6E4A9E"/>
            </a:solidFill>
            <a:prstDash val="solid"/>
          </a:ln>
        </p:spPr>
      </p:sp>
      <p:sp>
        <p:nvSpPr>
          <p:cNvPr id="44" name="Text 41"/>
          <p:cNvSpPr txBox="1"/>
          <p:nvPr/>
        </p:nvSpPr>
        <p:spPr>
          <a:xfrm>
            <a:off x="2139696" y="3552139"/>
            <a:ext cx="2580640" cy="329184"/>
          </a:xfrm>
          <a:prstGeom prst="rect">
            <a:avLst/>
          </a:prstGeom>
          <a:noFill/>
          <a:ln/>
        </p:spPr>
        <p:txBody>
          <a:bodyPr wrap="square" lIns="0" tIns="0" rIns="0" bIns="0" rtlCol="0" anchor="ctr"/>
          <a:lstStyle/>
          <a:p>
            <a:pPr algn="ctr" indent="0" marL="0">
              <a:buNone/>
            </a:pPr>
            <a:r>
              <a:rPr lang="en-US" sz="1600" b="1" dirty="0">
                <a:solidFill>
                  <a:schemeClr val="bg1"/>
                </a:solidFill>
              </a:rPr>
              <a:t>Wat de kosten betreft,</a:t>
            </a:r>
            <a:endParaRPr lang="en-US" sz="1600" dirty="0"/>
          </a:p>
        </p:txBody>
      </p:sp>
      <p:sp>
        <p:nvSpPr>
          <p:cNvPr id="45" name="Text 42"/>
          <p:cNvSpPr txBox="1"/>
          <p:nvPr/>
        </p:nvSpPr>
        <p:spPr>
          <a:xfrm>
            <a:off x="4866640" y="3314395"/>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46" name="Shape 43"/>
          <p:cNvSpPr/>
          <p:nvPr/>
        </p:nvSpPr>
        <p:spPr>
          <a:xfrm>
            <a:off x="4866640" y="3552139"/>
            <a:ext cx="751840" cy="329184"/>
          </a:xfrm>
          <a:prstGeom prst="roundRect">
            <a:avLst>
              <a:gd name="adj" fmla="val 16667"/>
            </a:avLst>
          </a:prstGeom>
          <a:solidFill>
            <a:schemeClr val="accent6">
              <a:alpha val="88000"/>
            </a:schemeClr>
          </a:solidFill>
          <a:ln w="12700">
            <a:solidFill>
              <a:srgbClr val="B83227"/>
            </a:solidFill>
            <a:prstDash val="solid"/>
          </a:ln>
        </p:spPr>
      </p:sp>
      <p:sp>
        <p:nvSpPr>
          <p:cNvPr id="47" name="Text 44"/>
          <p:cNvSpPr txBox="1"/>
          <p:nvPr/>
        </p:nvSpPr>
        <p:spPr>
          <a:xfrm>
            <a:off x="4903216" y="3552139"/>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stel</a:t>
            </a:r>
            <a:endParaRPr lang="en-US" sz="1600" dirty="0"/>
          </a:p>
        </p:txBody>
      </p:sp>
      <p:sp>
        <p:nvSpPr>
          <p:cNvPr id="48" name="Text 45"/>
          <p:cNvSpPr txBox="1"/>
          <p:nvPr/>
        </p:nvSpPr>
        <p:spPr>
          <a:xfrm>
            <a:off x="5728208" y="3314395"/>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49" name="Shape 46"/>
          <p:cNvSpPr/>
          <p:nvPr/>
        </p:nvSpPr>
        <p:spPr>
          <a:xfrm>
            <a:off x="5728208" y="3552139"/>
            <a:ext cx="685800" cy="329184"/>
          </a:xfrm>
          <a:prstGeom prst="roundRect">
            <a:avLst>
              <a:gd name="adj" fmla="val 16667"/>
            </a:avLst>
          </a:prstGeom>
          <a:solidFill>
            <a:schemeClr val="tx2">
              <a:alpha val="88000"/>
            </a:schemeClr>
          </a:solidFill>
          <a:ln w="12700">
            <a:solidFill>
              <a:srgbClr val="17375E"/>
            </a:solidFill>
            <a:prstDash val="solid"/>
          </a:ln>
        </p:spPr>
      </p:sp>
      <p:sp>
        <p:nvSpPr>
          <p:cNvPr id="50" name="Text 47"/>
          <p:cNvSpPr txBox="1"/>
          <p:nvPr/>
        </p:nvSpPr>
        <p:spPr>
          <a:xfrm>
            <a:off x="5764784" y="3552139"/>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51" name="Text 48"/>
          <p:cNvSpPr txBox="1"/>
          <p:nvPr/>
        </p:nvSpPr>
        <p:spPr>
          <a:xfrm>
            <a:off x="6523736" y="3314395"/>
            <a:ext cx="1702816"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52" name="Shape 49"/>
          <p:cNvSpPr/>
          <p:nvPr/>
        </p:nvSpPr>
        <p:spPr>
          <a:xfrm>
            <a:off x="6523736" y="3552139"/>
            <a:ext cx="1702816" cy="329184"/>
          </a:xfrm>
          <a:prstGeom prst="roundRect">
            <a:avLst>
              <a:gd name="adj" fmla="val 16667"/>
            </a:avLst>
          </a:prstGeom>
          <a:solidFill>
            <a:schemeClr val="accent5">
              <a:alpha val="25000"/>
            </a:schemeClr>
          </a:solidFill>
          <a:ln w="12700">
            <a:solidFill>
              <a:srgbClr val="4A5A70"/>
            </a:solidFill>
            <a:prstDash val="solid"/>
          </a:ln>
        </p:spPr>
      </p:sp>
      <p:sp>
        <p:nvSpPr>
          <p:cNvPr id="53" name="Text 50"/>
          <p:cNvSpPr txBox="1"/>
          <p:nvPr/>
        </p:nvSpPr>
        <p:spPr>
          <a:xfrm>
            <a:off x="6560312" y="3552139"/>
            <a:ext cx="1629664" cy="329184"/>
          </a:xfrm>
          <a:prstGeom prst="rect">
            <a:avLst/>
          </a:prstGeom>
          <a:noFill/>
          <a:ln/>
        </p:spPr>
        <p:txBody>
          <a:bodyPr wrap="square" lIns="0" tIns="0" rIns="0" bIns="0" rtlCol="0" anchor="ctr"/>
          <a:lstStyle/>
          <a:p>
            <a:pPr algn="ctr" indent="0" marL="0">
              <a:buNone/>
            </a:pPr>
            <a:r>
              <a:rPr lang="en-US" sz="1600" b="1" dirty="0">
                <a:solidFill>
                  <a:schemeClr val="tx1"/>
                </a:solidFill>
              </a:rPr>
              <a:t>een spreiding</a:t>
            </a:r>
            <a:endParaRPr lang="en-US" sz="1600" dirty="0"/>
          </a:p>
        </p:txBody>
      </p:sp>
      <p:sp>
        <p:nvSpPr>
          <p:cNvPr id="54" name="Text 51"/>
          <p:cNvSpPr txBox="1"/>
          <p:nvPr/>
        </p:nvSpPr>
        <p:spPr>
          <a:xfrm>
            <a:off x="8336280" y="3314395"/>
            <a:ext cx="751840"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55" name="Shape 52"/>
          <p:cNvSpPr/>
          <p:nvPr/>
        </p:nvSpPr>
        <p:spPr>
          <a:xfrm>
            <a:off x="8336280" y="3552139"/>
            <a:ext cx="751840" cy="329184"/>
          </a:xfrm>
          <a:prstGeom prst="roundRect">
            <a:avLst>
              <a:gd name="adj" fmla="val 16667"/>
            </a:avLst>
          </a:prstGeom>
          <a:solidFill>
            <a:schemeClr val="accent1">
              <a:alpha val="88000"/>
            </a:schemeClr>
          </a:solidFill>
          <a:ln w="12700">
            <a:solidFill>
              <a:srgbClr val="D9700F"/>
            </a:solidFill>
            <a:prstDash val="solid"/>
          </a:ln>
        </p:spPr>
      </p:sp>
      <p:sp>
        <p:nvSpPr>
          <p:cNvPr id="56" name="Text 53"/>
          <p:cNvSpPr txBox="1"/>
          <p:nvPr/>
        </p:nvSpPr>
        <p:spPr>
          <a:xfrm>
            <a:off x="8372856" y="3552139"/>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voor</a:t>
            </a:r>
            <a:endParaRPr lang="en-US" sz="1600" dirty="0"/>
          </a:p>
        </p:txBody>
      </p:sp>
      <p:sp>
        <p:nvSpPr>
          <p:cNvPr id="57" name="Text 54"/>
          <p:cNvSpPr txBox="1"/>
          <p:nvPr/>
        </p:nvSpPr>
        <p:spPr>
          <a:xfrm>
            <a:off x="2103120" y="3908755"/>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En ce qui concerne les coûts, je propose un étalement.</a:t>
            </a:r>
            <a:endParaRPr lang="en-US" sz="1400" dirty="0"/>
          </a:p>
        </p:txBody>
      </p:sp>
      <p:sp>
        <p:nvSpPr>
          <p:cNvPr id="58" name="Text 55"/>
          <p:cNvSpPr txBox="1"/>
          <p:nvPr/>
        </p:nvSpPr>
        <p:spPr>
          <a:xfrm>
            <a:off x="548640" y="4235501"/>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Echter (milieu)</a:t>
            </a:r>
            <a:endParaRPr lang="en-US" sz="1400" dirty="0"/>
          </a:p>
        </p:txBody>
      </p:sp>
      <p:sp>
        <p:nvSpPr>
          <p:cNvPr id="59" name="Text 56"/>
          <p:cNvSpPr txBox="1"/>
          <p:nvPr/>
        </p:nvSpPr>
        <p:spPr>
          <a:xfrm>
            <a:off x="2103120" y="3997757"/>
            <a:ext cx="1385824"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60" name="Shape 57"/>
          <p:cNvSpPr/>
          <p:nvPr/>
        </p:nvSpPr>
        <p:spPr>
          <a:xfrm>
            <a:off x="2103120" y="4235501"/>
            <a:ext cx="1385824" cy="329184"/>
          </a:xfrm>
          <a:prstGeom prst="roundRect">
            <a:avLst>
              <a:gd name="adj" fmla="val 16667"/>
            </a:avLst>
          </a:prstGeom>
          <a:solidFill>
            <a:schemeClr val="tx2">
              <a:alpha val="88000"/>
            </a:schemeClr>
          </a:solidFill>
          <a:ln w="12700">
            <a:solidFill>
              <a:srgbClr val="17375E"/>
            </a:solidFill>
            <a:prstDash val="solid"/>
          </a:ln>
        </p:spPr>
      </p:sp>
      <p:sp>
        <p:nvSpPr>
          <p:cNvPr id="61" name="Text 58"/>
          <p:cNvSpPr txBox="1"/>
          <p:nvPr/>
        </p:nvSpPr>
        <p:spPr>
          <a:xfrm>
            <a:off x="2139696" y="4235501"/>
            <a:ext cx="1312672" cy="329184"/>
          </a:xfrm>
          <a:prstGeom prst="rect">
            <a:avLst/>
          </a:prstGeom>
          <a:noFill/>
          <a:ln/>
        </p:spPr>
        <p:txBody>
          <a:bodyPr wrap="square" lIns="0" tIns="0" rIns="0" bIns="0" rtlCol="0" anchor="ctr"/>
          <a:lstStyle/>
          <a:p>
            <a:pPr algn="ctr" indent="0" marL="0">
              <a:buNone/>
            </a:pPr>
            <a:r>
              <a:rPr lang="en-US" sz="1600" b="1" dirty="0">
                <a:solidFill>
                  <a:schemeClr val="bg1"/>
                </a:solidFill>
              </a:rPr>
              <a:t>De offerte</a:t>
            </a:r>
            <a:endParaRPr lang="en-US" sz="1600" dirty="0"/>
          </a:p>
        </p:txBody>
      </p:sp>
      <p:sp>
        <p:nvSpPr>
          <p:cNvPr id="62" name="Text 59"/>
          <p:cNvSpPr txBox="1"/>
          <p:nvPr/>
        </p:nvSpPr>
        <p:spPr>
          <a:xfrm>
            <a:off x="3598672" y="3997757"/>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63" name="Shape 60"/>
          <p:cNvSpPr/>
          <p:nvPr/>
        </p:nvSpPr>
        <p:spPr>
          <a:xfrm>
            <a:off x="3598672" y="4235501"/>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64" name="Text 61"/>
          <p:cNvSpPr txBox="1"/>
          <p:nvPr/>
        </p:nvSpPr>
        <p:spPr>
          <a:xfrm>
            <a:off x="3635248" y="4235501"/>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is</a:t>
            </a:r>
            <a:endParaRPr lang="en-US" sz="1600" dirty="0"/>
          </a:p>
        </p:txBody>
      </p:sp>
      <p:sp>
        <p:nvSpPr>
          <p:cNvPr id="65" name="Text 62"/>
          <p:cNvSpPr txBox="1"/>
          <p:nvPr/>
        </p:nvSpPr>
        <p:spPr>
          <a:xfrm>
            <a:off x="4394200" y="3997757"/>
            <a:ext cx="963168"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66" name="Shape 63"/>
          <p:cNvSpPr/>
          <p:nvPr/>
        </p:nvSpPr>
        <p:spPr>
          <a:xfrm>
            <a:off x="4394200" y="4235501"/>
            <a:ext cx="963168" cy="329184"/>
          </a:xfrm>
          <a:prstGeom prst="roundRect">
            <a:avLst>
              <a:gd name="adj" fmla="val 16667"/>
            </a:avLst>
          </a:prstGeom>
          <a:solidFill>
            <a:srgbClr val="6E4A9E">
              <a:alpha val="88000"/>
            </a:srgbClr>
          </a:solidFill>
          <a:ln w="12700">
            <a:solidFill>
              <a:srgbClr val="6E4A9E"/>
            </a:solidFill>
            <a:prstDash val="solid"/>
          </a:ln>
        </p:spPr>
      </p:sp>
      <p:sp>
        <p:nvSpPr>
          <p:cNvPr id="67" name="Text 64"/>
          <p:cNvSpPr txBox="1"/>
          <p:nvPr/>
        </p:nvSpPr>
        <p:spPr>
          <a:xfrm>
            <a:off x="4430776" y="4235501"/>
            <a:ext cx="890016" cy="329184"/>
          </a:xfrm>
          <a:prstGeom prst="rect">
            <a:avLst/>
          </a:prstGeom>
          <a:noFill/>
          <a:ln/>
        </p:spPr>
        <p:txBody>
          <a:bodyPr wrap="square" lIns="0" tIns="0" rIns="0" bIns="0" rtlCol="0" anchor="ctr"/>
          <a:lstStyle/>
          <a:p>
            <a:pPr algn="ctr" indent="0" marL="0">
              <a:buNone/>
            </a:pPr>
            <a:r>
              <a:rPr lang="en-US" sz="1600" b="1" dirty="0">
                <a:solidFill>
                  <a:schemeClr val="bg1"/>
                </a:solidFill>
              </a:rPr>
              <a:t>echter</a:t>
            </a:r>
            <a:endParaRPr lang="en-US" sz="1600" dirty="0"/>
          </a:p>
        </p:txBody>
      </p:sp>
      <p:sp>
        <p:nvSpPr>
          <p:cNvPr id="68" name="Text 65"/>
          <p:cNvSpPr txBox="1"/>
          <p:nvPr/>
        </p:nvSpPr>
        <p:spPr>
          <a:xfrm>
            <a:off x="5467096" y="3997757"/>
            <a:ext cx="1174496" cy="219456"/>
          </a:xfrm>
          <a:prstGeom prst="rect">
            <a:avLst/>
          </a:prstGeom>
          <a:noFill/>
          <a:ln/>
        </p:spPr>
        <p:txBody>
          <a:bodyPr wrap="square" lIns="0" tIns="0" rIns="0" bIns="0" rtlCol="0" anchor="b"/>
          <a:lstStyle/>
          <a:p>
            <a:pPr algn="ctr" indent="0" marL="0">
              <a:buNone/>
            </a:pPr>
            <a:r>
              <a:rPr lang="en-US" sz="1000" b="1" dirty="0">
                <a:solidFill>
                  <a:schemeClr val="accent6"/>
                </a:solidFill>
              </a:rPr>
              <a:t>négation</a:t>
            </a:r>
            <a:endParaRPr lang="en-US" sz="1000" dirty="0"/>
          </a:p>
        </p:txBody>
      </p:sp>
      <p:sp>
        <p:nvSpPr>
          <p:cNvPr id="69" name="Shape 66"/>
          <p:cNvSpPr/>
          <p:nvPr/>
        </p:nvSpPr>
        <p:spPr>
          <a:xfrm>
            <a:off x="5467096" y="4235501"/>
            <a:ext cx="1174496" cy="329184"/>
          </a:xfrm>
          <a:prstGeom prst="roundRect">
            <a:avLst>
              <a:gd name="adj" fmla="val 16667"/>
            </a:avLst>
          </a:prstGeom>
          <a:solidFill>
            <a:schemeClr val="accent6">
              <a:alpha val="88000"/>
            </a:schemeClr>
          </a:solidFill>
          <a:ln w="12700">
            <a:solidFill>
              <a:srgbClr val="B83227"/>
            </a:solidFill>
            <a:prstDash val="solid"/>
          </a:ln>
        </p:spPr>
      </p:sp>
      <p:sp>
        <p:nvSpPr>
          <p:cNvPr id="70" name="Text 67"/>
          <p:cNvSpPr txBox="1"/>
          <p:nvPr/>
        </p:nvSpPr>
        <p:spPr>
          <a:xfrm>
            <a:off x="5503672" y="4235501"/>
            <a:ext cx="1101344" cy="329184"/>
          </a:xfrm>
          <a:prstGeom prst="rect">
            <a:avLst/>
          </a:prstGeom>
          <a:noFill/>
          <a:ln/>
        </p:spPr>
        <p:txBody>
          <a:bodyPr wrap="square" lIns="0" tIns="0" rIns="0" bIns="0" rtlCol="0" anchor="ctr"/>
          <a:lstStyle/>
          <a:p>
            <a:pPr algn="ctr" indent="0" marL="0">
              <a:buNone/>
            </a:pPr>
            <a:r>
              <a:rPr lang="en-US" sz="1600" b="1" dirty="0">
                <a:solidFill>
                  <a:schemeClr val="bg1"/>
                </a:solidFill>
              </a:rPr>
              <a:t>nog niet</a:t>
            </a:r>
            <a:endParaRPr lang="en-US" sz="1600" dirty="0"/>
          </a:p>
        </p:txBody>
      </p:sp>
      <p:sp>
        <p:nvSpPr>
          <p:cNvPr id="71" name="Text 68"/>
          <p:cNvSpPr txBox="1"/>
          <p:nvPr/>
        </p:nvSpPr>
        <p:spPr>
          <a:xfrm>
            <a:off x="6751320" y="3997757"/>
            <a:ext cx="1174496" cy="219456"/>
          </a:xfrm>
          <a:prstGeom prst="rect">
            <a:avLst/>
          </a:prstGeom>
          <a:noFill/>
          <a:ln/>
        </p:spPr>
        <p:txBody>
          <a:bodyPr wrap="square" lIns="0" tIns="0" rIns="0" bIns="0" rtlCol="0" anchor="b"/>
          <a:lstStyle/>
          <a:p>
            <a:pPr algn="ctr" indent="0" marL="0">
              <a:buNone/>
            </a:pPr>
            <a:r>
              <a:rPr lang="en-US" sz="1000" b="1" dirty="0">
                <a:solidFill>
                  <a:schemeClr val="accent3"/>
                </a:solidFill>
              </a:rPr>
              <a:t>manier · comment</a:t>
            </a:r>
            <a:endParaRPr lang="en-US" sz="1000" dirty="0"/>
          </a:p>
        </p:txBody>
      </p:sp>
      <p:sp>
        <p:nvSpPr>
          <p:cNvPr id="72" name="Shape 69"/>
          <p:cNvSpPr/>
          <p:nvPr/>
        </p:nvSpPr>
        <p:spPr>
          <a:xfrm>
            <a:off x="6751320" y="4235501"/>
            <a:ext cx="1174496" cy="329184"/>
          </a:xfrm>
          <a:prstGeom prst="roundRect">
            <a:avLst>
              <a:gd name="adj" fmla="val 16667"/>
            </a:avLst>
          </a:prstGeom>
          <a:solidFill>
            <a:schemeClr val="accent3">
              <a:alpha val="88000"/>
            </a:schemeClr>
          </a:solidFill>
          <a:ln w="12700">
            <a:solidFill>
              <a:srgbClr val="2E7D4F"/>
            </a:solidFill>
            <a:prstDash val="solid"/>
          </a:ln>
        </p:spPr>
      </p:sp>
      <p:sp>
        <p:nvSpPr>
          <p:cNvPr id="73" name="Text 70"/>
          <p:cNvSpPr txBox="1"/>
          <p:nvPr/>
        </p:nvSpPr>
        <p:spPr>
          <a:xfrm>
            <a:off x="6787896" y="4235501"/>
            <a:ext cx="1101344" cy="329184"/>
          </a:xfrm>
          <a:prstGeom prst="rect">
            <a:avLst/>
          </a:prstGeom>
          <a:noFill/>
          <a:ln/>
        </p:spPr>
        <p:txBody>
          <a:bodyPr wrap="square" lIns="0" tIns="0" rIns="0" bIns="0" rtlCol="0" anchor="ctr"/>
          <a:lstStyle/>
          <a:p>
            <a:pPr algn="ctr" indent="0" marL="0">
              <a:buNone/>
            </a:pPr>
            <a:r>
              <a:rPr lang="en-US" sz="1600" b="1" dirty="0">
                <a:solidFill>
                  <a:schemeClr val="bg1"/>
                </a:solidFill>
              </a:rPr>
              <a:t>volledig</a:t>
            </a:r>
            <a:endParaRPr lang="en-US" sz="1600" dirty="0"/>
          </a:p>
        </p:txBody>
      </p:sp>
      <p:sp>
        <p:nvSpPr>
          <p:cNvPr id="74" name="Text 71"/>
          <p:cNvSpPr txBox="1"/>
          <p:nvPr/>
        </p:nvSpPr>
        <p:spPr>
          <a:xfrm>
            <a:off x="2103120" y="4592117"/>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Le devis n’est cependant pas encore complet.</a:t>
            </a:r>
            <a:endParaRPr lang="en-US" sz="1400" dirty="0"/>
          </a:p>
        </p:txBody>
      </p:sp>
      <p:sp>
        <p:nvSpPr>
          <p:cNvPr id="75" name="Text 72"/>
          <p:cNvSpPr txBox="1"/>
          <p:nvPr/>
        </p:nvSpPr>
        <p:spPr>
          <a:xfrm>
            <a:off x="548640" y="4918862"/>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Daarentegen</a:t>
            </a:r>
            <a:endParaRPr lang="en-US" sz="1400" dirty="0"/>
          </a:p>
        </p:txBody>
      </p:sp>
      <p:sp>
        <p:nvSpPr>
          <p:cNvPr id="76" name="Text 73"/>
          <p:cNvSpPr txBox="1"/>
          <p:nvPr/>
        </p:nvSpPr>
        <p:spPr>
          <a:xfrm>
            <a:off x="2103120" y="4681118"/>
            <a:ext cx="1491488"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77" name="Shape 74"/>
          <p:cNvSpPr/>
          <p:nvPr/>
        </p:nvSpPr>
        <p:spPr>
          <a:xfrm>
            <a:off x="2103120" y="4918862"/>
            <a:ext cx="1491488" cy="329184"/>
          </a:xfrm>
          <a:prstGeom prst="roundRect">
            <a:avLst>
              <a:gd name="adj" fmla="val 16667"/>
            </a:avLst>
          </a:prstGeom>
          <a:solidFill>
            <a:schemeClr val="tx2">
              <a:alpha val="88000"/>
            </a:schemeClr>
          </a:solidFill>
          <a:ln w="12700">
            <a:solidFill>
              <a:srgbClr val="17375E"/>
            </a:solidFill>
            <a:prstDash val="solid"/>
          </a:ln>
        </p:spPr>
      </p:sp>
      <p:sp>
        <p:nvSpPr>
          <p:cNvPr id="78" name="Text 75"/>
          <p:cNvSpPr txBox="1"/>
          <p:nvPr/>
        </p:nvSpPr>
        <p:spPr>
          <a:xfrm>
            <a:off x="2139696" y="4918862"/>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De syndicus</a:t>
            </a:r>
            <a:endParaRPr lang="en-US" sz="1600" dirty="0"/>
          </a:p>
        </p:txBody>
      </p:sp>
      <p:sp>
        <p:nvSpPr>
          <p:cNvPr id="79" name="Text 76"/>
          <p:cNvSpPr txBox="1"/>
          <p:nvPr/>
        </p:nvSpPr>
        <p:spPr>
          <a:xfrm>
            <a:off x="3704336" y="4681118"/>
            <a:ext cx="1491488"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80" name="Shape 77"/>
          <p:cNvSpPr/>
          <p:nvPr/>
        </p:nvSpPr>
        <p:spPr>
          <a:xfrm>
            <a:off x="3704336" y="4918862"/>
            <a:ext cx="1491488" cy="329184"/>
          </a:xfrm>
          <a:prstGeom prst="roundRect">
            <a:avLst>
              <a:gd name="adj" fmla="val 16667"/>
            </a:avLst>
          </a:prstGeom>
          <a:solidFill>
            <a:srgbClr val="6E4A9E">
              <a:alpha val="88000"/>
            </a:srgbClr>
          </a:solidFill>
          <a:ln w="12700">
            <a:solidFill>
              <a:srgbClr val="6E4A9E"/>
            </a:solidFill>
            <a:prstDash val="solid"/>
          </a:ln>
        </p:spPr>
      </p:sp>
      <p:sp>
        <p:nvSpPr>
          <p:cNvPr id="81" name="Text 78"/>
          <p:cNvSpPr txBox="1"/>
          <p:nvPr/>
        </p:nvSpPr>
        <p:spPr>
          <a:xfrm>
            <a:off x="3740912" y="4918862"/>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daarentegen</a:t>
            </a:r>
            <a:endParaRPr lang="en-US" sz="1600" dirty="0"/>
          </a:p>
        </p:txBody>
      </p:sp>
      <p:sp>
        <p:nvSpPr>
          <p:cNvPr id="82" name="Text 79"/>
          <p:cNvSpPr txBox="1"/>
          <p:nvPr/>
        </p:nvSpPr>
        <p:spPr>
          <a:xfrm>
            <a:off x="5305552" y="4681118"/>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83" name="Shape 80"/>
          <p:cNvSpPr/>
          <p:nvPr/>
        </p:nvSpPr>
        <p:spPr>
          <a:xfrm>
            <a:off x="5305552" y="4918862"/>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84" name="Text 81"/>
          <p:cNvSpPr txBox="1"/>
          <p:nvPr/>
        </p:nvSpPr>
        <p:spPr>
          <a:xfrm>
            <a:off x="5342128" y="491886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wil</a:t>
            </a:r>
            <a:endParaRPr lang="en-US" sz="1600" dirty="0"/>
          </a:p>
        </p:txBody>
      </p:sp>
      <p:sp>
        <p:nvSpPr>
          <p:cNvPr id="85" name="Text 82"/>
          <p:cNvSpPr txBox="1"/>
          <p:nvPr/>
        </p:nvSpPr>
        <p:spPr>
          <a:xfrm>
            <a:off x="6101080" y="4681118"/>
            <a:ext cx="751840" cy="219456"/>
          </a:xfrm>
          <a:prstGeom prst="rect">
            <a:avLst/>
          </a:prstGeom>
          <a:noFill/>
          <a:ln/>
        </p:spPr>
        <p:txBody>
          <a:bodyPr wrap="square" lIns="0" tIns="0" rIns="0" bIns="0" rtlCol="0" anchor="b"/>
          <a:lstStyle/>
          <a:p>
            <a:pPr algn="ctr" indent="0" marL="0">
              <a:buNone/>
            </a:pPr>
            <a:r>
              <a:rPr lang="en-US" sz="1000" b="1" dirty="0">
                <a:solidFill>
                  <a:schemeClr val="accent3"/>
                </a:solidFill>
              </a:rPr>
              <a:t>manier · comment</a:t>
            </a:r>
            <a:endParaRPr lang="en-US" sz="1000" dirty="0"/>
          </a:p>
        </p:txBody>
      </p:sp>
      <p:sp>
        <p:nvSpPr>
          <p:cNvPr id="86" name="Shape 83"/>
          <p:cNvSpPr/>
          <p:nvPr/>
        </p:nvSpPr>
        <p:spPr>
          <a:xfrm>
            <a:off x="6101080" y="4918862"/>
            <a:ext cx="751840" cy="329184"/>
          </a:xfrm>
          <a:prstGeom prst="roundRect">
            <a:avLst>
              <a:gd name="adj" fmla="val 16667"/>
            </a:avLst>
          </a:prstGeom>
          <a:solidFill>
            <a:schemeClr val="accent3">
              <a:alpha val="88000"/>
            </a:schemeClr>
          </a:solidFill>
          <a:ln w="12700">
            <a:solidFill>
              <a:srgbClr val="2E7D4F"/>
            </a:solidFill>
            <a:prstDash val="solid"/>
          </a:ln>
        </p:spPr>
      </p:sp>
      <p:sp>
        <p:nvSpPr>
          <p:cNvPr id="87" name="Text 84"/>
          <p:cNvSpPr txBox="1"/>
          <p:nvPr/>
        </p:nvSpPr>
        <p:spPr>
          <a:xfrm>
            <a:off x="6137656" y="4918862"/>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snel</a:t>
            </a:r>
            <a:endParaRPr lang="en-US" sz="1600" dirty="0"/>
          </a:p>
        </p:txBody>
      </p:sp>
      <p:sp>
        <p:nvSpPr>
          <p:cNvPr id="88" name="Text 85"/>
          <p:cNvSpPr txBox="1"/>
          <p:nvPr/>
        </p:nvSpPr>
        <p:spPr>
          <a:xfrm>
            <a:off x="6962648" y="4681118"/>
            <a:ext cx="1068832"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89" name="Shape 86"/>
          <p:cNvSpPr/>
          <p:nvPr/>
        </p:nvSpPr>
        <p:spPr>
          <a:xfrm>
            <a:off x="6962648" y="4918862"/>
            <a:ext cx="1068832" cy="329184"/>
          </a:xfrm>
          <a:prstGeom prst="roundRect">
            <a:avLst>
              <a:gd name="adj" fmla="val 16667"/>
            </a:avLst>
          </a:prstGeom>
          <a:solidFill>
            <a:schemeClr val="accent1">
              <a:alpha val="88000"/>
            </a:schemeClr>
          </a:solidFill>
          <a:ln w="12700">
            <a:solidFill>
              <a:srgbClr val="D9700F"/>
            </a:solidFill>
            <a:prstDash val="solid"/>
          </a:ln>
        </p:spPr>
      </p:sp>
      <p:sp>
        <p:nvSpPr>
          <p:cNvPr id="90" name="Text 87"/>
          <p:cNvSpPr txBox="1"/>
          <p:nvPr/>
        </p:nvSpPr>
        <p:spPr>
          <a:xfrm>
            <a:off x="6999224" y="4918862"/>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stemmen</a:t>
            </a:r>
            <a:endParaRPr lang="en-US" sz="1600" dirty="0"/>
          </a:p>
        </p:txBody>
      </p:sp>
      <p:sp>
        <p:nvSpPr>
          <p:cNvPr id="91" name="Text 88"/>
          <p:cNvSpPr txBox="1"/>
          <p:nvPr/>
        </p:nvSpPr>
        <p:spPr>
          <a:xfrm>
            <a:off x="2103120" y="5275478"/>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Le syndic, en revanche, veut voter vite.</a:t>
            </a:r>
            <a:endParaRPr lang="en-US" sz="1400" dirty="0"/>
          </a:p>
        </p:txBody>
      </p:sp>
      <p:sp>
        <p:nvSpPr>
          <p:cNvPr id="92" name="Shape 89"/>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93"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94" name="Text 90"/>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En français : </a:t>
            </a:r>
            <a:r>
              <a:rPr lang="en-US" sz="1700" i="1" dirty="0">
                <a:solidFill>
                  <a:schemeClr val="tx1"/>
                </a:solidFill>
              </a:rPr>
              <a:t>Enfin, </a:t>
            </a:r>
            <a:r>
              <a:rPr lang="en-US" sz="1700" b="1" i="1" dirty="0">
                <a:solidFill>
                  <a:schemeClr val="tx1"/>
                </a:solidFill>
              </a:rPr>
              <a:t>j’écris</a:t>
            </a:r>
            <a:r>
              <a:rPr lang="en-US" sz="1700" i="1" dirty="0">
                <a:solidFill>
                  <a:schemeClr val="tx1"/>
                </a:solidFill>
              </a:rPr>
              <a:t>…</a:t>
            </a:r>
            <a:r>
              <a:rPr lang="en-US" sz="1700" dirty="0">
                <a:solidFill>
                  <a:schemeClr val="tx1"/>
                </a:solidFill>
              </a:rPr>
              <a:t> (sujet avant le verbe). En néerlandais : </a:t>
            </a:r>
            <a:r>
              <a:rPr lang="en-US" sz="1700" i="1" dirty="0">
                <a:solidFill>
                  <a:schemeClr val="tx1"/>
                </a:solidFill>
              </a:rPr>
              <a:t>Ten slotte </a:t>
            </a:r>
            <a:r>
              <a:rPr lang="en-US" sz="1700" b="1" i="1" dirty="0">
                <a:solidFill>
                  <a:schemeClr val="tx1"/>
                </a:solidFill>
              </a:rPr>
              <a:t>schrijf ik</a:t>
            </a:r>
            <a:r>
              <a:rPr lang="en-US" sz="1700" i="1" dirty="0">
                <a:solidFill>
                  <a:schemeClr val="tx1"/>
                </a:solidFill>
              </a:rPr>
              <a:t>…</a:t>
            </a:r>
            <a:r>
              <a:rPr lang="en-US" sz="1700" dirty="0">
                <a:solidFill>
                  <a:schemeClr val="tx1"/>
                </a:solidFill>
              </a:rPr>
              <a:t> ✗ </a:t>
            </a:r>
            <a:r>
              <a:rPr lang="en-US" sz="1700" i="1" dirty="0">
                <a:solidFill>
                  <a:schemeClr val="tx1"/>
                </a:solidFill>
              </a:rPr>
              <a:t>Ten slotte ik schrijf</a:t>
            </a:r>
            <a:r>
              <a:rPr lang="en-US" sz="1700" dirty="0">
                <a:solidFill>
                  <a:schemeClr val="tx1"/>
                </a:solidFill>
              </a:rPr>
              <a:t> — après le connecteur, le verbe passe </a:t>
            </a:r>
            <a:r>
              <a:rPr lang="en-US" sz="1700" b="1" dirty="0">
                <a:solidFill>
                  <a:schemeClr val="tx1"/>
                </a:solidFill>
              </a:rPr>
              <a:t>avant</a:t>
            </a:r>
            <a:r>
              <a:rPr lang="en-US" sz="1700" dirty="0">
                <a:solidFill>
                  <a:schemeClr val="tx1"/>
                </a:solidFill>
              </a:rPr>
              <a:t> le sujet.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5 Luisteren : stemmen in de vergadering</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14</a:t>
            </a:r>
            <a:endParaRPr lang="en-US" sz="1200" dirty="0"/>
          </a:p>
        </p:txBody>
      </p:sp>
      <p:sp>
        <p:nvSpPr>
          <p:cNvPr id="6" name="Text 3"/>
          <p:cNvSpPr txBox="1"/>
          <p:nvPr/>
        </p:nvSpPr>
        <p:spPr>
          <a:xfrm>
            <a:off x="548640" y="1481328"/>
            <a:ext cx="11091672" cy="832104"/>
          </a:xfrm>
          <a:prstGeom prst="rect">
            <a:avLst/>
          </a:prstGeom>
          <a:noFill/>
          <a:ln/>
        </p:spPr>
        <p:txBody>
          <a:bodyPr wrap="square" lIns="0" tIns="0" rIns="0" bIns="0" rtlCol="0" anchor="t"/>
          <a:lstStyle/>
          <a:p>
            <a:pPr indent="0" marL="0">
              <a:buNone/>
            </a:pPr>
            <a:r>
              <a:rPr lang="en-US" sz="1600" i="1" dirty="0">
                <a:solidFill>
                  <a:schemeClr val="accent5"/>
                </a:solidFill>
              </a:rPr>
              <a:t>Seul · 12 min. Vous entendez </a:t>
            </a:r>
            <a:r>
              <a:rPr lang="en-US" sz="1600" b="1" i="1" dirty="0">
                <a:solidFill>
                  <a:schemeClr val="accent5"/>
                </a:solidFill>
              </a:rPr>
              <a:t>deux fois</a:t>
            </a:r>
            <a:r>
              <a:rPr lang="en-US" sz="1600" i="1" dirty="0">
                <a:solidFill>
                  <a:schemeClr val="accent5"/>
                </a:solidFill>
              </a:rPr>
              <a:t> un débat entre deux copropriétaires (transcription n° 2, lue par le professeur). </a:t>
            </a:r>
            <a:r>
              <a:rPr lang="en-US" sz="1600" b="1" i="1" dirty="0">
                <a:solidFill>
                  <a:schemeClr val="accent5"/>
                </a:solidFill>
              </a:rPr>
              <a:t>1re écoute</a:t>
            </a:r>
            <a:r>
              <a:rPr lang="en-US" sz="1600" i="1" dirty="0">
                <a:solidFill>
                  <a:schemeClr val="accent5"/>
                </a:solidFill>
              </a:rPr>
              <a:t> : qui est pour, qui est contre ? </a:t>
            </a:r>
            <a:r>
              <a:rPr lang="en-US" sz="1600" b="1" i="1" dirty="0">
                <a:solidFill>
                  <a:schemeClr val="accent5"/>
                </a:solidFill>
              </a:rPr>
              <a:t>2e écoute</a:t>
            </a:r>
            <a:r>
              <a:rPr lang="en-US" sz="1600" i="1" dirty="0">
                <a:solidFill>
                  <a:schemeClr val="accent5"/>
                </a:solidFill>
              </a:rPr>
              <a:t> : connecteurs et argument qu’ils introduisent. Solution : selon le texte lu.</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404872"/>
          <a:ext cx="11091672" cy="914400"/>
        </p:xfrm>
        <a:graphic>
          <a:graphicData uri="http://schemas.openxmlformats.org/drawingml/2006/table">
            <a:tbl>
              <a:tblPr/>
              <a:tblGrid>
                <a:gridCol w="5486400"/>
                <a:gridCol w="5605272"/>
              </a:tblGrid>
              <a:tr h="596189">
                <a:tc>
                  <a:txBody>
                    <a:bodyPr/>
                    <a:lstStyle/>
                    <a:p>
                      <a:pPr algn="l" indent="0" marL="0">
                        <a:buNone/>
                      </a:pPr>
                      <a:r>
                        <a:rPr lang="en-US" sz="1600" b="1" dirty="0">
                          <a:solidFill>
                            <a:schemeClr val="bg1"/>
                          </a:solidFill>
                        </a:rPr>
                        <a:t>DEBATFICHE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rPr>
                        <a:t>UW NOTITIES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81228">
                <a:tc>
                  <a:txBody>
                    <a:bodyPr/>
                    <a:lstStyle/>
                    <a:p>
                      <a:pPr algn="l" indent="0" marL="0">
                        <a:buNone/>
                      </a:pPr>
                      <a:r>
                        <a:rPr lang="en-US" sz="1800" dirty="0">
                          <a:solidFill>
                            <a:schemeClr val="tx1"/>
                          </a:solidFill>
                        </a:rPr>
                        <a:t>Standpunt mevr. Peeters (voor / tegen)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1228">
                <a:tc>
                  <a:txBody>
                    <a:bodyPr/>
                    <a:lstStyle/>
                    <a:p>
                      <a:pPr algn="l" indent="0" marL="0">
                        <a:buNone/>
                      </a:pPr>
                      <a:r>
                        <a:rPr lang="en-US" sz="1800" dirty="0">
                          <a:solidFill>
                            <a:schemeClr val="tx1"/>
                          </a:solidFill>
                        </a:rPr>
                        <a:t>Standpunt van meneer Yilmaz (voor / tegen)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81228">
                <a:tc>
                  <a:txBody>
                    <a:bodyPr/>
                    <a:lstStyle/>
                    <a:p>
                      <a:pPr algn="l" indent="0" marL="0">
                        <a:buNone/>
                      </a:pPr>
                      <a:r>
                        <a:rPr lang="en-US" sz="1800" dirty="0">
                          <a:solidFill>
                            <a:schemeClr val="tx1"/>
                          </a:solidFill>
                        </a:rPr>
                        <a:t>Gehoorde connectoren (minimum 4)</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1228">
                <a:tc>
                  <a:txBody>
                    <a:bodyPr/>
                    <a:lstStyle/>
                    <a:p>
                      <a:pPr algn="l" indent="0" marL="0">
                        <a:buNone/>
                      </a:pPr>
                      <a:r>
                        <a:rPr lang="en-US" sz="1800" dirty="0">
                          <a:solidFill>
                            <a:schemeClr val="tx1"/>
                          </a:solidFill>
                        </a:rPr>
                        <a:t>Welk compromis wordt voorgesteld?</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6 Bouw het betoog</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t>
            </a:r>
            <a:endParaRPr lang="en-US" sz="1200" dirty="0"/>
          </a:p>
        </p:txBody>
      </p:sp>
      <p:sp>
        <p:nvSpPr>
          <p:cNvPr id="6" name="Text 3"/>
          <p:cNvSpPr txBox="1"/>
          <p:nvPr/>
        </p:nvSpPr>
        <p:spPr>
          <a:xfrm>
            <a:off x="548640" y="1481328"/>
            <a:ext cx="7178040" cy="859536"/>
          </a:xfrm>
          <a:prstGeom prst="rect">
            <a:avLst/>
          </a:prstGeom>
          <a:noFill/>
          <a:ln/>
        </p:spPr>
        <p:txBody>
          <a:bodyPr wrap="square" lIns="0" tIns="0" rIns="0" bIns="0" rtlCol="0" anchor="t"/>
          <a:lstStyle/>
          <a:p>
            <a:pPr indent="0" marL="0">
              <a:buNone/>
            </a:pPr>
            <a:r>
              <a:rPr lang="en-US" sz="1600" i="1" dirty="0">
                <a:solidFill>
                  <a:schemeClr val="accent5"/>
                </a:solidFill>
              </a:rPr>
              <a:t>Reliez ces idées brutes en une prise de position de </a:t>
            </a:r>
            <a:r>
              <a:rPr lang="en-US" sz="1600" b="1" i="1" dirty="0">
                <a:solidFill>
                  <a:schemeClr val="accent5"/>
                </a:solidFill>
              </a:rPr>
              <a:t>5 phrases</a:t>
            </a:r>
            <a:r>
              <a:rPr lang="en-US" sz="1600" i="1" dirty="0">
                <a:solidFill>
                  <a:schemeClr val="accent5"/>
                </a:solidFill>
              </a:rPr>
              <a:t> sur la rénovation de la façade, avec </a:t>
            </a:r>
            <a:r>
              <a:rPr lang="en-US" sz="1600" b="1" i="1" dirty="0">
                <a:solidFill>
                  <a:schemeClr val="accent5"/>
                </a:solidFill>
              </a:rPr>
              <a:t>4 connecteurs</a:t>
            </a:r>
            <a:r>
              <a:rPr lang="en-US" sz="1600" i="1" dirty="0">
                <a:solidFill>
                  <a:schemeClr val="accent5"/>
                </a:solidFill>
              </a:rPr>
              <a:t> de la séquence (+ bovendien, daarom, kortom). Seul · 8 min.</a:t>
            </a:r>
            <a:endParaRPr lang="en-US" sz="1600" dirty="0"/>
          </a:p>
        </p:txBody>
      </p:sp>
      <p:sp>
        <p:nvSpPr>
          <p:cNvPr id="7" name="exercise"/>
          <p:cNvSpPr txBox="1"/>
          <p:nvPr/>
        </p:nvSpPr>
        <p:spPr>
          <a:xfrm>
            <a:off x="548640" y="2414016"/>
            <a:ext cx="7178040" cy="3877056"/>
          </a:xfrm>
          <a:prstGeom prst="rect">
            <a:avLst/>
          </a:prstGeom>
          <a:noFill/>
          <a:ln/>
        </p:spPr>
        <p:txBody>
          <a:bodyPr wrap="square" lIns="0" tIns="0" rIns="0" bIns="0" rtlCol="0" anchor="t"/>
          <a:lstStyle/>
          <a:p>
            <a:pPr indent="0" marL="0">
              <a:spcAft>
                <a:spcPts val="600"/>
              </a:spcAft>
              <a:buNone/>
            </a:pPr>
            <a:r>
              <a:rPr lang="en-US" sz="2400" b="1" dirty="0">
                <a:solidFill>
                  <a:schemeClr val="tx2"/>
                </a:solidFill>
              </a:rPr>
              <a:t>Idées brutes</a:t>
            </a:r>
            <a:endParaRPr lang="en-US" sz="2400" dirty="0"/>
          </a:p>
          <a:p>
            <a:pPr indent="0" marL="0">
              <a:spcAft>
                <a:spcPts val="800"/>
              </a:spcAft>
              <a:buNone/>
            </a:pPr>
            <a:r>
              <a:rPr lang="en-US" sz="2400" dirty="0">
                <a:solidFill>
                  <a:schemeClr val="tx1"/>
                </a:solidFill>
              </a:rPr>
              <a:t>de werken zijn noodzakelijk</a:t>
            </a:r>
            <a:endParaRPr lang="en-US" sz="2400" dirty="0"/>
          </a:p>
          <a:p>
            <a:pPr indent="0" marL="0">
              <a:spcAft>
                <a:spcPts val="800"/>
              </a:spcAft>
              <a:buNone/>
            </a:pPr>
            <a:r>
              <a:rPr lang="en-US" sz="2400" dirty="0">
                <a:solidFill>
                  <a:schemeClr val="tx1"/>
                </a:solidFill>
              </a:rPr>
              <a:t>de kostprijs is hoog · het reservefonds is bijna leeg</a:t>
            </a:r>
            <a:endParaRPr lang="en-US" sz="2400" dirty="0"/>
          </a:p>
          <a:p>
            <a:pPr indent="0" marL="0">
              <a:spcAft>
                <a:spcPts val="800"/>
              </a:spcAft>
              <a:buNone/>
            </a:pPr>
            <a:r>
              <a:rPr lang="en-US" sz="2400" dirty="0">
                <a:solidFill>
                  <a:schemeClr val="tx1"/>
                </a:solidFill>
              </a:rPr>
              <a:t>de schade wordt groter · wachten is riskant</a:t>
            </a:r>
            <a:endParaRPr lang="en-US" sz="2400" dirty="0"/>
          </a:p>
          <a:p>
            <a:pPr indent="0" marL="0">
              <a:spcAft>
                <a:spcPts val="800"/>
              </a:spcAft>
              <a:buNone/>
            </a:pPr>
            <a:r>
              <a:rPr lang="en-US" sz="2400" dirty="0">
                <a:solidFill>
                  <a:schemeClr val="tx1"/>
                </a:solidFill>
              </a:rPr>
              <a:t>een tweede offerte kan de prijs verlagen</a:t>
            </a:r>
            <a:endParaRPr lang="en-US" sz="2400" dirty="0"/>
          </a:p>
        </p:txBody>
      </p:sp>
      <p:sp>
        <p:nvSpPr>
          <p:cNvPr id="8" name="aside"/>
          <p:cNvSpPr/>
          <p:nvPr/>
        </p:nvSpPr>
        <p:spPr>
          <a:xfrm>
            <a:off x="8046720" y="1481328"/>
            <a:ext cx="3593592" cy="4809744"/>
          </a:xfrm>
          <a:prstGeom prst="roundRect">
            <a:avLst>
              <a:gd name="adj" fmla="val 2036"/>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5 phrases</a:t>
            </a:r>
            <a:endParaRPr lang="en-US" sz="1800" dirty="0"/>
          </a:p>
          <a:p>
            <a:pPr marL="177800" indent="-177800">
              <a:spcAft>
                <a:spcPts val="600"/>
              </a:spcAft>
              <a:buSzPct val="100000"/>
              <a:buChar char="•"/>
            </a:pPr>
            <a:r>
              <a:rPr lang="en-US" sz="1800" b="1" dirty="0">
                <a:solidFill>
                  <a:schemeClr val="tx1"/>
                </a:solidFill>
              </a:rPr>
              <a:t>4 connecteurs</a:t>
            </a:r>
            <a:r>
              <a:rPr lang="en-US" sz="1800" dirty="0">
                <a:solidFill>
                  <a:schemeClr val="tx1"/>
                </a:solidFill>
              </a:rPr>
              <a:t> de 7.3</a:t>
            </a:r>
            <a:endParaRPr lang="en-US" sz="1800" dirty="0"/>
          </a:p>
          <a:p>
            <a:pPr marL="177800" indent="-177800">
              <a:spcAft>
                <a:spcPts val="600"/>
              </a:spcAft>
              <a:buSzPct val="100000"/>
              <a:buChar char="•"/>
            </a:pPr>
            <a:r>
              <a:rPr lang="en-US" sz="1800" b="1" dirty="0">
                <a:solidFill>
                  <a:schemeClr val="tx1"/>
                </a:solidFill>
              </a:rPr>
              <a:t>Verbe en 2e position</a:t>
            </a:r>
            <a:r>
              <a:rPr lang="en-US" sz="1800" dirty="0">
                <a:solidFill>
                  <a:schemeClr val="tx1"/>
                </a:solidFill>
              </a:rPr>
              <a:t> après le connecteur</a:t>
            </a:r>
            <a:endParaRPr lang="en-US" sz="1800" dirty="0"/>
          </a:p>
          <a:p>
            <a:pPr marL="177800" indent="-177800">
              <a:spcAft>
                <a:spcPts val="600"/>
              </a:spcAft>
              <a:buSzPct val="100000"/>
              <a:buChar char="•"/>
            </a:pPr>
            <a:r>
              <a:rPr lang="en-US" sz="1800" dirty="0">
                <a:solidFill>
                  <a:schemeClr val="tx1"/>
                </a:solidFill>
              </a:rPr>
              <a:t>Écrit · seul · 8 min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Bouw het betoog : deux modèles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t>
            </a:r>
            <a:endParaRPr lang="en-US" sz="1200" dirty="0"/>
          </a:p>
        </p:txBody>
      </p:sp>
      <p:sp>
        <p:nvSpPr>
          <p:cNvPr id="6" name="Shape 3"/>
          <p:cNvSpPr/>
          <p:nvPr/>
        </p:nvSpPr>
        <p:spPr>
          <a:xfrm>
            <a:off x="548640" y="1481328"/>
            <a:ext cx="5225796" cy="4809744"/>
          </a:xfrm>
          <a:prstGeom prst="roundRect">
            <a:avLst>
              <a:gd name="adj" fmla="val 1901"/>
            </a:avLst>
          </a:prstGeom>
          <a:solidFill>
            <a:schemeClr val="accent3">
              <a:alpha val="8000"/>
            </a:schemeClr>
          </a:solidFill>
          <a:ln w="15875">
            <a:solidFill>
              <a:schemeClr val="accent3"/>
            </a:solidFill>
            <a:prstDash val="solid"/>
          </a:ln>
        </p:spPr>
      </p:sp>
      <p:pic>
        <p:nvPicPr>
          <p:cNvPr id="7" name="Image 0" descr="preencoded.png">    </p:cNvPr>
          <p:cNvPicPr>
            <a:picLocks noChangeAspect="1"/>
          </p:cNvPicPr>
          <p:nvPr/>
        </p:nvPicPr>
        <p:blipFill>
          <a:blip r:embed="rId1"/>
          <a:stretch>
            <a:fillRect/>
          </a:stretch>
        </p:blipFill>
        <p:spPr>
          <a:xfrm>
            <a:off x="777240" y="1682496"/>
            <a:ext cx="384048" cy="384048"/>
          </a:xfrm>
          <a:prstGeom prst="rect">
            <a:avLst/>
          </a:prstGeom>
        </p:spPr>
      </p:pic>
      <p:sp>
        <p:nvSpPr>
          <p:cNvPr id="8" name="Text 4"/>
          <p:cNvSpPr txBox="1"/>
          <p:nvPr/>
        </p:nvSpPr>
        <p:spPr>
          <a:xfrm>
            <a:off x="1280160" y="1618488"/>
            <a:ext cx="4311396" cy="548640"/>
          </a:xfrm>
          <a:prstGeom prst="rect">
            <a:avLst/>
          </a:prstGeom>
          <a:noFill/>
          <a:ln/>
        </p:spPr>
        <p:txBody>
          <a:bodyPr wrap="square" lIns="0" tIns="0" rIns="0" bIns="0" rtlCol="0" anchor="ctr"/>
          <a:lstStyle/>
          <a:p>
            <a:pPr indent="0" marL="0">
              <a:buNone/>
            </a:pPr>
            <a:r>
              <a:rPr lang="en-US" sz="2000" b="1" dirty="0">
                <a:solidFill>
                  <a:schemeClr val="accent3"/>
                </a:solidFill>
                <a:latin typeface="+mj-lt" pitchFamily="34" charset="0"/>
                <a:ea typeface="+mj-lt" pitchFamily="34" charset="-122"/>
                <a:cs typeface="+mj-lt" pitchFamily="34" charset="-120"/>
              </a:rPr>
              <a:t>MODÈLE A — voor, met een tweede offerte</a:t>
            </a:r>
            <a:endParaRPr lang="en-US" sz="2000" dirty="0"/>
          </a:p>
        </p:txBody>
      </p:sp>
      <p:sp>
        <p:nvSpPr>
          <p:cNvPr id="9" name="Text 5"/>
          <p:cNvSpPr txBox="1"/>
          <p:nvPr/>
        </p:nvSpPr>
        <p:spPr>
          <a:xfrm>
            <a:off x="777240" y="2304288"/>
            <a:ext cx="4768596" cy="3849624"/>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chemeClr val="tx1"/>
                </a:solidFill>
              </a:rPr>
              <a:t>Wat</a:t>
            </a:r>
            <a:r>
              <a:rPr lang="en-US" sz="1600" dirty="0">
                <a:solidFill>
                  <a:schemeClr val="tx1"/>
                </a:solidFill>
              </a:rPr>
              <a:t> de renovatie van de gevel </a:t>
            </a:r>
            <a:r>
              <a:rPr lang="en-US" sz="1600" b="1" dirty="0">
                <a:solidFill>
                  <a:schemeClr val="tx1"/>
                </a:solidFill>
              </a:rPr>
              <a:t>betreft</a:t>
            </a:r>
            <a:r>
              <a:rPr lang="en-US" sz="1600" dirty="0">
                <a:solidFill>
                  <a:schemeClr val="tx1"/>
                </a:solidFill>
              </a:rPr>
              <a:t>, zijn de werken noodzakelijk, want de schade wordt elk jaar groter.</a:t>
            </a:r>
            <a:endParaRPr lang="en-US" sz="1600" dirty="0"/>
          </a:p>
          <a:p>
            <a:pPr marL="203200" indent="-203200">
              <a:spcAft>
                <a:spcPts val="800"/>
              </a:spcAft>
              <a:buSzPct val="100000"/>
              <a:buChar char="•"/>
            </a:pPr>
            <a:r>
              <a:rPr lang="en-US" sz="1600" b="1" dirty="0">
                <a:solidFill>
                  <a:schemeClr val="tx1"/>
                </a:solidFill>
              </a:rPr>
              <a:t>Enerzijds</a:t>
            </a:r>
            <a:r>
              <a:rPr lang="en-US" sz="1600" dirty="0">
                <a:solidFill>
                  <a:schemeClr val="tx1"/>
                </a:solidFill>
              </a:rPr>
              <a:t> is de kostprijs hoog en is het reservefonds bijna leeg, </a:t>
            </a:r>
            <a:r>
              <a:rPr lang="en-US" sz="1600" b="1" dirty="0">
                <a:solidFill>
                  <a:schemeClr val="tx1"/>
                </a:solidFill>
              </a:rPr>
              <a:t>anderzijds</a:t>
            </a:r>
            <a:r>
              <a:rPr lang="en-US" sz="1600" dirty="0">
                <a:solidFill>
                  <a:schemeClr val="tx1"/>
                </a:solidFill>
              </a:rPr>
              <a:t> is wachten riskant.</a:t>
            </a:r>
            <a:endParaRPr lang="en-US" sz="1600" dirty="0"/>
          </a:p>
          <a:p>
            <a:pPr marL="203200" indent="-203200">
              <a:spcAft>
                <a:spcPts val="800"/>
              </a:spcAft>
              <a:buSzPct val="100000"/>
              <a:buChar char="•"/>
            </a:pPr>
            <a:r>
              <a:rPr lang="en-US" sz="1600" dirty="0">
                <a:solidFill>
                  <a:schemeClr val="tx1"/>
                </a:solidFill>
              </a:rPr>
              <a:t>Een tweede offerte kan </a:t>
            </a:r>
            <a:r>
              <a:rPr lang="en-US" sz="1600" b="1" dirty="0">
                <a:solidFill>
                  <a:schemeClr val="tx1"/>
                </a:solidFill>
              </a:rPr>
              <a:t>echter</a:t>
            </a:r>
            <a:r>
              <a:rPr lang="en-US" sz="1600" dirty="0">
                <a:solidFill>
                  <a:schemeClr val="tx1"/>
                </a:solidFill>
              </a:rPr>
              <a:t> de prijs verlagen.</a:t>
            </a:r>
            <a:endParaRPr lang="en-US" sz="1600" dirty="0"/>
          </a:p>
          <a:p>
            <a:pPr marL="203200" indent="-203200">
              <a:spcAft>
                <a:spcPts val="800"/>
              </a:spcAft>
              <a:buSzPct val="100000"/>
              <a:buChar char="•"/>
            </a:pPr>
            <a:r>
              <a:rPr lang="en-US" sz="1600" b="1" dirty="0">
                <a:solidFill>
                  <a:schemeClr val="tx1"/>
                </a:solidFill>
              </a:rPr>
              <a:t>Daarom</a:t>
            </a:r>
            <a:r>
              <a:rPr lang="en-US" sz="1600" dirty="0">
                <a:solidFill>
                  <a:schemeClr val="tx1"/>
                </a:solidFill>
              </a:rPr>
              <a:t> stel ik voor om snel een tweede offerte te vragen.</a:t>
            </a:r>
            <a:endParaRPr lang="en-US" sz="1600" dirty="0"/>
          </a:p>
          <a:p>
            <a:pPr marL="203200" indent="-203200">
              <a:spcAft>
                <a:spcPts val="800"/>
              </a:spcAft>
              <a:buSzPct val="100000"/>
              <a:buChar char="•"/>
            </a:pPr>
            <a:r>
              <a:rPr lang="en-US" sz="1600" b="1" dirty="0">
                <a:solidFill>
                  <a:schemeClr val="tx1"/>
                </a:solidFill>
              </a:rPr>
              <a:t>Ten slotte</a:t>
            </a:r>
            <a:r>
              <a:rPr lang="en-US" sz="1600" dirty="0">
                <a:solidFill>
                  <a:schemeClr val="tx1"/>
                </a:solidFill>
              </a:rPr>
              <a:t> vraag ik een stemming in november.</a:t>
            </a:r>
            <a:endParaRPr lang="en-US" sz="1600" dirty="0"/>
          </a:p>
        </p:txBody>
      </p:sp>
      <p:sp>
        <p:nvSpPr>
          <p:cNvPr id="10" name="Shape 6"/>
          <p:cNvSpPr/>
          <p:nvPr/>
        </p:nvSpPr>
        <p:spPr>
          <a:xfrm>
            <a:off x="6414516" y="1481328"/>
            <a:ext cx="5225796" cy="4809744"/>
          </a:xfrm>
          <a:prstGeom prst="roundRect">
            <a:avLst>
              <a:gd name="adj" fmla="val 1901"/>
            </a:avLst>
          </a:prstGeom>
          <a:solidFill>
            <a:schemeClr val="accent1">
              <a:alpha val="8000"/>
            </a:schemeClr>
          </a:solidFill>
          <a:ln w="15875">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643116" y="1682496"/>
            <a:ext cx="384048" cy="384048"/>
          </a:xfrm>
          <a:prstGeom prst="rect">
            <a:avLst/>
          </a:prstGeom>
        </p:spPr>
      </p:pic>
      <p:sp>
        <p:nvSpPr>
          <p:cNvPr id="12" name="Text 7"/>
          <p:cNvSpPr txBox="1"/>
          <p:nvPr/>
        </p:nvSpPr>
        <p:spPr>
          <a:xfrm>
            <a:off x="7146036" y="1618488"/>
            <a:ext cx="4311396"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MODÈLE B — voorzichtig</a:t>
            </a:r>
            <a:endParaRPr lang="en-US" sz="2000" dirty="0"/>
          </a:p>
        </p:txBody>
      </p:sp>
      <p:sp>
        <p:nvSpPr>
          <p:cNvPr id="13" name="Text 8"/>
          <p:cNvSpPr txBox="1"/>
          <p:nvPr/>
        </p:nvSpPr>
        <p:spPr>
          <a:xfrm>
            <a:off x="6643116" y="2304288"/>
            <a:ext cx="4768596" cy="3849624"/>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chemeClr val="tx1"/>
                </a:solidFill>
              </a:rPr>
              <a:t>Wat</a:t>
            </a:r>
            <a:r>
              <a:rPr lang="en-US" sz="1600" dirty="0">
                <a:solidFill>
                  <a:schemeClr val="tx1"/>
                </a:solidFill>
              </a:rPr>
              <a:t> de kostprijs </a:t>
            </a:r>
            <a:r>
              <a:rPr lang="en-US" sz="1600" b="1" dirty="0">
                <a:solidFill>
                  <a:schemeClr val="tx1"/>
                </a:solidFill>
              </a:rPr>
              <a:t>betreft</a:t>
            </a:r>
            <a:r>
              <a:rPr lang="en-US" sz="1600" dirty="0">
                <a:solidFill>
                  <a:schemeClr val="tx1"/>
                </a:solidFill>
              </a:rPr>
              <a:t>, ben ik bezorgd: het reservefonds is bijna leeg.</a:t>
            </a:r>
            <a:endParaRPr lang="en-US" sz="1600" dirty="0"/>
          </a:p>
          <a:p>
            <a:pPr marL="203200" indent="-203200">
              <a:spcAft>
                <a:spcPts val="800"/>
              </a:spcAft>
              <a:buSzPct val="100000"/>
              <a:buChar char="•"/>
            </a:pPr>
            <a:r>
              <a:rPr lang="en-US" sz="1600" b="1" dirty="0">
                <a:solidFill>
                  <a:schemeClr val="tx1"/>
                </a:solidFill>
              </a:rPr>
              <a:t>Enerzijds</a:t>
            </a:r>
            <a:r>
              <a:rPr lang="en-US" sz="1600" dirty="0">
                <a:solidFill>
                  <a:schemeClr val="tx1"/>
                </a:solidFill>
              </a:rPr>
              <a:t> wordt de schade elk jaar groter, </a:t>
            </a:r>
            <a:r>
              <a:rPr lang="en-US" sz="1600" b="1" dirty="0">
                <a:solidFill>
                  <a:schemeClr val="tx1"/>
                </a:solidFill>
              </a:rPr>
              <a:t>anderzijds</a:t>
            </a:r>
            <a:r>
              <a:rPr lang="en-US" sz="1600" dirty="0">
                <a:solidFill>
                  <a:schemeClr val="tx1"/>
                </a:solidFill>
              </a:rPr>
              <a:t> kan een tweede offerte de prijs verlagen.</a:t>
            </a:r>
            <a:endParaRPr lang="en-US" sz="1600" dirty="0"/>
          </a:p>
          <a:p>
            <a:pPr marL="203200" indent="-203200">
              <a:spcAft>
                <a:spcPts val="800"/>
              </a:spcAft>
              <a:buSzPct val="100000"/>
              <a:buChar char="•"/>
            </a:pPr>
            <a:r>
              <a:rPr lang="en-US" sz="1600" b="1" dirty="0">
                <a:solidFill>
                  <a:schemeClr val="tx1"/>
                </a:solidFill>
              </a:rPr>
              <a:t>Met andere woorden</a:t>
            </a:r>
            <a:r>
              <a:rPr lang="en-US" sz="1600" dirty="0">
                <a:solidFill>
                  <a:schemeClr val="tx1"/>
                </a:solidFill>
              </a:rPr>
              <a:t>: wachten is riskant, maar overhaast beslissen ook.</a:t>
            </a:r>
            <a:endParaRPr lang="en-US" sz="1600" dirty="0"/>
          </a:p>
          <a:p>
            <a:pPr marL="203200" indent="-203200">
              <a:spcAft>
                <a:spcPts val="800"/>
              </a:spcAft>
              <a:buSzPct val="100000"/>
              <a:buChar char="•"/>
            </a:pPr>
            <a:r>
              <a:rPr lang="en-US" sz="1600" dirty="0">
                <a:solidFill>
                  <a:schemeClr val="tx1"/>
                </a:solidFill>
              </a:rPr>
              <a:t>De syndicus wil </a:t>
            </a:r>
            <a:r>
              <a:rPr lang="en-US" sz="1600" b="1" dirty="0">
                <a:solidFill>
                  <a:schemeClr val="tx1"/>
                </a:solidFill>
              </a:rPr>
              <a:t>echter</a:t>
            </a:r>
            <a:r>
              <a:rPr lang="en-US" sz="1600" dirty="0">
                <a:solidFill>
                  <a:schemeClr val="tx1"/>
                </a:solidFill>
              </a:rPr>
              <a:t> nu al stemmen.</a:t>
            </a:r>
            <a:endParaRPr lang="en-US" sz="1600" dirty="0"/>
          </a:p>
          <a:p>
            <a:pPr marL="203200" indent="-203200">
              <a:spcAft>
                <a:spcPts val="800"/>
              </a:spcAft>
              <a:buSzPct val="100000"/>
              <a:buChar char="•"/>
            </a:pPr>
            <a:r>
              <a:rPr lang="en-US" sz="1600" b="1" dirty="0">
                <a:solidFill>
                  <a:schemeClr val="tx1"/>
                </a:solidFill>
              </a:rPr>
              <a:t>Ten slotte</a:t>
            </a:r>
            <a:r>
              <a:rPr lang="en-US" sz="1600" dirty="0">
                <a:solidFill>
                  <a:schemeClr val="tx1"/>
                </a:solidFill>
              </a:rPr>
              <a:t> vraag ik daarom om de stemming naar november te verplaatsen.</a:t>
            </a:r>
            <a:endParaRPr lang="en-US" sz="1600" dirty="0"/>
          </a:p>
        </p:txBody>
      </p:sp>
      <p:sp>
        <p:nvSpPr>
          <p:cNvPr id="14" name="Shape 9"/>
          <p:cNvSpPr/>
          <p:nvPr/>
        </p:nvSpPr>
        <p:spPr>
          <a:xfrm>
            <a:off x="5838444" y="3630168"/>
            <a:ext cx="512064" cy="512064"/>
          </a:xfrm>
          <a:prstGeom prst="ellipse">
            <a:avLst/>
          </a:prstGeom>
          <a:solidFill>
            <a:schemeClr val="tx2"/>
          </a:solidFill>
          <a:ln/>
        </p:spPr>
      </p:sp>
      <p:sp>
        <p:nvSpPr>
          <p:cNvPr id="15" name="Text 10"/>
          <p:cNvSpPr txBox="1"/>
          <p:nvPr/>
        </p:nvSpPr>
        <p:spPr>
          <a:xfrm>
            <a:off x="5838444" y="3630168"/>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vs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3 : uw standpunt in de vergadering</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Préparez </a:t>
            </a:r>
            <a:r>
              <a:rPr lang="en-US" sz="1600" b="1" i="1" dirty="0">
                <a:solidFill>
                  <a:schemeClr val="accent5"/>
                </a:solidFill>
              </a:rPr>
              <a:t>5 min</a:t>
            </a:r>
            <a:r>
              <a:rPr lang="en-US" sz="1600" i="1" dirty="0">
                <a:solidFill>
                  <a:schemeClr val="accent5"/>
                </a:solidFill>
              </a:rPr>
              <a:t> (mots-clés), puis </a:t>
            </a:r>
            <a:r>
              <a:rPr lang="en-US" sz="1600" b="1" i="1" dirty="0">
                <a:solidFill>
                  <a:schemeClr val="accent5"/>
                </a:solidFill>
              </a:rPr>
              <a:t>90 secondes</a:t>
            </a:r>
            <a:r>
              <a:rPr lang="en-US" sz="1600" i="1" dirty="0">
                <a:solidFill>
                  <a:schemeClr val="accent5"/>
                </a:solidFill>
              </a:rPr>
              <a:t> chrono devant un trio. Le trio vote : la position la plus convaincante l’emporte — </a:t>
            </a:r>
            <a:r>
              <a:rPr lang="en-US" sz="1600" b="1" i="1" dirty="0">
                <a:solidFill>
                  <a:schemeClr val="accent5"/>
                </a:solidFill>
              </a:rPr>
              <a:t>arguments, pas volume !</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① </a:t>
            </a:r>
            <a:r>
              <a:rPr lang="en-US" sz="2400" b="1" dirty="0">
                <a:solidFill>
                  <a:schemeClr val="tx1"/>
                </a:solidFill>
              </a:rPr>
              <a:t>Wat … betreft</a:t>
            </a:r>
            <a:r>
              <a:rPr lang="en-US" sz="2400" dirty="0">
                <a:solidFill>
                  <a:schemeClr val="tx1"/>
                </a:solidFill>
              </a:rPr>
              <a:t> → annoncer le thème</a:t>
            </a:r>
            <a:endParaRPr lang="en-US" sz="2400" dirty="0"/>
          </a:p>
          <a:p>
            <a:pPr indent="0" marL="0">
              <a:spcAft>
                <a:spcPts val="600"/>
              </a:spcAft>
              <a:buNone/>
            </a:pPr>
            <a:r>
              <a:rPr lang="en-US" sz="2400" dirty="0">
                <a:solidFill>
                  <a:schemeClr val="tx1"/>
                </a:solidFill>
              </a:rPr>
              <a:t>② </a:t>
            </a:r>
            <a:r>
              <a:rPr lang="en-US" sz="2400" b="1" dirty="0">
                <a:solidFill>
                  <a:schemeClr val="tx1"/>
                </a:solidFill>
              </a:rPr>
              <a:t>Enerzijds… anderzijds</a:t>
            </a:r>
            <a:r>
              <a:rPr lang="en-US" sz="2400" dirty="0">
                <a:solidFill>
                  <a:schemeClr val="tx1"/>
                </a:solidFill>
              </a:rPr>
              <a:t> → peser le pour et le contre</a:t>
            </a:r>
            <a:endParaRPr lang="en-US" sz="2400" dirty="0"/>
          </a:p>
          <a:p>
            <a:pPr indent="0" marL="0">
              <a:spcAft>
                <a:spcPts val="600"/>
              </a:spcAft>
              <a:buNone/>
            </a:pPr>
            <a:r>
              <a:rPr lang="en-US" sz="2400" dirty="0">
                <a:solidFill>
                  <a:schemeClr val="tx1"/>
                </a:solidFill>
              </a:rPr>
              <a:t>③ </a:t>
            </a:r>
            <a:r>
              <a:rPr lang="en-US" sz="2400" b="1" dirty="0">
                <a:solidFill>
                  <a:schemeClr val="tx1"/>
                </a:solidFill>
              </a:rPr>
              <a:t>Echter / daarentegen</a:t>
            </a:r>
            <a:r>
              <a:rPr lang="en-US" sz="2400" dirty="0">
                <a:solidFill>
                  <a:schemeClr val="tx1"/>
                </a:solidFill>
              </a:rPr>
              <a:t> → objection ou contraste</a:t>
            </a:r>
            <a:endParaRPr lang="en-US" sz="2400" dirty="0"/>
          </a:p>
          <a:p>
            <a:pPr indent="0" marL="0">
              <a:spcAft>
                <a:spcPts val="600"/>
              </a:spcAft>
              <a:buNone/>
            </a:pPr>
            <a:r>
              <a:rPr lang="en-US" sz="2400" dirty="0">
                <a:solidFill>
                  <a:schemeClr val="tx1"/>
                </a:solidFill>
              </a:rPr>
              <a:t>④ </a:t>
            </a:r>
            <a:r>
              <a:rPr lang="en-US" sz="2400" b="1" dirty="0">
                <a:solidFill>
                  <a:schemeClr val="tx1"/>
                </a:solidFill>
              </a:rPr>
              <a:t>Ten slotte</a:t>
            </a:r>
            <a:r>
              <a:rPr lang="en-US" sz="2400" dirty="0">
                <a:solidFill>
                  <a:schemeClr val="tx1"/>
                </a:solidFill>
              </a:rPr>
              <a:t> → dernier argument</a:t>
            </a:r>
            <a:endParaRPr lang="en-US" sz="2400" dirty="0"/>
          </a:p>
          <a:p>
            <a:pPr indent="0" marL="0">
              <a:spcAft>
                <a:spcPts val="600"/>
              </a:spcAft>
              <a:buNone/>
            </a:pPr>
            <a:r>
              <a:rPr lang="en-US" sz="2400" dirty="0">
                <a:solidFill>
                  <a:schemeClr val="tx1"/>
                </a:solidFill>
              </a:rPr>
              <a:t>⑤ </a:t>
            </a:r>
            <a:r>
              <a:rPr lang="en-US" sz="2400" b="1" dirty="0">
                <a:solidFill>
                  <a:schemeClr val="tx1"/>
                </a:solidFill>
              </a:rPr>
              <a:t>Kortom</a:t>
            </a:r>
            <a:r>
              <a:rPr lang="en-US" sz="2400" dirty="0">
                <a:solidFill>
                  <a:schemeClr val="tx1"/>
                </a:solidFill>
              </a:rPr>
              <a:t> → conclusion</a:t>
            </a:r>
            <a:endParaRPr lang="en-US" sz="2400" dirty="0"/>
          </a:p>
        </p:txBody>
      </p:sp>
      <p:pic>
        <p:nvPicPr>
          <p:cNvPr id="8" name="illustration" descr="Illustration du syllabus">    </p:cNvPr>
          <p:cNvPicPr>
            <a:picLocks noChangeAspect="1"/>
          </p:cNvPicPr>
          <p:nvPr/>
        </p:nvPicPr>
        <p:blipFill>
          <a:blip r:embed="rId1"/>
          <a:stretch>
            <a:fillRect/>
          </a:stretch>
        </p:blipFill>
        <p:spPr>
          <a:xfrm>
            <a:off x="8198918" y="1481328"/>
            <a:ext cx="3289196" cy="2194560"/>
          </a:xfrm>
          <a:prstGeom prst="rect">
            <a:avLst/>
          </a:prstGeom>
          <a:effectLst>
            <a:outerShdw sx="100000" sy="100000" kx="0" ky="0" algn="bl" rotWithShape="0" blurRad="101600" dist="25400" dir="3600000">
              <a:srgbClr val="000000">
                <a:alpha val="18000"/>
              </a:srgbClr>
            </a:outerShdw>
          </a:effectLst>
        </p:spPr>
      </p:pic>
      <p:sp>
        <p:nvSpPr>
          <p:cNvPr id="9" name="aside"/>
          <p:cNvSpPr/>
          <p:nvPr/>
        </p:nvSpPr>
        <p:spPr>
          <a:xfrm>
            <a:off x="8046720" y="3904488"/>
            <a:ext cx="3593592" cy="2386584"/>
          </a:xfrm>
          <a:prstGeom prst="roundRect">
            <a:avLst>
              <a:gd name="adj" fmla="val 3065"/>
            </a:avLst>
          </a:prstGeom>
          <a:solidFill>
            <a:schemeClr val="accent5">
              <a:alpha val="10000"/>
            </a:schemeClr>
          </a:solidFill>
          <a:ln w="12700">
            <a:solidFill>
              <a:schemeClr val="accent5">
                <a:alpha val="60000"/>
              </a:schemeClr>
            </a:solidFill>
            <a:prstDash val="solid"/>
          </a:ln>
        </p:spPr>
      </p:sp>
      <p:pic>
        <p:nvPicPr>
          <p:cNvPr id="10" name="Image 1" descr="preencoded.png">    </p:cNvPr>
          <p:cNvPicPr>
            <a:picLocks noChangeAspect="1"/>
          </p:cNvPicPr>
          <p:nvPr/>
        </p:nvPicPr>
        <p:blipFill>
          <a:blip r:embed="rId2"/>
          <a:stretch>
            <a:fillRect/>
          </a:stretch>
        </p:blipFill>
        <p:spPr>
          <a:xfrm>
            <a:off x="8229600" y="4087368"/>
            <a:ext cx="292608" cy="292608"/>
          </a:xfrm>
          <a:prstGeom prst="rect">
            <a:avLst/>
          </a:prstGeom>
        </p:spPr>
      </p:pic>
      <p:sp>
        <p:nvSpPr>
          <p:cNvPr id="11" name="Text 6"/>
          <p:cNvSpPr txBox="1"/>
          <p:nvPr/>
        </p:nvSpPr>
        <p:spPr>
          <a:xfrm>
            <a:off x="8613648" y="405993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2" name="Text 7"/>
          <p:cNvSpPr txBox="1"/>
          <p:nvPr/>
        </p:nvSpPr>
        <p:spPr>
          <a:xfrm>
            <a:off x="8211312" y="4498848"/>
            <a:ext cx="3264408" cy="165506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Au moins </a:t>
            </a:r>
            <a:r>
              <a:rPr lang="en-US" sz="1800" b="1" dirty="0">
                <a:solidFill>
                  <a:schemeClr val="tx1"/>
                </a:solidFill>
              </a:rPr>
              <a:t>1 nominalisation</a:t>
            </a:r>
            <a:endParaRPr lang="en-US" sz="1800" dirty="0"/>
          </a:p>
          <a:p>
            <a:pPr marL="177800" indent="-177800">
              <a:spcAft>
                <a:spcPts val="600"/>
              </a:spcAft>
              <a:buSzPct val="100000"/>
              <a:buChar char="•"/>
            </a:pPr>
            <a:r>
              <a:rPr lang="en-US" sz="1800" b="1" dirty="0">
                <a:solidFill>
                  <a:schemeClr val="tx1"/>
                </a:solidFill>
              </a:rPr>
              <a:t>Inversion</a:t>
            </a:r>
            <a:r>
              <a:rPr lang="en-US" sz="1800" dirty="0">
                <a:solidFill>
                  <a:schemeClr val="tx1"/>
                </a:solidFill>
              </a:rPr>
              <a:t> correcte après un connecteur</a:t>
            </a:r>
            <a:endParaRPr lang="en-US" sz="1800" dirty="0"/>
          </a:p>
          <a:p>
            <a:pPr marL="177800" indent="-177800">
              <a:spcAft>
                <a:spcPts val="600"/>
              </a:spcAft>
              <a:buSzPct val="100000"/>
              <a:buChar char="•"/>
            </a:pPr>
            <a:r>
              <a:rPr lang="en-US" sz="1800" dirty="0">
                <a:solidFill>
                  <a:schemeClr val="tx1"/>
                </a:solidFill>
              </a:rPr>
              <a:t>Observateurs : structure · connecteurs · inversion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3 : discours-modèle (90 s)</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11887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MODÈLE</a:t>
            </a:r>
            <a:endParaRPr lang="en-US" sz="1200" dirty="0"/>
          </a:p>
        </p:txBody>
      </p:sp>
      <p:sp>
        <p:nvSpPr>
          <p:cNvPr id="8" name="Text 5"/>
          <p:cNvSpPr txBox="1"/>
          <p:nvPr/>
        </p:nvSpPr>
        <p:spPr>
          <a:xfrm>
            <a:off x="2194560" y="1609344"/>
            <a:ext cx="566928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Mijn standpunt over de renovatie</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2100" b="1" dirty="0">
                <a:solidFill>
                  <a:schemeClr val="tx1"/>
                </a:solidFill>
              </a:rPr>
              <a:t>Wat</a:t>
            </a:r>
            <a:r>
              <a:rPr lang="en-US" sz="2100" dirty="0">
                <a:solidFill>
                  <a:schemeClr val="tx1"/>
                </a:solidFill>
              </a:rPr>
              <a:t> de renovatie van de gevel </a:t>
            </a:r>
            <a:r>
              <a:rPr lang="en-US" sz="2100" b="1" dirty="0">
                <a:solidFill>
                  <a:schemeClr val="tx1"/>
                </a:solidFill>
              </a:rPr>
              <a:t>betreft</a:t>
            </a:r>
            <a:r>
              <a:rPr lang="en-US" sz="2100" dirty="0">
                <a:solidFill>
                  <a:schemeClr val="tx1"/>
                </a:solidFill>
              </a:rPr>
              <a:t>, ben ik niet tegen de werken, maar wel tegen een snelle stemming.</a:t>
            </a:r>
            <a:endParaRPr lang="en-US" sz="2100" dirty="0"/>
          </a:p>
          <a:p>
            <a:pPr indent="0" marL="0">
              <a:spcAft>
                <a:spcPts val="800"/>
              </a:spcAft>
              <a:buNone/>
            </a:pPr>
            <a:r>
              <a:rPr lang="en-US" sz="2100" b="1" dirty="0">
                <a:solidFill>
                  <a:schemeClr val="tx1"/>
                </a:solidFill>
              </a:rPr>
              <a:t>Enerzijds</a:t>
            </a:r>
            <a:r>
              <a:rPr lang="en-US" sz="2100" dirty="0">
                <a:solidFill>
                  <a:schemeClr val="tx1"/>
                </a:solidFill>
              </a:rPr>
              <a:t> zijn de werken noodzakelijk, </a:t>
            </a:r>
            <a:r>
              <a:rPr lang="en-US" sz="2100" b="1" dirty="0">
                <a:solidFill>
                  <a:schemeClr val="tx1"/>
                </a:solidFill>
              </a:rPr>
              <a:t>anderzijds</a:t>
            </a:r>
            <a:r>
              <a:rPr lang="en-US" sz="2100" dirty="0">
                <a:solidFill>
                  <a:schemeClr val="tx1"/>
                </a:solidFill>
              </a:rPr>
              <a:t> is € 86.500 een groot bedrag zonder vergelijking. De syndicus </a:t>
            </a:r>
            <a:r>
              <a:rPr lang="en-US" sz="2100" b="1" dirty="0">
                <a:solidFill>
                  <a:schemeClr val="tx1"/>
                </a:solidFill>
              </a:rPr>
              <a:t>daarentegen</a:t>
            </a:r>
            <a:r>
              <a:rPr lang="en-US" sz="2100" dirty="0">
                <a:solidFill>
                  <a:schemeClr val="tx1"/>
                </a:solidFill>
              </a:rPr>
              <a:t> wil nu al stemmen.</a:t>
            </a:r>
            <a:endParaRPr lang="en-US" sz="2100" dirty="0"/>
          </a:p>
          <a:p>
            <a:pPr indent="0" marL="0">
              <a:spcAft>
                <a:spcPts val="800"/>
              </a:spcAft>
              <a:buNone/>
            </a:pPr>
            <a:r>
              <a:rPr lang="en-US" sz="2100" dirty="0">
                <a:solidFill>
                  <a:schemeClr val="tx1"/>
                </a:solidFill>
              </a:rPr>
              <a:t>Het vragen van een tweede offerte kost </a:t>
            </a:r>
            <a:r>
              <a:rPr lang="en-US" sz="2100" b="1" dirty="0">
                <a:solidFill>
                  <a:schemeClr val="tx1"/>
                </a:solidFill>
              </a:rPr>
              <a:t>echter</a:t>
            </a:r>
            <a:r>
              <a:rPr lang="en-US" sz="2100" dirty="0">
                <a:solidFill>
                  <a:schemeClr val="tx1"/>
                </a:solidFill>
              </a:rPr>
              <a:t> maar twee weken.</a:t>
            </a:r>
            <a:endParaRPr lang="en-US" sz="2100" dirty="0"/>
          </a:p>
          <a:p>
            <a:pPr indent="0" marL="0">
              <a:spcAft>
                <a:spcPts val="800"/>
              </a:spcAft>
              <a:buNone/>
            </a:pPr>
            <a:r>
              <a:rPr lang="en-US" sz="2100" b="1" dirty="0">
                <a:solidFill>
                  <a:schemeClr val="tx1"/>
                </a:solidFill>
              </a:rPr>
              <a:t>Ten slotte</a:t>
            </a:r>
            <a:r>
              <a:rPr lang="en-US" sz="2100" dirty="0">
                <a:solidFill>
                  <a:schemeClr val="tx1"/>
                </a:solidFill>
              </a:rPr>
              <a:t> vraag ik een stemming in november. </a:t>
            </a:r>
            <a:r>
              <a:rPr lang="en-US" sz="2100" b="1" dirty="0">
                <a:solidFill>
                  <a:schemeClr val="tx1"/>
                </a:solidFill>
              </a:rPr>
              <a:t>Kortom</a:t>
            </a:r>
            <a:r>
              <a:rPr lang="en-US" sz="2100" dirty="0">
                <a:solidFill>
                  <a:schemeClr val="tx1"/>
                </a:solidFill>
              </a:rPr>
              <a:t>: eerst vergelijken, dan beslissen.</a:t>
            </a:r>
            <a:endParaRPr lang="en-US" sz="2100" dirty="0"/>
          </a:p>
        </p:txBody>
      </p:sp>
      <p:sp>
        <p:nvSpPr>
          <p:cNvPr id="10" name="aside"/>
          <p:cNvSpPr/>
          <p:nvPr/>
        </p:nvSpPr>
        <p:spPr>
          <a:xfrm>
            <a:off x="8275320" y="1481328"/>
            <a:ext cx="3364992" cy="4809744"/>
          </a:xfrm>
          <a:prstGeom prst="roundRect">
            <a:avLst>
              <a:gd name="adj" fmla="val 2174"/>
            </a:avLst>
          </a:prstGeom>
          <a:solidFill>
            <a:schemeClr val="accent3">
              <a:alpha val="10000"/>
            </a:schemeClr>
          </a:solidFill>
          <a:ln w="12700">
            <a:solidFill>
              <a:schemeClr val="accent3">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458200" y="1664208"/>
            <a:ext cx="292608" cy="292608"/>
          </a:xfrm>
          <a:prstGeom prst="rect">
            <a:avLst/>
          </a:prstGeom>
        </p:spPr>
      </p:pic>
      <p:sp>
        <p:nvSpPr>
          <p:cNvPr id="12" name="Text 8"/>
          <p:cNvSpPr txBox="1"/>
          <p:nvPr/>
        </p:nvSpPr>
        <p:spPr>
          <a:xfrm>
            <a:off x="8842248" y="1636776"/>
            <a:ext cx="2633472"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À REPÉRER</a:t>
            </a:r>
            <a:endParaRPr lang="en-US" sz="1400" dirty="0"/>
          </a:p>
        </p:txBody>
      </p:sp>
      <p:sp>
        <p:nvSpPr>
          <p:cNvPr id="13" name="Text 9"/>
          <p:cNvSpPr txBox="1"/>
          <p:nvPr/>
        </p:nvSpPr>
        <p:spPr>
          <a:xfrm>
            <a:off x="8439912" y="2075688"/>
            <a:ext cx="30358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wat … betreft</a:t>
            </a:r>
            <a:r>
              <a:rPr lang="en-US" sz="1800" dirty="0">
                <a:solidFill>
                  <a:schemeClr val="tx1"/>
                </a:solidFill>
              </a:rPr>
              <a:t> → thème</a:t>
            </a:r>
            <a:endParaRPr lang="en-US" sz="1800" dirty="0"/>
          </a:p>
          <a:p>
            <a:pPr marL="177800" indent="-177800">
              <a:spcAft>
                <a:spcPts val="600"/>
              </a:spcAft>
              <a:buSzPct val="100000"/>
              <a:buChar char="•"/>
            </a:pPr>
            <a:r>
              <a:rPr lang="en-US" sz="1800" b="1" dirty="0">
                <a:solidFill>
                  <a:schemeClr val="tx1"/>
                </a:solidFill>
              </a:rPr>
              <a:t>enerzijds / anderzijds</a:t>
            </a:r>
            <a:r>
              <a:rPr lang="en-US" sz="1800" dirty="0">
                <a:solidFill>
                  <a:schemeClr val="tx1"/>
                </a:solidFill>
              </a:rPr>
              <a:t> → balancement</a:t>
            </a:r>
            <a:endParaRPr lang="en-US" sz="1800" dirty="0"/>
          </a:p>
          <a:p>
            <a:pPr marL="177800" indent="-177800">
              <a:spcAft>
                <a:spcPts val="600"/>
              </a:spcAft>
              <a:buSzPct val="100000"/>
              <a:buChar char="•"/>
            </a:pPr>
            <a:r>
              <a:rPr lang="en-US" sz="1800" b="1" dirty="0">
                <a:solidFill>
                  <a:schemeClr val="tx1"/>
                </a:solidFill>
              </a:rPr>
              <a:t>daarentegen · echter</a:t>
            </a:r>
            <a:r>
              <a:rPr lang="en-US" sz="1800" dirty="0">
                <a:solidFill>
                  <a:schemeClr val="tx1"/>
                </a:solidFill>
              </a:rPr>
              <a:t> → contraste, objection</a:t>
            </a:r>
            <a:endParaRPr lang="en-US" sz="1800" dirty="0"/>
          </a:p>
          <a:p>
            <a:pPr marL="177800" indent="-177800">
              <a:spcAft>
                <a:spcPts val="600"/>
              </a:spcAft>
              <a:buSzPct val="100000"/>
              <a:buChar char="•"/>
            </a:pPr>
            <a:r>
              <a:rPr lang="en-US" sz="1800" b="1" dirty="0">
                <a:solidFill>
                  <a:schemeClr val="tx1"/>
                </a:solidFill>
              </a:rPr>
              <a:t>ten slotte · kortom</a:t>
            </a:r>
            <a:r>
              <a:rPr lang="en-US" sz="1800" dirty="0">
                <a:solidFill>
                  <a:schemeClr val="tx1"/>
                </a:solidFill>
              </a:rPr>
              <a:t> → fin</a:t>
            </a:r>
            <a:endParaRPr lang="en-US" sz="1800" dirty="0"/>
          </a:p>
          <a:p>
            <a:pPr marL="177800" indent="-177800">
              <a:spcAft>
                <a:spcPts val="600"/>
              </a:spcAft>
              <a:buSzPct val="100000"/>
              <a:buChar char="•"/>
            </a:pPr>
            <a:r>
              <a:rPr lang="en-US" sz="1800" b="1" dirty="0">
                <a:solidFill>
                  <a:schemeClr val="tx1"/>
                </a:solidFill>
              </a:rPr>
              <a:t>Nominalisation</a:t>
            </a:r>
            <a:r>
              <a:rPr lang="en-US" sz="1800" dirty="0">
                <a:solidFill>
                  <a:schemeClr val="tx1"/>
                </a:solidFill>
              </a:rPr>
              <a:t> : </a:t>
            </a:r>
            <a:r>
              <a:rPr lang="en-US" sz="1800" i="1" dirty="0">
                <a:solidFill>
                  <a:schemeClr val="tx1"/>
                </a:solidFill>
              </a:rPr>
              <a:t>het vragen van · de stemming</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D3 Dagelijks leven : in de buurtgroep</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a:t>
            </a:r>
            <a:endParaRPr lang="en-US" sz="1200" dirty="0"/>
          </a:p>
        </p:txBody>
      </p:sp>
      <p:sp>
        <p:nvSpPr>
          <p:cNvPr id="6" name="Text 3"/>
          <p:cNvSpPr txBox="1"/>
          <p:nvPr/>
        </p:nvSpPr>
        <p:spPr>
          <a:xfrm>
            <a:off x="548640" y="1508760"/>
            <a:ext cx="11091672"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12.04  </a:t>
            </a:r>
            <a:r>
              <a:rPr lang="en-US" sz="2200" b="1" dirty="0">
                <a:solidFill>
                  <a:schemeClr val="accent3"/>
                </a:solidFill>
              </a:rPr>
              <a:t>Nadia :  </a:t>
            </a:r>
            <a:r>
              <a:rPr lang="en-US" sz="2200" dirty="0">
                <a:solidFill>
                  <a:schemeClr val="tx1"/>
                </a:solidFill>
              </a:rPr>
              <a:t>Wat de speelstraat betreft: ik ben helemaal voor! Enerzijds kunnen de kinderen veilig buiten spelen, anderzijds leren de buren elkaar beter kennen.</a:t>
            </a:r>
            <a:endParaRPr lang="en-US" sz="2200" dirty="0"/>
          </a:p>
          <a:p>
            <a:pPr indent="0" marL="0">
              <a:spcAft>
                <a:spcPts val="800"/>
              </a:spcAft>
              <a:buNone/>
            </a:pPr>
            <a:r>
              <a:rPr lang="en-US" sz="1200" dirty="0">
                <a:solidFill>
                  <a:schemeClr val="accent5"/>
                </a:solidFill>
              </a:rPr>
              <a:t>12.31  </a:t>
            </a:r>
            <a:r>
              <a:rPr lang="en-US" sz="2200" b="1" dirty="0">
                <a:solidFill>
                  <a:schemeClr val="tx2"/>
                </a:solidFill>
              </a:rPr>
              <a:t>Meneer Willems :  </a:t>
            </a:r>
            <a:r>
              <a:rPr lang="en-US" sz="2200" dirty="0">
                <a:solidFill>
                  <a:schemeClr val="tx1"/>
                </a:solidFill>
              </a:rPr>
              <a:t>Een mooi idee. Ik heb echter geen garage: waar moet ik een hele maand parkeren?</a:t>
            </a:r>
            <a:endParaRPr lang="en-US" sz="2200" dirty="0"/>
          </a:p>
          <a:p>
            <a:pPr indent="0" marL="0">
              <a:spcAft>
                <a:spcPts val="800"/>
              </a:spcAft>
              <a:buNone/>
            </a:pPr>
            <a:r>
              <a:rPr lang="en-US" sz="1200" dirty="0">
                <a:solidFill>
                  <a:schemeClr val="accent5"/>
                </a:solidFill>
              </a:rPr>
              <a:t>13.15  </a:t>
            </a:r>
            <a:r>
              <a:rPr lang="en-US" sz="2200" b="1" dirty="0">
                <a:solidFill>
                  <a:schemeClr val="accent1"/>
                </a:solidFill>
              </a:rPr>
              <a:t>Sofie :  </a:t>
            </a:r>
            <a:r>
              <a:rPr lang="en-US" sz="2200" dirty="0">
                <a:solidFill>
                  <a:schemeClr val="tx1"/>
                </a:solidFill>
              </a:rPr>
              <a:t>Ik werk ’s nachts en overdag wil ik slapen. Toch vind ik het idee goed. Met andere woorden: ja, maar enkel in de namiddag?</a:t>
            </a:r>
            <a:endParaRPr lang="en-US" sz="2200" dirty="0"/>
          </a:p>
          <a:p>
            <a:pPr indent="0" marL="0">
              <a:spcAft>
                <a:spcPts val="800"/>
              </a:spcAft>
              <a:buNone/>
            </a:pPr>
            <a:r>
              <a:rPr lang="en-US" sz="1200" dirty="0">
                <a:solidFill>
                  <a:schemeClr val="accent5"/>
                </a:solidFill>
              </a:rPr>
              <a:t>13.40  </a:t>
            </a:r>
            <a:r>
              <a:rPr lang="en-US" sz="2200" b="1" dirty="0">
                <a:solidFill>
                  <a:schemeClr val="accent2"/>
                </a:solidFill>
              </a:rPr>
              <a:t>Karim :  </a:t>
            </a:r>
            <a:r>
              <a:rPr lang="en-US" sz="2200" dirty="0">
                <a:solidFill>
                  <a:schemeClr val="tx1"/>
                </a:solidFill>
              </a:rPr>
              <a:t>Vorig jaar was er een speelstraat in de Molenstraat. Het lawaai viel daar best mee. Wat het parkeren betreft: de bewoners kregen een kaart voor de straat ernaast. Kortom: geen paniek!</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D3 Dagelijks leven : les questions</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a:t>
            </a:r>
            <a:endParaRPr lang="en-US" sz="1200" dirty="0"/>
          </a:p>
        </p:txBody>
      </p:sp>
      <p:sp>
        <p:nvSpPr>
          <p:cNvPr id="6" name="Text 3"/>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Seul · 5 min, puis par deux.</a:t>
            </a:r>
            <a:endParaRPr lang="en-US" sz="1600" dirty="0"/>
          </a:p>
        </p:txBody>
      </p:sp>
      <p:sp>
        <p:nvSpPr>
          <p:cNvPr id="7"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1000"/>
              </a:spcAft>
              <a:buNone/>
            </a:pPr>
            <a:r>
              <a:rPr lang="en-US" sz="2600" b="1" dirty="0">
                <a:solidFill>
                  <a:schemeClr val="tx1"/>
                </a:solidFill>
              </a:rPr>
              <a:t>1</a:t>
            </a:r>
            <a:r>
              <a:rPr lang="en-US" sz="2600" dirty="0">
                <a:solidFill>
                  <a:schemeClr val="tx1"/>
                </a:solidFill>
              </a:rPr>
              <a:t> Qui est pour, qui est contre, qui propose un compromis ?</a:t>
            </a:r>
            <a:endParaRPr lang="en-US" sz="2600" dirty="0"/>
          </a:p>
          <a:p>
            <a:pPr indent="0" marL="0">
              <a:spcAft>
                <a:spcPts val="1000"/>
              </a:spcAft>
              <a:buNone/>
            </a:pPr>
            <a:r>
              <a:rPr lang="en-US" sz="2600" b="1" dirty="0">
                <a:solidFill>
                  <a:schemeClr val="tx1"/>
                </a:solidFill>
              </a:rPr>
              <a:t>2</a:t>
            </a:r>
            <a:r>
              <a:rPr lang="en-US" sz="2600" dirty="0">
                <a:solidFill>
                  <a:schemeClr val="tx1"/>
                </a:solidFill>
              </a:rPr>
              <a:t> Les connecteurs et leur fonction ?</a:t>
            </a:r>
            <a:endParaRPr lang="en-US" sz="2600" dirty="0"/>
          </a:p>
          <a:p>
            <a:pPr indent="0" marL="0">
              <a:spcAft>
                <a:spcPts val="1000"/>
              </a:spcAft>
              <a:buNone/>
            </a:pPr>
            <a:r>
              <a:rPr lang="en-US" sz="2600" b="1" dirty="0">
                <a:solidFill>
                  <a:schemeClr val="tx1"/>
                </a:solidFill>
              </a:rPr>
              <a:t>3</a:t>
            </a:r>
            <a:r>
              <a:rPr lang="en-US" sz="2600" dirty="0">
                <a:solidFill>
                  <a:schemeClr val="tx1"/>
                </a:solidFill>
              </a:rPr>
              <a:t> Une inversion après un connecteur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D3 Dagelijks leven : les questions</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ag"/>
          <p:cNvSpPr/>
          <p:nvPr/>
        </p:nvSpPr>
        <p:spPr>
          <a:xfrm>
            <a:off x="17327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a:t>
            </a:r>
            <a:endParaRPr lang="en-US" sz="1200" dirty="0"/>
          </a:p>
        </p:txBody>
      </p:sp>
      <p:sp>
        <p:nvSpPr>
          <p:cNvPr id="7" name="Text 4"/>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Seul · 5 min, puis par deux.</a:t>
            </a:r>
            <a:endParaRPr lang="en-US" sz="1600" dirty="0"/>
          </a:p>
        </p:txBody>
      </p:sp>
      <p:sp>
        <p:nvSpPr>
          <p:cNvPr id="8"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400"/>
              </a:spcAft>
              <a:buNone/>
            </a:pPr>
            <a:r>
              <a:rPr lang="en-US" sz="2400" b="1" dirty="0">
                <a:solidFill>
                  <a:schemeClr val="tx1"/>
                </a:solidFill>
              </a:rPr>
              <a:t>1</a:t>
            </a:r>
            <a:r>
              <a:rPr lang="en-US" sz="2400" dirty="0">
                <a:solidFill>
                  <a:schemeClr val="tx1"/>
                </a:solidFill>
              </a:rPr>
              <a:t> Qui est pour, qui est contre, qui propose un compromis ?</a:t>
            </a:r>
            <a:endParaRPr lang="en-US" sz="2400" dirty="0"/>
          </a:p>
          <a:p>
            <a:pPr indent="0" marL="0">
              <a:spcAft>
                <a:spcPts val="400"/>
              </a:spcAft>
              <a:buNone/>
            </a:pPr>
            <a:r>
              <a:rPr lang="en-US" sz="2400" b="1" dirty="0">
                <a:solidFill>
                  <a:schemeClr val="accent3"/>
                </a:solidFill>
              </a:rPr>
              <a:t>→ </a:t>
            </a:r>
            <a:r>
              <a:rPr lang="en-US" sz="2400" b="1" dirty="0">
                <a:solidFill>
                  <a:schemeClr val="accent3"/>
                </a:solidFill>
              </a:rPr>
              <a:t>Nadia</a:t>
            </a:r>
            <a:r>
              <a:rPr lang="en-US" sz="2400" dirty="0">
                <a:solidFill>
                  <a:schemeClr val="accent3"/>
                </a:solidFill>
              </a:rPr>
              <a:t> voor · </a:t>
            </a:r>
            <a:r>
              <a:rPr lang="en-US" sz="2400" b="1" dirty="0">
                <a:solidFill>
                  <a:schemeClr val="accent3"/>
                </a:solidFill>
              </a:rPr>
              <a:t>Willems</a:t>
            </a:r>
            <a:r>
              <a:rPr lang="en-US" sz="2400" dirty="0">
                <a:solidFill>
                  <a:schemeClr val="accent3"/>
                </a:solidFill>
              </a:rPr>
              <a:t> : bezwaar (parkeren) · </a:t>
            </a:r>
            <a:r>
              <a:rPr lang="en-US" sz="2400" b="1" dirty="0">
                <a:solidFill>
                  <a:schemeClr val="accent3"/>
                </a:solidFill>
              </a:rPr>
              <a:t>Sofie</a:t>
            </a:r>
            <a:r>
              <a:rPr lang="en-US" sz="2400" dirty="0">
                <a:solidFill>
                  <a:schemeClr val="accent3"/>
                </a:solidFill>
              </a:rPr>
              <a:t> : voor, maar enkel in de </a:t>
            </a:r>
            <a:r>
              <a:rPr lang="en-US" sz="2400" b="1" dirty="0">
                <a:solidFill>
                  <a:schemeClr val="accent3"/>
                </a:solidFill>
              </a:rPr>
              <a:t>namiddag</a:t>
            </a:r>
            <a:r>
              <a:rPr lang="en-US" sz="2400" dirty="0">
                <a:solidFill>
                  <a:schemeClr val="accent3"/>
                </a:solidFill>
              </a:rPr>
              <a:t> · </a:t>
            </a:r>
            <a:r>
              <a:rPr lang="en-US" sz="2400" b="1" dirty="0">
                <a:solidFill>
                  <a:schemeClr val="accent3"/>
                </a:solidFill>
              </a:rPr>
              <a:t>Karim</a:t>
            </a:r>
            <a:r>
              <a:rPr lang="en-US" sz="2400" dirty="0">
                <a:solidFill>
                  <a:schemeClr val="accent3"/>
                </a:solidFill>
              </a:rPr>
              <a:t> : voor, </a:t>
            </a:r>
            <a:r>
              <a:rPr lang="en-US" sz="2400" b="1" dirty="0">
                <a:solidFill>
                  <a:schemeClr val="accent3"/>
                </a:solidFill>
              </a:rPr>
              <a:t>kaart</a:t>
            </a:r>
            <a:r>
              <a:rPr lang="en-US" sz="2400" dirty="0">
                <a:solidFill>
                  <a:schemeClr val="accent3"/>
                </a:solidFill>
              </a:rPr>
              <a:t> voor de straat ernaast.</a:t>
            </a:r>
            <a:endParaRPr lang="en-US" sz="2400" dirty="0"/>
          </a:p>
          <a:p>
            <a:pPr indent="0" marL="0">
              <a:spcAft>
                <a:spcPts val="400"/>
              </a:spcAft>
              <a:buNone/>
            </a:pPr>
            <a:r>
              <a:rPr lang="en-US" sz="2400" b="1" dirty="0">
                <a:solidFill>
                  <a:schemeClr val="tx1"/>
                </a:solidFill>
              </a:rPr>
              <a:t>2</a:t>
            </a:r>
            <a:r>
              <a:rPr lang="en-US" sz="2400" dirty="0">
                <a:solidFill>
                  <a:schemeClr val="tx1"/>
                </a:solidFill>
              </a:rPr>
              <a:t> Les connecteurs et leur fonction ?</a:t>
            </a:r>
            <a:endParaRPr lang="en-US" sz="2400" dirty="0"/>
          </a:p>
          <a:p>
            <a:pPr indent="0" marL="0">
              <a:spcAft>
                <a:spcPts val="400"/>
              </a:spcAft>
              <a:buNone/>
            </a:pPr>
            <a:r>
              <a:rPr lang="en-US" sz="2400" b="1" dirty="0">
                <a:solidFill>
                  <a:schemeClr val="accent3"/>
                </a:solidFill>
              </a:rPr>
              <a:t>→ </a:t>
            </a:r>
            <a:r>
              <a:rPr lang="en-US" sz="2400" dirty="0">
                <a:solidFill>
                  <a:schemeClr val="accent3"/>
                </a:solidFill>
              </a:rPr>
              <a:t>Wat … betreft = </a:t>
            </a:r>
            <a:r>
              <a:rPr lang="en-US" sz="2400" b="1" dirty="0">
                <a:solidFill>
                  <a:schemeClr val="accent3"/>
                </a:solidFill>
              </a:rPr>
              <a:t>thème</a:t>
            </a:r>
            <a:r>
              <a:rPr lang="en-US" sz="2400" dirty="0">
                <a:solidFill>
                  <a:schemeClr val="accent3"/>
                </a:solidFill>
              </a:rPr>
              <a:t> · enerzijds / anderzijds = </a:t>
            </a:r>
            <a:r>
              <a:rPr lang="en-US" sz="2400" b="1" dirty="0">
                <a:solidFill>
                  <a:schemeClr val="accent3"/>
                </a:solidFill>
              </a:rPr>
              <a:t>balancement</a:t>
            </a:r>
            <a:r>
              <a:rPr lang="en-US" sz="2400" dirty="0">
                <a:solidFill>
                  <a:schemeClr val="accent3"/>
                </a:solidFill>
              </a:rPr>
              <a:t> · echter = </a:t>
            </a:r>
            <a:r>
              <a:rPr lang="en-US" sz="2400" b="1" dirty="0">
                <a:solidFill>
                  <a:schemeClr val="accent3"/>
                </a:solidFill>
              </a:rPr>
              <a:t>objection</a:t>
            </a:r>
            <a:r>
              <a:rPr lang="en-US" sz="2400" dirty="0">
                <a:solidFill>
                  <a:schemeClr val="accent3"/>
                </a:solidFill>
              </a:rPr>
              <a:t> · met andere woorden = </a:t>
            </a:r>
            <a:r>
              <a:rPr lang="en-US" sz="2400" b="1" dirty="0">
                <a:solidFill>
                  <a:schemeClr val="accent3"/>
                </a:solidFill>
              </a:rPr>
              <a:t>reformulation</a:t>
            </a:r>
            <a:r>
              <a:rPr lang="en-US" sz="2400" dirty="0">
                <a:solidFill>
                  <a:schemeClr val="accent3"/>
                </a:solidFill>
              </a:rPr>
              <a:t> · kortom = </a:t>
            </a:r>
            <a:r>
              <a:rPr lang="en-US" sz="2400" b="1" dirty="0">
                <a:solidFill>
                  <a:schemeClr val="accent3"/>
                </a:solidFill>
              </a:rPr>
              <a:t>conclusion</a:t>
            </a:r>
            <a:r>
              <a:rPr lang="en-US" sz="2400" dirty="0">
                <a:solidFill>
                  <a:schemeClr val="accent3"/>
                </a:solidFill>
              </a:rPr>
              <a:t> (· toch = concession, 7.5)</a:t>
            </a:r>
            <a:endParaRPr lang="en-US" sz="2400" dirty="0"/>
          </a:p>
          <a:p>
            <a:pPr indent="0" marL="0">
              <a:spcAft>
                <a:spcPts val="400"/>
              </a:spcAft>
              <a:buNone/>
            </a:pPr>
            <a:r>
              <a:rPr lang="en-US" sz="2400" b="1" dirty="0">
                <a:solidFill>
                  <a:schemeClr val="tx1"/>
                </a:solidFill>
              </a:rPr>
              <a:t>3</a:t>
            </a:r>
            <a:r>
              <a:rPr lang="en-US" sz="2400" dirty="0">
                <a:solidFill>
                  <a:schemeClr val="tx1"/>
                </a:solidFill>
              </a:rPr>
              <a:t> Une inversion après un connecteur ?</a:t>
            </a:r>
            <a:endParaRPr lang="en-US" sz="2400" dirty="0"/>
          </a:p>
          <a:p>
            <a:pPr indent="0" marL="0">
              <a:spcAft>
                <a:spcPts val="400"/>
              </a:spcAft>
              <a:buNone/>
            </a:pPr>
            <a:r>
              <a:rPr lang="en-US" sz="2400" b="1" dirty="0">
                <a:solidFill>
                  <a:schemeClr val="accent3"/>
                </a:solidFill>
              </a:rPr>
              <a:t>→ </a:t>
            </a:r>
            <a:r>
              <a:rPr lang="en-US" sz="2400" dirty="0">
                <a:solidFill>
                  <a:schemeClr val="accent3"/>
                </a:solidFill>
              </a:rPr>
              <a:t>Anderzijds </a:t>
            </a:r>
            <a:r>
              <a:rPr lang="en-US" sz="2400" b="1" dirty="0">
                <a:solidFill>
                  <a:schemeClr val="accent3"/>
                </a:solidFill>
              </a:rPr>
              <a:t>leren de buren</a:t>
            </a:r>
            <a:r>
              <a:rPr lang="en-US" sz="2400" dirty="0">
                <a:solidFill>
                  <a:schemeClr val="accent3"/>
                </a:solidFill>
              </a:rPr>
              <a:t> elkaar… · Toch </a:t>
            </a:r>
            <a:r>
              <a:rPr lang="en-US" sz="2400" b="1" dirty="0">
                <a:solidFill>
                  <a:schemeClr val="accent3"/>
                </a:solidFill>
              </a:rPr>
              <a:t>vind ik</a:t>
            </a:r>
            <a:r>
              <a:rPr lang="en-US" sz="2400" dirty="0">
                <a:solidFill>
                  <a:schemeClr val="accent3"/>
                </a:solidFill>
              </a:rPr>
              <a:t> het idee goed.</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D3 À vous : postez votre réaction</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a:t>
            </a:r>
            <a:endParaRPr lang="en-US" sz="1200" dirty="0"/>
          </a:p>
        </p:txBody>
      </p:sp>
      <p:sp>
        <p:nvSpPr>
          <p:cNvPr id="6" name="Text 3"/>
          <p:cNvSpPr txBox="1"/>
          <p:nvPr/>
        </p:nvSpPr>
        <p:spPr>
          <a:xfrm>
            <a:off x="548640" y="1481328"/>
            <a:ext cx="7178040" cy="859536"/>
          </a:xfrm>
          <a:prstGeom prst="rect">
            <a:avLst/>
          </a:prstGeom>
          <a:noFill/>
          <a:ln/>
        </p:spPr>
        <p:txBody>
          <a:bodyPr wrap="square" lIns="0" tIns="0" rIns="0" bIns="0" rtlCol="0" anchor="t"/>
          <a:lstStyle/>
          <a:p>
            <a:pPr indent="0" marL="0">
              <a:buNone/>
            </a:pPr>
            <a:r>
              <a:rPr lang="en-US" sz="1600" i="1" dirty="0">
                <a:solidFill>
                  <a:schemeClr val="accent5"/>
                </a:solidFill>
              </a:rPr>
              <a:t>Écrit · seul · 8 min. Postez votre réaction dans le groupe (5 à 6 phrases) sur la speelstraat ou un vrai projet de votre quartier. Puis répondez à un autre étudiant (2–3 phrases) avec une objection polie.</a:t>
            </a:r>
            <a:endParaRPr lang="en-US" sz="1600" dirty="0"/>
          </a:p>
        </p:txBody>
      </p:sp>
      <p:sp>
        <p:nvSpPr>
          <p:cNvPr id="7" name="exercise"/>
          <p:cNvSpPr txBox="1"/>
          <p:nvPr/>
        </p:nvSpPr>
        <p:spPr>
          <a:xfrm>
            <a:off x="548640" y="2414016"/>
            <a:ext cx="7178040" cy="3877056"/>
          </a:xfrm>
          <a:prstGeom prst="rect">
            <a:avLst/>
          </a:prstGeom>
          <a:noFill/>
          <a:ln/>
        </p:spPr>
        <p:txBody>
          <a:bodyPr wrap="square" lIns="0" tIns="0" rIns="0" bIns="0" rtlCol="0" anchor="t"/>
          <a:lstStyle/>
          <a:p>
            <a:pPr indent="0" marL="0">
              <a:spcAft>
                <a:spcPts val="600"/>
              </a:spcAft>
              <a:buNone/>
            </a:pPr>
            <a:r>
              <a:rPr lang="en-US" sz="2100" b="1" dirty="0">
                <a:solidFill>
                  <a:schemeClr val="tx2"/>
                </a:solidFill>
              </a:rPr>
              <a:t>Modèle : post</a:t>
            </a:r>
            <a:endParaRPr lang="en-US" sz="2100" dirty="0"/>
          </a:p>
          <a:p>
            <a:pPr indent="0" marL="0">
              <a:spcAft>
                <a:spcPts val="600"/>
              </a:spcAft>
              <a:buNone/>
            </a:pPr>
            <a:r>
              <a:rPr lang="en-US" sz="2100" b="1" dirty="0">
                <a:solidFill>
                  <a:schemeClr val="tx1"/>
                </a:solidFill>
              </a:rPr>
              <a:t>Wat</a:t>
            </a:r>
            <a:r>
              <a:rPr lang="en-US" sz="2100" dirty="0">
                <a:solidFill>
                  <a:schemeClr val="tx1"/>
                </a:solidFill>
              </a:rPr>
              <a:t> de fietsstraat </a:t>
            </a:r>
            <a:r>
              <a:rPr lang="en-US" sz="2100" b="1" dirty="0">
                <a:solidFill>
                  <a:schemeClr val="tx1"/>
                </a:solidFill>
              </a:rPr>
              <a:t>betreft</a:t>
            </a:r>
            <a:r>
              <a:rPr lang="en-US" sz="2100" dirty="0">
                <a:solidFill>
                  <a:schemeClr val="tx1"/>
                </a:solidFill>
              </a:rPr>
              <a:t>: ik ben voorstander. </a:t>
            </a:r>
            <a:r>
              <a:rPr lang="en-US" sz="2100" b="1" dirty="0">
                <a:solidFill>
                  <a:schemeClr val="tx1"/>
                </a:solidFill>
              </a:rPr>
              <a:t>Enerzijds</a:t>
            </a:r>
            <a:r>
              <a:rPr lang="en-US" sz="2100" dirty="0">
                <a:solidFill>
                  <a:schemeClr val="tx1"/>
                </a:solidFill>
              </a:rPr>
              <a:t> is het veiliger voor de kinderen, </a:t>
            </a:r>
            <a:r>
              <a:rPr lang="en-US" sz="2100" b="1" dirty="0">
                <a:solidFill>
                  <a:schemeClr val="tx1"/>
                </a:solidFill>
              </a:rPr>
              <a:t>anderzijds</a:t>
            </a:r>
            <a:r>
              <a:rPr lang="en-US" sz="2100" dirty="0">
                <a:solidFill>
                  <a:schemeClr val="tx1"/>
                </a:solidFill>
              </a:rPr>
              <a:t> rijden er minder auto’s door de wijk. Sommige handelaars vrezen </a:t>
            </a:r>
            <a:r>
              <a:rPr lang="en-US" sz="2100" b="1" dirty="0">
                <a:solidFill>
                  <a:schemeClr val="tx1"/>
                </a:solidFill>
              </a:rPr>
              <a:t>echter</a:t>
            </a:r>
            <a:r>
              <a:rPr lang="en-US" sz="2100" dirty="0">
                <a:solidFill>
                  <a:schemeClr val="tx1"/>
                </a:solidFill>
              </a:rPr>
              <a:t> dat ze minder klanten krijgen. </a:t>
            </a:r>
            <a:r>
              <a:rPr lang="en-US" sz="2100" b="1" dirty="0">
                <a:solidFill>
                  <a:schemeClr val="tx1"/>
                </a:solidFill>
              </a:rPr>
              <a:t>Toch</a:t>
            </a:r>
            <a:r>
              <a:rPr lang="en-US" sz="2100" dirty="0">
                <a:solidFill>
                  <a:schemeClr val="tx1"/>
                </a:solidFill>
              </a:rPr>
              <a:t> denk ik dat de winkels goed bereikbaar blijven. </a:t>
            </a:r>
            <a:r>
              <a:rPr lang="en-US" sz="2100" b="1" dirty="0">
                <a:solidFill>
                  <a:schemeClr val="tx1"/>
                </a:solidFill>
              </a:rPr>
              <a:t>Kortom</a:t>
            </a:r>
            <a:r>
              <a:rPr lang="en-US" sz="2100" dirty="0">
                <a:solidFill>
                  <a:schemeClr val="tx1"/>
                </a:solidFill>
              </a:rPr>
              <a:t>: laten we het één jaar uitproberen!</a:t>
            </a:r>
            <a:endParaRPr lang="en-US" sz="2100" dirty="0"/>
          </a:p>
          <a:p>
            <a:pPr indent="0" marL="0">
              <a:spcBef>
                <a:spcPts val="800"/>
              </a:spcBef>
              <a:spcAft>
                <a:spcPts val="600"/>
              </a:spcAft>
              <a:buNone/>
            </a:pPr>
            <a:r>
              <a:rPr lang="en-US" sz="2100" b="1" dirty="0">
                <a:solidFill>
                  <a:schemeClr val="tx2"/>
                </a:solidFill>
              </a:rPr>
              <a:t>Modèle : réponse</a:t>
            </a:r>
            <a:endParaRPr lang="en-US" sz="2100" dirty="0"/>
          </a:p>
          <a:p>
            <a:pPr indent="0" marL="0">
              <a:spcAft>
                <a:spcPts val="600"/>
              </a:spcAft>
              <a:buNone/>
            </a:pPr>
            <a:r>
              <a:rPr lang="en-US" sz="2100" b="1" dirty="0">
                <a:solidFill>
                  <a:schemeClr val="tx1"/>
                </a:solidFill>
              </a:rPr>
              <a:t>Hoewel</a:t>
            </a:r>
            <a:r>
              <a:rPr lang="en-US" sz="2100" dirty="0">
                <a:solidFill>
                  <a:schemeClr val="tx1"/>
                </a:solidFill>
              </a:rPr>
              <a:t> ik je punt begrijp, vrees ik dat oudere klanten wegblijven. De jonge gezinnen </a:t>
            </a:r>
            <a:r>
              <a:rPr lang="en-US" sz="2100" b="1" dirty="0">
                <a:solidFill>
                  <a:schemeClr val="tx1"/>
                </a:solidFill>
              </a:rPr>
              <a:t>daarentegen</a:t>
            </a:r>
            <a:r>
              <a:rPr lang="en-US" sz="2100" dirty="0">
                <a:solidFill>
                  <a:schemeClr val="tx1"/>
                </a:solidFill>
              </a:rPr>
              <a:t> zullen blij zijn.</a:t>
            </a:r>
            <a:endParaRPr lang="en-US" sz="2100" dirty="0"/>
          </a:p>
        </p:txBody>
      </p:sp>
      <p:sp>
        <p:nvSpPr>
          <p:cNvPr id="8" name="aside"/>
          <p:cNvSpPr/>
          <p:nvPr/>
        </p:nvSpPr>
        <p:spPr>
          <a:xfrm>
            <a:off x="8046720" y="1481328"/>
            <a:ext cx="3593592" cy="4809744"/>
          </a:xfrm>
          <a:prstGeom prst="roundRect">
            <a:avLst>
              <a:gd name="adj" fmla="val 2036"/>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4 connecteurs</a:t>
            </a:r>
            <a:r>
              <a:rPr lang="en-US" sz="1800" dirty="0">
                <a:solidFill>
                  <a:schemeClr val="tx1"/>
                </a:solidFill>
              </a:rPr>
              <a:t> de 7.3</a:t>
            </a:r>
            <a:endParaRPr lang="en-US" sz="1800" dirty="0"/>
          </a:p>
          <a:p>
            <a:pPr marL="177800" indent="-177800">
              <a:spcAft>
                <a:spcPts val="600"/>
              </a:spcAft>
              <a:buSzPct val="100000"/>
              <a:buChar char="•"/>
            </a:pPr>
            <a:r>
              <a:rPr lang="en-US" sz="1800" b="1" dirty="0">
                <a:solidFill>
                  <a:schemeClr val="tx1"/>
                </a:solidFill>
              </a:rPr>
              <a:t>1 inversion</a:t>
            </a:r>
            <a:r>
              <a:rPr lang="en-US" sz="1800" dirty="0">
                <a:solidFill>
                  <a:schemeClr val="tx1"/>
                </a:solidFill>
              </a:rPr>
              <a:t> correcte</a:t>
            </a:r>
            <a:endParaRPr lang="en-US" sz="1800" dirty="0"/>
          </a:p>
          <a:p>
            <a:pPr marL="177800" indent="-177800">
              <a:spcAft>
                <a:spcPts val="600"/>
              </a:spcAft>
              <a:buSzPct val="100000"/>
              <a:buChar char="•"/>
            </a:pPr>
            <a:r>
              <a:rPr lang="en-US" sz="1800" dirty="0">
                <a:solidFill>
                  <a:schemeClr val="tx1"/>
                </a:solidFill>
              </a:rPr>
              <a:t>Réponse : </a:t>
            </a:r>
            <a:r>
              <a:rPr lang="en-US" sz="1800" i="1" dirty="0">
                <a:solidFill>
                  <a:schemeClr val="tx1"/>
                </a:solidFill>
              </a:rPr>
              <a:t>echter · daarentegen · Hoewel…</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Quel connecteur ?</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Complétez : </a:t>
            </a:r>
            <a:r>
              <a:rPr lang="en-US" sz="1600" b="1" i="1" dirty="0">
                <a:solidFill>
                  <a:schemeClr val="accent5"/>
                </a:solidFill>
              </a:rPr>
              <a:t>daarentegen · enerzijds / anderzijds · ten slotte · met andere woorden · echter · wat … betreft</a:t>
            </a:r>
            <a:r>
              <a:rPr lang="en-US" sz="1600" i="1" dirty="0">
                <a:solidFill>
                  <a:schemeClr val="accent5"/>
                </a:solidFill>
              </a:rPr>
              <a:t>. Seul · 4 min.</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Nadia is voor de speelstraat. Meneer Willems </a:t>
            </a:r>
            <a:r>
              <a:rPr lang="en-US" sz="2200" dirty="0">
                <a:solidFill>
                  <a:schemeClr val="accent5"/>
                </a:solidFill>
              </a:rPr>
              <a:t>………………</a:t>
            </a:r>
            <a:r>
              <a:rPr lang="en-US" sz="2200" dirty="0">
                <a:solidFill>
                  <a:schemeClr val="tx1"/>
                </a:solidFill>
              </a:rPr>
              <a:t> is tegen.</a:t>
            </a:r>
            <a:endParaRPr lang="en-US" sz="2200" dirty="0"/>
          </a:p>
          <a:p>
            <a:pPr indent="0" marL="0">
              <a:spcAft>
                <a:spcPts val="1000"/>
              </a:spcAft>
              <a:buNone/>
            </a:pPr>
            <a:r>
              <a:rPr lang="en-US" sz="2200" b="1" dirty="0">
                <a:solidFill>
                  <a:schemeClr val="tx2"/>
                </a:solidFill>
              </a:rPr>
              <a:t>2.  </a:t>
            </a:r>
            <a:r>
              <a:rPr lang="en-US" sz="2200" dirty="0">
                <a:solidFill>
                  <a:schemeClr val="accent5"/>
                </a:solidFill>
              </a:rPr>
              <a:t>……………</a:t>
            </a:r>
            <a:r>
              <a:rPr lang="en-US" sz="2200" dirty="0">
                <a:solidFill>
                  <a:schemeClr val="tx1"/>
                </a:solidFill>
              </a:rPr>
              <a:t> zijn de werken duur, </a:t>
            </a:r>
            <a:r>
              <a:rPr lang="en-US" sz="2200" dirty="0">
                <a:solidFill>
                  <a:schemeClr val="accent5"/>
                </a:solidFill>
              </a:rPr>
              <a:t>………………</a:t>
            </a:r>
            <a:r>
              <a:rPr lang="en-US" sz="2200" dirty="0">
                <a:solidFill>
                  <a:schemeClr val="tx1"/>
                </a:solidFill>
              </a:rPr>
              <a:t> zijn ze noodzakelijk.</a:t>
            </a:r>
            <a:endParaRPr lang="en-US" sz="2200" dirty="0"/>
          </a:p>
          <a:p>
            <a:pPr indent="0" marL="0">
              <a:spcAft>
                <a:spcPts val="1000"/>
              </a:spcAft>
              <a:buNone/>
            </a:pPr>
            <a:r>
              <a:rPr lang="en-US" sz="2200" b="1" dirty="0">
                <a:solidFill>
                  <a:schemeClr val="tx2"/>
                </a:solidFill>
              </a:rPr>
              <a:t>3.  </a:t>
            </a:r>
            <a:r>
              <a:rPr lang="en-US" sz="2200" dirty="0">
                <a:solidFill>
                  <a:schemeClr val="accent5"/>
                </a:solidFill>
              </a:rPr>
              <a:t>………………</a:t>
            </a:r>
            <a:r>
              <a:rPr lang="en-US" sz="2200" dirty="0">
                <a:solidFill>
                  <a:schemeClr val="tx1"/>
                </a:solidFill>
              </a:rPr>
              <a:t> wil ik het reservefonds vermelden.</a:t>
            </a:r>
            <a:endParaRPr lang="en-US" sz="2200" dirty="0"/>
          </a:p>
          <a:p>
            <a:pPr indent="0" marL="0">
              <a:spcAft>
                <a:spcPts val="1000"/>
              </a:spcAft>
              <a:buNone/>
            </a:pPr>
            <a:r>
              <a:rPr lang="en-US" sz="2200" b="1" dirty="0">
                <a:solidFill>
                  <a:schemeClr val="tx2"/>
                </a:solidFill>
              </a:rPr>
              <a:t>4.  </a:t>
            </a:r>
            <a:r>
              <a:rPr lang="en-US" sz="2200" dirty="0">
                <a:solidFill>
                  <a:schemeClr val="tx1"/>
                </a:solidFill>
              </a:rPr>
              <a:t>We hebben meer informatie nodig. </a:t>
            </a:r>
            <a:r>
              <a:rPr lang="en-US" sz="2200" dirty="0">
                <a:solidFill>
                  <a:schemeClr val="accent5"/>
                </a:solidFill>
              </a:rPr>
              <a:t>…………………………</a:t>
            </a:r>
            <a:r>
              <a:rPr lang="en-US" sz="2200" dirty="0">
                <a:solidFill>
                  <a:schemeClr val="tx1"/>
                </a:solidFill>
              </a:rPr>
              <a:t>: we kunnen nog niet stemmen.</a:t>
            </a:r>
            <a:endParaRPr lang="en-US" sz="2200" dirty="0"/>
          </a:p>
          <a:p>
            <a:pPr indent="0" marL="0">
              <a:spcAft>
                <a:spcPts val="1000"/>
              </a:spcAft>
              <a:buNone/>
            </a:pPr>
            <a:r>
              <a:rPr lang="en-US" sz="2200" b="1" dirty="0">
                <a:solidFill>
                  <a:schemeClr val="tx2"/>
                </a:solidFill>
              </a:rPr>
              <a:t>5.  </a:t>
            </a:r>
            <a:r>
              <a:rPr lang="en-US" sz="2200" dirty="0">
                <a:solidFill>
                  <a:schemeClr val="tx1"/>
                </a:solidFill>
              </a:rPr>
              <a:t>Een mooi idee. Ik heb </a:t>
            </a:r>
            <a:r>
              <a:rPr lang="en-US" sz="2200" dirty="0">
                <a:solidFill>
                  <a:schemeClr val="accent5"/>
                </a:solidFill>
              </a:rPr>
              <a:t>……………</a:t>
            </a:r>
            <a:r>
              <a:rPr lang="en-US" sz="2200" dirty="0">
                <a:solidFill>
                  <a:schemeClr val="tx1"/>
                </a:solidFill>
              </a:rPr>
              <a:t> geen garage.</a:t>
            </a:r>
            <a:endParaRPr lang="en-US" sz="2200" dirty="0"/>
          </a:p>
          <a:p>
            <a:pPr indent="0" marL="0">
              <a:spcAft>
                <a:spcPts val="1000"/>
              </a:spcAft>
              <a:buNone/>
            </a:pPr>
            <a:r>
              <a:rPr lang="en-US" sz="2200" b="1" dirty="0">
                <a:solidFill>
                  <a:schemeClr val="tx2"/>
                </a:solidFill>
              </a:rPr>
              <a:t>6.  </a:t>
            </a:r>
            <a:r>
              <a:rPr lang="en-US" sz="2200" dirty="0">
                <a:solidFill>
                  <a:schemeClr val="accent5"/>
                </a:solidFill>
              </a:rPr>
              <a:t>……………</a:t>
            </a:r>
            <a:r>
              <a:rPr lang="en-US" sz="2200" dirty="0">
                <a:solidFill>
                  <a:schemeClr val="tx1"/>
                </a:solidFill>
              </a:rPr>
              <a:t> het parkeren </a:t>
            </a:r>
            <a:r>
              <a:rPr lang="en-US" sz="2200" dirty="0">
                <a:solidFill>
                  <a:schemeClr val="accent5"/>
                </a:solidFill>
              </a:rPr>
              <a:t>……………</a:t>
            </a:r>
            <a:r>
              <a:rPr lang="en-US" sz="2200" dirty="0">
                <a:solidFill>
                  <a:schemeClr val="tx1"/>
                </a:solidFill>
              </a:rPr>
              <a:t>, kregen de bewoners een kaart.</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Quel connecteur ?</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Complétez : </a:t>
            </a:r>
            <a:r>
              <a:rPr lang="en-US" sz="1600" b="1" i="1" dirty="0">
                <a:solidFill>
                  <a:schemeClr val="accent5"/>
                </a:solidFill>
              </a:rPr>
              <a:t>daarentegen · enerzijds / anderzijds · ten slotte · met andere woorden · echter · wat … betreft</a:t>
            </a:r>
            <a:r>
              <a:rPr lang="en-US" sz="1600" i="1" dirty="0">
                <a:solidFill>
                  <a:schemeClr val="accent5"/>
                </a:solidFill>
              </a:rPr>
              <a:t>. Seul · 4 min.</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Nadia is voor de speelstraat. Meneer Willems </a:t>
            </a:r>
            <a:r>
              <a:rPr lang="en-US" sz="2200" b="1" dirty="0">
                <a:solidFill>
                  <a:schemeClr val="accent3"/>
                </a:solidFill>
              </a:rPr>
              <a:t>daarentegen</a:t>
            </a:r>
            <a:r>
              <a:rPr lang="en-US" sz="2200" dirty="0">
                <a:solidFill>
                  <a:schemeClr val="tx1"/>
                </a:solidFill>
              </a:rPr>
              <a:t> is tegen.</a:t>
            </a:r>
            <a:endParaRPr lang="en-US" sz="2200" dirty="0"/>
          </a:p>
          <a:p>
            <a:pPr indent="0" marL="0">
              <a:spcAft>
                <a:spcPts val="1000"/>
              </a:spcAft>
              <a:buNone/>
            </a:pPr>
            <a:r>
              <a:rPr lang="en-US" sz="2200" b="1" dirty="0">
                <a:solidFill>
                  <a:schemeClr val="tx2"/>
                </a:solidFill>
              </a:rPr>
              <a:t>2.  </a:t>
            </a:r>
            <a:r>
              <a:rPr lang="en-US" sz="2200" b="1" dirty="0">
                <a:solidFill>
                  <a:schemeClr val="accent3"/>
                </a:solidFill>
              </a:rPr>
              <a:t>Enerzijds</a:t>
            </a:r>
            <a:r>
              <a:rPr lang="en-US" sz="2200" dirty="0">
                <a:solidFill>
                  <a:schemeClr val="tx1"/>
                </a:solidFill>
              </a:rPr>
              <a:t> zijn de werken duur, </a:t>
            </a:r>
            <a:r>
              <a:rPr lang="en-US" sz="2200" b="1" dirty="0">
                <a:solidFill>
                  <a:schemeClr val="accent3"/>
                </a:solidFill>
              </a:rPr>
              <a:t>anderzijds</a:t>
            </a:r>
            <a:r>
              <a:rPr lang="en-US" sz="2200" dirty="0">
                <a:solidFill>
                  <a:schemeClr val="tx1"/>
                </a:solidFill>
              </a:rPr>
              <a:t> zijn ze noodzakelijk.</a:t>
            </a:r>
            <a:endParaRPr lang="en-US" sz="2200" dirty="0"/>
          </a:p>
          <a:p>
            <a:pPr indent="0" marL="0">
              <a:spcAft>
                <a:spcPts val="1000"/>
              </a:spcAft>
              <a:buNone/>
            </a:pPr>
            <a:r>
              <a:rPr lang="en-US" sz="2200" b="1" dirty="0">
                <a:solidFill>
                  <a:schemeClr val="tx2"/>
                </a:solidFill>
              </a:rPr>
              <a:t>3.  </a:t>
            </a:r>
            <a:r>
              <a:rPr lang="en-US" sz="2200" b="1" dirty="0">
                <a:solidFill>
                  <a:schemeClr val="accent3"/>
                </a:solidFill>
              </a:rPr>
              <a:t>Ten slotte</a:t>
            </a:r>
            <a:r>
              <a:rPr lang="en-US" sz="2200" dirty="0">
                <a:solidFill>
                  <a:schemeClr val="tx1"/>
                </a:solidFill>
              </a:rPr>
              <a:t> wil ik het reservefonds vermelden.</a:t>
            </a:r>
            <a:endParaRPr lang="en-US" sz="2200" dirty="0"/>
          </a:p>
          <a:p>
            <a:pPr indent="0" marL="0">
              <a:spcAft>
                <a:spcPts val="1000"/>
              </a:spcAft>
              <a:buNone/>
            </a:pPr>
            <a:r>
              <a:rPr lang="en-US" sz="2200" b="1" dirty="0">
                <a:solidFill>
                  <a:schemeClr val="tx2"/>
                </a:solidFill>
              </a:rPr>
              <a:t>4.  </a:t>
            </a:r>
            <a:r>
              <a:rPr lang="en-US" sz="2200" dirty="0">
                <a:solidFill>
                  <a:schemeClr val="tx1"/>
                </a:solidFill>
              </a:rPr>
              <a:t>We hebben meer informatie nodig. </a:t>
            </a:r>
            <a:r>
              <a:rPr lang="en-US" sz="2200" b="1" dirty="0">
                <a:solidFill>
                  <a:schemeClr val="accent3"/>
                </a:solidFill>
              </a:rPr>
              <a:t>Met andere woorden</a:t>
            </a:r>
            <a:r>
              <a:rPr lang="en-US" sz="2200" dirty="0">
                <a:solidFill>
                  <a:schemeClr val="tx1"/>
                </a:solidFill>
              </a:rPr>
              <a:t>: we kunnen nog niet stemmen.</a:t>
            </a:r>
            <a:endParaRPr lang="en-US" sz="2200" dirty="0"/>
          </a:p>
          <a:p>
            <a:pPr indent="0" marL="0">
              <a:spcAft>
                <a:spcPts val="1000"/>
              </a:spcAft>
              <a:buNone/>
            </a:pPr>
            <a:r>
              <a:rPr lang="en-US" sz="2200" b="1" dirty="0">
                <a:solidFill>
                  <a:schemeClr val="tx2"/>
                </a:solidFill>
              </a:rPr>
              <a:t>5.  </a:t>
            </a:r>
            <a:r>
              <a:rPr lang="en-US" sz="2200" dirty="0">
                <a:solidFill>
                  <a:schemeClr val="tx1"/>
                </a:solidFill>
              </a:rPr>
              <a:t>Een mooi idee. Ik heb </a:t>
            </a:r>
            <a:r>
              <a:rPr lang="en-US" sz="2200" b="1" dirty="0">
                <a:solidFill>
                  <a:schemeClr val="accent3"/>
                </a:solidFill>
              </a:rPr>
              <a:t>echter</a:t>
            </a:r>
            <a:r>
              <a:rPr lang="en-US" sz="2200" dirty="0">
                <a:solidFill>
                  <a:schemeClr val="tx1"/>
                </a:solidFill>
              </a:rPr>
              <a:t> geen garage.</a:t>
            </a:r>
            <a:endParaRPr lang="en-US" sz="2200" dirty="0"/>
          </a:p>
          <a:p>
            <a:pPr indent="0" marL="0">
              <a:spcAft>
                <a:spcPts val="1000"/>
              </a:spcAft>
              <a:buNone/>
            </a:pPr>
            <a:r>
              <a:rPr lang="en-US" sz="2200" b="1" dirty="0">
                <a:solidFill>
                  <a:schemeClr val="tx2"/>
                </a:solidFill>
              </a:rPr>
              <a:t>6.  </a:t>
            </a:r>
            <a:r>
              <a:rPr lang="en-US" sz="2200" b="1" dirty="0">
                <a:solidFill>
                  <a:schemeClr val="accent3"/>
                </a:solidFill>
              </a:rPr>
              <a:t>Wat</a:t>
            </a:r>
            <a:r>
              <a:rPr lang="en-US" sz="2200" dirty="0">
                <a:solidFill>
                  <a:schemeClr val="tx1"/>
                </a:solidFill>
              </a:rPr>
              <a:t> het parkeren </a:t>
            </a:r>
            <a:r>
              <a:rPr lang="en-US" sz="2200" b="1" dirty="0">
                <a:solidFill>
                  <a:schemeClr val="accent3"/>
                </a:solidFill>
              </a:rPr>
              <a:t>betreft</a:t>
            </a:r>
            <a:r>
              <a:rPr lang="en-US" sz="2200" dirty="0">
                <a:solidFill>
                  <a:schemeClr val="tx1"/>
                </a:solidFill>
              </a:rPr>
              <a:t>, kregen de bewoners een kaart.</a:t>
            </a:r>
            <a:endParaRPr lang="en-US" sz="22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Ten slotte / Enerzijds</a:t>
            </a:r>
            <a:r>
              <a:rPr lang="en-US" sz="1800" dirty="0">
                <a:solidFill>
                  <a:schemeClr val="tx1"/>
                </a:solidFill>
              </a:rPr>
              <a:t> en tête : verbe </a:t>
            </a:r>
            <a:r>
              <a:rPr lang="en-US" sz="1800" b="1" dirty="0">
                <a:solidFill>
                  <a:schemeClr val="tx1"/>
                </a:solidFill>
              </a:rPr>
              <a:t>avant</a:t>
            </a:r>
            <a:r>
              <a:rPr lang="en-US" sz="1800" dirty="0">
                <a:solidFill>
                  <a:schemeClr val="tx1"/>
                </a:solidFill>
              </a:rPr>
              <a:t> le sujet.</a:t>
            </a:r>
            <a:endParaRPr lang="en-US" sz="1800" dirty="0"/>
          </a:p>
          <a:p>
            <a:pPr marL="177800" indent="-177800">
              <a:spcAft>
                <a:spcPts val="600"/>
              </a:spcAft>
              <a:buSzPct val="100000"/>
              <a:buChar char="•"/>
            </a:pPr>
            <a:r>
              <a:rPr lang="en-US" sz="1800" b="1" dirty="0">
                <a:solidFill>
                  <a:schemeClr val="tx1"/>
                </a:solidFill>
              </a:rPr>
              <a:t>daarentegen / echter</a:t>
            </a:r>
            <a:r>
              <a:rPr lang="en-US" sz="1800" dirty="0">
                <a:solidFill>
                  <a:schemeClr val="tx1"/>
                </a:solidFill>
              </a:rPr>
              <a:t> : après le sujet ou le verbe.</a:t>
            </a:r>
            <a:endParaRPr lang="en-US" sz="1800" dirty="0"/>
          </a:p>
          <a:p>
            <a:pPr marL="177800" indent="-177800">
              <a:spcAft>
                <a:spcPts val="600"/>
              </a:spcAft>
              <a:buSzPct val="100000"/>
              <a:buChar char="•"/>
            </a:pPr>
            <a:r>
              <a:rPr lang="en-US" sz="1800" b="1" dirty="0">
                <a:solidFill>
                  <a:schemeClr val="tx1"/>
                </a:solidFill>
              </a:rPr>
              <a:t>wat … betreft</a:t>
            </a:r>
            <a:r>
              <a:rPr lang="en-US" sz="1800" dirty="0">
                <a:solidFill>
                  <a:schemeClr val="tx1"/>
                </a:solidFill>
              </a:rPr>
              <a:t> encadre le thème.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14 : </a:t>
            </a:r>
            <a:r>
              <a:rPr lang="en-US" sz="2400" b="1" i="1" dirty="0">
                <a:solidFill>
                  <a:schemeClr val="bg1"/>
                </a:solidFill>
                <a:latin typeface="+mj-lt" pitchFamily="34" charset="0"/>
                <a:ea typeface="+mj-lt" pitchFamily="34" charset="-122"/>
                <a:cs typeface="+mj-lt" pitchFamily="34" charset="-120"/>
              </a:rPr>
              <a:t>rapporter</a:t>
            </a:r>
            <a:r>
              <a:rPr lang="en-US" sz="2400" i="1" dirty="0">
                <a:solidFill>
                  <a:schemeClr val="bg1"/>
                </a:solidFill>
                <a:latin typeface="+mj-lt" pitchFamily="34" charset="0"/>
                <a:ea typeface="+mj-lt" pitchFamily="34" charset="-122"/>
                <a:cs typeface="+mj-lt" pitchFamily="34" charset="-120"/>
              </a:rPr>
              <a:t>. Les </a:t>
            </a:r>
            <a:r>
              <a:rPr lang="en-US" sz="2400" i="1" dirty="0">
                <a:solidFill>
                  <a:schemeClr val="bg1"/>
                </a:solidFill>
                <a:latin typeface="+mj-lt" pitchFamily="34" charset="0"/>
                <a:ea typeface="+mj-lt" pitchFamily="34" charset="-122"/>
                <a:cs typeface="+mj-lt" pitchFamily="34" charset="-120"/>
              </a:rPr>
              <a:t>notulen</a:t>
            </a:r>
            <a:r>
              <a:rPr lang="en-US" sz="2400" i="1" dirty="0">
                <a:solidFill>
                  <a:schemeClr val="bg1"/>
                </a:solidFill>
                <a:latin typeface="+mj-lt" pitchFamily="34" charset="0"/>
                <a:ea typeface="+mj-lt" pitchFamily="34" charset="-122"/>
                <a:cs typeface="+mj-lt" pitchFamily="34" charset="-120"/>
              </a:rPr>
              <a:t> : </a:t>
            </a:r>
            <a:r>
              <a:rPr lang="en-US" sz="2400" i="1" dirty="0">
                <a:solidFill>
                  <a:schemeClr val="bg1"/>
                </a:solidFill>
                <a:latin typeface="+mj-lt" pitchFamily="34" charset="0"/>
                <a:ea typeface="+mj-lt" pitchFamily="34" charset="-122"/>
                <a:cs typeface="+mj-lt" pitchFamily="34" charset="-120"/>
              </a:rPr>
              <a:t>Er werd beslist dat…</a:t>
            </a:r>
            <a:r>
              <a:rPr lang="en-US" sz="2400" i="1" dirty="0">
                <a:solidFill>
                  <a:schemeClr val="bg1"/>
                </a:solidFill>
                <a:latin typeface="+mj-lt" pitchFamily="34" charset="0"/>
                <a:ea typeface="+mj-lt" pitchFamily="34" charset="-122"/>
                <a:cs typeface="+mj-lt" pitchFamily="34" charset="-120"/>
              </a:rPr>
              <a:t> — passif impersonnel, discours indirect et nominalisations au service du procès-verbal.</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Apprendre les </a:t>
            </a:r>
            <a:r>
              <a:rPr lang="en-US" sz="1700" b="1" dirty="0">
                <a:solidFill>
                  <a:schemeClr val="tx1"/>
                </a:solidFill>
              </a:rPr>
              <a:t>six connecteurs</a:t>
            </a:r>
            <a:r>
              <a:rPr lang="en-US" sz="1700" dirty="0">
                <a:solidFill>
                  <a:schemeClr val="tx1"/>
                </a:solidFill>
              </a:rPr>
              <a:t> (p. 12) avec un exemple personnel chacun.</a:t>
            </a:r>
            <a:endParaRPr lang="en-US" sz="1700" dirty="0"/>
          </a:p>
          <a:p>
            <a:pPr marL="190500" indent="-190500">
              <a:spcAft>
                <a:spcPts val="800"/>
              </a:spcAft>
              <a:buSzPct val="100000"/>
              <a:buChar char="•"/>
            </a:pPr>
            <a:r>
              <a:rPr lang="en-US" sz="1700" dirty="0">
                <a:solidFill>
                  <a:schemeClr val="tx1"/>
                </a:solidFill>
              </a:rPr>
              <a:t>Terminer le </a:t>
            </a:r>
            <a:r>
              <a:rPr lang="en-US" sz="1700" b="1" dirty="0">
                <a:solidFill>
                  <a:schemeClr val="tx1"/>
                </a:solidFill>
              </a:rPr>
              <a:t>betoog</a:t>
            </a:r>
            <a:r>
              <a:rPr lang="en-US" sz="1700" dirty="0">
                <a:solidFill>
                  <a:schemeClr val="tx1"/>
                </a:solidFill>
              </a:rPr>
              <a:t> (ex. 6) ou préparer votre </a:t>
            </a:r>
            <a:r>
              <a:rPr lang="en-US" sz="1700" b="1" dirty="0">
                <a:solidFill>
                  <a:schemeClr val="tx1"/>
                </a:solidFill>
              </a:rPr>
              <a:t>standpunt</a:t>
            </a:r>
            <a:r>
              <a:rPr lang="en-US" sz="1700" dirty="0">
                <a:solidFill>
                  <a:schemeClr val="tx1"/>
                </a:solidFill>
              </a:rPr>
              <a:t> (TAAK 3).</a:t>
            </a:r>
            <a:endParaRPr lang="en-US" sz="1700" dirty="0"/>
          </a:p>
          <a:p>
            <a:pPr marL="190500" indent="-190500">
              <a:spcAft>
                <a:spcPts val="800"/>
              </a:spcAft>
              <a:buSzPct val="100000"/>
              <a:buChar char="•"/>
            </a:pPr>
            <a:r>
              <a:rPr lang="en-US" sz="1700" dirty="0">
                <a:solidFill>
                  <a:schemeClr val="tx1"/>
                </a:solidFill>
              </a:rPr>
              <a:t>Poster votre </a:t>
            </a:r>
            <a:r>
              <a:rPr lang="en-US" sz="1700" b="1" dirty="0">
                <a:solidFill>
                  <a:schemeClr val="tx1"/>
                </a:solidFill>
              </a:rPr>
              <a:t>réaction</a:t>
            </a:r>
            <a:r>
              <a:rPr lang="en-US" sz="1700" dirty="0">
                <a:solidFill>
                  <a:schemeClr val="tx1"/>
                </a:solidFill>
              </a:rPr>
              <a:t> dans le groupe de voisins (D3) : 5 à 6 phrases.</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Ouvrez une phrase avec </a:t>
            </a:r>
            <a:r>
              <a:rPr lang="en-US" sz="1600" b="1" dirty="0">
                <a:solidFill>
                  <a:schemeClr val="bg1"/>
                </a:solidFill>
              </a:rPr>
              <a:t>Ten slotte</a:t>
            </a:r>
            <a:r>
              <a:rPr lang="en-US" sz="1600" dirty="0">
                <a:solidFill>
                  <a:schemeClr val="bg1"/>
                </a:solidFill>
              </a:rPr>
              <a:t> et une autre avec </a:t>
            </a:r>
            <a:r>
              <a:rPr lang="en-US" sz="1600" b="1" dirty="0">
                <a:solidFill>
                  <a:schemeClr val="bg1"/>
                </a:solidFill>
              </a:rPr>
              <a:t>Enerzijds</a:t>
            </a:r>
            <a:r>
              <a:rPr lang="en-US" sz="1600" dirty="0">
                <a:solidFill>
                  <a:schemeClr val="bg1"/>
                </a:solidFill>
              </a:rPr>
              <a:t> : le verbe vient-il avant ou après le sujet ?</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13 — Argumenteren in de vergadering</dc:title>
  <dc:subject>Néerlandais B1 — immobilier et vie quotidienne (Yasmina &amp; Stef)</dc:subject>
  <dc:creator>A. Jouniaux</dc:creator>
  <cp:lastModifiedBy>A. Jouniaux</cp:lastModifiedBy>
  <cp:revision>1</cp:revision>
  <dcterms:created xsi:type="dcterms:W3CDTF">2026-10-03T21:59:51Z</dcterms:created>
  <dcterms:modified xsi:type="dcterms:W3CDTF">2026-10-03T21:59:51Z</dcterms:modified>
</cp:coreProperties>
</file>